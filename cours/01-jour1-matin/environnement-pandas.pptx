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1.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6B7280"/>
                </a:solidFill>
                <a:latin typeface="Calibri"/>
              </a:defRPr>
            </a:pPr>
            <a:r>
              <a:rPr sz="1400" b="0" i="0" u="none" strike="noStrike">
                <a:solidFill>
                  <a:srgbClr val="6B7280"/>
                </a:solidFill>
                <a:latin typeface="Calibri"/>
              </a:rPr>
              <a:t>Nombre de commandes par catégorie (ventes.csv)</a:t>
            </a:r>
          </a:p>
        </c:rich>
      </c:tx>
      <c:layout/>
      <c:overlay val="0"/>
    </c:title>
    <c:autoTitleDeleted val="0"/>
    <c:plotArea>
      <c:layout/>
      <c:barChart>
        <c:barDir val="bar"/>
        <c:grouping val="clustered"/>
        <c:varyColors val="0"/>
        <c:ser>
          <c:idx val="0"/>
          <c:order val="0"/>
          <c:tx>
            <c:strRef>
              <c:f>Sheet1!$B$1</c:f>
              <c:strCache>
                <c:ptCount val="1"/>
                <c:pt idx="0">
                  <c:v>valeurs</c:v>
                </c:pt>
              </c:strCache>
            </c:strRef>
          </c:tx>
          <c:spPr>
            <a:solidFill>
              <a:srgbClr val="2F7D62"/>
            </a:solidFill>
            <a:effectLst/>
          </c:spPr>
          <c:invertIfNegative val="0"/>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cat>
            <c:multiLvlStrRef>
              <c:f>Sheet1!$A$2:$A$6</c:f>
              <c:multiLvlStrCache>
                <c:ptCount val="5"/>
                <c:lvl>
                  <c:pt idx="0">
                    <c:v>INFORMATIQUE</c:v>
                  </c:pt>
                  <c:pt idx="1">
                    <c:v>Papeterie</c:v>
                  </c:pt>
                  <c:pt idx="2">
                    <c:v>Bureau</c:v>
                  </c:pt>
                  <c:pt idx="3">
                    <c:v>Électroménager</c:v>
                  </c:pt>
                  <c:pt idx="4">
                    <c:v>Informatique</c:v>
                  </c:pt>
                </c:lvl>
              </c:multiLvlStrCache>
            </c:multiLvlStrRef>
          </c:cat>
          <c:val>
            <c:numRef>
              <c:f>Sheet1!$B$2:$B$6</c:f>
              <c:numCache>
                <c:formatCode>General</c:formatCode>
                <c:ptCount val="5"/>
                <c:pt idx="0">
                  <c:v>1</c:v>
                </c:pt>
                <c:pt idx="1">
                  <c:v>13</c:v>
                </c:pt>
                <c:pt idx="2">
                  <c:v>14</c:v>
                </c:pt>
                <c:pt idx="3">
                  <c:v>16</c:v>
                </c:pt>
                <c:pt idx="4">
                  <c:v>18</c:v>
                </c:pt>
              </c:numCache>
            </c:numRef>
          </c:val>
        </c:ser>
        <c:dLbls>
          <c:numFmt formatCode="#,##0" sourceLinked="0"/>
          <c:txPr>
            <a:bodyPr/>
            <a:lstStyle/>
            <a:p>
              <a:pPr>
                <a:defRPr b="0" i="0" strike="noStrike" sz="1200" u="none">
                  <a:solidFill>
                    <a:srgbClr val="1F2933"/>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Tour de table rapide : poste occupé, usage actuel de Python, attentes pour la formation. Vérifier que chacun a accès à GitHub et que chaque poste est prêt avec le TP0, s'il n'a pas été fait avant la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la logique d'ensemble : on part de la manipulation de données dans un notebook, on va vers la visualisation, puis on termine par un projet structuré et reproductible. Les corrigés des TP sont remis en fin de 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horaires sont indicatifs. L'essentiel de la matinée se passe dans le notebook : une section de cours d'une dizaine de minutes, puis la partie du TP1 correspondante. Objectif de la matinée : un environnement propre, un notebook qui fonctionne, et un premier jeu de données chargé et exploré avec pandas. Si le groupe est à l'aise sur la partie Python, la raccourcir au profit des parties suivantes.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très courte, juste après l'accueil.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L'erreur externally-managed-environment n'est pas une panne : c'est Ubuntu qui protège son Python. Pratique : le TP0, une vingtaine de minutes. Partie 1 : python3 -m venv .venv, activation, pip install jupyterlab, ouverture du notebook. Partie 2 : huit exercices très simples de Python (variables, listes, for, if, fonctions, dictionnaires). Partie 3 : pip install numpy, puis import dans le notebook. Les commandes sont expliquées juste après, dans la section 1. Repérer tout de suite les postes qui posent problème et les participants qui butent sur les bases.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les commandes en direct. Les participants les appliquent dans la partie 0 du TP1, juste après la section sur Jupyter.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Demander qui a déjà eu un conflit de versions entre deux projets. C'est presque toujours le 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la manipulation en direct. Sur les postes de la formation, le paquet python3.12-venv est normalement déjà installé. Le chemin affiché par which python doit pointer vers le dossier .venv du projet. Le nom .venv est une convention reconnue automatiquement par VS Code et PyCharm.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commandes se lancent dans l'environnement activé, où python désigne le Python du .venv. Montrer pip list avant et après l'installation de pandas : on voit apparaître les dépendances indirectes (numpy, python-dateutil, tzdata).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jour 3 : uv règle la limite des deux approches avec un fichier de verrouillage. Pas de pratique tout de suite : l'environnement du TP se crée dans la partie 0 du TP1, après la section sur Jupyter.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courte, l'essentiel s'apprend en pratiquant, dès la partie 0 du TP1.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navigateur s'ouvre sur une adresse du type localhost:8888. Si le navigateur ne s'ouvre pas, copier l'URL avec le jeton affichée dans le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raccourcis A, B, M, Y, D D ne fonctionnent qu'en mode commande. Faire pratiquer tout de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la démonstration en direct : exécuter les cellules dans le désordre, puis relancer le noyau et tout exécuter.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participants créent l'environnement du TP, installent les bibliothèques, figent le requirements.txt, ouvrent le notebook dans JupyterLab, puis répondent aux questions 0.1 (quel Python ?) et 0.2 (relire le requirements.txt). Compter environ 15 minutes. Circuler entre les postes : c'est là que se concentrent les blocages (paquet python3.12-venv manquant, Jupyter lancé depuis un terminal où l'environnement n'est pas activé).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outils du langage qui reviennent sans arrêt en analyse de données. Les participants connaissent déjà boucles, fonctions, listes et dictionnaires. La gestion des exceptions viendra le jour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Écrire d'abord la boucle, puis la réécrire en compréhension devant le groupe. Insister sur la lecture de gauche à droite : ce que je produis, pour chaque élément, à quelle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fréquente : mettre un if sans else au début, ou un else à la fin. Faire deviner le résultat avant de l'afficher.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Accolades avec deux-points : dictionnaire. Accolades sans deux-points : ensemble. Parenthèses : générateur, calculé à la demande, utile dans sum, max, min. zip parcourt deux listes en parallèle. Un ensemble n'a pas d'ordre : on le trie avec sorted pour l'afficher de façon reproductible.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paramètre key attend une fonction qui, pour chaque élément, renvoie la valeur sur laquelle trier. Même principe sur une liste de dictionnaires, le format habituel des données d'une API : sorted(catalogue, key=lambda p: p["prix"]).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formats servent partout : afficher un résultat lisible, construire un libellé, formater les graduations d'un graphique. Pour un affichage à la française, on remplace les caractères après coup, ou on laisse l'outil de restitution (Excel, rapport) s'en charger.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cellules de vérification des TP reposent sur assert, et le jour 3, les tests automatiques avec pytest aussi. Montrer une assertion qui échoue, pour que le groupe voie le message. 0.1 + 0.2 vaut 0.30000000000000004, à cause de la représentation binaire des nombres.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15 à 20 minutes. Les cellules de vérification ne se modifient pas : si une réponse est fausse, elles s'arrêtent sur une AssertionError dont le message indique le problème. Corriger collectivement la question 1.2, qui reprend le piège du if placé au début ou à la fin. La question 1.11 (zip) est facultative, pour ceux qui terminent en 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courte : on ne fera presque jamais de numpy directement. L'objectif est de comprendre la logique de pandas, puisque chaque colonne d'un DataFrame est stockée dans un tableau numpy.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L'alias np est une convention universelle, comme pd pour pandas.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deviner le résultat de la version liste avant de l'afficher. Beaucoup s'attendent à une multiplication.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arange fonctionne comme range ; linspace découpe un intervalle en n valeurs, fin incluse.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True compte pour 1 et False pour 0 : la somme d'un masque donne un nombre de valeurs.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s'attarder : axis reviendra avec pandas, et le générateur aléatoire sert seulement à simuler des données dans quelques exercices.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un quart d'heure. La question 2.9 (6 000 lancers de dé) est facultative. Pause ensuite.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la pause. pandas repose sur deux objets, tout le reste de la formation s'appuie dessus.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 travaille sur les labels, .iloc sur les positions : la distinction reviendra constamment cet après-midi. Tout ce qu'on a vu avec numpy fonctionne : opérations vectorisées, agrégations, filtrage booléen. idxmax renvoie le label de la valeur maximale, pas la valeur 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souvent surprenant pour ceux qui viennent de numpy. clavier n'existe pas le mardi : le total ne peut pas être calculé. Demander au groupe comment obtenir 3 pour clavier avant de montrer add. Le traitement général des valeurs manquantes vient cet 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un tableur, en soulignant la différence : dans un DataFrame, une colonne a un type unique.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liste de dictionnaires correspond au format habituel des données renvoyées par une API. Une clé absente d'un dictionnaire donne une valeur manquante.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magasins, trois jours de visites tirées au hasard. Total par jour : 255, 234 et 155. Total par magasin : 173, 112, 200 et 159. C'est la question 3.9 du TP1.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synthèse, à parcourir rapidement.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environ 15 minutes. Les réponses écrites (pourquoi des NaN, différence entre df["prix"] et df[["prix"]]) se rédigent dans les cellules Markdown prévues : les relire avec le groupe à la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pratique, on crée rarement un DataFrame à la main : on le charge depuis un fichier.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tout détailler : montrer que la documentation de read_csv est la référence, et retenir sep, decimal, encoding, dtype et parse_dates.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 très fréquent en France : point-virgule comme séparateur, virgule décimale, encodage Windows. C'est souvent le premier obstacle rencontré en entreprise. Le TP1 en propose un exemple à la question 4.4, avec le fichier export_magasins.csv.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ExcelWriter permet d'écrire plusieurs feuilles dans le même fichier, format souvent demandé par les équipes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binaire en colonnes. On y revient cet après-midi pour comparer la taille avec le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pratique : on reçoit du CSV ou de l'Excel, on travaille en Parquet, on restitue en Excel ou en graphique.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une vingtaine de minutes. À la question 4.7, seul le CSV perd le type date : c'est l'argument principal en faveur de Parquet. La question 4.8 (ExcelWriter, plusieurs feuilles) est facultative.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mêmes questions reviennent devant chaque nouveau jeu de données. pandas fournit une commande pour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 et dtypes sont des attributs, sans parenthèses. Les autres sont des méthodes.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Depuis pandas 3, les colonnes texte ont le type str ; avec pandas 2, elles apparaissent en object. Solution pour la date : parse_dates=["date"] à la lecture. Les noms de colonnes seront harmonisés cet 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regarder le minimum et le maximum de chaque colonne, et se demander si ces valeurs sont plausibles métier.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incohérences d'écriture seront corrigées cet après-midi avec l'accesseur .str.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une colonne censée identifier chaque ligne, nunique doit être égal au nombre de lignes ; sinon, value_counts permet de trouver les valeurs répétées. Faire remarquer aussi les 9 régions et les 5 catégories : plus que prévu, à cause des variantes d'écriture.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l'étape Noter : les constats s'écrivent dans des cellules Markdown du notebook, pas seulement dans sa tête.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Compter 25 à 30 minutes, synthèse comprise. Faire lire deux ou trois synthèses à voix haute en fin de matinée. Avant de rendre : le requirements.txt est présent, toutes les vérifications affichent OK, et le notebook s'exécute de haut en bas après Restart Kernel and Run All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questions indiquent souvent le résultat attendu, et des cellules de vérification contrôlent les réponses avec assert. Les questions Pour aller plus loin sont facultatives. La synthèse de l'exploration est le point de départ du TP2 cet après-midi.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 après-midi : sélectionner, transformer et nettoyer le jeu de données exploré ce 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9144000" cy="365760"/>
          </a:xfrm>
          <a:prstGeom prst="rect">
            <a:avLst/>
          </a:prstGeom>
          <a:noFill/>
          <a:ln/>
        </p:spPr>
        <p:txBody>
          <a:bodyPr wrap="square" lIns="0" tIns="0" rIns="0" bIns="0" rtlCol="0" anchor="ctr"/>
          <a:lstStyle/>
          <a:p>
            <a:pPr indent="0" marL="0">
              <a:buNone/>
            </a:pPr>
            <a:r>
              <a:rPr lang="en-US" sz="1400" b="1" spc="400" kern="0" dirty="0">
                <a:solidFill>
                  <a:srgbClr val="8FD1B5"/>
                </a:solidFill>
                <a:latin typeface="Calibri" pitchFamily="34" charset="0"/>
                <a:ea typeface="Calibri" pitchFamily="34" charset="-122"/>
                <a:cs typeface="Calibri" pitchFamily="34" charset="-120"/>
              </a:rPr>
              <a:t>FORMATION</a:t>
            </a:r>
            <a:endParaRPr lang="en-US" sz="1400" dirty="0"/>
          </a:p>
        </p:txBody>
      </p:sp>
      <p:sp>
        <p:nvSpPr>
          <p:cNvPr id="3" name="Text 1"/>
          <p:cNvSpPr txBox="1"/>
          <p:nvPr/>
        </p:nvSpPr>
        <p:spPr>
          <a:xfrm>
            <a:off x="731520" y="2148840"/>
            <a:ext cx="10515600" cy="109728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Analyse de données avec Python</a:t>
            </a:r>
            <a:endParaRPr lang="en-US" sz="4600" dirty="0"/>
          </a:p>
        </p:txBody>
      </p:sp>
      <p:sp>
        <p:nvSpPr>
          <p:cNvPr id="4" name="Text 2"/>
          <p:cNvSpPr txBox="1"/>
          <p:nvPr/>
        </p:nvSpPr>
        <p:spPr>
          <a:xfrm>
            <a:off x="731520" y="3337560"/>
            <a:ext cx="10058400" cy="914400"/>
          </a:xfrm>
          <a:prstGeom prst="rect">
            <a:avLst/>
          </a:prstGeom>
          <a:noFill/>
          <a:ln/>
        </p:spPr>
        <p:txBody>
          <a:bodyPr wrap="square" lIns="0" tIns="0" rIns="0" bIns="0" rtlCol="0" anchor="t"/>
          <a:lstStyle/>
          <a:p>
            <a:pPr indent="0" marL="0">
              <a:buNone/>
            </a:pPr>
            <a:r>
              <a:rPr lang="en-US" sz="2200" dirty="0">
                <a:solidFill>
                  <a:srgbClr val="C9D6E3"/>
                </a:solidFill>
                <a:latin typeface="Calibri" pitchFamily="34" charset="0"/>
                <a:ea typeface="Calibri" pitchFamily="34" charset="-122"/>
                <a:cs typeface="Calibri" pitchFamily="34" charset="-120"/>
              </a:rPr>
              <a:t>Jour 1, matin</a:t>
            </a:r>
            <a:endParaRPr lang="en-US" sz="2200" dirty="0"/>
          </a:p>
          <a:p>
            <a:pPr indent="0" marL="0">
              <a:buNone/>
            </a:pPr>
            <a:r>
              <a:rPr lang="en-US" sz="2200" dirty="0">
                <a:solidFill>
                  <a:srgbClr val="C9D6E3"/>
                </a:solidFill>
                <a:latin typeface="Calibri" pitchFamily="34" charset="0"/>
                <a:ea typeface="Calibri" pitchFamily="34" charset="-122"/>
                <a:cs typeface="Calibri" pitchFamily="34" charset="-120"/>
              </a:rPr>
              <a:t>Environnement de travail, bases de numpy et prise en main de pandas</a:t>
            </a:r>
            <a:endParaRPr lang="en-US" sz="2200" dirty="0"/>
          </a:p>
        </p:txBody>
      </p:sp>
      <p:sp>
        <p:nvSpPr>
          <p:cNvPr id="5" name="Text 3"/>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400" dirty="0">
                <a:solidFill>
                  <a:srgbClr val="C9D6E3"/>
                </a:solidFill>
                <a:latin typeface="Calibri" pitchFamily="34" charset="0"/>
                <a:ea typeface="Calibri" pitchFamily="34" charset="-122"/>
                <a:cs typeface="Calibri" pitchFamily="34" charset="-120"/>
              </a:rPr>
              <a:t>Niveau intermédiaire   |   3 jours, 6 demi-journées de 3h30   |   Cours et TP sur Jupyter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programme des trois jours</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584916"/>
                <a:gridCol w="4754749"/>
                <a:gridCol w="4754749"/>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Matin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Après-midi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61366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Jour 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Environnement de travail, bases de numpy, prise en main de pandas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Sélection, transformation et nettoyage de données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61366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Jour 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Agrégation, dates et automatisation de plusieurs fichiers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Visualisation avec matplotlib, seaborn et plotly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61366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Jour 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Organisation de projet, code robuste et CLI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Gestion des dépendances avec uv et projet fil rouge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3958336"/>
            <a:ext cx="11094415" cy="883920"/>
          </a:xfrm>
          <a:prstGeom prst="roundRect">
            <a:avLst>
              <a:gd name="adj" fmla="val 6207"/>
            </a:avLst>
          </a:prstGeom>
          <a:solidFill>
            <a:srgbClr val="E8F3EE"/>
          </a:solidFill>
          <a:ln/>
        </p:spPr>
      </p:sp>
      <p:sp>
        <p:nvSpPr>
          <p:cNvPr id="5" name="Text 2"/>
          <p:cNvSpPr txBox="1"/>
          <p:nvPr/>
        </p:nvSpPr>
        <p:spPr>
          <a:xfrm>
            <a:off x="822960" y="3958336"/>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Chaque demi-journée alterne cours et TP. Bonus si le temps le permet : Polars, DuckDB, Streamlit, empaquetage. Évaluation finale par un QCM.</a:t>
            </a:r>
            <a:endParaRPr lang="en-US" sz="1700" dirty="0"/>
          </a:p>
        </p:txBody>
      </p:sp>
      <p:sp>
        <p:nvSpPr>
          <p:cNvPr id="6" name="Text 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déroulé de la matinée</a:t>
            </a:r>
            <a:endParaRPr lang="en-US" sz="3000" dirty="0"/>
          </a:p>
        </p:txBody>
      </p:sp>
      <p:sp>
        <p:nvSpPr>
          <p:cNvPr id="3" name="Shape 1"/>
          <p:cNvSpPr/>
          <p:nvPr/>
        </p:nvSpPr>
        <p:spPr>
          <a:xfrm>
            <a:off x="1164996" y="2057400"/>
            <a:ext cx="9861702" cy="0"/>
          </a:xfrm>
          <a:prstGeom prst="line">
            <a:avLst/>
          </a:prstGeom>
          <a:noFill/>
          <a:ln w="25400">
            <a:solidFill>
              <a:srgbClr val="D5DCE3"/>
            </a:solidFill>
            <a:prstDash val="solid"/>
          </a:ln>
        </p:spPr>
      </p:sp>
      <p:sp>
        <p:nvSpPr>
          <p:cNvPr id="4" name="Shape 2"/>
          <p:cNvSpPr/>
          <p:nvPr/>
        </p:nvSpPr>
        <p:spPr>
          <a:xfrm>
            <a:off x="936396" y="1828800"/>
            <a:ext cx="457200" cy="457200"/>
          </a:xfrm>
          <a:prstGeom prst="ellipse">
            <a:avLst/>
          </a:prstGeom>
          <a:solidFill>
            <a:srgbClr val="2F7D62"/>
          </a:solidFill>
          <a:ln/>
        </p:spPr>
      </p:sp>
      <p:sp>
        <p:nvSpPr>
          <p:cNvPr id="5" name="Text 3"/>
          <p:cNvSpPr txBox="1"/>
          <p:nvPr/>
        </p:nvSpPr>
        <p:spPr>
          <a:xfrm>
            <a:off x="93639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Accueil</a:t>
            </a:r>
            <a:endParaRPr lang="en-US" sz="1500" dirty="0"/>
          </a:p>
        </p:txBody>
      </p:sp>
      <p:sp>
        <p:nvSpPr>
          <p:cNvPr id="7" name="Text 5"/>
          <p:cNvSpPr txBox="1"/>
          <p:nvPr/>
        </p:nvSpPr>
        <p:spPr>
          <a:xfrm>
            <a:off x="594360"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TP0</a:t>
            </a:r>
            <a:endParaRPr lang="en-US" sz="1300" dirty="0"/>
          </a:p>
        </p:txBody>
      </p:sp>
      <p:sp>
        <p:nvSpPr>
          <p:cNvPr id="8" name="Shape 6"/>
          <p:cNvSpPr/>
          <p:nvPr/>
        </p:nvSpPr>
        <p:spPr>
          <a:xfrm>
            <a:off x="2169109" y="1828800"/>
            <a:ext cx="457200" cy="457200"/>
          </a:xfrm>
          <a:prstGeom prst="ellipse">
            <a:avLst/>
          </a:prstGeom>
          <a:solidFill>
            <a:srgbClr val="2F7D62"/>
          </a:solidFill>
          <a:ln/>
        </p:spPr>
      </p:sp>
      <p:sp>
        <p:nvSpPr>
          <p:cNvPr id="9" name="Text 7"/>
          <p:cNvSpPr txBox="1"/>
          <p:nvPr/>
        </p:nvSpPr>
        <p:spPr>
          <a:xfrm>
            <a:off x="216910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827073"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venv et pip</a:t>
            </a:r>
            <a:endParaRPr lang="en-US" sz="1500" dirty="0"/>
          </a:p>
        </p:txBody>
      </p:sp>
      <p:sp>
        <p:nvSpPr>
          <p:cNvPr id="11" name="Shape 9"/>
          <p:cNvSpPr/>
          <p:nvPr/>
        </p:nvSpPr>
        <p:spPr>
          <a:xfrm>
            <a:off x="3401822" y="1828800"/>
            <a:ext cx="457200" cy="457200"/>
          </a:xfrm>
          <a:prstGeom prst="ellipse">
            <a:avLst/>
          </a:prstGeom>
          <a:solidFill>
            <a:srgbClr val="2F7D62"/>
          </a:solidFill>
          <a:ln/>
        </p:spPr>
      </p:sp>
      <p:sp>
        <p:nvSpPr>
          <p:cNvPr id="12" name="Text 10"/>
          <p:cNvSpPr txBox="1"/>
          <p:nvPr/>
        </p:nvSpPr>
        <p:spPr>
          <a:xfrm>
            <a:off x="3401822"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3059786"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Jupyter</a:t>
            </a:r>
            <a:endParaRPr lang="en-US" sz="1500" dirty="0"/>
          </a:p>
        </p:txBody>
      </p:sp>
      <p:sp>
        <p:nvSpPr>
          <p:cNvPr id="14" name="Text 12"/>
          <p:cNvSpPr txBox="1"/>
          <p:nvPr/>
        </p:nvSpPr>
        <p:spPr>
          <a:xfrm>
            <a:off x="3059786"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TP1 partie 0</a:t>
            </a:r>
            <a:endParaRPr lang="en-US" sz="1300" dirty="0"/>
          </a:p>
        </p:txBody>
      </p:sp>
      <p:sp>
        <p:nvSpPr>
          <p:cNvPr id="15" name="Shape 13"/>
          <p:cNvSpPr/>
          <p:nvPr/>
        </p:nvSpPr>
        <p:spPr>
          <a:xfrm>
            <a:off x="4634535" y="1828800"/>
            <a:ext cx="457200" cy="457200"/>
          </a:xfrm>
          <a:prstGeom prst="ellipse">
            <a:avLst/>
          </a:prstGeom>
          <a:solidFill>
            <a:srgbClr val="2F7D62"/>
          </a:solidFill>
          <a:ln/>
        </p:spPr>
      </p:sp>
      <p:sp>
        <p:nvSpPr>
          <p:cNvPr id="16" name="Text 14"/>
          <p:cNvSpPr txBox="1"/>
          <p:nvPr/>
        </p:nvSpPr>
        <p:spPr>
          <a:xfrm>
            <a:off x="463453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7" name="Text 15"/>
          <p:cNvSpPr txBox="1"/>
          <p:nvPr/>
        </p:nvSpPr>
        <p:spPr>
          <a:xfrm>
            <a:off x="4292498"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Python</a:t>
            </a:r>
            <a:endParaRPr lang="en-US" sz="1500" dirty="0"/>
          </a:p>
        </p:txBody>
      </p:sp>
      <p:sp>
        <p:nvSpPr>
          <p:cNvPr id="18" name="Text 16"/>
          <p:cNvSpPr txBox="1"/>
          <p:nvPr/>
        </p:nvSpPr>
        <p:spPr>
          <a:xfrm>
            <a:off x="4292498"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TP1 partie 1</a:t>
            </a:r>
            <a:endParaRPr lang="en-US" sz="1300" dirty="0"/>
          </a:p>
        </p:txBody>
      </p:sp>
      <p:sp>
        <p:nvSpPr>
          <p:cNvPr id="19" name="Shape 17"/>
          <p:cNvSpPr/>
          <p:nvPr/>
        </p:nvSpPr>
        <p:spPr>
          <a:xfrm>
            <a:off x="5867248" y="1828800"/>
            <a:ext cx="457200" cy="457200"/>
          </a:xfrm>
          <a:prstGeom prst="ellipse">
            <a:avLst/>
          </a:prstGeom>
          <a:solidFill>
            <a:srgbClr val="2F7D62"/>
          </a:solidFill>
          <a:ln/>
        </p:spPr>
      </p:sp>
      <p:sp>
        <p:nvSpPr>
          <p:cNvPr id="20" name="Text 18"/>
          <p:cNvSpPr txBox="1"/>
          <p:nvPr/>
        </p:nvSpPr>
        <p:spPr>
          <a:xfrm>
            <a:off x="586724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txBox="1"/>
          <p:nvPr/>
        </p:nvSpPr>
        <p:spPr>
          <a:xfrm>
            <a:off x="5525211"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numpy</a:t>
            </a:r>
            <a:endParaRPr lang="en-US" sz="1500" dirty="0"/>
          </a:p>
        </p:txBody>
      </p:sp>
      <p:sp>
        <p:nvSpPr>
          <p:cNvPr id="22" name="Text 20"/>
          <p:cNvSpPr txBox="1"/>
          <p:nvPr/>
        </p:nvSpPr>
        <p:spPr>
          <a:xfrm>
            <a:off x="5525211"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TP1 partie 2</a:t>
            </a:r>
            <a:endParaRPr lang="en-US" sz="1300" dirty="0"/>
          </a:p>
        </p:txBody>
      </p:sp>
      <p:sp>
        <p:nvSpPr>
          <p:cNvPr id="23" name="Shape 21"/>
          <p:cNvSpPr/>
          <p:nvPr/>
        </p:nvSpPr>
        <p:spPr>
          <a:xfrm>
            <a:off x="7099960" y="1828800"/>
            <a:ext cx="457200" cy="457200"/>
          </a:xfrm>
          <a:prstGeom prst="ellipse">
            <a:avLst/>
          </a:prstGeom>
          <a:solidFill>
            <a:srgbClr val="D5DCE3"/>
          </a:solidFill>
          <a:ln/>
        </p:spPr>
      </p:sp>
      <p:sp>
        <p:nvSpPr>
          <p:cNvPr id="24" name="Text 22"/>
          <p:cNvSpPr txBox="1"/>
          <p:nvPr/>
        </p:nvSpPr>
        <p:spPr>
          <a:xfrm>
            <a:off x="7099960" y="1828800"/>
            <a:ext cx="457200" cy="457200"/>
          </a:xfrm>
          <a:prstGeom prst="rect">
            <a:avLst/>
          </a:prstGeom>
          <a:noFill/>
          <a:ln/>
        </p:spPr>
        <p:txBody>
          <a:bodyPr wrap="square" lIns="0" tIns="0" rIns="0" bIns="0" rtlCol="0" anchor="ctr"/>
          <a:lstStyle/>
          <a:p>
            <a:pPr algn="ctr" indent="0" marL="0">
              <a:buNone/>
            </a:pPr>
            <a:endParaRPr lang="en-US" sz="1500" dirty="0"/>
          </a:p>
        </p:txBody>
      </p:sp>
      <p:sp>
        <p:nvSpPr>
          <p:cNvPr id="25" name="Text 23"/>
          <p:cNvSpPr txBox="1"/>
          <p:nvPr/>
        </p:nvSpPr>
        <p:spPr>
          <a:xfrm>
            <a:off x="6757924"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Pause</a:t>
            </a:r>
            <a:endParaRPr lang="en-US" sz="1500" dirty="0"/>
          </a:p>
        </p:txBody>
      </p:sp>
      <p:sp>
        <p:nvSpPr>
          <p:cNvPr id="26" name="Shape 24"/>
          <p:cNvSpPr/>
          <p:nvPr/>
        </p:nvSpPr>
        <p:spPr>
          <a:xfrm>
            <a:off x="8332673" y="1828800"/>
            <a:ext cx="457200" cy="457200"/>
          </a:xfrm>
          <a:prstGeom prst="ellipse">
            <a:avLst/>
          </a:prstGeom>
          <a:solidFill>
            <a:srgbClr val="2F7D62"/>
          </a:solidFill>
          <a:ln/>
        </p:spPr>
      </p:sp>
      <p:sp>
        <p:nvSpPr>
          <p:cNvPr id="27" name="Text 25"/>
          <p:cNvSpPr txBox="1"/>
          <p:nvPr/>
        </p:nvSpPr>
        <p:spPr>
          <a:xfrm>
            <a:off x="8332673"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6"/>
          <p:cNvSpPr txBox="1"/>
          <p:nvPr/>
        </p:nvSpPr>
        <p:spPr>
          <a:xfrm>
            <a:off x="7990637"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pandas</a:t>
            </a:r>
            <a:endParaRPr lang="en-US" sz="1500" dirty="0"/>
          </a:p>
        </p:txBody>
      </p:sp>
      <p:sp>
        <p:nvSpPr>
          <p:cNvPr id="29" name="Text 27"/>
          <p:cNvSpPr txBox="1"/>
          <p:nvPr/>
        </p:nvSpPr>
        <p:spPr>
          <a:xfrm>
            <a:off x="7990637"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TP1 partie 3</a:t>
            </a:r>
            <a:endParaRPr lang="en-US" sz="1300" dirty="0"/>
          </a:p>
        </p:txBody>
      </p:sp>
      <p:sp>
        <p:nvSpPr>
          <p:cNvPr id="30" name="Shape 28"/>
          <p:cNvSpPr/>
          <p:nvPr/>
        </p:nvSpPr>
        <p:spPr>
          <a:xfrm>
            <a:off x="9565386" y="1828800"/>
            <a:ext cx="457200" cy="457200"/>
          </a:xfrm>
          <a:prstGeom prst="ellipse">
            <a:avLst/>
          </a:prstGeom>
          <a:solidFill>
            <a:srgbClr val="2F7D62"/>
          </a:solidFill>
          <a:ln/>
        </p:spPr>
      </p:sp>
      <p:sp>
        <p:nvSpPr>
          <p:cNvPr id="31" name="Text 29"/>
          <p:cNvSpPr txBox="1"/>
          <p:nvPr/>
        </p:nvSpPr>
        <p:spPr>
          <a:xfrm>
            <a:off x="9565386"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2" name="Text 30"/>
          <p:cNvSpPr txBox="1"/>
          <p:nvPr/>
        </p:nvSpPr>
        <p:spPr>
          <a:xfrm>
            <a:off x="9223350"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Fichiers</a:t>
            </a:r>
            <a:endParaRPr lang="en-US" sz="1500" dirty="0"/>
          </a:p>
        </p:txBody>
      </p:sp>
      <p:sp>
        <p:nvSpPr>
          <p:cNvPr id="33" name="Text 31"/>
          <p:cNvSpPr txBox="1"/>
          <p:nvPr/>
        </p:nvSpPr>
        <p:spPr>
          <a:xfrm>
            <a:off x="9223350"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TP1 partie 4</a:t>
            </a:r>
            <a:endParaRPr lang="en-US" sz="1300" dirty="0"/>
          </a:p>
        </p:txBody>
      </p:sp>
      <p:sp>
        <p:nvSpPr>
          <p:cNvPr id="34" name="Shape 32"/>
          <p:cNvSpPr/>
          <p:nvPr/>
        </p:nvSpPr>
        <p:spPr>
          <a:xfrm>
            <a:off x="10798099" y="1828800"/>
            <a:ext cx="457200" cy="457200"/>
          </a:xfrm>
          <a:prstGeom prst="ellipse">
            <a:avLst/>
          </a:prstGeom>
          <a:solidFill>
            <a:srgbClr val="2F7D62"/>
          </a:solidFill>
          <a:ln/>
        </p:spPr>
      </p:sp>
      <p:sp>
        <p:nvSpPr>
          <p:cNvPr id="35" name="Text 33"/>
          <p:cNvSpPr txBox="1"/>
          <p:nvPr/>
        </p:nvSpPr>
        <p:spPr>
          <a:xfrm>
            <a:off x="10798099"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6" name="Text 34"/>
          <p:cNvSpPr txBox="1"/>
          <p:nvPr/>
        </p:nvSpPr>
        <p:spPr>
          <a:xfrm>
            <a:off x="10456062" y="2423160"/>
            <a:ext cx="1141273" cy="502920"/>
          </a:xfrm>
          <a:prstGeom prst="rect">
            <a:avLst/>
          </a:prstGeom>
          <a:noFill/>
          <a:ln/>
        </p:spPr>
        <p:txBody>
          <a:bodyPr wrap="square" lIns="0" tIns="0" rIns="0" bIns="0" rtlCol="0" anchor="t"/>
          <a:lstStyle/>
          <a:p>
            <a:pPr algn="ctr" indent="0" marL="0">
              <a:buNone/>
            </a:pPr>
            <a:r>
              <a:rPr lang="en-US" sz="1500" b="1" dirty="0">
                <a:solidFill>
                  <a:srgbClr val="1F3A5F"/>
                </a:solidFill>
                <a:latin typeface="Calibri" pitchFamily="34" charset="0"/>
                <a:ea typeface="Calibri" pitchFamily="34" charset="-122"/>
                <a:cs typeface="Calibri" pitchFamily="34" charset="-120"/>
              </a:rPr>
              <a:t>Exploration</a:t>
            </a:r>
            <a:endParaRPr lang="en-US" sz="1500" dirty="0"/>
          </a:p>
        </p:txBody>
      </p:sp>
      <p:sp>
        <p:nvSpPr>
          <p:cNvPr id="37" name="Text 35"/>
          <p:cNvSpPr txBox="1"/>
          <p:nvPr/>
        </p:nvSpPr>
        <p:spPr>
          <a:xfrm>
            <a:off x="10456062" y="2926080"/>
            <a:ext cx="1141273"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TP1 partie 5</a:t>
            </a:r>
            <a:endParaRPr lang="en-US" sz="1300" dirty="0"/>
          </a:p>
        </p:txBody>
      </p:sp>
      <p:sp>
        <p:nvSpPr>
          <p:cNvPr id="38" name="Shape 36"/>
          <p:cNvSpPr/>
          <p:nvPr/>
        </p:nvSpPr>
        <p:spPr>
          <a:xfrm>
            <a:off x="548640" y="3657600"/>
            <a:ext cx="3515258" cy="1600200"/>
          </a:xfrm>
          <a:prstGeom prst="roundRect">
            <a:avLst>
              <a:gd name="adj" fmla="val 4571"/>
            </a:avLst>
          </a:prstGeom>
          <a:solidFill>
            <a:srgbClr val="EEF3F7"/>
          </a:solidFill>
          <a:ln/>
        </p:spPr>
      </p:sp>
      <p:sp>
        <p:nvSpPr>
          <p:cNvPr id="39" name="Text 37"/>
          <p:cNvSpPr txBox="1"/>
          <p:nvPr/>
        </p:nvSpPr>
        <p:spPr>
          <a:xfrm>
            <a:off x="777240"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9h00</a:t>
            </a:r>
            <a:endParaRPr lang="en-US" sz="4000" dirty="0"/>
          </a:p>
        </p:txBody>
      </p:sp>
      <p:sp>
        <p:nvSpPr>
          <p:cNvPr id="40" name="Text 38"/>
          <p:cNvSpPr txBox="1"/>
          <p:nvPr/>
        </p:nvSpPr>
        <p:spPr>
          <a:xfrm>
            <a:off x="777240"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début</a:t>
            </a:r>
            <a:endParaRPr lang="en-US" sz="1500" dirty="0"/>
          </a:p>
        </p:txBody>
      </p:sp>
      <p:sp>
        <p:nvSpPr>
          <p:cNvPr id="41" name="Shape 39"/>
          <p:cNvSpPr/>
          <p:nvPr/>
        </p:nvSpPr>
        <p:spPr>
          <a:xfrm>
            <a:off x="4338218" y="3657600"/>
            <a:ext cx="3515258" cy="1600200"/>
          </a:xfrm>
          <a:prstGeom prst="roundRect">
            <a:avLst>
              <a:gd name="adj" fmla="val 4571"/>
            </a:avLst>
          </a:prstGeom>
          <a:solidFill>
            <a:srgbClr val="EEF3F7"/>
          </a:solidFill>
          <a:ln/>
        </p:spPr>
      </p:sp>
      <p:sp>
        <p:nvSpPr>
          <p:cNvPr id="42" name="Text 40"/>
          <p:cNvSpPr txBox="1"/>
          <p:nvPr/>
        </p:nvSpPr>
        <p:spPr>
          <a:xfrm>
            <a:off x="4566818"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10h30</a:t>
            </a:r>
            <a:endParaRPr lang="en-US" sz="4000" dirty="0"/>
          </a:p>
        </p:txBody>
      </p:sp>
      <p:sp>
        <p:nvSpPr>
          <p:cNvPr id="43" name="Text 41"/>
          <p:cNvSpPr txBox="1"/>
          <p:nvPr/>
        </p:nvSpPr>
        <p:spPr>
          <a:xfrm>
            <a:off x="4566818"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pause</a:t>
            </a:r>
            <a:endParaRPr lang="en-US" sz="1500" dirty="0"/>
          </a:p>
        </p:txBody>
      </p:sp>
      <p:sp>
        <p:nvSpPr>
          <p:cNvPr id="44" name="Shape 42"/>
          <p:cNvSpPr/>
          <p:nvPr/>
        </p:nvSpPr>
        <p:spPr>
          <a:xfrm>
            <a:off x="8127797" y="3657600"/>
            <a:ext cx="3515258" cy="1600200"/>
          </a:xfrm>
          <a:prstGeom prst="roundRect">
            <a:avLst>
              <a:gd name="adj" fmla="val 4571"/>
            </a:avLst>
          </a:prstGeom>
          <a:solidFill>
            <a:srgbClr val="EEF3F7"/>
          </a:solidFill>
          <a:ln/>
        </p:spPr>
      </p:sp>
      <p:sp>
        <p:nvSpPr>
          <p:cNvPr id="45" name="Text 43"/>
          <p:cNvSpPr txBox="1"/>
          <p:nvPr/>
        </p:nvSpPr>
        <p:spPr>
          <a:xfrm>
            <a:off x="8356397" y="3840480"/>
            <a:ext cx="3058058" cy="777240"/>
          </a:xfrm>
          <a:prstGeom prst="rect">
            <a:avLst/>
          </a:prstGeom>
          <a:noFill/>
          <a:ln/>
        </p:spPr>
        <p:txBody>
          <a:bodyPr wrap="square" lIns="0" tIns="0" rIns="0" bIns="0" rtlCol="0" anchor="ctr"/>
          <a:lstStyle/>
          <a:p>
            <a:pPr indent="0" marL="0">
              <a:buNone/>
            </a:pPr>
            <a:r>
              <a:rPr lang="en-US" sz="4000" b="1" dirty="0">
                <a:solidFill>
                  <a:srgbClr val="1F3A5F"/>
                </a:solidFill>
                <a:latin typeface="Cambria" pitchFamily="34" charset="0"/>
                <a:ea typeface="Cambria" pitchFamily="34" charset="-122"/>
                <a:cs typeface="Cambria" pitchFamily="34" charset="-120"/>
              </a:rPr>
              <a:t>12h30</a:t>
            </a:r>
            <a:endParaRPr lang="en-US" sz="4000" dirty="0"/>
          </a:p>
        </p:txBody>
      </p:sp>
      <p:sp>
        <p:nvSpPr>
          <p:cNvPr id="46" name="Text 44"/>
          <p:cNvSpPr txBox="1"/>
          <p:nvPr/>
        </p:nvSpPr>
        <p:spPr>
          <a:xfrm>
            <a:off x="8356397" y="4663440"/>
            <a:ext cx="3058058" cy="45720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fin</a:t>
            </a:r>
            <a:endParaRPr lang="en-US" sz="1500" dirty="0"/>
          </a:p>
        </p:txBody>
      </p:sp>
      <p:sp>
        <p:nvSpPr>
          <p:cNvPr id="47" name="Shape 45"/>
          <p:cNvSpPr/>
          <p:nvPr/>
        </p:nvSpPr>
        <p:spPr>
          <a:xfrm>
            <a:off x="548640" y="5577840"/>
            <a:ext cx="11094415" cy="624840"/>
          </a:xfrm>
          <a:prstGeom prst="roundRect">
            <a:avLst>
              <a:gd name="adj" fmla="val 8780"/>
            </a:avLst>
          </a:prstGeom>
          <a:solidFill>
            <a:srgbClr val="E8F3EE"/>
          </a:solidFill>
          <a:ln/>
        </p:spPr>
      </p:sp>
      <p:sp>
        <p:nvSpPr>
          <p:cNvPr id="48" name="Text 46"/>
          <p:cNvSpPr txBox="1"/>
          <p:nvPr/>
        </p:nvSpPr>
        <p:spPr>
          <a:xfrm>
            <a:off x="822960" y="55778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Chaque section de cours est courte et suivie de la partie du TP1 qui lui correspond.</a:t>
            </a:r>
            <a:endParaRPr lang="en-US" sz="1700" dirty="0"/>
          </a:p>
        </p:txBody>
      </p:sp>
      <p:sp>
        <p:nvSpPr>
          <p:cNvPr id="49" name="Text 4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00</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Les postes de la formation</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Ubuntu   |   Python 3.12   |   TP0</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POSTES DE LA FORMATION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Ubuntu et Python 3.12</a:t>
            </a:r>
            <a:endParaRPr lang="en-US" sz="3000" dirty="0"/>
          </a:p>
        </p:txBody>
      </p:sp>
      <p:sp>
        <p:nvSpPr>
          <p:cNvPr id="6" name="Text 4"/>
          <p:cNvSpPr txBox="1"/>
          <p:nvPr/>
        </p:nvSpPr>
        <p:spPr>
          <a:xfrm>
            <a:off x="548640" y="1417320"/>
            <a:ext cx="11094415" cy="68580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Python 3.12 est déjà installé : on ne l'installe pas, on crée des environnements qui s'appuient sur lui.</a:t>
            </a:r>
            <a:endParaRPr lang="en-US" sz="1800" dirty="0"/>
          </a:p>
        </p:txBody>
      </p:sp>
      <p:sp>
        <p:nvSpPr>
          <p:cNvPr id="7" name="Text 5"/>
          <p:cNvSpPr txBox="1"/>
          <p:nvPr/>
        </p:nvSpPr>
        <p:spPr>
          <a:xfrm>
            <a:off x="548640" y="2286000"/>
            <a:ext cx="483509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Dans un terminal, hors environnement virtuel</a:t>
            </a:r>
            <a:endParaRPr lang="en-US" sz="1200" dirty="0"/>
          </a:p>
        </p:txBody>
      </p:sp>
      <p:sp>
        <p:nvSpPr>
          <p:cNvPr id="8" name="Shape 6"/>
          <p:cNvSpPr/>
          <p:nvPr/>
        </p:nvSpPr>
        <p:spPr>
          <a:xfrm>
            <a:off x="548640" y="2578608"/>
            <a:ext cx="4835098" cy="1416558"/>
          </a:xfrm>
          <a:prstGeom prst="rect">
            <a:avLst/>
          </a:prstGeom>
          <a:solidFill>
            <a:srgbClr val="F3F4F6"/>
          </a:solidFill>
          <a:ln/>
        </p:spPr>
      </p:sp>
      <p:sp>
        <p:nvSpPr>
          <p:cNvPr id="9" name="Text 7"/>
          <p:cNvSpPr txBox="1"/>
          <p:nvPr/>
        </p:nvSpPr>
        <p:spPr>
          <a:xfrm>
            <a:off x="731520" y="2724912"/>
            <a:ext cx="4469338"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python3 --version</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Python 3.12</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pip install pandas</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error: externally-managed-environment</a:t>
            </a:r>
            <a:endParaRPr lang="en-US" sz="1500" dirty="0"/>
          </a:p>
        </p:txBody>
      </p:sp>
      <p:sp>
        <p:nvSpPr>
          <p:cNvPr id="10" name="Text 8"/>
          <p:cNvSpPr txBox="1"/>
          <p:nvPr/>
        </p:nvSpPr>
        <p:spPr>
          <a:xfrm>
            <a:off x="5840938" y="2286000"/>
            <a:ext cx="5802117" cy="220980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 commande s'appelle </a:t>
            </a:r>
            <a:pPr indent="0" marL="0">
              <a:buNone/>
            </a:pPr>
            <a:r>
              <a:rPr lang="en-US" sz="1700" dirty="0">
                <a:solidFill>
                  <a:srgbClr val="1F3A5F"/>
                </a:solidFill>
                <a:latin typeface="Courier New" pitchFamily="34" charset="0"/>
                <a:ea typeface="Courier New" pitchFamily="34" charset="-122"/>
                <a:cs typeface="Courier New" pitchFamily="34" charset="-120"/>
              </a:rPr>
              <a:t>python3</a:t>
            </a:r>
            <a:pPr indent="0" marL="0">
              <a:buNone/>
            </a:pPr>
            <a:r>
              <a:rPr lang="en-US" sz="1700" dirty="0">
                <a:solidFill>
                  <a:srgbClr val="1F2933"/>
                </a:solidFill>
                <a:latin typeface="Calibri" pitchFamily="34" charset="0"/>
                <a:ea typeface="Calibri" pitchFamily="34" charset="-122"/>
                <a:cs typeface="Calibri" pitchFamily="34" charset="-120"/>
              </a:rPr>
              <a:t> : </a:t>
            </a:r>
            <a:pPr indent="0" marL="0">
              <a:buNone/>
            </a:pPr>
            <a:r>
              <a:rPr lang="en-US" sz="1700" dirty="0">
                <a:solidFill>
                  <a:srgbClr val="1F3A5F"/>
                </a:solidFill>
                <a:latin typeface="Courier New" pitchFamily="34" charset="0"/>
                <a:ea typeface="Courier New" pitchFamily="34" charset="-122"/>
                <a:cs typeface="Courier New" pitchFamily="34" charset="-120"/>
              </a:rPr>
              <a:t>python</a:t>
            </a:r>
            <a:pPr indent="0" marL="0">
              <a:buNone/>
            </a:pPr>
            <a:r>
              <a:rPr lang="en-US" sz="1700" dirty="0">
                <a:solidFill>
                  <a:srgbClr val="1F2933"/>
                </a:solidFill>
                <a:latin typeface="Calibri" pitchFamily="34" charset="0"/>
                <a:ea typeface="Calibri" pitchFamily="34" charset="-122"/>
                <a:cs typeface="Calibri" pitchFamily="34" charset="-120"/>
              </a:rPr>
              <a:t> n'existe qu'une fois un environnement virtuel activé</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 Python du système est </a:t>
            </a:r>
            <a:pPr indent="0" marL="0">
              <a:buNone/>
            </a:pPr>
            <a:r>
              <a:rPr lang="en-US" sz="1700" b="1" dirty="0">
                <a:solidFill>
                  <a:srgbClr val="1F2933"/>
                </a:solidFill>
                <a:latin typeface="Calibri" pitchFamily="34" charset="0"/>
                <a:ea typeface="Calibri" pitchFamily="34" charset="-122"/>
                <a:cs typeface="Calibri" pitchFamily="34" charset="-120"/>
              </a:rPr>
              <a:t>protégé</a:t>
            </a:r>
            <a:pPr indent="0" marL="0">
              <a:buNone/>
            </a:pPr>
            <a:r>
              <a:rPr lang="en-US" sz="1700" dirty="0">
                <a:solidFill>
                  <a:srgbClr val="1F2933"/>
                </a:solidFill>
                <a:latin typeface="Calibri" pitchFamily="34" charset="0"/>
                <a:ea typeface="Calibri" pitchFamily="34" charset="-122"/>
                <a:cs typeface="Calibri" pitchFamily="34" charset="-120"/>
              </a:rPr>
              <a:t> : un </a:t>
            </a:r>
            <a:pPr indent="0" marL="0">
              <a:buNone/>
            </a:pPr>
            <a:r>
              <a:rPr lang="en-US" sz="1700" dirty="0">
                <a:solidFill>
                  <a:srgbClr val="1F3A5F"/>
                </a:solidFill>
                <a:latin typeface="Courier New" pitchFamily="34" charset="0"/>
                <a:ea typeface="Courier New" pitchFamily="34" charset="-122"/>
                <a:cs typeface="Courier New" pitchFamily="34" charset="-120"/>
              </a:rPr>
              <a:t>pip install</a:t>
            </a:r>
            <a:pPr indent="0" marL="0">
              <a:buNone/>
            </a:pPr>
            <a:r>
              <a:rPr lang="en-US" sz="1700" dirty="0">
                <a:solidFill>
                  <a:srgbClr val="1F2933"/>
                </a:solidFill>
                <a:latin typeface="Calibri" pitchFamily="34" charset="0"/>
                <a:ea typeface="Calibri" pitchFamily="34" charset="-122"/>
                <a:cs typeface="Calibri" pitchFamily="34" charset="-120"/>
              </a:rPr>
              <a:t> y est refusé</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C'est voulu : Ubuntu s'en sert pour ses propres outils, et rappelle qu'il faut travailler dans un environnement virtuel</a:t>
            </a:r>
            <a:endParaRPr lang="en-US" sz="1700" dirty="0"/>
          </a:p>
        </p:txBody>
      </p:sp>
      <p:sp>
        <p:nvSpPr>
          <p:cNvPr id="11" name="Shape 9"/>
          <p:cNvSpPr/>
          <p:nvPr/>
        </p:nvSpPr>
        <p:spPr>
          <a:xfrm>
            <a:off x="548640" y="4815840"/>
            <a:ext cx="11094415" cy="883920"/>
          </a:xfrm>
          <a:prstGeom prst="roundRect">
            <a:avLst>
              <a:gd name="adj" fmla="val 6207"/>
            </a:avLst>
          </a:prstGeom>
          <a:solidFill>
            <a:srgbClr val="E8F3EE"/>
          </a:solidFill>
          <a:ln/>
        </p:spPr>
      </p:sp>
      <p:sp>
        <p:nvSpPr>
          <p:cNvPr id="12" name="Text 10"/>
          <p:cNvSpPr txBox="1"/>
          <p:nvPr/>
        </p:nvSpPr>
        <p:spPr>
          <a:xfrm>
            <a:off x="822960" y="481584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Pratique : le TP0. Créer un environnement virtuel, ouvrir Jupyter, quelques exercices de Python, puis installer et importer numpy.</a:t>
            </a:r>
            <a:endParaRPr lang="en-US" sz="17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L'environnement de travail</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venv   |   pip   |   requirements.txt</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L'ENVIRONNEMENT DE TRAVAIL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Pourquoi un environnement virtuel</a:t>
            </a:r>
            <a:endParaRPr lang="en-US" sz="3000" dirty="0"/>
          </a:p>
        </p:txBody>
      </p:sp>
      <p:sp>
        <p:nvSpPr>
          <p:cNvPr id="6" name="Text 4"/>
          <p:cNvSpPr txBox="1"/>
          <p:nvPr/>
        </p:nvSpPr>
        <p:spPr>
          <a:xfrm>
            <a:off x="548640" y="1417320"/>
            <a:ext cx="11094415" cy="68580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Un dossier qui contient son propre Python et ses propres bibliothèques, isolé du Python de la machine.</a:t>
            </a:r>
            <a:endParaRPr lang="en-US" sz="1800" dirty="0"/>
          </a:p>
        </p:txBody>
      </p:sp>
      <p:sp>
        <p:nvSpPr>
          <p:cNvPr id="7" name="Shape 5"/>
          <p:cNvSpPr/>
          <p:nvPr/>
        </p:nvSpPr>
        <p:spPr>
          <a:xfrm>
            <a:off x="548640" y="2286000"/>
            <a:ext cx="3515258" cy="2331720"/>
          </a:xfrm>
          <a:prstGeom prst="roundRect">
            <a:avLst>
              <a:gd name="adj" fmla="val 3137"/>
            </a:avLst>
          </a:prstGeom>
          <a:solidFill>
            <a:srgbClr val="EEF3F7"/>
          </a:solidFill>
          <a:ln/>
        </p:spPr>
      </p:sp>
      <p:sp>
        <p:nvSpPr>
          <p:cNvPr id="8" name="Shape 6"/>
          <p:cNvSpPr/>
          <p:nvPr/>
        </p:nvSpPr>
        <p:spPr>
          <a:xfrm>
            <a:off x="777240" y="2560320"/>
            <a:ext cx="402336" cy="402336"/>
          </a:xfrm>
          <a:prstGeom prst="ellipse">
            <a:avLst/>
          </a:prstGeom>
          <a:solidFill>
            <a:srgbClr val="2F7D62"/>
          </a:solidFill>
          <a:ln/>
        </p:spPr>
      </p:sp>
      <p:sp>
        <p:nvSpPr>
          <p:cNvPr id="9" name="Text 7"/>
          <p:cNvSpPr txBox="1"/>
          <p:nvPr/>
        </p:nvSpPr>
        <p:spPr>
          <a:xfrm>
            <a:off x="777240" y="25603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777240" y="310896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Isolation</a:t>
            </a:r>
            <a:endParaRPr lang="en-US" sz="1800" dirty="0"/>
          </a:p>
        </p:txBody>
      </p:sp>
      <p:sp>
        <p:nvSpPr>
          <p:cNvPr id="11" name="Text 9"/>
          <p:cNvSpPr txBox="1"/>
          <p:nvPr/>
        </p:nvSpPr>
        <p:spPr>
          <a:xfrm>
            <a:off x="777240" y="347472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Le projet A reste sur pandas 2.2, le projet B passe à pandas 3.0, sans conflit entre eux.</a:t>
            </a:r>
            <a:endParaRPr lang="en-US" sz="1500" dirty="0"/>
          </a:p>
        </p:txBody>
      </p:sp>
      <p:sp>
        <p:nvSpPr>
          <p:cNvPr id="12" name="Shape 10"/>
          <p:cNvSpPr/>
          <p:nvPr/>
        </p:nvSpPr>
        <p:spPr>
          <a:xfrm>
            <a:off x="4338218" y="2286000"/>
            <a:ext cx="3515258" cy="2331720"/>
          </a:xfrm>
          <a:prstGeom prst="roundRect">
            <a:avLst>
              <a:gd name="adj" fmla="val 3137"/>
            </a:avLst>
          </a:prstGeom>
          <a:solidFill>
            <a:srgbClr val="EEF3F7"/>
          </a:solidFill>
          <a:ln/>
        </p:spPr>
      </p:sp>
      <p:sp>
        <p:nvSpPr>
          <p:cNvPr id="13" name="Shape 11"/>
          <p:cNvSpPr/>
          <p:nvPr/>
        </p:nvSpPr>
        <p:spPr>
          <a:xfrm>
            <a:off x="4566818" y="2560320"/>
            <a:ext cx="402336" cy="402336"/>
          </a:xfrm>
          <a:prstGeom prst="ellipse">
            <a:avLst/>
          </a:prstGeom>
          <a:solidFill>
            <a:srgbClr val="2F7D62"/>
          </a:solidFill>
          <a:ln/>
        </p:spPr>
      </p:sp>
      <p:sp>
        <p:nvSpPr>
          <p:cNvPr id="14" name="Text 12"/>
          <p:cNvSpPr txBox="1"/>
          <p:nvPr/>
        </p:nvSpPr>
        <p:spPr>
          <a:xfrm>
            <a:off x="4566818" y="25603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3"/>
          <p:cNvSpPr txBox="1"/>
          <p:nvPr/>
        </p:nvSpPr>
        <p:spPr>
          <a:xfrm>
            <a:off x="4566818" y="310896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Reproductibilité</a:t>
            </a:r>
            <a:endParaRPr lang="en-US" sz="1800" dirty="0"/>
          </a:p>
        </p:txBody>
      </p:sp>
      <p:sp>
        <p:nvSpPr>
          <p:cNvPr id="16" name="Text 14"/>
          <p:cNvSpPr txBox="1"/>
          <p:nvPr/>
        </p:nvSpPr>
        <p:spPr>
          <a:xfrm>
            <a:off x="4566818" y="347472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La liste des bibliothèques est connue et peut être réinstallée à l'identique sur une autre machine.</a:t>
            </a:r>
            <a:endParaRPr lang="en-US" sz="1500" dirty="0"/>
          </a:p>
        </p:txBody>
      </p:sp>
      <p:sp>
        <p:nvSpPr>
          <p:cNvPr id="17" name="Shape 15"/>
          <p:cNvSpPr/>
          <p:nvPr/>
        </p:nvSpPr>
        <p:spPr>
          <a:xfrm>
            <a:off x="8127797" y="2286000"/>
            <a:ext cx="3515258" cy="2331720"/>
          </a:xfrm>
          <a:prstGeom prst="roundRect">
            <a:avLst>
              <a:gd name="adj" fmla="val 3137"/>
            </a:avLst>
          </a:prstGeom>
          <a:solidFill>
            <a:srgbClr val="EEF3F7"/>
          </a:solidFill>
          <a:ln/>
        </p:spPr>
      </p:sp>
      <p:sp>
        <p:nvSpPr>
          <p:cNvPr id="18" name="Shape 16"/>
          <p:cNvSpPr/>
          <p:nvPr/>
        </p:nvSpPr>
        <p:spPr>
          <a:xfrm>
            <a:off x="8356397" y="2560320"/>
            <a:ext cx="402336" cy="402336"/>
          </a:xfrm>
          <a:prstGeom prst="ellipse">
            <a:avLst/>
          </a:prstGeom>
          <a:solidFill>
            <a:srgbClr val="2F7D62"/>
          </a:solidFill>
          <a:ln/>
        </p:spPr>
      </p:sp>
      <p:sp>
        <p:nvSpPr>
          <p:cNvPr id="19" name="Text 17"/>
          <p:cNvSpPr txBox="1"/>
          <p:nvPr/>
        </p:nvSpPr>
        <p:spPr>
          <a:xfrm>
            <a:off x="8356397" y="25603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8356397" y="310896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Propreté</a:t>
            </a:r>
            <a:endParaRPr lang="en-US" sz="1800" dirty="0"/>
          </a:p>
        </p:txBody>
      </p:sp>
      <p:sp>
        <p:nvSpPr>
          <p:cNvPr id="21" name="Text 19"/>
          <p:cNvSpPr txBox="1"/>
          <p:nvPr/>
        </p:nvSpPr>
        <p:spPr>
          <a:xfrm>
            <a:off x="8356397" y="347472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Rien n'est installé dans le Python du système, qui peut servir à d'autres outils.</a:t>
            </a:r>
            <a:endParaRPr lang="en-US" sz="1500" dirty="0"/>
          </a:p>
        </p:txBody>
      </p:sp>
      <p:sp>
        <p:nvSpPr>
          <p:cNvPr id="22" name="Shape 20"/>
          <p:cNvSpPr/>
          <p:nvPr/>
        </p:nvSpPr>
        <p:spPr>
          <a:xfrm>
            <a:off x="548640" y="4937760"/>
            <a:ext cx="11094415" cy="624840"/>
          </a:xfrm>
          <a:prstGeom prst="roundRect">
            <a:avLst>
              <a:gd name="adj" fmla="val 8780"/>
            </a:avLst>
          </a:prstGeom>
          <a:solidFill>
            <a:srgbClr val="E8F3EE"/>
          </a:solidFill>
          <a:ln/>
        </p:spPr>
      </p:sp>
      <p:sp>
        <p:nvSpPr>
          <p:cNvPr id="23" name="Text 21"/>
          <p:cNvSpPr txBox="1"/>
          <p:nvPr/>
        </p:nvSpPr>
        <p:spPr>
          <a:xfrm>
            <a:off x="822960" y="493776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La règle : un projet, un environnement virtuel.</a:t>
            </a:r>
            <a:endParaRPr lang="en-US" sz="1700" dirty="0"/>
          </a:p>
        </p:txBody>
      </p:sp>
      <p:sp>
        <p:nvSpPr>
          <p:cNvPr id="24" name="Text 2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L'ENVIRONNEMENT DE TRAVAIL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Créer et activer l'environnement</a:t>
            </a:r>
            <a:endParaRPr lang="en-US" sz="3000" dirty="0"/>
          </a:p>
        </p:txBody>
      </p:sp>
      <p:sp>
        <p:nvSpPr>
          <p:cNvPr id="6" name="Text 4"/>
          <p:cNvSpPr txBox="1"/>
          <p:nvPr/>
        </p:nvSpPr>
        <p:spPr>
          <a:xfrm>
            <a:off x="548640" y="1417320"/>
            <a:ext cx="531860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Depuis le dossier du projet</a:t>
            </a:r>
            <a:endParaRPr lang="en-US" sz="1200" dirty="0"/>
          </a:p>
        </p:txBody>
      </p:sp>
      <p:sp>
        <p:nvSpPr>
          <p:cNvPr id="7" name="Shape 5"/>
          <p:cNvSpPr/>
          <p:nvPr/>
        </p:nvSpPr>
        <p:spPr>
          <a:xfrm>
            <a:off x="548640" y="1709928"/>
            <a:ext cx="5318608" cy="517398"/>
          </a:xfrm>
          <a:prstGeom prst="rect">
            <a:avLst/>
          </a:prstGeom>
          <a:solidFill>
            <a:srgbClr val="F3F4F6"/>
          </a:solidFill>
          <a:ln/>
        </p:spPr>
      </p:sp>
      <p:sp>
        <p:nvSpPr>
          <p:cNvPr id="8" name="Text 6"/>
          <p:cNvSpPr txBox="1"/>
          <p:nvPr/>
        </p:nvSpPr>
        <p:spPr>
          <a:xfrm>
            <a:off x="731520" y="1856232"/>
            <a:ext cx="4952848"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python3 -m venv .venv</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547366"/>
          <a:ext cx="5318608" cy="914400"/>
        </p:xfrm>
        <a:graphic>
          <a:graphicData uri="http://schemas.openxmlformats.org/drawingml/2006/table">
            <a:tbl>
              <a:tblPr/>
              <a:tblGrid>
                <a:gridCol w="2127443"/>
                <a:gridCol w="3191165"/>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Système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Activation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Ubuntu, macOS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source .venv/bin/activate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Windows PowerShell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.venv\Scripts\Activate.ps1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Windows cmd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.venv\Scripts\activate.bat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0" name="Text 7"/>
          <p:cNvSpPr txBox="1"/>
          <p:nvPr/>
        </p:nvSpPr>
        <p:spPr>
          <a:xfrm>
            <a:off x="6324448" y="1417320"/>
            <a:ext cx="5318608" cy="30124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3A5F"/>
                </a:solidFill>
                <a:latin typeface="Courier New" pitchFamily="34" charset="0"/>
                <a:ea typeface="Courier New" pitchFamily="34" charset="-122"/>
                <a:cs typeface="Courier New" pitchFamily="34" charset="-120"/>
              </a:rPr>
              <a:t>(.venv)</a:t>
            </a:r>
            <a:pPr indent="0" marL="0">
              <a:buNone/>
            </a:pPr>
            <a:r>
              <a:rPr lang="en-US" sz="1700" dirty="0">
                <a:solidFill>
                  <a:srgbClr val="1F2933"/>
                </a:solidFill>
                <a:latin typeface="Calibri" pitchFamily="34" charset="0"/>
                <a:ea typeface="Calibri" pitchFamily="34" charset="-122"/>
                <a:cs typeface="Calibri" pitchFamily="34" charset="-120"/>
              </a:rPr>
              <a:t> apparaît au début de l'invite, et </a:t>
            </a:r>
            <a:pPr indent="0" marL="0">
              <a:buNone/>
            </a:pPr>
            <a:r>
              <a:rPr lang="en-US" sz="1700" dirty="0">
                <a:solidFill>
                  <a:srgbClr val="1F3A5F"/>
                </a:solidFill>
                <a:latin typeface="Courier New" pitchFamily="34" charset="0"/>
                <a:ea typeface="Courier New" pitchFamily="34" charset="-122"/>
                <a:cs typeface="Courier New" pitchFamily="34" charset="-120"/>
              </a:rPr>
              <a:t>python</a:t>
            </a:r>
            <a:pPr indent="0" marL="0">
              <a:buNone/>
            </a:pPr>
            <a:r>
              <a:rPr lang="en-US" sz="1700" dirty="0">
                <a:solidFill>
                  <a:srgbClr val="1F2933"/>
                </a:solidFill>
                <a:latin typeface="Calibri" pitchFamily="34" charset="0"/>
                <a:ea typeface="Calibri" pitchFamily="34" charset="-122"/>
                <a:cs typeface="Calibri" pitchFamily="34" charset="-120"/>
              </a:rPr>
              <a:t> désigne le Python de l'environnement</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Vérifier le Python utilisé :</a:t>
            </a:r>
            <a:endParaRPr lang="en-US" sz="1700" dirty="0"/>
          </a:p>
          <a:p>
            <a:pPr lvl="1" marL="457200" indent="-2286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which python</a:t>
            </a:r>
            <a:pPr indent="0" marL="0">
              <a:buNone/>
            </a:pPr>
            <a:r>
              <a:rPr lang="en-US" sz="1500" dirty="0">
                <a:solidFill>
                  <a:srgbClr val="6B7280"/>
                </a:solidFill>
                <a:latin typeface="Calibri" pitchFamily="34" charset="0"/>
                <a:ea typeface="Calibri" pitchFamily="34" charset="-122"/>
                <a:cs typeface="Calibri" pitchFamily="34" charset="-120"/>
              </a:rPr>
              <a:t> sur Ubuntu et macOS</a:t>
            </a:r>
            <a:endParaRPr lang="en-US" sz="1700" dirty="0"/>
          </a:p>
          <a:p>
            <a:pPr lvl="1" marL="457200" indent="-2286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where python</a:t>
            </a:r>
            <a:pPr indent="0" marL="0">
              <a:buNone/>
            </a:pPr>
            <a:r>
              <a:rPr lang="en-US" sz="1500" dirty="0">
                <a:solidFill>
                  <a:srgbClr val="6B7280"/>
                </a:solidFill>
                <a:latin typeface="Calibri" pitchFamily="34" charset="0"/>
                <a:ea typeface="Calibri" pitchFamily="34" charset="-122"/>
                <a:cs typeface="Calibri" pitchFamily="34" charset="-120"/>
              </a:rPr>
              <a:t> sur Windows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Sortir de l'environnement : </a:t>
            </a:r>
            <a:pPr indent="0" marL="0">
              <a:buNone/>
            </a:pPr>
            <a:r>
              <a:rPr lang="en-US" sz="1700" dirty="0">
                <a:solidFill>
                  <a:srgbClr val="1F3A5F"/>
                </a:solidFill>
                <a:latin typeface="Courier New" pitchFamily="34" charset="0"/>
                <a:ea typeface="Courier New" pitchFamily="34" charset="-122"/>
                <a:cs typeface="Courier New" pitchFamily="34" charset="-120"/>
              </a:rPr>
              <a:t>deactivate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PowerShell bloque le script d'activation ?</a:t>
            </a:r>
            <a:endParaRPr lang="en-US" sz="1700" dirty="0"/>
          </a:p>
          <a:p>
            <a:pPr lvl="1" marL="457200" indent="-228600">
              <a:spcAft>
                <a:spcPts val="800"/>
              </a:spcAft>
              <a:buSzPct val="100000"/>
              <a:buChar char="•"/>
            </a:pPr>
            <a:r>
              <a:rPr lang="en-US" sz="1500" dirty="0">
                <a:solidFill>
                  <a:srgbClr val="1F3A5F"/>
                </a:solidFill>
                <a:latin typeface="Courier New" pitchFamily="34" charset="0"/>
                <a:ea typeface="Courier New" pitchFamily="34" charset="-122"/>
                <a:cs typeface="Courier New" pitchFamily="34" charset="-120"/>
              </a:rPr>
              <a:t>Set-ExecutionPolicy -Scope CurrentUser RemoteSigned</a:t>
            </a:r>
            <a:endParaRPr lang="en-US" sz="1700" dirty="0"/>
          </a:p>
        </p:txBody>
      </p:sp>
      <p:sp>
        <p:nvSpPr>
          <p:cNvPr id="11" name="Shape 8"/>
          <p:cNvSpPr/>
          <p:nvPr/>
        </p:nvSpPr>
        <p:spPr>
          <a:xfrm>
            <a:off x="548640" y="4749800"/>
            <a:ext cx="11094415" cy="883920"/>
          </a:xfrm>
          <a:prstGeom prst="roundRect">
            <a:avLst>
              <a:gd name="adj" fmla="val 6207"/>
            </a:avLst>
          </a:prstGeom>
          <a:solidFill>
            <a:srgbClr val="E8F3EE"/>
          </a:solidFill>
          <a:ln/>
        </p:spPr>
      </p:sp>
      <p:sp>
        <p:nvSpPr>
          <p:cNvPr id="12" name="Text 9"/>
          <p:cNvSpPr txBox="1"/>
          <p:nvPr/>
        </p:nvSpPr>
        <p:spPr>
          <a:xfrm>
            <a:off x="822960" y="474980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Sur Ubuntu, message </a:t>
            </a:r>
            <a:pPr indent="0" marL="0">
              <a:buNone/>
            </a:pPr>
            <a:r>
              <a:rPr lang="en-US" sz="1700" dirty="0">
                <a:solidFill>
                  <a:srgbClr val="2F7D62"/>
                </a:solidFill>
                <a:latin typeface="Courier New" pitchFamily="34" charset="0"/>
                <a:ea typeface="Courier New" pitchFamily="34" charset="-122"/>
                <a:cs typeface="Courier New" pitchFamily="34" charset="-120"/>
              </a:rPr>
              <a:t>ensurepip is not available</a:t>
            </a:r>
            <a:pPr indent="0" marL="0">
              <a:buNone/>
            </a:pPr>
            <a:r>
              <a:rPr lang="en-US" sz="1700" dirty="0">
                <a:solidFill>
                  <a:srgbClr val="1F3A5F"/>
                </a:solidFill>
                <a:latin typeface="Calibri" pitchFamily="34" charset="0"/>
                <a:ea typeface="Calibri" pitchFamily="34" charset="-122"/>
                <a:cs typeface="Calibri" pitchFamily="34" charset="-120"/>
              </a:rPr>
              <a:t> ? Il manque le paquet </a:t>
            </a:r>
            <a:pPr indent="0" marL="0">
              <a:buNone/>
            </a:pPr>
            <a:r>
              <a:rPr lang="en-US" sz="1700" dirty="0">
                <a:solidFill>
                  <a:srgbClr val="2F7D62"/>
                </a:solidFill>
                <a:latin typeface="Courier New" pitchFamily="34" charset="0"/>
                <a:ea typeface="Courier New" pitchFamily="34" charset="-122"/>
                <a:cs typeface="Courier New" pitchFamily="34" charset="-120"/>
              </a:rPr>
              <a:t>python3.12-venv</a:t>
            </a:r>
            <a:pPr indent="0" marL="0">
              <a:buNone/>
            </a:pPr>
            <a:r>
              <a:rPr lang="en-US" sz="1700" dirty="0">
                <a:solidFill>
                  <a:srgbClr val="1F3A5F"/>
                </a:solidFill>
                <a:latin typeface="Calibri" pitchFamily="34" charset="0"/>
                <a:ea typeface="Calibri" pitchFamily="34" charset="-122"/>
                <a:cs typeface="Calibri" pitchFamily="34" charset="-120"/>
              </a:rPr>
              <a:t> : </a:t>
            </a:r>
            <a:pPr indent="0" marL="0">
              <a:buNone/>
            </a:pPr>
            <a:r>
              <a:rPr lang="en-US" sz="1700" dirty="0">
                <a:solidFill>
                  <a:srgbClr val="2F7D62"/>
                </a:solidFill>
                <a:latin typeface="Courier New" pitchFamily="34" charset="0"/>
                <a:ea typeface="Courier New" pitchFamily="34" charset="-122"/>
                <a:cs typeface="Courier New" pitchFamily="34" charset="-120"/>
              </a:rPr>
              <a:t>sudo apt install python3.12-venv</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3"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L'ENVIRONNEMENT DE TRAVAIL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Installer des bibliothèques avec pip</a:t>
            </a:r>
            <a:endParaRPr lang="en-US" sz="3000" dirty="0"/>
          </a:p>
        </p:txBody>
      </p:sp>
      <p:sp>
        <p:nvSpPr>
          <p:cNvPr id="6" name="Shape 4"/>
          <p:cNvSpPr/>
          <p:nvPr/>
        </p:nvSpPr>
        <p:spPr>
          <a:xfrm>
            <a:off x="548640" y="1417320"/>
            <a:ext cx="5802117" cy="2090928"/>
          </a:xfrm>
          <a:prstGeom prst="rect">
            <a:avLst/>
          </a:prstGeom>
          <a:solidFill>
            <a:srgbClr val="F3F4F6"/>
          </a:solidFill>
          <a:ln/>
        </p:spPr>
      </p:sp>
      <p:sp>
        <p:nvSpPr>
          <p:cNvPr id="7" name="Text 5"/>
          <p:cNvSpPr txBox="1"/>
          <p:nvPr/>
        </p:nvSpPr>
        <p:spPr>
          <a:xfrm>
            <a:off x="731520" y="1563624"/>
            <a:ext cx="5436357" cy="179832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install --upgrade pip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install pandas numpy</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install "pandas==3.0.6"</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list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show pandas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uninstall pandas</a:t>
            </a:r>
            <a:endParaRPr lang="en-US" sz="1500" dirty="0"/>
          </a:p>
        </p:txBody>
      </p:sp>
      <p:sp>
        <p:nvSpPr>
          <p:cNvPr id="8" name="Shape 6"/>
          <p:cNvSpPr/>
          <p:nvPr/>
        </p:nvSpPr>
        <p:spPr>
          <a:xfrm>
            <a:off x="6807957" y="1417320"/>
            <a:ext cx="4835098" cy="2103120"/>
          </a:xfrm>
          <a:prstGeom prst="roundRect">
            <a:avLst>
              <a:gd name="adj" fmla="val 3478"/>
            </a:avLst>
          </a:prstGeom>
          <a:solidFill>
            <a:srgbClr val="EEF3F7"/>
          </a:solidFill>
          <a:ln/>
        </p:spPr>
      </p:sp>
      <p:sp>
        <p:nvSpPr>
          <p:cNvPr id="9" name="Shape 7"/>
          <p:cNvSpPr/>
          <p:nvPr/>
        </p:nvSpPr>
        <p:spPr>
          <a:xfrm>
            <a:off x="7036557" y="1691640"/>
            <a:ext cx="402336" cy="402336"/>
          </a:xfrm>
          <a:prstGeom prst="ellipse">
            <a:avLst/>
          </a:prstGeom>
          <a:solidFill>
            <a:srgbClr val="2F7D62"/>
          </a:solidFill>
          <a:ln/>
        </p:spPr>
      </p:sp>
      <p:sp>
        <p:nvSpPr>
          <p:cNvPr id="10" name="Text 8"/>
          <p:cNvSpPr txBox="1"/>
          <p:nvPr/>
        </p:nvSpPr>
        <p:spPr>
          <a:xfrm>
            <a:off x="7036557"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1" name="Text 9"/>
          <p:cNvSpPr txBox="1"/>
          <p:nvPr/>
        </p:nvSpPr>
        <p:spPr>
          <a:xfrm>
            <a:off x="7036557" y="2240280"/>
            <a:ext cx="437789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Pourquoi </a:t>
            </a:r>
            <a:pPr indent="0" marL="0">
              <a:buNone/>
            </a:pPr>
            <a:r>
              <a:rPr lang="en-US" sz="1800" b="1" dirty="0">
                <a:solidFill>
                  <a:srgbClr val="1F3A5F"/>
                </a:solidFill>
                <a:latin typeface="Courier New" pitchFamily="34" charset="0"/>
                <a:ea typeface="Courier New" pitchFamily="34" charset="-122"/>
                <a:cs typeface="Courier New" pitchFamily="34" charset="-120"/>
              </a:rPr>
              <a:t>python -m pip</a:t>
            </a:r>
            <a:pPr indent="0" marL="0">
              <a:buNone/>
            </a:pPr>
            <a:r>
              <a:rPr lang="en-US" sz="1800" b="1" dirty="0">
                <a:solidFill>
                  <a:srgbClr val="1F3A5F"/>
                </a:solidFill>
                <a:latin typeface="Calibri" pitchFamily="34" charset="0"/>
                <a:ea typeface="Calibri" pitchFamily="34" charset="-122"/>
                <a:cs typeface="Calibri" pitchFamily="34" charset="-120"/>
              </a:rPr>
              <a:t> ?</a:t>
            </a:r>
            <a:endParaRPr lang="en-US" sz="1800" dirty="0"/>
          </a:p>
        </p:txBody>
      </p:sp>
      <p:sp>
        <p:nvSpPr>
          <p:cNvPr id="12" name="Text 10"/>
          <p:cNvSpPr txBox="1"/>
          <p:nvPr/>
        </p:nvSpPr>
        <p:spPr>
          <a:xfrm>
            <a:off x="7036557" y="2606040"/>
            <a:ext cx="4377898" cy="7315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Pour être certain d'installer dans le Python actif, et pas dans un autre Python présent sur la machine.</a:t>
            </a:r>
            <a:endParaRPr lang="en-US" sz="1500" dirty="0"/>
          </a:p>
        </p:txBody>
      </p:sp>
      <p:sp>
        <p:nvSpPr>
          <p:cNvPr id="13" name="Text 11"/>
          <p:cNvSpPr txBox="1"/>
          <p:nvPr/>
        </p:nvSpPr>
        <p:spPr>
          <a:xfrm>
            <a:off x="6807957" y="3840480"/>
            <a:ext cx="483509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Erreur classique : installer une bibliothèque dans un Python, puis exécuter le code avec un autre. Résultat : </a:t>
            </a:r>
            <a:pPr indent="0" marL="0">
              <a:buNone/>
            </a:pPr>
            <a:r>
              <a:rPr lang="en-US" sz="1600" dirty="0">
                <a:solidFill>
                  <a:srgbClr val="1F3A5F"/>
                </a:solidFill>
                <a:latin typeface="Courier New" pitchFamily="34" charset="0"/>
                <a:ea typeface="Courier New" pitchFamily="34" charset="-122"/>
                <a:cs typeface="Courier New" pitchFamily="34" charset="-120"/>
              </a:rPr>
              <a:t>ModuleNotFoundError</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L'ENVIRONNEMENT DE TRAVAIL</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fichier requirements.txt</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Figer l'environnement</a:t>
            </a:r>
            <a:endParaRPr lang="en-US" sz="1700" dirty="0"/>
          </a:p>
        </p:txBody>
      </p:sp>
      <p:sp>
        <p:nvSpPr>
          <p:cNvPr id="7" name="Shape 5"/>
          <p:cNvSpPr/>
          <p:nvPr/>
        </p:nvSpPr>
        <p:spPr>
          <a:xfrm>
            <a:off x="548640" y="1828800"/>
            <a:ext cx="5318608" cy="517398"/>
          </a:xfrm>
          <a:prstGeom prst="rect">
            <a:avLst/>
          </a:prstGeom>
          <a:solidFill>
            <a:srgbClr val="F3F4F6"/>
          </a:solidFill>
          <a:ln/>
        </p:spPr>
      </p:sp>
      <p:sp>
        <p:nvSpPr>
          <p:cNvPr id="8" name="Text 6"/>
          <p:cNvSpPr txBox="1"/>
          <p:nvPr/>
        </p:nvSpPr>
        <p:spPr>
          <a:xfrm>
            <a:off x="731520" y="1975104"/>
            <a:ext cx="4952848" cy="2247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freeze &gt; requirements.txt</a:t>
            </a:r>
            <a:endParaRPr lang="en-US" sz="1500" dirty="0"/>
          </a:p>
        </p:txBody>
      </p:sp>
      <p:sp>
        <p:nvSpPr>
          <p:cNvPr id="9" name="Text 7"/>
          <p:cNvSpPr txBox="1"/>
          <p:nvPr/>
        </p:nvSpPr>
        <p:spPr>
          <a:xfrm>
            <a:off x="548640" y="2666238"/>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 recréer ailleurs</a:t>
            </a:r>
            <a:endParaRPr lang="en-US" sz="1700" dirty="0"/>
          </a:p>
        </p:txBody>
      </p:sp>
      <p:sp>
        <p:nvSpPr>
          <p:cNvPr id="10" name="Shape 8"/>
          <p:cNvSpPr/>
          <p:nvPr/>
        </p:nvSpPr>
        <p:spPr>
          <a:xfrm>
            <a:off x="548640" y="3077718"/>
            <a:ext cx="5318608" cy="966978"/>
          </a:xfrm>
          <a:prstGeom prst="rect">
            <a:avLst/>
          </a:prstGeom>
          <a:solidFill>
            <a:srgbClr val="F3F4F6"/>
          </a:solidFill>
          <a:ln/>
        </p:spPr>
      </p:sp>
      <p:sp>
        <p:nvSpPr>
          <p:cNvPr id="11" name="Text 9"/>
          <p:cNvSpPr txBox="1"/>
          <p:nvPr/>
        </p:nvSpPr>
        <p:spPr>
          <a:xfrm>
            <a:off x="731520" y="3224022"/>
            <a:ext cx="4952848"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python3 -m venv .venv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source .venv/bin/activate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python -m pip install -r requirements.txt</a:t>
            </a:r>
            <a:endParaRPr lang="en-US" sz="1500" dirty="0"/>
          </a:p>
        </p:txBody>
      </p:sp>
      <p:sp>
        <p:nvSpPr>
          <p:cNvPr id="12" name="Text 10"/>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Ou l'écrire à la main</a:t>
            </a:r>
            <a:endParaRPr lang="en-US" sz="1700" dirty="0"/>
          </a:p>
        </p:txBody>
      </p:sp>
      <p:sp>
        <p:nvSpPr>
          <p:cNvPr id="13" name="Shape 11"/>
          <p:cNvSpPr/>
          <p:nvPr/>
        </p:nvSpPr>
        <p:spPr>
          <a:xfrm>
            <a:off x="6324448" y="1828800"/>
            <a:ext cx="5318608" cy="1416558"/>
          </a:xfrm>
          <a:prstGeom prst="rect">
            <a:avLst/>
          </a:prstGeom>
          <a:solidFill>
            <a:srgbClr val="F3F4F6"/>
          </a:solidFill>
          <a:ln/>
        </p:spPr>
      </p:sp>
      <p:sp>
        <p:nvSpPr>
          <p:cNvPr id="14" name="Text 12"/>
          <p:cNvSpPr txBox="1"/>
          <p:nvPr/>
        </p:nvSpPr>
        <p:spPr>
          <a:xfrm>
            <a:off x="6507328" y="1975104"/>
            <a:ext cx="4952848"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pandas&gt;=3.0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numpy&gt;=2.0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jupyterlab</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openpyxl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pyarrow</a:t>
            </a:r>
            <a:endParaRPr lang="en-US" sz="1500" dirty="0"/>
          </a:p>
        </p:txBody>
      </p:sp>
      <p:sp>
        <p:nvSpPr>
          <p:cNvPr id="15" name="Text 13"/>
          <p:cNvSpPr txBox="1"/>
          <p:nvPr/>
        </p:nvSpPr>
        <p:spPr>
          <a:xfrm>
            <a:off x="6324448" y="3565398"/>
            <a:ext cx="5318608" cy="86868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freeze</a:t>
            </a:r>
            <a:pPr indent="0" marL="0">
              <a:buNone/>
            </a:pPr>
            <a:r>
              <a:rPr lang="en-US" sz="1600" dirty="0">
                <a:solidFill>
                  <a:srgbClr val="6B7280"/>
                </a:solidFill>
                <a:latin typeface="Calibri" pitchFamily="34" charset="0"/>
                <a:ea typeface="Calibri" pitchFamily="34" charset="-122"/>
                <a:cs typeface="Calibri" pitchFamily="34" charset="-120"/>
              </a:rPr>
              <a:t> est précis mais liste aussi toutes les dépendances indirectes. Écrit à la main, le fichier est lisible mais ne fige pas tout.</a:t>
            </a:r>
            <a:endParaRPr lang="en-US" sz="1600" dirty="0"/>
          </a:p>
        </p:txBody>
      </p:sp>
      <p:sp>
        <p:nvSpPr>
          <p:cNvPr id="16" name="Shape 14"/>
          <p:cNvSpPr/>
          <p:nvPr/>
        </p:nvSpPr>
        <p:spPr>
          <a:xfrm>
            <a:off x="548640" y="4754118"/>
            <a:ext cx="11094415" cy="883920"/>
          </a:xfrm>
          <a:prstGeom prst="roundRect">
            <a:avLst>
              <a:gd name="adj" fmla="val 6207"/>
            </a:avLst>
          </a:prstGeom>
          <a:solidFill>
            <a:srgbClr val="E8F3EE"/>
          </a:solidFill>
          <a:ln/>
        </p:spPr>
      </p:sp>
      <p:sp>
        <p:nvSpPr>
          <p:cNvPr id="17" name="Text 15"/>
          <p:cNvSpPr txBox="1"/>
          <p:nvPr/>
        </p:nvSpPr>
        <p:spPr>
          <a:xfrm>
            <a:off x="822960" y="475411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 dossier </a:t>
            </a:r>
            <a:pPr indent="0" marL="0">
              <a:buNone/>
            </a:pPr>
            <a:r>
              <a:rPr lang="en-US" sz="1700" dirty="0">
                <a:solidFill>
                  <a:srgbClr val="2F7D62"/>
                </a:solidFill>
                <a:latin typeface="Courier New" pitchFamily="34" charset="0"/>
                <a:ea typeface="Courier New" pitchFamily="34" charset="-122"/>
                <a:cs typeface="Courier New" pitchFamily="34" charset="-120"/>
              </a:rPr>
              <a:t>.venv</a:t>
            </a:r>
            <a:pPr indent="0" marL="0">
              <a:buNone/>
            </a:pPr>
            <a:r>
              <a:rPr lang="en-US" sz="1700" dirty="0">
                <a:solidFill>
                  <a:srgbClr val="1F3A5F"/>
                </a:solidFill>
                <a:latin typeface="Calibri" pitchFamily="34" charset="0"/>
                <a:ea typeface="Calibri" pitchFamily="34" charset="-122"/>
                <a:cs typeface="Calibri" pitchFamily="34" charset="-120"/>
              </a:rPr>
              <a:t> ne se partage pas et ne se versionne pas : on le recrée à partir du </a:t>
            </a:r>
            <a:pPr indent="0" marL="0">
              <a:buNone/>
            </a:pPr>
            <a:r>
              <a:rPr lang="en-US" sz="1700" dirty="0">
                <a:solidFill>
                  <a:srgbClr val="2F7D62"/>
                </a:solidFill>
                <a:latin typeface="Courier New" pitchFamily="34" charset="0"/>
                <a:ea typeface="Courier New" pitchFamily="34" charset="-122"/>
                <a:cs typeface="Courier New" pitchFamily="34" charset="-120"/>
              </a:rPr>
              <a:t>requirements.txt</a:t>
            </a:r>
            <a:pPr indent="0" marL="0">
              <a:buNone/>
            </a:pPr>
            <a:r>
              <a:rPr lang="en-US" sz="1700" dirty="0">
                <a:solidFill>
                  <a:srgbClr val="1F3A5F"/>
                </a:solidFill>
                <a:latin typeface="Calibri" pitchFamily="34" charset="0"/>
                <a:ea typeface="Calibri" pitchFamily="34" charset="-122"/>
                <a:cs typeface="Calibri" pitchFamily="34" charset="-120"/>
              </a:rPr>
              <a:t>, et il figure dans le </a:t>
            </a:r>
            <a:pPr indent="0" marL="0">
              <a:buNone/>
            </a:pPr>
            <a:r>
              <a:rPr lang="en-US" sz="1700" dirty="0">
                <a:solidFill>
                  <a:srgbClr val="2F7D62"/>
                </a:solidFill>
                <a:latin typeface="Courier New" pitchFamily="34" charset="0"/>
                <a:ea typeface="Courier New" pitchFamily="34" charset="-122"/>
                <a:cs typeface="Courier New" pitchFamily="34" charset="-120"/>
              </a:rPr>
              <a:t>.gitignore</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8" name="Text 1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Jupyter Notebook et JupyterLab</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Lancement   |   Interface   |   Ordre d'exécution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JUPYTER NOTEBOOK ET JUPYTERLAB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Lancer Jupyter depuis l'environnement</a:t>
            </a:r>
            <a:endParaRPr lang="en-US" sz="3000" dirty="0"/>
          </a:p>
        </p:txBody>
      </p:sp>
      <p:sp>
        <p:nvSpPr>
          <p:cNvPr id="6" name="Shape 4"/>
          <p:cNvSpPr/>
          <p:nvPr/>
        </p:nvSpPr>
        <p:spPr>
          <a:xfrm>
            <a:off x="548640" y="1417320"/>
            <a:ext cx="4835098" cy="1131824"/>
          </a:xfrm>
          <a:prstGeom prst="rect">
            <a:avLst/>
          </a:prstGeom>
          <a:solidFill>
            <a:srgbClr val="F3F4F6"/>
          </a:solidFill>
          <a:ln/>
        </p:spPr>
      </p:sp>
      <p:sp>
        <p:nvSpPr>
          <p:cNvPr id="7" name="Text 5"/>
          <p:cNvSpPr txBox="1"/>
          <p:nvPr/>
        </p:nvSpPr>
        <p:spPr>
          <a:xfrm>
            <a:off x="731520" y="1563624"/>
            <a:ext cx="4469338" cy="83921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python -m pip install jupyterlab notebook</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jupyter lab</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jupyter notebook</a:t>
            </a:r>
            <a:endParaRPr lang="en-US" sz="1400" dirty="0"/>
          </a:p>
        </p:txBody>
      </p:sp>
      <p:sp>
        <p:nvSpPr>
          <p:cNvPr id="8" name="Text 6"/>
          <p:cNvSpPr txBox="1"/>
          <p:nvPr/>
        </p:nvSpPr>
        <p:spPr>
          <a:xfrm>
            <a:off x="548640" y="2869184"/>
            <a:ext cx="483509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Dans le notebook : quel Python ?</a:t>
            </a:r>
            <a:endParaRPr lang="en-US" sz="1200" dirty="0"/>
          </a:p>
        </p:txBody>
      </p:sp>
      <p:sp>
        <p:nvSpPr>
          <p:cNvPr id="9" name="Shape 7"/>
          <p:cNvSpPr/>
          <p:nvPr/>
        </p:nvSpPr>
        <p:spPr>
          <a:xfrm>
            <a:off x="548640" y="3161792"/>
            <a:ext cx="4835098" cy="742188"/>
          </a:xfrm>
          <a:prstGeom prst="rect">
            <a:avLst/>
          </a:prstGeom>
          <a:solidFill>
            <a:srgbClr val="F3F4F6"/>
          </a:solidFill>
          <a:ln/>
        </p:spPr>
      </p:sp>
      <p:sp>
        <p:nvSpPr>
          <p:cNvPr id="10" name="Text 8"/>
          <p:cNvSpPr txBox="1"/>
          <p:nvPr/>
        </p:nvSpPr>
        <p:spPr>
          <a:xfrm>
            <a:off x="731520" y="3308096"/>
            <a:ext cx="4469338"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import sys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sys.executable</a:t>
            </a:r>
            <a:endParaRPr lang="en-US" sz="1500" dirty="0"/>
          </a:p>
        </p:txBody>
      </p:sp>
      <p:sp>
        <p:nvSpPr>
          <p:cNvPr id="11" name="Text 9"/>
          <p:cNvSpPr txBox="1"/>
          <p:nvPr/>
        </p:nvSpPr>
        <p:spPr>
          <a:xfrm>
            <a:off x="5840938" y="1417320"/>
            <a:ext cx="5802117" cy="31902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Lancer depuis le terminal où le </a:t>
            </a:r>
            <a:pPr indent="0" marL="0">
              <a:buNone/>
            </a:pPr>
            <a:r>
              <a:rPr lang="en-US" sz="1700" dirty="0">
                <a:solidFill>
                  <a:srgbClr val="1F3A5F"/>
                </a:solidFill>
                <a:latin typeface="Courier New" pitchFamily="34" charset="0"/>
                <a:ea typeface="Courier New" pitchFamily="34" charset="-122"/>
                <a:cs typeface="Courier New" pitchFamily="34" charset="-120"/>
              </a:rPr>
              <a:t>.venv</a:t>
            </a:r>
            <a:pPr indent="0" marL="0">
              <a:buNone/>
            </a:pPr>
            <a:r>
              <a:rPr lang="en-US" sz="1700" dirty="0">
                <a:solidFill>
                  <a:srgbClr val="1F2933"/>
                </a:solidFill>
                <a:latin typeface="Calibri" pitchFamily="34" charset="0"/>
                <a:ea typeface="Calibri" pitchFamily="34" charset="-122"/>
                <a:cs typeface="Calibri" pitchFamily="34" charset="-120"/>
              </a:rPr>
              <a:t> est </a:t>
            </a:r>
            <a:pPr indent="0" marL="0">
              <a:buNone/>
            </a:pPr>
            <a:r>
              <a:rPr lang="en-US" sz="1700" b="1" dirty="0">
                <a:solidFill>
                  <a:srgbClr val="1F2933"/>
                </a:solidFill>
                <a:latin typeface="Calibri" pitchFamily="34" charset="0"/>
                <a:ea typeface="Calibri" pitchFamily="34" charset="-122"/>
                <a:cs typeface="Calibri" pitchFamily="34" charset="-120"/>
              </a:rPr>
              <a:t>activé</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Lancer depuis le </a:t>
            </a:r>
            <a:pPr indent="0" marL="0">
              <a:buNone/>
            </a:pPr>
            <a:r>
              <a:rPr lang="en-US" sz="1700" b="1" dirty="0">
                <a:solidFill>
                  <a:srgbClr val="1F2933"/>
                </a:solidFill>
                <a:latin typeface="Calibri" pitchFamily="34" charset="0"/>
                <a:ea typeface="Calibri" pitchFamily="34" charset="-122"/>
                <a:cs typeface="Calibri" pitchFamily="34" charset="-120"/>
              </a:rPr>
              <a:t>dossier du projet</a:t>
            </a:r>
            <a:pPr indent="0" marL="0">
              <a:buNone/>
            </a:pPr>
            <a:r>
              <a:rPr lang="en-US" sz="1700" dirty="0">
                <a:solidFill>
                  <a:srgbClr val="1F2933"/>
                </a:solidFill>
                <a:latin typeface="Calibri" pitchFamily="34" charset="0"/>
                <a:ea typeface="Calibri" pitchFamily="34" charset="-122"/>
                <a:cs typeface="Calibri" pitchFamily="34" charset="-120"/>
              </a:rPr>
              <a:t> : il devient la racine des chemins relatifs comme </a:t>
            </a:r>
            <a:pPr indent="0" marL="0">
              <a:buNone/>
            </a:pPr>
            <a:r>
              <a:rPr lang="en-US" sz="1700" dirty="0">
                <a:solidFill>
                  <a:srgbClr val="1F3A5F"/>
                </a:solidFill>
                <a:latin typeface="Courier New" pitchFamily="34" charset="0"/>
                <a:ea typeface="Courier New" pitchFamily="34" charset="-122"/>
                <a:cs typeface="Courier New" pitchFamily="34" charset="-120"/>
              </a:rPr>
              <a:t>data/ventes.csv</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 serveur tourne dans le terminal : le laisser ouvert, </a:t>
            </a:r>
            <a:pPr indent="0" marL="0">
              <a:buNone/>
            </a:pPr>
            <a:r>
              <a:rPr lang="en-US" sz="1700" dirty="0">
                <a:solidFill>
                  <a:srgbClr val="1F3A5F"/>
                </a:solidFill>
                <a:latin typeface="Courier New" pitchFamily="34" charset="0"/>
                <a:ea typeface="Courier New" pitchFamily="34" charset="-122"/>
                <a:cs typeface="Courier New" pitchFamily="34" charset="-120"/>
              </a:rPr>
              <a:t>Ctrl+C</a:t>
            </a:r>
            <a:pPr indent="0" marL="0">
              <a:buNone/>
            </a:pPr>
            <a:r>
              <a:rPr lang="en-US" sz="1700" dirty="0">
                <a:solidFill>
                  <a:srgbClr val="1F2933"/>
                </a:solidFill>
                <a:latin typeface="Calibri" pitchFamily="34" charset="0"/>
                <a:ea typeface="Calibri" pitchFamily="34" charset="-122"/>
                <a:cs typeface="Calibri" pitchFamily="34" charset="-120"/>
              </a:rPr>
              <a:t> pour l'arrêter</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JupyterLab : explorateur, onglets, terminal. Notebook : vue centrée sur un document</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VS Code ouvre aussi les </a:t>
            </a:r>
            <a:pPr indent="0" marL="0">
              <a:buNone/>
            </a:pPr>
            <a:r>
              <a:rPr lang="en-US" sz="1700" dirty="0">
                <a:solidFill>
                  <a:srgbClr val="1F3A5F"/>
                </a:solidFill>
                <a:latin typeface="Courier New" pitchFamily="34" charset="0"/>
                <a:ea typeface="Courier New" pitchFamily="34" charset="-122"/>
                <a:cs typeface="Courier New" pitchFamily="34" charset="-120"/>
              </a:rPr>
              <a:t>.ipynb</a:t>
            </a:r>
            <a:pPr indent="0" marL="0">
              <a:buNone/>
            </a:pPr>
            <a:r>
              <a:rPr lang="en-US" sz="1700" dirty="0">
                <a:solidFill>
                  <a:srgbClr val="1F2933"/>
                </a:solidFill>
                <a:latin typeface="Calibri" pitchFamily="34" charset="0"/>
                <a:ea typeface="Calibri" pitchFamily="34" charset="-122"/>
                <a:cs typeface="Calibri" pitchFamily="34" charset="-120"/>
              </a:rPr>
              <a:t> : choisir le </a:t>
            </a:r>
            <a:pPr indent="0" marL="0">
              <a:buNone/>
            </a:pPr>
            <a:r>
              <a:rPr lang="en-US" sz="1700" dirty="0">
                <a:solidFill>
                  <a:srgbClr val="1F3A5F"/>
                </a:solidFill>
                <a:latin typeface="Courier New" pitchFamily="34" charset="0"/>
                <a:ea typeface="Courier New" pitchFamily="34" charset="-122"/>
                <a:cs typeface="Courier New" pitchFamily="34" charset="-120"/>
              </a:rPr>
              <a:t>.venv</a:t>
            </a:r>
            <a:pPr indent="0" marL="0">
              <a:buNone/>
            </a:pPr>
            <a:r>
              <a:rPr lang="en-US" sz="1700" dirty="0">
                <a:solidFill>
                  <a:srgbClr val="1F2933"/>
                </a:solidFill>
                <a:latin typeface="Calibri" pitchFamily="34" charset="0"/>
                <a:ea typeface="Calibri" pitchFamily="34" charset="-122"/>
                <a:cs typeface="Calibri" pitchFamily="34" charset="-120"/>
              </a:rPr>
              <a:t> comme noyau</a:t>
            </a:r>
            <a:endParaRPr lang="en-US" sz="17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JUPYTER NOTEBOOK ET JUPYTERLAB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Premiers repères dans l'interface</a:t>
            </a:r>
            <a:endParaRPr lang="en-US" sz="3000" dirty="0"/>
          </a:p>
        </p:txBody>
      </p:sp>
      <p:sp>
        <p:nvSpPr>
          <p:cNvPr id="6" name="Text 4"/>
          <p:cNvSpPr txBox="1"/>
          <p:nvPr/>
        </p:nvSpPr>
        <p:spPr>
          <a:xfrm>
            <a:off x="548640" y="1417320"/>
            <a:ext cx="4835098" cy="275336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Deux types de cellules :</a:t>
            </a:r>
            <a:endParaRPr lang="en-US" sz="1700" dirty="0"/>
          </a:p>
          <a:p>
            <a:pPr lvl="1" marL="457200" indent="-228600">
              <a:spcAft>
                <a:spcPts val="800"/>
              </a:spcAft>
              <a:buSzPct val="100000"/>
              <a:buChar char="•"/>
            </a:pPr>
            <a:r>
              <a:rPr lang="en-US" sz="1500" b="1" dirty="0">
                <a:solidFill>
                  <a:srgbClr val="6B7280"/>
                </a:solidFill>
                <a:latin typeface="Calibri" pitchFamily="34" charset="0"/>
                <a:ea typeface="Calibri" pitchFamily="34" charset="-122"/>
                <a:cs typeface="Calibri" pitchFamily="34" charset="-120"/>
              </a:rPr>
              <a:t>code</a:t>
            </a:r>
            <a:pPr indent="0" marL="0">
              <a:buNone/>
            </a:pPr>
            <a:r>
              <a:rPr lang="en-US" sz="1500" dirty="0">
                <a:solidFill>
                  <a:srgbClr val="6B7280"/>
                </a:solidFill>
                <a:latin typeface="Calibri" pitchFamily="34" charset="0"/>
                <a:ea typeface="Calibri" pitchFamily="34" charset="-122"/>
                <a:cs typeface="Calibri" pitchFamily="34" charset="-120"/>
              </a:rPr>
              <a:t>, exécutée par le noyau Python</a:t>
            </a:r>
            <a:endParaRPr lang="en-US" sz="1700" dirty="0"/>
          </a:p>
          <a:p>
            <a:pPr lvl="1" marL="457200" indent="-228600">
              <a:spcAft>
                <a:spcPts val="800"/>
              </a:spcAft>
              <a:buSzPct val="100000"/>
              <a:buChar char="•"/>
            </a:pPr>
            <a:r>
              <a:rPr lang="en-US" sz="1500" b="1" dirty="0">
                <a:solidFill>
                  <a:srgbClr val="6B7280"/>
                </a:solidFill>
                <a:latin typeface="Calibri" pitchFamily="34" charset="0"/>
                <a:ea typeface="Calibri" pitchFamily="34" charset="-122"/>
                <a:cs typeface="Calibri" pitchFamily="34" charset="-120"/>
              </a:rPr>
              <a:t>Markdown</a:t>
            </a:r>
            <a:pPr indent="0" marL="0">
              <a:buNone/>
            </a:pPr>
            <a:r>
              <a:rPr lang="en-US" sz="1500" dirty="0">
                <a:solidFill>
                  <a:srgbClr val="6B7280"/>
                </a:solidFill>
                <a:latin typeface="Calibri" pitchFamily="34" charset="0"/>
                <a:ea typeface="Calibri" pitchFamily="34" charset="-122"/>
                <a:cs typeface="Calibri" pitchFamily="34" charset="-120"/>
              </a:rPr>
              <a:t>, pour le texte et les titres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Deux modes :</a:t>
            </a:r>
            <a:endParaRPr lang="en-US" sz="1700" dirty="0"/>
          </a:p>
          <a:p>
            <a:pPr lvl="1" marL="457200" indent="-228600">
              <a:spcAft>
                <a:spcPts val="800"/>
              </a:spcAft>
              <a:buSzPct val="100000"/>
              <a:buChar char="•"/>
            </a:pPr>
            <a:r>
              <a:rPr lang="en-US" sz="1500" b="1" dirty="0">
                <a:solidFill>
                  <a:srgbClr val="6B7280"/>
                </a:solidFill>
                <a:latin typeface="Calibri" pitchFamily="34" charset="0"/>
                <a:ea typeface="Calibri" pitchFamily="34" charset="-122"/>
                <a:cs typeface="Calibri" pitchFamily="34" charset="-120"/>
              </a:rPr>
              <a:t>édition</a:t>
            </a:r>
            <a:pPr indent="0" marL="0">
              <a:buNone/>
            </a:pPr>
            <a:r>
              <a:rPr lang="en-US" sz="1500" dirty="0">
                <a:solidFill>
                  <a:srgbClr val="6B7280"/>
                </a:solidFill>
                <a:latin typeface="Calibri" pitchFamily="34" charset="0"/>
                <a:ea typeface="Calibri" pitchFamily="34" charset="-122"/>
                <a:cs typeface="Calibri" pitchFamily="34" charset="-120"/>
              </a:rPr>
              <a:t> avec </a:t>
            </a:r>
            <a:pPr indent="0" marL="0">
              <a:buNone/>
            </a:pPr>
            <a:r>
              <a:rPr lang="en-US" sz="1500" dirty="0">
                <a:solidFill>
                  <a:srgbClr val="1F3A5F"/>
                </a:solidFill>
                <a:latin typeface="Courier New" pitchFamily="34" charset="0"/>
                <a:ea typeface="Courier New" pitchFamily="34" charset="-122"/>
                <a:cs typeface="Courier New" pitchFamily="34" charset="-120"/>
              </a:rPr>
              <a:t>Entrée</a:t>
            </a:r>
            <a:endParaRPr lang="en-US" sz="1700" dirty="0"/>
          </a:p>
          <a:p>
            <a:pPr lvl="1" marL="457200" indent="-228600">
              <a:spcAft>
                <a:spcPts val="800"/>
              </a:spcAft>
              <a:buSzPct val="100000"/>
              <a:buChar char="•"/>
            </a:pPr>
            <a:r>
              <a:rPr lang="en-US" sz="1500" b="1" dirty="0">
                <a:solidFill>
                  <a:srgbClr val="6B7280"/>
                </a:solidFill>
                <a:latin typeface="Calibri" pitchFamily="34" charset="0"/>
                <a:ea typeface="Calibri" pitchFamily="34" charset="-122"/>
                <a:cs typeface="Calibri" pitchFamily="34" charset="-120"/>
              </a:rPr>
              <a:t>commande</a:t>
            </a:r>
            <a:pPr indent="0" marL="0">
              <a:buNone/>
            </a:pPr>
            <a:r>
              <a:rPr lang="en-US" sz="1500" dirty="0">
                <a:solidFill>
                  <a:srgbClr val="6B7280"/>
                </a:solidFill>
                <a:latin typeface="Calibri" pitchFamily="34" charset="0"/>
                <a:ea typeface="Calibri" pitchFamily="34" charset="-122"/>
                <a:cs typeface="Calibri" pitchFamily="34" charset="-120"/>
              </a:rPr>
              <a:t> avec </a:t>
            </a:r>
            <a:pPr indent="0" marL="0">
              <a:buNone/>
            </a:pPr>
            <a:r>
              <a:rPr lang="en-US" sz="1500" dirty="0">
                <a:solidFill>
                  <a:srgbClr val="1F3A5F"/>
                </a:solidFill>
                <a:latin typeface="Courier New" pitchFamily="34" charset="0"/>
                <a:ea typeface="Courier New" pitchFamily="34" charset="-122"/>
                <a:cs typeface="Courier New" pitchFamily="34" charset="-120"/>
              </a:rPr>
              <a:t>Échap</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La dernière expression d'une cellule s'affiche sans </a:t>
            </a:r>
            <a:pPr indent="0" marL="0">
              <a:buNone/>
            </a:pPr>
            <a:r>
              <a:rPr lang="en-US" sz="1700" dirty="0">
                <a:solidFill>
                  <a:srgbClr val="1F3A5F"/>
                </a:solidFill>
                <a:latin typeface="Courier New" pitchFamily="34" charset="0"/>
                <a:ea typeface="Courier New" pitchFamily="34" charset="-122"/>
                <a:cs typeface="Courier New" pitchFamily="34" charset="-120"/>
              </a:rPr>
              <a:t>print</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840938" y="1417320"/>
          <a:ext cx="5802117" cy="914400"/>
        </p:xfrm>
        <a:graphic>
          <a:graphicData uri="http://schemas.openxmlformats.org/drawingml/2006/table">
            <a:tbl>
              <a:tblPr/>
              <a:tblGrid>
                <a:gridCol w="1934039"/>
                <a:gridCol w="3868078"/>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Raccourci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Maj+Entrée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exécuter et passer à la suivante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Ctrl+Entrée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exécuter sans avancer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a:t>
                      </a:r>
                      <a:pPr indent="0" marL="0">
                        <a:buNone/>
                      </a:pPr>
                      <a:r>
                        <a:rPr lang="en-US" sz="1500" dirty="0">
                          <a:solidFill>
                            <a:srgbClr val="1F2933"/>
                          </a:solidFill>
                          <a:latin typeface="Calibri" pitchFamily="34" charset="0"/>
                          <a:ea typeface="Calibri" pitchFamily="34" charset="-122"/>
                          <a:cs typeface="Calibri" pitchFamily="34" charset="-120"/>
                        </a:rPr>
                        <a:t> / </a:t>
                      </a:r>
                      <a:pPr indent="0" marL="0">
                        <a:buNone/>
                      </a:pPr>
                      <a:r>
                        <a:rPr lang="en-US" sz="1500" dirty="0">
                          <a:solidFill>
                            <a:srgbClr val="1F3A5F"/>
                          </a:solidFill>
                          <a:latin typeface="Courier New" pitchFamily="34" charset="0"/>
                          <a:ea typeface="Courier New" pitchFamily="34" charset="-122"/>
                          <a:cs typeface="Courier New" pitchFamily="34" charset="-120"/>
                        </a:rPr>
                        <a:t>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insérer au-dessus / en dessous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M</a:t>
                      </a:r>
                      <a:pPr indent="0" marL="0">
                        <a:buNone/>
                      </a:pPr>
                      <a:r>
                        <a:rPr lang="en-US" sz="1500" dirty="0">
                          <a:solidFill>
                            <a:srgbClr val="1F2933"/>
                          </a:solidFill>
                          <a:latin typeface="Calibri" pitchFamily="34" charset="0"/>
                          <a:ea typeface="Calibri" pitchFamily="34" charset="-122"/>
                          <a:cs typeface="Calibri" pitchFamily="34" charset="-120"/>
                        </a:rPr>
                        <a:t> / </a:t>
                      </a:r>
                      <a:pPr indent="0" marL="0">
                        <a:buNone/>
                      </a:pPr>
                      <a:r>
                        <a:rPr lang="en-US" sz="1500" dirty="0">
                          <a:solidFill>
                            <a:srgbClr val="1F3A5F"/>
                          </a:solidFill>
                          <a:latin typeface="Courier New" pitchFamily="34" charset="0"/>
                          <a:ea typeface="Courier New" pitchFamily="34" charset="-122"/>
                          <a:cs typeface="Courier New" pitchFamily="34" charset="-120"/>
                        </a:rPr>
                        <a:t>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passer en Markdown / en code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supprimer la cellule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Ctrl+S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enregistrer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JUPYTER NOTEBOOK ET JUPYTERLAB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piège de l'ordre d'exécution</a:t>
            </a:r>
            <a:endParaRPr lang="en-US" sz="3000" dirty="0"/>
          </a:p>
        </p:txBody>
      </p:sp>
      <p:sp>
        <p:nvSpPr>
          <p:cNvPr id="6" name="Text 4"/>
          <p:cNvSpPr txBox="1"/>
          <p:nvPr/>
        </p:nvSpPr>
        <p:spPr>
          <a:xfrm>
            <a:off x="548640" y="1527048"/>
            <a:ext cx="640080" cy="320040"/>
          </a:xfrm>
          <a:prstGeom prst="rect">
            <a:avLst/>
          </a:prstGeom>
          <a:noFill/>
          <a:ln/>
        </p:spPr>
        <p:txBody>
          <a:bodyPr wrap="square" lIns="0" tIns="0" rIns="0" bIns="0" rtlCol="0" anchor="ctr"/>
          <a:lstStyle/>
          <a:p>
            <a:pPr algn="r" indent="0" marL="0">
              <a:buNone/>
            </a:pPr>
            <a:r>
              <a:rPr lang="en-US" sz="1400" b="1" dirty="0">
                <a:solidFill>
                  <a:srgbClr val="6B7280"/>
                </a:solidFill>
                <a:latin typeface="Courier New" pitchFamily="34" charset="0"/>
                <a:ea typeface="Courier New" pitchFamily="34" charset="-122"/>
                <a:cs typeface="Courier New" pitchFamily="34" charset="-120"/>
              </a:rPr>
              <a:t>[1]</a:t>
            </a:r>
            <a:endParaRPr lang="en-US" sz="1400" dirty="0"/>
          </a:p>
        </p:txBody>
      </p:sp>
      <p:sp>
        <p:nvSpPr>
          <p:cNvPr id="7" name="Shape 5"/>
          <p:cNvSpPr/>
          <p:nvPr/>
        </p:nvSpPr>
        <p:spPr>
          <a:xfrm>
            <a:off x="1280160" y="1417320"/>
            <a:ext cx="4587088" cy="502412"/>
          </a:xfrm>
          <a:prstGeom prst="rect">
            <a:avLst/>
          </a:prstGeom>
          <a:solidFill>
            <a:srgbClr val="F3F4F6"/>
          </a:solidFill>
          <a:ln/>
        </p:spPr>
      </p:sp>
      <p:sp>
        <p:nvSpPr>
          <p:cNvPr id="8" name="Text 6"/>
          <p:cNvSpPr txBox="1"/>
          <p:nvPr/>
        </p:nvSpPr>
        <p:spPr>
          <a:xfrm>
            <a:off x="1463040" y="1563624"/>
            <a:ext cx="4221328" cy="20980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prix = 10</a:t>
            </a:r>
            <a:endParaRPr lang="en-US" sz="1400" dirty="0"/>
          </a:p>
        </p:txBody>
      </p:sp>
      <p:sp>
        <p:nvSpPr>
          <p:cNvPr id="9" name="Text 7"/>
          <p:cNvSpPr txBox="1"/>
          <p:nvPr/>
        </p:nvSpPr>
        <p:spPr>
          <a:xfrm>
            <a:off x="548640" y="2194052"/>
            <a:ext cx="640080" cy="320040"/>
          </a:xfrm>
          <a:prstGeom prst="rect">
            <a:avLst/>
          </a:prstGeom>
          <a:noFill/>
          <a:ln/>
        </p:spPr>
        <p:txBody>
          <a:bodyPr wrap="square" lIns="0" tIns="0" rIns="0" bIns="0" rtlCol="0" anchor="ctr"/>
          <a:lstStyle/>
          <a:p>
            <a:pPr algn="r" indent="0" marL="0">
              <a:buNone/>
            </a:pPr>
            <a:r>
              <a:rPr lang="en-US" sz="1400" b="1" dirty="0">
                <a:solidFill>
                  <a:srgbClr val="2F7D62"/>
                </a:solidFill>
                <a:latin typeface="Courier New" pitchFamily="34" charset="0"/>
                <a:ea typeface="Courier New" pitchFamily="34" charset="-122"/>
                <a:cs typeface="Courier New" pitchFamily="34" charset="-120"/>
              </a:rPr>
              <a:t>[3]</a:t>
            </a:r>
            <a:endParaRPr lang="en-US" sz="1400" dirty="0"/>
          </a:p>
        </p:txBody>
      </p:sp>
      <p:sp>
        <p:nvSpPr>
          <p:cNvPr id="10" name="Shape 8"/>
          <p:cNvSpPr/>
          <p:nvPr/>
        </p:nvSpPr>
        <p:spPr>
          <a:xfrm>
            <a:off x="1280160" y="2084324"/>
            <a:ext cx="4587088" cy="712216"/>
          </a:xfrm>
          <a:prstGeom prst="rect">
            <a:avLst/>
          </a:prstGeom>
          <a:solidFill>
            <a:srgbClr val="F3F4F6"/>
          </a:solidFill>
          <a:ln/>
        </p:spPr>
      </p:sp>
      <p:sp>
        <p:nvSpPr>
          <p:cNvPr id="11" name="Text 9"/>
          <p:cNvSpPr txBox="1"/>
          <p:nvPr/>
        </p:nvSpPr>
        <p:spPr>
          <a:xfrm>
            <a:off x="1463040" y="2230628"/>
            <a:ext cx="4221328" cy="41960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total = prix * 3</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total</a:t>
            </a:r>
            <a:endParaRPr lang="en-US" sz="1400" dirty="0"/>
          </a:p>
        </p:txBody>
      </p:sp>
      <p:sp>
        <p:nvSpPr>
          <p:cNvPr id="12" name="Text 10"/>
          <p:cNvSpPr txBox="1"/>
          <p:nvPr/>
        </p:nvSpPr>
        <p:spPr>
          <a:xfrm>
            <a:off x="548640" y="3070860"/>
            <a:ext cx="640080" cy="320040"/>
          </a:xfrm>
          <a:prstGeom prst="rect">
            <a:avLst/>
          </a:prstGeom>
          <a:noFill/>
          <a:ln/>
        </p:spPr>
        <p:txBody>
          <a:bodyPr wrap="square" lIns="0" tIns="0" rIns="0" bIns="0" rtlCol="0" anchor="ctr"/>
          <a:lstStyle/>
          <a:p>
            <a:pPr algn="r" indent="0" marL="0">
              <a:buNone/>
            </a:pPr>
            <a:r>
              <a:rPr lang="en-US" sz="1400" b="1" dirty="0">
                <a:solidFill>
                  <a:srgbClr val="6B7280"/>
                </a:solidFill>
                <a:latin typeface="Courier New" pitchFamily="34" charset="0"/>
                <a:ea typeface="Courier New" pitchFamily="34" charset="-122"/>
                <a:cs typeface="Courier New" pitchFamily="34" charset="-120"/>
              </a:rPr>
              <a:t>[2]</a:t>
            </a:r>
            <a:endParaRPr lang="en-US" sz="1400" dirty="0"/>
          </a:p>
        </p:txBody>
      </p:sp>
      <p:sp>
        <p:nvSpPr>
          <p:cNvPr id="13" name="Shape 11"/>
          <p:cNvSpPr/>
          <p:nvPr/>
        </p:nvSpPr>
        <p:spPr>
          <a:xfrm>
            <a:off x="1280160" y="2961132"/>
            <a:ext cx="4587088" cy="502412"/>
          </a:xfrm>
          <a:prstGeom prst="rect">
            <a:avLst/>
          </a:prstGeom>
          <a:solidFill>
            <a:srgbClr val="F3F4F6"/>
          </a:solidFill>
          <a:ln/>
        </p:spPr>
      </p:sp>
      <p:sp>
        <p:nvSpPr>
          <p:cNvPr id="14" name="Text 12"/>
          <p:cNvSpPr txBox="1"/>
          <p:nvPr/>
        </p:nvSpPr>
        <p:spPr>
          <a:xfrm>
            <a:off x="1463040" y="3107436"/>
            <a:ext cx="4221328" cy="20980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prix = 25</a:t>
            </a:r>
            <a:endParaRPr lang="en-US" sz="1400" dirty="0"/>
          </a:p>
        </p:txBody>
      </p:sp>
      <p:sp>
        <p:nvSpPr>
          <p:cNvPr id="15" name="Text 13"/>
          <p:cNvSpPr txBox="1"/>
          <p:nvPr/>
        </p:nvSpPr>
        <p:spPr>
          <a:xfrm>
            <a:off x="548640" y="3783584"/>
            <a:ext cx="5318608" cy="62484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total</a:t>
            </a:r>
            <a:pPr indent="0" marL="0">
              <a:buNone/>
            </a:pPr>
            <a:r>
              <a:rPr lang="en-US" sz="1600" dirty="0">
                <a:solidFill>
                  <a:srgbClr val="6B7280"/>
                </a:solidFill>
                <a:latin typeface="Calibri" pitchFamily="34" charset="0"/>
                <a:ea typeface="Calibri" pitchFamily="34" charset="-122"/>
                <a:cs typeface="Calibri" pitchFamily="34" charset="-120"/>
              </a:rPr>
              <a:t> vaut 75 et non 30 : la troisième cellule a été exécutée avant la deuxième.</a:t>
            </a:r>
            <a:endParaRPr lang="en-US" sz="1600" dirty="0"/>
          </a:p>
        </p:txBody>
      </p:sp>
      <p:sp>
        <p:nvSpPr>
          <p:cNvPr id="16" name="Text 14"/>
          <p:cNvSpPr txBox="1"/>
          <p:nvPr/>
        </p:nvSpPr>
        <p:spPr>
          <a:xfrm>
            <a:off x="6324448" y="1417320"/>
            <a:ext cx="5318608" cy="169164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 noyau garde en mémoire toutes les variables, quel que soit l'ordre d'exécution</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 numéro entre crochets indique l'ordre réel</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 notebook peut fonctionner chez soi et échouer chez un collègue</a:t>
            </a:r>
            <a:endParaRPr lang="en-US" sz="1700" dirty="0"/>
          </a:p>
        </p:txBody>
      </p:sp>
      <p:sp>
        <p:nvSpPr>
          <p:cNvPr id="17" name="Shape 15"/>
          <p:cNvSpPr/>
          <p:nvPr/>
        </p:nvSpPr>
        <p:spPr>
          <a:xfrm>
            <a:off x="6324448" y="3429000"/>
            <a:ext cx="5318608" cy="883920"/>
          </a:xfrm>
          <a:prstGeom prst="roundRect">
            <a:avLst>
              <a:gd name="adj" fmla="val 6207"/>
            </a:avLst>
          </a:prstGeom>
          <a:solidFill>
            <a:srgbClr val="E8F3EE"/>
          </a:solidFill>
          <a:ln/>
        </p:spPr>
      </p:sp>
      <p:sp>
        <p:nvSpPr>
          <p:cNvPr id="18" name="Text 16"/>
          <p:cNvSpPr txBox="1"/>
          <p:nvPr/>
        </p:nvSpPr>
        <p:spPr>
          <a:xfrm>
            <a:off x="6598768" y="3429000"/>
            <a:ext cx="4769968"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Avant de partager : Kernel, puis Restart Kernel and Run All Cells.</a:t>
            </a:r>
            <a:endParaRPr lang="en-US" sz="1700" dirty="0"/>
          </a:p>
        </p:txBody>
      </p:sp>
      <p:sp>
        <p:nvSpPr>
          <p:cNvPr id="19" name="Text 1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JUPYTER NOTEBOOK ET JUPYTERLAB</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TP1, partie 0</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Mise en place de l'environnement, dans le dossier </a:t>
            </a:r>
            <a:pPr indent="0" marL="0">
              <a:buNone/>
            </a:pPr>
            <a:r>
              <a:rPr lang="en-US" sz="1800" dirty="0">
                <a:solidFill>
                  <a:srgbClr val="1F3A5F"/>
                </a:solidFill>
                <a:latin typeface="Courier New" pitchFamily="34" charset="0"/>
                <a:ea typeface="Courier New" pitchFamily="34" charset="-122"/>
                <a:cs typeface="Courier New" pitchFamily="34" charset="-120"/>
              </a:rPr>
              <a:t>exercices/tp01-environnement-pandas</a:t>
            </a:r>
            <a:endParaRPr lang="en-US" sz="1800" dirty="0"/>
          </a:p>
        </p:txBody>
      </p:sp>
      <p:sp>
        <p:nvSpPr>
          <p:cNvPr id="7" name="Shape 5"/>
          <p:cNvSpPr/>
          <p:nvPr/>
        </p:nvSpPr>
        <p:spPr>
          <a:xfrm>
            <a:off x="1473175" y="2651760"/>
            <a:ext cx="9245346" cy="0"/>
          </a:xfrm>
          <a:prstGeom prst="line">
            <a:avLst/>
          </a:prstGeom>
          <a:noFill/>
          <a:ln w="25400">
            <a:solidFill>
              <a:srgbClr val="D5DCE3"/>
            </a:solidFill>
            <a:prstDash val="solid"/>
          </a:ln>
        </p:spPr>
      </p:sp>
      <p:sp>
        <p:nvSpPr>
          <p:cNvPr id="8" name="Shape 6"/>
          <p:cNvSpPr/>
          <p:nvPr/>
        </p:nvSpPr>
        <p:spPr>
          <a:xfrm>
            <a:off x="1244575" y="2423160"/>
            <a:ext cx="457200" cy="457200"/>
          </a:xfrm>
          <a:prstGeom prst="ellipse">
            <a:avLst/>
          </a:prstGeom>
          <a:solidFill>
            <a:srgbClr val="2F7D62"/>
          </a:solidFill>
          <a:ln/>
        </p:spPr>
      </p:sp>
      <p:sp>
        <p:nvSpPr>
          <p:cNvPr id="9" name="Text 7"/>
          <p:cNvSpPr txBox="1"/>
          <p:nvPr/>
        </p:nvSpPr>
        <p:spPr>
          <a:xfrm>
            <a:off x="1244575" y="2423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594360" y="3017520"/>
            <a:ext cx="1757629"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Créer</a:t>
            </a:r>
            <a:endParaRPr lang="en-US" sz="1600" dirty="0"/>
          </a:p>
        </p:txBody>
      </p:sp>
      <p:sp>
        <p:nvSpPr>
          <p:cNvPr id="11" name="Text 9"/>
          <p:cNvSpPr txBox="1"/>
          <p:nvPr/>
        </p:nvSpPr>
        <p:spPr>
          <a:xfrm>
            <a:off x="594360" y="3520440"/>
            <a:ext cx="1757629" cy="685800"/>
          </a:xfrm>
          <a:prstGeom prst="rect">
            <a:avLst/>
          </a:prstGeom>
          <a:noFill/>
          <a:ln/>
        </p:spPr>
        <p:txBody>
          <a:bodyPr wrap="square" lIns="0" tIns="0" rIns="0" bIns="0" rtlCol="0" anchor="t"/>
          <a:lstStyle/>
          <a:p>
            <a:pPr algn="ctr" indent="0" marL="0">
              <a:buNone/>
            </a:pPr>
            <a:r>
              <a:rPr lang="en-US" sz="1200" dirty="0">
                <a:solidFill>
                  <a:srgbClr val="1F3A5F"/>
                </a:solidFill>
                <a:latin typeface="Courier New" pitchFamily="34" charset="0"/>
                <a:ea typeface="Courier New" pitchFamily="34" charset="-122"/>
                <a:cs typeface="Courier New" pitchFamily="34" charset="-120"/>
              </a:rPr>
              <a:t>python3 -m venv .venv</a:t>
            </a:r>
            <a:endParaRPr lang="en-US" sz="1200" dirty="0"/>
          </a:p>
        </p:txBody>
      </p:sp>
      <p:sp>
        <p:nvSpPr>
          <p:cNvPr id="12" name="Shape 10"/>
          <p:cNvSpPr/>
          <p:nvPr/>
        </p:nvSpPr>
        <p:spPr>
          <a:xfrm>
            <a:off x="3093644" y="2423160"/>
            <a:ext cx="457200" cy="457200"/>
          </a:xfrm>
          <a:prstGeom prst="ellipse">
            <a:avLst/>
          </a:prstGeom>
          <a:solidFill>
            <a:srgbClr val="2F7D62"/>
          </a:solidFill>
          <a:ln/>
        </p:spPr>
      </p:sp>
      <p:sp>
        <p:nvSpPr>
          <p:cNvPr id="13" name="Text 11"/>
          <p:cNvSpPr txBox="1"/>
          <p:nvPr/>
        </p:nvSpPr>
        <p:spPr>
          <a:xfrm>
            <a:off x="3093644" y="2423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2443429" y="3017520"/>
            <a:ext cx="1757629"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Activer</a:t>
            </a:r>
            <a:endParaRPr lang="en-US" sz="1600" dirty="0"/>
          </a:p>
        </p:txBody>
      </p:sp>
      <p:sp>
        <p:nvSpPr>
          <p:cNvPr id="15" name="Text 13"/>
          <p:cNvSpPr txBox="1"/>
          <p:nvPr/>
        </p:nvSpPr>
        <p:spPr>
          <a:xfrm>
            <a:off x="2443429" y="3520440"/>
            <a:ext cx="1757629" cy="685800"/>
          </a:xfrm>
          <a:prstGeom prst="rect">
            <a:avLst/>
          </a:prstGeom>
          <a:noFill/>
          <a:ln/>
        </p:spPr>
        <p:txBody>
          <a:bodyPr wrap="square" lIns="0" tIns="0" rIns="0" bIns="0" rtlCol="0" anchor="t"/>
          <a:lstStyle/>
          <a:p>
            <a:pPr algn="ctr" indent="0" marL="0">
              <a:buNone/>
            </a:pPr>
            <a:r>
              <a:rPr lang="en-US" sz="1200" dirty="0">
                <a:solidFill>
                  <a:srgbClr val="1F3A5F"/>
                </a:solidFill>
                <a:latin typeface="Courier New" pitchFamily="34" charset="0"/>
                <a:ea typeface="Courier New" pitchFamily="34" charset="-122"/>
                <a:cs typeface="Courier New" pitchFamily="34" charset="-120"/>
              </a:rPr>
              <a:t>source .venv/bin/activate</a:t>
            </a:r>
            <a:endParaRPr lang="en-US" sz="1200" dirty="0"/>
          </a:p>
        </p:txBody>
      </p:sp>
      <p:sp>
        <p:nvSpPr>
          <p:cNvPr id="16" name="Shape 14"/>
          <p:cNvSpPr/>
          <p:nvPr/>
        </p:nvSpPr>
        <p:spPr>
          <a:xfrm>
            <a:off x="4942713" y="2423160"/>
            <a:ext cx="457200" cy="457200"/>
          </a:xfrm>
          <a:prstGeom prst="ellipse">
            <a:avLst/>
          </a:prstGeom>
          <a:solidFill>
            <a:srgbClr val="2F7D62"/>
          </a:solidFill>
          <a:ln/>
        </p:spPr>
      </p:sp>
      <p:sp>
        <p:nvSpPr>
          <p:cNvPr id="17" name="Text 15"/>
          <p:cNvSpPr txBox="1"/>
          <p:nvPr/>
        </p:nvSpPr>
        <p:spPr>
          <a:xfrm>
            <a:off x="4942713" y="2423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4292498" y="3017520"/>
            <a:ext cx="1757629"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Installer</a:t>
            </a:r>
            <a:endParaRPr lang="en-US" sz="1600" dirty="0"/>
          </a:p>
        </p:txBody>
      </p:sp>
      <p:sp>
        <p:nvSpPr>
          <p:cNvPr id="19" name="Text 17"/>
          <p:cNvSpPr txBox="1"/>
          <p:nvPr/>
        </p:nvSpPr>
        <p:spPr>
          <a:xfrm>
            <a:off x="4292498" y="3520440"/>
            <a:ext cx="1757629"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jupyterlab, pandas, numpy, openpyxl, pyarrow</a:t>
            </a:r>
            <a:endParaRPr lang="en-US" sz="1200" dirty="0"/>
          </a:p>
        </p:txBody>
      </p:sp>
      <p:sp>
        <p:nvSpPr>
          <p:cNvPr id="20" name="Shape 18"/>
          <p:cNvSpPr/>
          <p:nvPr/>
        </p:nvSpPr>
        <p:spPr>
          <a:xfrm>
            <a:off x="6791782" y="2423160"/>
            <a:ext cx="457200" cy="457200"/>
          </a:xfrm>
          <a:prstGeom prst="ellipse">
            <a:avLst/>
          </a:prstGeom>
          <a:solidFill>
            <a:srgbClr val="2F7D62"/>
          </a:solidFill>
          <a:ln/>
        </p:spPr>
      </p:sp>
      <p:sp>
        <p:nvSpPr>
          <p:cNvPr id="21" name="Text 19"/>
          <p:cNvSpPr txBox="1"/>
          <p:nvPr/>
        </p:nvSpPr>
        <p:spPr>
          <a:xfrm>
            <a:off x="6791782" y="2423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6141568" y="3017520"/>
            <a:ext cx="1757629"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Figer</a:t>
            </a:r>
            <a:endParaRPr lang="en-US" sz="1600" dirty="0"/>
          </a:p>
        </p:txBody>
      </p:sp>
      <p:sp>
        <p:nvSpPr>
          <p:cNvPr id="23" name="Text 21"/>
          <p:cNvSpPr txBox="1"/>
          <p:nvPr/>
        </p:nvSpPr>
        <p:spPr>
          <a:xfrm>
            <a:off x="6141568" y="3520440"/>
            <a:ext cx="1757629"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le </a:t>
            </a:r>
            <a:pPr algn="ctr" indent="0" marL="0">
              <a:buNone/>
            </a:pPr>
            <a:r>
              <a:rPr lang="en-US" sz="1200" dirty="0">
                <a:solidFill>
                  <a:srgbClr val="1F3A5F"/>
                </a:solidFill>
                <a:latin typeface="Courier New" pitchFamily="34" charset="0"/>
                <a:ea typeface="Courier New" pitchFamily="34" charset="-122"/>
                <a:cs typeface="Courier New" pitchFamily="34" charset="-120"/>
              </a:rPr>
              <a:t>requirements.txt</a:t>
            </a:r>
            <a:pPr algn="ctr" indent="0" marL="0">
              <a:buNone/>
            </a:pPr>
            <a:r>
              <a:rPr lang="en-US" sz="1200" dirty="0">
                <a:solidFill>
                  <a:srgbClr val="6B7280"/>
                </a:solidFill>
                <a:latin typeface="Calibri" pitchFamily="34" charset="0"/>
                <a:ea typeface="Calibri" pitchFamily="34" charset="-122"/>
                <a:cs typeface="Calibri" pitchFamily="34" charset="-120"/>
              </a:rPr>
              <a:t> avec </a:t>
            </a:r>
            <a:pPr algn="ctr" indent="0" marL="0">
              <a:buNone/>
            </a:pPr>
            <a:r>
              <a:rPr lang="en-US" sz="1200" dirty="0">
                <a:solidFill>
                  <a:srgbClr val="1F3A5F"/>
                </a:solidFill>
                <a:latin typeface="Courier New" pitchFamily="34" charset="0"/>
                <a:ea typeface="Courier New" pitchFamily="34" charset="-122"/>
                <a:cs typeface="Courier New" pitchFamily="34" charset="-120"/>
              </a:rPr>
              <a:t>pip freeze</a:t>
            </a:r>
            <a:endParaRPr lang="en-US" sz="1200" dirty="0"/>
          </a:p>
        </p:txBody>
      </p:sp>
      <p:sp>
        <p:nvSpPr>
          <p:cNvPr id="24" name="Shape 22"/>
          <p:cNvSpPr/>
          <p:nvPr/>
        </p:nvSpPr>
        <p:spPr>
          <a:xfrm>
            <a:off x="8640851" y="2423160"/>
            <a:ext cx="457200" cy="457200"/>
          </a:xfrm>
          <a:prstGeom prst="ellipse">
            <a:avLst/>
          </a:prstGeom>
          <a:solidFill>
            <a:srgbClr val="2F7D62"/>
          </a:solidFill>
          <a:ln/>
        </p:spPr>
      </p:sp>
      <p:sp>
        <p:nvSpPr>
          <p:cNvPr id="25" name="Text 23"/>
          <p:cNvSpPr txBox="1"/>
          <p:nvPr/>
        </p:nvSpPr>
        <p:spPr>
          <a:xfrm>
            <a:off x="8640851" y="2423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6" name="Text 24"/>
          <p:cNvSpPr txBox="1"/>
          <p:nvPr/>
        </p:nvSpPr>
        <p:spPr>
          <a:xfrm>
            <a:off x="7990637" y="3017520"/>
            <a:ext cx="1757629"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Lancer</a:t>
            </a:r>
            <a:endParaRPr lang="en-US" sz="1600" dirty="0"/>
          </a:p>
        </p:txBody>
      </p:sp>
      <p:sp>
        <p:nvSpPr>
          <p:cNvPr id="27" name="Text 25"/>
          <p:cNvSpPr txBox="1"/>
          <p:nvPr/>
        </p:nvSpPr>
        <p:spPr>
          <a:xfrm>
            <a:off x="7990637" y="3520440"/>
            <a:ext cx="1757629" cy="685800"/>
          </a:xfrm>
          <a:prstGeom prst="rect">
            <a:avLst/>
          </a:prstGeom>
          <a:noFill/>
          <a:ln/>
        </p:spPr>
        <p:txBody>
          <a:bodyPr wrap="square" lIns="0" tIns="0" rIns="0" bIns="0" rtlCol="0" anchor="t"/>
          <a:lstStyle/>
          <a:p>
            <a:pPr algn="ctr" indent="0" marL="0">
              <a:buNone/>
            </a:pPr>
            <a:r>
              <a:rPr lang="en-US" sz="1200" dirty="0">
                <a:solidFill>
                  <a:srgbClr val="1F3A5F"/>
                </a:solidFill>
                <a:latin typeface="Courier New" pitchFamily="34" charset="0"/>
                <a:ea typeface="Courier New" pitchFamily="34" charset="-122"/>
                <a:cs typeface="Courier New" pitchFamily="34" charset="-120"/>
              </a:rPr>
              <a:t>jupyter lab</a:t>
            </a:r>
            <a:pPr algn="ctr" indent="0" marL="0">
              <a:buNone/>
            </a:pPr>
            <a:r>
              <a:rPr lang="en-US" sz="1200" dirty="0">
                <a:solidFill>
                  <a:srgbClr val="6B7280"/>
                </a:solidFill>
                <a:latin typeface="Calibri" pitchFamily="34" charset="0"/>
                <a:ea typeface="Calibri" pitchFamily="34" charset="-122"/>
                <a:cs typeface="Calibri" pitchFamily="34" charset="-120"/>
              </a:rPr>
              <a:t>, puis ouvrir </a:t>
            </a:r>
            <a:pPr algn="ctr" indent="0" marL="0">
              <a:buNone/>
            </a:pPr>
            <a:r>
              <a:rPr lang="en-US" sz="1200" dirty="0">
                <a:solidFill>
                  <a:srgbClr val="1F3A5F"/>
                </a:solidFill>
                <a:latin typeface="Courier New" pitchFamily="34" charset="0"/>
                <a:ea typeface="Courier New" pitchFamily="34" charset="-122"/>
                <a:cs typeface="Courier New" pitchFamily="34" charset="-120"/>
              </a:rPr>
              <a:t>tp01.ipynb</a:t>
            </a:r>
            <a:endParaRPr lang="en-US" sz="1200" dirty="0"/>
          </a:p>
        </p:txBody>
      </p:sp>
      <p:sp>
        <p:nvSpPr>
          <p:cNvPr id="28" name="Shape 26"/>
          <p:cNvSpPr/>
          <p:nvPr/>
        </p:nvSpPr>
        <p:spPr>
          <a:xfrm>
            <a:off x="10489921" y="2423160"/>
            <a:ext cx="457200" cy="457200"/>
          </a:xfrm>
          <a:prstGeom prst="ellipse">
            <a:avLst/>
          </a:prstGeom>
          <a:solidFill>
            <a:srgbClr val="2F7D62"/>
          </a:solidFill>
          <a:ln/>
        </p:spPr>
      </p:sp>
      <p:sp>
        <p:nvSpPr>
          <p:cNvPr id="29" name="Text 27"/>
          <p:cNvSpPr txBox="1"/>
          <p:nvPr/>
        </p:nvSpPr>
        <p:spPr>
          <a:xfrm>
            <a:off x="10489921" y="2423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0" name="Text 28"/>
          <p:cNvSpPr txBox="1"/>
          <p:nvPr/>
        </p:nvSpPr>
        <p:spPr>
          <a:xfrm>
            <a:off x="9839706" y="3017520"/>
            <a:ext cx="1757629"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Vérifier</a:t>
            </a:r>
            <a:endParaRPr lang="en-US" sz="1600" dirty="0"/>
          </a:p>
        </p:txBody>
      </p:sp>
      <p:sp>
        <p:nvSpPr>
          <p:cNvPr id="31" name="Text 29"/>
          <p:cNvSpPr txBox="1"/>
          <p:nvPr/>
        </p:nvSpPr>
        <p:spPr>
          <a:xfrm>
            <a:off x="9839706" y="3520440"/>
            <a:ext cx="1757629" cy="685800"/>
          </a:xfrm>
          <a:prstGeom prst="rect">
            <a:avLst/>
          </a:prstGeom>
          <a:noFill/>
          <a:ln/>
        </p:spPr>
        <p:txBody>
          <a:bodyPr wrap="square" lIns="0" tIns="0" rIns="0" bIns="0" rtlCol="0" anchor="t"/>
          <a:lstStyle/>
          <a:p>
            <a:pPr algn="ctr" indent="0" marL="0">
              <a:buNone/>
            </a:pPr>
            <a:r>
              <a:rPr lang="en-US" sz="1200" dirty="0">
                <a:solidFill>
                  <a:srgbClr val="6B7280"/>
                </a:solidFill>
                <a:latin typeface="Calibri" pitchFamily="34" charset="0"/>
                <a:ea typeface="Calibri" pitchFamily="34" charset="-122"/>
                <a:cs typeface="Calibri" pitchFamily="34" charset="-120"/>
              </a:rPr>
              <a:t>questions 0.1 et 0.2</a:t>
            </a:r>
            <a:endParaRPr lang="en-US" sz="1200" dirty="0"/>
          </a:p>
        </p:txBody>
      </p:sp>
      <p:sp>
        <p:nvSpPr>
          <p:cNvPr id="32" name="Shape 30"/>
          <p:cNvSpPr/>
          <p:nvPr/>
        </p:nvSpPr>
        <p:spPr>
          <a:xfrm>
            <a:off x="548640" y="4251960"/>
            <a:ext cx="11094415" cy="883920"/>
          </a:xfrm>
          <a:prstGeom prst="roundRect">
            <a:avLst>
              <a:gd name="adj" fmla="val 6207"/>
            </a:avLst>
          </a:prstGeom>
          <a:solidFill>
            <a:srgbClr val="E8F3EE"/>
          </a:solidFill>
          <a:ln/>
        </p:spPr>
      </p:sp>
      <p:sp>
        <p:nvSpPr>
          <p:cNvPr id="33" name="Text 31"/>
          <p:cNvSpPr txBox="1"/>
          <p:nvPr/>
        </p:nvSpPr>
        <p:spPr>
          <a:xfrm>
            <a:off x="822960" y="4251960"/>
            <a:ext cx="10545775" cy="883920"/>
          </a:xfrm>
          <a:prstGeom prst="rect">
            <a:avLst/>
          </a:prstGeom>
          <a:noFill/>
          <a:ln/>
        </p:spPr>
        <p:txBody>
          <a:bodyPr wrap="square" lIns="0" tIns="0" rIns="0" bIns="0" rtlCol="0" anchor="ctr"/>
          <a:lstStyle/>
          <a:p>
            <a:pPr indent="0" marL="0">
              <a:buNone/>
            </a:pPr>
            <a:r>
              <a:rPr lang="en-US" sz="1700" dirty="0">
                <a:solidFill>
                  <a:srgbClr val="2F7D62"/>
                </a:solidFill>
                <a:latin typeface="Courier New" pitchFamily="34" charset="0"/>
                <a:ea typeface="Courier New" pitchFamily="34" charset="-122"/>
                <a:cs typeface="Courier New" pitchFamily="34" charset="-120"/>
              </a:rPr>
              <a:t>sys.executable</a:t>
            </a:r>
            <a:pPr indent="0" marL="0">
              <a:buNone/>
            </a:pPr>
            <a:r>
              <a:rPr lang="en-US" sz="1700" dirty="0">
                <a:solidFill>
                  <a:srgbClr val="1F3A5F"/>
                </a:solidFill>
                <a:latin typeface="Calibri" pitchFamily="34" charset="0"/>
                <a:ea typeface="Calibri" pitchFamily="34" charset="-122"/>
                <a:cs typeface="Calibri" pitchFamily="34" charset="-120"/>
              </a:rPr>
              <a:t> doit pointer vers le </a:t>
            </a:r>
            <a:pPr indent="0" marL="0">
              <a:buNone/>
            </a:pPr>
            <a:r>
              <a:rPr lang="en-US" sz="1700" dirty="0">
                <a:solidFill>
                  <a:srgbClr val="2F7D62"/>
                </a:solidFill>
                <a:latin typeface="Courier New" pitchFamily="34" charset="0"/>
                <a:ea typeface="Courier New" pitchFamily="34" charset="-122"/>
                <a:cs typeface="Courier New" pitchFamily="34" charset="-120"/>
              </a:rPr>
              <a:t>.venv</a:t>
            </a:r>
            <a:pPr indent="0" marL="0">
              <a:buNone/>
            </a:pPr>
            <a:r>
              <a:rPr lang="en-US" sz="1700" dirty="0">
                <a:solidFill>
                  <a:srgbClr val="1F3A5F"/>
                </a:solidFill>
                <a:latin typeface="Calibri" pitchFamily="34" charset="0"/>
                <a:ea typeface="Calibri" pitchFamily="34" charset="-122"/>
                <a:cs typeface="Calibri" pitchFamily="34" charset="-120"/>
              </a:rPr>
              <a:t> du TP. Sinon, Jupyter a été lancé hors de l'environnement : </a:t>
            </a:r>
            <a:pPr indent="0" marL="0">
              <a:buNone/>
            </a:pPr>
            <a:r>
              <a:rPr lang="en-US" sz="1700" dirty="0">
                <a:solidFill>
                  <a:srgbClr val="2F7D62"/>
                </a:solidFill>
                <a:latin typeface="Courier New" pitchFamily="34" charset="0"/>
                <a:ea typeface="Courier New" pitchFamily="34" charset="-122"/>
                <a:cs typeface="Courier New" pitchFamily="34" charset="-120"/>
              </a:rPr>
              <a:t>Ctrl+C</a:t>
            </a:r>
            <a:pPr indent="0" marL="0">
              <a:buNone/>
            </a:pPr>
            <a:r>
              <a:rPr lang="en-US" sz="1700" dirty="0">
                <a:solidFill>
                  <a:srgbClr val="1F3A5F"/>
                </a:solidFill>
                <a:latin typeface="Calibri" pitchFamily="34" charset="0"/>
                <a:ea typeface="Calibri" pitchFamily="34" charset="-122"/>
                <a:cs typeface="Calibri" pitchFamily="34" charset="-120"/>
              </a:rPr>
              <a:t>, activer, relancer.</a:t>
            </a:r>
            <a:endParaRPr lang="en-US" sz="1700" dirty="0"/>
          </a:p>
        </p:txBody>
      </p:sp>
      <p:sp>
        <p:nvSpPr>
          <p:cNvPr id="34" name="Text 3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Python intermédiaire</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Compréhensions   |   lambda   |   f-strings   |   assert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PYTHON INTERMÉDIAIRE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compréhensions de liste</a:t>
            </a:r>
            <a:endParaRPr lang="en-US" sz="3000" dirty="0"/>
          </a:p>
        </p:txBody>
      </p:sp>
      <p:sp>
        <p:nvSpPr>
          <p:cNvPr id="6" name="Text 4"/>
          <p:cNvSpPr txBox="1"/>
          <p:nvPr/>
        </p:nvSpPr>
        <p:spPr>
          <a:xfrm>
            <a:off x="548640" y="1417320"/>
            <a:ext cx="4835098" cy="2966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Construire une nouvelle liste à partir d'un itérable, en une seule expression</a:t>
            </a:r>
            <a:endParaRPr lang="en-US" sz="1800" dirty="0"/>
          </a:p>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Syntaxe : </a:t>
            </a:r>
            <a:pPr indent="0" marL="0">
              <a:buNone/>
            </a:pPr>
            <a:r>
              <a:rPr lang="en-US" sz="1800" dirty="0">
                <a:solidFill>
                  <a:srgbClr val="1F3A5F"/>
                </a:solidFill>
                <a:latin typeface="Courier New" pitchFamily="34" charset="0"/>
                <a:ea typeface="Courier New" pitchFamily="34" charset="-122"/>
                <a:cs typeface="Courier New" pitchFamily="34" charset="-120"/>
              </a:rPr>
              <a:t>[expression for x in iterable if condition]</a:t>
            </a:r>
            <a:endParaRPr lang="en-US" sz="1800" dirty="0"/>
          </a:p>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La condition est facultative et sert à filtrer</a:t>
            </a:r>
            <a:endParaRPr lang="en-US" sz="1800" dirty="0"/>
          </a:p>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Plus concis qu'une boucle, et souvent plus rapide</a:t>
            </a:r>
            <a:endParaRPr lang="en-US" sz="1800" dirty="0"/>
          </a:p>
        </p:txBody>
      </p:sp>
      <p:sp>
        <p:nvSpPr>
          <p:cNvPr id="7" name="Text 5"/>
          <p:cNvSpPr txBox="1"/>
          <p:nvPr/>
        </p:nvSpPr>
        <p:spPr>
          <a:xfrm>
            <a:off x="5840938" y="1417320"/>
            <a:ext cx="5802117"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Avec une boucle</a:t>
            </a:r>
            <a:endParaRPr lang="en-US" sz="1200" dirty="0"/>
          </a:p>
        </p:txBody>
      </p:sp>
      <p:sp>
        <p:nvSpPr>
          <p:cNvPr id="8" name="Shape 6"/>
          <p:cNvSpPr/>
          <p:nvPr/>
        </p:nvSpPr>
        <p:spPr>
          <a:xfrm>
            <a:off x="5840938" y="1709928"/>
            <a:ext cx="5802117" cy="1416558"/>
          </a:xfrm>
          <a:prstGeom prst="rect">
            <a:avLst/>
          </a:prstGeom>
          <a:solidFill>
            <a:srgbClr val="F3F4F6"/>
          </a:solidFill>
          <a:ln/>
        </p:spPr>
      </p:sp>
      <p:sp>
        <p:nvSpPr>
          <p:cNvPr id="9" name="Text 7"/>
          <p:cNvSpPr txBox="1"/>
          <p:nvPr/>
        </p:nvSpPr>
        <p:spPr>
          <a:xfrm>
            <a:off x="6023818" y="1856232"/>
            <a:ext cx="5436357" cy="112395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prix_ht = [12.0, 45.5, 8.9, 120.0]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prix_ttc =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for prix in prix_ht: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prix_ttc.append(round(prix * 1.2, 2))</a:t>
            </a:r>
            <a:endParaRPr lang="en-US" sz="1500" dirty="0"/>
          </a:p>
        </p:txBody>
      </p:sp>
      <p:sp>
        <p:nvSpPr>
          <p:cNvPr id="10" name="Text 8"/>
          <p:cNvSpPr txBox="1"/>
          <p:nvPr/>
        </p:nvSpPr>
        <p:spPr>
          <a:xfrm>
            <a:off x="5840938" y="3446526"/>
            <a:ext cx="5802117"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Avec une compréhension</a:t>
            </a:r>
            <a:endParaRPr lang="en-US" sz="1200" dirty="0"/>
          </a:p>
        </p:txBody>
      </p:sp>
      <p:sp>
        <p:nvSpPr>
          <p:cNvPr id="11" name="Shape 9"/>
          <p:cNvSpPr/>
          <p:nvPr/>
        </p:nvSpPr>
        <p:spPr>
          <a:xfrm>
            <a:off x="5840938" y="3739134"/>
            <a:ext cx="5802117" cy="1071880"/>
          </a:xfrm>
          <a:prstGeom prst="rect">
            <a:avLst/>
          </a:prstGeom>
          <a:solidFill>
            <a:srgbClr val="F3F4F6"/>
          </a:solidFill>
          <a:ln/>
        </p:spPr>
      </p:sp>
      <p:sp>
        <p:nvSpPr>
          <p:cNvPr id="12" name="Text 10"/>
          <p:cNvSpPr txBox="1"/>
          <p:nvPr/>
        </p:nvSpPr>
        <p:spPr>
          <a:xfrm>
            <a:off x="6023818" y="3885438"/>
            <a:ext cx="5436357" cy="77927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prix_ttc = [round(prix * 1.2, 2) for prix in prix_ht]</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gros_montants = [p for p in prix_ht if p &gt; 40]</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[45.5, 120.0]</a:t>
            </a:r>
            <a:endParaRPr lang="en-US" sz="13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PYTHON INTERMÉDIAIRE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Filtrer ou transformer</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 </a:t>
            </a:r>
            <a:pPr indent="0" marL="0">
              <a:buNone/>
            </a:pPr>
            <a:r>
              <a:rPr lang="en-US" sz="1700" b="1" dirty="0">
                <a:solidFill>
                  <a:srgbClr val="1F3A5F"/>
                </a:solidFill>
                <a:latin typeface="Courier New" pitchFamily="34" charset="0"/>
                <a:ea typeface="Courier New" pitchFamily="34" charset="-122"/>
                <a:cs typeface="Courier New" pitchFamily="34" charset="-120"/>
              </a:rPr>
              <a:t>if</a:t>
            </a:r>
            <a:pPr indent="0" marL="0">
              <a:buNone/>
            </a:pPr>
            <a:r>
              <a:rPr lang="en-US" sz="1700" b="1" dirty="0">
                <a:solidFill>
                  <a:srgbClr val="1F3A5F"/>
                </a:solidFill>
                <a:latin typeface="Calibri" pitchFamily="34" charset="0"/>
                <a:ea typeface="Calibri" pitchFamily="34" charset="-122"/>
                <a:cs typeface="Calibri" pitchFamily="34" charset="-120"/>
              </a:rPr>
              <a:t> à la fin filtre</a:t>
            </a:r>
            <a:endParaRPr lang="en-US" sz="1700" dirty="0"/>
          </a:p>
        </p:txBody>
      </p:sp>
      <p:sp>
        <p:nvSpPr>
          <p:cNvPr id="7" name="Shape 5"/>
          <p:cNvSpPr/>
          <p:nvPr/>
        </p:nvSpPr>
        <p:spPr>
          <a:xfrm>
            <a:off x="548640" y="1828800"/>
            <a:ext cx="5318608" cy="1191768"/>
          </a:xfrm>
          <a:prstGeom prst="rect">
            <a:avLst/>
          </a:prstGeom>
          <a:solidFill>
            <a:srgbClr val="F3F4F6"/>
          </a:solidFill>
          <a:ln/>
        </p:spPr>
      </p:sp>
      <p:sp>
        <p:nvSpPr>
          <p:cNvPr id="8" name="Text 6"/>
          <p:cNvSpPr txBox="1"/>
          <p:nvPr/>
        </p:nvSpPr>
        <p:spPr>
          <a:xfrm>
            <a:off x="731520" y="197510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nombres = [1, 2, 3, 4, 5]</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pairs = [n for n in nombres if n % 2 == 0]</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[2, 4]</a:t>
            </a:r>
            <a:endParaRPr lang="en-US" sz="1500" dirty="0"/>
          </a:p>
        </p:txBody>
      </p:sp>
      <p:sp>
        <p:nvSpPr>
          <p:cNvPr id="9" name="Text 7"/>
          <p:cNvSpPr txBox="1"/>
          <p:nvPr/>
        </p:nvSpPr>
        <p:spPr>
          <a:xfrm>
            <a:off x="548640" y="3340608"/>
            <a:ext cx="531860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Certains éléments sont retirés : la liste obtenue est plus courte.</a:t>
            </a:r>
            <a:endParaRPr lang="en-US" sz="1600" dirty="0"/>
          </a:p>
        </p:txBody>
      </p:sp>
      <p:sp>
        <p:nvSpPr>
          <p:cNvPr id="10" name="Text 8"/>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 </a:t>
            </a:r>
            <a:pPr indent="0" marL="0">
              <a:buNone/>
            </a:pPr>
            <a:r>
              <a:rPr lang="en-US" sz="1700" b="1" dirty="0">
                <a:solidFill>
                  <a:srgbClr val="1F3A5F"/>
                </a:solidFill>
                <a:latin typeface="Courier New" pitchFamily="34" charset="0"/>
                <a:ea typeface="Courier New" pitchFamily="34" charset="-122"/>
                <a:cs typeface="Courier New" pitchFamily="34" charset="-120"/>
              </a:rPr>
              <a:t>if ... else</a:t>
            </a:r>
            <a:pPr indent="0" marL="0">
              <a:buNone/>
            </a:pPr>
            <a:r>
              <a:rPr lang="en-US" sz="1700" b="1" dirty="0">
                <a:solidFill>
                  <a:srgbClr val="1F3A5F"/>
                </a:solidFill>
                <a:latin typeface="Calibri" pitchFamily="34" charset="0"/>
                <a:ea typeface="Calibri" pitchFamily="34" charset="-122"/>
                <a:cs typeface="Calibri" pitchFamily="34" charset="-120"/>
              </a:rPr>
              <a:t> au début transforme</a:t>
            </a:r>
            <a:endParaRPr lang="en-US" sz="1700" dirty="0"/>
          </a:p>
        </p:txBody>
      </p:sp>
      <p:sp>
        <p:nvSpPr>
          <p:cNvPr id="11" name="Shape 9"/>
          <p:cNvSpPr/>
          <p:nvPr/>
        </p:nvSpPr>
        <p:spPr>
          <a:xfrm>
            <a:off x="6324448" y="1828800"/>
            <a:ext cx="5318608" cy="877062"/>
          </a:xfrm>
          <a:prstGeom prst="rect">
            <a:avLst/>
          </a:prstGeom>
          <a:solidFill>
            <a:srgbClr val="F3F4F6"/>
          </a:solidFill>
          <a:ln/>
        </p:spPr>
      </p:sp>
      <p:sp>
        <p:nvSpPr>
          <p:cNvPr id="12" name="Text 10"/>
          <p:cNvSpPr txBox="1"/>
          <p:nvPr/>
        </p:nvSpPr>
        <p:spPr>
          <a:xfrm>
            <a:off x="6507328" y="1975104"/>
            <a:ext cx="4952848" cy="584454"/>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parite = ["pair" if n % 2 == 0 else "impair"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for n in nombres]</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['impair', 'pair', 'impair', 'pair', 'impair']</a:t>
            </a:r>
            <a:endParaRPr lang="en-US" sz="1300" dirty="0"/>
          </a:p>
        </p:txBody>
      </p:sp>
      <p:sp>
        <p:nvSpPr>
          <p:cNvPr id="13" name="Text 11"/>
          <p:cNvSpPr txBox="1"/>
          <p:nvPr/>
        </p:nvSpPr>
        <p:spPr>
          <a:xfrm>
            <a:off x="6324448" y="3025902"/>
            <a:ext cx="531860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Chaque élément est conservé et transformé : la liste garde la même longueur.</a:t>
            </a:r>
            <a:endParaRPr lang="en-US" sz="1600" dirty="0"/>
          </a:p>
        </p:txBody>
      </p:sp>
      <p:sp>
        <p:nvSpPr>
          <p:cNvPr id="14" name="Shape 12"/>
          <p:cNvSpPr/>
          <p:nvPr/>
        </p:nvSpPr>
        <p:spPr>
          <a:xfrm>
            <a:off x="548640" y="4285488"/>
            <a:ext cx="11094415" cy="883920"/>
          </a:xfrm>
          <a:prstGeom prst="roundRect">
            <a:avLst>
              <a:gd name="adj" fmla="val 6207"/>
            </a:avLst>
          </a:prstGeom>
          <a:solidFill>
            <a:srgbClr val="E8F3EE"/>
          </a:solidFill>
          <a:ln/>
        </p:spPr>
      </p:sp>
      <p:sp>
        <p:nvSpPr>
          <p:cNvPr id="15" name="Text 13"/>
          <p:cNvSpPr txBox="1"/>
          <p:nvPr/>
        </p:nvSpPr>
        <p:spPr>
          <a:xfrm>
            <a:off x="822960" y="4285488"/>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Au-delà d'une ligne lisible, ou avec plusieurs boucles imbriquées, une boucle classique reste préférable.</a:t>
            </a:r>
            <a:endParaRPr lang="en-US" sz="1700" dirty="0"/>
          </a:p>
        </p:txBody>
      </p:sp>
      <p:sp>
        <p:nvSpPr>
          <p:cNvPr id="16" name="Text 1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PYTHON INTERMÉDIAIRE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Dictionnaires et ensembles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Compréhension de dictionnaire</a:t>
            </a:r>
            <a:endParaRPr lang="en-US" sz="1700" dirty="0"/>
          </a:p>
        </p:txBody>
      </p:sp>
      <p:sp>
        <p:nvSpPr>
          <p:cNvPr id="7" name="Shape 5"/>
          <p:cNvSpPr/>
          <p:nvPr/>
        </p:nvSpPr>
        <p:spPr>
          <a:xfrm>
            <a:off x="548640" y="1828800"/>
            <a:ext cx="5318608" cy="2270760"/>
          </a:xfrm>
          <a:prstGeom prst="rect">
            <a:avLst/>
          </a:prstGeom>
          <a:solidFill>
            <a:srgbClr val="F3F4F6"/>
          </a:solidFill>
          <a:ln/>
        </p:spPr>
      </p:sp>
      <p:sp>
        <p:nvSpPr>
          <p:cNvPr id="8" name="Text 6"/>
          <p:cNvSpPr txBox="1"/>
          <p:nvPr/>
        </p:nvSpPr>
        <p:spPr>
          <a:xfrm>
            <a:off x="731520" y="1975104"/>
            <a:ext cx="4952848" cy="1978152"/>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stock = {"clavier": 12, "souris": 0, "écran": 3}</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filtrer</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en_stock = {p: q for p, q in stock.items() if q &gt; 0}</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inverser clés et valeurs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codes = {"FR": "France", "BE": "Belgique"}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pays_vers_code = {v: k for k, v in codes.items()}</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associer deux listes parcourues en parallèle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 = dict(zip(produits, quantites))</a:t>
            </a:r>
            <a:endParaRPr lang="en-US" sz="12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Ensemble et expression génératrice</a:t>
            </a:r>
            <a:endParaRPr lang="en-US" sz="1700" dirty="0"/>
          </a:p>
        </p:txBody>
      </p:sp>
      <p:sp>
        <p:nvSpPr>
          <p:cNvPr id="10" name="Shape 8"/>
          <p:cNvSpPr/>
          <p:nvPr/>
        </p:nvSpPr>
        <p:spPr>
          <a:xfrm>
            <a:off x="6324448" y="1828800"/>
            <a:ext cx="5318608" cy="2045970"/>
          </a:xfrm>
          <a:prstGeom prst="rect">
            <a:avLst/>
          </a:prstGeom>
          <a:solidFill>
            <a:srgbClr val="F3F4F6"/>
          </a:solidFill>
          <a:ln/>
        </p:spPr>
      </p:sp>
      <p:sp>
        <p:nvSpPr>
          <p:cNvPr id="11" name="Text 9"/>
          <p:cNvSpPr txBox="1"/>
          <p:nvPr/>
        </p:nvSpPr>
        <p:spPr>
          <a:xfrm>
            <a:off x="6507328" y="1975104"/>
            <a:ext cx="4952848" cy="1753362"/>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regions = ["Bretagne", "Occitanie", "Bretagne"]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ensemble : dédoublonne, sans ordre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regions_uniques = {r for r in regions}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sorted(regions_uniques)</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['Bretagne', 'Occitanie']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générateur : pas de liste en mémoire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total = sum(p * 1.2 for p in prix_ht)</a:t>
            </a:r>
            <a:endParaRPr lang="en-US" sz="1300" dirty="0"/>
          </a:p>
        </p:txBody>
      </p:sp>
      <p:sp>
        <p:nvSpPr>
          <p:cNvPr id="12" name="Text 1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PYTHON INTERMÉDIAIRE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fonctions lambda</a:t>
            </a:r>
            <a:endParaRPr lang="en-US" sz="3000" dirty="0"/>
          </a:p>
        </p:txBody>
      </p:sp>
      <p:sp>
        <p:nvSpPr>
          <p:cNvPr id="6" name="Text 4"/>
          <p:cNvSpPr txBox="1"/>
          <p:nvPr/>
        </p:nvSpPr>
        <p:spPr>
          <a:xfrm>
            <a:off x="548640" y="1417320"/>
            <a:ext cx="4835098" cy="29667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Fonction anonyme, limitée à une seule expression</a:t>
            </a:r>
            <a:endParaRPr lang="en-US" sz="1800" dirty="0"/>
          </a:p>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Sert à passer une petite fonction en argument, là où elle ne sert qu'une fois</a:t>
            </a:r>
            <a:endParaRPr lang="en-US" sz="1800" dirty="0"/>
          </a:p>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On ne l'assigne pas à une variable : autant écrire un </a:t>
            </a:r>
            <a:pPr indent="0" marL="0">
              <a:buNone/>
            </a:pPr>
            <a:r>
              <a:rPr lang="en-US" sz="1800" dirty="0">
                <a:solidFill>
                  <a:srgbClr val="1F3A5F"/>
                </a:solidFill>
                <a:latin typeface="Courier New" pitchFamily="34" charset="0"/>
                <a:ea typeface="Courier New" pitchFamily="34" charset="-122"/>
                <a:cs typeface="Courier New" pitchFamily="34" charset="-120"/>
              </a:rPr>
              <a:t>def</a:t>
            </a:r>
            <a:endParaRPr lang="en-US" sz="1800" dirty="0"/>
          </a:p>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Cet après-midi : </a:t>
            </a:r>
            <a:pPr indent="0" marL="0">
              <a:buNone/>
            </a:pPr>
            <a:r>
              <a:rPr lang="en-US" sz="1800" dirty="0">
                <a:solidFill>
                  <a:srgbClr val="1F3A5F"/>
                </a:solidFill>
                <a:latin typeface="Courier New" pitchFamily="34" charset="0"/>
                <a:ea typeface="Courier New" pitchFamily="34" charset="-122"/>
                <a:cs typeface="Courier New" pitchFamily="34" charset="-120"/>
              </a:rPr>
              <a:t>apply</a:t>
            </a:r>
            <a:pPr indent="0" marL="0">
              <a:buNone/>
            </a:pPr>
            <a:r>
              <a:rPr lang="en-US" sz="1800" dirty="0">
                <a:solidFill>
                  <a:srgbClr val="1F2933"/>
                </a:solidFill>
                <a:latin typeface="Calibri" pitchFamily="34" charset="0"/>
                <a:ea typeface="Calibri" pitchFamily="34" charset="-122"/>
                <a:cs typeface="Calibri" pitchFamily="34" charset="-120"/>
              </a:rPr>
              <a:t> et </a:t>
            </a:r>
            <a:pPr indent="0" marL="0">
              <a:buNone/>
            </a:pPr>
            <a:r>
              <a:rPr lang="en-US" sz="1800" dirty="0">
                <a:solidFill>
                  <a:srgbClr val="1F3A5F"/>
                </a:solidFill>
                <a:latin typeface="Courier New" pitchFamily="34" charset="0"/>
                <a:ea typeface="Courier New" pitchFamily="34" charset="-122"/>
                <a:cs typeface="Courier New" pitchFamily="34" charset="-120"/>
              </a:rPr>
              <a:t>map</a:t>
            </a:r>
            <a:pPr indent="0" marL="0">
              <a:buNone/>
            </a:pPr>
            <a:r>
              <a:rPr lang="en-US" sz="1800" dirty="0">
                <a:solidFill>
                  <a:srgbClr val="1F2933"/>
                </a:solidFill>
                <a:latin typeface="Calibri" pitchFamily="34" charset="0"/>
                <a:ea typeface="Calibri" pitchFamily="34" charset="-122"/>
                <a:cs typeface="Calibri" pitchFamily="34" charset="-120"/>
              </a:rPr>
              <a:t> avec pandas</a:t>
            </a:r>
            <a:endParaRPr lang="en-US" sz="1800" dirty="0"/>
          </a:p>
        </p:txBody>
      </p:sp>
      <p:sp>
        <p:nvSpPr>
          <p:cNvPr id="7" name="Text 5"/>
          <p:cNvSpPr txBox="1"/>
          <p:nvPr/>
        </p:nvSpPr>
        <p:spPr>
          <a:xfrm>
            <a:off x="5840938" y="1417320"/>
            <a:ext cx="5802117"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Équivalence</a:t>
            </a:r>
            <a:endParaRPr lang="en-US" sz="1200" dirty="0"/>
          </a:p>
        </p:txBody>
      </p:sp>
      <p:sp>
        <p:nvSpPr>
          <p:cNvPr id="8" name="Shape 6"/>
          <p:cNvSpPr/>
          <p:nvPr/>
        </p:nvSpPr>
        <p:spPr>
          <a:xfrm>
            <a:off x="5840938" y="1709928"/>
            <a:ext cx="5802117" cy="1191768"/>
          </a:xfrm>
          <a:prstGeom prst="rect">
            <a:avLst/>
          </a:prstGeom>
          <a:solidFill>
            <a:srgbClr val="F3F4F6"/>
          </a:solidFill>
          <a:ln/>
        </p:spPr>
      </p:sp>
      <p:sp>
        <p:nvSpPr>
          <p:cNvPr id="9" name="Text 7"/>
          <p:cNvSpPr txBox="1"/>
          <p:nvPr/>
        </p:nvSpPr>
        <p:spPr>
          <a:xfrm>
            <a:off x="6023818" y="1856232"/>
            <a:ext cx="5436357"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def carre(x):</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return x ** 2</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lambda x: x ** 2</a:t>
            </a:r>
            <a:endParaRPr lang="en-US" sz="1500" dirty="0"/>
          </a:p>
        </p:txBody>
      </p:sp>
      <p:sp>
        <p:nvSpPr>
          <p:cNvPr id="10" name="Text 8"/>
          <p:cNvSpPr txBox="1"/>
          <p:nvPr/>
        </p:nvSpPr>
        <p:spPr>
          <a:xfrm>
            <a:off x="5840938" y="3221736"/>
            <a:ext cx="5802117"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Usage typique</a:t>
            </a:r>
            <a:endParaRPr lang="en-US" sz="1200" dirty="0"/>
          </a:p>
        </p:txBody>
      </p:sp>
      <p:sp>
        <p:nvSpPr>
          <p:cNvPr id="11" name="Shape 9"/>
          <p:cNvSpPr/>
          <p:nvPr/>
        </p:nvSpPr>
        <p:spPr>
          <a:xfrm>
            <a:off x="5840938" y="3514344"/>
            <a:ext cx="5802117" cy="1551432"/>
          </a:xfrm>
          <a:prstGeom prst="rect">
            <a:avLst/>
          </a:prstGeom>
          <a:solidFill>
            <a:srgbClr val="F3F4F6"/>
          </a:solidFill>
          <a:ln/>
        </p:spPr>
      </p:sp>
      <p:sp>
        <p:nvSpPr>
          <p:cNvPr id="12" name="Text 10"/>
          <p:cNvSpPr txBox="1"/>
          <p:nvPr/>
        </p:nvSpPr>
        <p:spPr>
          <a:xfrm>
            <a:off x="6023818" y="3660648"/>
            <a:ext cx="5436357" cy="1258824"/>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 = [("clavier", 45), ("souris", 120), ("écran", 18)]</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sorted(ventes, key=lambda v: v[1])</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[('écran', 18), ('clavier', 45), ('souris', 120)]</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max(ventes, key=lambda v: v[1])</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('souris', 120)</a:t>
            </a:r>
            <a:endParaRPr lang="en-US" sz="1200" dirty="0"/>
          </a:p>
        </p:txBody>
      </p:sp>
      <p:sp>
        <p:nvSpPr>
          <p:cNvPr id="13" name="Text 1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PYTHON INTERMÉDIAIRE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f-strings et le formatage des nombres</a:t>
            </a:r>
            <a:endParaRPr lang="en-US" sz="3000" dirty="0"/>
          </a:p>
        </p:txBody>
      </p:sp>
      <p:sp>
        <p:nvSpPr>
          <p:cNvPr id="6" name="Shape 4"/>
          <p:cNvSpPr/>
          <p:nvPr/>
        </p:nvSpPr>
        <p:spPr>
          <a:xfrm>
            <a:off x="548640" y="1417320"/>
            <a:ext cx="5802117" cy="2540508"/>
          </a:xfrm>
          <a:prstGeom prst="rect">
            <a:avLst/>
          </a:prstGeom>
          <a:solidFill>
            <a:srgbClr val="F3F4F6"/>
          </a:solidFill>
          <a:ln/>
        </p:spPr>
      </p:sp>
      <p:sp>
        <p:nvSpPr>
          <p:cNvPr id="7" name="Text 5"/>
          <p:cNvSpPr txBox="1"/>
          <p:nvPr/>
        </p:nvSpPr>
        <p:spPr>
          <a:xfrm>
            <a:off x="731520" y="1563624"/>
            <a:ext cx="5436357" cy="224790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ca = 1234567.891</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taux = 0.4567</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produit = "clavier"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f"{ca:.2f}"          # '1234567.89'</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f"{ca:,.2f}"         # '1,234,567.89'</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f"{ca:,.0f}"         # '1,234,568'</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f"{taux:.1%}"        # '45.7%'</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f"{produit:&lt;10}|"    # 'clavier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f"{42:&gt;6}"           # '    42'</a:t>
            </a:r>
            <a:endParaRPr lang="en-US" sz="15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934039"/>
                <a:gridCol w="2901059"/>
              </a:tblGrid>
              <a:tr h="58445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Après les deux-points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Effet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.2f</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 décimales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séparateur de milliers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pourcentage, multiplié par 100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&lt;10</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&gt;6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aligné à gauche, à droite, sur une largeur donnée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9" name="Text 6"/>
          <p:cNvSpPr txBox="1"/>
          <p:nvPr/>
        </p:nvSpPr>
        <p:spPr>
          <a:xfrm>
            <a:off x="6807957" y="4221480"/>
            <a:ext cx="483509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Séparateurs à l'anglaise : virgule pour les milliers, point pour les décimales.</a:t>
            </a:r>
            <a:endParaRPr lang="en-US" sz="16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PYTHON INTERMÉDIAIRE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Vérifier un résultat avec assert</a:t>
            </a:r>
            <a:endParaRPr lang="en-US" sz="3000" dirty="0"/>
          </a:p>
        </p:txBody>
      </p:sp>
      <p:sp>
        <p:nvSpPr>
          <p:cNvPr id="6" name="Shape 4"/>
          <p:cNvSpPr/>
          <p:nvPr/>
        </p:nvSpPr>
        <p:spPr>
          <a:xfrm>
            <a:off x="548640" y="1417320"/>
            <a:ext cx="5802117" cy="1551432"/>
          </a:xfrm>
          <a:prstGeom prst="rect">
            <a:avLst/>
          </a:prstGeom>
          <a:solidFill>
            <a:srgbClr val="F3F4F6"/>
          </a:solidFill>
          <a:ln/>
        </p:spPr>
      </p:sp>
      <p:sp>
        <p:nvSpPr>
          <p:cNvPr id="7" name="Text 5"/>
          <p:cNvSpPr txBox="1"/>
          <p:nvPr/>
        </p:nvSpPr>
        <p:spPr>
          <a:xfrm>
            <a:off x="731520" y="1563624"/>
            <a:ext cx="5436357" cy="125882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def montant_ttc(montant_ht, taux_tva=0.2):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return round(montant_ht * (1 + taux_tva), 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assert montant_ttc(100) == 120.0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assert montant_ttc(100, 0.055) == 105.5,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"le taux réduit est mal appliqué"</a:t>
            </a:r>
            <a:endParaRPr lang="en-US" sz="1400" dirty="0"/>
          </a:p>
        </p:txBody>
      </p:sp>
      <p:sp>
        <p:nvSpPr>
          <p:cNvPr id="8" name="Text 6"/>
          <p:cNvSpPr txBox="1"/>
          <p:nvPr/>
        </p:nvSpPr>
        <p:spPr>
          <a:xfrm>
            <a:off x="6807957" y="1417320"/>
            <a:ext cx="4835098" cy="195072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Condition vraie : il ne se passe rien</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Condition fausse : arrêt avec une </a:t>
            </a:r>
            <a:pPr indent="0" marL="0">
              <a:buNone/>
            </a:pPr>
            <a:r>
              <a:rPr lang="en-US" sz="1700" dirty="0">
                <a:solidFill>
                  <a:srgbClr val="1F3A5F"/>
                </a:solidFill>
                <a:latin typeface="Courier New" pitchFamily="34" charset="0"/>
                <a:ea typeface="Courier New" pitchFamily="34" charset="-122"/>
                <a:cs typeface="Courier New" pitchFamily="34" charset="-120"/>
              </a:rPr>
              <a:t>AssertionError</a:t>
            </a:r>
            <a:pPr indent="0" marL="0">
              <a:buNone/>
            </a:pPr>
            <a:r>
              <a:rPr lang="en-US" sz="1700" dirty="0">
                <a:solidFill>
                  <a:srgbClr val="1F2933"/>
                </a:solidFill>
                <a:latin typeface="Calibri" pitchFamily="34" charset="0"/>
                <a:ea typeface="Calibri" pitchFamily="34" charset="-122"/>
                <a:cs typeface="Calibri" pitchFamily="34" charset="-120"/>
              </a:rPr>
              <a:t>, accompagnée du message éventuel</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 moyen le plus simple de contrôler un résultat connu à l'avance</a:t>
            </a:r>
            <a:endParaRPr lang="en-US" sz="1700" dirty="0"/>
          </a:p>
        </p:txBody>
      </p:sp>
      <p:sp>
        <p:nvSpPr>
          <p:cNvPr id="9" name="Shape 7"/>
          <p:cNvSpPr/>
          <p:nvPr/>
        </p:nvSpPr>
        <p:spPr>
          <a:xfrm>
            <a:off x="548640" y="3688080"/>
            <a:ext cx="11094415" cy="883920"/>
          </a:xfrm>
          <a:prstGeom prst="roundRect">
            <a:avLst>
              <a:gd name="adj" fmla="val 6207"/>
            </a:avLst>
          </a:prstGeom>
          <a:solidFill>
            <a:srgbClr val="E8F3EE"/>
          </a:solidFill>
          <a:ln/>
        </p:spPr>
      </p:sp>
      <p:sp>
        <p:nvSpPr>
          <p:cNvPr id="10" name="Text 8"/>
          <p:cNvSpPr txBox="1"/>
          <p:nvPr/>
        </p:nvSpPr>
        <p:spPr>
          <a:xfrm>
            <a:off x="822960" y="368808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Attention aux décimaux : </a:t>
            </a:r>
            <a:pPr indent="0" marL="0">
              <a:buNone/>
            </a:pPr>
            <a:r>
              <a:rPr lang="en-US" sz="1700" dirty="0">
                <a:solidFill>
                  <a:srgbClr val="2F7D62"/>
                </a:solidFill>
                <a:latin typeface="Courier New" pitchFamily="34" charset="0"/>
                <a:ea typeface="Courier New" pitchFamily="34" charset="-122"/>
                <a:cs typeface="Courier New" pitchFamily="34" charset="-120"/>
              </a:rPr>
              <a:t>0.1 + 0.2 == 0.3</a:t>
            </a:r>
            <a:pPr indent="0" marL="0">
              <a:buNone/>
            </a:pPr>
            <a:r>
              <a:rPr lang="en-US" sz="1700" dirty="0">
                <a:solidFill>
                  <a:srgbClr val="1F3A5F"/>
                </a:solidFill>
                <a:latin typeface="Calibri" pitchFamily="34" charset="0"/>
                <a:ea typeface="Calibri" pitchFamily="34" charset="-122"/>
                <a:cs typeface="Calibri" pitchFamily="34" charset="-120"/>
              </a:rPr>
              <a:t> est faux. On compare des valeurs arrondies, </a:t>
            </a:r>
            <a:pPr indent="0" marL="0">
              <a:buNone/>
            </a:pPr>
            <a:r>
              <a:rPr lang="en-US" sz="1700" dirty="0">
                <a:solidFill>
                  <a:srgbClr val="2F7D62"/>
                </a:solidFill>
                <a:latin typeface="Courier New" pitchFamily="34" charset="0"/>
                <a:ea typeface="Courier New" pitchFamily="34" charset="-122"/>
                <a:cs typeface="Courier New" pitchFamily="34" charset="-120"/>
              </a:rPr>
              <a:t>round(x, 2) == 0.3</a:t>
            </a:r>
            <a:pPr indent="0" marL="0">
              <a:buNone/>
            </a:pPr>
            <a:r>
              <a:rPr lang="en-US" sz="1700" dirty="0">
                <a:solidFill>
                  <a:srgbClr val="1F3A5F"/>
                </a:solidFill>
                <a:latin typeface="Calibri" pitchFamily="34" charset="0"/>
                <a:ea typeface="Calibri" pitchFamily="34" charset="-122"/>
                <a:cs typeface="Calibri" pitchFamily="34" charset="-120"/>
              </a:rPr>
              <a:t>, ou on tolère un écart, </a:t>
            </a:r>
            <a:pPr indent="0" marL="0">
              <a:buNone/>
            </a:pPr>
            <a:r>
              <a:rPr lang="en-US" sz="1700" dirty="0">
                <a:solidFill>
                  <a:srgbClr val="2F7D62"/>
                </a:solidFill>
                <a:latin typeface="Courier New" pitchFamily="34" charset="0"/>
                <a:ea typeface="Courier New" pitchFamily="34" charset="-122"/>
                <a:cs typeface="Courier New" pitchFamily="34" charset="-120"/>
              </a:rPr>
              <a:t>abs(x - 0.3) &lt; 1e-9</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PYTHON INTERMÉDIAIRE</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TP1, partie 1</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Python intermédiaire, dans le notebook </a:t>
            </a:r>
            <a:pPr indent="0" marL="0">
              <a:buNone/>
            </a:pPr>
            <a:r>
              <a:rPr lang="en-US" sz="1800" dirty="0">
                <a:solidFill>
                  <a:srgbClr val="1F3A5F"/>
                </a:solidFill>
                <a:latin typeface="Courier New" pitchFamily="34" charset="0"/>
                <a:ea typeface="Courier New" pitchFamily="34" charset="-122"/>
                <a:cs typeface="Courier New" pitchFamily="34" charset="-120"/>
              </a:rPr>
              <a:t>tp01.ipynb</a:t>
            </a:r>
            <a:endParaRPr lang="en-US" sz="1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1.1 à 1.5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compréhensions de liste, de dictionnaire et d'ensemble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1.6 et 1.7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trier et chercher un maximum avec </a:t>
                      </a:r>
                      <a:pPr indent="0" marL="0">
                        <a:buNone/>
                      </a:pPr>
                      <a:r>
                        <a:rPr lang="en-US" sz="1600" dirty="0">
                          <a:solidFill>
                            <a:srgbClr val="1F3A5F"/>
                          </a:solidFill>
                          <a:latin typeface="Courier New" pitchFamily="34" charset="0"/>
                          <a:ea typeface="Courier New" pitchFamily="34" charset="-122"/>
                          <a:cs typeface="Courier New" pitchFamily="34" charset="-120"/>
                        </a:rPr>
                        <a:t>sorted</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max</a:t>
                      </a:r>
                      <a:pPr indent="0" marL="0">
                        <a:buNone/>
                      </a:pPr>
                      <a:r>
                        <a:rPr lang="en-US" sz="1600" dirty="0">
                          <a:solidFill>
                            <a:srgbClr val="1F2933"/>
                          </a:solidFill>
                          <a:latin typeface="Calibri" pitchFamily="34" charset="0"/>
                          <a:ea typeface="Calibri" pitchFamily="34" charset="-122"/>
                          <a:cs typeface="Calibri" pitchFamily="34" charset="-120"/>
                        </a:rPr>
                        <a:t> et une </a:t>
                      </a:r>
                      <a:pPr indent="0" marL="0">
                        <a:buNone/>
                      </a:pPr>
                      <a:r>
                        <a:rPr lang="en-US" sz="1600" dirty="0">
                          <a:solidFill>
                            <a:srgbClr val="1F3A5F"/>
                          </a:solidFill>
                          <a:latin typeface="Courier New" pitchFamily="34" charset="0"/>
                          <a:ea typeface="Courier New" pitchFamily="34" charset="-122"/>
                          <a:cs typeface="Courier New" pitchFamily="34" charset="-120"/>
                        </a:rPr>
                        <a:t>lambda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convertir des prix saisis à la main, avec une virgule ou un point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1.9 et 1.10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formater un résultat avec une f-string, vérifier une fonction avec </a:t>
                      </a:r>
                      <a:pPr indent="0" marL="0">
                        <a:buNone/>
                      </a:pPr>
                      <a:r>
                        <a:rPr lang="en-US" sz="1600" dirty="0">
                          <a:solidFill>
                            <a:srgbClr val="1F3A5F"/>
                          </a:solidFill>
                          <a:latin typeface="Courier New" pitchFamily="34" charset="0"/>
                          <a:ea typeface="Courier New" pitchFamily="34" charset="-122"/>
                          <a:cs typeface="Courier New" pitchFamily="34" charset="-120"/>
                        </a:rPr>
                        <a:t>assert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Shape 5"/>
          <p:cNvSpPr/>
          <p:nvPr/>
        </p:nvSpPr>
        <p:spPr>
          <a:xfrm>
            <a:off x="548640" y="4231640"/>
            <a:ext cx="11094415" cy="883920"/>
          </a:xfrm>
          <a:prstGeom prst="roundRect">
            <a:avLst>
              <a:gd name="adj" fmla="val 6207"/>
            </a:avLst>
          </a:prstGeom>
          <a:solidFill>
            <a:srgbClr val="E8F3EE"/>
          </a:solidFill>
          <a:ln/>
        </p:spPr>
      </p:sp>
      <p:sp>
        <p:nvSpPr>
          <p:cNvPr id="9" name="Text 6"/>
          <p:cNvSpPr txBox="1"/>
          <p:nvPr/>
        </p:nvSpPr>
        <p:spPr>
          <a:xfrm>
            <a:off x="822960" y="423164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Compléter les cellules </a:t>
            </a:r>
            <a:pPr indent="0" marL="0">
              <a:buNone/>
            </a:pPr>
            <a:r>
              <a:rPr lang="en-US" sz="1700" dirty="0">
                <a:solidFill>
                  <a:srgbClr val="2F7D62"/>
                </a:solidFill>
                <a:latin typeface="Courier New" pitchFamily="34" charset="0"/>
                <a:ea typeface="Courier New" pitchFamily="34" charset="-122"/>
                <a:cs typeface="Courier New" pitchFamily="34" charset="-120"/>
              </a:rPr>
              <a:t># TODO</a:t>
            </a:r>
            <a:pPr indent="0" marL="0">
              <a:buNone/>
            </a:pPr>
            <a:r>
              <a:rPr lang="en-US" sz="1700" dirty="0">
                <a:solidFill>
                  <a:srgbClr val="1F3A5F"/>
                </a:solidFill>
                <a:latin typeface="Calibri" pitchFamily="34" charset="0"/>
                <a:ea typeface="Calibri" pitchFamily="34" charset="-122"/>
                <a:cs typeface="Calibri" pitchFamily="34" charset="-120"/>
              </a:rPr>
              <a:t>, comparer avec le </a:t>
            </a:r>
            <a:pPr indent="0" marL="0">
              <a:buNone/>
            </a:pPr>
            <a:r>
              <a:rPr lang="en-US" sz="1700" b="1" dirty="0">
                <a:solidFill>
                  <a:srgbClr val="1F3A5F"/>
                </a:solidFill>
                <a:latin typeface="Calibri" pitchFamily="34" charset="0"/>
                <a:ea typeface="Calibri" pitchFamily="34" charset="-122"/>
                <a:cs typeface="Calibri" pitchFamily="34" charset="-120"/>
              </a:rPr>
              <a:t>résultat attendu</a:t>
            </a:r>
            <a:pPr indent="0" marL="0">
              <a:buNone/>
            </a:pPr>
            <a:r>
              <a:rPr lang="en-US" sz="1700" dirty="0">
                <a:solidFill>
                  <a:srgbClr val="1F3A5F"/>
                </a:solidFill>
                <a:latin typeface="Calibri" pitchFamily="34" charset="0"/>
                <a:ea typeface="Calibri" pitchFamily="34" charset="-122"/>
                <a:cs typeface="Calibri" pitchFamily="34" charset="-120"/>
              </a:rPr>
              <a:t>, puis exécuter la cellule de </a:t>
            </a:r>
            <a:pPr indent="0" marL="0">
              <a:buNone/>
            </a:pPr>
            <a:r>
              <a:rPr lang="en-US" sz="1700" b="1" dirty="0">
                <a:solidFill>
                  <a:srgbClr val="1F3A5F"/>
                </a:solidFill>
                <a:latin typeface="Calibri" pitchFamily="34" charset="0"/>
                <a:ea typeface="Calibri" pitchFamily="34" charset="-122"/>
                <a:cs typeface="Calibri" pitchFamily="34" charset="-120"/>
              </a:rPr>
              <a:t>vérification</a:t>
            </a:r>
            <a:pPr indent="0" marL="0">
              <a:buNone/>
            </a:pPr>
            <a:r>
              <a:rPr lang="en-US" sz="1700" dirty="0">
                <a:solidFill>
                  <a:srgbClr val="1F3A5F"/>
                </a:solidFill>
                <a:latin typeface="Calibri" pitchFamily="34" charset="0"/>
                <a:ea typeface="Calibri" pitchFamily="34" charset="-122"/>
                <a:cs typeface="Calibri" pitchFamily="34" charset="-120"/>
              </a:rPr>
              <a:t> : elle affiche </a:t>
            </a:r>
            <a:pPr indent="0" marL="0">
              <a:buNone/>
            </a:pPr>
            <a:r>
              <a:rPr lang="en-US" sz="1700" dirty="0">
                <a:solidFill>
                  <a:srgbClr val="2F7D62"/>
                </a:solidFill>
                <a:latin typeface="Courier New" pitchFamily="34" charset="0"/>
                <a:ea typeface="Courier New" pitchFamily="34" charset="-122"/>
                <a:cs typeface="Courier New" pitchFamily="34" charset="-120"/>
              </a:rPr>
              <a:t>OK</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04</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Les bases de numpy</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Créer   |   Accéder   |   Calculer   |   Filtrer</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BASES DE NUMPY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tableau numpy</a:t>
            </a:r>
            <a:endParaRPr lang="en-US" sz="3000" dirty="0"/>
          </a:p>
        </p:txBody>
      </p:sp>
      <p:sp>
        <p:nvSpPr>
          <p:cNvPr id="6" name="Shape 4"/>
          <p:cNvSpPr/>
          <p:nvPr/>
        </p:nvSpPr>
        <p:spPr>
          <a:xfrm>
            <a:off x="548640" y="1417320"/>
            <a:ext cx="5802117" cy="1641348"/>
          </a:xfrm>
          <a:prstGeom prst="rect">
            <a:avLst/>
          </a:prstGeom>
          <a:solidFill>
            <a:srgbClr val="F3F4F6"/>
          </a:solidFill>
          <a:ln/>
        </p:spPr>
      </p:sp>
      <p:sp>
        <p:nvSpPr>
          <p:cNvPr id="7" name="Text 5"/>
          <p:cNvSpPr txBox="1"/>
          <p:nvPr/>
        </p:nvSpPr>
        <p:spPr>
          <a:xfrm>
            <a:off x="731520" y="1563624"/>
            <a:ext cx="5436357"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import numpy as np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 = np.array([12, 8, 15, 9, 18])</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notes.shape    # (5,)</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notes.dtype    # dtype('int64')</a:t>
            </a:r>
            <a:endParaRPr lang="en-US" sz="1500" dirty="0"/>
          </a:p>
        </p:txBody>
      </p:sp>
      <p:sp>
        <p:nvSpPr>
          <p:cNvPr id="8" name="Text 6"/>
          <p:cNvSpPr txBox="1"/>
          <p:nvPr/>
        </p:nvSpPr>
        <p:spPr>
          <a:xfrm>
            <a:off x="6807957" y="1417320"/>
            <a:ext cx="483509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Ce qui change par rapport à une liste</a:t>
            </a:r>
            <a:endParaRPr lang="en-US" sz="1700" dirty="0"/>
          </a:p>
        </p:txBody>
      </p:sp>
      <p:sp>
        <p:nvSpPr>
          <p:cNvPr id="9" name="Text 7"/>
          <p:cNvSpPr txBox="1"/>
          <p:nvPr/>
        </p:nvSpPr>
        <p:spPr>
          <a:xfrm>
            <a:off x="6807957" y="1828800"/>
            <a:ext cx="4835098" cy="176784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Tous les éléments ont le </a:t>
            </a:r>
            <a:pPr indent="0" marL="0">
              <a:buNone/>
            </a:pPr>
            <a:r>
              <a:rPr lang="en-US" sz="1800" b="1" dirty="0">
                <a:solidFill>
                  <a:srgbClr val="1F2933"/>
                </a:solidFill>
                <a:latin typeface="Calibri" pitchFamily="34" charset="0"/>
                <a:ea typeface="Calibri" pitchFamily="34" charset="-122"/>
                <a:cs typeface="Calibri" pitchFamily="34" charset="-120"/>
              </a:rPr>
              <a:t>même type</a:t>
            </a:r>
            <a:endParaRPr lang="en-US" sz="1800" dirty="0"/>
          </a:p>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Les calculs s'appliquent à </a:t>
            </a:r>
            <a:pPr indent="0" marL="0">
              <a:buNone/>
            </a:pPr>
            <a:r>
              <a:rPr lang="en-US" sz="1800" b="1" dirty="0">
                <a:solidFill>
                  <a:srgbClr val="1F2933"/>
                </a:solidFill>
                <a:latin typeface="Calibri" pitchFamily="34" charset="0"/>
                <a:ea typeface="Calibri" pitchFamily="34" charset="-122"/>
                <a:cs typeface="Calibri" pitchFamily="34" charset="-120"/>
              </a:rPr>
              <a:t>tous les éléments d'un coup</a:t>
            </a:r>
            <a:pPr indent="0" marL="0">
              <a:buNone/>
            </a:pPr>
            <a:r>
              <a:rPr lang="en-US" sz="1800" dirty="0">
                <a:solidFill>
                  <a:srgbClr val="1F2933"/>
                </a:solidFill>
                <a:latin typeface="Calibri" pitchFamily="34" charset="0"/>
                <a:ea typeface="Calibri" pitchFamily="34" charset="-122"/>
                <a:cs typeface="Calibri" pitchFamily="34" charset="-120"/>
              </a:rPr>
              <a:t>, sans boucle</a:t>
            </a:r>
            <a:endParaRPr lang="en-US" sz="1800" dirty="0"/>
          </a:p>
          <a:p>
            <a:pPr marL="254000" indent="-254000">
              <a:spcAft>
                <a:spcPts val="800"/>
              </a:spcAft>
              <a:buSzPct val="100000"/>
              <a:buChar char="•"/>
            </a:pPr>
            <a:r>
              <a:rPr lang="en-US" sz="1800" dirty="0">
                <a:solidFill>
                  <a:srgbClr val="1F2933"/>
                </a:solidFill>
                <a:latin typeface="Calibri" pitchFamily="34" charset="0"/>
                <a:ea typeface="Calibri" pitchFamily="34" charset="-122"/>
                <a:cs typeface="Calibri" pitchFamily="34" charset="-120"/>
              </a:rPr>
              <a:t>Chaque colonne d'un DataFrame pandas est un tableau numpy</a:t>
            </a:r>
            <a:endParaRPr lang="en-US" sz="1800" dirty="0"/>
          </a:p>
        </p:txBody>
      </p:sp>
      <p:sp>
        <p:nvSpPr>
          <p:cNvPr id="10"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BASES DE NUMPY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Liste ou tableau : le même opérateur, deux résultats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Liste Python</a:t>
            </a:r>
            <a:endParaRPr lang="en-US" sz="1700" dirty="0"/>
          </a:p>
        </p:txBody>
      </p:sp>
      <p:sp>
        <p:nvSpPr>
          <p:cNvPr id="7" name="Shape 5"/>
          <p:cNvSpPr/>
          <p:nvPr/>
        </p:nvSpPr>
        <p:spPr>
          <a:xfrm>
            <a:off x="548640" y="1828800"/>
            <a:ext cx="5318608" cy="1191768"/>
          </a:xfrm>
          <a:prstGeom prst="rect">
            <a:avLst/>
          </a:prstGeom>
          <a:solidFill>
            <a:srgbClr val="F3F4F6"/>
          </a:solidFill>
          <a:ln/>
        </p:spPr>
      </p:sp>
      <p:sp>
        <p:nvSpPr>
          <p:cNvPr id="8" name="Text 6"/>
          <p:cNvSpPr txBox="1"/>
          <p:nvPr/>
        </p:nvSpPr>
        <p:spPr>
          <a:xfrm>
            <a:off x="731520" y="197510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[1, 2, 3] * 2</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[1, 2, 3, 1, 2, 3]</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la liste est répétée</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Tableau numpy</a:t>
            </a:r>
            <a:endParaRPr lang="en-US" sz="1700" dirty="0"/>
          </a:p>
        </p:txBody>
      </p:sp>
      <p:sp>
        <p:nvSpPr>
          <p:cNvPr id="10" name="Shape 8"/>
          <p:cNvSpPr/>
          <p:nvPr/>
        </p:nvSpPr>
        <p:spPr>
          <a:xfrm>
            <a:off x="6324448" y="1828800"/>
            <a:ext cx="5318608" cy="1191768"/>
          </a:xfrm>
          <a:prstGeom prst="rect">
            <a:avLst/>
          </a:prstGeom>
          <a:solidFill>
            <a:srgbClr val="F3F4F6"/>
          </a:solidFill>
          <a:ln/>
        </p:spPr>
      </p:sp>
      <p:sp>
        <p:nvSpPr>
          <p:cNvPr id="11" name="Text 9"/>
          <p:cNvSpPr txBox="1"/>
          <p:nvPr/>
        </p:nvSpPr>
        <p:spPr>
          <a:xfrm>
            <a:off x="6507328" y="1975104"/>
            <a:ext cx="495284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np.array([1, 2, 3]) * 2</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array([2, 4, 6])</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chaque élément est multiplié</a:t>
            </a:r>
            <a:endParaRPr lang="en-US" sz="1500" dirty="0"/>
          </a:p>
        </p:txBody>
      </p:sp>
      <p:sp>
        <p:nvSpPr>
          <p:cNvPr id="12" name="Shape 10"/>
          <p:cNvSpPr/>
          <p:nvPr/>
        </p:nvSpPr>
        <p:spPr>
          <a:xfrm>
            <a:off x="548640" y="3340608"/>
            <a:ext cx="11094415" cy="624840"/>
          </a:xfrm>
          <a:prstGeom prst="roundRect">
            <a:avLst>
              <a:gd name="adj" fmla="val 8780"/>
            </a:avLst>
          </a:prstGeom>
          <a:solidFill>
            <a:srgbClr val="E8F3EE"/>
          </a:solidFill>
          <a:ln/>
        </p:spPr>
      </p:sp>
      <p:sp>
        <p:nvSpPr>
          <p:cNvPr id="13" name="Text 11"/>
          <p:cNvSpPr txBox="1"/>
          <p:nvPr/>
        </p:nvSpPr>
        <p:spPr>
          <a:xfrm>
            <a:off x="822960" y="3340608"/>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Une opération qui s'applique à chaque élément, sans boucle, est dite </a:t>
            </a:r>
            <a:pPr indent="0" marL="0">
              <a:buNone/>
            </a:pPr>
            <a:r>
              <a:rPr lang="en-US" sz="1700" b="1" dirty="0">
                <a:solidFill>
                  <a:srgbClr val="1F3A5F"/>
                </a:solidFill>
                <a:latin typeface="Calibri" pitchFamily="34" charset="0"/>
                <a:ea typeface="Calibri" pitchFamily="34" charset="-122"/>
                <a:cs typeface="Calibri" pitchFamily="34" charset="-120"/>
              </a:rPr>
              <a:t>vectorisée</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BASES DE NUMPY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Créer un tableau et accéder aux éléments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Créer sans écrire les valeurs</a:t>
            </a:r>
            <a:endParaRPr lang="en-US" sz="1700" dirty="0"/>
          </a:p>
        </p:txBody>
      </p:sp>
      <p:sp>
        <p:nvSpPr>
          <p:cNvPr id="7" name="Shape 5"/>
          <p:cNvSpPr/>
          <p:nvPr/>
        </p:nvSpPr>
        <p:spPr>
          <a:xfrm>
            <a:off x="548640" y="1828800"/>
            <a:ext cx="5318608" cy="1131824"/>
          </a:xfrm>
          <a:prstGeom prst="rect">
            <a:avLst/>
          </a:prstGeom>
          <a:solidFill>
            <a:srgbClr val="F3F4F6"/>
          </a:solidFill>
          <a:ln/>
        </p:spPr>
      </p:sp>
      <p:sp>
        <p:nvSpPr>
          <p:cNvPr id="8" name="Text 6"/>
          <p:cNvSpPr txBox="1"/>
          <p:nvPr/>
        </p:nvSpPr>
        <p:spPr>
          <a:xfrm>
            <a:off x="731520" y="1975104"/>
            <a:ext cx="4952848" cy="83921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np.zeros(5)           # 5 zéros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np.ones(3)            # 3 uns</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np.arange(5)          # 0, 1, 2, 3, 4</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np.linspace(0, 1, 5)  # 0, 0.25, 0.5, 0.75, 1</a:t>
            </a:r>
            <a:endParaRPr lang="en-US" sz="14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Accéder par position</a:t>
            </a:r>
            <a:endParaRPr lang="en-US" sz="1700" dirty="0"/>
          </a:p>
        </p:txBody>
      </p:sp>
      <p:sp>
        <p:nvSpPr>
          <p:cNvPr id="10" name="Shape 8"/>
          <p:cNvSpPr/>
          <p:nvPr/>
        </p:nvSpPr>
        <p:spPr>
          <a:xfrm>
            <a:off x="6324448" y="1828800"/>
            <a:ext cx="5318608" cy="966978"/>
          </a:xfrm>
          <a:prstGeom prst="rect">
            <a:avLst/>
          </a:prstGeom>
          <a:solidFill>
            <a:srgbClr val="F3F4F6"/>
          </a:solidFill>
          <a:ln/>
        </p:spPr>
      </p:sp>
      <p:sp>
        <p:nvSpPr>
          <p:cNvPr id="11" name="Text 9"/>
          <p:cNvSpPr txBox="1"/>
          <p:nvPr/>
        </p:nvSpPr>
        <p:spPr>
          <a:xfrm>
            <a:off x="6507328" y="1975104"/>
            <a:ext cx="4952848"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notes[0]      # 12, le premier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notes[-1]     # 18, le dernier</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notes[1:3]    # array([ 8, 15])</a:t>
            </a:r>
            <a:endParaRPr lang="en-US" sz="1500" dirty="0"/>
          </a:p>
        </p:txBody>
      </p:sp>
      <p:sp>
        <p:nvSpPr>
          <p:cNvPr id="12" name="Shape 10"/>
          <p:cNvSpPr/>
          <p:nvPr/>
        </p:nvSpPr>
        <p:spPr>
          <a:xfrm>
            <a:off x="548640" y="3280664"/>
            <a:ext cx="11094415" cy="624840"/>
          </a:xfrm>
          <a:prstGeom prst="roundRect">
            <a:avLst>
              <a:gd name="adj" fmla="val 8780"/>
            </a:avLst>
          </a:prstGeom>
          <a:solidFill>
            <a:srgbClr val="E8F3EE"/>
          </a:solidFill>
          <a:ln/>
        </p:spPr>
      </p:sp>
      <p:sp>
        <p:nvSpPr>
          <p:cNvPr id="13" name="Text 11"/>
          <p:cNvSpPr txBox="1"/>
          <p:nvPr/>
        </p:nvSpPr>
        <p:spPr>
          <a:xfrm>
            <a:off x="822960" y="3280664"/>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Comme avec </a:t>
            </a:r>
            <a:pPr indent="0" marL="0">
              <a:buNone/>
            </a:pPr>
            <a:r>
              <a:rPr lang="en-US" sz="1700" dirty="0">
                <a:solidFill>
                  <a:srgbClr val="2F7D62"/>
                </a:solidFill>
                <a:latin typeface="Courier New" pitchFamily="34" charset="0"/>
                <a:ea typeface="Courier New" pitchFamily="34" charset="-122"/>
                <a:cs typeface="Courier New" pitchFamily="34" charset="-120"/>
              </a:rPr>
              <a:t>range</a:t>
            </a:r>
            <a:pPr indent="0" marL="0">
              <a:buNone/>
            </a:pPr>
            <a:r>
              <a:rPr lang="en-US" sz="1700" dirty="0">
                <a:solidFill>
                  <a:srgbClr val="1F3A5F"/>
                </a:solidFill>
                <a:latin typeface="Calibri" pitchFamily="34" charset="0"/>
                <a:ea typeface="Calibri" pitchFamily="34" charset="-122"/>
                <a:cs typeface="Calibri" pitchFamily="34" charset="-120"/>
              </a:rPr>
              <a:t> et les listes, la borne de fin est </a:t>
            </a:r>
            <a:pPr indent="0" marL="0">
              <a:buNone/>
            </a:pPr>
            <a:r>
              <a:rPr lang="en-US" sz="1700" b="1" dirty="0">
                <a:solidFill>
                  <a:srgbClr val="1F3A5F"/>
                </a:solidFill>
                <a:latin typeface="Calibri" pitchFamily="34" charset="0"/>
                <a:ea typeface="Calibri" pitchFamily="34" charset="-122"/>
                <a:cs typeface="Calibri" pitchFamily="34" charset="-120"/>
              </a:rPr>
              <a:t>exclue</a:t>
            </a:r>
            <a:pPr indent="0" marL="0">
              <a:buNone/>
            </a:pPr>
            <a:r>
              <a:rPr lang="en-US" sz="1700" dirty="0">
                <a:solidFill>
                  <a:srgbClr val="1F3A5F"/>
                </a:solidFill>
                <a:latin typeface="Calibri" pitchFamily="34" charset="0"/>
                <a:ea typeface="Calibri" pitchFamily="34" charset="-122"/>
                <a:cs typeface="Calibri" pitchFamily="34" charset="-120"/>
              </a:rPr>
              <a:t>, sauf avec </a:t>
            </a:r>
            <a:pPr indent="0" marL="0">
              <a:buNone/>
            </a:pPr>
            <a:r>
              <a:rPr lang="en-US" sz="1700" dirty="0">
                <a:solidFill>
                  <a:srgbClr val="2F7D62"/>
                </a:solidFill>
                <a:latin typeface="Courier New" pitchFamily="34" charset="0"/>
                <a:ea typeface="Courier New" pitchFamily="34" charset="-122"/>
                <a:cs typeface="Courier New" pitchFamily="34" charset="-120"/>
              </a:rPr>
              <a:t>linspace</a:t>
            </a:r>
            <a:pPr indent="0" marL="0">
              <a:buNone/>
            </a:pPr>
            <a:r>
              <a:rPr lang="en-US" sz="1700" dirty="0">
                <a:solidFill>
                  <a:srgbClr val="1F3A5F"/>
                </a:solidFill>
                <a:latin typeface="Calibri" pitchFamily="34" charset="0"/>
                <a:ea typeface="Calibri" pitchFamily="34" charset="-122"/>
                <a:cs typeface="Calibri" pitchFamily="34" charset="-120"/>
              </a:rPr>
              <a:t>.</a:t>
            </a:r>
            <a:endParaRPr lang="en-US" sz="17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BASES DE NUMPY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Calculer et filtrer sans boucle</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Calculer</a:t>
            </a:r>
            <a:endParaRPr lang="en-US" sz="1700" dirty="0"/>
          </a:p>
        </p:txBody>
      </p:sp>
      <p:sp>
        <p:nvSpPr>
          <p:cNvPr id="7" name="Shape 5"/>
          <p:cNvSpPr/>
          <p:nvPr/>
        </p:nvSpPr>
        <p:spPr>
          <a:xfrm>
            <a:off x="548640" y="1828800"/>
            <a:ext cx="5318608" cy="2315718"/>
          </a:xfrm>
          <a:prstGeom prst="rect">
            <a:avLst/>
          </a:prstGeom>
          <a:solidFill>
            <a:srgbClr val="F3F4F6"/>
          </a:solidFill>
          <a:ln/>
        </p:spPr>
      </p:sp>
      <p:sp>
        <p:nvSpPr>
          <p:cNvPr id="8" name="Text 6"/>
          <p:cNvSpPr txBox="1"/>
          <p:nvPr/>
        </p:nvSpPr>
        <p:spPr>
          <a:xfrm>
            <a:off x="731520" y="1975104"/>
            <a:ext cx="4952848"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 + 1</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array([13,  9, 16, 10, 19])</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prix = np.array([10.0, 25.0, 8.0])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quantites = np.array([3, 1, 10])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prix * quantites</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array([30., 25., 80.])</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notes.sum()     # 62</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notes.mean()    # 12.4</a:t>
            </a:r>
            <a:endParaRPr lang="en-US" sz="15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Filtrer</a:t>
            </a:r>
            <a:endParaRPr lang="en-US" sz="1700" dirty="0"/>
          </a:p>
        </p:txBody>
      </p:sp>
      <p:sp>
        <p:nvSpPr>
          <p:cNvPr id="10" name="Shape 8"/>
          <p:cNvSpPr/>
          <p:nvPr/>
        </p:nvSpPr>
        <p:spPr>
          <a:xfrm>
            <a:off x="6324448" y="1828800"/>
            <a:ext cx="5318608" cy="1761236"/>
          </a:xfrm>
          <a:prstGeom prst="rect">
            <a:avLst/>
          </a:prstGeom>
          <a:solidFill>
            <a:srgbClr val="F3F4F6"/>
          </a:solidFill>
          <a:ln/>
        </p:spPr>
      </p:sp>
      <p:sp>
        <p:nvSpPr>
          <p:cNvPr id="11" name="Text 9"/>
          <p:cNvSpPr txBox="1"/>
          <p:nvPr/>
        </p:nvSpPr>
        <p:spPr>
          <a:xfrm>
            <a:off x="6507328" y="1975104"/>
            <a:ext cx="4952848" cy="146862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notes &gt;= 10</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array([ True, False,  True, False,  True])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notes[notes &gt;= 10]</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array([12, 15, 18])</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(notes &gt;= 10).sum()   # 3</a:t>
            </a:r>
            <a:endParaRPr lang="en-US" sz="1400" dirty="0"/>
          </a:p>
        </p:txBody>
      </p:sp>
      <p:sp>
        <p:nvSpPr>
          <p:cNvPr id="12" name="Shape 10"/>
          <p:cNvSpPr/>
          <p:nvPr/>
        </p:nvSpPr>
        <p:spPr>
          <a:xfrm>
            <a:off x="548640" y="4464558"/>
            <a:ext cx="11094415" cy="624840"/>
          </a:xfrm>
          <a:prstGeom prst="roundRect">
            <a:avLst>
              <a:gd name="adj" fmla="val 8780"/>
            </a:avLst>
          </a:prstGeom>
          <a:solidFill>
            <a:srgbClr val="E8F3EE"/>
          </a:solidFill>
          <a:ln/>
        </p:spPr>
      </p:sp>
      <p:sp>
        <p:nvSpPr>
          <p:cNvPr id="13" name="Text 11"/>
          <p:cNvSpPr txBox="1"/>
          <p:nvPr/>
        </p:nvSpPr>
        <p:spPr>
          <a:xfrm>
            <a:off x="822960" y="4464558"/>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C'est exactement ainsi qu'on filtrera les lignes d'un DataFrame cet après-midi.</a:t>
            </a:r>
            <a:endParaRPr lang="en-US" sz="17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BASES DE NUMPY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Deux dimensions et nombres aléatoires</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2 magasins, 3 jours</a:t>
            </a:r>
            <a:endParaRPr lang="en-US" sz="1700" dirty="0"/>
          </a:p>
        </p:txBody>
      </p:sp>
      <p:sp>
        <p:nvSpPr>
          <p:cNvPr id="7" name="Shape 5"/>
          <p:cNvSpPr/>
          <p:nvPr/>
        </p:nvSpPr>
        <p:spPr>
          <a:xfrm>
            <a:off x="548640" y="1828800"/>
            <a:ext cx="5318608" cy="1761236"/>
          </a:xfrm>
          <a:prstGeom prst="rect">
            <a:avLst/>
          </a:prstGeom>
          <a:solidFill>
            <a:srgbClr val="F3F4F6"/>
          </a:solidFill>
          <a:ln/>
        </p:spPr>
      </p:sp>
      <p:sp>
        <p:nvSpPr>
          <p:cNvPr id="8" name="Text 6"/>
          <p:cNvSpPr txBox="1"/>
          <p:nvPr/>
        </p:nvSpPr>
        <p:spPr>
          <a:xfrm>
            <a:off x="731520" y="1975104"/>
            <a:ext cx="4952848" cy="146862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ventes = np.array([[3, 5, 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[4, 1, 6]])</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ventes.shape        # (2, 3)</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ventes[1, 2]        # 6</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ventes.sum(axis=0)  # par jour : [7, 6, 8]</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ventes.sum(axis=1)  # par magasin : [10, 11]</a:t>
            </a:r>
            <a:endParaRPr lang="en-US" sz="14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Un tirage reproductible</a:t>
            </a:r>
            <a:endParaRPr lang="en-US" sz="1700" dirty="0"/>
          </a:p>
        </p:txBody>
      </p:sp>
      <p:sp>
        <p:nvSpPr>
          <p:cNvPr id="10" name="Shape 8"/>
          <p:cNvSpPr/>
          <p:nvPr/>
        </p:nvSpPr>
        <p:spPr>
          <a:xfrm>
            <a:off x="6324448" y="1828800"/>
            <a:ext cx="5318608" cy="966978"/>
          </a:xfrm>
          <a:prstGeom prst="rect">
            <a:avLst/>
          </a:prstGeom>
          <a:solidFill>
            <a:srgbClr val="F3F4F6"/>
          </a:solidFill>
          <a:ln/>
        </p:spPr>
      </p:sp>
      <p:sp>
        <p:nvSpPr>
          <p:cNvPr id="11" name="Text 9"/>
          <p:cNvSpPr txBox="1"/>
          <p:nvPr/>
        </p:nvSpPr>
        <p:spPr>
          <a:xfrm>
            <a:off x="6507328" y="1975104"/>
            <a:ext cx="4952848" cy="67437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rng = np.random.default_rng(42)</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rng.integers(1, 7, size=10)</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10 lancers de dé</a:t>
            </a:r>
            <a:endParaRPr lang="en-US" sz="1500" dirty="0"/>
          </a:p>
        </p:txBody>
      </p:sp>
      <p:sp>
        <p:nvSpPr>
          <p:cNvPr id="12" name="Text 10"/>
          <p:cNvSpPr txBox="1"/>
          <p:nvPr/>
        </p:nvSpPr>
        <p:spPr>
          <a:xfrm>
            <a:off x="6324448" y="3115818"/>
            <a:ext cx="5318608" cy="38100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Même seed, mêmes valeurs à chaque exécution.</a:t>
            </a:r>
            <a:endParaRPr lang="en-US" sz="1600" dirty="0"/>
          </a:p>
        </p:txBody>
      </p:sp>
      <p:sp>
        <p:nvSpPr>
          <p:cNvPr id="13" name="Shape 11"/>
          <p:cNvSpPr/>
          <p:nvPr/>
        </p:nvSpPr>
        <p:spPr>
          <a:xfrm>
            <a:off x="548640" y="3910076"/>
            <a:ext cx="11094415" cy="624840"/>
          </a:xfrm>
          <a:prstGeom prst="roundRect">
            <a:avLst>
              <a:gd name="adj" fmla="val 8780"/>
            </a:avLst>
          </a:prstGeom>
          <a:solidFill>
            <a:srgbClr val="E8F3EE"/>
          </a:solidFill>
          <a:ln/>
        </p:spPr>
      </p:sp>
      <p:sp>
        <p:nvSpPr>
          <p:cNvPr id="14" name="Text 12"/>
          <p:cNvSpPr txBox="1"/>
          <p:nvPr/>
        </p:nvSpPr>
        <p:spPr>
          <a:xfrm>
            <a:off x="822960" y="3910076"/>
            <a:ext cx="10545775" cy="624840"/>
          </a:xfrm>
          <a:prstGeom prst="rect">
            <a:avLst/>
          </a:prstGeom>
          <a:noFill/>
          <a:ln/>
        </p:spPr>
        <p:txBody>
          <a:bodyPr wrap="square" lIns="0" tIns="0" rIns="0" bIns="0" rtlCol="0" anchor="ctr"/>
          <a:lstStyle/>
          <a:p>
            <a:pPr indent="0" marL="0">
              <a:buNone/>
            </a:pPr>
            <a:r>
              <a:rPr lang="en-US" sz="1700" dirty="0">
                <a:solidFill>
                  <a:srgbClr val="2F7D62"/>
                </a:solidFill>
                <a:latin typeface="Courier New" pitchFamily="34" charset="0"/>
                <a:ea typeface="Courier New" pitchFamily="34" charset="-122"/>
                <a:cs typeface="Courier New" pitchFamily="34" charset="-120"/>
              </a:rPr>
              <a:t>axis=0</a:t>
            </a:r>
            <a:pPr indent="0" marL="0">
              <a:buNone/>
            </a:pPr>
            <a:r>
              <a:rPr lang="en-US" sz="1700" dirty="0">
                <a:solidFill>
                  <a:srgbClr val="1F3A5F"/>
                </a:solidFill>
                <a:latin typeface="Calibri" pitchFamily="34" charset="0"/>
                <a:ea typeface="Calibri" pitchFamily="34" charset="-122"/>
                <a:cs typeface="Calibri" pitchFamily="34" charset="-120"/>
              </a:rPr>
              <a:t> : un résultat par colonne. </a:t>
            </a:r>
            <a:pPr indent="0" marL="0">
              <a:buNone/>
            </a:pPr>
            <a:r>
              <a:rPr lang="en-US" sz="1700" dirty="0">
                <a:solidFill>
                  <a:srgbClr val="2F7D62"/>
                </a:solidFill>
                <a:latin typeface="Courier New" pitchFamily="34" charset="0"/>
                <a:ea typeface="Courier New" pitchFamily="34" charset="-122"/>
                <a:cs typeface="Courier New" pitchFamily="34" charset="-120"/>
              </a:rPr>
              <a:t>axis=1</a:t>
            </a:r>
            <a:pPr indent="0" marL="0">
              <a:buNone/>
            </a:pPr>
            <a:r>
              <a:rPr lang="en-US" sz="1700" dirty="0">
                <a:solidFill>
                  <a:srgbClr val="1F3A5F"/>
                </a:solidFill>
                <a:latin typeface="Calibri" pitchFamily="34" charset="0"/>
                <a:ea typeface="Calibri" pitchFamily="34" charset="-122"/>
                <a:cs typeface="Calibri" pitchFamily="34" charset="-120"/>
              </a:rPr>
              <a:t> : un résultat par ligne. Même paramètre avec pandas.</a:t>
            </a:r>
            <a:endParaRPr lang="en-US" sz="1700" dirty="0"/>
          </a:p>
        </p:txBody>
      </p:sp>
      <p:sp>
        <p:nvSpPr>
          <p:cNvPr id="15"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LES BASES DE NUMPY</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TP1, partie 2</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numpy, dans le notebook </a:t>
            </a:r>
            <a:pPr indent="0" marL="0">
              <a:buNone/>
            </a:pPr>
            <a:r>
              <a:rPr lang="en-US" sz="1800" dirty="0">
                <a:solidFill>
                  <a:srgbClr val="1F3A5F"/>
                </a:solidFill>
                <a:latin typeface="Courier New" pitchFamily="34" charset="0"/>
                <a:ea typeface="Courier New" pitchFamily="34" charset="-122"/>
                <a:cs typeface="Courier New" pitchFamily="34" charset="-120"/>
              </a:rPr>
              <a:t>tp01.ipynb</a:t>
            </a:r>
            <a:endParaRPr lang="en-US" sz="18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liste ou tableau : le même opérateur, deux résultats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2.2 et 2.3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créer un tableau, accéder aux éléments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2.4 à 2.6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calculer et filtrer sans boucle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2.7 et 2.8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deux dimensions, tirage aléatoire avec une seed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05</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Introduction à pandas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Series   |   DataFrame   |   Index</a:t>
            </a:r>
            <a:endParaRPr lang="en-US"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INTRODUCTION À PANDAS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La Series : des valeurs et un index</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Un tableau à une dimension dont chaque valeur porte un label : l'index.</a:t>
            </a:r>
            <a:endParaRPr lang="en-US" sz="1800" dirty="0"/>
          </a:p>
        </p:txBody>
      </p:sp>
      <p:sp>
        <p:nvSpPr>
          <p:cNvPr id="7" name="Shape 5"/>
          <p:cNvSpPr/>
          <p:nvPr/>
        </p:nvSpPr>
        <p:spPr>
          <a:xfrm>
            <a:off x="548640" y="2011680"/>
            <a:ext cx="6382329" cy="2765298"/>
          </a:xfrm>
          <a:prstGeom prst="rect">
            <a:avLst/>
          </a:prstGeom>
          <a:solidFill>
            <a:srgbClr val="F3F4F6"/>
          </a:solidFill>
          <a:ln/>
        </p:spPr>
      </p:sp>
      <p:sp>
        <p:nvSpPr>
          <p:cNvPr id="8" name="Text 6"/>
          <p:cNvSpPr txBox="1"/>
          <p:nvPr/>
        </p:nvSpPr>
        <p:spPr>
          <a:xfrm>
            <a:off x="731520" y="2157984"/>
            <a:ext cx="6016569" cy="247269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import pandas as pd</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temperatures = pd.Series(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[12.5, 14.0, 9.8, 16.2, 11.1],</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index=["lundi", "mardi", "mercredi",</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"jeudi", "vendredi"],</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name="temperature",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temperatures.loc["mardi"]   # par label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temperatures.iloc[1]        # par position</a:t>
            </a:r>
            <a:endParaRPr lang="en-US" sz="15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388169" y="2011680"/>
          <a:ext cx="4254886" cy="914400"/>
        </p:xfrm>
        <a:graphic>
          <a:graphicData uri="http://schemas.openxmlformats.org/drawingml/2006/table">
            <a:tbl>
              <a:tblPr/>
              <a:tblGrid>
                <a:gridCol w="2127443"/>
                <a:gridCol w="2127443"/>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index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temperature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lundi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12.5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mardi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14.0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mercredi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9.8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jeudi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16.2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vendredi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11.1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10" name="Shape 7"/>
          <p:cNvSpPr/>
          <p:nvPr/>
        </p:nvSpPr>
        <p:spPr>
          <a:xfrm>
            <a:off x="7388169" y="4523994"/>
            <a:ext cx="4254886" cy="742188"/>
          </a:xfrm>
          <a:prstGeom prst="rect">
            <a:avLst/>
          </a:prstGeom>
          <a:solidFill>
            <a:srgbClr val="F3F4F6"/>
          </a:solidFill>
          <a:ln/>
        </p:spPr>
      </p:sp>
      <p:sp>
        <p:nvSpPr>
          <p:cNvPr id="11" name="Text 8"/>
          <p:cNvSpPr txBox="1"/>
          <p:nvPr/>
        </p:nvSpPr>
        <p:spPr>
          <a:xfrm>
            <a:off x="7571049" y="4670298"/>
            <a:ext cx="3889126" cy="44958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temperatures.mean()     # 12.72</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temperatures.idxmax()   # 'jeudi'</a:t>
            </a:r>
            <a:endParaRPr lang="en-US" sz="1500" dirty="0"/>
          </a:p>
        </p:txBody>
      </p:sp>
      <p:sp>
        <p:nvSpPr>
          <p:cNvPr id="12"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INTRODUCTION À PANDAS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Les calculs s'alignent sur l'index</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L'addition associe les mêmes labels</a:t>
            </a:r>
            <a:endParaRPr lang="en-US" sz="1700" dirty="0"/>
          </a:p>
        </p:txBody>
      </p:sp>
      <p:sp>
        <p:nvSpPr>
          <p:cNvPr id="7" name="Shape 5"/>
          <p:cNvSpPr/>
          <p:nvPr/>
        </p:nvSpPr>
        <p:spPr>
          <a:xfrm>
            <a:off x="548640" y="1828800"/>
            <a:ext cx="5318608" cy="1551432"/>
          </a:xfrm>
          <a:prstGeom prst="rect">
            <a:avLst/>
          </a:prstGeom>
          <a:solidFill>
            <a:srgbClr val="F3F4F6"/>
          </a:solidFill>
          <a:ln/>
        </p:spPr>
      </p:sp>
      <p:sp>
        <p:nvSpPr>
          <p:cNvPr id="8" name="Text 6"/>
          <p:cNvSpPr txBox="1"/>
          <p:nvPr/>
        </p:nvSpPr>
        <p:spPr>
          <a:xfrm>
            <a:off x="731520" y="1975104"/>
            <a:ext cx="4952848" cy="1258824"/>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ventes_lundi = pd.Series({"clavier": 3, "souris": 5})</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ventes_mardi = pd.Series({"souris": 2, "écran": 1})</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ventes_lundi + ventes_mardi</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clavier    NaN</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souris     7.0</a:t>
            </a:r>
            <a:endParaRPr lang="en-US" sz="1200" dirty="0"/>
          </a:p>
          <a:p>
            <a:pPr indent="0" marL="0">
              <a:lnSpc>
                <a:spcPct val="100000"/>
              </a:lnSpc>
              <a:buNone/>
            </a:pPr>
            <a:r>
              <a:rPr lang="en-US" sz="1200" dirty="0">
                <a:solidFill>
                  <a:srgbClr val="6B7280"/>
                </a:solidFill>
                <a:latin typeface="Courier New" pitchFamily="34" charset="0"/>
                <a:ea typeface="Courier New" pitchFamily="34" charset="-122"/>
                <a:cs typeface="Courier New" pitchFamily="34" charset="-120"/>
              </a:rPr>
              <a:t># écran      NaN</a:t>
            </a:r>
            <a:endParaRPr lang="en-US" sz="1200" dirty="0"/>
          </a:p>
        </p:txBody>
      </p:sp>
      <p:sp>
        <p:nvSpPr>
          <p:cNvPr id="9" name="Text 7"/>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Un label absent compte pour 0</a:t>
            </a:r>
            <a:endParaRPr lang="en-US" sz="1700" dirty="0"/>
          </a:p>
        </p:txBody>
      </p:sp>
      <p:sp>
        <p:nvSpPr>
          <p:cNvPr id="10" name="Shape 8"/>
          <p:cNvSpPr/>
          <p:nvPr/>
        </p:nvSpPr>
        <p:spPr>
          <a:xfrm>
            <a:off x="6324448" y="1828800"/>
            <a:ext cx="5318608" cy="1131824"/>
          </a:xfrm>
          <a:prstGeom prst="rect">
            <a:avLst/>
          </a:prstGeom>
          <a:solidFill>
            <a:srgbClr val="F3F4F6"/>
          </a:solidFill>
          <a:ln/>
        </p:spPr>
      </p:sp>
      <p:sp>
        <p:nvSpPr>
          <p:cNvPr id="11" name="Text 9"/>
          <p:cNvSpPr txBox="1"/>
          <p:nvPr/>
        </p:nvSpPr>
        <p:spPr>
          <a:xfrm>
            <a:off x="6507328" y="1975104"/>
            <a:ext cx="4952848" cy="83921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ventes_lundi.add(ventes_mardi, fill_value=0)</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clavier    3.0</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souris     7.0</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écran      1.0</a:t>
            </a:r>
            <a:endParaRPr lang="en-US" sz="1400" dirty="0"/>
          </a:p>
        </p:txBody>
      </p:sp>
      <p:sp>
        <p:nvSpPr>
          <p:cNvPr id="12" name="Text 10"/>
          <p:cNvSpPr txBox="1"/>
          <p:nvPr/>
        </p:nvSpPr>
        <p:spPr>
          <a:xfrm>
            <a:off x="6324448" y="3280664"/>
            <a:ext cx="531860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Les méthodes </a:t>
            </a:r>
            <a:pPr indent="0" marL="0">
              <a:buNone/>
            </a:pPr>
            <a:r>
              <a:rPr lang="en-US" sz="1600" dirty="0">
                <a:solidFill>
                  <a:srgbClr val="1F3A5F"/>
                </a:solidFill>
                <a:latin typeface="Courier New" pitchFamily="34" charset="0"/>
                <a:ea typeface="Courier New" pitchFamily="34" charset="-122"/>
                <a:cs typeface="Courier New" pitchFamily="34" charset="-120"/>
              </a:rPr>
              <a:t>sub</a:t>
            </a:r>
            <a:pPr indent="0" marL="0">
              <a:buNone/>
            </a:pPr>
            <a:r>
              <a:rPr lang="en-US" sz="1600" dirty="0">
                <a:solidFill>
                  <a:srgbClr val="6B7280"/>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mul</a:t>
            </a:r>
            <a:pPr indent="0" marL="0">
              <a:buNone/>
            </a:pPr>
            <a:r>
              <a:rPr lang="en-US" sz="1600" dirty="0">
                <a:solidFill>
                  <a:srgbClr val="6B7280"/>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div</a:t>
            </a:r>
            <a:pPr indent="0" marL="0">
              <a:buNone/>
            </a:pPr>
            <a:r>
              <a:rPr lang="en-US" sz="1600" dirty="0">
                <a:solidFill>
                  <a:srgbClr val="6B7280"/>
                </a:solidFill>
                <a:latin typeface="Calibri" pitchFamily="34" charset="0"/>
                <a:ea typeface="Calibri" pitchFamily="34" charset="-122"/>
                <a:cs typeface="Calibri" pitchFamily="34" charset="-120"/>
              </a:rPr>
              <a:t> fonctionnent de la même façon.</a:t>
            </a:r>
            <a:endParaRPr lang="en-US" sz="1600" dirty="0"/>
          </a:p>
        </p:txBody>
      </p:sp>
      <p:sp>
        <p:nvSpPr>
          <p:cNvPr id="13" name="Shape 11"/>
          <p:cNvSpPr/>
          <p:nvPr/>
        </p:nvSpPr>
        <p:spPr>
          <a:xfrm>
            <a:off x="548640" y="4225544"/>
            <a:ext cx="11094415" cy="883920"/>
          </a:xfrm>
          <a:prstGeom prst="roundRect">
            <a:avLst>
              <a:gd name="adj" fmla="val 6207"/>
            </a:avLst>
          </a:prstGeom>
          <a:solidFill>
            <a:srgbClr val="E8F3EE"/>
          </a:solidFill>
          <a:ln/>
        </p:spPr>
      </p:sp>
      <p:sp>
        <p:nvSpPr>
          <p:cNvPr id="14" name="Text 12"/>
          <p:cNvSpPr txBox="1"/>
          <p:nvPr/>
        </p:nvSpPr>
        <p:spPr>
          <a:xfrm>
            <a:off x="822960" y="4225544"/>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pandas calcule sur les valeurs qui portent </a:t>
            </a:r>
            <a:pPr indent="0" marL="0">
              <a:buNone/>
            </a:pPr>
            <a:r>
              <a:rPr lang="en-US" sz="1700" b="1" dirty="0">
                <a:solidFill>
                  <a:srgbClr val="1F3A5F"/>
                </a:solidFill>
                <a:latin typeface="Calibri" pitchFamily="34" charset="0"/>
                <a:ea typeface="Calibri" pitchFamily="34" charset="-122"/>
                <a:cs typeface="Calibri" pitchFamily="34" charset="-120"/>
              </a:rPr>
              <a:t>le même label</a:t>
            </a:r>
            <a:pPr indent="0" marL="0">
              <a:buNone/>
            </a:pPr>
            <a:r>
              <a:rPr lang="en-US" sz="1700" dirty="0">
                <a:solidFill>
                  <a:srgbClr val="1F3A5F"/>
                </a:solidFill>
                <a:latin typeface="Calibri" pitchFamily="34" charset="0"/>
                <a:ea typeface="Calibri" pitchFamily="34" charset="-122"/>
                <a:cs typeface="Calibri" pitchFamily="34" charset="-120"/>
              </a:rPr>
              <a:t>, pas sur celles qui sont à la même position. </a:t>
            </a:r>
            <a:pPr indent="0" marL="0">
              <a:buNone/>
            </a:pPr>
            <a:r>
              <a:rPr lang="en-US" sz="1700" dirty="0">
                <a:solidFill>
                  <a:srgbClr val="2F7D62"/>
                </a:solidFill>
                <a:latin typeface="Courier New" pitchFamily="34" charset="0"/>
                <a:ea typeface="Courier New" pitchFamily="34" charset="-122"/>
                <a:cs typeface="Courier New" pitchFamily="34" charset="-120"/>
              </a:rPr>
              <a:t>NaN</a:t>
            </a:r>
            <a:pPr indent="0" marL="0">
              <a:buNone/>
            </a:pPr>
            <a:r>
              <a:rPr lang="en-US" sz="1700" dirty="0">
                <a:solidFill>
                  <a:srgbClr val="1F3A5F"/>
                </a:solidFill>
                <a:latin typeface="Calibri" pitchFamily="34" charset="0"/>
                <a:ea typeface="Calibri" pitchFamily="34" charset="-122"/>
                <a:cs typeface="Calibri" pitchFamily="34" charset="-120"/>
              </a:rPr>
              <a:t> (Not a Number) signale une valeur manquante.</a:t>
            </a:r>
            <a:endParaRPr lang="en-US" sz="1700" dirty="0"/>
          </a:p>
        </p:txBody>
      </p:sp>
      <p:sp>
        <p:nvSpPr>
          <p:cNvPr id="15" name="Text 13"/>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INTRODUCTION À PANDAS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DataFrame : un tableau de Series</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802117" cy="914400"/>
        </p:xfrm>
        <a:graphic>
          <a:graphicData uri="http://schemas.openxmlformats.org/drawingml/2006/table">
            <a:tbl>
              <a:tblPr/>
              <a:tblGrid>
                <a:gridCol w="1450529"/>
                <a:gridCol w="1450529"/>
                <a:gridCol w="1450529"/>
                <a:gridCol w="145052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index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produit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prix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quantite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clavier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45.0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souris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19.9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écran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189.0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198876"/>
            <a:ext cx="5802117" cy="5943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L'index identifie les lignes, les noms de colonnes identifient les Series.</a:t>
            </a:r>
            <a:endParaRPr lang="en-US" sz="1500" dirty="0"/>
          </a:p>
        </p:txBody>
      </p:sp>
      <p:sp>
        <p:nvSpPr>
          <p:cNvPr id="8" name="Text 5"/>
          <p:cNvSpPr txBox="1"/>
          <p:nvPr/>
        </p:nvSpPr>
        <p:spPr>
          <a:xfrm>
            <a:off x="6807957" y="1417320"/>
            <a:ext cx="4835098" cy="257048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Un tableau à deux dimensions : lignes et colonnes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Chaque colonne est une </a:t>
            </a:r>
            <a:pPr indent="0" marL="0">
              <a:buNone/>
            </a:pPr>
            <a:r>
              <a:rPr lang="en-US" sz="1700" b="1" dirty="0">
                <a:solidFill>
                  <a:srgbClr val="1F2933"/>
                </a:solidFill>
                <a:latin typeface="Calibri" pitchFamily="34" charset="0"/>
                <a:ea typeface="Calibri" pitchFamily="34" charset="-122"/>
                <a:cs typeface="Calibri" pitchFamily="34" charset="-120"/>
              </a:rPr>
              <a:t>Series</a:t>
            </a:r>
            <a:pPr indent="0" marL="0">
              <a:buNone/>
            </a:pPr>
            <a:r>
              <a:rPr lang="en-US" sz="1700" dirty="0">
                <a:solidFill>
                  <a:srgbClr val="1F2933"/>
                </a:solidFill>
                <a:latin typeface="Calibri" pitchFamily="34" charset="0"/>
                <a:ea typeface="Calibri" pitchFamily="34" charset="-122"/>
                <a:cs typeface="Calibri" pitchFamily="34" charset="-120"/>
              </a:rPr>
              <a:t>, avec son propre type</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Toutes les colonnes partagent le </a:t>
            </a:r>
            <a:pPr indent="0" marL="0">
              <a:buNone/>
            </a:pPr>
            <a:r>
              <a:rPr lang="en-US" sz="1700" b="1" dirty="0">
                <a:solidFill>
                  <a:srgbClr val="1F2933"/>
                </a:solidFill>
                <a:latin typeface="Calibri" pitchFamily="34" charset="0"/>
                <a:ea typeface="Calibri" pitchFamily="34" charset="-122"/>
                <a:cs typeface="Calibri" pitchFamily="34" charset="-120"/>
              </a:rPr>
              <a:t>même index</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Par défaut, l'index est numérique et commence à 0</a:t>
            </a:r>
            <a:endParaRPr lang="en-US" sz="1700" dirty="0"/>
          </a:p>
        </p:txBody>
      </p:sp>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INTRODUCTION À PANDAS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Créer et parcourir un DataFrame</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À partir d'un dictionnaire de listes</a:t>
            </a:r>
            <a:endParaRPr lang="en-US" sz="1700" dirty="0"/>
          </a:p>
        </p:txBody>
      </p:sp>
      <p:sp>
        <p:nvSpPr>
          <p:cNvPr id="7" name="Shape 5"/>
          <p:cNvSpPr/>
          <p:nvPr/>
        </p:nvSpPr>
        <p:spPr>
          <a:xfrm>
            <a:off x="548640" y="1828800"/>
            <a:ext cx="5318608" cy="1341628"/>
          </a:xfrm>
          <a:prstGeom prst="rect">
            <a:avLst/>
          </a:prstGeom>
          <a:solidFill>
            <a:srgbClr val="F3F4F6"/>
          </a:solidFill>
          <a:ln/>
        </p:spPr>
      </p:sp>
      <p:sp>
        <p:nvSpPr>
          <p:cNvPr id="8" name="Text 6"/>
          <p:cNvSpPr txBox="1"/>
          <p:nvPr/>
        </p:nvSpPr>
        <p:spPr>
          <a:xfrm>
            <a:off x="731520" y="1975104"/>
            <a:ext cx="4952848" cy="1049020"/>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 = pd.DataFrame({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"produit": ["clavier", "souris", "écran"],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"prix": [45.0, 19.9, 189.0],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"quantite": [3, 10, 1],</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t>
            </a:r>
            <a:endParaRPr lang="en-US" sz="1400" dirty="0"/>
          </a:p>
        </p:txBody>
      </p:sp>
      <p:sp>
        <p:nvSpPr>
          <p:cNvPr id="9" name="Text 7"/>
          <p:cNvSpPr txBox="1"/>
          <p:nvPr/>
        </p:nvSpPr>
        <p:spPr>
          <a:xfrm>
            <a:off x="548640" y="3490468"/>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Ou d'une liste de dictionnaires</a:t>
            </a:r>
            <a:endParaRPr lang="en-US" sz="1700" dirty="0"/>
          </a:p>
        </p:txBody>
      </p:sp>
      <p:sp>
        <p:nvSpPr>
          <p:cNvPr id="10" name="Shape 8"/>
          <p:cNvSpPr/>
          <p:nvPr/>
        </p:nvSpPr>
        <p:spPr>
          <a:xfrm>
            <a:off x="548640" y="3901948"/>
            <a:ext cx="5318608" cy="1131824"/>
          </a:xfrm>
          <a:prstGeom prst="rect">
            <a:avLst/>
          </a:prstGeom>
          <a:solidFill>
            <a:srgbClr val="F3F4F6"/>
          </a:solidFill>
          <a:ln/>
        </p:spPr>
      </p:sp>
      <p:sp>
        <p:nvSpPr>
          <p:cNvPr id="11" name="Text 9"/>
          <p:cNvSpPr txBox="1"/>
          <p:nvPr/>
        </p:nvSpPr>
        <p:spPr>
          <a:xfrm>
            <a:off x="731520" y="4048252"/>
            <a:ext cx="4952848" cy="83921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pd.DataFrame([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{"produit": "clavier", "quantite": 3},</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{"produit": "souris"},   # quantite : NaN</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a:t>
            </a:r>
            <a:endParaRPr lang="en-US" sz="1400" dirty="0"/>
          </a:p>
        </p:txBody>
      </p:sp>
      <p:sp>
        <p:nvSpPr>
          <p:cNvPr id="12" name="Text 10"/>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Premiers accès</a:t>
            </a:r>
            <a:endParaRPr lang="en-US" sz="1700" dirty="0"/>
          </a:p>
        </p:txBody>
      </p:sp>
      <p:sp>
        <p:nvSpPr>
          <p:cNvPr id="13" name="Shape 11"/>
          <p:cNvSpPr/>
          <p:nvPr/>
        </p:nvSpPr>
        <p:spPr>
          <a:xfrm>
            <a:off x="6324448" y="1828800"/>
            <a:ext cx="5318608" cy="1866138"/>
          </a:xfrm>
          <a:prstGeom prst="rect">
            <a:avLst/>
          </a:prstGeom>
          <a:solidFill>
            <a:srgbClr val="F3F4F6"/>
          </a:solidFill>
          <a:ln/>
        </p:spPr>
      </p:sp>
      <p:sp>
        <p:nvSpPr>
          <p:cNvPr id="14" name="Text 12"/>
          <p:cNvSpPr txBox="1"/>
          <p:nvPr/>
        </p:nvSpPr>
        <p:spPr>
          <a:xfrm>
            <a:off x="6507328" y="1975104"/>
            <a:ext cx="4952848" cy="157353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df["prix"]                # Series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df[["produit", "prix"]]   # DataFrame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df.columns</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df.index</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df["montant"] = df["prix"] * df["quantite"]</a:t>
            </a:r>
            <a:endParaRPr lang="en-US" sz="1500" dirty="0"/>
          </a:p>
        </p:txBody>
      </p:sp>
      <p:sp>
        <p:nvSpPr>
          <p:cNvPr id="15" name="Shape 13"/>
          <p:cNvSpPr/>
          <p:nvPr/>
        </p:nvSpPr>
        <p:spPr>
          <a:xfrm>
            <a:off x="6324448" y="4014978"/>
            <a:ext cx="5318608" cy="883920"/>
          </a:xfrm>
          <a:prstGeom prst="roundRect">
            <a:avLst>
              <a:gd name="adj" fmla="val 6207"/>
            </a:avLst>
          </a:prstGeom>
          <a:solidFill>
            <a:srgbClr val="E8F3EE"/>
          </a:solidFill>
          <a:ln/>
        </p:spPr>
      </p:sp>
      <p:sp>
        <p:nvSpPr>
          <p:cNvPr id="16" name="Text 14"/>
          <p:cNvSpPr txBox="1"/>
          <p:nvPr/>
        </p:nvSpPr>
        <p:spPr>
          <a:xfrm>
            <a:off x="6598768" y="4014978"/>
            <a:ext cx="4769968" cy="883920"/>
          </a:xfrm>
          <a:prstGeom prst="rect">
            <a:avLst/>
          </a:prstGeom>
          <a:noFill/>
          <a:ln/>
        </p:spPr>
        <p:txBody>
          <a:bodyPr wrap="square" lIns="0" tIns="0" rIns="0" bIns="0" rtlCol="0" anchor="ctr"/>
          <a:lstStyle/>
          <a:p>
            <a:pPr indent="0" marL="0">
              <a:buNone/>
            </a:pPr>
            <a:r>
              <a:rPr lang="en-US" sz="1700" dirty="0">
                <a:solidFill>
                  <a:srgbClr val="2F7D62"/>
                </a:solidFill>
                <a:latin typeface="Courier New" pitchFamily="34" charset="0"/>
                <a:ea typeface="Courier New" pitchFamily="34" charset="-122"/>
                <a:cs typeface="Courier New" pitchFamily="34" charset="-120"/>
              </a:rPr>
              <a:t>df["prix"]</a:t>
            </a:r>
            <a:pPr indent="0" marL="0">
              <a:buNone/>
            </a:pPr>
            <a:r>
              <a:rPr lang="en-US" sz="1700" dirty="0">
                <a:solidFill>
                  <a:srgbClr val="1F3A5F"/>
                </a:solidFill>
                <a:latin typeface="Calibri" pitchFamily="34" charset="0"/>
                <a:ea typeface="Calibri" pitchFamily="34" charset="-122"/>
                <a:cs typeface="Calibri" pitchFamily="34" charset="-120"/>
              </a:rPr>
              <a:t> renvoie une Series, </a:t>
            </a:r>
            <a:pPr indent="0" marL="0">
              <a:buNone/>
            </a:pPr>
            <a:r>
              <a:rPr lang="en-US" sz="1700" dirty="0">
                <a:solidFill>
                  <a:srgbClr val="2F7D62"/>
                </a:solidFill>
                <a:latin typeface="Courier New" pitchFamily="34" charset="0"/>
                <a:ea typeface="Courier New" pitchFamily="34" charset="-122"/>
                <a:cs typeface="Courier New" pitchFamily="34" charset="-120"/>
              </a:rPr>
              <a:t>df[["prix"]]</a:t>
            </a:r>
            <a:pPr indent="0" marL="0">
              <a:buNone/>
            </a:pPr>
            <a:r>
              <a:rPr lang="en-US" sz="1700" dirty="0">
                <a:solidFill>
                  <a:srgbClr val="1F3A5F"/>
                </a:solidFill>
                <a:latin typeface="Calibri" pitchFamily="34" charset="0"/>
                <a:ea typeface="Calibri" pitchFamily="34" charset="-122"/>
                <a:cs typeface="Calibri" pitchFamily="34" charset="-120"/>
              </a:rPr>
              <a:t> renvoie un DataFrame d'une seule colonne.</a:t>
            </a:r>
            <a:endParaRPr lang="en-US" sz="1700" dirty="0"/>
          </a:p>
        </p:txBody>
      </p:sp>
      <p:sp>
        <p:nvSpPr>
          <p:cNvPr id="17" name="Text 1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INTRODUCTION À PANDAS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 DataFrame à partir d'un tableau numpy</a:t>
            </a:r>
            <a:endParaRPr lang="en-US" sz="3000" dirty="0"/>
          </a:p>
        </p:txBody>
      </p:sp>
      <p:sp>
        <p:nvSpPr>
          <p:cNvPr id="6" name="Shape 4"/>
          <p:cNvSpPr/>
          <p:nvPr/>
        </p:nvSpPr>
        <p:spPr>
          <a:xfrm>
            <a:off x="548640" y="1417320"/>
            <a:ext cx="5802117" cy="2315718"/>
          </a:xfrm>
          <a:prstGeom prst="rect">
            <a:avLst/>
          </a:prstGeom>
          <a:solidFill>
            <a:srgbClr val="F3F4F6"/>
          </a:solidFill>
          <a:ln/>
        </p:spPr>
      </p:sp>
      <p:sp>
        <p:nvSpPr>
          <p:cNvPr id="7" name="Text 5"/>
          <p:cNvSpPr txBox="1"/>
          <p:nvPr/>
        </p:nvSpPr>
        <p:spPr>
          <a:xfrm>
            <a:off x="731520" y="1563624"/>
            <a:ext cx="5436357"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rng = np.random.default_rng(1)</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visites = pd.DataFrame(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rng.integers(0, 100, size=(4, 3)),</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columns=["lundi", "mardi", "mercredi"],</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index=["A", "B", "C", "D"],</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visites.sum()          # un total par colonne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visites.sum(axis=1)    # un total par ligne</a:t>
            </a:r>
            <a:endParaRPr lang="en-US" sz="15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807957" y="1417320"/>
          <a:ext cx="4835098" cy="914400"/>
        </p:xfrm>
        <a:graphic>
          <a:graphicData uri="http://schemas.openxmlformats.org/drawingml/2006/table">
            <a:tbl>
              <a:tblPr/>
              <a:tblGrid>
                <a:gridCol w="1208774"/>
                <a:gridCol w="1208774"/>
                <a:gridCol w="1208774"/>
                <a:gridCol w="1208774"/>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lundi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mardi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mercredi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A</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51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75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B</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95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C</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82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94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D</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31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86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42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9" name="Text 6"/>
          <p:cNvSpPr txBox="1"/>
          <p:nvPr/>
        </p:nvSpPr>
        <p:spPr>
          <a:xfrm>
            <a:off x="6807957" y="3564255"/>
            <a:ext cx="4835098" cy="62484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columns</a:t>
            </a:r>
            <a:pPr indent="0" marL="0">
              <a:buNone/>
            </a:pPr>
            <a:r>
              <a:rPr lang="en-US" sz="1600" dirty="0">
                <a:solidFill>
                  <a:srgbClr val="6B7280"/>
                </a:solidFill>
                <a:latin typeface="Calibri" pitchFamily="34" charset="0"/>
                <a:ea typeface="Calibri" pitchFamily="34" charset="-122"/>
                <a:cs typeface="Calibri" pitchFamily="34" charset="-120"/>
              </a:rPr>
              <a:t> nomme les colonnes, </a:t>
            </a:r>
            <a:pPr indent="0" marL="0">
              <a:buNone/>
            </a:pPr>
            <a:r>
              <a:rPr lang="en-US" sz="1600" dirty="0">
                <a:solidFill>
                  <a:srgbClr val="1F3A5F"/>
                </a:solidFill>
                <a:latin typeface="Courier New" pitchFamily="34" charset="0"/>
                <a:ea typeface="Courier New" pitchFamily="34" charset="-122"/>
                <a:cs typeface="Courier New" pitchFamily="34" charset="-120"/>
              </a:rPr>
              <a:t>index</a:t>
            </a:r>
            <a:pPr indent="0" marL="0">
              <a:buNone/>
            </a:pPr>
            <a:r>
              <a:rPr lang="en-US" sz="1600" dirty="0">
                <a:solidFill>
                  <a:srgbClr val="6B7280"/>
                </a:solidFill>
                <a:latin typeface="Calibri" pitchFamily="34" charset="0"/>
                <a:ea typeface="Calibri" pitchFamily="34" charset="-122"/>
                <a:cs typeface="Calibri" pitchFamily="34" charset="-120"/>
              </a:rPr>
              <a:t> les lignes. </a:t>
            </a:r>
            <a:pPr indent="0" marL="0">
              <a:buNone/>
            </a:pPr>
            <a:r>
              <a:rPr lang="en-US" sz="1600" dirty="0">
                <a:solidFill>
                  <a:srgbClr val="1F3A5F"/>
                </a:solidFill>
                <a:latin typeface="Courier New" pitchFamily="34" charset="0"/>
                <a:ea typeface="Courier New" pitchFamily="34" charset="-122"/>
                <a:cs typeface="Courier New" pitchFamily="34" charset="-120"/>
              </a:rPr>
              <a:t>axis</a:t>
            </a:r>
            <a:pPr indent="0" marL="0">
              <a:buNone/>
            </a:pPr>
            <a:r>
              <a:rPr lang="en-US" sz="1600" dirty="0">
                <a:solidFill>
                  <a:srgbClr val="6B7280"/>
                </a:solidFill>
                <a:latin typeface="Calibri" pitchFamily="34" charset="0"/>
                <a:ea typeface="Calibri" pitchFamily="34" charset="-122"/>
                <a:cs typeface="Calibri" pitchFamily="34" charset="-120"/>
              </a:rPr>
              <a:t> fonctionne comme avec numpy.</a:t>
            </a:r>
            <a:endParaRPr lang="en-US" sz="16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INTRODUCTION À PANDAS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Listes, dictionnaires, Series et DataFrame</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179260"/>
                <a:gridCol w="1981146"/>
                <a:gridCol w="1981146"/>
                <a:gridCol w="2377375"/>
                <a:gridCol w="257548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Liste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Dictionnaire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Series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DataFrame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Dimensions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1</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84454">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Accès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par position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par clé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par label et par position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par colonne, par ligne, ou les deux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Types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mélangés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mélangés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type par Series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un type par colonne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Calcul vectorisé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oui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oui, par colonne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b="1" dirty="0">
                          <a:solidFill>
                            <a:srgbClr val="1F2933"/>
                          </a:solidFill>
                          <a:latin typeface="Calibri" pitchFamily="34" charset="0"/>
                          <a:ea typeface="Calibri" pitchFamily="34" charset="-122"/>
                          <a:cs typeface="Calibri" pitchFamily="34" charset="-120"/>
                        </a:rPr>
                        <a:t>Valeurs manquantes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non prévu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non prévu</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NaN</a:t>
                      </a:r>
                      <a:pPr indent="0" marL="0">
                        <a:buNone/>
                      </a:pPr>
                      <a:r>
                        <a:rPr lang="en-US" sz="1500" dirty="0">
                          <a:solidFill>
                            <a:srgbClr val="1F2933"/>
                          </a:solidFill>
                          <a:latin typeface="Calibri" pitchFamily="34" charset="0"/>
                          <a:ea typeface="Calibri" pitchFamily="34" charset="-122"/>
                          <a:cs typeface="Calibri" pitchFamily="34" charset="-120"/>
                        </a:rPr>
                        <a:t> géré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NaN</a:t>
                      </a:r>
                      <a:pPr indent="0" marL="0">
                        <a:buNone/>
                      </a:pPr>
                      <a:r>
                        <a:rPr lang="en-US" sz="1500" dirty="0">
                          <a:solidFill>
                            <a:srgbClr val="1F2933"/>
                          </a:solidFill>
                          <a:latin typeface="Calibri" pitchFamily="34" charset="0"/>
                          <a:ea typeface="Calibri" pitchFamily="34" charset="-122"/>
                          <a:cs typeface="Calibri" pitchFamily="34" charset="-120"/>
                        </a:rPr>
                        <a:t> géré</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148709"/>
            <a:ext cx="11094415" cy="883920"/>
          </a:xfrm>
          <a:prstGeom prst="roundRect">
            <a:avLst>
              <a:gd name="adj" fmla="val 6207"/>
            </a:avLst>
          </a:prstGeom>
          <a:solidFill>
            <a:srgbClr val="E8F3EE"/>
          </a:solidFill>
          <a:ln/>
        </p:spPr>
      </p:sp>
      <p:sp>
        <p:nvSpPr>
          <p:cNvPr id="8" name="Text 5"/>
          <p:cNvSpPr txBox="1"/>
          <p:nvPr/>
        </p:nvSpPr>
        <p:spPr>
          <a:xfrm>
            <a:off x="822960" y="4148709"/>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Une Series ressemble à un dictionnaire ordonné sur lequel on calcule comme avec numpy. Un DataFrame ressemble à un dictionnaire de Series qui partagent le même index.</a:t>
            </a:r>
            <a:endParaRPr lang="en-US" sz="1700" dirty="0"/>
          </a:p>
        </p:txBody>
      </p:sp>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INTRODUCTION À PANDAS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TP1, partie 3</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Series et DataFrame, dans le notebook </a:t>
            </a:r>
            <a:pPr indent="0" marL="0">
              <a:buNone/>
            </a:pPr>
            <a:r>
              <a:rPr lang="en-US" sz="1800" dirty="0">
                <a:solidFill>
                  <a:srgbClr val="1F3A5F"/>
                </a:solidFill>
                <a:latin typeface="Courier New" pitchFamily="34" charset="0"/>
                <a:ea typeface="Courier New" pitchFamily="34" charset="-122"/>
                <a:cs typeface="Courier New" pitchFamily="34" charset="-120"/>
              </a:rPr>
              <a:t>tp01.ipynb</a:t>
            </a:r>
            <a:endParaRPr lang="en-US" sz="1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3.1 à 3.3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créer une Series, </a:t>
                      </a:r>
                      <a:pPr indent="0" marL="0">
                        <a:buNone/>
                      </a:pPr>
                      <a:r>
                        <a:rPr lang="en-US" sz="1600" dirty="0">
                          <a:solidFill>
                            <a:srgbClr val="1F3A5F"/>
                          </a:solidFill>
                          <a:latin typeface="Courier New" pitchFamily="34" charset="0"/>
                          <a:ea typeface="Courier New" pitchFamily="34" charset="-122"/>
                          <a:cs typeface="Courier New" pitchFamily="34" charset="-120"/>
                        </a:rPr>
                        <a:t>loc</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iloc</a:t>
                      </a:r>
                      <a:pPr indent="0" marL="0">
                        <a:buNone/>
                      </a:pPr>
                      <a:r>
                        <a:rPr lang="en-US" sz="1600" dirty="0">
                          <a:solidFill>
                            <a:srgbClr val="1F2933"/>
                          </a:solidFill>
                          <a:latin typeface="Calibri" pitchFamily="34" charset="0"/>
                          <a:ea typeface="Calibri" pitchFamily="34" charset="-122"/>
                          <a:cs typeface="Calibri" pitchFamily="34" charset="-120"/>
                        </a:rPr>
                        <a:t>, moyenne, </a:t>
                      </a:r>
                      <a:pPr indent="0" marL="0">
                        <a:buNone/>
                      </a:pPr>
                      <a:r>
                        <a:rPr lang="en-US" sz="1600" dirty="0">
                          <a:solidFill>
                            <a:srgbClr val="1F3A5F"/>
                          </a:solidFill>
                          <a:latin typeface="Courier New" pitchFamily="34" charset="0"/>
                          <a:ea typeface="Courier New" pitchFamily="34" charset="-122"/>
                          <a:cs typeface="Courier New" pitchFamily="34" charset="-120"/>
                        </a:rPr>
                        <a:t>idxmax</a:t>
                      </a:r>
                      <a:pPr indent="0" marL="0">
                        <a:buNone/>
                      </a:pPr>
                      <a:r>
                        <a:rPr lang="en-US" sz="1600" dirty="0">
                          <a:solidFill>
                            <a:srgbClr val="1F2933"/>
                          </a:solidFill>
                          <a:latin typeface="Calibri" pitchFamily="34" charset="0"/>
                          <a:ea typeface="Calibri" pitchFamily="34" charset="-122"/>
                          <a:cs typeface="Calibri" pitchFamily="34" charset="-120"/>
                        </a:rPr>
                        <a:t>, filtre booléen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3.4</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additionner deux Series, puis </a:t>
                      </a:r>
                      <a:pPr indent="0" marL="0">
                        <a:buNone/>
                      </a:pPr>
                      <a:r>
                        <a:rPr lang="en-US" sz="1600" dirty="0">
                          <a:solidFill>
                            <a:srgbClr val="1F3A5F"/>
                          </a:solidFill>
                          <a:latin typeface="Courier New" pitchFamily="34" charset="0"/>
                          <a:ea typeface="Courier New" pitchFamily="34" charset="-122"/>
                          <a:cs typeface="Courier New" pitchFamily="34" charset="-120"/>
                        </a:rPr>
                        <a:t>add</a:t>
                      </a:r>
                      <a:pPr indent="0" marL="0">
                        <a:buNone/>
                      </a:pPr>
                      <a:r>
                        <a:rPr lang="en-US" sz="1600" dirty="0">
                          <a:solidFill>
                            <a:srgbClr val="1F2933"/>
                          </a:solidFill>
                          <a:latin typeface="Calibri" pitchFamily="34" charset="0"/>
                          <a:ea typeface="Calibri" pitchFamily="34" charset="-122"/>
                          <a:cs typeface="Calibri" pitchFamily="34" charset="-120"/>
                        </a:rPr>
                        <a:t> avec </a:t>
                      </a:r>
                      <a:pPr indent="0" marL="0">
                        <a:buNone/>
                      </a:pPr>
                      <a:r>
                        <a:rPr lang="en-US" sz="1600" dirty="0">
                          <a:solidFill>
                            <a:srgbClr val="1F3A5F"/>
                          </a:solidFill>
                          <a:latin typeface="Courier New" pitchFamily="34" charset="0"/>
                          <a:ea typeface="Courier New" pitchFamily="34" charset="-122"/>
                          <a:cs typeface="Courier New" pitchFamily="34" charset="-120"/>
                        </a:rPr>
                        <a:t>fill_value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3.5 à 3.7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créer un DataFrame, calculer des colonnes, Series ou DataFrame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3.8 et 3.9</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un DataFrame depuis une liste de dictionnaires, puis depuis un tableau numpy</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Text 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06</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Lire et écrire des fichiers</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CSV   |   Excel   |   Parquet</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LIRE ET ÉCRIRE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Lire un CSV avec read_csv</a:t>
            </a:r>
            <a:endParaRPr lang="en-US" sz="3000" dirty="0"/>
          </a:p>
        </p:txBody>
      </p:sp>
      <p:sp>
        <p:nvSpPr>
          <p:cNvPr id="6" name="Shape 4"/>
          <p:cNvSpPr/>
          <p:nvPr/>
        </p:nvSpPr>
        <p:spPr>
          <a:xfrm>
            <a:off x="548640" y="1417320"/>
            <a:ext cx="4254886" cy="502412"/>
          </a:xfrm>
          <a:prstGeom prst="rect">
            <a:avLst/>
          </a:prstGeom>
          <a:solidFill>
            <a:srgbClr val="F3F4F6"/>
          </a:solidFill>
          <a:ln/>
        </p:spPr>
      </p:sp>
      <p:sp>
        <p:nvSpPr>
          <p:cNvPr id="7" name="Text 5"/>
          <p:cNvSpPr txBox="1"/>
          <p:nvPr/>
        </p:nvSpPr>
        <p:spPr>
          <a:xfrm>
            <a:off x="731520" y="1563624"/>
            <a:ext cx="3889126" cy="209804"/>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 = pd.read_csv("data/ventes.csv")</a:t>
            </a:r>
            <a:endParaRPr lang="en-US" sz="1400" dirty="0"/>
          </a:p>
        </p:txBody>
      </p:sp>
      <p:sp>
        <p:nvSpPr>
          <p:cNvPr id="8" name="Text 6"/>
          <p:cNvSpPr txBox="1"/>
          <p:nvPr/>
        </p:nvSpPr>
        <p:spPr>
          <a:xfrm>
            <a:off x="548640" y="2239772"/>
            <a:ext cx="4254886" cy="1859280"/>
          </a:xfrm>
          <a:prstGeom prst="rect">
            <a:avLst/>
          </a:prstGeom>
          <a:noFill/>
          <a:ln/>
        </p:spPr>
        <p:txBody>
          <a:bodyPr wrap="square" lIns="0" tIns="0" rIns="0" bIns="0" rtlCol="0" anchor="t"/>
          <a:lstStyle/>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Le chemin est relatif au dossier de lancement de Jupyter</a:t>
            </a:r>
            <a:endParaRPr lang="en-US" sz="1600" dirty="0"/>
          </a:p>
          <a:p>
            <a:pPr marL="254000" indent="-254000">
              <a:spcAft>
                <a:spcPts val="800"/>
              </a:spcAft>
              <a:buSzPct val="100000"/>
              <a:buChar char="•"/>
            </a:pPr>
            <a:r>
              <a:rPr lang="en-US" sz="1600" dirty="0">
                <a:solidFill>
                  <a:srgbClr val="1F3A5F"/>
                </a:solidFill>
                <a:latin typeface="Courier New" pitchFamily="34" charset="0"/>
                <a:ea typeface="Courier New" pitchFamily="34" charset="-122"/>
                <a:cs typeface="Courier New" pitchFamily="34" charset="-120"/>
              </a:rPr>
              <a:t>FileNotFoundError</a:t>
            </a:r>
            <a:pPr indent="0" marL="0">
              <a:buNone/>
            </a:pPr>
            <a:r>
              <a:rPr lang="en-US" sz="1600" dirty="0">
                <a:solidFill>
                  <a:srgbClr val="1F2933"/>
                </a:solidFill>
                <a:latin typeface="Calibri" pitchFamily="34" charset="0"/>
                <a:ea typeface="Calibri" pitchFamily="34" charset="-122"/>
                <a:cs typeface="Calibri" pitchFamily="34" charset="-120"/>
              </a:rPr>
              <a:t> : vérifier d'abord ce dossier</a:t>
            </a:r>
            <a:endParaRPr lang="en-US" sz="1600" dirty="0"/>
          </a:p>
          <a:p>
            <a:pPr marL="254000" indent="-254000">
              <a:spcAft>
                <a:spcPts val="800"/>
              </a:spcAft>
              <a:buSzPct val="100000"/>
              <a:buChar char="•"/>
            </a:pPr>
            <a:r>
              <a:rPr lang="en-US" sz="1600" dirty="0">
                <a:solidFill>
                  <a:srgbClr val="1F2933"/>
                </a:solidFill>
                <a:latin typeface="Calibri" pitchFamily="34" charset="0"/>
                <a:ea typeface="Calibri" pitchFamily="34" charset="-122"/>
                <a:cs typeface="Calibri" pitchFamily="34" charset="-120"/>
              </a:rPr>
              <a:t>Une option pour presque chaque particularité du fichier</a:t>
            </a:r>
            <a:endParaRPr lang="en-US" sz="1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260726" y="1417320"/>
          <a:ext cx="6382329" cy="914400"/>
        </p:xfrm>
        <a:graphic>
          <a:graphicData uri="http://schemas.openxmlformats.org/drawingml/2006/table">
            <a:tbl>
              <a:tblPr/>
              <a:tblGrid>
                <a:gridCol w="2127443"/>
                <a:gridCol w="4254886"/>
              </a:tblGrid>
              <a:tr h="336169">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Option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Exemple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sep</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sep=";"</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decimal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decimal=","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encoding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encoding="cp1252"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usecols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usecols=["date", "prix"]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dtype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dtype={"code_postal": str}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parse_dates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parse_dates=["date"]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index_col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index_col="id_commande"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na_values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na_values=["", "N/A",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nrows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nrows=1000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36169">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skiprows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300" dirty="0">
                          <a:solidFill>
                            <a:srgbClr val="1F3A5F"/>
                          </a:solidFill>
                          <a:latin typeface="Courier New" pitchFamily="34" charset="0"/>
                          <a:ea typeface="Courier New" pitchFamily="34" charset="-122"/>
                          <a:cs typeface="Courier New" pitchFamily="34" charset="-120"/>
                        </a:rPr>
                        <a:t>skiprows=2</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LIRE ET ÉCRIRE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Le cas du CSV exporté depuis Excel</a:t>
            </a:r>
            <a:endParaRPr lang="en-US" sz="3000" dirty="0"/>
          </a:p>
        </p:txBody>
      </p:sp>
      <p:sp>
        <p:nvSpPr>
          <p:cNvPr id="6" name="Shape 4"/>
          <p:cNvSpPr/>
          <p:nvPr/>
        </p:nvSpPr>
        <p:spPr>
          <a:xfrm>
            <a:off x="548640" y="1417320"/>
            <a:ext cx="4835098" cy="1641348"/>
          </a:xfrm>
          <a:prstGeom prst="rect">
            <a:avLst/>
          </a:prstGeom>
          <a:solidFill>
            <a:srgbClr val="F3F4F6"/>
          </a:solidFill>
          <a:ln/>
        </p:spPr>
      </p:sp>
      <p:sp>
        <p:nvSpPr>
          <p:cNvPr id="7" name="Text 5"/>
          <p:cNvSpPr txBox="1"/>
          <p:nvPr/>
        </p:nvSpPr>
        <p:spPr>
          <a:xfrm>
            <a:off x="731520" y="1563624"/>
            <a:ext cx="4469338" cy="134874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 = pd.read_csv(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"data/export_excel.csv",</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sep=";",</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decimal=",",</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encoding="cp1252",</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840938" y="1417320"/>
          <a:ext cx="5802117" cy="914400"/>
        </p:xfrm>
        <a:graphic>
          <a:graphicData uri="http://schemas.openxmlformats.org/drawingml/2006/table">
            <a:tbl>
              <a:tblPr/>
              <a:tblGrid>
                <a:gridCol w="3868078"/>
                <a:gridCol w="1934039"/>
              </a:tblGrid>
              <a:tr h="350774">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Symptôme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Option à ajuster</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Une seule colonne, avec tous les en-têtes collés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sep</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Des nombres lus comme du texte : </a:t>
                      </a:r>
                      <a:pPr indent="0" marL="0">
                        <a:buNone/>
                      </a:pPr>
                      <a:r>
                        <a:rPr lang="en-US" sz="1400" dirty="0">
                          <a:solidFill>
                            <a:srgbClr val="1F3A5F"/>
                          </a:solidFill>
                          <a:latin typeface="Courier New" pitchFamily="34" charset="0"/>
                          <a:ea typeface="Courier New" pitchFamily="34" charset="-122"/>
                          <a:cs typeface="Courier New" pitchFamily="34" charset="-120"/>
                        </a:rPr>
                        <a:t>"420,5"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decimal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55524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Une </a:t>
                      </a:r>
                      <a:pPr indent="0" marL="0">
                        <a:buNone/>
                      </a:pPr>
                      <a:r>
                        <a:rPr lang="en-US" sz="1400" dirty="0">
                          <a:solidFill>
                            <a:srgbClr val="1F3A5F"/>
                          </a:solidFill>
                          <a:latin typeface="Courier New" pitchFamily="34" charset="0"/>
                          <a:ea typeface="Courier New" pitchFamily="34" charset="-122"/>
                          <a:cs typeface="Courier New" pitchFamily="34" charset="-120"/>
                        </a:rPr>
                        <a:t>UnicodeDecodeError</a:t>
                      </a:r>
                      <a:pPr indent="0" marL="0">
                        <a:buNone/>
                      </a:pPr>
                      <a:r>
                        <a:rPr lang="en-US" sz="1400" dirty="0">
                          <a:solidFill>
                            <a:srgbClr val="1F2933"/>
                          </a:solidFill>
                          <a:latin typeface="Calibri" pitchFamily="34" charset="0"/>
                          <a:ea typeface="Calibri" pitchFamily="34" charset="-122"/>
                          <a:cs typeface="Calibri" pitchFamily="34" charset="-120"/>
                        </a:rPr>
                        <a:t>, ou des accents illisibles comme </a:t>
                      </a:r>
                      <a:pPr indent="0" marL="0">
                        <a:buNone/>
                      </a:pPr>
                      <a:r>
                        <a:rPr lang="en-US" sz="1400" dirty="0">
                          <a:solidFill>
                            <a:srgbClr val="1F3A5F"/>
                          </a:solidFill>
                          <a:latin typeface="Courier New" pitchFamily="34" charset="0"/>
                          <a:ea typeface="Courier New" pitchFamily="34" charset="-122"/>
                          <a:cs typeface="Courier New" pitchFamily="34" charset="-120"/>
                        </a:rPr>
                        <a:t>Ã©</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encoding</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Des zéros perdus : </a:t>
                      </a:r>
                      <a:pPr indent="0" marL="0">
                        <a:buNone/>
                      </a:pPr>
                      <a:r>
                        <a:rPr lang="en-US" sz="1400" dirty="0">
                          <a:solidFill>
                            <a:srgbClr val="1F3A5F"/>
                          </a:solidFill>
                          <a:latin typeface="Courier New" pitchFamily="34" charset="0"/>
                          <a:ea typeface="Courier New" pitchFamily="34" charset="-122"/>
                          <a:cs typeface="Courier New" pitchFamily="34" charset="-120"/>
                        </a:rPr>
                        <a:t>01000</a:t>
                      </a:r>
                      <a:pPr indent="0" marL="0">
                        <a:buNone/>
                      </a:pPr>
                      <a:r>
                        <a:rPr lang="en-US" sz="1400" dirty="0">
                          <a:solidFill>
                            <a:srgbClr val="1F2933"/>
                          </a:solidFill>
                          <a:latin typeface="Calibri" pitchFamily="34" charset="0"/>
                          <a:ea typeface="Calibri" pitchFamily="34" charset="-122"/>
                          <a:cs typeface="Calibri" pitchFamily="34" charset="-120"/>
                        </a:rPr>
                        <a:t> devient </a:t>
                      </a:r>
                      <a:pPr indent="0" marL="0">
                        <a:buNone/>
                      </a:pPr>
                      <a:r>
                        <a:rPr lang="en-US" sz="1400" dirty="0">
                          <a:solidFill>
                            <a:srgbClr val="1F3A5F"/>
                          </a:solidFill>
                          <a:latin typeface="Courier New" pitchFamily="34" charset="0"/>
                          <a:ea typeface="Courier New" pitchFamily="34" charset="-122"/>
                          <a:cs typeface="Courier New" pitchFamily="34" charset="-120"/>
                        </a:rPr>
                        <a:t>1000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dtype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50774">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Des dates lues comme du texte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3A5F"/>
                          </a:solidFill>
                          <a:latin typeface="Courier New" pitchFamily="34" charset="0"/>
                          <a:ea typeface="Courier New" pitchFamily="34" charset="-122"/>
                          <a:cs typeface="Courier New" pitchFamily="34" charset="-120"/>
                        </a:rPr>
                        <a:t>parse_dates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LIRE ET ÉCRIRE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Écrire un CSV, lire et écrire de l'Excel</a:t>
            </a:r>
            <a:endParaRPr lang="en-US" sz="3000" dirty="0"/>
          </a:p>
        </p:txBody>
      </p:sp>
      <p:sp>
        <p:nvSpPr>
          <p:cNvPr id="6" name="Text 4"/>
          <p:cNvSpPr txBox="1"/>
          <p:nvPr/>
        </p:nvSpPr>
        <p:spPr>
          <a:xfrm>
            <a:off x="548640"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CSV</a:t>
            </a:r>
            <a:endParaRPr lang="en-US" sz="1700" dirty="0"/>
          </a:p>
        </p:txBody>
      </p:sp>
      <p:sp>
        <p:nvSpPr>
          <p:cNvPr id="7" name="Shape 5"/>
          <p:cNvSpPr/>
          <p:nvPr/>
        </p:nvSpPr>
        <p:spPr>
          <a:xfrm>
            <a:off x="548640" y="1828800"/>
            <a:ext cx="5318608" cy="487426"/>
          </a:xfrm>
          <a:prstGeom prst="rect">
            <a:avLst/>
          </a:prstGeom>
          <a:solidFill>
            <a:srgbClr val="F3F4F6"/>
          </a:solidFill>
          <a:ln/>
        </p:spPr>
      </p:sp>
      <p:sp>
        <p:nvSpPr>
          <p:cNvPr id="8" name="Text 6"/>
          <p:cNvSpPr txBox="1"/>
          <p:nvPr/>
        </p:nvSpPr>
        <p:spPr>
          <a:xfrm>
            <a:off x="731520" y="1975104"/>
            <a:ext cx="4952848" cy="194818"/>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df.to_csv("data/ventes_export.csv", index=False)</a:t>
            </a:r>
            <a:endParaRPr lang="en-US" sz="1300" dirty="0"/>
          </a:p>
        </p:txBody>
      </p:sp>
      <p:sp>
        <p:nvSpPr>
          <p:cNvPr id="9" name="Text 7"/>
          <p:cNvSpPr txBox="1"/>
          <p:nvPr/>
        </p:nvSpPr>
        <p:spPr>
          <a:xfrm>
            <a:off x="548640" y="2636266"/>
            <a:ext cx="531860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Sans </a:t>
            </a:r>
            <a:pPr indent="0" marL="0">
              <a:buNone/>
            </a:pPr>
            <a:r>
              <a:rPr lang="en-US" sz="1600" dirty="0">
                <a:solidFill>
                  <a:srgbClr val="1F3A5F"/>
                </a:solidFill>
                <a:latin typeface="Courier New" pitchFamily="34" charset="0"/>
                <a:ea typeface="Courier New" pitchFamily="34" charset="-122"/>
                <a:cs typeface="Courier New" pitchFamily="34" charset="-120"/>
              </a:rPr>
              <a:t>index=False</a:t>
            </a:r>
            <a:pPr indent="0" marL="0">
              <a:buNone/>
            </a:pPr>
            <a:r>
              <a:rPr lang="en-US" sz="1600" dirty="0">
                <a:solidFill>
                  <a:srgbClr val="6B7280"/>
                </a:solidFill>
                <a:latin typeface="Calibri" pitchFamily="34" charset="0"/>
                <a:ea typeface="Calibri" pitchFamily="34" charset="-122"/>
                <a:cs typeface="Calibri" pitchFamily="34" charset="-120"/>
              </a:rPr>
              <a:t>, l'index est écrit comme première colonne et revient à la relecture sous le nom </a:t>
            </a:r>
            <a:pPr indent="0" marL="0">
              <a:buNone/>
            </a:pPr>
            <a:r>
              <a:rPr lang="en-US" sz="1600" dirty="0">
                <a:solidFill>
                  <a:srgbClr val="1F3A5F"/>
                </a:solidFill>
                <a:latin typeface="Courier New" pitchFamily="34" charset="0"/>
                <a:ea typeface="Courier New" pitchFamily="34" charset="-122"/>
                <a:cs typeface="Courier New" pitchFamily="34" charset="-120"/>
              </a:rPr>
              <a:t>Unnamed: 0</a:t>
            </a:r>
            <a:pPr indent="0" marL="0">
              <a:buNone/>
            </a:pPr>
            <a:r>
              <a:rPr lang="en-US" sz="1600" dirty="0">
                <a:solidFill>
                  <a:srgbClr val="6B7280"/>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6324448" y="1417320"/>
            <a:ext cx="531860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Excel (nécessite openpyxl)</a:t>
            </a:r>
            <a:endParaRPr lang="en-US" sz="1700" dirty="0"/>
          </a:p>
        </p:txBody>
      </p:sp>
      <p:sp>
        <p:nvSpPr>
          <p:cNvPr id="11" name="Shape 9"/>
          <p:cNvSpPr/>
          <p:nvPr/>
        </p:nvSpPr>
        <p:spPr>
          <a:xfrm>
            <a:off x="6324448" y="1828800"/>
            <a:ext cx="5318608" cy="1731264"/>
          </a:xfrm>
          <a:prstGeom prst="rect">
            <a:avLst/>
          </a:prstGeom>
          <a:solidFill>
            <a:srgbClr val="F3F4F6"/>
          </a:solidFill>
          <a:ln/>
        </p:spPr>
      </p:sp>
      <p:sp>
        <p:nvSpPr>
          <p:cNvPr id="12" name="Text 10"/>
          <p:cNvSpPr txBox="1"/>
          <p:nvPr/>
        </p:nvSpPr>
        <p:spPr>
          <a:xfrm>
            <a:off x="6507328" y="1975104"/>
            <a:ext cx="4952848" cy="1438656"/>
          </a:xfrm>
          <a:prstGeom prst="rect">
            <a:avLst/>
          </a:prstGeom>
          <a:noFill/>
          <a:ln/>
        </p:spPr>
        <p:txBody>
          <a:bodyPr wrap="square" lIns="0" tIns="0" rIns="0" bIns="0" rtlCol="0" anchor="t"/>
          <a:lstStyle/>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pd.read_excel("data/ventes.xlsx", sheet_name="2025")</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pd.read_excel("data/ventes.xlsx", sheet_name=None)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df.to_excel("data/ventes.xlsx", index=False)</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with pd.ExcelWriter("data/rapport.xlsx") as w:</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df_2024.to_excel(w, sheet_name="2024")</a:t>
            </a:r>
            <a:endParaRPr lang="en-US" sz="1200" dirty="0"/>
          </a:p>
          <a:p>
            <a:pPr indent="0" marL="0">
              <a:lnSpc>
                <a:spcPct val="100000"/>
              </a:lnSpc>
              <a:buNone/>
            </a:pPr>
            <a:r>
              <a:rPr lang="en-US" sz="1200" dirty="0">
                <a:solidFill>
                  <a:srgbClr val="1F2933"/>
                </a:solidFill>
                <a:latin typeface="Courier New" pitchFamily="34" charset="0"/>
                <a:ea typeface="Courier New" pitchFamily="34" charset="-122"/>
                <a:cs typeface="Courier New" pitchFamily="34" charset="-120"/>
              </a:rPr>
              <a:t>    df_2025.to_excel(w, sheet_name="2025")</a:t>
            </a:r>
            <a:endParaRPr lang="en-US" sz="1200" dirty="0"/>
          </a:p>
        </p:txBody>
      </p:sp>
      <p:sp>
        <p:nvSpPr>
          <p:cNvPr id="13" name="Text 11"/>
          <p:cNvSpPr txBox="1"/>
          <p:nvPr/>
        </p:nvSpPr>
        <p:spPr>
          <a:xfrm>
            <a:off x="6324448" y="3880104"/>
            <a:ext cx="5318608" cy="624840"/>
          </a:xfrm>
          <a:prstGeom prst="rect">
            <a:avLst/>
          </a:prstGeom>
          <a:noFill/>
          <a:ln/>
        </p:spPr>
        <p:txBody>
          <a:bodyPr wrap="square" lIns="0" tIns="0" rIns="0" bIns="0" rtlCol="0" anchor="t"/>
          <a:lstStyle/>
          <a:p>
            <a:pPr indent="0" marL="0">
              <a:buNone/>
            </a:pPr>
            <a:r>
              <a:rPr lang="en-US" sz="1600" dirty="0">
                <a:solidFill>
                  <a:srgbClr val="1F3A5F"/>
                </a:solidFill>
                <a:latin typeface="Courier New" pitchFamily="34" charset="0"/>
                <a:ea typeface="Courier New" pitchFamily="34" charset="-122"/>
                <a:cs typeface="Courier New" pitchFamily="34" charset="-120"/>
              </a:rPr>
              <a:t>sheet_name=None</a:t>
            </a:r>
            <a:pPr indent="0" marL="0">
              <a:buNone/>
            </a:pPr>
            <a:r>
              <a:rPr lang="en-US" sz="1600" dirty="0">
                <a:solidFill>
                  <a:srgbClr val="6B7280"/>
                </a:solidFill>
                <a:latin typeface="Calibri" pitchFamily="34" charset="0"/>
                <a:ea typeface="Calibri" pitchFamily="34" charset="-122"/>
                <a:cs typeface="Calibri" pitchFamily="34" charset="-120"/>
              </a:rPr>
              <a:t> renvoie un dictionnaire : un DataFrame par feuille.</a:t>
            </a:r>
            <a:endParaRPr lang="en-US" sz="1600" dirty="0"/>
          </a:p>
        </p:txBody>
      </p:sp>
      <p:sp>
        <p:nvSpPr>
          <p:cNvPr id="14" name="Text 12"/>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LIRE ET ÉCRIRE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Parquet : le format de travail</a:t>
            </a:r>
            <a:endParaRPr lang="en-US" sz="3000" dirty="0"/>
          </a:p>
        </p:txBody>
      </p:sp>
      <p:sp>
        <p:nvSpPr>
          <p:cNvPr id="6" name="Text 4"/>
          <p:cNvSpPr txBox="1"/>
          <p:nvPr/>
        </p:nvSpPr>
        <p:spPr>
          <a:xfrm>
            <a:off x="548640" y="1417320"/>
            <a:ext cx="4835098" cy="256032"/>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Nécessite pyarrow</a:t>
            </a:r>
            <a:endParaRPr lang="en-US" sz="1200" dirty="0"/>
          </a:p>
        </p:txBody>
      </p:sp>
      <p:sp>
        <p:nvSpPr>
          <p:cNvPr id="7" name="Shape 5"/>
          <p:cNvSpPr/>
          <p:nvPr/>
        </p:nvSpPr>
        <p:spPr>
          <a:xfrm>
            <a:off x="548640" y="1709928"/>
            <a:ext cx="4835098" cy="2315718"/>
          </a:xfrm>
          <a:prstGeom prst="rect">
            <a:avLst/>
          </a:prstGeom>
          <a:solidFill>
            <a:srgbClr val="F3F4F6"/>
          </a:solidFill>
          <a:ln/>
        </p:spPr>
      </p:sp>
      <p:sp>
        <p:nvSpPr>
          <p:cNvPr id="8" name="Text 6"/>
          <p:cNvSpPr txBox="1"/>
          <p:nvPr/>
        </p:nvSpPr>
        <p:spPr>
          <a:xfrm>
            <a:off x="731520" y="1856232"/>
            <a:ext cx="4469338" cy="202311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df.to_parquet("data/ventes.parquet",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index=False)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pd.read_parquet("data/ventes.parquet")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pd.read_parquet(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"data/ventes.parquet",</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columns=["date", "region"],</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a:t>
            </a:r>
            <a:endParaRPr lang="en-US" sz="1500" dirty="0"/>
          </a:p>
        </p:txBody>
      </p:sp>
      <p:sp>
        <p:nvSpPr>
          <p:cNvPr id="9" name="Text 7"/>
          <p:cNvSpPr txBox="1"/>
          <p:nvPr/>
        </p:nvSpPr>
        <p:spPr>
          <a:xfrm>
            <a:off x="548640" y="4345686"/>
            <a:ext cx="4835098" cy="86868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Lecture rapide, colonne par colonne. En contrepartie, il ne s'ouvre ni dans un éditeur de texte ni dans Excel.</a:t>
            </a:r>
            <a:endParaRPr lang="en-US" sz="1600" dirty="0"/>
          </a:p>
        </p:txBody>
      </p:sp>
      <p:sp>
        <p:nvSpPr>
          <p:cNvPr id="10" name="Shape 8"/>
          <p:cNvSpPr/>
          <p:nvPr/>
        </p:nvSpPr>
        <p:spPr>
          <a:xfrm>
            <a:off x="5840938" y="1417320"/>
            <a:ext cx="5802117" cy="1859280"/>
          </a:xfrm>
          <a:prstGeom prst="roundRect">
            <a:avLst>
              <a:gd name="adj" fmla="val 3934"/>
            </a:avLst>
          </a:prstGeom>
          <a:solidFill>
            <a:srgbClr val="EEF3F7"/>
          </a:solidFill>
          <a:ln/>
        </p:spPr>
      </p:sp>
      <p:sp>
        <p:nvSpPr>
          <p:cNvPr id="11" name="Shape 9"/>
          <p:cNvSpPr/>
          <p:nvPr/>
        </p:nvSpPr>
        <p:spPr>
          <a:xfrm>
            <a:off x="6069538" y="1691640"/>
            <a:ext cx="402336" cy="402336"/>
          </a:xfrm>
          <a:prstGeom prst="ellipse">
            <a:avLst/>
          </a:prstGeom>
          <a:solidFill>
            <a:srgbClr val="2F7D62"/>
          </a:solidFill>
          <a:ln/>
        </p:spPr>
      </p:sp>
      <p:sp>
        <p:nvSpPr>
          <p:cNvPr id="12" name="Text 10"/>
          <p:cNvSpPr txBox="1"/>
          <p:nvPr/>
        </p:nvSpPr>
        <p:spPr>
          <a:xfrm>
            <a:off x="6069538" y="1691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1"/>
          <p:cNvSpPr txBox="1"/>
          <p:nvPr/>
        </p:nvSpPr>
        <p:spPr>
          <a:xfrm>
            <a:off x="6069538" y="2240280"/>
            <a:ext cx="5344917" cy="25908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Les types sont conservés</a:t>
            </a:r>
            <a:endParaRPr lang="en-US" sz="1700" dirty="0"/>
          </a:p>
        </p:txBody>
      </p:sp>
      <p:sp>
        <p:nvSpPr>
          <p:cNvPr id="14" name="Text 12"/>
          <p:cNvSpPr txBox="1"/>
          <p:nvPr/>
        </p:nvSpPr>
        <p:spPr>
          <a:xfrm>
            <a:off x="6069538" y="2590800"/>
            <a:ext cx="5344917" cy="5029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Une date reste une date, sans rien préciser à la relecture.</a:t>
            </a:r>
            <a:endParaRPr lang="en-US" sz="1500" dirty="0"/>
          </a:p>
        </p:txBody>
      </p:sp>
      <p:sp>
        <p:nvSpPr>
          <p:cNvPr id="15" name="Shape 13"/>
          <p:cNvSpPr/>
          <p:nvPr/>
        </p:nvSpPr>
        <p:spPr>
          <a:xfrm>
            <a:off x="5840938" y="3505200"/>
            <a:ext cx="5802117" cy="1859280"/>
          </a:xfrm>
          <a:prstGeom prst="roundRect">
            <a:avLst>
              <a:gd name="adj" fmla="val 3934"/>
            </a:avLst>
          </a:prstGeom>
          <a:solidFill>
            <a:srgbClr val="EEF3F7"/>
          </a:solidFill>
          <a:ln/>
        </p:spPr>
      </p:sp>
      <p:sp>
        <p:nvSpPr>
          <p:cNvPr id="16" name="Shape 14"/>
          <p:cNvSpPr/>
          <p:nvPr/>
        </p:nvSpPr>
        <p:spPr>
          <a:xfrm>
            <a:off x="6069538" y="3779520"/>
            <a:ext cx="402336" cy="402336"/>
          </a:xfrm>
          <a:prstGeom prst="ellipse">
            <a:avLst/>
          </a:prstGeom>
          <a:solidFill>
            <a:srgbClr val="2F7D62"/>
          </a:solidFill>
          <a:ln/>
        </p:spPr>
      </p:sp>
      <p:sp>
        <p:nvSpPr>
          <p:cNvPr id="17" name="Text 15"/>
          <p:cNvSpPr txBox="1"/>
          <p:nvPr/>
        </p:nvSpPr>
        <p:spPr>
          <a:xfrm>
            <a:off x="6069538" y="37795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6"/>
          <p:cNvSpPr txBox="1"/>
          <p:nvPr/>
        </p:nvSpPr>
        <p:spPr>
          <a:xfrm>
            <a:off x="6069538" y="4328160"/>
            <a:ext cx="5344917" cy="25908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Des fichiers compressés</a:t>
            </a:r>
            <a:endParaRPr lang="en-US" sz="1700" dirty="0"/>
          </a:p>
        </p:txBody>
      </p:sp>
      <p:sp>
        <p:nvSpPr>
          <p:cNvPr id="19" name="Text 17"/>
          <p:cNvSpPr txBox="1"/>
          <p:nvPr/>
        </p:nvSpPr>
        <p:spPr>
          <a:xfrm>
            <a:off x="6069538" y="4678680"/>
            <a:ext cx="5344917" cy="5029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Souvent plusieurs fois plus légers que le CSV équivalent.</a:t>
            </a:r>
            <a:endParaRPr lang="en-US" sz="1500" dirty="0"/>
          </a:p>
        </p:txBody>
      </p:sp>
      <p:sp>
        <p:nvSpPr>
          <p:cNvPr id="20" name="Text 1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LIRE ET ÉCRIRE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Quel format choisir ?</a:t>
            </a:r>
            <a:endParaRPr lang="en-US" sz="3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35666"/>
                <a:gridCol w="2919583"/>
                <a:gridCol w="2919583"/>
                <a:gridCol w="2919583"/>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CSV</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Excel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Parquet</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61366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Lisible par un humain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oui, éditeur de texte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oui, Excel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non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Types conservés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non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en partie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oui</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Taille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grande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moyenne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petite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Vitesse de lecture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moyenne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lente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rapide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61366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Usage type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EF3F7"/>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échange universel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échange avec les métiers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stockage et traitement internes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LIRE ET ÉCRIRE DES FICHIERS</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TP1, partie 4</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Lecture et écriture de fichiers, dans le notebook </a:t>
            </a:r>
            <a:pPr indent="0" marL="0">
              <a:buNone/>
            </a:pPr>
            <a:r>
              <a:rPr lang="en-US" sz="1800" dirty="0">
                <a:solidFill>
                  <a:srgbClr val="1F3A5F"/>
                </a:solidFill>
                <a:latin typeface="Courier New" pitchFamily="34" charset="0"/>
                <a:ea typeface="Courier New" pitchFamily="34" charset="-122"/>
                <a:cs typeface="Courier New" pitchFamily="34" charset="-120"/>
              </a:rPr>
              <a:t>tp01.ipynb</a:t>
            </a:r>
            <a:endParaRPr lang="en-US" sz="18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4.1 à 4.3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lire les ventes, convertir les dates, ne lire que certaines colonnes et lignes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4.4 et 4.5</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lire un export de tableur français : séparateur, décimale, codes postaux</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4.6 et 4.7</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écrire en CSV, Excel et Parquet, puis comparer les types à la relecture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3851656"/>
            <a:ext cx="11094415" cy="883920"/>
          </a:xfrm>
          <a:prstGeom prst="roundRect">
            <a:avLst>
              <a:gd name="adj" fmla="val 6207"/>
            </a:avLst>
          </a:prstGeom>
          <a:solidFill>
            <a:srgbClr val="E8F3EE"/>
          </a:solidFill>
          <a:ln/>
        </p:spPr>
      </p:sp>
      <p:sp>
        <p:nvSpPr>
          <p:cNvPr id="9" name="Text 6"/>
          <p:cNvSpPr txBox="1"/>
          <p:nvPr/>
        </p:nvSpPr>
        <p:spPr>
          <a:xfrm>
            <a:off x="822960" y="3851656"/>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Question 4.4 : lire d'abord le fichier sans option, observer le symptôme, puis choisir les options.</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731520" y="1737360"/>
            <a:ext cx="2743200" cy="1188720"/>
          </a:xfrm>
          <a:prstGeom prst="rect">
            <a:avLst/>
          </a:prstGeom>
          <a:noFill/>
          <a:ln/>
        </p:spPr>
        <p:txBody>
          <a:bodyPr wrap="square" lIns="0" tIns="0" rIns="0" bIns="0" rtlCol="0" anchor="ctr"/>
          <a:lstStyle/>
          <a:p>
            <a:pPr indent="0" marL="0">
              <a:buNone/>
            </a:pPr>
            <a:r>
              <a:rPr lang="en-US" sz="8000" b="1" dirty="0">
                <a:solidFill>
                  <a:srgbClr val="8FD1B5"/>
                </a:solidFill>
                <a:latin typeface="Cambria" pitchFamily="34" charset="0"/>
                <a:ea typeface="Cambria" pitchFamily="34" charset="-122"/>
                <a:cs typeface="Cambria" pitchFamily="34" charset="-120"/>
              </a:rPr>
              <a:t>07</a:t>
            </a:r>
            <a:endParaRPr lang="en-US" sz="8000" dirty="0"/>
          </a:p>
        </p:txBody>
      </p:sp>
      <p:sp>
        <p:nvSpPr>
          <p:cNvPr id="3" name="Text 1"/>
          <p:cNvSpPr txBox="1"/>
          <p:nvPr/>
        </p:nvSpPr>
        <p:spPr>
          <a:xfrm>
            <a:off x="731520" y="3017520"/>
            <a:ext cx="10515600" cy="82296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Première exploration</a:t>
            </a:r>
            <a:endParaRPr lang="en-US" sz="4000" dirty="0"/>
          </a:p>
        </p:txBody>
      </p:sp>
      <p:sp>
        <p:nvSpPr>
          <p:cNvPr id="4" name="Text 2"/>
          <p:cNvSpPr txBox="1"/>
          <p:nvPr/>
        </p:nvSpPr>
        <p:spPr>
          <a:xfrm>
            <a:off x="731520" y="3977640"/>
            <a:ext cx="10515600" cy="548640"/>
          </a:xfrm>
          <a:prstGeom prst="rect">
            <a:avLst/>
          </a:prstGeom>
          <a:noFill/>
          <a:ln/>
        </p:spPr>
        <p:txBody>
          <a:bodyPr wrap="square" lIns="0" tIns="0" rIns="0" bIns="0" rtlCol="0" anchor="t"/>
          <a:lstStyle/>
          <a:p>
            <a:pPr indent="0" marL="0">
              <a:buNone/>
            </a:pPr>
            <a:r>
              <a:rPr lang="en-US" sz="2000" dirty="0">
                <a:solidFill>
                  <a:srgbClr val="C9D6E3"/>
                </a:solidFill>
                <a:latin typeface="Calibri" pitchFamily="34" charset="0"/>
                <a:ea typeface="Calibri" pitchFamily="34" charset="-122"/>
                <a:cs typeface="Calibri" pitchFamily="34" charset="-120"/>
              </a:rPr>
              <a:t>shape   |   info   |   describe   |   value_counts   |   nunique</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PREMIÈRE EXPLORATION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Une commande pour chaque question</a:t>
            </a:r>
            <a:endParaRPr lang="en-US" sz="3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437766"/>
                <a:gridCol w="6656649"/>
              </a:tblGrid>
              <a:tr h="365379">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Commande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df.shape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combien de lignes et de colonnes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df.head(10)</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df.tail()</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à quoi ressemblent les premières et les dernières lignes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df.sample(5, random_state=0)</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et quelques lignes prises au hasard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df.dtypes</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df.info()</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quel type pour chaque colonne, combien de valeurs non nulles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df.describe()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quelles statistiques pour les colonnes numériques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df["col"].value_counts()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comment se répartissent les valeurs d'une colonne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df["col"].nunique()</a:t>
                      </a:r>
                      <a:pPr indent="0" marL="0">
                        <a:buNone/>
                      </a:pPr>
                      <a:r>
                        <a:rPr lang="en-US" sz="1500" dirty="0">
                          <a:solidFill>
                            <a:srgbClr val="1F2933"/>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df.nunique()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combien de valeurs distinctes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65379">
                <a:tc>
                  <a:txBody>
                    <a:bodyPr/>
                    <a:lstStyle/>
                    <a:p>
                      <a:pPr indent="0" marL="0">
                        <a:buNone/>
                      </a:pPr>
                      <a:r>
                        <a:rPr lang="en-US" sz="1500" dirty="0">
                          <a:solidFill>
                            <a:srgbClr val="1F3A5F"/>
                          </a:solidFill>
                          <a:latin typeface="Courier New" pitchFamily="34" charset="0"/>
                          <a:ea typeface="Courier New" pitchFamily="34" charset="-122"/>
                          <a:cs typeface="Courier New" pitchFamily="34" charset="-120"/>
                        </a:rPr>
                        <a:t>df.isna().sum()</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500" dirty="0">
                          <a:solidFill>
                            <a:srgbClr val="1F2933"/>
                          </a:solidFill>
                          <a:latin typeface="Calibri" pitchFamily="34" charset="0"/>
                          <a:ea typeface="Calibri" pitchFamily="34" charset="-122"/>
                          <a:cs typeface="Calibri" pitchFamily="34" charset="-120"/>
                        </a:rPr>
                        <a:t>combien de valeurs manquantes par colonne ?</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7" name="Text 4"/>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PREMIÈRE EXPLORATION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Lire le résultat de info()</a:t>
            </a:r>
            <a:endParaRPr lang="en-US" sz="3000" dirty="0"/>
          </a:p>
        </p:txBody>
      </p:sp>
      <p:sp>
        <p:nvSpPr>
          <p:cNvPr id="6" name="Shape 4"/>
          <p:cNvSpPr/>
          <p:nvPr/>
        </p:nvSpPr>
        <p:spPr>
          <a:xfrm>
            <a:off x="548640" y="1417320"/>
            <a:ext cx="5802117" cy="2630424"/>
          </a:xfrm>
          <a:prstGeom prst="rect">
            <a:avLst/>
          </a:prstGeom>
          <a:solidFill>
            <a:srgbClr val="FFFFFF"/>
          </a:solidFill>
          <a:ln w="12700">
            <a:solidFill>
              <a:srgbClr val="D5DCE3"/>
            </a:solidFill>
            <a:prstDash val="solid"/>
          </a:ln>
        </p:spPr>
      </p:sp>
      <p:sp>
        <p:nvSpPr>
          <p:cNvPr id="7" name="Text 5"/>
          <p:cNvSpPr txBox="1"/>
          <p:nvPr/>
        </p:nvSpPr>
        <p:spPr>
          <a:xfrm>
            <a:off x="731520" y="1563624"/>
            <a:ext cx="5436357" cy="2337816"/>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RangeIndex: 62 entries, 0 to 61</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Data columns (total 8 columns):</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  Column         Non-Null Count  Dtype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         --------------  -----</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0  id_commande    62 non-null     int64</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1  date           62 non-null     str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2  region         59 non-null     str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3  categorie      62 non-null     str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4  produit        62 non-null     str</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5  Prix unitaire  62 non-null     float64</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6  quantite       62 non-null     int64</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7  Client fidèle  62 non-null     bool</a:t>
            </a:r>
            <a:endParaRPr lang="en-US" sz="1300" dirty="0"/>
          </a:p>
        </p:txBody>
      </p:sp>
      <p:sp>
        <p:nvSpPr>
          <p:cNvPr id="8" name="Text 6"/>
          <p:cNvSpPr txBox="1"/>
          <p:nvPr/>
        </p:nvSpPr>
        <p:spPr>
          <a:xfrm>
            <a:off x="6807957" y="1417320"/>
            <a:ext cx="4835098" cy="365760"/>
          </a:xfrm>
          <a:prstGeom prst="rect">
            <a:avLst/>
          </a:prstGeom>
          <a:noFill/>
          <a:ln/>
        </p:spPr>
        <p:txBody>
          <a:bodyPr wrap="square" lIns="0" tIns="0" rIns="0" bIns="0" rtlCol="0" anchor="t"/>
          <a:lstStyle/>
          <a:p>
            <a:pPr indent="0" marL="0">
              <a:buNone/>
            </a:pPr>
            <a:r>
              <a:rPr lang="en-US" sz="1700" b="1" dirty="0">
                <a:solidFill>
                  <a:srgbClr val="1F3A5F"/>
                </a:solidFill>
                <a:latin typeface="Calibri" pitchFamily="34" charset="0"/>
                <a:ea typeface="Calibri" pitchFamily="34" charset="-122"/>
                <a:cs typeface="Calibri" pitchFamily="34" charset="-120"/>
              </a:rPr>
              <a:t>À lire en priorité</a:t>
            </a:r>
            <a:endParaRPr lang="en-US" sz="1700" dirty="0"/>
          </a:p>
        </p:txBody>
      </p:sp>
      <p:sp>
        <p:nvSpPr>
          <p:cNvPr id="9" name="Text 7"/>
          <p:cNvSpPr txBox="1"/>
          <p:nvPr/>
        </p:nvSpPr>
        <p:spPr>
          <a:xfrm>
            <a:off x="6807957" y="1828800"/>
            <a:ext cx="4835098" cy="2103120"/>
          </a:xfrm>
          <a:prstGeom prst="rect">
            <a:avLst/>
          </a:prstGeom>
          <a:noFill/>
          <a:ln/>
        </p:spPr>
        <p:txBody>
          <a:bodyPr wrap="square" lIns="0" tIns="0" rIns="0" bIns="0" rtlCol="0" anchor="t"/>
          <a:lstStyle/>
          <a:p>
            <a:pPr marL="254000" indent="-254000">
              <a:spcAft>
                <a:spcPts val="800"/>
              </a:spcAft>
              <a:buSzPct val="100000"/>
              <a:buChar char="•"/>
            </a:pPr>
            <a:r>
              <a:rPr lang="en-US" sz="1600" b="1" dirty="0">
                <a:solidFill>
                  <a:srgbClr val="1F2933"/>
                </a:solidFill>
                <a:latin typeface="Calibri" pitchFamily="34" charset="0"/>
                <a:ea typeface="Calibri" pitchFamily="34" charset="-122"/>
                <a:cs typeface="Calibri" pitchFamily="34" charset="-120"/>
              </a:rPr>
              <a:t>Les valeurs non nulles</a:t>
            </a:r>
            <a:pPr indent="0" marL="0">
              <a:buNone/>
            </a:pPr>
            <a:r>
              <a:rPr lang="en-US" sz="1600" dirty="0">
                <a:solidFill>
                  <a:srgbClr val="1F2933"/>
                </a:solidFill>
                <a:latin typeface="Calibri" pitchFamily="34" charset="0"/>
                <a:ea typeface="Calibri" pitchFamily="34" charset="-122"/>
                <a:cs typeface="Calibri" pitchFamily="34" charset="-120"/>
              </a:rPr>
              <a:t> : 59 sur 62 pour </a:t>
            </a:r>
            <a:pPr indent="0" marL="0">
              <a:buNone/>
            </a:pPr>
            <a:r>
              <a:rPr lang="en-US" sz="1600" dirty="0">
                <a:solidFill>
                  <a:srgbClr val="1F3A5F"/>
                </a:solidFill>
                <a:latin typeface="Courier New" pitchFamily="34" charset="0"/>
                <a:ea typeface="Courier New" pitchFamily="34" charset="-122"/>
                <a:cs typeface="Courier New" pitchFamily="34" charset="-120"/>
              </a:rPr>
              <a:t>region</a:t>
            </a:r>
            <a:pPr indent="0" marL="0">
              <a:buNone/>
            </a:pPr>
            <a:r>
              <a:rPr lang="en-US" sz="1600" dirty="0">
                <a:solidFill>
                  <a:srgbClr val="1F2933"/>
                </a:solidFill>
                <a:latin typeface="Calibri" pitchFamily="34" charset="0"/>
                <a:ea typeface="Calibri" pitchFamily="34" charset="-122"/>
                <a:cs typeface="Calibri" pitchFamily="34" charset="-120"/>
              </a:rPr>
              <a:t>, donc trois valeurs manquantes</a:t>
            </a:r>
            <a:endParaRPr lang="en-US" sz="1600" dirty="0"/>
          </a:p>
          <a:p>
            <a:pPr marL="254000" indent="-254000">
              <a:spcAft>
                <a:spcPts val="800"/>
              </a:spcAft>
              <a:buSzPct val="100000"/>
              <a:buChar char="•"/>
            </a:pPr>
            <a:r>
              <a:rPr lang="en-US" sz="1600" b="1" dirty="0">
                <a:solidFill>
                  <a:srgbClr val="1F2933"/>
                </a:solidFill>
                <a:latin typeface="Calibri" pitchFamily="34" charset="0"/>
                <a:ea typeface="Calibri" pitchFamily="34" charset="-122"/>
                <a:cs typeface="Calibri" pitchFamily="34" charset="-120"/>
              </a:rPr>
              <a:t>Les types</a:t>
            </a:r>
            <a:pPr indent="0" marL="0">
              <a:buNone/>
            </a:pPr>
            <a:r>
              <a:rPr lang="en-US" sz="1600" dirty="0">
                <a:solidFill>
                  <a:srgbClr val="1F2933"/>
                </a:solidFill>
                <a:latin typeface="Calibri" pitchFamily="34" charset="0"/>
                <a:ea typeface="Calibri" pitchFamily="34" charset="-122"/>
                <a:cs typeface="Calibri" pitchFamily="34" charset="-120"/>
              </a:rPr>
              <a:t> : </a:t>
            </a:r>
            <a:pPr indent="0" marL="0">
              <a:buNone/>
            </a:pPr>
            <a:r>
              <a:rPr lang="en-US" sz="1600" dirty="0">
                <a:solidFill>
                  <a:srgbClr val="1F3A5F"/>
                </a:solidFill>
                <a:latin typeface="Courier New" pitchFamily="34" charset="0"/>
                <a:ea typeface="Courier New" pitchFamily="34" charset="-122"/>
                <a:cs typeface="Courier New" pitchFamily="34" charset="-120"/>
              </a:rPr>
              <a:t>date</a:t>
            </a:r>
            <a:pPr indent="0" marL="0">
              <a:buNone/>
            </a:pPr>
            <a:r>
              <a:rPr lang="en-US" sz="1600" dirty="0">
                <a:solidFill>
                  <a:srgbClr val="1F2933"/>
                </a:solidFill>
                <a:latin typeface="Calibri" pitchFamily="34" charset="0"/>
                <a:ea typeface="Calibri" pitchFamily="34" charset="-122"/>
                <a:cs typeface="Calibri" pitchFamily="34" charset="-120"/>
              </a:rPr>
              <a:t> en </a:t>
            </a:r>
            <a:pPr indent="0" marL="0">
              <a:buNone/>
            </a:pPr>
            <a:r>
              <a:rPr lang="en-US" sz="1600" dirty="0">
                <a:solidFill>
                  <a:srgbClr val="1F3A5F"/>
                </a:solidFill>
                <a:latin typeface="Courier New" pitchFamily="34" charset="0"/>
                <a:ea typeface="Courier New" pitchFamily="34" charset="-122"/>
                <a:cs typeface="Courier New" pitchFamily="34" charset="-120"/>
              </a:rPr>
              <a:t>str</a:t>
            </a:r>
            <a:pPr indent="0" marL="0">
              <a:buNone/>
            </a:pPr>
            <a:r>
              <a:rPr lang="en-US" sz="1600" dirty="0">
                <a:solidFill>
                  <a:srgbClr val="1F2933"/>
                </a:solidFill>
                <a:latin typeface="Calibri" pitchFamily="34" charset="0"/>
                <a:ea typeface="Calibri" pitchFamily="34" charset="-122"/>
                <a:cs typeface="Calibri" pitchFamily="34" charset="-120"/>
              </a:rPr>
              <a:t> est du texte, pas une date. Il faudra la convertir</a:t>
            </a:r>
            <a:endParaRPr lang="en-US" sz="1600" dirty="0"/>
          </a:p>
          <a:p>
            <a:pPr marL="254000" indent="-254000">
              <a:spcAft>
                <a:spcPts val="800"/>
              </a:spcAft>
              <a:buSzPct val="100000"/>
              <a:buChar char="•"/>
            </a:pPr>
            <a:r>
              <a:rPr lang="en-US" sz="1600" b="1" dirty="0">
                <a:solidFill>
                  <a:srgbClr val="1F2933"/>
                </a:solidFill>
                <a:latin typeface="Calibri" pitchFamily="34" charset="0"/>
                <a:ea typeface="Calibri" pitchFamily="34" charset="-122"/>
                <a:cs typeface="Calibri" pitchFamily="34" charset="-120"/>
              </a:rPr>
              <a:t>Les noms de colonnes</a:t>
            </a:r>
            <a:pPr indent="0" marL="0">
              <a:buNone/>
            </a:pPr>
            <a:r>
              <a:rPr lang="en-US" sz="1600" dirty="0">
                <a:solidFill>
                  <a:srgbClr val="1F2933"/>
                </a:solidFill>
                <a:latin typeface="Calibri" pitchFamily="34" charset="0"/>
                <a:ea typeface="Calibri" pitchFamily="34" charset="-122"/>
                <a:cs typeface="Calibri" pitchFamily="34" charset="-120"/>
              </a:rPr>
              <a:t> : </a:t>
            </a:r>
            <a:pPr indent="0" marL="0">
              <a:buNone/>
            </a:pPr>
            <a:r>
              <a:rPr lang="en-US" sz="1600" dirty="0">
                <a:solidFill>
                  <a:srgbClr val="1F3A5F"/>
                </a:solidFill>
                <a:latin typeface="Courier New" pitchFamily="34" charset="0"/>
                <a:ea typeface="Courier New" pitchFamily="34" charset="-122"/>
                <a:cs typeface="Courier New" pitchFamily="34" charset="-120"/>
              </a:rPr>
              <a:t>Prix unitaire</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Client fidèle</a:t>
            </a:r>
            <a:pPr indent="0" marL="0">
              <a:buNone/>
            </a:pPr>
            <a:r>
              <a:rPr lang="en-US" sz="1600" dirty="0">
                <a:solidFill>
                  <a:srgbClr val="1F2933"/>
                </a:solidFill>
                <a:latin typeface="Calibri" pitchFamily="34" charset="0"/>
                <a:ea typeface="Calibri" pitchFamily="34" charset="-122"/>
                <a:cs typeface="Calibri" pitchFamily="34" charset="-120"/>
              </a:rPr>
              <a:t> ne suivent pas la convention des autres</a:t>
            </a:r>
            <a:endParaRPr lang="en-US" sz="1600" dirty="0"/>
          </a:p>
        </p:txBody>
      </p:sp>
      <p:sp>
        <p:nvSpPr>
          <p:cNvPr id="10" name="Text 8"/>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PREMIÈRE EXPLORATION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describe et les valeurs aberrantes</a:t>
            </a:r>
            <a:endParaRPr lang="en-US" sz="3000" dirty="0"/>
          </a:p>
        </p:txBody>
      </p:sp>
      <p:sp>
        <p:nvSpPr>
          <p:cNvPr id="6" name="Shape 4"/>
          <p:cNvSpPr/>
          <p:nvPr/>
        </p:nvSpPr>
        <p:spPr>
          <a:xfrm>
            <a:off x="548640" y="1417320"/>
            <a:ext cx="4835098" cy="1191768"/>
          </a:xfrm>
          <a:prstGeom prst="rect">
            <a:avLst/>
          </a:prstGeom>
          <a:solidFill>
            <a:srgbClr val="F3F4F6"/>
          </a:solidFill>
          <a:ln/>
        </p:spPr>
      </p:sp>
      <p:sp>
        <p:nvSpPr>
          <p:cNvPr id="7" name="Text 5"/>
          <p:cNvSpPr txBox="1"/>
          <p:nvPr/>
        </p:nvSpPr>
        <p:spPr>
          <a:xfrm>
            <a:off x="731520" y="1563624"/>
            <a:ext cx="4469338" cy="899160"/>
          </a:xfrm>
          <a:prstGeom prst="rect">
            <a:avLst/>
          </a:prstGeom>
          <a:noFill/>
          <a:ln/>
        </p:spPr>
        <p:txBody>
          <a:bodyPr wrap="square" lIns="0" tIns="0" rIns="0" bIns="0" rtlCol="0" anchor="t"/>
          <a:lstStyle/>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df.describe()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 </a:t>
            </a:r>
            <a:endParaRPr lang="en-US" sz="1500" dirty="0"/>
          </a:p>
          <a:p>
            <a:pPr indent="0" marL="0">
              <a:lnSpc>
                <a:spcPct val="100000"/>
              </a:lnSpc>
              <a:buNone/>
            </a:pPr>
            <a:r>
              <a:rPr lang="en-US" sz="1500" dirty="0">
                <a:solidFill>
                  <a:srgbClr val="6B7280"/>
                </a:solidFill>
                <a:latin typeface="Courier New" pitchFamily="34" charset="0"/>
                <a:ea typeface="Courier New" pitchFamily="34" charset="-122"/>
                <a:cs typeface="Courier New" pitchFamily="34" charset="-120"/>
              </a:rPr>
              <a:t># inclut aussi les colonnes texte</a:t>
            </a:r>
            <a:endParaRPr lang="en-US" sz="1500" dirty="0"/>
          </a:p>
          <a:p>
            <a:pPr indent="0" marL="0">
              <a:lnSpc>
                <a:spcPct val="100000"/>
              </a:lnSpc>
              <a:buNone/>
            </a:pPr>
            <a:r>
              <a:rPr lang="en-US" sz="1500" dirty="0">
                <a:solidFill>
                  <a:srgbClr val="1F2933"/>
                </a:solidFill>
                <a:latin typeface="Courier New" pitchFamily="34" charset="0"/>
                <a:ea typeface="Courier New" pitchFamily="34" charset="-122"/>
                <a:cs typeface="Courier New" pitchFamily="34" charset="-120"/>
              </a:rPr>
              <a:t>df.describe(include="all")</a:t>
            </a:r>
            <a:endParaRPr lang="en-US" sz="1500" dirty="0"/>
          </a:p>
        </p:txBody>
      </p:sp>
      <p:sp>
        <p:nvSpPr>
          <p:cNvPr id="8" name="Text 6"/>
          <p:cNvSpPr txBox="1"/>
          <p:nvPr/>
        </p:nvSpPr>
        <p:spPr>
          <a:xfrm>
            <a:off x="5840938" y="1417320"/>
            <a:ext cx="5802117" cy="2611120"/>
          </a:xfrm>
          <a:prstGeom prst="rect">
            <a:avLst/>
          </a:prstGeom>
          <a:noFill/>
          <a:ln/>
        </p:spPr>
        <p:txBody>
          <a:bodyPr wrap="square" lIns="0" tIns="0" rIns="0" bIns="0" rtlCol="0" anchor="t"/>
          <a:lstStyle/>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Pour chaque colonne numérique :</a:t>
            </a:r>
            <a:endParaRPr lang="en-US" sz="1700" dirty="0"/>
          </a:p>
          <a:p>
            <a:pPr lvl="1" marL="457200" indent="-228600">
              <a:spcAft>
                <a:spcPts val="800"/>
              </a:spcAft>
              <a:buSzPct val="100000"/>
              <a:buChar char="•"/>
            </a:pPr>
            <a:r>
              <a:rPr lang="en-US" sz="1500" dirty="0">
                <a:solidFill>
                  <a:srgbClr val="6B7280"/>
                </a:solidFill>
                <a:latin typeface="Calibri" pitchFamily="34" charset="0"/>
                <a:ea typeface="Calibri" pitchFamily="34" charset="-122"/>
                <a:cs typeface="Calibri" pitchFamily="34" charset="-120"/>
              </a:rPr>
              <a:t>nombre de valeurs, moyenne, écart-type</a:t>
            </a:r>
            <a:endParaRPr lang="en-US" sz="1700" dirty="0"/>
          </a:p>
          <a:p>
            <a:pPr lvl="1" marL="457200" indent="-228600">
              <a:spcAft>
                <a:spcPts val="800"/>
              </a:spcAft>
              <a:buSzPct val="100000"/>
              <a:buChar char="•"/>
            </a:pPr>
            <a:r>
              <a:rPr lang="en-US" sz="1500" dirty="0">
                <a:solidFill>
                  <a:srgbClr val="6B7280"/>
                </a:solidFill>
                <a:latin typeface="Calibri" pitchFamily="34" charset="0"/>
                <a:ea typeface="Calibri" pitchFamily="34" charset="-122"/>
                <a:cs typeface="Calibri" pitchFamily="34" charset="-120"/>
              </a:rPr>
              <a:t>minimum, quartiles, maximum</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Le moyen le plus rapide de repérer une valeur </a:t>
            </a:r>
            <a:pPr indent="0" marL="0">
              <a:buNone/>
            </a:pPr>
            <a:r>
              <a:rPr lang="en-US" sz="1700" b="1" dirty="0">
                <a:solidFill>
                  <a:srgbClr val="1F2933"/>
                </a:solidFill>
                <a:latin typeface="Calibri" pitchFamily="34" charset="0"/>
                <a:ea typeface="Calibri" pitchFamily="34" charset="-122"/>
                <a:cs typeface="Calibri" pitchFamily="34" charset="-120"/>
              </a:rPr>
              <a:t>impossible</a:t>
            </a:r>
            <a:pPr indent="0" marL="0">
              <a:buNone/>
            </a:pPr>
            <a:r>
              <a:rPr lang="en-US" sz="1700" dirty="0">
                <a:solidFill>
                  <a:srgbClr val="1F2933"/>
                </a:solidFill>
                <a:latin typeface="Calibri" pitchFamily="34" charset="0"/>
                <a:ea typeface="Calibri" pitchFamily="34" charset="-122"/>
                <a:cs typeface="Calibri" pitchFamily="34" charset="-120"/>
              </a:rPr>
              <a:t> : un prix négatif, un âge de 250 ans</a:t>
            </a:r>
            <a:endParaRPr lang="en-US" sz="1700" dirty="0"/>
          </a:p>
          <a:p>
            <a:pPr marL="254000" indent="-254000">
              <a:spcAft>
                <a:spcPts val="800"/>
              </a:spcAft>
              <a:buSzPct val="100000"/>
              <a:buChar char="•"/>
            </a:pPr>
            <a:r>
              <a:rPr lang="en-US" sz="1700" dirty="0">
                <a:solidFill>
                  <a:srgbClr val="1F2933"/>
                </a:solidFill>
                <a:latin typeface="Calibri" pitchFamily="34" charset="0"/>
                <a:ea typeface="Calibri" pitchFamily="34" charset="-122"/>
                <a:cs typeface="Calibri" pitchFamily="34" charset="-120"/>
              </a:rPr>
              <a:t>Comparer la moyenne et la médiane (ligne </a:t>
            </a:r>
            <a:pPr indent="0" marL="0">
              <a:buNone/>
            </a:pPr>
            <a:r>
              <a:rPr lang="en-US" sz="1700" dirty="0">
                <a:solidFill>
                  <a:srgbClr val="1F3A5F"/>
                </a:solidFill>
                <a:latin typeface="Courier New" pitchFamily="34" charset="0"/>
                <a:ea typeface="Courier New" pitchFamily="34" charset="-122"/>
                <a:cs typeface="Courier New" pitchFamily="34" charset="-120"/>
              </a:rPr>
              <a:t>50%</a:t>
            </a:r>
            <a:pPr indent="0" marL="0">
              <a:buNone/>
            </a:pPr>
            <a:r>
              <a:rPr lang="en-US" sz="1700" dirty="0">
                <a:solidFill>
                  <a:srgbClr val="1F2933"/>
                </a:solidFill>
                <a:latin typeface="Calibri" pitchFamily="34" charset="0"/>
                <a:ea typeface="Calibri" pitchFamily="34" charset="-122"/>
                <a:cs typeface="Calibri" pitchFamily="34" charset="-120"/>
              </a:rPr>
              <a:t>) : un écart important signale quelques valeurs extrêmes</a:t>
            </a:r>
            <a:endParaRPr lang="en-US" sz="1700" dirty="0"/>
          </a:p>
        </p:txBody>
      </p:sp>
      <p:sp>
        <p:nvSpPr>
          <p:cNvPr id="9"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PREMIÈRE EXPLORATION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value_counts pour les colonnes catégorielles</a:t>
            </a:r>
            <a:endParaRPr lang="en-US" sz="3000" dirty="0"/>
          </a:p>
        </p:txBody>
      </p:sp>
      <p:sp>
        <p:nvSpPr>
          <p:cNvPr id="6" name="Shape 4"/>
          <p:cNvSpPr/>
          <p:nvPr/>
        </p:nvSpPr>
        <p:spPr>
          <a:xfrm>
            <a:off x="548640" y="1417320"/>
            <a:ext cx="4835098" cy="2240788"/>
          </a:xfrm>
          <a:prstGeom prst="rect">
            <a:avLst/>
          </a:prstGeom>
          <a:solidFill>
            <a:srgbClr val="F3F4F6"/>
          </a:solidFill>
          <a:ln/>
        </p:spPr>
      </p:sp>
      <p:sp>
        <p:nvSpPr>
          <p:cNvPr id="7" name="Text 5"/>
          <p:cNvSpPr txBox="1"/>
          <p:nvPr/>
        </p:nvSpPr>
        <p:spPr>
          <a:xfrm>
            <a:off x="731520" y="1563624"/>
            <a:ext cx="4469338" cy="1948180"/>
          </a:xfrm>
          <a:prstGeom prst="rect">
            <a:avLst/>
          </a:prstGeom>
          <a:noFill/>
          <a:ln/>
        </p:spPr>
        <p:txBody>
          <a:bodyPr wrap="square" lIns="0" tIns="0" rIns="0" bIns="0" rtlCol="0" anchor="t"/>
          <a:lstStyle/>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df["categorie"].value_counts()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en proportions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df["categorie"].value_counts(normalize=True)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en comptant les manquants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df["region"].value_counts(dropna=False)</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 </a:t>
            </a:r>
            <a:endParaRPr lang="en-US" sz="1300" dirty="0"/>
          </a:p>
          <a:p>
            <a:pPr indent="0" marL="0">
              <a:lnSpc>
                <a:spcPct val="100000"/>
              </a:lnSpc>
              <a:buNone/>
            </a:pPr>
            <a:r>
              <a:rPr lang="en-US" sz="1300" dirty="0">
                <a:solidFill>
                  <a:srgbClr val="6B7280"/>
                </a:solidFill>
                <a:latin typeface="Courier New" pitchFamily="34" charset="0"/>
                <a:ea typeface="Courier New" pitchFamily="34" charset="-122"/>
                <a:cs typeface="Courier New" pitchFamily="34" charset="-120"/>
              </a:rPr>
              <a:t># combinaisons de plusieurs colonnes</a:t>
            </a:r>
            <a:endParaRPr lang="en-US" sz="1300" dirty="0"/>
          </a:p>
          <a:p>
            <a:pPr indent="0" marL="0">
              <a:lnSpc>
                <a:spcPct val="100000"/>
              </a:lnSpc>
              <a:buNone/>
            </a:pPr>
            <a:r>
              <a:rPr lang="en-US" sz="1300" dirty="0">
                <a:solidFill>
                  <a:srgbClr val="1F2933"/>
                </a:solidFill>
                <a:latin typeface="Courier New" pitchFamily="34" charset="0"/>
                <a:ea typeface="Courier New" pitchFamily="34" charset="-122"/>
                <a:cs typeface="Courier New" pitchFamily="34" charset="-120"/>
              </a:rPr>
              <a:t>df[["categorie", "produit"]].value_counts()</a:t>
            </a:r>
            <a:endParaRPr lang="en-US" sz="1300" dirty="0"/>
          </a:p>
        </p:txBody>
      </p:sp>
      <p:sp>
        <p:nvSpPr>
          <p:cNvPr id="8" name="Text 6"/>
          <p:cNvSpPr txBox="1"/>
          <p:nvPr/>
        </p:nvSpPr>
        <p:spPr>
          <a:xfrm>
            <a:off x="548640" y="3978148"/>
            <a:ext cx="4835098" cy="822960"/>
          </a:xfrm>
          <a:prstGeom prst="rect">
            <a:avLst/>
          </a:prstGeom>
          <a:noFill/>
          <a:ln/>
        </p:spPr>
        <p:txBody>
          <a:bodyPr wrap="square" lIns="0" tIns="0" rIns="0" bIns="0" rtlCol="0" anchor="t"/>
          <a:lstStyle/>
          <a:p>
            <a:pPr indent="0" marL="0">
              <a:buNone/>
            </a:pPr>
            <a:r>
              <a:rPr lang="en-US" sz="1500" dirty="0">
                <a:solidFill>
                  <a:srgbClr val="6B7280"/>
                </a:solidFill>
                <a:latin typeface="Calibri" pitchFamily="34" charset="0"/>
                <a:ea typeface="Calibri" pitchFamily="34" charset="-122"/>
                <a:cs typeface="Calibri" pitchFamily="34" charset="-120"/>
              </a:rPr>
              <a:t>Permet aussi de repérer les incohérences d'écriture : </a:t>
            </a:r>
            <a:pPr indent="0" marL="0">
              <a:buNone/>
            </a:pPr>
            <a:r>
              <a:rPr lang="en-US" sz="1500" dirty="0">
                <a:solidFill>
                  <a:srgbClr val="1F3A5F"/>
                </a:solidFill>
                <a:latin typeface="Courier New" pitchFamily="34" charset="0"/>
                <a:ea typeface="Courier New" pitchFamily="34" charset="-122"/>
                <a:cs typeface="Courier New" pitchFamily="34" charset="-120"/>
              </a:rPr>
              <a:t>Bretagne</a:t>
            </a:r>
            <a:pPr indent="0" marL="0">
              <a:buNone/>
            </a:pPr>
            <a:r>
              <a:rPr lang="en-US" sz="1500" dirty="0">
                <a:solidFill>
                  <a:srgbClr val="6B7280"/>
                </a:solidFill>
                <a:latin typeface="Calibri" pitchFamily="34" charset="0"/>
                <a:ea typeface="Calibri" pitchFamily="34" charset="-122"/>
                <a:cs typeface="Calibri" pitchFamily="34" charset="-120"/>
              </a:rPr>
              <a:t>, </a:t>
            </a:r>
            <a:pPr indent="0" marL="0">
              <a:buNone/>
            </a:pPr>
            <a:r>
              <a:rPr lang="en-US" sz="1500" dirty="0">
                <a:solidFill>
                  <a:srgbClr val="1F3A5F"/>
                </a:solidFill>
                <a:latin typeface="Courier New" pitchFamily="34" charset="0"/>
                <a:ea typeface="Courier New" pitchFamily="34" charset="-122"/>
                <a:cs typeface="Courier New" pitchFamily="34" charset="-120"/>
              </a:rPr>
              <a:t>bretagne</a:t>
            </a:r>
            <a:pPr indent="0" marL="0">
              <a:buNone/>
            </a:pPr>
            <a:r>
              <a:rPr lang="en-US" sz="1500" dirty="0">
                <a:solidFill>
                  <a:srgbClr val="6B7280"/>
                </a:solidFill>
                <a:latin typeface="Calibri" pitchFamily="34" charset="0"/>
                <a:ea typeface="Calibri" pitchFamily="34" charset="-122"/>
                <a:cs typeface="Calibri" pitchFamily="34" charset="-120"/>
              </a:rPr>
              <a:t> et </a:t>
            </a:r>
            <a:pPr indent="0" marL="0">
              <a:buNone/>
            </a:pPr>
            <a:r>
              <a:rPr lang="en-US" sz="1500" dirty="0">
                <a:solidFill>
                  <a:srgbClr val="1F3A5F"/>
                </a:solidFill>
                <a:latin typeface="Courier New" pitchFamily="34" charset="0"/>
                <a:ea typeface="Courier New" pitchFamily="34" charset="-122"/>
                <a:cs typeface="Courier New" pitchFamily="34" charset="-120"/>
              </a:rPr>
              <a:t>Bretagne </a:t>
            </a:r>
            <a:pPr indent="0" marL="0">
              <a:buNone/>
            </a:pPr>
            <a:r>
              <a:rPr lang="en-US" sz="1500" dirty="0">
                <a:solidFill>
                  <a:srgbClr val="6B7280"/>
                </a:solidFill>
                <a:latin typeface="Calibri" pitchFamily="34" charset="0"/>
                <a:ea typeface="Calibri" pitchFamily="34" charset="-122"/>
                <a:cs typeface="Calibri" pitchFamily="34" charset="-120"/>
              </a:rPr>
              <a:t> comptent comme trois valeurs.</a:t>
            </a:r>
            <a:endParaRPr lang="en-US" sz="1500" dirty="0"/>
          </a:p>
        </p:txBody>
      </p:sp>
      <p:graphicFrame>
        <p:nvGraphicFramePr>
          <p:cNvPr id="9" name="Chart 0" descr=""/>
          <p:cNvGraphicFramePr/>
          <p:nvPr/>
        </p:nvGraphicFramePr>
        <p:xfrm>
          <a:off x="5840938" y="1417320"/>
          <a:ext cx="5802117" cy="347472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PREMIÈRE EXPLORATION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nunique : combien de valeurs distinctes ?</a:t>
            </a:r>
            <a:endParaRPr lang="en-US" sz="3000" dirty="0"/>
          </a:p>
        </p:txBody>
      </p:sp>
      <p:sp>
        <p:nvSpPr>
          <p:cNvPr id="6" name="Shape 4"/>
          <p:cNvSpPr/>
          <p:nvPr/>
        </p:nvSpPr>
        <p:spPr>
          <a:xfrm>
            <a:off x="548640" y="1417320"/>
            <a:ext cx="4835098" cy="1761236"/>
          </a:xfrm>
          <a:prstGeom prst="rect">
            <a:avLst/>
          </a:prstGeom>
          <a:solidFill>
            <a:srgbClr val="F3F4F6"/>
          </a:solidFill>
          <a:ln/>
        </p:spPr>
      </p:sp>
      <p:sp>
        <p:nvSpPr>
          <p:cNvPr id="7" name="Text 5"/>
          <p:cNvSpPr txBox="1"/>
          <p:nvPr/>
        </p:nvSpPr>
        <p:spPr>
          <a:xfrm>
            <a:off x="731520" y="1563624"/>
            <a:ext cx="4469338" cy="1468628"/>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df.nunique()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df["id_commande"].nunique()   # 60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len(df)                       # 62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 </a:t>
            </a:r>
            <a:endParaRPr lang="en-US" sz="1400" dirty="0"/>
          </a:p>
          <a:p>
            <a:pPr indent="0" marL="0">
              <a:lnSpc>
                <a:spcPct val="100000"/>
              </a:lnSpc>
              <a:buNone/>
            </a:pPr>
            <a:r>
              <a:rPr lang="en-US" sz="1400" dirty="0">
                <a:solidFill>
                  <a:srgbClr val="6B7280"/>
                </a:solidFill>
                <a:latin typeface="Courier New" pitchFamily="34" charset="0"/>
                <a:ea typeface="Courier New" pitchFamily="34" charset="-122"/>
                <a:cs typeface="Courier New" pitchFamily="34" charset="-120"/>
              </a:rPr>
              <a:t># les identifiants en double</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df["id_commande"].value_counts().head(3)</a:t>
            </a:r>
            <a:endParaRPr lang="en-US" sz="1400" dirty="0"/>
          </a:p>
        </p:txBody>
      </p:sp>
      <p:sp>
        <p:nvSpPr>
          <p:cNvPr id="8" name="Text 6"/>
          <p:cNvSpPr txBox="1"/>
          <p:nvPr/>
        </p:nvSpPr>
        <p:spPr>
          <a:xfrm>
            <a:off x="548640" y="3498596"/>
            <a:ext cx="4835098" cy="624840"/>
          </a:xfrm>
          <a:prstGeom prst="rect">
            <a:avLst/>
          </a:prstGeom>
          <a:noFill/>
          <a:ln/>
        </p:spPr>
        <p:txBody>
          <a:bodyPr wrap="square" lIns="0" tIns="0" rIns="0" bIns="0" rtlCol="0" anchor="t"/>
          <a:lstStyle/>
          <a:p>
            <a:pPr indent="0" marL="0">
              <a:buNone/>
            </a:pPr>
            <a:r>
              <a:rPr lang="en-US" sz="1600" dirty="0">
                <a:solidFill>
                  <a:srgbClr val="6B7280"/>
                </a:solidFill>
                <a:latin typeface="Calibri" pitchFamily="34" charset="0"/>
                <a:ea typeface="Calibri" pitchFamily="34" charset="-122"/>
                <a:cs typeface="Calibri" pitchFamily="34" charset="-120"/>
              </a:rPr>
              <a:t>62 lignes, mais 60 numéros de commande : certaines commandes apparaissent plusieurs fois.</a:t>
            </a:r>
            <a:endParaRPr lang="en-US" sz="1600" dirty="0"/>
          </a:p>
        </p:txBody>
      </p:sp>
      <p:sp>
        <p:nvSpPr>
          <p:cNvPr id="9" name="Shape 7"/>
          <p:cNvSpPr/>
          <p:nvPr/>
        </p:nvSpPr>
        <p:spPr>
          <a:xfrm>
            <a:off x="5840938" y="1417320"/>
            <a:ext cx="5802117" cy="2180844"/>
          </a:xfrm>
          <a:prstGeom prst="rect">
            <a:avLst/>
          </a:prstGeom>
          <a:solidFill>
            <a:srgbClr val="FFFFFF"/>
          </a:solidFill>
          <a:ln w="12700">
            <a:solidFill>
              <a:srgbClr val="D5DCE3"/>
            </a:solidFill>
            <a:prstDash val="solid"/>
          </a:ln>
        </p:spPr>
      </p:sp>
      <p:sp>
        <p:nvSpPr>
          <p:cNvPr id="10" name="Text 8"/>
          <p:cNvSpPr txBox="1"/>
          <p:nvPr/>
        </p:nvSpPr>
        <p:spPr>
          <a:xfrm>
            <a:off x="6023818" y="1563624"/>
            <a:ext cx="5436357" cy="1888236"/>
          </a:xfrm>
          <a:prstGeom prst="rect">
            <a:avLst/>
          </a:prstGeom>
          <a:noFill/>
          <a:ln/>
        </p:spPr>
        <p:txBody>
          <a:bodyPr wrap="square" lIns="0" tIns="0" rIns="0" bIns="0" rtlCol="0" anchor="t"/>
          <a:lstStyle/>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id_commande      60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date             53</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region            9</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categorie         5</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produit          16</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Prix unitaire    60</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quantite         14</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Client fidèle     2</a:t>
            </a:r>
            <a:endParaRPr lang="en-US" sz="1400" dirty="0"/>
          </a:p>
          <a:p>
            <a:pPr indent="0" marL="0">
              <a:lnSpc>
                <a:spcPct val="100000"/>
              </a:lnSpc>
              <a:buNone/>
            </a:pPr>
            <a:r>
              <a:rPr lang="en-US" sz="1400" dirty="0">
                <a:solidFill>
                  <a:srgbClr val="1F2933"/>
                </a:solidFill>
                <a:latin typeface="Courier New" pitchFamily="34" charset="0"/>
                <a:ea typeface="Courier New" pitchFamily="34" charset="-122"/>
                <a:cs typeface="Courier New" pitchFamily="34" charset="-120"/>
              </a:rPr>
              <a:t>dtype: int64</a:t>
            </a:r>
            <a:endParaRPr lang="en-US" sz="1400" dirty="0"/>
          </a:p>
        </p:txBody>
      </p:sp>
      <p:sp>
        <p:nvSpPr>
          <p:cNvPr id="11" name="Text 9"/>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PREMIÈRE EXPLORATION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Une démarche d'exploration</a:t>
            </a:r>
            <a:endParaRPr lang="en-US" sz="3000" dirty="0"/>
          </a:p>
        </p:txBody>
      </p:sp>
      <p:sp>
        <p:nvSpPr>
          <p:cNvPr id="6" name="Shape 4"/>
          <p:cNvSpPr/>
          <p:nvPr/>
        </p:nvSpPr>
        <p:spPr>
          <a:xfrm>
            <a:off x="1341098" y="2057400"/>
            <a:ext cx="9509499" cy="0"/>
          </a:xfrm>
          <a:prstGeom prst="line">
            <a:avLst/>
          </a:prstGeom>
          <a:noFill/>
          <a:ln w="25400">
            <a:solidFill>
              <a:srgbClr val="D5DCE3"/>
            </a:solidFill>
            <a:prstDash val="solid"/>
          </a:ln>
        </p:spPr>
      </p:sp>
      <p:sp>
        <p:nvSpPr>
          <p:cNvPr id="7" name="Shape 5"/>
          <p:cNvSpPr/>
          <p:nvPr/>
        </p:nvSpPr>
        <p:spPr>
          <a:xfrm>
            <a:off x="1112498" y="1828800"/>
            <a:ext cx="457200" cy="457200"/>
          </a:xfrm>
          <a:prstGeom prst="ellipse">
            <a:avLst/>
          </a:prstGeom>
          <a:solidFill>
            <a:srgbClr val="2F7D62"/>
          </a:solidFill>
          <a:ln/>
        </p:spPr>
      </p:sp>
      <p:sp>
        <p:nvSpPr>
          <p:cNvPr id="8" name="Text 6"/>
          <p:cNvSpPr txBox="1"/>
          <p:nvPr/>
        </p:nvSpPr>
        <p:spPr>
          <a:xfrm>
            <a:off x="111249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594360" y="2423160"/>
            <a:ext cx="1493476"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Charger</a:t>
            </a:r>
            <a:endParaRPr lang="en-US" sz="1600" dirty="0"/>
          </a:p>
        </p:txBody>
      </p:sp>
      <p:sp>
        <p:nvSpPr>
          <p:cNvPr id="10" name="Text 8"/>
          <p:cNvSpPr txBox="1"/>
          <p:nvPr/>
        </p:nvSpPr>
        <p:spPr>
          <a:xfrm>
            <a:off x="594360"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lecture correcte ?</a:t>
            </a:r>
            <a:endParaRPr lang="en-US" sz="1300" dirty="0"/>
          </a:p>
        </p:txBody>
      </p:sp>
      <p:sp>
        <p:nvSpPr>
          <p:cNvPr id="11" name="Shape 9"/>
          <p:cNvSpPr/>
          <p:nvPr/>
        </p:nvSpPr>
        <p:spPr>
          <a:xfrm>
            <a:off x="2697415" y="1828800"/>
            <a:ext cx="457200" cy="457200"/>
          </a:xfrm>
          <a:prstGeom prst="ellipse">
            <a:avLst/>
          </a:prstGeom>
          <a:solidFill>
            <a:srgbClr val="2F7D62"/>
          </a:solidFill>
          <a:ln/>
        </p:spPr>
      </p:sp>
      <p:sp>
        <p:nvSpPr>
          <p:cNvPr id="12" name="Text 10"/>
          <p:cNvSpPr txBox="1"/>
          <p:nvPr/>
        </p:nvSpPr>
        <p:spPr>
          <a:xfrm>
            <a:off x="2697415"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2179276" y="2423160"/>
            <a:ext cx="1493476"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Mesurer</a:t>
            </a:r>
            <a:endParaRPr lang="en-US" sz="1600" dirty="0"/>
          </a:p>
        </p:txBody>
      </p:sp>
      <p:sp>
        <p:nvSpPr>
          <p:cNvPr id="14" name="Text 12"/>
          <p:cNvSpPr txBox="1"/>
          <p:nvPr/>
        </p:nvSpPr>
        <p:spPr>
          <a:xfrm>
            <a:off x="2179276" y="2926080"/>
            <a:ext cx="1493476" cy="685800"/>
          </a:xfrm>
          <a:prstGeom prst="rect">
            <a:avLst/>
          </a:prstGeom>
          <a:noFill/>
          <a:ln/>
        </p:spPr>
        <p:txBody>
          <a:bodyPr wrap="square" lIns="0" tIns="0" rIns="0" bIns="0" rtlCol="0" anchor="t"/>
          <a:lstStyle/>
          <a:p>
            <a:pPr algn="ctr" indent="0" marL="0">
              <a:buNone/>
            </a:pPr>
            <a:r>
              <a:rPr lang="en-US" sz="1300" dirty="0">
                <a:solidFill>
                  <a:srgbClr val="1F3A5F"/>
                </a:solidFill>
                <a:latin typeface="Courier New" pitchFamily="34" charset="0"/>
                <a:ea typeface="Courier New" pitchFamily="34" charset="-122"/>
                <a:cs typeface="Courier New" pitchFamily="34" charset="-120"/>
              </a:rPr>
              <a:t>shape</a:t>
            </a:r>
            <a:pPr algn="ctr" indent="0" marL="0">
              <a:buNone/>
            </a:pPr>
            <a:r>
              <a:rPr lang="en-US" sz="1300" dirty="0">
                <a:solidFill>
                  <a:srgbClr val="6B7280"/>
                </a:solidFill>
                <a:latin typeface="Calibri" pitchFamily="34" charset="0"/>
                <a:ea typeface="Calibri" pitchFamily="34" charset="-122"/>
                <a:cs typeface="Calibri" pitchFamily="34" charset="-120"/>
              </a:rPr>
              <a:t>, </a:t>
            </a:r>
            <a:pPr algn="ctr" indent="0" marL="0">
              <a:buNone/>
            </a:pPr>
            <a:r>
              <a:rPr lang="en-US" sz="1300" dirty="0">
                <a:solidFill>
                  <a:srgbClr val="1F3A5F"/>
                </a:solidFill>
                <a:latin typeface="Courier New" pitchFamily="34" charset="0"/>
                <a:ea typeface="Courier New" pitchFamily="34" charset="-122"/>
                <a:cs typeface="Courier New" pitchFamily="34" charset="-120"/>
              </a:rPr>
              <a:t>head</a:t>
            </a:r>
            <a:endParaRPr lang="en-US" sz="1300" dirty="0"/>
          </a:p>
        </p:txBody>
      </p:sp>
      <p:sp>
        <p:nvSpPr>
          <p:cNvPr id="15" name="Shape 13"/>
          <p:cNvSpPr/>
          <p:nvPr/>
        </p:nvSpPr>
        <p:spPr>
          <a:xfrm>
            <a:off x="4282331" y="1828800"/>
            <a:ext cx="457200" cy="457200"/>
          </a:xfrm>
          <a:prstGeom prst="ellipse">
            <a:avLst/>
          </a:prstGeom>
          <a:solidFill>
            <a:srgbClr val="2F7D62"/>
          </a:solidFill>
          <a:ln/>
        </p:spPr>
      </p:sp>
      <p:sp>
        <p:nvSpPr>
          <p:cNvPr id="16" name="Text 14"/>
          <p:cNvSpPr txBox="1"/>
          <p:nvPr/>
        </p:nvSpPr>
        <p:spPr>
          <a:xfrm>
            <a:off x="428233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3764193" y="2423160"/>
            <a:ext cx="1493476"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Typer</a:t>
            </a:r>
            <a:endParaRPr lang="en-US" sz="1600" dirty="0"/>
          </a:p>
        </p:txBody>
      </p:sp>
      <p:sp>
        <p:nvSpPr>
          <p:cNvPr id="18" name="Text 16"/>
          <p:cNvSpPr txBox="1"/>
          <p:nvPr/>
        </p:nvSpPr>
        <p:spPr>
          <a:xfrm>
            <a:off x="3764193" y="2926080"/>
            <a:ext cx="1493476" cy="685800"/>
          </a:xfrm>
          <a:prstGeom prst="rect">
            <a:avLst/>
          </a:prstGeom>
          <a:noFill/>
          <a:ln/>
        </p:spPr>
        <p:txBody>
          <a:bodyPr wrap="square" lIns="0" tIns="0" rIns="0" bIns="0" rtlCol="0" anchor="t"/>
          <a:lstStyle/>
          <a:p>
            <a:pPr algn="ctr" indent="0" marL="0">
              <a:buNone/>
            </a:pPr>
            <a:r>
              <a:rPr lang="en-US" sz="1300" dirty="0">
                <a:solidFill>
                  <a:srgbClr val="1F3A5F"/>
                </a:solidFill>
                <a:latin typeface="Courier New" pitchFamily="34" charset="0"/>
                <a:ea typeface="Courier New" pitchFamily="34" charset="-122"/>
                <a:cs typeface="Courier New" pitchFamily="34" charset="-120"/>
              </a:rPr>
              <a:t>dtypes</a:t>
            </a:r>
            <a:pPr algn="ctr" indent="0" marL="0">
              <a:buNone/>
            </a:pPr>
            <a:r>
              <a:rPr lang="en-US" sz="1300" dirty="0">
                <a:solidFill>
                  <a:srgbClr val="6B7280"/>
                </a:solidFill>
                <a:latin typeface="Calibri" pitchFamily="34" charset="0"/>
                <a:ea typeface="Calibri" pitchFamily="34" charset="-122"/>
                <a:cs typeface="Calibri" pitchFamily="34" charset="-120"/>
              </a:rPr>
              <a:t>, </a:t>
            </a:r>
            <a:pPr algn="ctr" indent="0" marL="0">
              <a:buNone/>
            </a:pPr>
            <a:r>
              <a:rPr lang="en-US" sz="1300" dirty="0">
                <a:solidFill>
                  <a:srgbClr val="1F3A5F"/>
                </a:solidFill>
                <a:latin typeface="Courier New" pitchFamily="34" charset="0"/>
                <a:ea typeface="Courier New" pitchFamily="34" charset="-122"/>
                <a:cs typeface="Courier New" pitchFamily="34" charset="-120"/>
              </a:rPr>
              <a:t>info</a:t>
            </a:r>
            <a:endParaRPr lang="en-US" sz="1300" dirty="0"/>
          </a:p>
        </p:txBody>
      </p:sp>
      <p:sp>
        <p:nvSpPr>
          <p:cNvPr id="19" name="Shape 17"/>
          <p:cNvSpPr/>
          <p:nvPr/>
        </p:nvSpPr>
        <p:spPr>
          <a:xfrm>
            <a:off x="5867248" y="1828800"/>
            <a:ext cx="457200" cy="457200"/>
          </a:xfrm>
          <a:prstGeom prst="ellipse">
            <a:avLst/>
          </a:prstGeom>
          <a:solidFill>
            <a:srgbClr val="2F7D62"/>
          </a:solidFill>
          <a:ln/>
        </p:spPr>
      </p:sp>
      <p:sp>
        <p:nvSpPr>
          <p:cNvPr id="20" name="Text 18"/>
          <p:cNvSpPr txBox="1"/>
          <p:nvPr/>
        </p:nvSpPr>
        <p:spPr>
          <a:xfrm>
            <a:off x="5867248"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txBox="1"/>
          <p:nvPr/>
        </p:nvSpPr>
        <p:spPr>
          <a:xfrm>
            <a:off x="5349109" y="2423160"/>
            <a:ext cx="1493476"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Compter les manques</a:t>
            </a:r>
            <a:endParaRPr lang="en-US" sz="1600" dirty="0"/>
          </a:p>
        </p:txBody>
      </p:sp>
      <p:sp>
        <p:nvSpPr>
          <p:cNvPr id="22" name="Text 20"/>
          <p:cNvSpPr txBox="1"/>
          <p:nvPr/>
        </p:nvSpPr>
        <p:spPr>
          <a:xfrm>
            <a:off x="5349109" y="2926080"/>
            <a:ext cx="1493476" cy="685800"/>
          </a:xfrm>
          <a:prstGeom prst="rect">
            <a:avLst/>
          </a:prstGeom>
          <a:noFill/>
          <a:ln/>
        </p:spPr>
        <p:txBody>
          <a:bodyPr wrap="square" lIns="0" tIns="0" rIns="0" bIns="0" rtlCol="0" anchor="t"/>
          <a:lstStyle/>
          <a:p>
            <a:pPr algn="ctr" indent="0" marL="0">
              <a:buNone/>
            </a:pPr>
            <a:r>
              <a:rPr lang="en-US" sz="1300" dirty="0">
                <a:solidFill>
                  <a:srgbClr val="1F3A5F"/>
                </a:solidFill>
                <a:latin typeface="Courier New" pitchFamily="34" charset="0"/>
                <a:ea typeface="Courier New" pitchFamily="34" charset="-122"/>
                <a:cs typeface="Courier New" pitchFamily="34" charset="-120"/>
              </a:rPr>
              <a:t>isna().sum()</a:t>
            </a:r>
            <a:endParaRPr lang="en-US" sz="1300" dirty="0"/>
          </a:p>
        </p:txBody>
      </p:sp>
      <p:sp>
        <p:nvSpPr>
          <p:cNvPr id="23" name="Shape 21"/>
          <p:cNvSpPr/>
          <p:nvPr/>
        </p:nvSpPr>
        <p:spPr>
          <a:xfrm>
            <a:off x="7452164" y="1828800"/>
            <a:ext cx="457200" cy="457200"/>
          </a:xfrm>
          <a:prstGeom prst="ellipse">
            <a:avLst/>
          </a:prstGeom>
          <a:solidFill>
            <a:srgbClr val="2F7D62"/>
          </a:solidFill>
          <a:ln/>
        </p:spPr>
      </p:sp>
      <p:sp>
        <p:nvSpPr>
          <p:cNvPr id="24" name="Text 22"/>
          <p:cNvSpPr txBox="1"/>
          <p:nvPr/>
        </p:nvSpPr>
        <p:spPr>
          <a:xfrm>
            <a:off x="7452164"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3"/>
          <p:cNvSpPr txBox="1"/>
          <p:nvPr/>
        </p:nvSpPr>
        <p:spPr>
          <a:xfrm>
            <a:off x="6934026" y="2423160"/>
            <a:ext cx="1493476"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Décrire</a:t>
            </a:r>
            <a:endParaRPr lang="en-US" sz="1600" dirty="0"/>
          </a:p>
        </p:txBody>
      </p:sp>
      <p:sp>
        <p:nvSpPr>
          <p:cNvPr id="26" name="Text 24"/>
          <p:cNvSpPr txBox="1"/>
          <p:nvPr/>
        </p:nvSpPr>
        <p:spPr>
          <a:xfrm>
            <a:off x="6934026" y="2926080"/>
            <a:ext cx="1493476" cy="685800"/>
          </a:xfrm>
          <a:prstGeom prst="rect">
            <a:avLst/>
          </a:prstGeom>
          <a:noFill/>
          <a:ln/>
        </p:spPr>
        <p:txBody>
          <a:bodyPr wrap="square" lIns="0" tIns="0" rIns="0" bIns="0" rtlCol="0" anchor="t"/>
          <a:lstStyle/>
          <a:p>
            <a:pPr algn="ctr" indent="0" marL="0">
              <a:buNone/>
            </a:pPr>
            <a:r>
              <a:rPr lang="en-US" sz="1300" dirty="0">
                <a:solidFill>
                  <a:srgbClr val="1F3A5F"/>
                </a:solidFill>
                <a:latin typeface="Courier New" pitchFamily="34" charset="0"/>
                <a:ea typeface="Courier New" pitchFamily="34" charset="-122"/>
                <a:cs typeface="Courier New" pitchFamily="34" charset="-120"/>
              </a:rPr>
              <a:t>describe</a:t>
            </a:r>
            <a:endParaRPr lang="en-US" sz="1300" dirty="0"/>
          </a:p>
        </p:txBody>
      </p:sp>
      <p:sp>
        <p:nvSpPr>
          <p:cNvPr id="27" name="Shape 25"/>
          <p:cNvSpPr/>
          <p:nvPr/>
        </p:nvSpPr>
        <p:spPr>
          <a:xfrm>
            <a:off x="9037081" y="1828800"/>
            <a:ext cx="457200" cy="457200"/>
          </a:xfrm>
          <a:prstGeom prst="ellipse">
            <a:avLst/>
          </a:prstGeom>
          <a:solidFill>
            <a:srgbClr val="2F7D62"/>
          </a:solidFill>
          <a:ln/>
        </p:spPr>
      </p:sp>
      <p:sp>
        <p:nvSpPr>
          <p:cNvPr id="28" name="Text 26"/>
          <p:cNvSpPr txBox="1"/>
          <p:nvPr/>
        </p:nvSpPr>
        <p:spPr>
          <a:xfrm>
            <a:off x="9037081"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9" name="Text 27"/>
          <p:cNvSpPr txBox="1"/>
          <p:nvPr/>
        </p:nvSpPr>
        <p:spPr>
          <a:xfrm>
            <a:off x="8518942" y="2423160"/>
            <a:ext cx="1493476"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Répartir</a:t>
            </a:r>
            <a:endParaRPr lang="en-US" sz="1600" dirty="0"/>
          </a:p>
        </p:txBody>
      </p:sp>
      <p:sp>
        <p:nvSpPr>
          <p:cNvPr id="30" name="Text 28"/>
          <p:cNvSpPr txBox="1"/>
          <p:nvPr/>
        </p:nvSpPr>
        <p:spPr>
          <a:xfrm>
            <a:off x="8518942" y="2926080"/>
            <a:ext cx="1493476" cy="685800"/>
          </a:xfrm>
          <a:prstGeom prst="rect">
            <a:avLst/>
          </a:prstGeom>
          <a:noFill/>
          <a:ln/>
        </p:spPr>
        <p:txBody>
          <a:bodyPr wrap="square" lIns="0" tIns="0" rIns="0" bIns="0" rtlCol="0" anchor="t"/>
          <a:lstStyle/>
          <a:p>
            <a:pPr algn="ctr" indent="0" marL="0">
              <a:buNone/>
            </a:pPr>
            <a:r>
              <a:rPr lang="en-US" sz="1300" dirty="0">
                <a:solidFill>
                  <a:srgbClr val="1F3A5F"/>
                </a:solidFill>
                <a:latin typeface="Courier New" pitchFamily="34" charset="0"/>
                <a:ea typeface="Courier New" pitchFamily="34" charset="-122"/>
                <a:cs typeface="Courier New" pitchFamily="34" charset="-120"/>
              </a:rPr>
              <a:t>value_counts</a:t>
            </a:r>
            <a:pPr algn="ctr" indent="0" marL="0">
              <a:buNone/>
            </a:pPr>
            <a:r>
              <a:rPr lang="en-US" sz="1300" dirty="0">
                <a:solidFill>
                  <a:srgbClr val="6B7280"/>
                </a:solidFill>
                <a:latin typeface="Calibri" pitchFamily="34" charset="0"/>
                <a:ea typeface="Calibri" pitchFamily="34" charset="-122"/>
                <a:cs typeface="Calibri" pitchFamily="34" charset="-120"/>
              </a:rPr>
              <a:t>, </a:t>
            </a:r>
            <a:pPr algn="ctr" indent="0" marL="0">
              <a:buNone/>
            </a:pPr>
            <a:r>
              <a:rPr lang="en-US" sz="1300" dirty="0">
                <a:solidFill>
                  <a:srgbClr val="1F3A5F"/>
                </a:solidFill>
                <a:latin typeface="Courier New" pitchFamily="34" charset="0"/>
                <a:ea typeface="Courier New" pitchFamily="34" charset="-122"/>
                <a:cs typeface="Courier New" pitchFamily="34" charset="-120"/>
              </a:rPr>
              <a:t>nunique</a:t>
            </a:r>
            <a:endParaRPr lang="en-US" sz="1300" dirty="0"/>
          </a:p>
        </p:txBody>
      </p:sp>
      <p:sp>
        <p:nvSpPr>
          <p:cNvPr id="31" name="Shape 29"/>
          <p:cNvSpPr/>
          <p:nvPr/>
        </p:nvSpPr>
        <p:spPr>
          <a:xfrm>
            <a:off x="10621997" y="1828800"/>
            <a:ext cx="457200" cy="457200"/>
          </a:xfrm>
          <a:prstGeom prst="ellipse">
            <a:avLst/>
          </a:prstGeom>
          <a:solidFill>
            <a:srgbClr val="2F7D62"/>
          </a:solidFill>
          <a:ln/>
        </p:spPr>
      </p:sp>
      <p:sp>
        <p:nvSpPr>
          <p:cNvPr id="32" name="Text 30"/>
          <p:cNvSpPr txBox="1"/>
          <p:nvPr/>
        </p:nvSpPr>
        <p:spPr>
          <a:xfrm>
            <a:off x="10621997" y="18288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3" name="Text 31"/>
          <p:cNvSpPr txBox="1"/>
          <p:nvPr/>
        </p:nvSpPr>
        <p:spPr>
          <a:xfrm>
            <a:off x="10103859" y="2423160"/>
            <a:ext cx="1493476" cy="502920"/>
          </a:xfrm>
          <a:prstGeom prst="rect">
            <a:avLst/>
          </a:prstGeom>
          <a:noFill/>
          <a:ln/>
        </p:spPr>
        <p:txBody>
          <a:bodyPr wrap="square" lIns="0" tIns="0" rIns="0" bIns="0" rtlCol="0" anchor="t"/>
          <a:lstStyle/>
          <a:p>
            <a:pPr algn="ctr" indent="0" marL="0">
              <a:buNone/>
            </a:pPr>
            <a:r>
              <a:rPr lang="en-US" sz="1600" b="1" dirty="0">
                <a:solidFill>
                  <a:srgbClr val="1F3A5F"/>
                </a:solidFill>
                <a:latin typeface="Calibri" pitchFamily="34" charset="0"/>
                <a:ea typeface="Calibri" pitchFamily="34" charset="-122"/>
                <a:cs typeface="Calibri" pitchFamily="34" charset="-120"/>
              </a:rPr>
              <a:t>Noter</a:t>
            </a:r>
            <a:endParaRPr lang="en-US" sz="1600" dirty="0"/>
          </a:p>
        </p:txBody>
      </p:sp>
      <p:sp>
        <p:nvSpPr>
          <p:cNvPr id="34" name="Text 32"/>
          <p:cNvSpPr txBox="1"/>
          <p:nvPr/>
        </p:nvSpPr>
        <p:spPr>
          <a:xfrm>
            <a:off x="10103859" y="2926080"/>
            <a:ext cx="1493476" cy="685800"/>
          </a:xfrm>
          <a:prstGeom prst="rect">
            <a:avLst/>
          </a:prstGeom>
          <a:noFill/>
          <a:ln/>
        </p:spPr>
        <p:txBody>
          <a:bodyPr wrap="square" lIns="0" tIns="0" rIns="0" bIns="0" rtlCol="0" anchor="t"/>
          <a:lstStyle/>
          <a:p>
            <a:pPr algn="ctr" indent="0" marL="0">
              <a:buNone/>
            </a:pPr>
            <a:r>
              <a:rPr lang="en-US" sz="1300" dirty="0">
                <a:solidFill>
                  <a:srgbClr val="6B7280"/>
                </a:solidFill>
                <a:latin typeface="Calibri" pitchFamily="34" charset="0"/>
                <a:ea typeface="Calibri" pitchFamily="34" charset="-122"/>
                <a:cs typeface="Calibri" pitchFamily="34" charset="-120"/>
              </a:rPr>
              <a:t>constats et questions</a:t>
            </a:r>
            <a:endParaRPr lang="en-US" sz="1300" dirty="0"/>
          </a:p>
        </p:txBody>
      </p:sp>
      <p:sp>
        <p:nvSpPr>
          <p:cNvPr id="35" name="Shape 33"/>
          <p:cNvSpPr/>
          <p:nvPr/>
        </p:nvSpPr>
        <p:spPr>
          <a:xfrm>
            <a:off x="548640" y="3657600"/>
            <a:ext cx="11094415" cy="883920"/>
          </a:xfrm>
          <a:prstGeom prst="roundRect">
            <a:avLst>
              <a:gd name="adj" fmla="val 6207"/>
            </a:avLst>
          </a:prstGeom>
          <a:solidFill>
            <a:srgbClr val="E8F3EE"/>
          </a:solidFill>
          <a:ln/>
        </p:spPr>
      </p:sp>
      <p:sp>
        <p:nvSpPr>
          <p:cNvPr id="36" name="Text 34"/>
          <p:cNvSpPr txBox="1"/>
          <p:nvPr/>
        </p:nvSpPr>
        <p:spPr>
          <a:xfrm>
            <a:off x="822960" y="365760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Le résultat de cette étape n'est pas un tableau propre, c'est une liste de constats et de questions. C'est elle qui guidera le nettoyage de cet après-midi.</a:t>
            </a:r>
            <a:endParaRPr lang="en-US" sz="1700" dirty="0"/>
          </a:p>
        </p:txBody>
      </p:sp>
      <p:sp>
        <p:nvSpPr>
          <p:cNvPr id="37" name="Text 35"/>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280160" y="164592"/>
            <a:ext cx="10362895" cy="274320"/>
          </a:xfrm>
          <a:prstGeom prst="rect">
            <a:avLst/>
          </a:prstGeom>
          <a:noFill/>
          <a:ln/>
        </p:spPr>
        <p:txBody>
          <a:bodyPr wrap="square" lIns="0" tIns="0" rIns="0" bIns="0" rtlCol="0" anchor="ctr"/>
          <a:lstStyle/>
          <a:p>
            <a:pPr indent="0" marL="0">
              <a:buNone/>
            </a:pPr>
            <a:r>
              <a:rPr lang="en-US" sz="1200" b="1" spc="200" kern="0" dirty="0">
                <a:solidFill>
                  <a:srgbClr val="2F7D62"/>
                </a:solidFill>
                <a:latin typeface="Calibri" pitchFamily="34" charset="0"/>
                <a:ea typeface="Calibri" pitchFamily="34" charset="-122"/>
                <a:cs typeface="Calibri" pitchFamily="34" charset="-120"/>
              </a:rPr>
              <a:t>PREMIÈRE EXPLORATION</a:t>
            </a:r>
            <a:endParaRPr lang="en-US" sz="1200" dirty="0"/>
          </a:p>
        </p:txBody>
      </p:sp>
      <p:sp>
        <p:nvSpPr>
          <p:cNvPr id="5" name="Text 3"/>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Pratique : TP1, partie 5 et synthèse</a:t>
            </a:r>
            <a:endParaRPr lang="en-US" sz="3000" dirty="0"/>
          </a:p>
        </p:txBody>
      </p:sp>
      <p:sp>
        <p:nvSpPr>
          <p:cNvPr id="6" name="Text 4"/>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Exploration du jeu de données des ventes, dans le notebook </a:t>
            </a:r>
            <a:pPr indent="0" marL="0">
              <a:buNone/>
            </a:pPr>
            <a:r>
              <a:rPr lang="en-US" sz="1800" dirty="0">
                <a:solidFill>
                  <a:srgbClr val="1F3A5F"/>
                </a:solidFill>
                <a:latin typeface="Courier New" pitchFamily="34" charset="0"/>
                <a:ea typeface="Courier New" pitchFamily="34" charset="-122"/>
                <a:cs typeface="Courier New" pitchFamily="34" charset="-120"/>
              </a:rPr>
              <a:t>tp01.ipynb</a:t>
            </a:r>
            <a:endParaRPr lang="en-US" sz="18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2289324"/>
                <a:gridCol w="8805091"/>
              </a:tblGrid>
              <a:tr h="379984">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qu'on pratique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1F3A5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5.1 à 5.3</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dimensions, </a:t>
                      </a:r>
                      <a:pPr indent="0" marL="0">
                        <a:buNone/>
                      </a:pPr>
                      <a:r>
                        <a:rPr lang="en-US" sz="1600" dirty="0">
                          <a:solidFill>
                            <a:srgbClr val="1F3A5F"/>
                          </a:solidFill>
                          <a:latin typeface="Courier New" pitchFamily="34" charset="0"/>
                          <a:ea typeface="Courier New" pitchFamily="34" charset="-122"/>
                          <a:cs typeface="Courier New" pitchFamily="34" charset="-120"/>
                        </a:rPr>
                        <a:t>info</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isna</a:t>
                      </a:r>
                      <a:pPr indent="0" marL="0">
                        <a:buNone/>
                      </a:pPr>
                      <a:r>
                        <a:rPr lang="en-US" sz="1600" dirty="0">
                          <a:solidFill>
                            <a:srgbClr val="1F2933"/>
                          </a:solidFill>
                          <a:latin typeface="Calibri" pitchFamily="34" charset="0"/>
                          <a:ea typeface="Calibri" pitchFamily="34" charset="-122"/>
                          <a:cs typeface="Calibri" pitchFamily="34" charset="-120"/>
                        </a:rPr>
                        <a:t>, </a:t>
                      </a:r>
                      <a:pPr indent="0" marL="0">
                        <a:buNone/>
                      </a:pPr>
                      <a:r>
                        <a:rPr lang="en-US" sz="1600" dirty="0">
                          <a:solidFill>
                            <a:srgbClr val="1F3A5F"/>
                          </a:solidFill>
                          <a:latin typeface="Courier New" pitchFamily="34" charset="0"/>
                          <a:ea typeface="Courier New" pitchFamily="34" charset="-122"/>
                          <a:cs typeface="Courier New" pitchFamily="34" charset="-120"/>
                        </a:rPr>
                        <a:t>describe</a:t>
                      </a:r>
                      <a:pPr indent="0" marL="0">
                        <a:buNone/>
                      </a:pPr>
                      <a:r>
                        <a:rPr lang="en-US" sz="1600" dirty="0">
                          <a:solidFill>
                            <a:srgbClr val="1F2933"/>
                          </a:solidFill>
                          <a:latin typeface="Calibri" pitchFamily="34" charset="0"/>
                          <a:ea typeface="Calibri" pitchFamily="34" charset="-122"/>
                          <a:cs typeface="Calibri" pitchFamily="34" charset="-120"/>
                        </a:rPr>
                        <a:t> : manques et valeurs suspectes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5.4 à 5.6</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3A5F"/>
                          </a:solidFill>
                          <a:latin typeface="Courier New" pitchFamily="34" charset="0"/>
                          <a:ea typeface="Courier New" pitchFamily="34" charset="-122"/>
                          <a:cs typeface="Courier New" pitchFamily="34" charset="-120"/>
                        </a:rPr>
                        <a:t>value_counts</a:t>
                      </a:r>
                      <a:pPr indent="0" marL="0">
                        <a:buNone/>
                      </a:pPr>
                      <a:r>
                        <a:rPr lang="en-US" sz="1600" dirty="0">
                          <a:solidFill>
                            <a:srgbClr val="1F2933"/>
                          </a:solidFill>
                          <a:latin typeface="Calibri" pitchFamily="34" charset="0"/>
                          <a:ea typeface="Calibri" pitchFamily="34" charset="-122"/>
                          <a:cs typeface="Calibri" pitchFamily="34" charset="-120"/>
                        </a:rPr>
                        <a:t> et </a:t>
                      </a:r>
                      <a:pPr indent="0" marL="0">
                        <a:buNone/>
                      </a:pPr>
                      <a:r>
                        <a:rPr lang="en-US" sz="1600" dirty="0">
                          <a:solidFill>
                            <a:srgbClr val="1F3A5F"/>
                          </a:solidFill>
                          <a:latin typeface="Courier New" pitchFamily="34" charset="0"/>
                          <a:ea typeface="Courier New" pitchFamily="34" charset="-122"/>
                          <a:cs typeface="Courier New" pitchFamily="34" charset="-120"/>
                        </a:rPr>
                        <a:t>nunique</a:t>
                      </a:r>
                      <a:pPr indent="0" marL="0">
                        <a:buNone/>
                      </a:pPr>
                      <a:r>
                        <a:rPr lang="en-US" sz="1600" dirty="0">
                          <a:solidFill>
                            <a:srgbClr val="1F2933"/>
                          </a:solidFill>
                          <a:latin typeface="Calibri" pitchFamily="34" charset="0"/>
                          <a:ea typeface="Calibri" pitchFamily="34" charset="-122"/>
                          <a:cs typeface="Calibri" pitchFamily="34" charset="-120"/>
                        </a:rPr>
                        <a:t> : variantes d'écriture, commandes en double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5.7 et 5.8</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questions rapides, puis recherche libre d'autres anomalies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79984">
                <a:tc>
                  <a:txBody>
                    <a:bodyPr/>
                    <a:lstStyle/>
                    <a:p>
                      <a:pPr indent="0" marL="0">
                        <a:buNone/>
                      </a:pPr>
                      <a:r>
                        <a:rPr lang="en-US" sz="1600" b="1" dirty="0">
                          <a:solidFill>
                            <a:srgbClr val="1F2933"/>
                          </a:solidFill>
                          <a:latin typeface="Calibri" pitchFamily="34" charset="0"/>
                          <a:ea typeface="Calibri" pitchFamily="34" charset="-122"/>
                          <a:cs typeface="Calibri" pitchFamily="34" charset="-120"/>
                        </a:rPr>
                        <a:t>Synthèse</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c>
                  <a:txBody>
                    <a:bodyPr/>
                    <a:lstStyle/>
                    <a:p>
                      <a:pPr indent="0" marL="0">
                        <a:buNone/>
                      </a:pPr>
                      <a:r>
                        <a:rPr lang="en-US" sz="1600" dirty="0">
                          <a:solidFill>
                            <a:srgbClr val="1F2933"/>
                          </a:solidFill>
                          <a:latin typeface="Calibri" pitchFamily="34" charset="0"/>
                          <a:ea typeface="Calibri" pitchFamily="34" charset="-122"/>
                          <a:cs typeface="Calibri" pitchFamily="34" charset="-120"/>
                        </a:rPr>
                        <a:t>dimensions, types à corriger, manques, aberrantes, incohérences, questions</a:t>
                      </a:r>
                      <a:endParaRPr lang="en-US" sz="1200" dirty="0"/>
                    </a:p>
                  </a:txBody>
                  <a:tcPr marL="109728" marR="109728" marT="54864" marB="54864"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7F9FB"/>
                    </a:solidFill>
                  </a:tcPr>
                </a:tc>
              </a:tr>
            </a:tbl>
          </a:graphicData>
        </a:graphic>
      </p:graphicFrame>
      <p:sp>
        <p:nvSpPr>
          <p:cNvPr id="8" name="Shape 5"/>
          <p:cNvSpPr/>
          <p:nvPr/>
        </p:nvSpPr>
        <p:spPr>
          <a:xfrm>
            <a:off x="548640" y="4231640"/>
            <a:ext cx="11094415" cy="624840"/>
          </a:xfrm>
          <a:prstGeom prst="roundRect">
            <a:avLst>
              <a:gd name="adj" fmla="val 8780"/>
            </a:avLst>
          </a:prstGeom>
          <a:solidFill>
            <a:srgbClr val="E8F3EE"/>
          </a:solidFill>
          <a:ln/>
        </p:spPr>
      </p:sp>
      <p:sp>
        <p:nvSpPr>
          <p:cNvPr id="9" name="Text 6"/>
          <p:cNvSpPr txBox="1"/>
          <p:nvPr/>
        </p:nvSpPr>
        <p:spPr>
          <a:xfrm>
            <a:off x="822960" y="4231640"/>
            <a:ext cx="10545775" cy="62484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La synthèse, rédigée dans le notebook, sert de point de départ au nettoyage de cet après-midi.</a:t>
            </a:r>
            <a:endParaRPr lang="en-US" sz="1700" dirty="0"/>
          </a:p>
        </p:txBody>
      </p:sp>
      <p:sp>
        <p:nvSpPr>
          <p:cNvPr id="10" name="Text 7"/>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475488" cy="475488"/>
          </a:xfrm>
          <a:prstGeom prst="ellipse">
            <a:avLst/>
          </a:prstGeom>
          <a:solidFill>
            <a:srgbClr val="2F7D62"/>
          </a:solidFill>
          <a:ln/>
        </p:spPr>
      </p:sp>
      <p:sp>
        <p:nvSpPr>
          <p:cNvPr id="3" name="Text 1"/>
          <p:cNvSpPr txBox="1"/>
          <p:nvPr/>
        </p:nvSpPr>
        <p:spPr>
          <a:xfrm>
            <a:off x="548640" y="56692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280160" y="457200"/>
            <a:ext cx="10362895" cy="694944"/>
          </a:xfrm>
          <a:prstGeom prst="rect">
            <a:avLst/>
          </a:prstGeom>
          <a:noFill/>
          <a:ln/>
        </p:spPr>
        <p:txBody>
          <a:bodyPr wrap="square" lIns="0" tIns="0" rIns="0" bIns="0" rtlCol="0" anchor="ctr"/>
          <a:lstStyle/>
          <a:p>
            <a:pPr indent="0" marL="0">
              <a:buNone/>
            </a:pPr>
            <a:r>
              <a:rPr lang="en-US" sz="3000" b="1" dirty="0">
                <a:solidFill>
                  <a:srgbClr val="1F3A5F"/>
                </a:solidFill>
                <a:latin typeface="Cambria" pitchFamily="34" charset="0"/>
                <a:ea typeface="Cambria" pitchFamily="34" charset="-122"/>
                <a:cs typeface="Cambria" pitchFamily="34" charset="-120"/>
              </a:rPr>
              <a:t>TP1 : environnement et première exploration</a:t>
            </a:r>
            <a:endParaRPr lang="en-US" sz="3000" dirty="0"/>
          </a:p>
        </p:txBody>
      </p:sp>
      <p:sp>
        <p:nvSpPr>
          <p:cNvPr id="5" name="Text 3"/>
          <p:cNvSpPr txBox="1"/>
          <p:nvPr/>
        </p:nvSpPr>
        <p:spPr>
          <a:xfrm>
            <a:off x="548640" y="1417320"/>
            <a:ext cx="11094415" cy="411480"/>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Le notebook </a:t>
            </a:r>
            <a:pPr indent="0" marL="0">
              <a:buNone/>
            </a:pPr>
            <a:r>
              <a:rPr lang="en-US" sz="1800" dirty="0">
                <a:solidFill>
                  <a:srgbClr val="1F3A5F"/>
                </a:solidFill>
                <a:latin typeface="Courier New" pitchFamily="34" charset="0"/>
                <a:ea typeface="Courier New" pitchFamily="34" charset="-122"/>
                <a:cs typeface="Courier New" pitchFamily="34" charset="-120"/>
              </a:rPr>
              <a:t>exercices/tp01-environnement-pandas/tp01.ipynb</a:t>
            </a:r>
            <a:pPr indent="0" marL="0">
              <a:buNone/>
            </a:pPr>
            <a:r>
              <a:rPr lang="en-US" sz="1800" dirty="0">
                <a:solidFill>
                  <a:srgbClr val="6B7280"/>
                </a:solidFill>
                <a:latin typeface="Calibri" pitchFamily="34" charset="0"/>
                <a:ea typeface="Calibri" pitchFamily="34" charset="-122"/>
                <a:cs typeface="Calibri" pitchFamily="34" charset="-120"/>
              </a:rPr>
              <a:t>, complété au fil de la matinée</a:t>
            </a:r>
            <a:endParaRPr lang="en-US" sz="1800" dirty="0"/>
          </a:p>
        </p:txBody>
      </p:sp>
      <p:sp>
        <p:nvSpPr>
          <p:cNvPr id="6" name="Shape 4"/>
          <p:cNvSpPr/>
          <p:nvPr/>
        </p:nvSpPr>
        <p:spPr>
          <a:xfrm>
            <a:off x="548640" y="2011680"/>
            <a:ext cx="3515258" cy="2331720"/>
          </a:xfrm>
          <a:prstGeom prst="roundRect">
            <a:avLst>
              <a:gd name="adj" fmla="val 3137"/>
            </a:avLst>
          </a:prstGeom>
          <a:solidFill>
            <a:srgbClr val="EEF3F7"/>
          </a:solidFill>
          <a:ln/>
        </p:spPr>
      </p:sp>
      <p:sp>
        <p:nvSpPr>
          <p:cNvPr id="7" name="Shape 5"/>
          <p:cNvSpPr/>
          <p:nvPr/>
        </p:nvSpPr>
        <p:spPr>
          <a:xfrm>
            <a:off x="777240" y="2286000"/>
            <a:ext cx="402336" cy="402336"/>
          </a:xfrm>
          <a:prstGeom prst="ellipse">
            <a:avLst/>
          </a:prstGeom>
          <a:solidFill>
            <a:srgbClr val="2F7D62"/>
          </a:solidFill>
          <a:ln/>
        </p:spPr>
      </p:sp>
      <p:sp>
        <p:nvSpPr>
          <p:cNvPr id="8" name="Text 6"/>
          <p:cNvSpPr txBox="1"/>
          <p:nvPr/>
        </p:nvSpPr>
        <p:spPr>
          <a:xfrm>
            <a:off x="777240"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777240"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Mettre en place</a:t>
            </a:r>
            <a:endParaRPr lang="en-US" sz="1800" dirty="0"/>
          </a:p>
        </p:txBody>
      </p:sp>
      <p:sp>
        <p:nvSpPr>
          <p:cNvPr id="10" name="Text 8"/>
          <p:cNvSpPr txBox="1"/>
          <p:nvPr/>
        </p:nvSpPr>
        <p:spPr>
          <a:xfrm>
            <a:off x="777240"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 0 : un environnement virtuel avec venv, les bibliothèques avec pip, Jupyter lancé depuis l'environnement.</a:t>
            </a:r>
            <a:endParaRPr lang="en-US" sz="1500" dirty="0"/>
          </a:p>
        </p:txBody>
      </p:sp>
      <p:sp>
        <p:nvSpPr>
          <p:cNvPr id="11" name="Shape 9"/>
          <p:cNvSpPr/>
          <p:nvPr/>
        </p:nvSpPr>
        <p:spPr>
          <a:xfrm>
            <a:off x="4338218" y="2011680"/>
            <a:ext cx="3515258" cy="2331720"/>
          </a:xfrm>
          <a:prstGeom prst="roundRect">
            <a:avLst>
              <a:gd name="adj" fmla="val 3137"/>
            </a:avLst>
          </a:prstGeom>
          <a:solidFill>
            <a:srgbClr val="EEF3F7"/>
          </a:solidFill>
          <a:ln/>
        </p:spPr>
      </p:sp>
      <p:sp>
        <p:nvSpPr>
          <p:cNvPr id="12" name="Shape 10"/>
          <p:cNvSpPr/>
          <p:nvPr/>
        </p:nvSpPr>
        <p:spPr>
          <a:xfrm>
            <a:off x="4566818" y="2286000"/>
            <a:ext cx="402336" cy="402336"/>
          </a:xfrm>
          <a:prstGeom prst="ellipse">
            <a:avLst/>
          </a:prstGeom>
          <a:solidFill>
            <a:srgbClr val="2F7D62"/>
          </a:solidFill>
          <a:ln/>
        </p:spPr>
      </p:sp>
      <p:sp>
        <p:nvSpPr>
          <p:cNvPr id="13" name="Text 11"/>
          <p:cNvSpPr txBox="1"/>
          <p:nvPr/>
        </p:nvSpPr>
        <p:spPr>
          <a:xfrm>
            <a:off x="4566818"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4566818"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Pratiquer</a:t>
            </a:r>
            <a:endParaRPr lang="en-US" sz="1800" dirty="0"/>
          </a:p>
        </p:txBody>
      </p:sp>
      <p:sp>
        <p:nvSpPr>
          <p:cNvPr id="15" name="Text 13"/>
          <p:cNvSpPr txBox="1"/>
          <p:nvPr/>
        </p:nvSpPr>
        <p:spPr>
          <a:xfrm>
            <a:off x="4566818"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Parties 1 à 4 : Python intermédiaire, numpy, Series et DataFrame, lecture et écriture de fichiers.</a:t>
            </a:r>
            <a:endParaRPr lang="en-US" sz="1500" dirty="0"/>
          </a:p>
        </p:txBody>
      </p:sp>
      <p:sp>
        <p:nvSpPr>
          <p:cNvPr id="16" name="Shape 14"/>
          <p:cNvSpPr/>
          <p:nvPr/>
        </p:nvSpPr>
        <p:spPr>
          <a:xfrm>
            <a:off x="8127797" y="2011680"/>
            <a:ext cx="3515258" cy="2331720"/>
          </a:xfrm>
          <a:prstGeom prst="roundRect">
            <a:avLst>
              <a:gd name="adj" fmla="val 3137"/>
            </a:avLst>
          </a:prstGeom>
          <a:solidFill>
            <a:srgbClr val="EEF3F7"/>
          </a:solidFill>
          <a:ln/>
        </p:spPr>
      </p:sp>
      <p:sp>
        <p:nvSpPr>
          <p:cNvPr id="17" name="Shape 15"/>
          <p:cNvSpPr/>
          <p:nvPr/>
        </p:nvSpPr>
        <p:spPr>
          <a:xfrm>
            <a:off x="8356397" y="2286000"/>
            <a:ext cx="402336" cy="402336"/>
          </a:xfrm>
          <a:prstGeom prst="ellipse">
            <a:avLst/>
          </a:prstGeom>
          <a:solidFill>
            <a:srgbClr val="2F7D62"/>
          </a:solidFill>
          <a:ln/>
        </p:spPr>
      </p:sp>
      <p:sp>
        <p:nvSpPr>
          <p:cNvPr id="18" name="Text 16"/>
          <p:cNvSpPr txBox="1"/>
          <p:nvPr/>
        </p:nvSpPr>
        <p:spPr>
          <a:xfrm>
            <a:off x="8356397"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8356397" y="2834640"/>
            <a:ext cx="3058058" cy="274320"/>
          </a:xfrm>
          <a:prstGeom prst="rect">
            <a:avLst/>
          </a:prstGeom>
          <a:noFill/>
          <a:ln/>
        </p:spPr>
        <p:txBody>
          <a:bodyPr wrap="square" lIns="0" tIns="0" rIns="0" bIns="0" rtlCol="0" anchor="t"/>
          <a:lstStyle/>
          <a:p>
            <a:pPr indent="0" marL="0">
              <a:buNone/>
            </a:pPr>
            <a:r>
              <a:rPr lang="en-US" sz="1800" b="1" dirty="0">
                <a:solidFill>
                  <a:srgbClr val="1F3A5F"/>
                </a:solidFill>
                <a:latin typeface="Calibri" pitchFamily="34" charset="0"/>
                <a:ea typeface="Calibri" pitchFamily="34" charset="-122"/>
                <a:cs typeface="Calibri" pitchFamily="34" charset="-120"/>
              </a:rPr>
              <a:t>Explorer</a:t>
            </a:r>
            <a:endParaRPr lang="en-US" sz="1800" dirty="0"/>
          </a:p>
        </p:txBody>
      </p:sp>
      <p:sp>
        <p:nvSpPr>
          <p:cNvPr id="20" name="Text 18"/>
          <p:cNvSpPr txBox="1"/>
          <p:nvPr/>
        </p:nvSpPr>
        <p:spPr>
          <a:xfrm>
            <a:off x="8356397" y="3200400"/>
            <a:ext cx="3058058" cy="960120"/>
          </a:xfrm>
          <a:prstGeom prst="rect">
            <a:avLst/>
          </a:prstGeom>
          <a:noFill/>
          <a:ln/>
        </p:spPr>
        <p:txBody>
          <a:bodyPr wrap="square" lIns="0" tIns="0" rIns="0" bIns="0" rtlCol="0" anchor="t"/>
          <a:lstStyle/>
          <a:p>
            <a:pPr indent="0" marL="0">
              <a:buNone/>
            </a:pPr>
            <a:r>
              <a:rPr lang="en-US" sz="1500" dirty="0">
                <a:solidFill>
                  <a:srgbClr val="1F2933"/>
                </a:solidFill>
                <a:latin typeface="Calibri" pitchFamily="34" charset="0"/>
                <a:ea typeface="Calibri" pitchFamily="34" charset="-122"/>
                <a:cs typeface="Calibri" pitchFamily="34" charset="-120"/>
              </a:rPr>
              <a:t>Partie 5 : explorer les ventes, puis rédiger la synthèse : dimensions, types, valeurs aberrantes, questions à creuser.</a:t>
            </a:r>
            <a:endParaRPr lang="en-US" sz="1500" dirty="0"/>
          </a:p>
        </p:txBody>
      </p:sp>
      <p:sp>
        <p:nvSpPr>
          <p:cNvPr id="21" name="Shape 19"/>
          <p:cNvSpPr/>
          <p:nvPr/>
        </p:nvSpPr>
        <p:spPr>
          <a:xfrm>
            <a:off x="548640" y="4663440"/>
            <a:ext cx="11094415" cy="883920"/>
          </a:xfrm>
          <a:prstGeom prst="roundRect">
            <a:avLst>
              <a:gd name="adj" fmla="val 6207"/>
            </a:avLst>
          </a:prstGeom>
          <a:solidFill>
            <a:srgbClr val="E8F3EE"/>
          </a:solidFill>
          <a:ln/>
        </p:spPr>
      </p:sp>
      <p:sp>
        <p:nvSpPr>
          <p:cNvPr id="22" name="Text 20"/>
          <p:cNvSpPr txBox="1"/>
          <p:nvPr/>
        </p:nvSpPr>
        <p:spPr>
          <a:xfrm>
            <a:off x="822960" y="4663440"/>
            <a:ext cx="10545775" cy="883920"/>
          </a:xfrm>
          <a:prstGeom prst="rect">
            <a:avLst/>
          </a:prstGeom>
          <a:noFill/>
          <a:ln/>
        </p:spPr>
        <p:txBody>
          <a:bodyPr wrap="square" lIns="0" tIns="0" rIns="0" bIns="0" rtlCol="0" anchor="ctr"/>
          <a:lstStyle/>
          <a:p>
            <a:pPr indent="0" marL="0">
              <a:buNone/>
            </a:pPr>
            <a:r>
              <a:rPr lang="en-US" sz="1700" dirty="0">
                <a:solidFill>
                  <a:srgbClr val="1F3A5F"/>
                </a:solidFill>
                <a:latin typeface="Calibri" pitchFamily="34" charset="0"/>
                <a:ea typeface="Calibri" pitchFamily="34" charset="-122"/>
                <a:cs typeface="Calibri" pitchFamily="34" charset="-120"/>
              </a:rPr>
              <a:t>Livrable : un environnement virtuel avec son </a:t>
            </a:r>
            <a:pPr indent="0" marL="0">
              <a:buNone/>
            </a:pPr>
            <a:r>
              <a:rPr lang="en-US" sz="1700" dirty="0">
                <a:solidFill>
                  <a:srgbClr val="2F7D62"/>
                </a:solidFill>
                <a:latin typeface="Courier New" pitchFamily="34" charset="0"/>
                <a:ea typeface="Courier New" pitchFamily="34" charset="-122"/>
                <a:cs typeface="Courier New" pitchFamily="34" charset="-120"/>
              </a:rPr>
              <a:t>requirements.txt</a:t>
            </a:r>
            <a:pPr indent="0" marL="0">
              <a:buNone/>
            </a:pPr>
            <a:r>
              <a:rPr lang="en-US" sz="1700" dirty="0">
                <a:solidFill>
                  <a:srgbClr val="1F3A5F"/>
                </a:solidFill>
                <a:latin typeface="Calibri" pitchFamily="34" charset="0"/>
                <a:ea typeface="Calibri" pitchFamily="34" charset="-122"/>
                <a:cs typeface="Calibri" pitchFamily="34" charset="-120"/>
              </a:rPr>
              <a:t>, et le notebook d'exploration commenté, qui s'exécute de haut en bas.</a:t>
            </a:r>
            <a:endParaRPr lang="en-US" sz="1700" dirty="0"/>
          </a:p>
        </p:txBody>
      </p:sp>
      <p:sp>
        <p:nvSpPr>
          <p:cNvPr id="23" name="Text 21"/>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Analyse de données avec Python   |   Jour 1, matin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F3A5F"/>
        </a:solidFill>
      </p:bgPr>
    </p:bg>
    <p:spTree>
      <p:nvGrpSpPr>
        <p:cNvPr id="1" name=""/>
        <p:cNvGrpSpPr/>
        <p:nvPr/>
      </p:nvGrpSpPr>
      <p:grpSpPr>
        <a:xfrm>
          <a:off x="0" y="0"/>
          <a:ext cx="0" cy="0"/>
          <a:chOff x="0" y="0"/>
          <a:chExt cx="0" cy="0"/>
        </a:xfrm>
      </p:grpSpPr>
      <p:sp>
        <p:nvSpPr>
          <p:cNvPr id="2" name="Text 0"/>
          <p:cNvSpPr txBox="1"/>
          <p:nvPr/>
        </p:nvSpPr>
        <p:spPr>
          <a:xfrm>
            <a:off x="548640" y="45720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À retenir</a:t>
            </a:r>
            <a:endParaRPr lang="en-US" sz="3400" dirty="0"/>
          </a:p>
        </p:txBody>
      </p:sp>
      <p:sp>
        <p:nvSpPr>
          <p:cNvPr id="3" name="Text 1"/>
          <p:cNvSpPr txBox="1"/>
          <p:nvPr/>
        </p:nvSpPr>
        <p:spPr>
          <a:xfrm>
            <a:off x="548640" y="1417320"/>
            <a:ext cx="5272888" cy="368808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Ubuntu : </a:t>
            </a:r>
            <a:pPr indent="0" marL="0">
              <a:buNone/>
            </a:pPr>
            <a:r>
              <a:rPr lang="en-US" sz="1600" dirty="0">
                <a:solidFill>
                  <a:srgbClr val="8FD1B5"/>
                </a:solidFill>
                <a:latin typeface="Courier New" pitchFamily="34" charset="0"/>
                <a:ea typeface="Courier New" pitchFamily="34" charset="-122"/>
                <a:cs typeface="Courier New" pitchFamily="34" charset="-120"/>
              </a:rPr>
              <a:t>python3</a:t>
            </a:r>
            <a:pPr indent="0" marL="0">
              <a:buNone/>
            </a:pPr>
            <a:r>
              <a:rPr lang="en-US" sz="1600" dirty="0">
                <a:solidFill>
                  <a:srgbClr val="FFFFFF"/>
                </a:solidFill>
                <a:latin typeface="Calibri" pitchFamily="34" charset="0"/>
                <a:ea typeface="Calibri" pitchFamily="34" charset="-122"/>
                <a:cs typeface="Calibri" pitchFamily="34" charset="-120"/>
              </a:rPr>
              <a:t> hors environnement, </a:t>
            </a:r>
            <a:pPr indent="0" marL="0">
              <a:buNone/>
            </a:pPr>
            <a:r>
              <a:rPr lang="en-US" sz="1600" dirty="0">
                <a:solidFill>
                  <a:srgbClr val="8FD1B5"/>
                </a:solidFill>
                <a:latin typeface="Courier New" pitchFamily="34" charset="0"/>
                <a:ea typeface="Courier New" pitchFamily="34" charset="-122"/>
                <a:cs typeface="Courier New" pitchFamily="34" charset="-120"/>
              </a:rPr>
              <a:t>python</a:t>
            </a:r>
            <a:pPr indent="0" marL="0">
              <a:buNone/>
            </a:pPr>
            <a:r>
              <a:rPr lang="en-US" sz="1600" dirty="0">
                <a:solidFill>
                  <a:srgbClr val="FFFFFF"/>
                </a:solidFill>
                <a:latin typeface="Calibri" pitchFamily="34" charset="0"/>
                <a:ea typeface="Calibri" pitchFamily="34" charset="-122"/>
                <a:cs typeface="Calibri" pitchFamily="34" charset="-120"/>
              </a:rPr>
              <a:t> dans le </a:t>
            </a:r>
            <a:pPr indent="0" marL="0">
              <a:buNone/>
            </a:pPr>
            <a:r>
              <a:rPr lang="en-US" sz="1600" dirty="0">
                <a:solidFill>
                  <a:srgbClr val="8FD1B5"/>
                </a:solidFill>
                <a:latin typeface="Courier New" pitchFamily="34" charset="0"/>
                <a:ea typeface="Courier New" pitchFamily="34" charset="-122"/>
                <a:cs typeface="Courier New" pitchFamily="34" charset="-120"/>
              </a:rPr>
              <a:t>.venv</a:t>
            </a:r>
            <a:pPr indent="0" marL="0">
              <a:buNone/>
            </a:pPr>
            <a:r>
              <a:rPr lang="en-US" sz="1600" dirty="0">
                <a:solidFill>
                  <a:srgbClr val="FFFFFF"/>
                </a:solidFill>
                <a:latin typeface="Calibri" pitchFamily="34" charset="0"/>
                <a:ea typeface="Calibri" pitchFamily="34" charset="-122"/>
                <a:cs typeface="Calibri" pitchFamily="34" charset="-120"/>
              </a:rPr>
              <a:t> ; </a:t>
            </a:r>
            <a:pPr indent="0" marL="0">
              <a:buNone/>
            </a:pPr>
            <a:r>
              <a:rPr lang="en-US" sz="1600" dirty="0">
                <a:solidFill>
                  <a:srgbClr val="8FD1B5"/>
                </a:solidFill>
                <a:latin typeface="Courier New" pitchFamily="34" charset="0"/>
                <a:ea typeface="Courier New" pitchFamily="34" charset="-122"/>
                <a:cs typeface="Courier New" pitchFamily="34" charset="-120"/>
              </a:rPr>
              <a:t>pip install</a:t>
            </a:r>
            <a:pPr indent="0" marL="0">
              <a:buNone/>
            </a:pPr>
            <a:r>
              <a:rPr lang="en-US" sz="1600" dirty="0">
                <a:solidFill>
                  <a:srgbClr val="FFFFFF"/>
                </a:solidFill>
                <a:latin typeface="Calibri" pitchFamily="34" charset="0"/>
                <a:ea typeface="Calibri" pitchFamily="34" charset="-122"/>
                <a:cs typeface="Calibri" pitchFamily="34" charset="-120"/>
              </a:rPr>
              <a:t> toujours dans un environnement virtuel</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Un projet, un </a:t>
            </a:r>
            <a:pPr indent="0" marL="0">
              <a:buNone/>
            </a:pPr>
            <a:r>
              <a:rPr lang="en-US" sz="1600" dirty="0">
                <a:solidFill>
                  <a:srgbClr val="8FD1B5"/>
                </a:solidFill>
                <a:latin typeface="Courier New" pitchFamily="34" charset="0"/>
                <a:ea typeface="Courier New" pitchFamily="34" charset="-122"/>
                <a:cs typeface="Courier New" pitchFamily="34" charset="-120"/>
              </a:rPr>
              <a:t>.venv</a:t>
            </a:r>
            <a:pPr indent="0" marL="0">
              <a:buNone/>
            </a:pPr>
            <a:r>
              <a:rPr lang="en-US" sz="1600" dirty="0">
                <a:solidFill>
                  <a:srgbClr val="FFFFFF"/>
                </a:solidFill>
                <a:latin typeface="Calibri" pitchFamily="34" charset="0"/>
                <a:ea typeface="Calibri" pitchFamily="34" charset="-122"/>
                <a:cs typeface="Calibri" pitchFamily="34" charset="-120"/>
              </a:rPr>
              <a:t>, un </a:t>
            </a:r>
            <a:pPr indent="0" marL="0">
              <a:buNone/>
            </a:pPr>
            <a:r>
              <a:rPr lang="en-US" sz="1600" dirty="0">
                <a:solidFill>
                  <a:srgbClr val="8FD1B5"/>
                </a:solidFill>
                <a:latin typeface="Courier New" pitchFamily="34" charset="0"/>
                <a:ea typeface="Courier New" pitchFamily="34" charset="-122"/>
                <a:cs typeface="Courier New" pitchFamily="34" charset="-120"/>
              </a:rPr>
              <a:t>requirements.txt</a:t>
            </a:r>
            <a:pPr indent="0" marL="0">
              <a:buNone/>
            </a:pPr>
            <a:r>
              <a:rPr lang="en-US" sz="1600" dirty="0">
                <a:solidFill>
                  <a:srgbClr val="FFFFFF"/>
                </a:solidFill>
                <a:latin typeface="Calibri" pitchFamily="34" charset="0"/>
                <a:ea typeface="Calibri" pitchFamily="34" charset="-122"/>
                <a:cs typeface="Calibri" pitchFamily="34" charset="-120"/>
              </a:rPr>
              <a:t>. Le </a:t>
            </a:r>
            <a:pPr indent="0" marL="0">
              <a:buNone/>
            </a:pPr>
            <a:r>
              <a:rPr lang="en-US" sz="1600" dirty="0">
                <a:solidFill>
                  <a:srgbClr val="8FD1B5"/>
                </a:solidFill>
                <a:latin typeface="Courier New" pitchFamily="34" charset="0"/>
                <a:ea typeface="Courier New" pitchFamily="34" charset="-122"/>
                <a:cs typeface="Courier New" pitchFamily="34" charset="-120"/>
              </a:rPr>
              <a:t>.venv</a:t>
            </a:r>
            <a:pPr indent="0" marL="0">
              <a:buNone/>
            </a:pPr>
            <a:r>
              <a:rPr lang="en-US" sz="1600" dirty="0">
                <a:solidFill>
                  <a:srgbClr val="FFFFFF"/>
                </a:solidFill>
                <a:latin typeface="Calibri" pitchFamily="34" charset="0"/>
                <a:ea typeface="Calibri" pitchFamily="34" charset="-122"/>
                <a:cs typeface="Calibri" pitchFamily="34" charset="-120"/>
              </a:rPr>
              <a:t> ne se partage pas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Avant de partager un notebook : tout réexécuter</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Compréhensions : concises, tant qu'elles restent lisibles</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lambda</a:t>
            </a:r>
            <a:pPr indent="0" marL="0">
              <a:buNone/>
            </a:pPr>
            <a:r>
              <a:rPr lang="en-US" sz="1600" dirty="0">
                <a:solidFill>
                  <a:srgbClr val="FFFFFF"/>
                </a:solidFill>
                <a:latin typeface="Calibri" pitchFamily="34" charset="0"/>
                <a:ea typeface="Calibri" pitchFamily="34" charset="-122"/>
                <a:cs typeface="Calibri" pitchFamily="34" charset="-120"/>
              </a:rPr>
              <a:t> : une petite fonction passée en argument</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f-strings pour formater (</a:t>
            </a:r>
            <a:pPr indent="0" marL="0">
              <a:buNone/>
            </a:pPr>
            <a:r>
              <a:rPr lang="en-US" sz="1600" dirty="0">
                <a:solidFill>
                  <a:srgbClr val="8FD1B5"/>
                </a:solidFill>
                <a:latin typeface="Courier New" pitchFamily="34" charset="0"/>
                <a:ea typeface="Courier New" pitchFamily="34" charset="-122"/>
                <a:cs typeface="Courier New" pitchFamily="34" charset="-120"/>
              </a:rPr>
              <a:t>:,.2f</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:.1%</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assert</a:t>
            </a:r>
            <a:pPr indent="0" marL="0">
              <a:buNone/>
            </a:pPr>
            <a:r>
              <a:rPr lang="en-US" sz="1600" dirty="0">
                <a:solidFill>
                  <a:srgbClr val="FFFFFF"/>
                </a:solidFill>
                <a:latin typeface="Calibri" pitchFamily="34" charset="0"/>
                <a:ea typeface="Calibri" pitchFamily="34" charset="-122"/>
                <a:cs typeface="Calibri" pitchFamily="34" charset="-120"/>
              </a:rPr>
              <a:t> pour vérifier</a:t>
            </a:r>
            <a:endParaRPr lang="en-US" sz="1600" dirty="0"/>
          </a:p>
        </p:txBody>
      </p:sp>
      <p:sp>
        <p:nvSpPr>
          <p:cNvPr id="4" name="Text 2"/>
          <p:cNvSpPr txBox="1"/>
          <p:nvPr/>
        </p:nvSpPr>
        <p:spPr>
          <a:xfrm>
            <a:off x="6370168" y="1417320"/>
            <a:ext cx="5272888" cy="3688080"/>
          </a:xfrm>
          <a:prstGeom prst="rect">
            <a:avLst/>
          </a:prstGeom>
          <a:noFill/>
          <a:ln/>
        </p:spPr>
        <p:txBody>
          <a:bodyPr wrap="square" lIns="0" tIns="0" rIns="0" bIns="0" rtlCol="0" anchor="t"/>
          <a:lstStyle/>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numpy : un tableau d'un seul type, on calcule et on filtre sans boucle</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axis=0</a:t>
            </a:r>
            <a:pPr indent="0" marL="0">
              <a:buNone/>
            </a:pPr>
            <a:r>
              <a:rPr lang="en-US" sz="1600" dirty="0">
                <a:solidFill>
                  <a:srgbClr val="FFFFFF"/>
                </a:solidFill>
                <a:latin typeface="Calibri" pitchFamily="34" charset="0"/>
                <a:ea typeface="Calibri" pitchFamily="34" charset="-122"/>
                <a:cs typeface="Calibri" pitchFamily="34" charset="-120"/>
              </a:rPr>
              <a:t> : un résultat par colonne. </a:t>
            </a:r>
            <a:pPr indent="0" marL="0">
              <a:buNone/>
            </a:pPr>
            <a:r>
              <a:rPr lang="en-US" sz="1600" dirty="0">
                <a:solidFill>
                  <a:srgbClr val="8FD1B5"/>
                </a:solidFill>
                <a:latin typeface="Courier New" pitchFamily="34" charset="0"/>
                <a:ea typeface="Courier New" pitchFamily="34" charset="-122"/>
                <a:cs typeface="Courier New" pitchFamily="34" charset="-120"/>
              </a:rPr>
              <a:t>axis=1</a:t>
            </a:r>
            <a:pPr indent="0" marL="0">
              <a:buNone/>
            </a:pPr>
            <a:r>
              <a:rPr lang="en-US" sz="1600" dirty="0">
                <a:solidFill>
                  <a:srgbClr val="FFFFFF"/>
                </a:solidFill>
                <a:latin typeface="Calibri" pitchFamily="34" charset="0"/>
                <a:ea typeface="Calibri" pitchFamily="34" charset="-122"/>
                <a:cs typeface="Calibri" pitchFamily="34" charset="-120"/>
              </a:rPr>
              <a:t> : par ligne</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Series : une colonne avec un index. DataFrame : des Series qui partagent l'index</a:t>
            </a:r>
            <a:endParaRPr lang="en-US" sz="1600" dirty="0"/>
          </a:p>
          <a:p>
            <a:pPr marL="254000" indent="-254000">
              <a:spcAft>
                <a:spcPts val="1200"/>
              </a:spcAft>
              <a:buSzPct val="100000"/>
              <a:buChar char="•"/>
            </a:pPr>
            <a:r>
              <a:rPr lang="en-US" sz="1600" dirty="0">
                <a:solidFill>
                  <a:srgbClr val="8FD1B5"/>
                </a:solidFill>
                <a:latin typeface="Courier New" pitchFamily="34" charset="0"/>
                <a:ea typeface="Courier New" pitchFamily="34" charset="-122"/>
                <a:cs typeface="Courier New" pitchFamily="34" charset="-120"/>
              </a:rPr>
              <a:t>read_csv</a:t>
            </a:r>
            <a:pPr indent="0" marL="0">
              <a:buNone/>
            </a:pPr>
            <a:r>
              <a:rPr lang="en-US" sz="1600" dirty="0">
                <a:solidFill>
                  <a:srgbClr val="FFFFFF"/>
                </a:solidFill>
                <a:latin typeface="Calibri" pitchFamily="34" charset="0"/>
                <a:ea typeface="Calibri" pitchFamily="34" charset="-122"/>
                <a:cs typeface="Calibri" pitchFamily="34" charset="-120"/>
              </a:rPr>
              <a:t> : </a:t>
            </a:r>
            <a:pPr indent="0" marL="0">
              <a:buNone/>
            </a:pPr>
            <a:r>
              <a:rPr lang="en-US" sz="1600" dirty="0">
                <a:solidFill>
                  <a:srgbClr val="8FD1B5"/>
                </a:solidFill>
                <a:latin typeface="Courier New" pitchFamily="34" charset="0"/>
                <a:ea typeface="Courier New" pitchFamily="34" charset="-122"/>
                <a:cs typeface="Courier New" pitchFamily="34" charset="-120"/>
              </a:rPr>
              <a:t>sep</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decimal</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encoding</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dtype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parse_dates</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Parquet conserve les types et pèse moins lourd</a:t>
            </a:r>
            <a:endParaRPr lang="en-US" sz="1600" dirty="0"/>
          </a:p>
          <a:p>
            <a:pPr marL="254000" indent="-2540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Toujours commencer par </a:t>
            </a:r>
            <a:pPr indent="0" marL="0">
              <a:buNone/>
            </a:pPr>
            <a:r>
              <a:rPr lang="en-US" sz="1600" dirty="0">
                <a:solidFill>
                  <a:srgbClr val="8FD1B5"/>
                </a:solidFill>
                <a:latin typeface="Courier New" pitchFamily="34" charset="0"/>
                <a:ea typeface="Courier New" pitchFamily="34" charset="-122"/>
                <a:cs typeface="Courier New" pitchFamily="34" charset="-120"/>
              </a:rPr>
              <a:t>shape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info</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describe</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isna</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value_counts</a:t>
            </a:r>
            <a:pPr indent="0" marL="0">
              <a:buNone/>
            </a:pPr>
            <a:r>
              <a:rPr lang="en-US" sz="1600" dirty="0">
                <a:solidFill>
                  <a:srgbClr val="FFFFFF"/>
                </a:solidFill>
                <a:latin typeface="Calibri" pitchFamily="34" charset="0"/>
                <a:ea typeface="Calibri" pitchFamily="34" charset="-122"/>
                <a:cs typeface="Calibri" pitchFamily="34" charset="-120"/>
              </a:rPr>
              <a:t>, </a:t>
            </a:r>
            <a:pPr indent="0" marL="0">
              <a:buNone/>
            </a:pPr>
            <a:r>
              <a:rPr lang="en-US" sz="1600" dirty="0">
                <a:solidFill>
                  <a:srgbClr val="8FD1B5"/>
                </a:solidFill>
                <a:latin typeface="Courier New" pitchFamily="34" charset="0"/>
                <a:ea typeface="Courier New" pitchFamily="34" charset="-122"/>
                <a:cs typeface="Courier New" pitchFamily="34" charset="-120"/>
              </a:rPr>
              <a:t>nunique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de données avec Python, jour 1 matin</dc:title>
  <dc:subject>PptxGenJS Presentation</dc:subject>
  <dc:creator/>
  <cp:lastModifiedBy/>
  <cp:revision>1</cp:revision>
  <dcterms:created xsi:type="dcterms:W3CDTF">2026-10-20T20:55:28Z</dcterms:created>
  <dcterms:modified xsi:type="dcterms:W3CDTF">2026-10-20T20:55:28Z</dcterms:modified>
</cp:coreProperties>
</file>