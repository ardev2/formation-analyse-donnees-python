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sur le TP4 : quelques graphiques du tableau de bord peuvent être montrés au groupe en ouverture.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de la matinée : transformer le traitement du TP3 en un outil qu'on relance chaque mois, qu'un collègue comprend et qu'un serveur peut exécuter seul. Beaucoup de notions, chacune présentée rapidement puis mise en pratique aussitôt : chaque bloc de cours est suivi des étapes du TP5 correspondantes. Le README du TP5 donne, pour chaque étape, le résultat attendu des commandes à lancer, et le fichier tests/test_recette.py vérifie les chiffres sur les vraies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Découverte ce matin, approfondissement cet après-midi. Le bloc se termine par l'étape 0 du TP5.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uv est un programme autonome : il ne s'installe pas dans un environnement Python. Il fonctionne avec le Python 3.12 des postes comme avec les versions qu'il sait télécharger lui-même. Sur Ubuntu et macOS, la ligne source rend la commande uv disponible dans le terminal courant, sans avoir à le rouvrir.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pyproject.toml est le fichier standard de description d'un projet Python, utilisé par tous les outils modernes. uv n'initialise pas de dépôt git si le dossier se trouve déjà dans un dépôt. Sur les postes, uv trouve le Python 3.12 installé et l'inscrit dans .python-version.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 après-midi : le fichier de verrouillage, les dépendances de développement et uv sync en détail.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participants vérifient que uv est installé avec uv --version, lancent uv sync dans le dossier du TP5, puis uv run pytest. Résultat attendu : tous les tests échouent avec NotImplementedError, et la dernière ligne ressemble à « 5 failed, 3 errors in 9.17s ». C'est voulu : les fonctions sont déclarées, mais pas encore écrites. Si uv manque, l'installer avec le script de la diapositive Pourquoi uv.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structure commune rend n'importe quel projet lisible au premier coup d'œil.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exactement la structure du TP5.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notebook reste, mais il devient court et importe le code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Demander au groupe combien de fois il a copié-collé le code de chargement entre le TP3 et le TP4.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Démarche : repérer les blocs répétés, en faire des fonctions dans le notebook, les déplacer dans des modules, puis les importer.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Sans autoreload, une modification du module n'est prise en compte qu'après un redémarrage du noyau.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 8, section Public and internal interfaces : les interfaces documentées sont publiques, les autres sont internes, et un __init__ qui expose des fonctions de ses sous-modules fait partie de l'API du paquet. Le tutoriel Python, section 6.4, rappelle que __init__.py peut rester vide ou définir __all__. Dans le TP5, __init__.py ne contient qu'une docstring : l'import complet, from ventes.chargement import charger_ventes, fonctionne aussi.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Documentation de l'option -m : quand on donne un nom de paquet, l'interpréteur exécute &lt;paquet&gt;.__main__. Documentation du module __main__ : ce fichier sert le plus souvent d'interface en ligne de commande au paquet, il reste court et importe ses fonctions d'autres modules, qui restent testables et réutilisables. Flask et fastapi-cli ont un __main__.py de deux lignes : from .cli import main, puis main(). Le squelette du TP5 n'a pas de __main__.py : uv run ventes suffit, python -m ventes est l'autre porte d'entrée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participants copient leur notebook du TP3 dans notebooks/, l'ouvrent avec uv run jupyter lab, puis repèrent, pour chaque fonction déclarée dans chargement.py et indicateurs.py, les cellules qu'elle remplace. Résultat attendu : la correspondance est notée en commentaire dans le notebook. Pas encore de code dans src : on commence par les exceptions, à l'étape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Documenter et sécuriser les fonctions.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syntaxe str | None fonctionne depuis Python 3.10.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pandas-stubs fournit à mypy les types de pandas.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partie reportée du premier jour, complétée par les exceptions personnalisées.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Sans gestion d'erreur, le programme s'arrête à la première anomalie, avec un message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raise signale un problème à l'appelant, qui décide quoi en 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les exceptions du projet héritent de VentesError : une seule clause except suffit au point d'entrée.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question à se poser : le traitement peut-il continuer et produire un résultat juste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participants écrivent les exceptions dans erreurs.py, puis les essaient dans un terminal Python ouvert avec uv run python, après avoir importé Path depuis pathlib. Résultat attendu : les deux messages affichés à l'identique, et l'attribut manquantes qui vaut {'quantite'}. CleNonUniqueError sera levée quand une clé censée être unique, comme id_commande ou id_produit, contient des doublons.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la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test qui échoue affiche la valeur obtenue et la valeur attendue.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fixture est passée en paramètre au test qui en a besoin, par son nom.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erreur.value est l'exception levée : on vérifie ses attributs, ici les colonnes manquantes. En Python, 0.1 + 0.2 == 0.3 est faux, d'où pytest.approx ; abs=0.01 fixe l'écart toléré, ici au centime près. Pendant le TP, -k et un nom de fichier permettent de ne lancer que les tests de l'étape en 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tests unitaires vérifient chaque fonction sur de petites données construites à la main ; les tests de recette vérifient le résultat d'ensemble sur les vraies données. Ceux du TP5 contrôlent 2182 ventes, 17 ventes hors catalogue, 409 501,59 euros de chiffre d'affaires, 54 lignes d'indicateurs, 307 ventes en juillet et août, et les codes de sortie 0 et 1 de la commande.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code formaté par un outil est lisible par tous de la même façon, et les diffs ne contiennent plus de changements de mise en 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Étape 3 : les participants écrivent lister_fichiers, charger_fichier_ventes, charger_ventes et charger_reference ; la ligne logger = logging.getLogger(__name__) est déjà dans le squelette, logging est présenté en section 8. Résultat attendu : tous les tests de test_chargement.py passent, ainsi que le test de recette test_les_9_fichiers_donnent_2182_ventes. Étape 4 : enrichir, indicateurs_mois_region et filtrer_periode, avec leurs tests. Résultat attendu de uv run pytest : tout passe, sauf test_commande_de_bout_en_bout et test_commande_avec_un_fichier_defectueux, puisque cli.py n'est pas encore écrit.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Transformer le script en outil qu'on lance avec des paramètres.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L'option --help est générée automatiquement à partir des textes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paramètre argv permet d'appeler main depuis un test avec une liste d'arguments.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le TP5, main enchaîne lui-même les étapes : c'est suffisant pour la commande. Dès que le traitement doit servir ailleurs, un notebook, une application Streamlit ou un orchestrateur, on le sort dans une fonction comme consolider, exportée par __init__.py, et main se contente de l'appeler. Les chemins sont passés explicitement : la fonction ne dépend pas du fichier YAML, c'est la commande qui traduit la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uv build est un frontal de construction : il choisit la version de Python et appelle le backend déclaré dans build-system, ici uv_build. Sans dépôt de paquets, la wheel se partage comme un fichier, ou la commande s'installe directement depuis un dépôt git. Un uv tool install installe toutes les commandes déclarées dans [project.scripts], dans un environnement séparé des projets.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Remplacer les print par un vrai journal.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valeurs sont passées en paramètres plutôt qu'en f-string : le message n'est construit que s'il est affiché.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modules ne configurent jamais les journaux : c'est le rôle du programme qui les utilise.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Plus aucun chemin écrit en 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chemin comme C:/Users/marie/Documents ne fonctionne que sur une seule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Vérifier les clés dès la lecture permet d'échouer tôt, avec un message qui dit exactement ce qui manque.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Étape 5 : les participants créent config.yaml à la racine du TP, avec les sections donnees (ventes, produits, regions) et sorties (indicateurs, journal), écrivent charger_config, qui lève ConfigurationError si le fichier est absent, invalide ou incomplet, et les trois tests de test_config.py. Résultat attendu : 3 passed. Étape 6 : creer_parser et main dans cli.py. Résultat attendu de uv run ventes --help : la ligne usage: ventes [-h] [-c CONFIG] [-o SORTIE] [--debut DEBUT] [--fin FIN] [-v], puis les options et leur aide. Étape 7 : voir la diapositive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participants lancent la commande, sans puis avec une période, et comparent le journal à celui du README, aux dates et heures près. Ils simulent ensuite une erreur : copier data/exemples_erreurs/ventes_sans_quantite.csv dans data/brut/ventes/ sous le nom ventes_2025_10.csv, relancer uv run ventes, puis echo $?. Attendu : un message clair, sans trace technique, et un code de sortie à 1. Penser à supprimer ce fichier avant de lancer tous les tests, ruff check, ruff format et mypy.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départ, les tests échouent avec NotImplementedError : c'est voulu. Le TP est terminé quand ils passent tous. Avant de rendre : uv run pytest passe, recette comprise ; uv run ventes produit le fichier Parquet et le journal sans erreur ; un fichier défectueux donne un message clair et un code de sortie à 1 ; aucun chemin n'est écrit en dur dans src.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 après-midi : approfondir uv, garantir la reproductibilité, puis le projet fil rouge.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9144000" cy="365760"/>
          </a:xfrm>
          <a:prstGeom prst="rect">
            <a:avLst/>
          </a:prstGeom>
          <a:noFill/>
          <a:ln/>
        </p:spPr>
        <p:txBody>
          <a:bodyPr wrap="square" lIns="0" tIns="0" rIns="0" bIns="0" rtlCol="0" anchor="ctr"/>
          <a:lstStyle/>
          <a:p>
            <a:pPr indent="0" marL="0">
              <a:buNone/>
            </a:pPr>
            <a:r>
              <a:rPr lang="en-US" sz="1400" b="1" spc="400" kern="0" dirty="0">
                <a:solidFill>
                  <a:srgbClr val="8FD1B5"/>
                </a:solidFill>
                <a:latin typeface="Calibri" pitchFamily="34" charset="0"/>
                <a:ea typeface="Calibri" pitchFamily="34" charset="-122"/>
                <a:cs typeface="Calibri" pitchFamily="34" charset="-120"/>
              </a:rPr>
              <a:t>FORMATION</a:t>
            </a:r>
            <a:endParaRPr lang="en-US" sz="1400" dirty="0"/>
          </a:p>
        </p:txBody>
      </p:sp>
      <p:sp>
        <p:nvSpPr>
          <p:cNvPr id="3" name="Text 1"/>
          <p:cNvSpPr txBox="1"/>
          <p:nvPr/>
        </p:nvSpPr>
        <p:spPr>
          <a:xfrm>
            <a:off x="731520" y="2148840"/>
            <a:ext cx="10515600" cy="109728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Analyse de données avec Python</a:t>
            </a:r>
            <a:endParaRPr lang="en-US" sz="4600" dirty="0"/>
          </a:p>
        </p:txBody>
      </p:sp>
      <p:sp>
        <p:nvSpPr>
          <p:cNvPr id="4" name="Text 2"/>
          <p:cNvSpPr txBox="1"/>
          <p:nvPr/>
        </p:nvSpPr>
        <p:spPr>
          <a:xfrm>
            <a:off x="731520" y="3337560"/>
            <a:ext cx="10058400" cy="914400"/>
          </a:xfrm>
          <a:prstGeom prst="rect">
            <a:avLst/>
          </a:prstGeom>
          <a:noFill/>
          <a:ln/>
        </p:spPr>
        <p:txBody>
          <a:bodyPr wrap="square" lIns="0" tIns="0" rIns="0" bIns="0" rtlCol="0" anchor="t"/>
          <a:lstStyle/>
          <a:p>
            <a:pPr indent="0" marL="0">
              <a:buNone/>
            </a:pPr>
            <a:r>
              <a:rPr lang="en-US" sz="2200" dirty="0">
                <a:solidFill>
                  <a:srgbClr val="C9D6E3"/>
                </a:solidFill>
                <a:latin typeface="Calibri" pitchFamily="34" charset="0"/>
                <a:ea typeface="Calibri" pitchFamily="34" charset="-122"/>
                <a:cs typeface="Calibri" pitchFamily="34" charset="-120"/>
              </a:rPr>
              <a:t>Jour 3, matin</a:t>
            </a:r>
            <a:endParaRPr lang="en-US" sz="2200" dirty="0"/>
          </a:p>
          <a:p>
            <a:pPr indent="0" marL="0">
              <a:buNone/>
            </a:pPr>
            <a:r>
              <a:rPr lang="en-US" sz="2200" dirty="0">
                <a:solidFill>
                  <a:srgbClr val="C9D6E3"/>
                </a:solidFill>
                <a:latin typeface="Calibri" pitchFamily="34" charset="0"/>
                <a:ea typeface="Calibri" pitchFamily="34" charset="-122"/>
                <a:cs typeface="Calibri" pitchFamily="34" charset="-120"/>
              </a:rPr>
              <a:t>Organisation de projet, code robuste et ligne de commande</a:t>
            </a:r>
            <a:endParaRPr lang="en-US" sz="2200" dirty="0"/>
          </a:p>
        </p:txBody>
      </p:sp>
      <p:sp>
        <p:nvSpPr>
          <p:cNvPr id="5" name="Text 3"/>
          <p:cNvSpPr txBox="1"/>
          <p:nvPr/>
        </p:nvSpPr>
        <p:spPr>
          <a:xfrm>
            <a:off x="731520" y="5669280"/>
            <a:ext cx="10058400" cy="365760"/>
          </a:xfrm>
          <a:prstGeom prst="rect">
            <a:avLst/>
          </a:prstGeom>
          <a:noFill/>
          <a:ln/>
        </p:spPr>
        <p:txBody>
          <a:bodyPr wrap="square" lIns="0" tIns="0" rIns="0" bIns="0" rtlCol="0" anchor="ctr"/>
          <a:lstStyle/>
          <a:p>
            <a:pPr indent="0" marL="0">
              <a:buNone/>
            </a:pPr>
            <a:r>
              <a:rPr lang="en-US" sz="1400" dirty="0">
                <a:solidFill>
                  <a:srgbClr val="C9D6E3"/>
                </a:solidFill>
                <a:latin typeface="Calibri" pitchFamily="34" charset="0"/>
                <a:ea typeface="Calibri" pitchFamily="34" charset="-122"/>
                <a:cs typeface="Calibri" pitchFamily="34" charset="-120"/>
              </a:rPr>
              <a:t>Cours et TP5 en alternance : du notebook du TP3 à la commande ventes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 déroulé de la matinée</a:t>
            </a:r>
            <a:endParaRPr lang="en-US" sz="3000" dirty="0"/>
          </a:p>
        </p:txBody>
      </p:sp>
      <p:sp>
        <p:nvSpPr>
          <p:cNvPr id="3" name="Shape 1"/>
          <p:cNvSpPr/>
          <p:nvPr/>
        </p:nvSpPr>
        <p:spPr>
          <a:xfrm>
            <a:off x="1103361" y="2057400"/>
            <a:ext cx="9984974" cy="0"/>
          </a:xfrm>
          <a:prstGeom prst="line">
            <a:avLst/>
          </a:prstGeom>
          <a:noFill/>
          <a:ln w="25400">
            <a:solidFill>
              <a:srgbClr val="D5DCE3"/>
            </a:solidFill>
            <a:prstDash val="solid"/>
          </a:ln>
        </p:spPr>
      </p:sp>
      <p:sp>
        <p:nvSpPr>
          <p:cNvPr id="4" name="Shape 2"/>
          <p:cNvSpPr/>
          <p:nvPr/>
        </p:nvSpPr>
        <p:spPr>
          <a:xfrm>
            <a:off x="874761" y="1828800"/>
            <a:ext cx="457200" cy="457200"/>
          </a:xfrm>
          <a:prstGeom prst="ellipse">
            <a:avLst/>
          </a:prstGeom>
          <a:solidFill>
            <a:srgbClr val="2F7D62"/>
          </a:solidFill>
          <a:ln/>
        </p:spPr>
      </p:sp>
      <p:sp>
        <p:nvSpPr>
          <p:cNvPr id="5" name="Text 3"/>
          <p:cNvSpPr txBox="1"/>
          <p:nvPr/>
        </p:nvSpPr>
        <p:spPr>
          <a:xfrm>
            <a:off x="874761"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2423160"/>
            <a:ext cx="1018002"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uv</a:t>
            </a:r>
            <a:endParaRPr lang="en-US" sz="1400" dirty="0"/>
          </a:p>
        </p:txBody>
      </p:sp>
      <p:sp>
        <p:nvSpPr>
          <p:cNvPr id="7" name="Text 5"/>
          <p:cNvSpPr txBox="1"/>
          <p:nvPr/>
        </p:nvSpPr>
        <p:spPr>
          <a:xfrm>
            <a:off x="594360" y="2926080"/>
            <a:ext cx="1018002"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puis TP5, étape 0</a:t>
            </a:r>
            <a:endParaRPr lang="en-US" sz="1300" dirty="0"/>
          </a:p>
        </p:txBody>
      </p:sp>
      <p:sp>
        <p:nvSpPr>
          <p:cNvPr id="8" name="Shape 6"/>
          <p:cNvSpPr/>
          <p:nvPr/>
        </p:nvSpPr>
        <p:spPr>
          <a:xfrm>
            <a:off x="1984202" y="1828800"/>
            <a:ext cx="457200" cy="457200"/>
          </a:xfrm>
          <a:prstGeom prst="ellipse">
            <a:avLst/>
          </a:prstGeom>
          <a:solidFill>
            <a:srgbClr val="2F7D62"/>
          </a:solidFill>
          <a:ln/>
        </p:spPr>
      </p:sp>
      <p:sp>
        <p:nvSpPr>
          <p:cNvPr id="9" name="Text 7"/>
          <p:cNvSpPr txBox="1"/>
          <p:nvPr/>
        </p:nvSpPr>
        <p:spPr>
          <a:xfrm>
            <a:off x="1984202"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703802" y="2423160"/>
            <a:ext cx="1018002"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Structure</a:t>
            </a:r>
            <a:endParaRPr lang="en-US" sz="1400" dirty="0"/>
          </a:p>
        </p:txBody>
      </p:sp>
      <p:sp>
        <p:nvSpPr>
          <p:cNvPr id="11" name="Shape 9"/>
          <p:cNvSpPr/>
          <p:nvPr/>
        </p:nvSpPr>
        <p:spPr>
          <a:xfrm>
            <a:off x="3093644" y="1828800"/>
            <a:ext cx="457200" cy="457200"/>
          </a:xfrm>
          <a:prstGeom prst="ellipse">
            <a:avLst/>
          </a:prstGeom>
          <a:solidFill>
            <a:srgbClr val="2F7D62"/>
          </a:solidFill>
          <a:ln/>
        </p:spPr>
      </p:sp>
      <p:sp>
        <p:nvSpPr>
          <p:cNvPr id="12" name="Text 10"/>
          <p:cNvSpPr txBox="1"/>
          <p:nvPr/>
        </p:nvSpPr>
        <p:spPr>
          <a:xfrm>
            <a:off x="3093644"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3" name="Text 11"/>
          <p:cNvSpPr txBox="1"/>
          <p:nvPr/>
        </p:nvSpPr>
        <p:spPr>
          <a:xfrm>
            <a:off x="2813243" y="2423160"/>
            <a:ext cx="1018002"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Modules</a:t>
            </a:r>
            <a:endParaRPr lang="en-US" sz="1400" dirty="0"/>
          </a:p>
        </p:txBody>
      </p:sp>
      <p:sp>
        <p:nvSpPr>
          <p:cNvPr id="14" name="Text 12"/>
          <p:cNvSpPr txBox="1"/>
          <p:nvPr/>
        </p:nvSpPr>
        <p:spPr>
          <a:xfrm>
            <a:off x="2813243" y="2926080"/>
            <a:ext cx="1018002"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puis TP5, étape 1</a:t>
            </a:r>
            <a:endParaRPr lang="en-US" sz="1300" dirty="0"/>
          </a:p>
        </p:txBody>
      </p:sp>
      <p:sp>
        <p:nvSpPr>
          <p:cNvPr id="15" name="Shape 13"/>
          <p:cNvSpPr/>
          <p:nvPr/>
        </p:nvSpPr>
        <p:spPr>
          <a:xfrm>
            <a:off x="4203085" y="1828800"/>
            <a:ext cx="457200" cy="457200"/>
          </a:xfrm>
          <a:prstGeom prst="ellipse">
            <a:avLst/>
          </a:prstGeom>
          <a:solidFill>
            <a:srgbClr val="2F7D62"/>
          </a:solidFill>
          <a:ln/>
        </p:spPr>
      </p:sp>
      <p:sp>
        <p:nvSpPr>
          <p:cNvPr id="16" name="Text 14"/>
          <p:cNvSpPr txBox="1"/>
          <p:nvPr/>
        </p:nvSpPr>
        <p:spPr>
          <a:xfrm>
            <a:off x="4203085"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txBox="1"/>
          <p:nvPr/>
        </p:nvSpPr>
        <p:spPr>
          <a:xfrm>
            <a:off x="3922685" y="2423160"/>
            <a:ext cx="1018002"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Types</a:t>
            </a:r>
            <a:endParaRPr lang="en-US" sz="1400" dirty="0"/>
          </a:p>
        </p:txBody>
      </p:sp>
      <p:sp>
        <p:nvSpPr>
          <p:cNvPr id="18" name="Shape 16"/>
          <p:cNvSpPr/>
          <p:nvPr/>
        </p:nvSpPr>
        <p:spPr>
          <a:xfrm>
            <a:off x="5312527" y="1828800"/>
            <a:ext cx="457200" cy="457200"/>
          </a:xfrm>
          <a:prstGeom prst="ellipse">
            <a:avLst/>
          </a:prstGeom>
          <a:solidFill>
            <a:srgbClr val="2F7D62"/>
          </a:solidFill>
          <a:ln/>
        </p:spPr>
      </p:sp>
      <p:sp>
        <p:nvSpPr>
          <p:cNvPr id="19" name="Text 17"/>
          <p:cNvSpPr txBox="1"/>
          <p:nvPr/>
        </p:nvSpPr>
        <p:spPr>
          <a:xfrm>
            <a:off x="5312527"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0" name="Text 18"/>
          <p:cNvSpPr txBox="1"/>
          <p:nvPr/>
        </p:nvSpPr>
        <p:spPr>
          <a:xfrm>
            <a:off x="5032126" y="2423160"/>
            <a:ext cx="1018002"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Exceptions</a:t>
            </a:r>
            <a:endParaRPr lang="en-US" sz="1400" dirty="0"/>
          </a:p>
        </p:txBody>
      </p:sp>
      <p:sp>
        <p:nvSpPr>
          <p:cNvPr id="21" name="Text 19"/>
          <p:cNvSpPr txBox="1"/>
          <p:nvPr/>
        </p:nvSpPr>
        <p:spPr>
          <a:xfrm>
            <a:off x="5032126" y="2926080"/>
            <a:ext cx="1018002"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puis TP5, étape 2</a:t>
            </a:r>
            <a:endParaRPr lang="en-US" sz="1300" dirty="0"/>
          </a:p>
        </p:txBody>
      </p:sp>
      <p:sp>
        <p:nvSpPr>
          <p:cNvPr id="22" name="Shape 20"/>
          <p:cNvSpPr/>
          <p:nvPr/>
        </p:nvSpPr>
        <p:spPr>
          <a:xfrm>
            <a:off x="6421968" y="1828800"/>
            <a:ext cx="457200" cy="457200"/>
          </a:xfrm>
          <a:prstGeom prst="ellipse">
            <a:avLst/>
          </a:prstGeom>
          <a:solidFill>
            <a:srgbClr val="D5DCE3"/>
          </a:solidFill>
          <a:ln/>
        </p:spPr>
      </p:sp>
      <p:sp>
        <p:nvSpPr>
          <p:cNvPr id="23" name="Text 21"/>
          <p:cNvSpPr txBox="1"/>
          <p:nvPr/>
        </p:nvSpPr>
        <p:spPr>
          <a:xfrm>
            <a:off x="6421968" y="1828800"/>
            <a:ext cx="457200" cy="457200"/>
          </a:xfrm>
          <a:prstGeom prst="rect">
            <a:avLst/>
          </a:prstGeom>
          <a:noFill/>
          <a:ln/>
        </p:spPr>
        <p:txBody>
          <a:bodyPr wrap="square" lIns="0" tIns="0" rIns="0" bIns="0" rtlCol="0" anchor="ctr"/>
          <a:lstStyle/>
          <a:p>
            <a:pPr algn="ctr" indent="0" marL="0">
              <a:buNone/>
            </a:pPr>
            <a:endParaRPr lang="en-US" sz="1500" dirty="0"/>
          </a:p>
        </p:txBody>
      </p:sp>
      <p:sp>
        <p:nvSpPr>
          <p:cNvPr id="24" name="Text 22"/>
          <p:cNvSpPr txBox="1"/>
          <p:nvPr/>
        </p:nvSpPr>
        <p:spPr>
          <a:xfrm>
            <a:off x="6141568" y="2423160"/>
            <a:ext cx="1018002"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Pause</a:t>
            </a:r>
            <a:endParaRPr lang="en-US" sz="1400" dirty="0"/>
          </a:p>
        </p:txBody>
      </p:sp>
      <p:sp>
        <p:nvSpPr>
          <p:cNvPr id="25" name="Shape 23"/>
          <p:cNvSpPr/>
          <p:nvPr/>
        </p:nvSpPr>
        <p:spPr>
          <a:xfrm>
            <a:off x="7531410" y="1828800"/>
            <a:ext cx="457200" cy="457200"/>
          </a:xfrm>
          <a:prstGeom prst="ellipse">
            <a:avLst/>
          </a:prstGeom>
          <a:solidFill>
            <a:srgbClr val="2F7D62"/>
          </a:solidFill>
          <a:ln/>
        </p:spPr>
      </p:sp>
      <p:sp>
        <p:nvSpPr>
          <p:cNvPr id="26" name="Text 24"/>
          <p:cNvSpPr txBox="1"/>
          <p:nvPr/>
        </p:nvSpPr>
        <p:spPr>
          <a:xfrm>
            <a:off x="7531410"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7" name="Text 25"/>
          <p:cNvSpPr txBox="1"/>
          <p:nvPr/>
        </p:nvSpPr>
        <p:spPr>
          <a:xfrm>
            <a:off x="7251009" y="2423160"/>
            <a:ext cx="1018002"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Tests</a:t>
            </a:r>
            <a:endParaRPr lang="en-US" sz="1400" dirty="0"/>
          </a:p>
        </p:txBody>
      </p:sp>
      <p:sp>
        <p:nvSpPr>
          <p:cNvPr id="28" name="Text 26"/>
          <p:cNvSpPr txBox="1"/>
          <p:nvPr/>
        </p:nvSpPr>
        <p:spPr>
          <a:xfrm>
            <a:off x="7251009" y="2926080"/>
            <a:ext cx="1018002"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puis TP5, étapes 3 et 4</a:t>
            </a:r>
            <a:endParaRPr lang="en-US" sz="1300" dirty="0"/>
          </a:p>
        </p:txBody>
      </p:sp>
      <p:sp>
        <p:nvSpPr>
          <p:cNvPr id="29" name="Shape 27"/>
          <p:cNvSpPr/>
          <p:nvPr/>
        </p:nvSpPr>
        <p:spPr>
          <a:xfrm>
            <a:off x="8640851" y="1828800"/>
            <a:ext cx="457200" cy="457200"/>
          </a:xfrm>
          <a:prstGeom prst="ellipse">
            <a:avLst/>
          </a:prstGeom>
          <a:solidFill>
            <a:srgbClr val="2F7D62"/>
          </a:solidFill>
          <a:ln/>
        </p:spPr>
      </p:sp>
      <p:sp>
        <p:nvSpPr>
          <p:cNvPr id="30" name="Text 28"/>
          <p:cNvSpPr txBox="1"/>
          <p:nvPr/>
        </p:nvSpPr>
        <p:spPr>
          <a:xfrm>
            <a:off x="8640851"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1" name="Text 29"/>
          <p:cNvSpPr txBox="1"/>
          <p:nvPr/>
        </p:nvSpPr>
        <p:spPr>
          <a:xfrm>
            <a:off x="8360451" y="2423160"/>
            <a:ext cx="1018002"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argparse</a:t>
            </a:r>
            <a:endParaRPr lang="en-US" sz="1400" dirty="0"/>
          </a:p>
        </p:txBody>
      </p:sp>
      <p:sp>
        <p:nvSpPr>
          <p:cNvPr id="32" name="Shape 30"/>
          <p:cNvSpPr/>
          <p:nvPr/>
        </p:nvSpPr>
        <p:spPr>
          <a:xfrm>
            <a:off x="9750293" y="1828800"/>
            <a:ext cx="457200" cy="457200"/>
          </a:xfrm>
          <a:prstGeom prst="ellipse">
            <a:avLst/>
          </a:prstGeom>
          <a:solidFill>
            <a:srgbClr val="2F7D62"/>
          </a:solidFill>
          <a:ln/>
        </p:spPr>
      </p:sp>
      <p:sp>
        <p:nvSpPr>
          <p:cNvPr id="33" name="Text 31"/>
          <p:cNvSpPr txBox="1"/>
          <p:nvPr/>
        </p:nvSpPr>
        <p:spPr>
          <a:xfrm>
            <a:off x="9750293"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34" name="Text 32"/>
          <p:cNvSpPr txBox="1"/>
          <p:nvPr/>
        </p:nvSpPr>
        <p:spPr>
          <a:xfrm>
            <a:off x="9469892" y="2423160"/>
            <a:ext cx="1018002"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logging</a:t>
            </a:r>
            <a:endParaRPr lang="en-US" sz="1400" dirty="0"/>
          </a:p>
        </p:txBody>
      </p:sp>
      <p:sp>
        <p:nvSpPr>
          <p:cNvPr id="35" name="Shape 33"/>
          <p:cNvSpPr/>
          <p:nvPr/>
        </p:nvSpPr>
        <p:spPr>
          <a:xfrm>
            <a:off x="10859734" y="1828800"/>
            <a:ext cx="457200" cy="457200"/>
          </a:xfrm>
          <a:prstGeom prst="ellipse">
            <a:avLst/>
          </a:prstGeom>
          <a:solidFill>
            <a:srgbClr val="2F7D62"/>
          </a:solidFill>
          <a:ln/>
        </p:spPr>
      </p:sp>
      <p:sp>
        <p:nvSpPr>
          <p:cNvPr id="36" name="Text 34"/>
          <p:cNvSpPr txBox="1"/>
          <p:nvPr/>
        </p:nvSpPr>
        <p:spPr>
          <a:xfrm>
            <a:off x="10859734"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37" name="Text 35"/>
          <p:cNvSpPr txBox="1"/>
          <p:nvPr/>
        </p:nvSpPr>
        <p:spPr>
          <a:xfrm>
            <a:off x="10579334" y="2423160"/>
            <a:ext cx="1018002"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Config</a:t>
            </a:r>
            <a:endParaRPr lang="en-US" sz="1400" dirty="0"/>
          </a:p>
        </p:txBody>
      </p:sp>
      <p:sp>
        <p:nvSpPr>
          <p:cNvPr id="38" name="Text 36"/>
          <p:cNvSpPr txBox="1"/>
          <p:nvPr/>
        </p:nvSpPr>
        <p:spPr>
          <a:xfrm>
            <a:off x="10579334" y="2926080"/>
            <a:ext cx="1018002"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puis TP5, étapes 5 à 7</a:t>
            </a:r>
            <a:endParaRPr lang="en-US" sz="1300" dirty="0"/>
          </a:p>
        </p:txBody>
      </p:sp>
      <p:sp>
        <p:nvSpPr>
          <p:cNvPr id="39" name="Shape 37"/>
          <p:cNvSpPr/>
          <p:nvPr/>
        </p:nvSpPr>
        <p:spPr>
          <a:xfrm>
            <a:off x="548640" y="3657600"/>
            <a:ext cx="3515258" cy="1600200"/>
          </a:xfrm>
          <a:prstGeom prst="roundRect">
            <a:avLst>
              <a:gd name="adj" fmla="val 4571"/>
            </a:avLst>
          </a:prstGeom>
          <a:solidFill>
            <a:srgbClr val="EEF3F7"/>
          </a:solidFill>
          <a:ln/>
        </p:spPr>
      </p:sp>
      <p:sp>
        <p:nvSpPr>
          <p:cNvPr id="40" name="Text 38"/>
          <p:cNvSpPr txBox="1"/>
          <p:nvPr/>
        </p:nvSpPr>
        <p:spPr>
          <a:xfrm>
            <a:off x="777240" y="3840480"/>
            <a:ext cx="3058058" cy="77724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9h00</a:t>
            </a:r>
            <a:endParaRPr lang="en-US" sz="4000" dirty="0"/>
          </a:p>
        </p:txBody>
      </p:sp>
      <p:sp>
        <p:nvSpPr>
          <p:cNvPr id="41" name="Text 39"/>
          <p:cNvSpPr txBox="1"/>
          <p:nvPr/>
        </p:nvSpPr>
        <p:spPr>
          <a:xfrm>
            <a:off x="777240" y="4663440"/>
            <a:ext cx="3058058"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début</a:t>
            </a:r>
            <a:endParaRPr lang="en-US" sz="1500" dirty="0"/>
          </a:p>
        </p:txBody>
      </p:sp>
      <p:sp>
        <p:nvSpPr>
          <p:cNvPr id="42" name="Shape 40"/>
          <p:cNvSpPr/>
          <p:nvPr/>
        </p:nvSpPr>
        <p:spPr>
          <a:xfrm>
            <a:off x="4338218" y="3657600"/>
            <a:ext cx="3515258" cy="1600200"/>
          </a:xfrm>
          <a:prstGeom prst="roundRect">
            <a:avLst>
              <a:gd name="adj" fmla="val 4571"/>
            </a:avLst>
          </a:prstGeom>
          <a:solidFill>
            <a:srgbClr val="EEF3F7"/>
          </a:solidFill>
          <a:ln/>
        </p:spPr>
      </p:sp>
      <p:sp>
        <p:nvSpPr>
          <p:cNvPr id="43" name="Text 41"/>
          <p:cNvSpPr txBox="1"/>
          <p:nvPr/>
        </p:nvSpPr>
        <p:spPr>
          <a:xfrm>
            <a:off x="4566818" y="3840480"/>
            <a:ext cx="3058058" cy="77724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10h30</a:t>
            </a:r>
            <a:endParaRPr lang="en-US" sz="4000" dirty="0"/>
          </a:p>
        </p:txBody>
      </p:sp>
      <p:sp>
        <p:nvSpPr>
          <p:cNvPr id="44" name="Text 42"/>
          <p:cNvSpPr txBox="1"/>
          <p:nvPr/>
        </p:nvSpPr>
        <p:spPr>
          <a:xfrm>
            <a:off x="4566818" y="4663440"/>
            <a:ext cx="3058058"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pause</a:t>
            </a:r>
            <a:endParaRPr lang="en-US" sz="1500" dirty="0"/>
          </a:p>
        </p:txBody>
      </p:sp>
      <p:sp>
        <p:nvSpPr>
          <p:cNvPr id="45" name="Shape 43"/>
          <p:cNvSpPr/>
          <p:nvPr/>
        </p:nvSpPr>
        <p:spPr>
          <a:xfrm>
            <a:off x="8127797" y="3657600"/>
            <a:ext cx="3515258" cy="1600200"/>
          </a:xfrm>
          <a:prstGeom prst="roundRect">
            <a:avLst>
              <a:gd name="adj" fmla="val 4571"/>
            </a:avLst>
          </a:prstGeom>
          <a:solidFill>
            <a:srgbClr val="EEF3F7"/>
          </a:solidFill>
          <a:ln/>
        </p:spPr>
      </p:sp>
      <p:sp>
        <p:nvSpPr>
          <p:cNvPr id="46" name="Text 44"/>
          <p:cNvSpPr txBox="1"/>
          <p:nvPr/>
        </p:nvSpPr>
        <p:spPr>
          <a:xfrm>
            <a:off x="8356397" y="3840480"/>
            <a:ext cx="3058058" cy="77724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12h30</a:t>
            </a:r>
            <a:endParaRPr lang="en-US" sz="4000" dirty="0"/>
          </a:p>
        </p:txBody>
      </p:sp>
      <p:sp>
        <p:nvSpPr>
          <p:cNvPr id="47" name="Text 45"/>
          <p:cNvSpPr txBox="1"/>
          <p:nvPr/>
        </p:nvSpPr>
        <p:spPr>
          <a:xfrm>
            <a:off x="8356397" y="4663440"/>
            <a:ext cx="3058058"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fin</a:t>
            </a:r>
            <a:endParaRPr lang="en-US" sz="1500" dirty="0"/>
          </a:p>
        </p:txBody>
      </p:sp>
      <p:sp>
        <p:nvSpPr>
          <p:cNvPr id="48" name="Shape 46"/>
          <p:cNvSpPr/>
          <p:nvPr/>
        </p:nvSpPr>
        <p:spPr>
          <a:xfrm>
            <a:off x="548640" y="5577840"/>
            <a:ext cx="11094415" cy="624840"/>
          </a:xfrm>
          <a:prstGeom prst="roundRect">
            <a:avLst>
              <a:gd name="adj" fmla="val 8780"/>
            </a:avLst>
          </a:prstGeom>
          <a:solidFill>
            <a:srgbClr val="E8F3EE"/>
          </a:solidFill>
          <a:ln/>
        </p:spPr>
      </p:sp>
      <p:sp>
        <p:nvSpPr>
          <p:cNvPr id="49" name="Text 47"/>
          <p:cNvSpPr txBox="1"/>
          <p:nvPr/>
        </p:nvSpPr>
        <p:spPr>
          <a:xfrm>
            <a:off x="822960" y="5577840"/>
            <a:ext cx="10545775"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Objectif : faire du TP3 un outil autonome, en alternant blocs de cours et étapes du TP5.</a:t>
            </a:r>
            <a:endParaRPr lang="en-US" sz="1700" dirty="0"/>
          </a:p>
        </p:txBody>
      </p:sp>
      <p:sp>
        <p:nvSpPr>
          <p:cNvPr id="50" name="Text 4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01</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De pip et venv à uv</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Pourquoi   |   uv init   |   uv add et uv run   |   uv sync</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DE PIP ET VENV À UV</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Pourquoi uv</a:t>
            </a:r>
            <a:endParaRPr lang="en-US" sz="3000" dirty="0"/>
          </a:p>
        </p:txBody>
      </p:sp>
      <p:sp>
        <p:nvSpPr>
          <p:cNvPr id="6" name="Shape 4"/>
          <p:cNvSpPr/>
          <p:nvPr/>
        </p:nvSpPr>
        <p:spPr>
          <a:xfrm>
            <a:off x="548640" y="1417320"/>
            <a:ext cx="3515258" cy="2103120"/>
          </a:xfrm>
          <a:prstGeom prst="roundRect">
            <a:avLst>
              <a:gd name="adj" fmla="val 3478"/>
            </a:avLst>
          </a:prstGeom>
          <a:solidFill>
            <a:srgbClr val="EEF3F7"/>
          </a:solidFill>
          <a:ln/>
        </p:spPr>
      </p:sp>
      <p:sp>
        <p:nvSpPr>
          <p:cNvPr id="7" name="Shape 5"/>
          <p:cNvSpPr/>
          <p:nvPr/>
        </p:nvSpPr>
        <p:spPr>
          <a:xfrm>
            <a:off x="777240" y="1691640"/>
            <a:ext cx="402336" cy="402336"/>
          </a:xfrm>
          <a:prstGeom prst="ellipse">
            <a:avLst/>
          </a:prstGeom>
          <a:solidFill>
            <a:srgbClr val="2F7D62"/>
          </a:solidFill>
          <a:ln/>
        </p:spPr>
      </p:sp>
      <p:sp>
        <p:nvSpPr>
          <p:cNvPr id="8" name="Text 6"/>
          <p:cNvSpPr txBox="1"/>
          <p:nvPr/>
        </p:nvSpPr>
        <p:spPr>
          <a:xfrm>
            <a:off x="777240"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777240"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Un seul outil</a:t>
            </a:r>
            <a:endParaRPr lang="en-US" sz="1800" dirty="0"/>
          </a:p>
        </p:txBody>
      </p:sp>
      <p:sp>
        <p:nvSpPr>
          <p:cNvPr id="10" name="Text 8"/>
          <p:cNvSpPr txBox="1"/>
          <p:nvPr/>
        </p:nvSpPr>
        <p:spPr>
          <a:xfrm>
            <a:off x="777240" y="2606040"/>
            <a:ext cx="3058058" cy="7315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Environnement, installation, verrouillage des versions et même installation de Python.</a:t>
            </a:r>
            <a:endParaRPr lang="en-US" sz="1500" dirty="0"/>
          </a:p>
        </p:txBody>
      </p:sp>
      <p:sp>
        <p:nvSpPr>
          <p:cNvPr id="11" name="Shape 9"/>
          <p:cNvSpPr/>
          <p:nvPr/>
        </p:nvSpPr>
        <p:spPr>
          <a:xfrm>
            <a:off x="4338218" y="1417320"/>
            <a:ext cx="3515258" cy="2103120"/>
          </a:xfrm>
          <a:prstGeom prst="roundRect">
            <a:avLst>
              <a:gd name="adj" fmla="val 3478"/>
            </a:avLst>
          </a:prstGeom>
          <a:solidFill>
            <a:srgbClr val="EEF3F7"/>
          </a:solidFill>
          <a:ln/>
        </p:spPr>
      </p:sp>
      <p:sp>
        <p:nvSpPr>
          <p:cNvPr id="12" name="Shape 10"/>
          <p:cNvSpPr/>
          <p:nvPr/>
        </p:nvSpPr>
        <p:spPr>
          <a:xfrm>
            <a:off x="4566818" y="1691640"/>
            <a:ext cx="402336" cy="402336"/>
          </a:xfrm>
          <a:prstGeom prst="ellipse">
            <a:avLst/>
          </a:prstGeom>
          <a:solidFill>
            <a:srgbClr val="2F7D62"/>
          </a:solidFill>
          <a:ln/>
        </p:spPr>
      </p:sp>
      <p:sp>
        <p:nvSpPr>
          <p:cNvPr id="13" name="Text 11"/>
          <p:cNvSpPr txBox="1"/>
          <p:nvPr/>
        </p:nvSpPr>
        <p:spPr>
          <a:xfrm>
            <a:off x="4566818"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4566818"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Très rapide</a:t>
            </a:r>
            <a:endParaRPr lang="en-US" sz="1800" dirty="0"/>
          </a:p>
        </p:txBody>
      </p:sp>
      <p:sp>
        <p:nvSpPr>
          <p:cNvPr id="15" name="Text 13"/>
          <p:cNvSpPr txBox="1"/>
          <p:nvPr/>
        </p:nvSpPr>
        <p:spPr>
          <a:xfrm>
            <a:off x="4566818" y="2606040"/>
            <a:ext cx="3058058" cy="7315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L'installation des bibliothèques prend quelques secondes là où pip prend des minutes.</a:t>
            </a:r>
            <a:endParaRPr lang="en-US" sz="1500" dirty="0"/>
          </a:p>
        </p:txBody>
      </p:sp>
      <p:sp>
        <p:nvSpPr>
          <p:cNvPr id="16" name="Shape 14"/>
          <p:cNvSpPr/>
          <p:nvPr/>
        </p:nvSpPr>
        <p:spPr>
          <a:xfrm>
            <a:off x="8127797" y="1417320"/>
            <a:ext cx="3515258" cy="2103120"/>
          </a:xfrm>
          <a:prstGeom prst="roundRect">
            <a:avLst>
              <a:gd name="adj" fmla="val 3478"/>
            </a:avLst>
          </a:prstGeom>
          <a:solidFill>
            <a:srgbClr val="EEF3F7"/>
          </a:solidFill>
          <a:ln/>
        </p:spPr>
      </p:sp>
      <p:sp>
        <p:nvSpPr>
          <p:cNvPr id="17" name="Shape 15"/>
          <p:cNvSpPr/>
          <p:nvPr/>
        </p:nvSpPr>
        <p:spPr>
          <a:xfrm>
            <a:off x="8356397" y="1691640"/>
            <a:ext cx="402336" cy="402336"/>
          </a:xfrm>
          <a:prstGeom prst="ellipse">
            <a:avLst/>
          </a:prstGeom>
          <a:solidFill>
            <a:srgbClr val="2F7D62"/>
          </a:solidFill>
          <a:ln/>
        </p:spPr>
      </p:sp>
      <p:sp>
        <p:nvSpPr>
          <p:cNvPr id="18" name="Text 16"/>
          <p:cNvSpPr txBox="1"/>
          <p:nvPr/>
        </p:nvSpPr>
        <p:spPr>
          <a:xfrm>
            <a:off x="8356397"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356397"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Reproductible</a:t>
            </a:r>
            <a:endParaRPr lang="en-US" sz="1800" dirty="0"/>
          </a:p>
        </p:txBody>
      </p:sp>
      <p:sp>
        <p:nvSpPr>
          <p:cNvPr id="20" name="Text 18"/>
          <p:cNvSpPr txBox="1"/>
          <p:nvPr/>
        </p:nvSpPr>
        <p:spPr>
          <a:xfrm>
            <a:off x="8356397" y="2606040"/>
            <a:ext cx="3058058" cy="731520"/>
          </a:xfrm>
          <a:prstGeom prst="rect">
            <a:avLst/>
          </a:prstGeom>
          <a:noFill/>
          <a:ln/>
        </p:spPr>
        <p:txBody>
          <a:bodyPr wrap="square" lIns="0" tIns="0" rIns="0" bIns="0" rtlCol="0" anchor="t"/>
          <a:lstStyle/>
          <a:p>
            <a:pPr indent="0" marL="0">
              <a:buNone/>
            </a:pPr>
            <a:r>
              <a:rPr lang="en-US" sz="1500" dirty="0">
                <a:solidFill>
                  <a:srgbClr val="1F3A5F"/>
                </a:solidFill>
                <a:latin typeface="Courier New" pitchFamily="34" charset="0"/>
                <a:ea typeface="Courier New" pitchFamily="34" charset="-122"/>
                <a:cs typeface="Courier New" pitchFamily="34" charset="-120"/>
              </a:rPr>
              <a:t>pyproject.toml</a:t>
            </a:r>
            <a:pPr indent="0" marL="0">
              <a:buNone/>
            </a:pPr>
            <a:r>
              <a:rPr lang="en-US" sz="1500" dirty="0">
                <a:solidFill>
                  <a:srgbClr val="1F2933"/>
                </a:solidFill>
                <a:latin typeface="Calibri" pitchFamily="34" charset="0"/>
                <a:ea typeface="Calibri" pitchFamily="34" charset="-122"/>
                <a:cs typeface="Calibri" pitchFamily="34" charset="-120"/>
              </a:rPr>
              <a:t> décrit le projet, </a:t>
            </a:r>
            <a:pPr indent="0" marL="0">
              <a:buNone/>
            </a:pPr>
            <a:r>
              <a:rPr lang="en-US" sz="1500" dirty="0">
                <a:solidFill>
                  <a:srgbClr val="1F3A5F"/>
                </a:solidFill>
                <a:latin typeface="Courier New" pitchFamily="34" charset="0"/>
                <a:ea typeface="Courier New" pitchFamily="34" charset="-122"/>
                <a:cs typeface="Courier New" pitchFamily="34" charset="-120"/>
              </a:rPr>
              <a:t>uv.lock</a:t>
            </a:r>
            <a:pPr indent="0" marL="0">
              <a:buNone/>
            </a:pPr>
            <a:r>
              <a:rPr lang="en-US" sz="1500" dirty="0">
                <a:solidFill>
                  <a:srgbClr val="1F2933"/>
                </a:solidFill>
                <a:latin typeface="Calibri" pitchFamily="34" charset="0"/>
                <a:ea typeface="Calibri" pitchFamily="34" charset="-122"/>
                <a:cs typeface="Calibri" pitchFamily="34" charset="-120"/>
              </a:rPr>
              <a:t> fige les versions exactes pour toutes les machines.</a:t>
            </a:r>
            <a:endParaRPr lang="en-US" sz="1500" dirty="0"/>
          </a:p>
        </p:txBody>
      </p:sp>
      <p:sp>
        <p:nvSpPr>
          <p:cNvPr id="21" name="Text 19"/>
          <p:cNvSpPr txBox="1"/>
          <p:nvPr/>
        </p:nvSpPr>
        <p:spPr>
          <a:xfrm>
            <a:off x="548640" y="3840480"/>
            <a:ext cx="11094415"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Installer uv, puis vérifier avec </a:t>
            </a:r>
            <a:pPr indent="0" marL="0">
              <a:buNone/>
            </a:pPr>
            <a:r>
              <a:rPr lang="en-US" sz="1700" b="1" dirty="0">
                <a:solidFill>
                  <a:srgbClr val="1F3A5F"/>
                </a:solidFill>
                <a:latin typeface="Courier New" pitchFamily="34" charset="0"/>
                <a:ea typeface="Courier New" pitchFamily="34" charset="-122"/>
                <a:cs typeface="Courier New" pitchFamily="34" charset="-120"/>
              </a:rPr>
              <a:t>uv --version</a:t>
            </a:r>
            <a:pPr indent="0" marL="0">
              <a:buNone/>
            </a:pPr>
            <a:r>
              <a:rPr lang="en-US" sz="1700" b="1" dirty="0">
                <a:solidFill>
                  <a:srgbClr val="1F3A5F"/>
                </a:solidFill>
                <a:latin typeface="Calibri" pitchFamily="34" charset="0"/>
                <a:ea typeface="Calibri" pitchFamily="34" charset="-122"/>
                <a:cs typeface="Calibri" pitchFamily="34" charset="-120"/>
              </a:rPr>
              <a:t> :</a:t>
            </a:r>
            <a:endParaRPr lang="en-US" sz="1700" dirty="0"/>
          </a:p>
        </p:txBody>
      </p:sp>
      <p:sp>
        <p:nvSpPr>
          <p:cNvPr id="22" name="Shape 20"/>
          <p:cNvSpPr/>
          <p:nvPr/>
        </p:nvSpPr>
        <p:spPr>
          <a:xfrm>
            <a:off x="548640" y="4251960"/>
            <a:ext cx="11094415" cy="1641348"/>
          </a:xfrm>
          <a:prstGeom prst="rect">
            <a:avLst/>
          </a:prstGeom>
          <a:solidFill>
            <a:srgbClr val="F3F4F6"/>
          </a:solidFill>
          <a:ln/>
        </p:spPr>
      </p:sp>
      <p:sp>
        <p:nvSpPr>
          <p:cNvPr id="23" name="Text 21"/>
          <p:cNvSpPr txBox="1"/>
          <p:nvPr/>
        </p:nvSpPr>
        <p:spPr>
          <a:xfrm>
            <a:off x="731520" y="4398264"/>
            <a:ext cx="10728655" cy="1348740"/>
          </a:xfrm>
          <a:prstGeom prst="rect">
            <a:avLst/>
          </a:prstGeom>
          <a:noFill/>
          <a:ln/>
        </p:spPr>
        <p:txBody>
          <a:bodyPr wrap="square" lIns="0" tIns="0" rIns="0" bIns="0" rtlCol="0" anchor="t"/>
          <a:lstStyle/>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Ubuntu, macOS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curl -LsSf https://astral.sh/uv/install.sh | sh</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source $HOME/.local/bin/env</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Windows PowerShell</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powershell -ExecutionPolicy ByPass -c "irm https://astral.sh/uv/install.ps1 | iex"</a:t>
            </a:r>
            <a:endParaRPr lang="en-US" sz="1500" dirty="0"/>
          </a:p>
        </p:txBody>
      </p:sp>
      <p:sp>
        <p:nvSpPr>
          <p:cNvPr id="24" name="Text 2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DE PIP ET VENV À UV</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Créer un projet</a:t>
            </a:r>
            <a:endParaRPr lang="en-US" sz="3000" dirty="0"/>
          </a:p>
        </p:txBody>
      </p:sp>
      <p:sp>
        <p:nvSpPr>
          <p:cNvPr id="6" name="Text 4"/>
          <p:cNvSpPr txBox="1"/>
          <p:nvPr/>
        </p:nvSpPr>
        <p:spPr>
          <a:xfrm>
            <a:off x="548640" y="1417320"/>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Terminal</a:t>
            </a:r>
            <a:endParaRPr lang="en-US" sz="1200" dirty="0"/>
          </a:p>
        </p:txBody>
      </p:sp>
      <p:sp>
        <p:nvSpPr>
          <p:cNvPr id="7" name="Shape 5"/>
          <p:cNvSpPr/>
          <p:nvPr/>
        </p:nvSpPr>
        <p:spPr>
          <a:xfrm>
            <a:off x="548640" y="1709928"/>
            <a:ext cx="5318608" cy="742188"/>
          </a:xfrm>
          <a:prstGeom prst="rect">
            <a:avLst/>
          </a:prstGeom>
          <a:solidFill>
            <a:srgbClr val="F3F4F6"/>
          </a:solidFill>
          <a:ln/>
        </p:spPr>
      </p:sp>
      <p:sp>
        <p:nvSpPr>
          <p:cNvPr id="8" name="Text 6"/>
          <p:cNvSpPr txBox="1"/>
          <p:nvPr/>
        </p:nvSpPr>
        <p:spPr>
          <a:xfrm>
            <a:off x="731520" y="1856232"/>
            <a:ext cx="4952848" cy="44958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init --package ventes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cd ventes</a:t>
            </a:r>
            <a:endParaRPr lang="en-US" sz="1500" dirty="0"/>
          </a:p>
        </p:txBody>
      </p:sp>
      <p:sp>
        <p:nvSpPr>
          <p:cNvPr id="9" name="Text 7"/>
          <p:cNvSpPr txBox="1"/>
          <p:nvPr/>
        </p:nvSpPr>
        <p:spPr>
          <a:xfrm>
            <a:off x="548640" y="2772156"/>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Fichiers créés</a:t>
            </a:r>
            <a:endParaRPr lang="en-US" sz="1200" dirty="0"/>
          </a:p>
        </p:txBody>
      </p:sp>
      <p:sp>
        <p:nvSpPr>
          <p:cNvPr id="10" name="Shape 8"/>
          <p:cNvSpPr/>
          <p:nvPr/>
        </p:nvSpPr>
        <p:spPr>
          <a:xfrm>
            <a:off x="548640" y="3064764"/>
            <a:ext cx="5318608" cy="2315718"/>
          </a:xfrm>
          <a:prstGeom prst="rect">
            <a:avLst/>
          </a:prstGeom>
          <a:solidFill>
            <a:srgbClr val="F3F4F6"/>
          </a:solidFill>
          <a:ln/>
        </p:spPr>
      </p:sp>
      <p:sp>
        <p:nvSpPr>
          <p:cNvPr id="11" name="Text 9"/>
          <p:cNvSpPr txBox="1"/>
          <p:nvPr/>
        </p:nvSpPr>
        <p:spPr>
          <a:xfrm>
            <a:off x="731520" y="3211068"/>
            <a:ext cx="4952848" cy="202311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ventes/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.git/              dépôt git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.gitignore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.python-version    3.12 sur les postes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README.md</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pyproject.toml</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src/</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ventes/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__init__.py</a:t>
            </a:r>
            <a:endParaRPr lang="en-US" sz="1500" dirty="0"/>
          </a:p>
        </p:txBody>
      </p:sp>
      <p:sp>
        <p:nvSpPr>
          <p:cNvPr id="12" name="Text 10"/>
          <p:cNvSpPr txBox="1"/>
          <p:nvPr/>
        </p:nvSpPr>
        <p:spPr>
          <a:xfrm>
            <a:off x="6324448" y="1417320"/>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pyproject.toml</a:t>
            </a:r>
            <a:endParaRPr lang="en-US" sz="1200" dirty="0"/>
          </a:p>
        </p:txBody>
      </p:sp>
      <p:sp>
        <p:nvSpPr>
          <p:cNvPr id="13" name="Shape 11"/>
          <p:cNvSpPr/>
          <p:nvPr/>
        </p:nvSpPr>
        <p:spPr>
          <a:xfrm>
            <a:off x="6324448" y="1709928"/>
            <a:ext cx="5318608" cy="2090928"/>
          </a:xfrm>
          <a:prstGeom prst="rect">
            <a:avLst/>
          </a:prstGeom>
          <a:solidFill>
            <a:srgbClr val="F3F4F6"/>
          </a:solidFill>
          <a:ln/>
        </p:spPr>
      </p:sp>
      <p:sp>
        <p:nvSpPr>
          <p:cNvPr id="14" name="Text 12"/>
          <p:cNvSpPr txBox="1"/>
          <p:nvPr/>
        </p:nvSpPr>
        <p:spPr>
          <a:xfrm>
            <a:off x="6507328" y="1856232"/>
            <a:ext cx="4952848" cy="179832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[project]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name = "ventes"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version = "0.1.0"</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requires-python = "&gt;=3.12"</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dependencies =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[project.scripts]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ventes = "ventes:main"</a:t>
            </a:r>
            <a:endParaRPr lang="en-US" sz="1500" dirty="0"/>
          </a:p>
        </p:txBody>
      </p:sp>
      <p:sp>
        <p:nvSpPr>
          <p:cNvPr id="15" name="Text 13"/>
          <p:cNvSpPr txBox="1"/>
          <p:nvPr/>
        </p:nvSpPr>
        <p:spPr>
          <a:xfrm>
            <a:off x="6324448" y="4120896"/>
            <a:ext cx="5318608" cy="822960"/>
          </a:xfrm>
          <a:prstGeom prst="rect">
            <a:avLst/>
          </a:prstGeom>
          <a:noFill/>
          <a:ln/>
        </p:spPr>
        <p:txBody>
          <a:bodyPr wrap="square" lIns="0" tIns="0" rIns="0" bIns="0" rtlCol="0" anchor="t"/>
          <a:lstStyle/>
          <a:p>
            <a:pPr indent="0" marL="0">
              <a:buNone/>
            </a:pPr>
            <a:r>
              <a:rPr lang="en-US" sz="1500" dirty="0">
                <a:solidFill>
                  <a:srgbClr val="1F3A5F"/>
                </a:solidFill>
                <a:latin typeface="Courier New" pitchFamily="34" charset="0"/>
                <a:ea typeface="Courier New" pitchFamily="34" charset="-122"/>
                <a:cs typeface="Courier New" pitchFamily="34" charset="-120"/>
              </a:rPr>
              <a:t>--package</a:t>
            </a:r>
            <a:pPr indent="0" marL="0">
              <a:buNone/>
            </a:pPr>
            <a:r>
              <a:rPr lang="en-US" sz="1500" dirty="0">
                <a:solidFill>
                  <a:srgbClr val="6B7280"/>
                </a:solidFill>
                <a:latin typeface="Calibri" pitchFamily="34" charset="0"/>
                <a:ea typeface="Calibri" pitchFamily="34" charset="-122"/>
                <a:cs typeface="Calibri" pitchFamily="34" charset="-120"/>
              </a:rPr>
              <a:t> crée un projet installable, avec le code dans </a:t>
            </a:r>
            <a:pPr indent="0" marL="0">
              <a:buNone/>
            </a:pPr>
            <a:r>
              <a:rPr lang="en-US" sz="1500" dirty="0">
                <a:solidFill>
                  <a:srgbClr val="1F3A5F"/>
                </a:solidFill>
                <a:latin typeface="Courier New" pitchFamily="34" charset="0"/>
                <a:ea typeface="Courier New" pitchFamily="34" charset="-122"/>
                <a:cs typeface="Courier New" pitchFamily="34" charset="-120"/>
              </a:rPr>
              <a:t>src/</a:t>
            </a:r>
            <a:pPr indent="0" marL="0">
              <a:buNone/>
            </a:pPr>
            <a:r>
              <a:rPr lang="en-US" sz="1500" dirty="0">
                <a:solidFill>
                  <a:srgbClr val="6B7280"/>
                </a:solidFill>
                <a:latin typeface="Calibri" pitchFamily="34" charset="0"/>
                <a:ea typeface="Calibri" pitchFamily="34" charset="-122"/>
                <a:cs typeface="Calibri" pitchFamily="34" charset="-120"/>
              </a:rPr>
              <a:t>, importable depuis les notebooks et exécutable en commande.</a:t>
            </a:r>
            <a:endParaRPr lang="en-US" sz="1500" dirty="0"/>
          </a:p>
        </p:txBody>
      </p:sp>
      <p:sp>
        <p:nvSpPr>
          <p:cNvPr id="16" name="Text 14"/>
          <p:cNvSpPr txBox="1"/>
          <p:nvPr/>
        </p:nvSpPr>
        <p:spPr>
          <a:xfrm>
            <a:off x="6324448" y="5263896"/>
            <a:ext cx="5318608" cy="5943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uv initialise aussi un dépôt git et note dans </a:t>
            </a:r>
            <a:pPr indent="0" marL="0">
              <a:buNone/>
            </a:pPr>
            <a:r>
              <a:rPr lang="en-US" sz="1500" dirty="0">
                <a:solidFill>
                  <a:srgbClr val="1F3A5F"/>
                </a:solidFill>
                <a:latin typeface="Courier New" pitchFamily="34" charset="0"/>
                <a:ea typeface="Courier New" pitchFamily="34" charset="-122"/>
                <a:cs typeface="Courier New" pitchFamily="34" charset="-120"/>
              </a:rPr>
              <a:t>.python-version</a:t>
            </a:r>
            <a:pPr indent="0" marL="0">
              <a:buNone/>
            </a:pPr>
            <a:r>
              <a:rPr lang="en-US" sz="1500" dirty="0">
                <a:solidFill>
                  <a:srgbClr val="6B7280"/>
                </a:solidFill>
                <a:latin typeface="Calibri" pitchFamily="34" charset="0"/>
                <a:ea typeface="Calibri" pitchFamily="34" charset="-122"/>
                <a:cs typeface="Calibri" pitchFamily="34" charset="-120"/>
              </a:rPr>
              <a:t> la version de Python utilisée.</a:t>
            </a:r>
            <a:endParaRPr lang="en-US" sz="1500" dirty="0"/>
          </a:p>
        </p:txBody>
      </p:sp>
      <p:sp>
        <p:nvSpPr>
          <p:cNvPr id="17" name="Text 1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DE PIP ET VENV À UV</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Ajouter et exécuter</a:t>
            </a:r>
            <a:endParaRPr lang="en-US" sz="3000" dirty="0"/>
          </a:p>
        </p:txBody>
      </p:sp>
      <p:sp>
        <p:nvSpPr>
          <p:cNvPr id="6" name="Shape 4"/>
          <p:cNvSpPr/>
          <p:nvPr/>
        </p:nvSpPr>
        <p:spPr>
          <a:xfrm>
            <a:off x="548640" y="1417320"/>
            <a:ext cx="5318608" cy="1191768"/>
          </a:xfrm>
          <a:prstGeom prst="rect">
            <a:avLst/>
          </a:prstGeom>
          <a:solidFill>
            <a:srgbClr val="F3F4F6"/>
          </a:solidFill>
          <a:ln/>
        </p:spPr>
      </p:sp>
      <p:sp>
        <p:nvSpPr>
          <p:cNvPr id="7" name="Text 5"/>
          <p:cNvSpPr txBox="1"/>
          <p:nvPr/>
        </p:nvSpPr>
        <p:spPr>
          <a:xfrm>
            <a:off x="731520" y="1563624"/>
            <a:ext cx="4952848" cy="89916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add pandas pyarrow pyyaml</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run python mon_script.py</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run ventes</a:t>
            </a:r>
            <a:endParaRPr lang="en-US" sz="1500" dirty="0"/>
          </a:p>
        </p:txBody>
      </p:sp>
      <p:sp>
        <p:nvSpPr>
          <p:cNvPr id="8" name="Text 6"/>
          <p:cNvSpPr txBox="1"/>
          <p:nvPr/>
        </p:nvSpPr>
        <p:spPr>
          <a:xfrm>
            <a:off x="548640" y="2929128"/>
            <a:ext cx="5318608" cy="127000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1F3A5F"/>
                </a:solidFill>
                <a:latin typeface="Courier New" pitchFamily="34" charset="0"/>
                <a:ea typeface="Courier New" pitchFamily="34" charset="-122"/>
                <a:cs typeface="Courier New" pitchFamily="34" charset="-120"/>
              </a:rPr>
              <a:t>uv add</a:t>
            </a:r>
            <a:pPr indent="0" marL="0">
              <a:buNone/>
            </a:pPr>
            <a:r>
              <a:rPr lang="en-US" sz="1600" dirty="0">
                <a:solidFill>
                  <a:srgbClr val="1F2933"/>
                </a:solidFill>
                <a:latin typeface="Calibri" pitchFamily="34" charset="0"/>
                <a:ea typeface="Calibri" pitchFamily="34" charset="-122"/>
                <a:cs typeface="Calibri" pitchFamily="34" charset="-120"/>
              </a:rPr>
              <a:t> crée le </a:t>
            </a:r>
            <a:pPr indent="0" marL="0">
              <a:buNone/>
            </a:pPr>
            <a:r>
              <a:rPr lang="en-US" sz="1600" dirty="0">
                <a:solidFill>
                  <a:srgbClr val="1F3A5F"/>
                </a:solidFill>
                <a:latin typeface="Courier New" pitchFamily="34" charset="0"/>
                <a:ea typeface="Courier New" pitchFamily="34" charset="-122"/>
                <a:cs typeface="Courier New" pitchFamily="34" charset="-120"/>
              </a:rPr>
              <a:t>.venv</a:t>
            </a:r>
            <a:pPr indent="0" marL="0">
              <a:buNone/>
            </a:pPr>
            <a:r>
              <a:rPr lang="en-US" sz="1600" dirty="0">
                <a:solidFill>
                  <a:srgbClr val="1F2933"/>
                </a:solidFill>
                <a:latin typeface="Calibri" pitchFamily="34" charset="0"/>
                <a:ea typeface="Calibri" pitchFamily="34" charset="-122"/>
                <a:cs typeface="Calibri" pitchFamily="34" charset="-120"/>
              </a:rPr>
              <a:t>, installe, inscrit dans </a:t>
            </a:r>
            <a:pPr indent="0" marL="0">
              <a:buNone/>
            </a:pPr>
            <a:r>
              <a:rPr lang="en-US" sz="1600" dirty="0">
                <a:solidFill>
                  <a:srgbClr val="1F3A5F"/>
                </a:solidFill>
                <a:latin typeface="Courier New" pitchFamily="34" charset="0"/>
                <a:ea typeface="Courier New" pitchFamily="34" charset="-122"/>
                <a:cs typeface="Courier New" pitchFamily="34" charset="-120"/>
              </a:rPr>
              <a:t>pyproject.toml</a:t>
            </a:r>
            <a:pPr indent="0" marL="0">
              <a:buNone/>
            </a:pPr>
            <a:r>
              <a:rPr lang="en-US" sz="1600" dirty="0">
                <a:solidFill>
                  <a:srgbClr val="1F2933"/>
                </a:solidFill>
                <a:latin typeface="Calibri" pitchFamily="34" charset="0"/>
                <a:ea typeface="Calibri" pitchFamily="34" charset="-122"/>
                <a:cs typeface="Calibri" pitchFamily="34" charset="-120"/>
              </a:rPr>
              <a:t> et met à jour </a:t>
            </a:r>
            <a:pPr indent="0" marL="0">
              <a:buNone/>
            </a:pPr>
            <a:r>
              <a:rPr lang="en-US" sz="1600" dirty="0">
                <a:solidFill>
                  <a:srgbClr val="1F3A5F"/>
                </a:solidFill>
                <a:latin typeface="Courier New" pitchFamily="34" charset="0"/>
                <a:ea typeface="Courier New" pitchFamily="34" charset="-122"/>
                <a:cs typeface="Courier New" pitchFamily="34" charset="-120"/>
              </a:rPr>
              <a:t>uv.lock</a:t>
            </a:r>
            <a:endParaRPr lang="en-US" sz="1600" dirty="0"/>
          </a:p>
          <a:p>
            <a:pPr marL="254000" indent="-254000">
              <a:spcAft>
                <a:spcPts val="800"/>
              </a:spcAft>
              <a:buSzPct val="100000"/>
              <a:buChar char="•"/>
            </a:pPr>
            <a:r>
              <a:rPr lang="en-US" sz="1600" dirty="0">
                <a:solidFill>
                  <a:srgbClr val="1F3A5F"/>
                </a:solidFill>
                <a:latin typeface="Courier New" pitchFamily="34" charset="0"/>
                <a:ea typeface="Courier New" pitchFamily="34" charset="-122"/>
                <a:cs typeface="Courier New" pitchFamily="34" charset="-120"/>
              </a:rPr>
              <a:t>uv run</a:t>
            </a:r>
            <a:pPr indent="0" marL="0">
              <a:buNone/>
            </a:pPr>
            <a:r>
              <a:rPr lang="en-US" sz="1600" dirty="0">
                <a:solidFill>
                  <a:srgbClr val="1F2933"/>
                </a:solidFill>
                <a:latin typeface="Calibri" pitchFamily="34" charset="0"/>
                <a:ea typeface="Calibri" pitchFamily="34" charset="-122"/>
                <a:cs typeface="Calibri" pitchFamily="34" charset="-120"/>
              </a:rPr>
              <a:t> exécute dans l'environnement du projet, </a:t>
            </a:r>
            <a:pPr indent="0" marL="0">
              <a:buNone/>
            </a:pPr>
            <a:r>
              <a:rPr lang="en-US" sz="1600" b="1" dirty="0">
                <a:solidFill>
                  <a:srgbClr val="1F2933"/>
                </a:solidFill>
                <a:latin typeface="Calibri" pitchFamily="34" charset="0"/>
                <a:ea typeface="Calibri" pitchFamily="34" charset="-122"/>
                <a:cs typeface="Calibri" pitchFamily="34" charset="-120"/>
              </a:rPr>
              <a:t>sans activation</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324448" y="1417320"/>
          <a:ext cx="5318608" cy="914400"/>
        </p:xfrm>
        <a:graphic>
          <a:graphicData uri="http://schemas.openxmlformats.org/drawingml/2006/table">
            <a:tbl>
              <a:tblPr/>
              <a:tblGrid>
                <a:gridCol w="2659304"/>
                <a:gridCol w="2659304"/>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pip et venv</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uv</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55524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python -m venv</a:t>
                      </a:r>
                      <a:pPr indent="0" marL="0">
                        <a:buNone/>
                      </a:pPr>
                      <a:r>
                        <a:rPr lang="en-US" sz="1400" dirty="0">
                          <a:solidFill>
                            <a:srgbClr val="1F2933"/>
                          </a:solidFill>
                          <a:latin typeface="Calibri" pitchFamily="34" charset="0"/>
                          <a:ea typeface="Calibri" pitchFamily="34" charset="-122"/>
                          <a:cs typeface="Calibri" pitchFamily="34" charset="-120"/>
                        </a:rPr>
                        <a:t> puis activation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automatique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pip install pandas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uv add pandas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55524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pip freeze &gt; requirements.txt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automatique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python script.py</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uv run python script.py</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10" name="Shape 7"/>
          <p:cNvSpPr/>
          <p:nvPr/>
        </p:nvSpPr>
        <p:spPr>
          <a:xfrm>
            <a:off x="548640" y="4519168"/>
            <a:ext cx="11094415" cy="883920"/>
          </a:xfrm>
          <a:prstGeom prst="roundRect">
            <a:avLst>
              <a:gd name="adj" fmla="val 6207"/>
            </a:avLst>
          </a:prstGeom>
          <a:solidFill>
            <a:srgbClr val="E8F3EE"/>
          </a:solidFill>
          <a:ln/>
        </p:spPr>
      </p:sp>
      <p:sp>
        <p:nvSpPr>
          <p:cNvPr id="11" name="Text 8"/>
          <p:cNvSpPr txBox="1"/>
          <p:nvPr/>
        </p:nvSpPr>
        <p:spPr>
          <a:xfrm>
            <a:off x="822960" y="4519168"/>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Pour récupérer un projet existant, comme le squelette du TP5 : </a:t>
            </a:r>
            <a:pPr indent="0" marL="0">
              <a:buNone/>
            </a:pPr>
            <a:r>
              <a:rPr lang="en-US" sz="1700" dirty="0">
                <a:solidFill>
                  <a:srgbClr val="2F7D62"/>
                </a:solidFill>
                <a:latin typeface="Courier New" pitchFamily="34" charset="0"/>
                <a:ea typeface="Courier New" pitchFamily="34" charset="-122"/>
                <a:cs typeface="Courier New" pitchFamily="34" charset="-120"/>
              </a:rPr>
              <a:t>uv sync</a:t>
            </a:r>
            <a:pPr indent="0" marL="0">
              <a:buNone/>
            </a:pPr>
            <a:r>
              <a:rPr lang="en-US" sz="1700" dirty="0">
                <a:solidFill>
                  <a:srgbClr val="1F3A5F"/>
                </a:solidFill>
                <a:latin typeface="Calibri" pitchFamily="34" charset="0"/>
                <a:ea typeface="Calibri" pitchFamily="34" charset="-122"/>
                <a:cs typeface="Calibri" pitchFamily="34" charset="-120"/>
              </a:rPr>
              <a:t> crée l'environnement et installe tout ce que déclare </a:t>
            </a:r>
            <a:pPr indent="0" marL="0">
              <a:buNone/>
            </a:pPr>
            <a:r>
              <a:rPr lang="en-US" sz="1700" dirty="0">
                <a:solidFill>
                  <a:srgbClr val="2F7D62"/>
                </a:solidFill>
                <a:latin typeface="Courier New" pitchFamily="34" charset="0"/>
                <a:ea typeface="Courier New" pitchFamily="34" charset="-122"/>
                <a:cs typeface="Courier New" pitchFamily="34" charset="-120"/>
              </a:rPr>
              <a:t>pyproject.toml</a:t>
            </a:r>
            <a:pPr indent="0" marL="0">
              <a:buNone/>
            </a:pPr>
            <a:r>
              <a:rPr lang="en-US" sz="1700" dirty="0">
                <a:solidFill>
                  <a:srgbClr val="1F3A5F"/>
                </a:solidFill>
                <a:latin typeface="Calibri" pitchFamily="34" charset="0"/>
                <a:ea typeface="Calibri" pitchFamily="34" charset="-122"/>
                <a:cs typeface="Calibri" pitchFamily="34" charset="-120"/>
              </a:rPr>
              <a:t>.</a:t>
            </a:r>
            <a:endParaRPr lang="en-US" sz="1700" dirty="0"/>
          </a:p>
        </p:txBody>
      </p:sp>
      <p:sp>
        <p:nvSpPr>
          <p:cNvPr id="12" name="Text 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DE PIP ET VENV À UV</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TP5, étape 0</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Préparer l'environnement du projet, dans exercices/tp05-script-cli</a:t>
            </a:r>
            <a:endParaRPr lang="en-US" sz="1800" dirty="0"/>
          </a:p>
        </p:txBody>
      </p:sp>
      <p:sp>
        <p:nvSpPr>
          <p:cNvPr id="7" name="Text 5"/>
          <p:cNvSpPr txBox="1"/>
          <p:nvPr/>
        </p:nvSpPr>
        <p:spPr>
          <a:xfrm>
            <a:off x="548640" y="2011680"/>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Terminal</a:t>
            </a:r>
            <a:endParaRPr lang="en-US" sz="1200" dirty="0"/>
          </a:p>
        </p:txBody>
      </p:sp>
      <p:sp>
        <p:nvSpPr>
          <p:cNvPr id="8" name="Shape 6"/>
          <p:cNvSpPr/>
          <p:nvPr/>
        </p:nvSpPr>
        <p:spPr>
          <a:xfrm>
            <a:off x="548640" y="2304288"/>
            <a:ext cx="5318608" cy="966978"/>
          </a:xfrm>
          <a:prstGeom prst="rect">
            <a:avLst/>
          </a:prstGeom>
          <a:solidFill>
            <a:srgbClr val="F3F4F6"/>
          </a:solidFill>
          <a:ln/>
        </p:spPr>
      </p:sp>
      <p:sp>
        <p:nvSpPr>
          <p:cNvPr id="9" name="Text 7"/>
          <p:cNvSpPr txBox="1"/>
          <p:nvPr/>
        </p:nvSpPr>
        <p:spPr>
          <a:xfrm>
            <a:off x="731520" y="2450592"/>
            <a:ext cx="4952848" cy="67437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--version</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sync</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run pytest</a:t>
            </a:r>
            <a:endParaRPr lang="en-US" sz="1500" dirty="0"/>
          </a:p>
        </p:txBody>
      </p:sp>
      <p:sp>
        <p:nvSpPr>
          <p:cNvPr id="10" name="Text 8"/>
          <p:cNvSpPr txBox="1"/>
          <p:nvPr/>
        </p:nvSpPr>
        <p:spPr>
          <a:xfrm>
            <a:off x="548640" y="3591306"/>
            <a:ext cx="5318608" cy="102616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1F3A5F"/>
                </a:solidFill>
                <a:latin typeface="Courier New" pitchFamily="34" charset="0"/>
                <a:ea typeface="Courier New" pitchFamily="34" charset="-122"/>
                <a:cs typeface="Courier New" pitchFamily="34" charset="-120"/>
              </a:rPr>
              <a:t>uv sync</a:t>
            </a:r>
            <a:pPr indent="0" marL="0">
              <a:buNone/>
            </a:pPr>
            <a:r>
              <a:rPr lang="en-US" sz="1600" dirty="0">
                <a:solidFill>
                  <a:srgbClr val="1F2933"/>
                </a:solidFill>
                <a:latin typeface="Calibri" pitchFamily="34" charset="0"/>
                <a:ea typeface="Calibri" pitchFamily="34" charset="-122"/>
                <a:cs typeface="Calibri" pitchFamily="34" charset="-120"/>
              </a:rPr>
              <a:t> crée </a:t>
            </a:r>
            <a:pPr indent="0" marL="0">
              <a:buNone/>
            </a:pPr>
            <a:r>
              <a:rPr lang="en-US" sz="1600" dirty="0">
                <a:solidFill>
                  <a:srgbClr val="1F3A5F"/>
                </a:solidFill>
                <a:latin typeface="Courier New" pitchFamily="34" charset="0"/>
                <a:ea typeface="Courier New" pitchFamily="34" charset="-122"/>
                <a:cs typeface="Courier New" pitchFamily="34" charset="-120"/>
              </a:rPr>
              <a:t>.venv</a:t>
            </a:r>
            <a:pPr indent="0" marL="0">
              <a:buNone/>
            </a:pPr>
            <a:r>
              <a:rPr lang="en-US" sz="1600" dirty="0">
                <a:solidFill>
                  <a:srgbClr val="1F2933"/>
                </a:solidFill>
                <a:latin typeface="Calibri" pitchFamily="34" charset="0"/>
                <a:ea typeface="Calibri" pitchFamily="34" charset="-122"/>
                <a:cs typeface="Calibri" pitchFamily="34" charset="-120"/>
              </a:rPr>
              <a:t> avec le Python 3.12 du poste et installe les dépendances du </a:t>
            </a:r>
            <a:pPr indent="0" marL="0">
              <a:buNone/>
            </a:pPr>
            <a:r>
              <a:rPr lang="en-US" sz="1600" dirty="0">
                <a:solidFill>
                  <a:srgbClr val="1F3A5F"/>
                </a:solidFill>
                <a:latin typeface="Courier New" pitchFamily="34" charset="0"/>
                <a:ea typeface="Courier New" pitchFamily="34" charset="-122"/>
                <a:cs typeface="Courier New" pitchFamily="34" charset="-120"/>
              </a:rPr>
              <a:t>pyproject.toml</a:t>
            </a:r>
            <a:endParaRPr lang="en-US" sz="1600" dirty="0"/>
          </a:p>
          <a:p>
            <a:pPr marL="254000" indent="-2540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Aucune activation : </a:t>
            </a:r>
            <a:pPr indent="0" marL="0">
              <a:buNone/>
            </a:pPr>
            <a:r>
              <a:rPr lang="en-US" sz="1600" dirty="0">
                <a:solidFill>
                  <a:srgbClr val="1F3A5F"/>
                </a:solidFill>
                <a:latin typeface="Courier New" pitchFamily="34" charset="0"/>
                <a:ea typeface="Courier New" pitchFamily="34" charset="-122"/>
                <a:cs typeface="Courier New" pitchFamily="34" charset="-120"/>
              </a:rPr>
              <a:t>uv run</a:t>
            </a:r>
            <a:pPr indent="0" marL="0">
              <a:buNone/>
            </a:pPr>
            <a:r>
              <a:rPr lang="en-US" sz="1600" dirty="0">
                <a:solidFill>
                  <a:srgbClr val="1F2933"/>
                </a:solidFill>
                <a:latin typeface="Calibri" pitchFamily="34" charset="0"/>
                <a:ea typeface="Calibri" pitchFamily="34" charset="-122"/>
                <a:cs typeface="Calibri" pitchFamily="34" charset="-120"/>
              </a:rPr>
              <a:t> suffit</a:t>
            </a:r>
            <a:endParaRPr lang="en-US" sz="1600" dirty="0"/>
          </a:p>
        </p:txBody>
      </p:sp>
      <p:sp>
        <p:nvSpPr>
          <p:cNvPr id="11" name="Text 9"/>
          <p:cNvSpPr txBox="1"/>
          <p:nvPr/>
        </p:nvSpPr>
        <p:spPr>
          <a:xfrm>
            <a:off x="6324448" y="2011680"/>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Résultat attendu de uv run pytest</a:t>
            </a:r>
            <a:endParaRPr lang="en-US" sz="1200" dirty="0"/>
          </a:p>
        </p:txBody>
      </p:sp>
      <p:sp>
        <p:nvSpPr>
          <p:cNvPr id="12" name="Shape 10"/>
          <p:cNvSpPr/>
          <p:nvPr/>
        </p:nvSpPr>
        <p:spPr>
          <a:xfrm>
            <a:off x="6324448" y="2304288"/>
            <a:ext cx="5318608" cy="517398"/>
          </a:xfrm>
          <a:prstGeom prst="rect">
            <a:avLst/>
          </a:prstGeom>
          <a:solidFill>
            <a:srgbClr val="FFFFFF"/>
          </a:solidFill>
          <a:ln w="12700">
            <a:solidFill>
              <a:srgbClr val="D5DCE3"/>
            </a:solidFill>
            <a:prstDash val="solid"/>
          </a:ln>
        </p:spPr>
      </p:sp>
      <p:sp>
        <p:nvSpPr>
          <p:cNvPr id="13" name="Text 11"/>
          <p:cNvSpPr txBox="1"/>
          <p:nvPr/>
        </p:nvSpPr>
        <p:spPr>
          <a:xfrm>
            <a:off x="6507328" y="2450592"/>
            <a:ext cx="4952848" cy="22479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5 failed, 3 errors in 9.17s</a:t>
            </a:r>
            <a:endParaRPr lang="en-US" sz="1500" dirty="0"/>
          </a:p>
        </p:txBody>
      </p:sp>
      <p:sp>
        <p:nvSpPr>
          <p:cNvPr id="14" name="Shape 12"/>
          <p:cNvSpPr/>
          <p:nvPr/>
        </p:nvSpPr>
        <p:spPr>
          <a:xfrm>
            <a:off x="6324448" y="3141726"/>
            <a:ext cx="5318608" cy="1051560"/>
          </a:xfrm>
          <a:prstGeom prst="roundRect">
            <a:avLst>
              <a:gd name="adj" fmla="val 5217"/>
            </a:avLst>
          </a:prstGeom>
          <a:solidFill>
            <a:srgbClr val="E8F3EE"/>
          </a:solidFill>
          <a:ln/>
        </p:spPr>
      </p:sp>
      <p:sp>
        <p:nvSpPr>
          <p:cNvPr id="15" name="Text 13"/>
          <p:cNvSpPr txBox="1"/>
          <p:nvPr/>
        </p:nvSpPr>
        <p:spPr>
          <a:xfrm>
            <a:off x="6598768" y="3141726"/>
            <a:ext cx="4769968" cy="1051560"/>
          </a:xfrm>
          <a:prstGeom prst="rect">
            <a:avLst/>
          </a:prstGeom>
          <a:noFill/>
          <a:ln/>
        </p:spPr>
        <p:txBody>
          <a:bodyPr wrap="square" lIns="0" tIns="0" rIns="0" bIns="0" rtlCol="0" anchor="ctr"/>
          <a:lstStyle/>
          <a:p>
            <a:pPr indent="0" marL="0">
              <a:buNone/>
            </a:pPr>
            <a:r>
              <a:rPr lang="en-US" sz="1500" dirty="0">
                <a:solidFill>
                  <a:srgbClr val="1F3A5F"/>
                </a:solidFill>
                <a:latin typeface="Calibri" pitchFamily="34" charset="0"/>
                <a:ea typeface="Calibri" pitchFamily="34" charset="-122"/>
                <a:cs typeface="Calibri" pitchFamily="34" charset="-120"/>
              </a:rPr>
              <a:t>C'est normal : les fonctions contiennent encore </a:t>
            </a:r>
            <a:pPr indent="0" marL="0">
              <a:buNone/>
            </a:pPr>
            <a:r>
              <a:rPr lang="en-US" sz="1500" dirty="0">
                <a:solidFill>
                  <a:srgbClr val="2F7D62"/>
                </a:solidFill>
                <a:latin typeface="Courier New" pitchFamily="34" charset="0"/>
                <a:ea typeface="Courier New" pitchFamily="34" charset="-122"/>
                <a:cs typeface="Courier New" pitchFamily="34" charset="-120"/>
              </a:rPr>
              <a:t>raise NotImplementedError</a:t>
            </a:r>
            <a:pPr indent="0" marL="0">
              <a:buNone/>
            </a:pPr>
            <a:r>
              <a:rPr lang="en-US" sz="1500" dirty="0">
                <a:solidFill>
                  <a:srgbClr val="1F3A5F"/>
                </a:solidFill>
                <a:latin typeface="Calibri" pitchFamily="34" charset="0"/>
                <a:ea typeface="Calibri" pitchFamily="34" charset="-122"/>
                <a:cs typeface="Calibri" pitchFamily="34" charset="-120"/>
              </a:rPr>
              <a:t>. À la fin du TP, tous les tests passent.</a:t>
            </a:r>
            <a:endParaRPr lang="en-US" sz="1500" dirty="0"/>
          </a:p>
        </p:txBody>
      </p:sp>
      <p:sp>
        <p:nvSpPr>
          <p:cNvPr id="16" name="Text 1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02</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Structurer un projet data</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data   |   notebooks   |   src   |   tests   |   outputs</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STRUCTURER UN PROJET DATA</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Une structure type</a:t>
            </a:r>
            <a:endParaRPr lang="en-US" sz="3000" dirty="0"/>
          </a:p>
        </p:txBody>
      </p:sp>
      <p:sp>
        <p:nvSpPr>
          <p:cNvPr id="6" name="Shape 4"/>
          <p:cNvSpPr/>
          <p:nvPr/>
        </p:nvSpPr>
        <p:spPr>
          <a:xfrm>
            <a:off x="548640" y="1417320"/>
            <a:ext cx="4835098" cy="3994150"/>
          </a:xfrm>
          <a:prstGeom prst="rect">
            <a:avLst/>
          </a:prstGeom>
          <a:solidFill>
            <a:srgbClr val="F3F4F6"/>
          </a:solidFill>
          <a:ln/>
        </p:spPr>
      </p:sp>
      <p:sp>
        <p:nvSpPr>
          <p:cNvPr id="7" name="Text 5"/>
          <p:cNvSpPr txBox="1"/>
          <p:nvPr/>
        </p:nvSpPr>
        <p:spPr>
          <a:xfrm>
            <a:off x="731520" y="1563624"/>
            <a:ext cx="4469338" cy="3701542"/>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ventes/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pyproject.toml</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uv.lock</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README.md</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config.yaml</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data/</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brut/</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notebooks/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01_exploration.ipynb</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src/</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ventes/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__init__.py</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chargement.py</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indicateurs.py</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erreurs.py</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config.py</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cli.py</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tests/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outputs/</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840938" y="1417320"/>
          <a:ext cx="5802117" cy="914400"/>
        </p:xfrm>
        <a:graphic>
          <a:graphicData uri="http://schemas.openxmlformats.org/drawingml/2006/table">
            <a:tbl>
              <a:tblPr/>
              <a:tblGrid>
                <a:gridCol w="1604841"/>
                <a:gridCol w="4197276"/>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Dossier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Règle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55524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data/brut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jamais modifié : tout se recalcule à partir de lui</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notebooks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numérotés, ils importent le code de </a:t>
                      </a:r>
                      <a:pPr indent="0" marL="0">
                        <a:buNone/>
                      </a:pPr>
                      <a:r>
                        <a:rPr lang="en-US" sz="1400" dirty="0">
                          <a:solidFill>
                            <a:srgbClr val="1F3A5F"/>
                          </a:solidFill>
                          <a:latin typeface="Courier New" pitchFamily="34" charset="0"/>
                          <a:ea typeface="Courier New" pitchFamily="34" charset="-122"/>
                          <a:cs typeface="Courier New" pitchFamily="34" charset="-120"/>
                        </a:rPr>
                        <a:t>src</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src</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le code réutilisable, sans chemin en dur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tests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un fichier de test par module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55524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outputs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régénérable : on peut tout supprimer et relancer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5840938" y="4250944"/>
            <a:ext cx="5802117" cy="8229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Le dossier </a:t>
            </a:r>
            <a:pPr indent="0" marL="0">
              <a:buNone/>
            </a:pPr>
            <a:r>
              <a:rPr lang="en-US" sz="1500" dirty="0">
                <a:solidFill>
                  <a:srgbClr val="1F3A5F"/>
                </a:solidFill>
                <a:latin typeface="Courier New" pitchFamily="34" charset="0"/>
                <a:ea typeface="Courier New" pitchFamily="34" charset="-122"/>
                <a:cs typeface="Courier New" pitchFamily="34" charset="-120"/>
              </a:rPr>
              <a:t>src/</a:t>
            </a:r>
            <a:pPr indent="0" marL="0">
              <a:buNone/>
            </a:pPr>
            <a:r>
              <a:rPr lang="en-US" sz="1500" dirty="0">
                <a:solidFill>
                  <a:srgbClr val="6B7280"/>
                </a:solidFill>
                <a:latin typeface="Calibri" pitchFamily="34" charset="0"/>
                <a:ea typeface="Calibri" pitchFamily="34" charset="-122"/>
                <a:cs typeface="Calibri" pitchFamily="34" charset="-120"/>
              </a:rPr>
              <a:t> oblige à installer le paquet : il s'importe alors de la même façon dans un notebook, un test ou un script.</a:t>
            </a:r>
            <a:endParaRPr lang="en-US" sz="15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03</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Du notebook au module</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Notebook ou script   |   Extraire des fonctions   |   Importer   |   __init__ et __main__</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DU NOTEBOOK AU MODULE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Notebook ou module ?</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35666"/>
                <a:gridCol w="4379374"/>
                <a:gridCol w="4379374"/>
              </a:tblGrid>
              <a:tr h="3799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Notebook</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Module et script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Idéal pour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explorer, visualiser, raconter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un traitement répété, automatisé</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Exécution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cellule par cellule, ordre libre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de haut en bas, toujours pareil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Réutilisation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copier-coller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3A5F"/>
                          </a:solidFill>
                          <a:latin typeface="Courier New" pitchFamily="34" charset="0"/>
                          <a:ea typeface="Courier New" pitchFamily="34" charset="-122"/>
                          <a:cs typeface="Courier New" pitchFamily="34" charset="-120"/>
                        </a:rPr>
                        <a:t>import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Tests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difficiles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naturels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Versionnement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diff peu lisible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diff clair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017264"/>
            <a:ext cx="11094415" cy="883920"/>
          </a:xfrm>
          <a:prstGeom prst="roundRect">
            <a:avLst>
              <a:gd name="adj" fmla="val 6207"/>
            </a:avLst>
          </a:prstGeom>
          <a:solidFill>
            <a:srgbClr val="E8F3EE"/>
          </a:solidFill>
          <a:ln/>
        </p:spPr>
      </p:sp>
      <p:sp>
        <p:nvSpPr>
          <p:cNvPr id="8" name="Text 5"/>
          <p:cNvSpPr txBox="1"/>
          <p:nvPr/>
        </p:nvSpPr>
        <p:spPr>
          <a:xfrm>
            <a:off x="822960" y="4017264"/>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Les deux se complètent : le code stable part dans des modules, le notebook garde l'exploration et la restitution.</a:t>
            </a:r>
            <a:endParaRPr lang="en-US" sz="1700" dirty="0"/>
          </a:p>
        </p:txBody>
      </p:sp>
      <p:sp>
        <p:nvSpPr>
          <p:cNvPr id="9" name="Text 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DU NOTEBOOK AU MODULE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Extraire une fonction</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Dans le notebook du TP3</a:t>
            </a:r>
            <a:endParaRPr lang="en-US" sz="1700" dirty="0"/>
          </a:p>
        </p:txBody>
      </p:sp>
      <p:sp>
        <p:nvSpPr>
          <p:cNvPr id="7" name="Shape 5"/>
          <p:cNvSpPr/>
          <p:nvPr/>
        </p:nvSpPr>
        <p:spPr>
          <a:xfrm>
            <a:off x="548640" y="1828800"/>
            <a:ext cx="5318608" cy="1866138"/>
          </a:xfrm>
          <a:prstGeom prst="rect">
            <a:avLst/>
          </a:prstGeom>
          <a:solidFill>
            <a:srgbClr val="F3F4F6"/>
          </a:solidFill>
          <a:ln/>
        </p:spPr>
      </p:sp>
      <p:sp>
        <p:nvSpPr>
          <p:cNvPr id="8" name="Text 6"/>
          <p:cNvSpPr txBox="1"/>
          <p:nvPr/>
        </p:nvSpPr>
        <p:spPr>
          <a:xfrm>
            <a:off x="731520" y="1975104"/>
            <a:ext cx="4952848" cy="157353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fichiers = sorted(Path("ressources/ventes")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.glob("*.csv"))</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ventes = pd.concat(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[pd.read_csv(f, parse_dates=["date"])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for f in fichiers],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ignore_index=True,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t>
            </a:r>
            <a:endParaRPr lang="en-US" sz="1500" dirty="0"/>
          </a:p>
        </p:txBody>
      </p:sp>
      <p:sp>
        <p:nvSpPr>
          <p:cNvPr id="9" name="Text 7"/>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Dans src/ventes/chargement.py</a:t>
            </a:r>
            <a:endParaRPr lang="en-US" sz="1700" dirty="0"/>
          </a:p>
        </p:txBody>
      </p:sp>
      <p:sp>
        <p:nvSpPr>
          <p:cNvPr id="10" name="Shape 8"/>
          <p:cNvSpPr/>
          <p:nvPr/>
        </p:nvSpPr>
        <p:spPr>
          <a:xfrm>
            <a:off x="6324448" y="1828800"/>
            <a:ext cx="5318608" cy="2090928"/>
          </a:xfrm>
          <a:prstGeom prst="rect">
            <a:avLst/>
          </a:prstGeom>
          <a:solidFill>
            <a:srgbClr val="F3F4F6"/>
          </a:solidFill>
          <a:ln/>
        </p:spPr>
      </p:sp>
      <p:sp>
        <p:nvSpPr>
          <p:cNvPr id="11" name="Text 9"/>
          <p:cNvSpPr txBox="1"/>
          <p:nvPr/>
        </p:nvSpPr>
        <p:spPr>
          <a:xfrm>
            <a:off x="6507328" y="1975104"/>
            <a:ext cx="4952848" cy="1798320"/>
          </a:xfrm>
          <a:prstGeom prst="rect">
            <a:avLst/>
          </a:prstGeom>
          <a:noFill/>
          <a:ln/>
        </p:spPr>
        <p:txBody>
          <a:bodyPr wrap="square" lIns="0" tIns="0" rIns="0" bIns="0" rtlCol="0" anchor="t"/>
          <a:lstStyle/>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def charger_ventes(dossier: Path,</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pattern: str = "*.csv"</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 -&gt; pd.DataFrame:</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fichiers = lister_fichiers(dossier, pattern)</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ventes = pd.concat(</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[charger_fichier_ventes(f) for f in fichiers],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ignore_index=True,</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verifier_unicite(ventes, "id_commande", "ventes")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return ventes</a:t>
            </a:r>
            <a:endParaRPr lang="en-US" sz="1200" dirty="0"/>
          </a:p>
        </p:txBody>
      </p:sp>
      <p:sp>
        <p:nvSpPr>
          <p:cNvPr id="12" name="Text 10"/>
          <p:cNvSpPr txBox="1"/>
          <p:nvPr/>
        </p:nvSpPr>
        <p:spPr>
          <a:xfrm>
            <a:off x="548640" y="4239768"/>
            <a:ext cx="11094415" cy="62484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Une bonne fonction fait une seule chose, reçoit ses données en paramètres et renvoie un résultat, sans rien afficher ni lire de variable extérieure.</a:t>
            </a:r>
            <a:endParaRPr lang="en-US" sz="1600" dirty="0"/>
          </a:p>
        </p:txBody>
      </p:sp>
      <p:sp>
        <p:nvSpPr>
          <p:cNvPr id="13" name="Text 1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DU NOTEBOOK AU MODULE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Modules, paquets et imports</a:t>
            </a:r>
            <a:endParaRPr lang="en-US" sz="3000" dirty="0"/>
          </a:p>
        </p:txBody>
      </p:sp>
      <p:sp>
        <p:nvSpPr>
          <p:cNvPr id="6" name="Text 4"/>
          <p:cNvSpPr txBox="1"/>
          <p:nvPr/>
        </p:nvSpPr>
        <p:spPr>
          <a:xfrm>
            <a:off x="548640" y="1417320"/>
            <a:ext cx="5318608" cy="169164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Un </a:t>
            </a:r>
            <a:pPr indent="0" marL="0">
              <a:buNone/>
            </a:pPr>
            <a:r>
              <a:rPr lang="en-US" sz="1700" b="1" dirty="0">
                <a:solidFill>
                  <a:srgbClr val="1F2933"/>
                </a:solidFill>
                <a:latin typeface="Calibri" pitchFamily="34" charset="0"/>
                <a:ea typeface="Calibri" pitchFamily="34" charset="-122"/>
                <a:cs typeface="Calibri" pitchFamily="34" charset="-120"/>
              </a:rPr>
              <a:t>module</a:t>
            </a:r>
            <a:pPr indent="0" marL="0">
              <a:buNone/>
            </a:pPr>
            <a:r>
              <a:rPr lang="en-US" sz="1700" dirty="0">
                <a:solidFill>
                  <a:srgbClr val="1F2933"/>
                </a:solidFill>
                <a:latin typeface="Calibri" pitchFamily="34" charset="0"/>
                <a:ea typeface="Calibri" pitchFamily="34" charset="-122"/>
                <a:cs typeface="Calibri" pitchFamily="34" charset="-120"/>
              </a:rPr>
              <a:t> : un fichier </a:t>
            </a:r>
            <a:pPr indent="0" marL="0">
              <a:buNone/>
            </a:pPr>
            <a:r>
              <a:rPr lang="en-US" sz="1700" dirty="0">
                <a:solidFill>
                  <a:srgbClr val="1F3A5F"/>
                </a:solidFill>
                <a:latin typeface="Courier New" pitchFamily="34" charset="0"/>
                <a:ea typeface="Courier New" pitchFamily="34" charset="-122"/>
                <a:cs typeface="Courier New" pitchFamily="34" charset="-120"/>
              </a:rPr>
              <a:t>.py</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Un </a:t>
            </a:r>
            <a:pPr indent="0" marL="0">
              <a:buNone/>
            </a:pPr>
            <a:r>
              <a:rPr lang="en-US" sz="1700" b="1" dirty="0">
                <a:solidFill>
                  <a:srgbClr val="1F2933"/>
                </a:solidFill>
                <a:latin typeface="Calibri" pitchFamily="34" charset="0"/>
                <a:ea typeface="Calibri" pitchFamily="34" charset="-122"/>
                <a:cs typeface="Calibri" pitchFamily="34" charset="-120"/>
              </a:rPr>
              <a:t>paquet</a:t>
            </a:r>
            <a:pPr indent="0" marL="0">
              <a:buNone/>
            </a:pPr>
            <a:r>
              <a:rPr lang="en-US" sz="1700" dirty="0">
                <a:solidFill>
                  <a:srgbClr val="1F2933"/>
                </a:solidFill>
                <a:latin typeface="Calibri" pitchFamily="34" charset="0"/>
                <a:ea typeface="Calibri" pitchFamily="34" charset="-122"/>
                <a:cs typeface="Calibri" pitchFamily="34" charset="-120"/>
              </a:rPr>
              <a:t> : un dossier de modules avec un </a:t>
            </a:r>
            <a:pPr indent="0" marL="0">
              <a:buNone/>
            </a:pPr>
            <a:r>
              <a:rPr lang="en-US" sz="1700" dirty="0">
                <a:solidFill>
                  <a:srgbClr val="1F3A5F"/>
                </a:solidFill>
                <a:latin typeface="Courier New" pitchFamily="34" charset="0"/>
                <a:ea typeface="Courier New" pitchFamily="34" charset="-122"/>
                <a:cs typeface="Courier New" pitchFamily="34" charset="-120"/>
              </a:rPr>
              <a:t>__init__.py</a:t>
            </a:r>
            <a:endParaRPr lang="en-US" sz="1700" dirty="0"/>
          </a:p>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if __name__ == "__main__":</a:t>
            </a:r>
            <a:pPr indent="0" marL="0">
              <a:buNone/>
            </a:pPr>
            <a:r>
              <a:rPr lang="en-US" sz="1700" dirty="0">
                <a:solidFill>
                  <a:srgbClr val="1F2933"/>
                </a:solidFill>
                <a:latin typeface="Calibri" pitchFamily="34" charset="0"/>
                <a:ea typeface="Calibri" pitchFamily="34" charset="-122"/>
                <a:cs typeface="Calibri" pitchFamily="34" charset="-120"/>
              </a:rPr>
              <a:t> : code exécuté seulement quand le module est lancé directement</a:t>
            </a:r>
            <a:endParaRPr lang="en-US" sz="1700" dirty="0"/>
          </a:p>
        </p:txBody>
      </p:sp>
      <p:sp>
        <p:nvSpPr>
          <p:cNvPr id="7" name="Shape 5"/>
          <p:cNvSpPr/>
          <p:nvPr/>
        </p:nvSpPr>
        <p:spPr>
          <a:xfrm>
            <a:off x="548640" y="3429000"/>
            <a:ext cx="5318608" cy="652272"/>
          </a:xfrm>
          <a:prstGeom prst="rect">
            <a:avLst/>
          </a:prstGeom>
          <a:solidFill>
            <a:srgbClr val="F3F4F6"/>
          </a:solidFill>
          <a:ln/>
        </p:spPr>
      </p:sp>
      <p:sp>
        <p:nvSpPr>
          <p:cNvPr id="8" name="Text 6"/>
          <p:cNvSpPr txBox="1"/>
          <p:nvPr/>
        </p:nvSpPr>
        <p:spPr>
          <a:xfrm>
            <a:off x="731520" y="3575304"/>
            <a:ext cx="4952848" cy="359664"/>
          </a:xfrm>
          <a:prstGeom prst="rect">
            <a:avLst/>
          </a:prstGeom>
          <a:noFill/>
          <a:ln/>
        </p:spPr>
        <p:txBody>
          <a:bodyPr wrap="square" lIns="0" tIns="0" rIns="0" bIns="0" rtlCol="0" anchor="t"/>
          <a:lstStyle/>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from ventes.chargement import charger_ventes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from ventes.erreurs import ColonnesManquantesError</a:t>
            </a:r>
            <a:endParaRPr lang="en-US" sz="1200" dirty="0"/>
          </a:p>
        </p:txBody>
      </p:sp>
      <p:sp>
        <p:nvSpPr>
          <p:cNvPr id="9" name="Text 7"/>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Dans un notebook du projet</a:t>
            </a:r>
            <a:endParaRPr lang="en-US" sz="1700" dirty="0"/>
          </a:p>
        </p:txBody>
      </p:sp>
      <p:sp>
        <p:nvSpPr>
          <p:cNvPr id="10" name="Shape 8"/>
          <p:cNvSpPr/>
          <p:nvPr/>
        </p:nvSpPr>
        <p:spPr>
          <a:xfrm>
            <a:off x="6324448" y="1828800"/>
            <a:ext cx="5318608" cy="742188"/>
          </a:xfrm>
          <a:prstGeom prst="rect">
            <a:avLst/>
          </a:prstGeom>
          <a:solidFill>
            <a:srgbClr val="F3F4F6"/>
          </a:solidFill>
          <a:ln/>
        </p:spPr>
      </p:sp>
      <p:sp>
        <p:nvSpPr>
          <p:cNvPr id="11" name="Text 9"/>
          <p:cNvSpPr txBox="1"/>
          <p:nvPr/>
        </p:nvSpPr>
        <p:spPr>
          <a:xfrm>
            <a:off x="6507328" y="1975104"/>
            <a:ext cx="4952848" cy="44958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add --dev jupyterlab</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run jupyter lab</a:t>
            </a:r>
            <a:endParaRPr lang="en-US" sz="1500" dirty="0"/>
          </a:p>
        </p:txBody>
      </p:sp>
      <p:sp>
        <p:nvSpPr>
          <p:cNvPr id="12" name="Shape 10"/>
          <p:cNvSpPr/>
          <p:nvPr/>
        </p:nvSpPr>
        <p:spPr>
          <a:xfrm>
            <a:off x="6324448" y="2891028"/>
            <a:ext cx="5318608" cy="1131824"/>
          </a:xfrm>
          <a:prstGeom prst="rect">
            <a:avLst/>
          </a:prstGeom>
          <a:solidFill>
            <a:srgbClr val="F3F4F6"/>
          </a:solidFill>
          <a:ln/>
        </p:spPr>
      </p:sp>
      <p:sp>
        <p:nvSpPr>
          <p:cNvPr id="13" name="Text 11"/>
          <p:cNvSpPr txBox="1"/>
          <p:nvPr/>
        </p:nvSpPr>
        <p:spPr>
          <a:xfrm>
            <a:off x="6507328" y="3037332"/>
            <a:ext cx="4952848" cy="839216"/>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%load_ext autoreload</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%autoreload 2</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from ventes.chargement import charger_ventes</a:t>
            </a:r>
            <a:endParaRPr lang="en-US" sz="1400" dirty="0"/>
          </a:p>
        </p:txBody>
      </p:sp>
      <p:sp>
        <p:nvSpPr>
          <p:cNvPr id="14" name="Text 12"/>
          <p:cNvSpPr txBox="1"/>
          <p:nvPr/>
        </p:nvSpPr>
        <p:spPr>
          <a:xfrm>
            <a:off x="6324448" y="4342892"/>
            <a:ext cx="5318608" cy="594360"/>
          </a:xfrm>
          <a:prstGeom prst="rect">
            <a:avLst/>
          </a:prstGeom>
          <a:noFill/>
          <a:ln/>
        </p:spPr>
        <p:txBody>
          <a:bodyPr wrap="square" lIns="0" tIns="0" rIns="0" bIns="0" rtlCol="0" anchor="t"/>
          <a:lstStyle/>
          <a:p>
            <a:pPr indent="0" marL="0">
              <a:buNone/>
            </a:pPr>
            <a:r>
              <a:rPr lang="en-US" sz="1500" dirty="0">
                <a:solidFill>
                  <a:srgbClr val="1F3A5F"/>
                </a:solidFill>
                <a:latin typeface="Courier New" pitchFamily="34" charset="0"/>
                <a:ea typeface="Courier New" pitchFamily="34" charset="-122"/>
                <a:cs typeface="Courier New" pitchFamily="34" charset="-120"/>
              </a:rPr>
              <a:t>autoreload</a:t>
            </a:r>
            <a:pPr indent="0" marL="0">
              <a:buNone/>
            </a:pPr>
            <a:r>
              <a:rPr lang="en-US" sz="1500" dirty="0">
                <a:solidFill>
                  <a:srgbClr val="6B7280"/>
                </a:solidFill>
                <a:latin typeface="Calibri" pitchFamily="34" charset="0"/>
                <a:ea typeface="Calibri" pitchFamily="34" charset="-122"/>
                <a:cs typeface="Calibri" pitchFamily="34" charset="-120"/>
              </a:rPr>
              <a:t> recharge les modules modifiés sans redémarrer le noyau.</a:t>
            </a:r>
            <a:endParaRPr lang="en-US" sz="1500" dirty="0"/>
          </a:p>
        </p:txBody>
      </p:sp>
      <p:sp>
        <p:nvSpPr>
          <p:cNvPr id="15" name="Text 1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DU NOTEBOOK AU MODULE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Ce que le paquet rend public : __init__.py</a:t>
            </a:r>
            <a:endParaRPr lang="en-US" sz="3000" dirty="0"/>
          </a:p>
        </p:txBody>
      </p:sp>
      <p:sp>
        <p:nvSpPr>
          <p:cNvPr id="6" name="Text 4"/>
          <p:cNvSpPr txBox="1"/>
          <p:nvPr/>
        </p:nvSpPr>
        <p:spPr>
          <a:xfrm>
            <a:off x="548640" y="1417320"/>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src/ventes/__init__.py</a:t>
            </a:r>
            <a:endParaRPr lang="en-US" sz="1200" dirty="0"/>
          </a:p>
        </p:txBody>
      </p:sp>
      <p:sp>
        <p:nvSpPr>
          <p:cNvPr id="7" name="Shape 5"/>
          <p:cNvSpPr/>
          <p:nvPr/>
        </p:nvSpPr>
        <p:spPr>
          <a:xfrm>
            <a:off x="548640" y="1709928"/>
            <a:ext cx="5318608" cy="1851152"/>
          </a:xfrm>
          <a:prstGeom prst="rect">
            <a:avLst/>
          </a:prstGeom>
          <a:solidFill>
            <a:srgbClr val="F3F4F6"/>
          </a:solidFill>
          <a:ln/>
        </p:spPr>
      </p:sp>
      <p:sp>
        <p:nvSpPr>
          <p:cNvPr id="8" name="Text 6"/>
          <p:cNvSpPr txBox="1"/>
          <p:nvPr/>
        </p:nvSpPr>
        <p:spPr>
          <a:xfrm>
            <a:off x="731520" y="1856232"/>
            <a:ext cx="4952848" cy="1558544"/>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"""Consolidation des ventes et indicateurs."""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from ventes.chargement import charger_ventes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from ventes.config import charger_config</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from ventes.erreurs import VentesError</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from ventes.indicateurs import enrichir</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__all__ = ["VentesError", "charger_config",</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"charger_ventes", "enrichir"]</a:t>
            </a:r>
            <a:endParaRPr lang="en-US" sz="1300" dirty="0"/>
          </a:p>
        </p:txBody>
      </p:sp>
      <p:sp>
        <p:nvSpPr>
          <p:cNvPr id="9" name="Text 7"/>
          <p:cNvSpPr txBox="1"/>
          <p:nvPr/>
        </p:nvSpPr>
        <p:spPr>
          <a:xfrm>
            <a:off x="548640" y="38811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Ailleurs : un notebook, un autre projet</a:t>
            </a:r>
            <a:endParaRPr lang="en-US" sz="1700" dirty="0"/>
          </a:p>
        </p:txBody>
      </p:sp>
      <p:sp>
        <p:nvSpPr>
          <p:cNvPr id="10" name="Shape 8"/>
          <p:cNvSpPr/>
          <p:nvPr/>
        </p:nvSpPr>
        <p:spPr>
          <a:xfrm>
            <a:off x="548640" y="4292600"/>
            <a:ext cx="5318608" cy="517398"/>
          </a:xfrm>
          <a:prstGeom prst="rect">
            <a:avLst/>
          </a:prstGeom>
          <a:solidFill>
            <a:srgbClr val="F3F4F6"/>
          </a:solidFill>
          <a:ln/>
        </p:spPr>
      </p:sp>
      <p:sp>
        <p:nvSpPr>
          <p:cNvPr id="11" name="Text 9"/>
          <p:cNvSpPr txBox="1"/>
          <p:nvPr/>
        </p:nvSpPr>
        <p:spPr>
          <a:xfrm>
            <a:off x="731520" y="4438904"/>
            <a:ext cx="4952848" cy="22479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from ventes import charger_ventes, enrichir</a:t>
            </a:r>
            <a:endParaRPr lang="en-US" sz="1500" dirty="0"/>
          </a:p>
        </p:txBody>
      </p:sp>
      <p:sp>
        <p:nvSpPr>
          <p:cNvPr id="12" name="Text 10"/>
          <p:cNvSpPr txBox="1"/>
          <p:nvPr/>
        </p:nvSpPr>
        <p:spPr>
          <a:xfrm>
            <a:off x="6324448" y="1417320"/>
            <a:ext cx="5318608" cy="1767840"/>
          </a:xfrm>
          <a:prstGeom prst="rect">
            <a:avLst/>
          </a:prstGeom>
          <a:noFill/>
          <a:ln/>
        </p:spPr>
        <p:txBody>
          <a:bodyPr wrap="square" lIns="0" tIns="0" rIns="0" bIns="0" rtlCol="0" anchor="t"/>
          <a:lstStyle/>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__init__.py</a:t>
            </a:r>
            <a:pPr indent="0" marL="0">
              <a:buNone/>
            </a:pPr>
            <a:r>
              <a:rPr lang="en-US" sz="1500" dirty="0">
                <a:solidFill>
                  <a:srgbClr val="1F2933"/>
                </a:solidFill>
                <a:latin typeface="Calibri" pitchFamily="34" charset="0"/>
                <a:ea typeface="Calibri" pitchFamily="34" charset="-122"/>
                <a:cs typeface="Calibri" pitchFamily="34" charset="-120"/>
              </a:rPr>
              <a:t> rassemble les fonctions que l'utilisateur a le droit d'importer : l'</a:t>
            </a:r>
            <a:pPr indent="0" marL="0">
              <a:buNone/>
            </a:pPr>
            <a:r>
              <a:rPr lang="en-US" sz="1500" b="1" dirty="0">
                <a:solidFill>
                  <a:srgbClr val="1F2933"/>
                </a:solidFill>
                <a:latin typeface="Calibri" pitchFamily="34" charset="0"/>
                <a:ea typeface="Calibri" pitchFamily="34" charset="-122"/>
                <a:cs typeface="Calibri" pitchFamily="34" charset="-120"/>
              </a:rPr>
              <a:t>API publique</a:t>
            </a:r>
            <a:endParaRPr lang="en-US" sz="1500" dirty="0"/>
          </a:p>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__all__</a:t>
            </a:r>
            <a:pPr indent="0" marL="0">
              <a:buNone/>
            </a:pPr>
            <a:r>
              <a:rPr lang="en-US" sz="1500" dirty="0">
                <a:solidFill>
                  <a:srgbClr val="1F2933"/>
                </a:solidFill>
                <a:latin typeface="Calibri" pitchFamily="34" charset="0"/>
                <a:ea typeface="Calibri" pitchFamily="34" charset="-122"/>
                <a:cs typeface="Calibri" pitchFamily="34" charset="-120"/>
              </a:rPr>
              <a:t> en donne la liste explicite</a:t>
            </a:r>
            <a:endParaRPr lang="en-US" sz="1500" dirty="0"/>
          </a:p>
          <a:p>
            <a:pPr marL="254000" indent="-2540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Le reste est un détail d'organisation : on peut déplacer une fonction d'un module à l'autre sans casser le code des autres</a:t>
            </a:r>
            <a:endParaRPr lang="en-US" sz="1500" dirty="0"/>
          </a:p>
        </p:txBody>
      </p:sp>
      <p:sp>
        <p:nvSpPr>
          <p:cNvPr id="13" name="Text 11"/>
          <p:cNvSpPr txBox="1"/>
          <p:nvPr/>
        </p:nvSpPr>
        <p:spPr>
          <a:xfrm>
            <a:off x="6324448" y="3505200"/>
            <a:ext cx="5318608" cy="77724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Convention de PEP 8, le guide de style officiel. Flask fait de même : on écrit </a:t>
            </a:r>
            <a:pPr indent="0" marL="0">
              <a:buNone/>
            </a:pPr>
            <a:r>
              <a:rPr lang="en-US" sz="1400" dirty="0">
                <a:solidFill>
                  <a:srgbClr val="1F3A5F"/>
                </a:solidFill>
                <a:latin typeface="Courier New" pitchFamily="34" charset="0"/>
                <a:ea typeface="Courier New" pitchFamily="34" charset="-122"/>
                <a:cs typeface="Courier New" pitchFamily="34" charset="-120"/>
              </a:rPr>
              <a:t>from flask import Flask</a:t>
            </a:r>
            <a:pPr indent="0" marL="0">
              <a:buNone/>
            </a:pPr>
            <a:r>
              <a:rPr lang="en-US" sz="1400" dirty="0">
                <a:solidFill>
                  <a:srgbClr val="6B7280"/>
                </a:solidFill>
                <a:latin typeface="Calibri" pitchFamily="34" charset="0"/>
                <a:ea typeface="Calibri" pitchFamily="34" charset="-122"/>
                <a:cs typeface="Calibri" pitchFamily="34" charset="-120"/>
              </a:rPr>
              <a:t>, jamais </a:t>
            </a:r>
            <a:pPr indent="0" marL="0">
              <a:buNone/>
            </a:pPr>
            <a:r>
              <a:rPr lang="en-US" sz="1400" dirty="0">
                <a:solidFill>
                  <a:srgbClr val="1F3A5F"/>
                </a:solidFill>
                <a:latin typeface="Courier New" pitchFamily="34" charset="0"/>
                <a:ea typeface="Courier New" pitchFamily="34" charset="-122"/>
                <a:cs typeface="Courier New" pitchFamily="34" charset="-120"/>
              </a:rPr>
              <a:t>from flask.app import Flask</a:t>
            </a:r>
            <a:pPr indent="0" marL="0">
              <a:buNone/>
            </a:pPr>
            <a:r>
              <a:rPr lang="en-US" sz="1400" dirty="0">
                <a:solidFill>
                  <a:srgbClr val="6B7280"/>
                </a:solidFill>
                <a:latin typeface="Calibri" pitchFamily="34" charset="0"/>
                <a:ea typeface="Calibri" pitchFamily="34" charset="-122"/>
                <a:cs typeface="Calibri" pitchFamily="34" charset="-120"/>
              </a:rPr>
              <a:t>.</a:t>
            </a:r>
            <a:endParaRPr lang="en-US" sz="1400" dirty="0"/>
          </a:p>
        </p:txBody>
      </p:sp>
      <p:sp>
        <p:nvSpPr>
          <p:cNvPr id="14" name="Text 1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DU NOTEBOOK AU MODULE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Lancer le paquet : python -m et __main__.py</a:t>
            </a:r>
            <a:endParaRPr lang="en-US" sz="3000" dirty="0"/>
          </a:p>
        </p:txBody>
      </p:sp>
      <p:sp>
        <p:nvSpPr>
          <p:cNvPr id="6" name="Text 4"/>
          <p:cNvSpPr txBox="1"/>
          <p:nvPr/>
        </p:nvSpPr>
        <p:spPr>
          <a:xfrm>
            <a:off x="548640" y="1417320"/>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src/ventes/__main__.py</a:t>
            </a:r>
            <a:endParaRPr lang="en-US" sz="1200" dirty="0"/>
          </a:p>
        </p:txBody>
      </p:sp>
      <p:sp>
        <p:nvSpPr>
          <p:cNvPr id="7" name="Shape 5"/>
          <p:cNvSpPr/>
          <p:nvPr/>
        </p:nvSpPr>
        <p:spPr>
          <a:xfrm>
            <a:off x="548640" y="1709928"/>
            <a:ext cx="5318608" cy="1416558"/>
          </a:xfrm>
          <a:prstGeom prst="rect">
            <a:avLst/>
          </a:prstGeom>
          <a:solidFill>
            <a:srgbClr val="F3F4F6"/>
          </a:solidFill>
          <a:ln/>
        </p:spPr>
      </p:sp>
      <p:sp>
        <p:nvSpPr>
          <p:cNvPr id="8" name="Text 6"/>
          <p:cNvSpPr txBox="1"/>
          <p:nvPr/>
        </p:nvSpPr>
        <p:spPr>
          <a:xfrm>
            <a:off x="731520" y="1856232"/>
            <a:ext cx="4952848" cy="112395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import sys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from ventes.cli import main</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sys.exit(main())</a:t>
            </a:r>
            <a:endParaRPr lang="en-US" sz="1500" dirty="0"/>
          </a:p>
        </p:txBody>
      </p:sp>
      <p:sp>
        <p:nvSpPr>
          <p:cNvPr id="9" name="Text 7"/>
          <p:cNvSpPr txBox="1"/>
          <p:nvPr/>
        </p:nvSpPr>
        <p:spPr>
          <a:xfrm>
            <a:off x="548640" y="3446526"/>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Terminal</a:t>
            </a:r>
            <a:endParaRPr lang="en-US" sz="1200" dirty="0"/>
          </a:p>
        </p:txBody>
      </p:sp>
      <p:sp>
        <p:nvSpPr>
          <p:cNvPr id="10" name="Shape 8"/>
          <p:cNvSpPr/>
          <p:nvPr/>
        </p:nvSpPr>
        <p:spPr>
          <a:xfrm>
            <a:off x="548640" y="3739134"/>
            <a:ext cx="5318608" cy="742188"/>
          </a:xfrm>
          <a:prstGeom prst="rect">
            <a:avLst/>
          </a:prstGeom>
          <a:solidFill>
            <a:srgbClr val="F3F4F6"/>
          </a:solidFill>
          <a:ln/>
        </p:spPr>
      </p:sp>
      <p:sp>
        <p:nvSpPr>
          <p:cNvPr id="11" name="Text 9"/>
          <p:cNvSpPr txBox="1"/>
          <p:nvPr/>
        </p:nvSpPr>
        <p:spPr>
          <a:xfrm>
            <a:off x="731520" y="3885438"/>
            <a:ext cx="4952848" cy="44958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run ventes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run python -m ventes</a:t>
            </a:r>
            <a:endParaRPr lang="en-US" sz="1500" dirty="0"/>
          </a:p>
        </p:txBody>
      </p:sp>
      <p:sp>
        <p:nvSpPr>
          <p:cNvPr id="12" name="Text 10"/>
          <p:cNvSpPr txBox="1"/>
          <p:nvPr/>
        </p:nvSpPr>
        <p:spPr>
          <a:xfrm>
            <a:off x="548640" y="4801362"/>
            <a:ext cx="5318608" cy="350520"/>
          </a:xfrm>
          <a:prstGeom prst="rect">
            <a:avLst/>
          </a:prstGeom>
          <a:noFill/>
          <a:ln/>
        </p:spPr>
        <p:txBody>
          <a:bodyPr wrap="square" lIns="0" tIns="0" rIns="0" bIns="0" rtlCol="0" anchor="t"/>
          <a:lstStyle/>
          <a:p>
            <a:pPr indent="0" marL="0">
              <a:buNone/>
            </a:pPr>
            <a:r>
              <a:rPr lang="en-US" sz="1400" dirty="0">
                <a:solidFill>
                  <a:srgbClr val="1F3A5F"/>
                </a:solidFill>
                <a:latin typeface="Courier New" pitchFamily="34" charset="0"/>
                <a:ea typeface="Courier New" pitchFamily="34" charset="-122"/>
                <a:cs typeface="Courier New" pitchFamily="34" charset="-120"/>
              </a:rPr>
              <a:t>sys.exit</a:t>
            </a:r>
            <a:pPr indent="0" marL="0">
              <a:buNone/>
            </a:pPr>
            <a:r>
              <a:rPr lang="en-US" sz="1400" dirty="0">
                <a:solidFill>
                  <a:srgbClr val="6B7280"/>
                </a:solidFill>
                <a:latin typeface="Calibri" pitchFamily="34" charset="0"/>
                <a:ea typeface="Calibri" pitchFamily="34" charset="-122"/>
                <a:cs typeface="Calibri" pitchFamily="34" charset="-120"/>
              </a:rPr>
              <a:t> transmet le code de sortie renvoyé par </a:t>
            </a:r>
            <a:pPr indent="0" marL="0">
              <a:buNone/>
            </a:pPr>
            <a:r>
              <a:rPr lang="en-US" sz="1400" dirty="0">
                <a:solidFill>
                  <a:srgbClr val="1F3A5F"/>
                </a:solidFill>
                <a:latin typeface="Courier New" pitchFamily="34" charset="0"/>
                <a:ea typeface="Courier New" pitchFamily="34" charset="-122"/>
                <a:cs typeface="Courier New" pitchFamily="34" charset="-120"/>
              </a:rPr>
              <a:t>main</a:t>
            </a:r>
            <a:pPr indent="0" marL="0">
              <a:buNone/>
            </a:pPr>
            <a:r>
              <a:rPr lang="en-US" sz="1400" dirty="0">
                <a:solidFill>
                  <a:srgbClr val="6B7280"/>
                </a:solidFill>
                <a:latin typeface="Calibri" pitchFamily="34" charset="0"/>
                <a:ea typeface="Calibri" pitchFamily="34" charset="-122"/>
                <a:cs typeface="Calibri" pitchFamily="34" charset="-120"/>
              </a:rPr>
              <a:t>.</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324448" y="1417320"/>
          <a:ext cx="5318608" cy="914400"/>
        </p:xfrm>
        <a:graphic>
          <a:graphicData uri="http://schemas.openxmlformats.org/drawingml/2006/table">
            <a:tbl>
              <a:tblPr/>
              <a:tblGrid>
                <a:gridCol w="2263237"/>
                <a:gridCol w="3055370"/>
              </a:tblGrid>
              <a:tr h="336169">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Commande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Ce qui s'exécute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526034">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uv run ventes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[project.scripts]</a:t>
                      </a:r>
                      <a:pPr indent="0" marL="0">
                        <a:buNone/>
                      </a:pPr>
                      <a:r>
                        <a:rPr lang="en-US" sz="1300" dirty="0">
                          <a:solidFill>
                            <a:srgbClr val="1F2933"/>
                          </a:solidFill>
                          <a:latin typeface="Calibri" pitchFamily="34" charset="0"/>
                          <a:ea typeface="Calibri" pitchFamily="34" charset="-122"/>
                          <a:cs typeface="Calibri" pitchFamily="34" charset="-120"/>
                        </a:rPr>
                        <a:t>, puis </a:t>
                      </a:r>
                      <a:pPr indent="0" marL="0">
                        <a:buNone/>
                      </a:pPr>
                      <a:r>
                        <a:rPr lang="en-US" sz="1300" dirty="0">
                          <a:solidFill>
                            <a:srgbClr val="1F3A5F"/>
                          </a:solidFill>
                          <a:latin typeface="Courier New" pitchFamily="34" charset="0"/>
                          <a:ea typeface="Courier New" pitchFamily="34" charset="-122"/>
                          <a:cs typeface="Courier New" pitchFamily="34" charset="-120"/>
                        </a:rPr>
                        <a:t>ventes.cli.main()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26034">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python -m ventes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ventes/__main__.py</a:t>
                      </a:r>
                      <a:pPr indent="0" marL="0">
                        <a:buNone/>
                      </a:pPr>
                      <a:r>
                        <a:rPr lang="en-US" sz="1300" dirty="0">
                          <a:solidFill>
                            <a:srgbClr val="1F2933"/>
                          </a:solidFill>
                          <a:latin typeface="Calibri" pitchFamily="34" charset="0"/>
                          <a:ea typeface="Calibri" pitchFamily="34" charset="-122"/>
                          <a:cs typeface="Calibri" pitchFamily="34" charset="-120"/>
                        </a:rPr>
                        <a:t>, puis </a:t>
                      </a:r>
                      <a:pPr indent="0" marL="0">
                        <a:buNone/>
                      </a:pPr>
                      <a:r>
                        <a:rPr lang="en-US" sz="1300" dirty="0">
                          <a:solidFill>
                            <a:srgbClr val="1F3A5F"/>
                          </a:solidFill>
                          <a:latin typeface="Courier New" pitchFamily="34" charset="0"/>
                          <a:ea typeface="Courier New" pitchFamily="34" charset="-122"/>
                          <a:cs typeface="Courier New" pitchFamily="34" charset="-120"/>
                        </a:rPr>
                        <a:t>ventes.cli.main()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14" name="Text 11"/>
          <p:cNvSpPr txBox="1"/>
          <p:nvPr/>
        </p:nvSpPr>
        <p:spPr>
          <a:xfrm>
            <a:off x="6324448" y="3125597"/>
            <a:ext cx="5318608" cy="1539240"/>
          </a:xfrm>
          <a:prstGeom prst="rect">
            <a:avLst/>
          </a:prstGeom>
          <a:noFill/>
          <a:ln/>
        </p:spPr>
        <p:txBody>
          <a:bodyPr wrap="square" lIns="0" tIns="0" rIns="0" bIns="0" rtlCol="0" anchor="t"/>
          <a:lstStyle/>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__main__.py</a:t>
            </a:r>
            <a:pPr indent="0" marL="0">
              <a:buNone/>
            </a:pPr>
            <a:r>
              <a:rPr lang="en-US" sz="1500" dirty="0">
                <a:solidFill>
                  <a:srgbClr val="1F2933"/>
                </a:solidFill>
                <a:latin typeface="Calibri" pitchFamily="34" charset="0"/>
                <a:ea typeface="Calibri" pitchFamily="34" charset="-122"/>
                <a:cs typeface="Calibri" pitchFamily="34" charset="-120"/>
              </a:rPr>
              <a:t> est le nom imposé par Python pour </a:t>
            </a:r>
            <a:pPr indent="0" marL="0">
              <a:buNone/>
            </a:pPr>
            <a:r>
              <a:rPr lang="en-US" sz="1500" dirty="0">
                <a:solidFill>
                  <a:srgbClr val="1F3A5F"/>
                </a:solidFill>
                <a:latin typeface="Courier New" pitchFamily="34" charset="0"/>
                <a:ea typeface="Courier New" pitchFamily="34" charset="-122"/>
                <a:cs typeface="Courier New" pitchFamily="34" charset="-120"/>
              </a:rPr>
              <a:t>-m</a:t>
            </a:r>
            <a:endParaRPr lang="en-US" sz="1500" dirty="0"/>
          </a:p>
          <a:p>
            <a:pPr marL="254000" indent="-2540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Il reste court, sans </a:t>
            </a:r>
            <a:pPr indent="0" marL="0">
              <a:buNone/>
            </a:pPr>
            <a:r>
              <a:rPr lang="en-US" sz="1500" dirty="0">
                <a:solidFill>
                  <a:srgbClr val="1F3A5F"/>
                </a:solidFill>
                <a:latin typeface="Courier New" pitchFamily="34" charset="0"/>
                <a:ea typeface="Courier New" pitchFamily="34" charset="-122"/>
                <a:cs typeface="Courier New" pitchFamily="34" charset="-120"/>
              </a:rPr>
              <a:t>if __name__</a:t>
            </a:r>
            <a:pPr indent="0" marL="0">
              <a:buNone/>
            </a:pPr>
            <a:r>
              <a:rPr lang="en-US" sz="1500" dirty="0">
                <a:solidFill>
                  <a:srgbClr val="1F2933"/>
                </a:solidFill>
                <a:latin typeface="Calibri" pitchFamily="34" charset="0"/>
                <a:ea typeface="Calibri" pitchFamily="34" charset="-122"/>
                <a:cs typeface="Calibri" pitchFamily="34" charset="-120"/>
              </a:rPr>
              <a:t>, et délègue à </a:t>
            </a:r>
            <a:pPr indent="0" marL="0">
              <a:buNone/>
            </a:pPr>
            <a:r>
              <a:rPr lang="en-US" sz="1500" dirty="0">
                <a:solidFill>
                  <a:srgbClr val="1F3A5F"/>
                </a:solidFill>
                <a:latin typeface="Courier New" pitchFamily="34" charset="0"/>
                <a:ea typeface="Courier New" pitchFamily="34" charset="-122"/>
                <a:cs typeface="Courier New" pitchFamily="34" charset="-120"/>
              </a:rPr>
              <a:t>cli.py</a:t>
            </a:r>
            <a:endParaRPr lang="en-US" sz="1500" dirty="0"/>
          </a:p>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cli.py</a:t>
            </a:r>
            <a:pPr indent="0" marL="0">
              <a:buNone/>
            </a:pPr>
            <a:r>
              <a:rPr lang="en-US" sz="1500" dirty="0">
                <a:solidFill>
                  <a:srgbClr val="1F2933"/>
                </a:solidFill>
                <a:latin typeface="Calibri" pitchFamily="34" charset="0"/>
                <a:ea typeface="Calibri" pitchFamily="34" charset="-122"/>
                <a:cs typeface="Calibri" pitchFamily="34" charset="-120"/>
              </a:rPr>
              <a:t> : le nom le plus courant, chez Flask, fastapi-cli, llm ou datasette</a:t>
            </a:r>
            <a:endParaRPr lang="en-US" sz="1500" dirty="0"/>
          </a:p>
        </p:txBody>
      </p:sp>
      <p:sp>
        <p:nvSpPr>
          <p:cNvPr id="15" name="Text 1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DU NOTEBOOK AU MODULE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TP5, étape 1</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Repérer dans le notebook du TP3 les blocs à extraire</a:t>
            </a:r>
            <a:endParaRPr lang="en-US" sz="1800" dirty="0"/>
          </a:p>
        </p:txBody>
      </p:sp>
      <p:sp>
        <p:nvSpPr>
          <p:cNvPr id="7" name="Text 5"/>
          <p:cNvSpPr txBox="1"/>
          <p:nvPr/>
        </p:nvSpPr>
        <p:spPr>
          <a:xfrm>
            <a:off x="548640" y="2011680"/>
            <a:ext cx="5318608" cy="1691640"/>
          </a:xfrm>
          <a:prstGeom prst="rect">
            <a:avLst/>
          </a:prstGeom>
          <a:noFill/>
          <a:ln/>
        </p:spPr>
        <p:txBody>
          <a:bodyPr wrap="square" lIns="0" tIns="0" rIns="0" bIns="0" rtlCol="0" anchor="t"/>
          <a:lstStyle/>
          <a:p>
            <a:pPr marL="279400" indent="-279400">
              <a:spcAft>
                <a:spcPts val="800"/>
              </a:spcAft>
              <a:buSzPct val="100000"/>
              <a:buFont typeface="+mj-lt"/>
              <a:buAutoNum type="arabicPeriod" startAt="1"/>
            </a:pPr>
            <a:r>
              <a:rPr lang="en-US" sz="1700" dirty="0">
                <a:solidFill>
                  <a:srgbClr val="1F2933"/>
                </a:solidFill>
                <a:latin typeface="Calibri" pitchFamily="34" charset="0"/>
                <a:ea typeface="Calibri" pitchFamily="34" charset="-122"/>
                <a:cs typeface="Calibri" pitchFamily="34" charset="-120"/>
              </a:rPr>
              <a:t>Copier le notebook du TP3 dans </a:t>
            </a:r>
            <a:pPr indent="0" marL="0">
              <a:buNone/>
            </a:pPr>
            <a:r>
              <a:rPr lang="en-US" sz="1700" dirty="0">
                <a:solidFill>
                  <a:srgbClr val="1F3A5F"/>
                </a:solidFill>
                <a:latin typeface="Courier New" pitchFamily="34" charset="0"/>
                <a:ea typeface="Courier New" pitchFamily="34" charset="-122"/>
                <a:cs typeface="Courier New" pitchFamily="34" charset="-120"/>
              </a:rPr>
              <a:t>notebooks/</a:t>
            </a:r>
            <a:endParaRPr lang="en-US" sz="1700" dirty="0"/>
          </a:p>
          <a:p>
            <a:pPr marL="279400" indent="-279400">
              <a:spcAft>
                <a:spcPts val="800"/>
              </a:spcAft>
              <a:buSzPct val="100000"/>
              <a:buFont typeface="+mj-lt"/>
              <a:buAutoNum type="arabicPeriod" startAt="1"/>
            </a:pPr>
            <a:r>
              <a:rPr lang="en-US" sz="1700" dirty="0">
                <a:solidFill>
                  <a:srgbClr val="1F2933"/>
                </a:solidFill>
                <a:latin typeface="Calibri" pitchFamily="34" charset="0"/>
                <a:ea typeface="Calibri" pitchFamily="34" charset="-122"/>
                <a:cs typeface="Calibri" pitchFamily="34" charset="-120"/>
              </a:rPr>
              <a:t>L'ouvrir dans l'environnement du projet</a:t>
            </a:r>
            <a:endParaRPr lang="en-US" sz="1700" dirty="0"/>
          </a:p>
          <a:p>
            <a:pPr marL="279400" indent="-279400">
              <a:spcAft>
                <a:spcPts val="800"/>
              </a:spcAft>
              <a:buSzPct val="100000"/>
              <a:buFont typeface="+mj-lt"/>
              <a:buAutoNum type="arabicPeriod" startAt="1"/>
            </a:pPr>
            <a:r>
              <a:rPr lang="en-US" sz="1700" dirty="0">
                <a:solidFill>
                  <a:srgbClr val="1F2933"/>
                </a:solidFill>
                <a:latin typeface="Calibri" pitchFamily="34" charset="0"/>
                <a:ea typeface="Calibri" pitchFamily="34" charset="-122"/>
                <a:cs typeface="Calibri" pitchFamily="34" charset="-120"/>
              </a:rPr>
              <a:t>Pour chaque fonction de </a:t>
            </a:r>
            <a:pPr indent="0" marL="0">
              <a:buNone/>
            </a:pPr>
            <a:r>
              <a:rPr lang="en-US" sz="1700" dirty="0">
                <a:solidFill>
                  <a:srgbClr val="1F3A5F"/>
                </a:solidFill>
                <a:latin typeface="Courier New" pitchFamily="34" charset="0"/>
                <a:ea typeface="Courier New" pitchFamily="34" charset="-122"/>
                <a:cs typeface="Courier New" pitchFamily="34" charset="-120"/>
              </a:rPr>
              <a:t>chargement.py</a:t>
            </a:r>
            <a:pPr indent="0" marL="0">
              <a:buNone/>
            </a:pPr>
            <a:r>
              <a:rPr lang="en-US" sz="1700" dirty="0">
                <a:solidFill>
                  <a:srgbClr val="1F2933"/>
                </a:solidFill>
                <a:latin typeface="Calibri" pitchFamily="34" charset="0"/>
                <a:ea typeface="Calibri" pitchFamily="34" charset="-122"/>
                <a:cs typeface="Calibri" pitchFamily="34" charset="-120"/>
              </a:rPr>
              <a:t> et </a:t>
            </a:r>
            <a:pPr indent="0" marL="0">
              <a:buNone/>
            </a:pPr>
            <a:r>
              <a:rPr lang="en-US" sz="1700" dirty="0">
                <a:solidFill>
                  <a:srgbClr val="1F3A5F"/>
                </a:solidFill>
                <a:latin typeface="Courier New" pitchFamily="34" charset="0"/>
                <a:ea typeface="Courier New" pitchFamily="34" charset="-122"/>
                <a:cs typeface="Courier New" pitchFamily="34" charset="-120"/>
              </a:rPr>
              <a:t>indicateurs.py</a:t>
            </a:r>
            <a:pPr indent="0" marL="0">
              <a:buNone/>
            </a:pPr>
            <a:r>
              <a:rPr lang="en-US" sz="1700" dirty="0">
                <a:solidFill>
                  <a:srgbClr val="1F2933"/>
                </a:solidFill>
                <a:latin typeface="Calibri" pitchFamily="34" charset="0"/>
                <a:ea typeface="Calibri" pitchFamily="34" charset="-122"/>
                <a:cs typeface="Calibri" pitchFamily="34" charset="-120"/>
              </a:rPr>
              <a:t>, noter en commentaire les cellules qu'elle remplace</a:t>
            </a:r>
            <a:endParaRPr lang="en-US" sz="1700" dirty="0"/>
          </a:p>
        </p:txBody>
      </p:sp>
      <p:sp>
        <p:nvSpPr>
          <p:cNvPr id="8" name="Text 6"/>
          <p:cNvSpPr txBox="1"/>
          <p:nvPr/>
        </p:nvSpPr>
        <p:spPr>
          <a:xfrm>
            <a:off x="6324448" y="2011680"/>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Terminal</a:t>
            </a:r>
            <a:endParaRPr lang="en-US" sz="1200" dirty="0"/>
          </a:p>
        </p:txBody>
      </p:sp>
      <p:sp>
        <p:nvSpPr>
          <p:cNvPr id="9" name="Shape 7"/>
          <p:cNvSpPr/>
          <p:nvPr/>
        </p:nvSpPr>
        <p:spPr>
          <a:xfrm>
            <a:off x="6324448" y="2304288"/>
            <a:ext cx="5318608" cy="742188"/>
          </a:xfrm>
          <a:prstGeom prst="rect">
            <a:avLst/>
          </a:prstGeom>
          <a:solidFill>
            <a:srgbClr val="F3F4F6"/>
          </a:solidFill>
          <a:ln/>
        </p:spPr>
      </p:sp>
      <p:sp>
        <p:nvSpPr>
          <p:cNvPr id="10" name="Text 8"/>
          <p:cNvSpPr txBox="1"/>
          <p:nvPr/>
        </p:nvSpPr>
        <p:spPr>
          <a:xfrm>
            <a:off x="6507328" y="2450592"/>
            <a:ext cx="4952848" cy="44958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add --dev jupyterlab</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run jupyter lab</a:t>
            </a:r>
            <a:endParaRPr lang="en-US" sz="1500" dirty="0"/>
          </a:p>
        </p:txBody>
      </p:sp>
      <p:sp>
        <p:nvSpPr>
          <p:cNvPr id="11" name="Shape 9"/>
          <p:cNvSpPr/>
          <p:nvPr/>
        </p:nvSpPr>
        <p:spPr>
          <a:xfrm>
            <a:off x="6324448" y="3366516"/>
            <a:ext cx="5318608" cy="822960"/>
          </a:xfrm>
          <a:prstGeom prst="roundRect">
            <a:avLst>
              <a:gd name="adj" fmla="val 6667"/>
            </a:avLst>
          </a:prstGeom>
          <a:solidFill>
            <a:srgbClr val="E8F3EE"/>
          </a:solidFill>
          <a:ln/>
        </p:spPr>
      </p:sp>
      <p:sp>
        <p:nvSpPr>
          <p:cNvPr id="12" name="Text 10"/>
          <p:cNvSpPr txBox="1"/>
          <p:nvPr/>
        </p:nvSpPr>
        <p:spPr>
          <a:xfrm>
            <a:off x="6598768" y="3366516"/>
            <a:ext cx="4769968" cy="822960"/>
          </a:xfrm>
          <a:prstGeom prst="rect">
            <a:avLst/>
          </a:prstGeom>
          <a:noFill/>
          <a:ln/>
        </p:spPr>
        <p:txBody>
          <a:bodyPr wrap="square" lIns="0" tIns="0" rIns="0" bIns="0" rtlCol="0" anchor="ctr"/>
          <a:lstStyle/>
          <a:p>
            <a:pPr indent="0" marL="0">
              <a:buNone/>
            </a:pPr>
            <a:r>
              <a:rPr lang="en-US" sz="1500" dirty="0">
                <a:solidFill>
                  <a:srgbClr val="1F3A5F"/>
                </a:solidFill>
                <a:latin typeface="Calibri" pitchFamily="34" charset="0"/>
                <a:ea typeface="Calibri" pitchFamily="34" charset="-122"/>
                <a:cs typeface="Calibri" pitchFamily="34" charset="-120"/>
              </a:rPr>
              <a:t>Résultat attendu : chaque fonction déclarée dans </a:t>
            </a:r>
            <a:pPr indent="0" marL="0">
              <a:buNone/>
            </a:pPr>
            <a:r>
              <a:rPr lang="en-US" sz="1500" dirty="0">
                <a:solidFill>
                  <a:srgbClr val="2F7D62"/>
                </a:solidFill>
                <a:latin typeface="Courier New" pitchFamily="34" charset="0"/>
                <a:ea typeface="Courier New" pitchFamily="34" charset="-122"/>
                <a:cs typeface="Courier New" pitchFamily="34" charset="-120"/>
              </a:rPr>
              <a:t>src/ventes</a:t>
            </a:r>
            <a:pPr indent="0" marL="0">
              <a:buNone/>
            </a:pPr>
            <a:r>
              <a:rPr lang="en-US" sz="1500" dirty="0">
                <a:solidFill>
                  <a:srgbClr val="1F3A5F"/>
                </a:solidFill>
                <a:latin typeface="Calibri" pitchFamily="34" charset="0"/>
                <a:ea typeface="Calibri" pitchFamily="34" charset="-122"/>
                <a:cs typeface="Calibri" pitchFamily="34" charset="-120"/>
              </a:rPr>
              <a:t> a sa correspondance dans le notebook.</a:t>
            </a:r>
            <a:endParaRPr lang="en-US" sz="1500" dirty="0"/>
          </a:p>
        </p:txBody>
      </p:sp>
      <p:sp>
        <p:nvSpPr>
          <p:cNvPr id="13" name="Text 1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04</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Les annotations de type</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Syntaxe   |   Usage   |   mypy</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LES ANNOTATIONS DE TYPE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Annoter une fonction</a:t>
            </a:r>
            <a:endParaRPr lang="en-US" sz="3000" dirty="0"/>
          </a:p>
        </p:txBody>
      </p:sp>
      <p:sp>
        <p:nvSpPr>
          <p:cNvPr id="6" name="Shape 4"/>
          <p:cNvSpPr/>
          <p:nvPr/>
        </p:nvSpPr>
        <p:spPr>
          <a:xfrm>
            <a:off x="548640" y="1417320"/>
            <a:ext cx="5909564" cy="2315718"/>
          </a:xfrm>
          <a:prstGeom prst="rect">
            <a:avLst/>
          </a:prstGeom>
          <a:solidFill>
            <a:srgbClr val="F3F4F6"/>
          </a:solidFill>
          <a:ln/>
        </p:spPr>
      </p:sp>
      <p:sp>
        <p:nvSpPr>
          <p:cNvPr id="7" name="Text 5"/>
          <p:cNvSpPr txBox="1"/>
          <p:nvPr/>
        </p:nvSpPr>
        <p:spPr>
          <a:xfrm>
            <a:off x="731520" y="1563624"/>
            <a:ext cx="5543804" cy="202311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def taux_realisation(ca: float,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objectif: float) -&gt; float: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return ca / objectif</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def lister_fichiers(dossier: Path,</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pattern: str = "*.csv"</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 -&gt; list[Path]:</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p:txBody>
      </p:sp>
      <p:sp>
        <p:nvSpPr>
          <p:cNvPr id="8" name="Text 6"/>
          <p:cNvSpPr txBox="1"/>
          <p:nvPr/>
        </p:nvSpPr>
        <p:spPr>
          <a:xfrm>
            <a:off x="548640" y="4053078"/>
            <a:ext cx="5909564" cy="8229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La signature dit ce que la fonction attend et ce qu'elle renvoie, sans lire son code. L'éditeur s'en sert pour compléter et signaler les erreurs.</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915404" y="1417320"/>
          <a:ext cx="4727651" cy="914400"/>
        </p:xfrm>
        <a:graphic>
          <a:graphicData uri="http://schemas.openxmlformats.org/drawingml/2006/table">
            <a:tbl>
              <a:tblPr/>
              <a:tblGrid>
                <a:gridCol w="2101178"/>
                <a:gridCol w="2626473"/>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Annotation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Signifie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list[str]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liste de textes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dict[str, float]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dictionnaire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str | None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texte ou rien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Path</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chemin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pd.DataFrame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tableau pandas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-&gt; None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ne renvoie rien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LES ANNOTATIONS DE TYPE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mypy vérifie avant l'exécution</a:t>
            </a:r>
            <a:endParaRPr lang="en-US" sz="3000" dirty="0"/>
          </a:p>
        </p:txBody>
      </p:sp>
      <p:sp>
        <p:nvSpPr>
          <p:cNvPr id="6" name="Shape 4"/>
          <p:cNvSpPr/>
          <p:nvPr/>
        </p:nvSpPr>
        <p:spPr>
          <a:xfrm>
            <a:off x="548640" y="1417320"/>
            <a:ext cx="5318608" cy="966978"/>
          </a:xfrm>
          <a:prstGeom prst="rect">
            <a:avLst/>
          </a:prstGeom>
          <a:solidFill>
            <a:srgbClr val="F3F4F6"/>
          </a:solidFill>
          <a:ln/>
        </p:spPr>
      </p:sp>
      <p:sp>
        <p:nvSpPr>
          <p:cNvPr id="7" name="Text 5"/>
          <p:cNvSpPr txBox="1"/>
          <p:nvPr/>
        </p:nvSpPr>
        <p:spPr>
          <a:xfrm>
            <a:off x="731520" y="1563624"/>
            <a:ext cx="4952848" cy="67437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lister_fichiers("ressources")</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Python accepte l'appel : l'erreur</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arrive plus loin, sur .glob</a:t>
            </a:r>
            <a:endParaRPr lang="en-US" sz="1500" dirty="0"/>
          </a:p>
        </p:txBody>
      </p:sp>
      <p:sp>
        <p:nvSpPr>
          <p:cNvPr id="8" name="Text 6"/>
          <p:cNvSpPr txBox="1"/>
          <p:nvPr/>
        </p:nvSpPr>
        <p:spPr>
          <a:xfrm>
            <a:off x="548640" y="2704338"/>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Terminal</a:t>
            </a:r>
            <a:endParaRPr lang="en-US" sz="1200" dirty="0"/>
          </a:p>
        </p:txBody>
      </p:sp>
      <p:sp>
        <p:nvSpPr>
          <p:cNvPr id="9" name="Shape 7"/>
          <p:cNvSpPr/>
          <p:nvPr/>
        </p:nvSpPr>
        <p:spPr>
          <a:xfrm>
            <a:off x="548640" y="2996946"/>
            <a:ext cx="5318608" cy="742188"/>
          </a:xfrm>
          <a:prstGeom prst="rect">
            <a:avLst/>
          </a:prstGeom>
          <a:solidFill>
            <a:srgbClr val="F3F4F6"/>
          </a:solidFill>
          <a:ln/>
        </p:spPr>
      </p:sp>
      <p:sp>
        <p:nvSpPr>
          <p:cNvPr id="10" name="Text 8"/>
          <p:cNvSpPr txBox="1"/>
          <p:nvPr/>
        </p:nvSpPr>
        <p:spPr>
          <a:xfrm>
            <a:off x="731520" y="3143250"/>
            <a:ext cx="4952848" cy="44958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add --dev mypy pandas-stubs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run mypy src</a:t>
            </a:r>
            <a:endParaRPr lang="en-US" sz="1500" dirty="0"/>
          </a:p>
        </p:txBody>
      </p:sp>
      <p:sp>
        <p:nvSpPr>
          <p:cNvPr id="11" name="Text 9"/>
          <p:cNvSpPr txBox="1"/>
          <p:nvPr/>
        </p:nvSpPr>
        <p:spPr>
          <a:xfrm>
            <a:off x="6324448" y="1417320"/>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Résultat</a:t>
            </a:r>
            <a:endParaRPr lang="en-US" sz="1200" dirty="0"/>
          </a:p>
        </p:txBody>
      </p:sp>
      <p:sp>
        <p:nvSpPr>
          <p:cNvPr id="12" name="Shape 10"/>
          <p:cNvSpPr/>
          <p:nvPr/>
        </p:nvSpPr>
        <p:spPr>
          <a:xfrm>
            <a:off x="6324448" y="1709928"/>
            <a:ext cx="5318608" cy="1071880"/>
          </a:xfrm>
          <a:prstGeom prst="rect">
            <a:avLst/>
          </a:prstGeom>
          <a:solidFill>
            <a:srgbClr val="FFFFFF"/>
          </a:solidFill>
          <a:ln w="12700">
            <a:solidFill>
              <a:srgbClr val="D5DCE3"/>
            </a:solidFill>
            <a:prstDash val="solid"/>
          </a:ln>
        </p:spPr>
      </p:sp>
      <p:sp>
        <p:nvSpPr>
          <p:cNvPr id="13" name="Text 11"/>
          <p:cNvSpPr txBox="1"/>
          <p:nvPr/>
        </p:nvSpPr>
        <p:spPr>
          <a:xfrm>
            <a:off x="6507328" y="1856232"/>
            <a:ext cx="4952848" cy="779272"/>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exemple.py:14: error: Argument 1 to</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"lister" has incompatible type "str";</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expected "Path"  [arg-type]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Found 1 error in 1 file</a:t>
            </a:r>
            <a:endParaRPr lang="en-US" sz="1300" dirty="0"/>
          </a:p>
        </p:txBody>
      </p:sp>
      <p:sp>
        <p:nvSpPr>
          <p:cNvPr id="14" name="Shape 12"/>
          <p:cNvSpPr/>
          <p:nvPr/>
        </p:nvSpPr>
        <p:spPr>
          <a:xfrm>
            <a:off x="6324448" y="3101848"/>
            <a:ext cx="5318608" cy="1143000"/>
          </a:xfrm>
          <a:prstGeom prst="roundRect">
            <a:avLst>
              <a:gd name="adj" fmla="val 4800"/>
            </a:avLst>
          </a:prstGeom>
          <a:solidFill>
            <a:srgbClr val="E8F3EE"/>
          </a:solidFill>
          <a:ln/>
        </p:spPr>
      </p:sp>
      <p:sp>
        <p:nvSpPr>
          <p:cNvPr id="15" name="Text 13"/>
          <p:cNvSpPr txBox="1"/>
          <p:nvPr/>
        </p:nvSpPr>
        <p:spPr>
          <a:xfrm>
            <a:off x="6598768" y="3101848"/>
            <a:ext cx="4769968" cy="114300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Python ne vérifie pas les annotations à l'exécution. mypy trouve l'incohérence sans lancer le code.</a:t>
            </a:r>
            <a:endParaRPr lang="en-US" sz="1700" dirty="0"/>
          </a:p>
        </p:txBody>
      </p:sp>
      <p:sp>
        <p:nvSpPr>
          <p:cNvPr id="16" name="Text 1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05</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Les exceptions</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try et except   |   raise   |   Exceptions du projet</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LES EXCEPTIONS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Gérer une exception</a:t>
            </a:r>
            <a:endParaRPr lang="en-US" sz="3000" dirty="0"/>
          </a:p>
        </p:txBody>
      </p:sp>
      <p:sp>
        <p:nvSpPr>
          <p:cNvPr id="6" name="Shape 4"/>
          <p:cNvSpPr/>
          <p:nvPr/>
        </p:nvSpPr>
        <p:spPr>
          <a:xfrm>
            <a:off x="548640" y="1417320"/>
            <a:ext cx="5802117" cy="3020060"/>
          </a:xfrm>
          <a:prstGeom prst="rect">
            <a:avLst/>
          </a:prstGeom>
          <a:solidFill>
            <a:srgbClr val="F3F4F6"/>
          </a:solidFill>
          <a:ln/>
        </p:spPr>
      </p:sp>
      <p:sp>
        <p:nvSpPr>
          <p:cNvPr id="7" name="Text 5"/>
          <p:cNvSpPr txBox="1"/>
          <p:nvPr/>
        </p:nvSpPr>
        <p:spPr>
          <a:xfrm>
            <a:off x="731520" y="1563624"/>
            <a:ext cx="5436357" cy="2727452"/>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def convertir_prix(texte: str) -&gt; float | None: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try:</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valeur = float(texte)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except ValueError:</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print(f"Valeur non numérique : {texte!r}")</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return None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else:</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 seulement si aucune exception</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return round(valeur, 2)</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finally:</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 dans tous les cas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pass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convertir_prix("12,5")   # message, None</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807957" y="1417320"/>
          <a:ext cx="4835098" cy="914400"/>
        </p:xfrm>
        <a:graphic>
          <a:graphicData uri="http://schemas.openxmlformats.org/drawingml/2006/table">
            <a:tbl>
              <a:tblPr/>
              <a:tblGrid>
                <a:gridCol w="2307660"/>
                <a:gridCol w="2527437"/>
              </a:tblGrid>
              <a:tr h="336169">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Exception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Cas typique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36169">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ValueError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float("abc")</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36169">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TypeError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"3" + 2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36169">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KeyError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clé ou colonne absente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36169">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FileNotFoundError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fichier introuvable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36169">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ZeroDivisionError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division par zéro</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LES EXCEPTIONS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Bonnes pratiques et raise</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Attraper</a:t>
            </a:r>
            <a:endParaRPr lang="en-US" sz="1700" dirty="0"/>
          </a:p>
        </p:txBody>
      </p:sp>
      <p:sp>
        <p:nvSpPr>
          <p:cNvPr id="7" name="Text 5"/>
          <p:cNvSpPr txBox="1"/>
          <p:nvPr/>
        </p:nvSpPr>
        <p:spPr>
          <a:xfrm>
            <a:off x="548640" y="1828800"/>
            <a:ext cx="5318608" cy="137160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Une exception </a:t>
            </a:r>
            <a:pPr indent="0" marL="0">
              <a:buNone/>
            </a:pPr>
            <a:r>
              <a:rPr lang="en-US" sz="1600" b="1" dirty="0">
                <a:solidFill>
                  <a:srgbClr val="1F2933"/>
                </a:solidFill>
                <a:latin typeface="Calibri" pitchFamily="34" charset="0"/>
                <a:ea typeface="Calibri" pitchFamily="34" charset="-122"/>
                <a:cs typeface="Calibri" pitchFamily="34" charset="-120"/>
              </a:rPr>
              <a:t>précise</a:t>
            </a:r>
            <a:pPr indent="0" marL="0">
              <a:buNone/>
            </a:pPr>
            <a:r>
              <a:rPr lang="en-US" sz="1600" dirty="0">
                <a:solidFill>
                  <a:srgbClr val="1F2933"/>
                </a:solidFill>
                <a:latin typeface="Calibri" pitchFamily="34" charset="0"/>
                <a:ea typeface="Calibri" pitchFamily="34" charset="-122"/>
                <a:cs typeface="Calibri" pitchFamily="34" charset="-120"/>
              </a:rPr>
              <a:t> : </a:t>
            </a:r>
            <a:pPr indent="0" marL="0">
              <a:buNone/>
            </a:pPr>
            <a:r>
              <a:rPr lang="en-US" sz="1600" dirty="0">
                <a:solidFill>
                  <a:srgbClr val="1F3A5F"/>
                </a:solidFill>
                <a:latin typeface="Courier New" pitchFamily="34" charset="0"/>
                <a:ea typeface="Courier New" pitchFamily="34" charset="-122"/>
                <a:cs typeface="Courier New" pitchFamily="34" charset="-120"/>
              </a:rPr>
              <a:t>except ValueError</a:t>
            </a:r>
            <a:endParaRPr lang="en-US" sz="1600" dirty="0"/>
          </a:p>
          <a:p>
            <a:pPr marL="254000" indent="-2540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Un bloc </a:t>
            </a:r>
            <a:pPr indent="0" marL="0">
              <a:buNone/>
            </a:pPr>
            <a:r>
              <a:rPr lang="en-US" sz="1600" dirty="0">
                <a:solidFill>
                  <a:srgbClr val="1F3A5F"/>
                </a:solidFill>
                <a:latin typeface="Courier New" pitchFamily="34" charset="0"/>
                <a:ea typeface="Courier New" pitchFamily="34" charset="-122"/>
                <a:cs typeface="Courier New" pitchFamily="34" charset="-120"/>
              </a:rPr>
              <a:t>try</a:t>
            </a:r>
            <a:pPr indent="0" marL="0">
              <a:buNone/>
            </a:pPr>
            <a:r>
              <a:rPr lang="en-US" sz="1600" dirty="0">
                <a:solidFill>
                  <a:srgbClr val="1F2933"/>
                </a:solidFill>
                <a:latin typeface="Calibri" pitchFamily="34" charset="0"/>
                <a:ea typeface="Calibri" pitchFamily="34" charset="-122"/>
                <a:cs typeface="Calibri" pitchFamily="34" charset="-120"/>
              </a:rPr>
              <a:t> </a:t>
            </a:r>
            <a:pPr indent="0" marL="0">
              <a:buNone/>
            </a:pPr>
            <a:r>
              <a:rPr lang="en-US" sz="1600" b="1" dirty="0">
                <a:solidFill>
                  <a:srgbClr val="1F2933"/>
                </a:solidFill>
                <a:latin typeface="Calibri" pitchFamily="34" charset="0"/>
                <a:ea typeface="Calibri" pitchFamily="34" charset="-122"/>
                <a:cs typeface="Calibri" pitchFamily="34" charset="-120"/>
              </a:rPr>
              <a:t>court</a:t>
            </a:r>
            <a:pPr indent="0" marL="0">
              <a:buNone/>
            </a:pPr>
            <a:r>
              <a:rPr lang="en-US" sz="1600" dirty="0">
                <a:solidFill>
                  <a:srgbClr val="1F2933"/>
                </a:solidFill>
                <a:latin typeface="Calibri" pitchFamily="34" charset="0"/>
                <a:ea typeface="Calibri" pitchFamily="34" charset="-122"/>
                <a:cs typeface="Calibri" pitchFamily="34" charset="-120"/>
              </a:rPr>
              <a:t>, autour de la seule instruction risquée</a:t>
            </a:r>
            <a:endParaRPr lang="en-US" sz="1600" dirty="0"/>
          </a:p>
          <a:p>
            <a:pPr marL="254000" indent="-2540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Jamais d'erreur ignorée en silence</a:t>
            </a:r>
            <a:endParaRPr lang="en-US" sz="1600" dirty="0"/>
          </a:p>
        </p:txBody>
      </p:sp>
      <p:sp>
        <p:nvSpPr>
          <p:cNvPr id="8" name="Shape 6"/>
          <p:cNvSpPr/>
          <p:nvPr/>
        </p:nvSpPr>
        <p:spPr>
          <a:xfrm>
            <a:off x="548640" y="3520440"/>
            <a:ext cx="5318608" cy="822960"/>
          </a:xfrm>
          <a:prstGeom prst="roundRect">
            <a:avLst>
              <a:gd name="adj" fmla="val 6667"/>
            </a:avLst>
          </a:prstGeom>
          <a:solidFill>
            <a:srgbClr val="E8F3EE"/>
          </a:solidFill>
          <a:ln/>
        </p:spPr>
      </p:sp>
      <p:sp>
        <p:nvSpPr>
          <p:cNvPr id="9" name="Text 7"/>
          <p:cNvSpPr txBox="1"/>
          <p:nvPr/>
        </p:nvSpPr>
        <p:spPr>
          <a:xfrm>
            <a:off x="822960" y="3520440"/>
            <a:ext cx="4769968" cy="822960"/>
          </a:xfrm>
          <a:prstGeom prst="rect">
            <a:avLst/>
          </a:prstGeom>
          <a:noFill/>
          <a:ln/>
        </p:spPr>
        <p:txBody>
          <a:bodyPr wrap="square" lIns="0" tIns="0" rIns="0" bIns="0" rtlCol="0" anchor="ctr"/>
          <a:lstStyle/>
          <a:p>
            <a:pPr indent="0" marL="0">
              <a:buNone/>
            </a:pPr>
            <a:r>
              <a:rPr lang="en-US" sz="1500" dirty="0">
                <a:solidFill>
                  <a:srgbClr val="1F3A5F"/>
                </a:solidFill>
                <a:latin typeface="Calibri" pitchFamily="34" charset="0"/>
                <a:ea typeface="Calibri" pitchFamily="34" charset="-122"/>
                <a:cs typeface="Calibri" pitchFamily="34" charset="-120"/>
              </a:rPr>
              <a:t>À éviter : </a:t>
            </a:r>
            <a:pPr indent="0" marL="0">
              <a:buNone/>
            </a:pPr>
            <a:r>
              <a:rPr lang="en-US" sz="1500" dirty="0">
                <a:solidFill>
                  <a:srgbClr val="2F7D62"/>
                </a:solidFill>
                <a:latin typeface="Courier New" pitchFamily="34" charset="0"/>
                <a:ea typeface="Courier New" pitchFamily="34" charset="-122"/>
                <a:cs typeface="Courier New" pitchFamily="34" charset="-120"/>
              </a:rPr>
              <a:t>except:</a:t>
            </a:r>
            <a:pPr indent="0" marL="0">
              <a:buNone/>
            </a:pPr>
            <a:r>
              <a:rPr lang="en-US" sz="1500" dirty="0">
                <a:solidFill>
                  <a:srgbClr val="1F3A5F"/>
                </a:solidFill>
                <a:latin typeface="Calibri" pitchFamily="34" charset="0"/>
                <a:ea typeface="Calibri" pitchFamily="34" charset="-122"/>
                <a:cs typeface="Calibri" pitchFamily="34" charset="-120"/>
              </a:rPr>
              <a:t> sans type, qui attrape aussi les fautes de frappe.</a:t>
            </a:r>
            <a:endParaRPr lang="en-US" sz="1500" dirty="0"/>
          </a:p>
        </p:txBody>
      </p:sp>
      <p:sp>
        <p:nvSpPr>
          <p:cNvPr id="10" name="Text 8"/>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Lever</a:t>
            </a:r>
            <a:endParaRPr lang="en-US" sz="1700" dirty="0"/>
          </a:p>
        </p:txBody>
      </p:sp>
      <p:sp>
        <p:nvSpPr>
          <p:cNvPr id="11" name="Shape 9"/>
          <p:cNvSpPr/>
          <p:nvPr/>
        </p:nvSpPr>
        <p:spPr>
          <a:xfrm>
            <a:off x="6324448" y="1828800"/>
            <a:ext cx="5318608" cy="1371600"/>
          </a:xfrm>
          <a:prstGeom prst="rect">
            <a:avLst/>
          </a:prstGeom>
          <a:solidFill>
            <a:srgbClr val="F3F4F6"/>
          </a:solidFill>
          <a:ln/>
        </p:spPr>
      </p:sp>
      <p:sp>
        <p:nvSpPr>
          <p:cNvPr id="12" name="Text 10"/>
          <p:cNvSpPr txBox="1"/>
          <p:nvPr/>
        </p:nvSpPr>
        <p:spPr>
          <a:xfrm>
            <a:off x="6507328" y="1975104"/>
            <a:ext cx="4952848" cy="1078992"/>
          </a:xfrm>
          <a:prstGeom prst="rect">
            <a:avLst/>
          </a:prstGeom>
          <a:noFill/>
          <a:ln/>
        </p:spPr>
        <p:txBody>
          <a:bodyPr wrap="square" lIns="0" tIns="0" rIns="0" bIns="0" rtlCol="0" anchor="t"/>
          <a:lstStyle/>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def taux_remise(pourcentage: float) -&gt; float:</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if not 0 &lt;= pourcentage &lt;= 100:</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raise ValueError(</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f"Pourcentage invalide : {pourcentage}"</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return pourcentage / 100</a:t>
            </a:r>
            <a:endParaRPr lang="en-US" sz="1200" dirty="0"/>
          </a:p>
        </p:txBody>
      </p:sp>
      <p:sp>
        <p:nvSpPr>
          <p:cNvPr id="13" name="Text 11"/>
          <p:cNvSpPr txBox="1"/>
          <p:nvPr/>
        </p:nvSpPr>
        <p:spPr>
          <a:xfrm>
            <a:off x="6324448" y="3520440"/>
            <a:ext cx="5318608" cy="5943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Mieux vaut échouer tôt avec un message clair que produire en silence un résultat faux.</a:t>
            </a:r>
            <a:endParaRPr lang="en-US" sz="1500" dirty="0"/>
          </a:p>
        </p:txBody>
      </p:sp>
      <p:sp>
        <p:nvSpPr>
          <p:cNvPr id="14" name="Text 1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LES EXCEPTIONS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Des exceptions propres au projet</a:t>
            </a:r>
            <a:endParaRPr lang="en-US" sz="3000" dirty="0"/>
          </a:p>
        </p:txBody>
      </p:sp>
      <p:sp>
        <p:nvSpPr>
          <p:cNvPr id="6" name="Shape 4"/>
          <p:cNvSpPr/>
          <p:nvPr/>
        </p:nvSpPr>
        <p:spPr>
          <a:xfrm>
            <a:off x="548640" y="1417320"/>
            <a:ext cx="5802117" cy="2825242"/>
          </a:xfrm>
          <a:prstGeom prst="rect">
            <a:avLst/>
          </a:prstGeom>
          <a:solidFill>
            <a:srgbClr val="F3F4F6"/>
          </a:solidFill>
          <a:ln/>
        </p:spPr>
      </p:sp>
      <p:sp>
        <p:nvSpPr>
          <p:cNvPr id="7" name="Text 5"/>
          <p:cNvSpPr txBox="1"/>
          <p:nvPr/>
        </p:nvSpPr>
        <p:spPr>
          <a:xfrm>
            <a:off x="731520" y="1563624"/>
            <a:ext cx="5436357" cy="2532634"/>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class VentesError(Exception):</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"""Erreur de base du traitement des ventes."""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class ColonnesManquantesError(VentesError):</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def __init__(self, fichier: Path,</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manquantes: set[str]) -&gt; None: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self.fichier = fichier</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self.manquantes = manquantes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super().__init__(</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f"{fichier.name} : colonnes manquantes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f"{sorted(manquantes)}"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p:txBody>
      </p:sp>
      <p:sp>
        <p:nvSpPr>
          <p:cNvPr id="8" name="Text 6"/>
          <p:cNvSpPr txBox="1"/>
          <p:nvPr/>
        </p:nvSpPr>
        <p:spPr>
          <a:xfrm>
            <a:off x="6807957" y="1417320"/>
            <a:ext cx="4835098" cy="185928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Des </a:t>
            </a:r>
            <a:pPr indent="0" marL="0">
              <a:buNone/>
            </a:pPr>
            <a:r>
              <a:rPr lang="en-US" sz="1600" b="1" dirty="0">
                <a:solidFill>
                  <a:srgbClr val="1F2933"/>
                </a:solidFill>
                <a:latin typeface="Calibri" pitchFamily="34" charset="0"/>
                <a:ea typeface="Calibri" pitchFamily="34" charset="-122"/>
                <a:cs typeface="Calibri" pitchFamily="34" charset="-120"/>
              </a:rPr>
              <a:t>messages métier</a:t>
            </a:r>
            <a:pPr indent="0" marL="0">
              <a:buNone/>
            </a:pPr>
            <a:r>
              <a:rPr lang="en-US" sz="1600" dirty="0">
                <a:solidFill>
                  <a:srgbClr val="1F2933"/>
                </a:solidFill>
                <a:latin typeface="Calibri" pitchFamily="34" charset="0"/>
                <a:ea typeface="Calibri" pitchFamily="34" charset="-122"/>
                <a:cs typeface="Calibri" pitchFamily="34" charset="-120"/>
              </a:rPr>
              <a:t> plutôt qu'une </a:t>
            </a:r>
            <a:pPr indent="0" marL="0">
              <a:buNone/>
            </a:pPr>
            <a:r>
              <a:rPr lang="en-US" sz="1600" dirty="0">
                <a:solidFill>
                  <a:srgbClr val="1F3A5F"/>
                </a:solidFill>
                <a:latin typeface="Courier New" pitchFamily="34" charset="0"/>
                <a:ea typeface="Courier New" pitchFamily="34" charset="-122"/>
                <a:cs typeface="Courier New" pitchFamily="34" charset="-120"/>
              </a:rPr>
              <a:t>KeyError</a:t>
            </a:r>
            <a:pPr indent="0" marL="0">
              <a:buNone/>
            </a:pPr>
            <a:r>
              <a:rPr lang="en-US" sz="1600" dirty="0">
                <a:solidFill>
                  <a:srgbClr val="1F2933"/>
                </a:solidFill>
                <a:latin typeface="Calibri" pitchFamily="34" charset="0"/>
                <a:ea typeface="Calibri" pitchFamily="34" charset="-122"/>
                <a:cs typeface="Calibri" pitchFamily="34" charset="-120"/>
              </a:rPr>
              <a:t> trois fonctions plus loin</a:t>
            </a:r>
            <a:endParaRPr lang="en-US" sz="1600" dirty="0"/>
          </a:p>
          <a:p>
            <a:pPr marL="254000" indent="-254000">
              <a:spcAft>
                <a:spcPts val="800"/>
              </a:spcAft>
              <a:buSzPct val="100000"/>
              <a:buChar char="•"/>
            </a:pPr>
            <a:r>
              <a:rPr lang="en-US" sz="1600" dirty="0">
                <a:solidFill>
                  <a:srgbClr val="1F3A5F"/>
                </a:solidFill>
                <a:latin typeface="Courier New" pitchFamily="34" charset="0"/>
                <a:ea typeface="Courier New" pitchFamily="34" charset="-122"/>
                <a:cs typeface="Courier New" pitchFamily="34" charset="-120"/>
              </a:rPr>
              <a:t>except VentesError</a:t>
            </a:r>
            <a:pPr indent="0" marL="0">
              <a:buNone/>
            </a:pPr>
            <a:r>
              <a:rPr lang="en-US" sz="1600" dirty="0">
                <a:solidFill>
                  <a:srgbClr val="1F2933"/>
                </a:solidFill>
                <a:latin typeface="Calibri" pitchFamily="34" charset="0"/>
                <a:ea typeface="Calibri" pitchFamily="34" charset="-122"/>
                <a:cs typeface="Calibri" pitchFamily="34" charset="-120"/>
              </a:rPr>
              <a:t> attrape toutes les erreurs du projet, et seulement elles</a:t>
            </a:r>
            <a:endParaRPr lang="en-US" sz="1600" dirty="0"/>
          </a:p>
          <a:p>
            <a:pPr marL="254000" indent="-2540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L'exception transporte le fichier et les colonnes en cause</a:t>
            </a:r>
            <a:endParaRPr lang="en-US" sz="1600" dirty="0"/>
          </a:p>
        </p:txBody>
      </p:sp>
      <p:sp>
        <p:nvSpPr>
          <p:cNvPr id="9" name="Shape 7"/>
          <p:cNvSpPr/>
          <p:nvPr/>
        </p:nvSpPr>
        <p:spPr>
          <a:xfrm>
            <a:off x="6807957" y="3596640"/>
            <a:ext cx="4835098" cy="502412"/>
          </a:xfrm>
          <a:prstGeom prst="rect">
            <a:avLst/>
          </a:prstGeom>
          <a:solidFill>
            <a:srgbClr val="F3F4F6"/>
          </a:solidFill>
          <a:ln/>
        </p:spPr>
      </p:sp>
      <p:sp>
        <p:nvSpPr>
          <p:cNvPr id="10" name="Text 8"/>
          <p:cNvSpPr txBox="1"/>
          <p:nvPr/>
        </p:nvSpPr>
        <p:spPr>
          <a:xfrm>
            <a:off x="6990837" y="3742944"/>
            <a:ext cx="4469338" cy="209804"/>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raise ConfigurationError(...) from erreur</a:t>
            </a:r>
            <a:endParaRPr lang="en-US" sz="1400" dirty="0"/>
          </a:p>
        </p:txBody>
      </p:sp>
      <p:sp>
        <p:nvSpPr>
          <p:cNvPr id="11" name="Text 9"/>
          <p:cNvSpPr txBox="1"/>
          <p:nvPr/>
        </p:nvSpPr>
        <p:spPr>
          <a:xfrm>
            <a:off x="6807957" y="4419092"/>
            <a:ext cx="4835098" cy="594360"/>
          </a:xfrm>
          <a:prstGeom prst="rect">
            <a:avLst/>
          </a:prstGeom>
          <a:noFill/>
          <a:ln/>
        </p:spPr>
        <p:txBody>
          <a:bodyPr wrap="square" lIns="0" tIns="0" rIns="0" bIns="0" rtlCol="0" anchor="t"/>
          <a:lstStyle/>
          <a:p>
            <a:pPr indent="0" marL="0">
              <a:buNone/>
            </a:pPr>
            <a:r>
              <a:rPr lang="en-US" sz="1500" dirty="0">
                <a:solidFill>
                  <a:srgbClr val="1F3A5F"/>
                </a:solidFill>
                <a:latin typeface="Courier New" pitchFamily="34" charset="0"/>
                <a:ea typeface="Courier New" pitchFamily="34" charset="-122"/>
                <a:cs typeface="Courier New" pitchFamily="34" charset="-120"/>
              </a:rPr>
              <a:t>from</a:t>
            </a:r>
            <a:pPr indent="0" marL="0">
              <a:buNone/>
            </a:pPr>
            <a:r>
              <a:rPr lang="en-US" sz="1500" dirty="0">
                <a:solidFill>
                  <a:srgbClr val="6B7280"/>
                </a:solidFill>
                <a:latin typeface="Calibri" pitchFamily="34" charset="0"/>
                <a:ea typeface="Calibri" pitchFamily="34" charset="-122"/>
                <a:cs typeface="Calibri" pitchFamily="34" charset="-120"/>
              </a:rPr>
              <a:t> garde la trace de l'erreur technique d'origine.</a:t>
            </a:r>
            <a:endParaRPr lang="en-US" sz="1500" dirty="0"/>
          </a:p>
        </p:txBody>
      </p:sp>
      <p:sp>
        <p:nvSpPr>
          <p:cNvPr id="12" name="Text 1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LES EXCEPTIONS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Où attraper, et quand avertir</a:t>
            </a:r>
            <a:endParaRPr lang="en-US" sz="3000" dirty="0"/>
          </a:p>
        </p:txBody>
      </p:sp>
      <p:sp>
        <p:nvSpPr>
          <p:cNvPr id="6" name="Shape 4"/>
          <p:cNvSpPr/>
          <p:nvPr/>
        </p:nvSpPr>
        <p:spPr>
          <a:xfrm>
            <a:off x="548640" y="1417320"/>
            <a:ext cx="3515258" cy="2606040"/>
          </a:xfrm>
          <a:prstGeom prst="roundRect">
            <a:avLst>
              <a:gd name="adj" fmla="val 2807"/>
            </a:avLst>
          </a:prstGeom>
          <a:solidFill>
            <a:srgbClr val="EEF3F7"/>
          </a:solidFill>
          <a:ln/>
        </p:spPr>
      </p:sp>
      <p:sp>
        <p:nvSpPr>
          <p:cNvPr id="7" name="Shape 5"/>
          <p:cNvSpPr/>
          <p:nvPr/>
        </p:nvSpPr>
        <p:spPr>
          <a:xfrm>
            <a:off x="777240" y="1691640"/>
            <a:ext cx="402336" cy="402336"/>
          </a:xfrm>
          <a:prstGeom prst="ellipse">
            <a:avLst/>
          </a:prstGeom>
          <a:solidFill>
            <a:srgbClr val="2F7D62"/>
          </a:solidFill>
          <a:ln/>
        </p:spPr>
      </p:sp>
      <p:sp>
        <p:nvSpPr>
          <p:cNvPr id="8" name="Text 6"/>
          <p:cNvSpPr txBox="1"/>
          <p:nvPr/>
        </p:nvSpPr>
        <p:spPr>
          <a:xfrm>
            <a:off x="777240"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777240"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Les fonctions lèvent</a:t>
            </a:r>
            <a:endParaRPr lang="en-US" sz="1800" dirty="0"/>
          </a:p>
        </p:txBody>
      </p:sp>
      <p:sp>
        <p:nvSpPr>
          <p:cNvPr id="10" name="Text 8"/>
          <p:cNvSpPr txBox="1"/>
          <p:nvPr/>
        </p:nvSpPr>
        <p:spPr>
          <a:xfrm>
            <a:off x="777240" y="2606040"/>
            <a:ext cx="3058058" cy="123444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Elles signalent le problème et ne l'attrapent pas si elles ne savent pas quoi en faire.</a:t>
            </a:r>
            <a:endParaRPr lang="en-US" sz="1500" dirty="0"/>
          </a:p>
        </p:txBody>
      </p:sp>
      <p:sp>
        <p:nvSpPr>
          <p:cNvPr id="11" name="Shape 9"/>
          <p:cNvSpPr/>
          <p:nvPr/>
        </p:nvSpPr>
        <p:spPr>
          <a:xfrm>
            <a:off x="4338218" y="1417320"/>
            <a:ext cx="3515258" cy="2606040"/>
          </a:xfrm>
          <a:prstGeom prst="roundRect">
            <a:avLst>
              <a:gd name="adj" fmla="val 2807"/>
            </a:avLst>
          </a:prstGeom>
          <a:solidFill>
            <a:srgbClr val="EEF3F7"/>
          </a:solidFill>
          <a:ln/>
        </p:spPr>
      </p:sp>
      <p:sp>
        <p:nvSpPr>
          <p:cNvPr id="12" name="Shape 10"/>
          <p:cNvSpPr/>
          <p:nvPr/>
        </p:nvSpPr>
        <p:spPr>
          <a:xfrm>
            <a:off x="4566818" y="1691640"/>
            <a:ext cx="402336" cy="402336"/>
          </a:xfrm>
          <a:prstGeom prst="ellipse">
            <a:avLst/>
          </a:prstGeom>
          <a:solidFill>
            <a:srgbClr val="2F7D62"/>
          </a:solidFill>
          <a:ln/>
        </p:spPr>
      </p:sp>
      <p:sp>
        <p:nvSpPr>
          <p:cNvPr id="13" name="Text 11"/>
          <p:cNvSpPr txBox="1"/>
          <p:nvPr/>
        </p:nvSpPr>
        <p:spPr>
          <a:xfrm>
            <a:off x="4566818"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4566818"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Le point d'entrée attrape</a:t>
            </a:r>
            <a:endParaRPr lang="en-US" sz="1800" dirty="0"/>
          </a:p>
        </p:txBody>
      </p:sp>
      <p:sp>
        <p:nvSpPr>
          <p:cNvPr id="15" name="Text 13"/>
          <p:cNvSpPr txBox="1"/>
          <p:nvPr/>
        </p:nvSpPr>
        <p:spPr>
          <a:xfrm>
            <a:off x="4566818" y="2606040"/>
            <a:ext cx="3058058" cy="123444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La commande attrape toutes les </a:t>
            </a:r>
            <a:pPr indent="0" marL="0">
              <a:buNone/>
            </a:pPr>
            <a:r>
              <a:rPr lang="en-US" sz="1500" dirty="0">
                <a:solidFill>
                  <a:srgbClr val="1F3A5F"/>
                </a:solidFill>
                <a:latin typeface="Courier New" pitchFamily="34" charset="0"/>
                <a:ea typeface="Courier New" pitchFamily="34" charset="-122"/>
                <a:cs typeface="Courier New" pitchFamily="34" charset="-120"/>
              </a:rPr>
              <a:t>VentesError</a:t>
            </a:r>
            <a:pPr indent="0" marL="0">
              <a:buNone/>
            </a:pPr>
            <a:r>
              <a:rPr lang="en-US" sz="1500" dirty="0">
                <a:solidFill>
                  <a:srgbClr val="1F2933"/>
                </a:solidFill>
                <a:latin typeface="Calibri" pitchFamily="34" charset="0"/>
                <a:ea typeface="Calibri" pitchFamily="34" charset="-122"/>
                <a:cs typeface="Calibri" pitchFamily="34" charset="-120"/>
              </a:rPr>
              <a:t>, affiche un message clair et s'arrête avec un code d'erreur.</a:t>
            </a:r>
            <a:endParaRPr lang="en-US" sz="1500" dirty="0"/>
          </a:p>
        </p:txBody>
      </p:sp>
      <p:sp>
        <p:nvSpPr>
          <p:cNvPr id="16" name="Shape 14"/>
          <p:cNvSpPr/>
          <p:nvPr/>
        </p:nvSpPr>
        <p:spPr>
          <a:xfrm>
            <a:off x="8127797" y="1417320"/>
            <a:ext cx="3515258" cy="2606040"/>
          </a:xfrm>
          <a:prstGeom prst="roundRect">
            <a:avLst>
              <a:gd name="adj" fmla="val 2807"/>
            </a:avLst>
          </a:prstGeom>
          <a:solidFill>
            <a:srgbClr val="EEF3F7"/>
          </a:solidFill>
          <a:ln/>
        </p:spPr>
      </p:sp>
      <p:sp>
        <p:nvSpPr>
          <p:cNvPr id="17" name="Shape 15"/>
          <p:cNvSpPr/>
          <p:nvPr/>
        </p:nvSpPr>
        <p:spPr>
          <a:xfrm>
            <a:off x="8356397" y="1691640"/>
            <a:ext cx="402336" cy="402336"/>
          </a:xfrm>
          <a:prstGeom prst="ellipse">
            <a:avLst/>
          </a:prstGeom>
          <a:solidFill>
            <a:srgbClr val="2F7D62"/>
          </a:solidFill>
          <a:ln/>
        </p:spPr>
      </p:sp>
      <p:sp>
        <p:nvSpPr>
          <p:cNvPr id="18" name="Text 16"/>
          <p:cNvSpPr txBox="1"/>
          <p:nvPr/>
        </p:nvSpPr>
        <p:spPr>
          <a:xfrm>
            <a:off x="8356397"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356397" y="2240280"/>
            <a:ext cx="3058058" cy="54864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Avertir si on peut continuer</a:t>
            </a:r>
            <a:endParaRPr lang="en-US" sz="1800" dirty="0"/>
          </a:p>
        </p:txBody>
      </p:sp>
      <p:sp>
        <p:nvSpPr>
          <p:cNvPr id="20" name="Text 18"/>
          <p:cNvSpPr txBox="1"/>
          <p:nvPr/>
        </p:nvSpPr>
        <p:spPr>
          <a:xfrm>
            <a:off x="8356397" y="288036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Colonne manquante : exception. Produits hors catalogue : avertissement dans le journal, et on continue.</a:t>
            </a:r>
            <a:endParaRPr lang="en-US" sz="1500" dirty="0"/>
          </a:p>
        </p:txBody>
      </p:sp>
      <p:sp>
        <p:nvSpPr>
          <p:cNvPr id="21" name="Text 1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LES EXCEPTIONS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TP5, étape 2</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Les exceptions du projet, dans src/ventes/erreurs.py</a:t>
            </a:r>
            <a:endParaRPr lang="en-US" sz="1800" dirty="0"/>
          </a:p>
        </p:txBody>
      </p:sp>
      <p:sp>
        <p:nvSpPr>
          <p:cNvPr id="7" name="Text 5"/>
          <p:cNvSpPr txBox="1"/>
          <p:nvPr/>
        </p:nvSpPr>
        <p:spPr>
          <a:xfrm>
            <a:off x="548640" y="2011680"/>
            <a:ext cx="11094415" cy="102616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Compléter </a:t>
            </a:r>
            <a:pPr indent="0" marL="0">
              <a:buNone/>
            </a:pPr>
            <a:r>
              <a:rPr lang="en-US" sz="1600" dirty="0">
                <a:solidFill>
                  <a:srgbClr val="1F3A5F"/>
                </a:solidFill>
                <a:latin typeface="Courier New" pitchFamily="34" charset="0"/>
                <a:ea typeface="Courier New" pitchFamily="34" charset="-122"/>
                <a:cs typeface="Courier New" pitchFamily="34" charset="-120"/>
              </a:rPr>
              <a:t>DossierVideError</a:t>
            </a:r>
            <a:pPr indent="0" marL="0">
              <a:buNone/>
            </a:pPr>
            <a:r>
              <a:rPr lang="en-US" sz="1600" dirty="0">
                <a:solidFill>
                  <a:srgbClr val="1F2933"/>
                </a:solidFill>
                <a:latin typeface="Calibri" pitchFamily="34" charset="0"/>
                <a:ea typeface="Calibri" pitchFamily="34" charset="-122"/>
                <a:cs typeface="Calibri" pitchFamily="34" charset="-120"/>
              </a:rPr>
              <a:t>, écrire </a:t>
            </a:r>
            <a:pPr indent="0" marL="0">
              <a:buNone/>
            </a:pPr>
            <a:r>
              <a:rPr lang="en-US" sz="1600" dirty="0">
                <a:solidFill>
                  <a:srgbClr val="1F3A5F"/>
                </a:solidFill>
                <a:latin typeface="Courier New" pitchFamily="34" charset="0"/>
                <a:ea typeface="Courier New" pitchFamily="34" charset="-122"/>
                <a:cs typeface="Courier New" pitchFamily="34" charset="-120"/>
              </a:rPr>
              <a:t>ColonnesManquantesError</a:t>
            </a:r>
            <a:pPr indent="0" marL="0">
              <a:buNone/>
            </a:pPr>
            <a:r>
              <a:rPr lang="en-US" sz="1600" dirty="0">
                <a:solidFill>
                  <a:srgbClr val="1F2933"/>
                </a:solidFill>
                <a:latin typeface="Calibri" pitchFamily="34" charset="0"/>
                <a:ea typeface="Calibri" pitchFamily="34" charset="-122"/>
                <a:cs typeface="Calibri" pitchFamily="34" charset="-120"/>
              </a:rPr>
              <a:t> et </a:t>
            </a:r>
            <a:pPr indent="0" marL="0">
              <a:buNone/>
            </a:pPr>
            <a:r>
              <a:rPr lang="en-US" sz="1600" dirty="0">
                <a:solidFill>
                  <a:srgbClr val="1F3A5F"/>
                </a:solidFill>
                <a:latin typeface="Courier New" pitchFamily="34" charset="0"/>
                <a:ea typeface="Courier New" pitchFamily="34" charset="-122"/>
                <a:cs typeface="Courier New" pitchFamily="34" charset="-120"/>
              </a:rPr>
              <a:t>CleNonUniqueError</a:t>
            </a:r>
            <a:pPr indent="0" marL="0">
              <a:buNone/>
            </a:pPr>
            <a:r>
              <a:rPr lang="en-US" sz="1600" dirty="0">
                <a:solidFill>
                  <a:srgbClr val="1F2933"/>
                </a:solidFill>
                <a:latin typeface="Calibri" pitchFamily="34" charset="0"/>
                <a:ea typeface="Calibri" pitchFamily="34" charset="-122"/>
                <a:cs typeface="Calibri" pitchFamily="34" charset="-120"/>
              </a:rPr>
              <a:t>, qui héritent de </a:t>
            </a:r>
            <a:pPr indent="0" marL="0">
              <a:buNone/>
            </a:pPr>
            <a:r>
              <a:rPr lang="en-US" sz="1600" dirty="0">
                <a:solidFill>
                  <a:srgbClr val="1F3A5F"/>
                </a:solidFill>
                <a:latin typeface="Courier New" pitchFamily="34" charset="0"/>
                <a:ea typeface="Courier New" pitchFamily="34" charset="-122"/>
                <a:cs typeface="Courier New" pitchFamily="34" charset="-120"/>
              </a:rPr>
              <a:t>VentesError</a:t>
            </a:r>
            <a:endParaRPr lang="en-US" sz="1600" dirty="0"/>
          </a:p>
          <a:p>
            <a:pPr marL="254000" indent="-2540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Un message qui permet de comprendre le problème sans lire le code</a:t>
            </a:r>
            <a:endParaRPr lang="en-US" sz="1600" dirty="0"/>
          </a:p>
        </p:txBody>
      </p:sp>
      <p:sp>
        <p:nvSpPr>
          <p:cNvPr id="8" name="Text 6"/>
          <p:cNvSpPr txBox="1"/>
          <p:nvPr/>
        </p:nvSpPr>
        <p:spPr>
          <a:xfrm>
            <a:off x="548640" y="3357880"/>
            <a:ext cx="11094415"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Résultat attendu, dans uv run python</a:t>
            </a:r>
            <a:endParaRPr lang="en-US" sz="1200" dirty="0"/>
          </a:p>
        </p:txBody>
      </p:sp>
      <p:sp>
        <p:nvSpPr>
          <p:cNvPr id="9" name="Shape 7"/>
          <p:cNvSpPr/>
          <p:nvPr/>
        </p:nvSpPr>
        <p:spPr>
          <a:xfrm>
            <a:off x="548640" y="3650488"/>
            <a:ext cx="11094415" cy="2045970"/>
          </a:xfrm>
          <a:prstGeom prst="rect">
            <a:avLst/>
          </a:prstGeom>
          <a:solidFill>
            <a:srgbClr val="FFFFFF"/>
          </a:solidFill>
          <a:ln w="12700">
            <a:solidFill>
              <a:srgbClr val="D5DCE3"/>
            </a:solidFill>
            <a:prstDash val="solid"/>
          </a:ln>
        </p:spPr>
      </p:sp>
      <p:sp>
        <p:nvSpPr>
          <p:cNvPr id="10" name="Text 8"/>
          <p:cNvSpPr txBox="1"/>
          <p:nvPr/>
        </p:nvSpPr>
        <p:spPr>
          <a:xfrm>
            <a:off x="731520" y="3796792"/>
            <a:ext cx="10728655" cy="1753362"/>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&gt;&gt;&gt; from ventes.erreurs import ColonnesManquantesError, DossierVideError</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&gt;&gt;&gt; print(DossierVideError(Path("data/brut/ventes"), "*.csv"))</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aucun fichier *.csv dans data/brut/ventes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&gt;&gt;&gt; erreur = ColonnesManquantesError(</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Path("data/brut/ventes/ventes_2025_10.csv"), {"quantite"})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&gt;&gt;&gt; print(erreur)</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ventes_2025_10.csv : colonnes manquantes ['quantite']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&gt;&gt;&gt; erreur.manquantes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{'quantite'}</a:t>
            </a:r>
            <a:endParaRPr lang="en-US" sz="1300" dirty="0"/>
          </a:p>
        </p:txBody>
      </p:sp>
      <p:sp>
        <p:nvSpPr>
          <p:cNvPr id="11" name="Text 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06</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Tester et vérifier le code</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pytest   |   Tests de recette   |   ruff</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TESTER ET VÉRIFIER LE CODE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Un test avec pytest</a:t>
            </a:r>
            <a:endParaRPr lang="en-US" sz="3000" dirty="0"/>
          </a:p>
        </p:txBody>
      </p:sp>
      <p:sp>
        <p:nvSpPr>
          <p:cNvPr id="6" name="Shape 4"/>
          <p:cNvSpPr/>
          <p:nvPr/>
        </p:nvSpPr>
        <p:spPr>
          <a:xfrm>
            <a:off x="548640" y="1417320"/>
            <a:ext cx="5802117" cy="1371600"/>
          </a:xfrm>
          <a:prstGeom prst="rect">
            <a:avLst/>
          </a:prstGeom>
          <a:solidFill>
            <a:srgbClr val="F3F4F6"/>
          </a:solidFill>
          <a:ln/>
        </p:spPr>
      </p:sp>
      <p:sp>
        <p:nvSpPr>
          <p:cNvPr id="7" name="Text 5"/>
          <p:cNvSpPr txBox="1"/>
          <p:nvPr/>
        </p:nvSpPr>
        <p:spPr>
          <a:xfrm>
            <a:off x="731520" y="1563624"/>
            <a:ext cx="5436357" cy="1078992"/>
          </a:xfrm>
          <a:prstGeom prst="rect">
            <a:avLst/>
          </a:prstGeom>
          <a:noFill/>
          <a:ln/>
        </p:spPr>
        <p:txBody>
          <a:bodyPr wrap="square" lIns="0" tIns="0" rIns="0" bIns="0" rtlCol="0" anchor="t"/>
          <a:lstStyle/>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def test_enrichir_garde_toutes_les_ventes(tables):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ventes, produits, regions = tables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df = enrichir(ventes, produits, regions)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assert len(df) == len(ventes)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assert df.loc[df["id_produit"] == "P99",</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"categorie"].item() == "Non référencé"</a:t>
            </a:r>
            <a:endParaRPr lang="en-US" sz="1200" dirty="0"/>
          </a:p>
        </p:txBody>
      </p:sp>
      <p:sp>
        <p:nvSpPr>
          <p:cNvPr id="8" name="Text 6"/>
          <p:cNvSpPr txBox="1"/>
          <p:nvPr/>
        </p:nvSpPr>
        <p:spPr>
          <a:xfrm>
            <a:off x="548640" y="3108960"/>
            <a:ext cx="5802117"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Terminal</a:t>
            </a:r>
            <a:endParaRPr lang="en-US" sz="1200" dirty="0"/>
          </a:p>
        </p:txBody>
      </p:sp>
      <p:sp>
        <p:nvSpPr>
          <p:cNvPr id="9" name="Shape 7"/>
          <p:cNvSpPr/>
          <p:nvPr/>
        </p:nvSpPr>
        <p:spPr>
          <a:xfrm>
            <a:off x="548640" y="3401568"/>
            <a:ext cx="5802117" cy="742188"/>
          </a:xfrm>
          <a:prstGeom prst="rect">
            <a:avLst/>
          </a:prstGeom>
          <a:solidFill>
            <a:srgbClr val="F3F4F6"/>
          </a:solidFill>
          <a:ln/>
        </p:spPr>
      </p:sp>
      <p:sp>
        <p:nvSpPr>
          <p:cNvPr id="10" name="Text 8"/>
          <p:cNvSpPr txBox="1"/>
          <p:nvPr/>
        </p:nvSpPr>
        <p:spPr>
          <a:xfrm>
            <a:off x="731520" y="3547872"/>
            <a:ext cx="5436357" cy="44958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add --dev pytest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run pytest</a:t>
            </a:r>
            <a:endParaRPr lang="en-US" sz="1500" dirty="0"/>
          </a:p>
        </p:txBody>
      </p:sp>
      <p:sp>
        <p:nvSpPr>
          <p:cNvPr id="11" name="Text 9"/>
          <p:cNvSpPr txBox="1"/>
          <p:nvPr/>
        </p:nvSpPr>
        <p:spPr>
          <a:xfrm>
            <a:off x="6807957" y="1417320"/>
            <a:ext cx="483509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Résultat</a:t>
            </a:r>
            <a:endParaRPr lang="en-US" sz="1200" dirty="0"/>
          </a:p>
        </p:txBody>
      </p:sp>
      <p:sp>
        <p:nvSpPr>
          <p:cNvPr id="12" name="Shape 10"/>
          <p:cNvSpPr/>
          <p:nvPr/>
        </p:nvSpPr>
        <p:spPr>
          <a:xfrm>
            <a:off x="6807957" y="1709928"/>
            <a:ext cx="4835098" cy="1371600"/>
          </a:xfrm>
          <a:prstGeom prst="rect">
            <a:avLst/>
          </a:prstGeom>
          <a:solidFill>
            <a:srgbClr val="FFFFFF"/>
          </a:solidFill>
          <a:ln w="12700">
            <a:solidFill>
              <a:srgbClr val="D5DCE3"/>
            </a:solidFill>
            <a:prstDash val="solid"/>
          </a:ln>
        </p:spPr>
      </p:sp>
      <p:sp>
        <p:nvSpPr>
          <p:cNvPr id="13" name="Text 11"/>
          <p:cNvSpPr txBox="1"/>
          <p:nvPr/>
        </p:nvSpPr>
        <p:spPr>
          <a:xfrm>
            <a:off x="6990837" y="1856232"/>
            <a:ext cx="4469338" cy="1078992"/>
          </a:xfrm>
          <a:prstGeom prst="rect">
            <a:avLst/>
          </a:prstGeom>
          <a:noFill/>
          <a:ln/>
        </p:spPr>
        <p:txBody>
          <a:bodyPr wrap="square" lIns="0" tIns="0" rIns="0" bIns="0" rtlCol="0" anchor="t"/>
          <a:lstStyle/>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collected 7 items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tests/test_chargement.py ....   [ 57%]</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tests/test_indicateurs.py ...   [100%]</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7 passed in 0.17s ==========</a:t>
            </a:r>
            <a:endParaRPr lang="en-US" sz="1200" dirty="0"/>
          </a:p>
        </p:txBody>
      </p:sp>
      <p:sp>
        <p:nvSpPr>
          <p:cNvPr id="14" name="Text 12"/>
          <p:cNvSpPr txBox="1"/>
          <p:nvPr/>
        </p:nvSpPr>
        <p:spPr>
          <a:xfrm>
            <a:off x="6807957" y="3401568"/>
            <a:ext cx="4835098" cy="1767840"/>
          </a:xfrm>
          <a:prstGeom prst="rect">
            <a:avLst/>
          </a:prstGeom>
          <a:noFill/>
          <a:ln/>
        </p:spPr>
        <p:txBody>
          <a:bodyPr wrap="square" lIns="0" tIns="0" rIns="0" bIns="0" rtlCol="0" anchor="t"/>
          <a:lstStyle/>
          <a:p>
            <a:pPr marL="254000" indent="-2540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Un fichier </a:t>
            </a:r>
            <a:pPr indent="0" marL="0">
              <a:buNone/>
            </a:pPr>
            <a:r>
              <a:rPr lang="en-US" sz="1500" dirty="0">
                <a:solidFill>
                  <a:srgbClr val="1F3A5F"/>
                </a:solidFill>
                <a:latin typeface="Courier New" pitchFamily="34" charset="0"/>
                <a:ea typeface="Courier New" pitchFamily="34" charset="-122"/>
                <a:cs typeface="Courier New" pitchFamily="34" charset="-120"/>
              </a:rPr>
              <a:t>tests/test_*.py</a:t>
            </a:r>
            <a:pPr indent="0" marL="0">
              <a:buNone/>
            </a:pPr>
            <a:r>
              <a:rPr lang="en-US" sz="1500" dirty="0">
                <a:solidFill>
                  <a:srgbClr val="1F2933"/>
                </a:solidFill>
                <a:latin typeface="Calibri" pitchFamily="34" charset="0"/>
                <a:ea typeface="Calibri" pitchFamily="34" charset="-122"/>
                <a:cs typeface="Calibri" pitchFamily="34" charset="-120"/>
              </a:rPr>
              <a:t>, des fonctions </a:t>
            </a:r>
            <a:pPr indent="0" marL="0">
              <a:buNone/>
            </a:pPr>
            <a:r>
              <a:rPr lang="en-US" sz="1500" dirty="0">
                <a:solidFill>
                  <a:srgbClr val="1F3A5F"/>
                </a:solidFill>
                <a:latin typeface="Courier New" pitchFamily="34" charset="0"/>
                <a:ea typeface="Courier New" pitchFamily="34" charset="-122"/>
                <a:cs typeface="Courier New" pitchFamily="34" charset="-120"/>
              </a:rPr>
              <a:t>test_...</a:t>
            </a:r>
            <a:endParaRPr lang="en-US" sz="1500" dirty="0"/>
          </a:p>
          <a:p>
            <a:pPr marL="254000" indent="-2540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De petites données construites à la main, au résultat connu</a:t>
            </a:r>
            <a:endParaRPr lang="en-US" sz="1500" dirty="0"/>
          </a:p>
          <a:p>
            <a:pPr marL="254000" indent="-2540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Le cas normal, les cas limites, les erreurs attendues</a:t>
            </a:r>
            <a:endParaRPr lang="en-US" sz="1500" dirty="0"/>
          </a:p>
        </p:txBody>
      </p:sp>
      <p:sp>
        <p:nvSpPr>
          <p:cNvPr id="15" name="Text 1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TESTER ET VÉRIFIER LE CODE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Fixtures, fichiers temporaires et erreurs</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Une fixture partagée</a:t>
            </a:r>
            <a:endParaRPr lang="en-US" sz="1700" dirty="0"/>
          </a:p>
        </p:txBody>
      </p:sp>
      <p:sp>
        <p:nvSpPr>
          <p:cNvPr id="7" name="Shape 5"/>
          <p:cNvSpPr/>
          <p:nvPr/>
        </p:nvSpPr>
        <p:spPr>
          <a:xfrm>
            <a:off x="548640" y="1828800"/>
            <a:ext cx="5318608" cy="1641348"/>
          </a:xfrm>
          <a:prstGeom prst="rect">
            <a:avLst/>
          </a:prstGeom>
          <a:solidFill>
            <a:srgbClr val="F3F4F6"/>
          </a:solidFill>
          <a:ln/>
        </p:spPr>
      </p:sp>
      <p:sp>
        <p:nvSpPr>
          <p:cNvPr id="8" name="Text 6"/>
          <p:cNvSpPr txBox="1"/>
          <p:nvPr/>
        </p:nvSpPr>
        <p:spPr>
          <a:xfrm>
            <a:off x="731520" y="1975104"/>
            <a:ext cx="4952848" cy="134874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@pytest.fixture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def tables():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ventes = pd.DataFrame({...})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produits = pd.DataFrame({...})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regions = pd.DataFrame({...})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return ventes, produits, regions</a:t>
            </a:r>
            <a:endParaRPr lang="en-US" sz="1500" dirty="0"/>
          </a:p>
        </p:txBody>
      </p:sp>
      <p:sp>
        <p:nvSpPr>
          <p:cNvPr id="9" name="Text 7"/>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tmp_path et pytest.raises</a:t>
            </a:r>
            <a:endParaRPr lang="en-US" sz="1700" dirty="0"/>
          </a:p>
        </p:txBody>
      </p:sp>
      <p:sp>
        <p:nvSpPr>
          <p:cNvPr id="10" name="Shape 8"/>
          <p:cNvSpPr/>
          <p:nvPr/>
        </p:nvSpPr>
        <p:spPr>
          <a:xfrm>
            <a:off x="6324448" y="1828800"/>
            <a:ext cx="5318608" cy="1191768"/>
          </a:xfrm>
          <a:prstGeom prst="rect">
            <a:avLst/>
          </a:prstGeom>
          <a:solidFill>
            <a:srgbClr val="F3F4F6"/>
          </a:solidFill>
          <a:ln/>
        </p:spPr>
      </p:sp>
      <p:sp>
        <p:nvSpPr>
          <p:cNvPr id="11" name="Text 9"/>
          <p:cNvSpPr txBox="1"/>
          <p:nvPr/>
        </p:nvSpPr>
        <p:spPr>
          <a:xfrm>
            <a:off x="6507328" y="1975104"/>
            <a:ext cx="4952848" cy="89916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def test_lister_fichiers_dossier_vide(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tmp_path: Path) -&gt; None: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with pytest.raises(DossierVideError):</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lister_fichiers(tmp_path)</a:t>
            </a:r>
            <a:endParaRPr lang="en-US" sz="1500" dirty="0"/>
          </a:p>
        </p:txBody>
      </p:sp>
      <p:sp>
        <p:nvSpPr>
          <p:cNvPr id="12" name="Text 10"/>
          <p:cNvSpPr txBox="1"/>
          <p:nvPr/>
        </p:nvSpPr>
        <p:spPr>
          <a:xfrm>
            <a:off x="6324448" y="3340608"/>
            <a:ext cx="5318608" cy="822960"/>
          </a:xfrm>
          <a:prstGeom prst="rect">
            <a:avLst/>
          </a:prstGeom>
          <a:noFill/>
          <a:ln/>
        </p:spPr>
        <p:txBody>
          <a:bodyPr wrap="square" lIns="0" tIns="0" rIns="0" bIns="0" rtlCol="0" anchor="t"/>
          <a:lstStyle/>
          <a:p>
            <a:pPr indent="0" marL="0">
              <a:buNone/>
            </a:pPr>
            <a:r>
              <a:rPr lang="en-US" sz="1500" dirty="0">
                <a:solidFill>
                  <a:srgbClr val="1F3A5F"/>
                </a:solidFill>
                <a:latin typeface="Courier New" pitchFamily="34" charset="0"/>
                <a:ea typeface="Courier New" pitchFamily="34" charset="-122"/>
                <a:cs typeface="Courier New" pitchFamily="34" charset="-120"/>
              </a:rPr>
              <a:t>tmp_path</a:t>
            </a:r>
            <a:pPr indent="0" marL="0">
              <a:buNone/>
            </a:pPr>
            <a:r>
              <a:rPr lang="en-US" sz="1500" dirty="0">
                <a:solidFill>
                  <a:srgbClr val="6B7280"/>
                </a:solidFill>
                <a:latin typeface="Calibri" pitchFamily="34" charset="0"/>
                <a:ea typeface="Calibri" pitchFamily="34" charset="-122"/>
                <a:cs typeface="Calibri" pitchFamily="34" charset="-120"/>
              </a:rPr>
              <a:t> : un dossier vide, créé pour le test et nettoyé ensuite. </a:t>
            </a:r>
            <a:pPr indent="0" marL="0">
              <a:buNone/>
            </a:pPr>
            <a:r>
              <a:rPr lang="en-US" sz="1500" dirty="0">
                <a:solidFill>
                  <a:srgbClr val="1F3A5F"/>
                </a:solidFill>
                <a:latin typeface="Courier New" pitchFamily="34" charset="0"/>
                <a:ea typeface="Courier New" pitchFamily="34" charset="-122"/>
                <a:cs typeface="Courier New" pitchFamily="34" charset="-120"/>
              </a:rPr>
              <a:t>pytest.raises</a:t>
            </a:r>
            <a:pPr indent="0" marL="0">
              <a:buNone/>
            </a:pPr>
            <a:r>
              <a:rPr lang="en-US" sz="1500" dirty="0">
                <a:solidFill>
                  <a:srgbClr val="6B7280"/>
                </a:solidFill>
                <a:latin typeface="Calibri" pitchFamily="34" charset="0"/>
                <a:ea typeface="Calibri" pitchFamily="34" charset="-122"/>
                <a:cs typeface="Calibri" pitchFamily="34" charset="-120"/>
              </a:rPr>
              <a:t> vérifie qu'une exception est levée.</a:t>
            </a:r>
            <a:endParaRPr lang="en-US" sz="1500" dirty="0"/>
          </a:p>
        </p:txBody>
      </p:sp>
      <p:sp>
        <p:nvSpPr>
          <p:cNvPr id="13" name="Text 1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TESTER ET VÉRIFIER LE CODE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Inspecter une erreur, comparer des décimaux</a:t>
            </a:r>
            <a:endParaRPr lang="en-US" sz="3000" dirty="0"/>
          </a:p>
        </p:txBody>
      </p:sp>
      <p:sp>
        <p:nvSpPr>
          <p:cNvPr id="6" name="Text 4"/>
          <p:cNvSpPr txBox="1"/>
          <p:nvPr/>
        </p:nvSpPr>
        <p:spPr>
          <a:xfrm>
            <a:off x="548640" y="1417320"/>
            <a:ext cx="6382329" cy="365760"/>
          </a:xfrm>
          <a:prstGeom prst="rect">
            <a:avLst/>
          </a:prstGeom>
          <a:noFill/>
          <a:ln/>
        </p:spPr>
        <p:txBody>
          <a:bodyPr wrap="square" lIns="0" tIns="0" rIns="0" bIns="0" rtlCol="0" anchor="t"/>
          <a:lstStyle/>
          <a:p>
            <a:pPr indent="0" marL="0">
              <a:buNone/>
            </a:pPr>
            <a:r>
              <a:rPr lang="en-US" sz="1700" b="1" dirty="0">
                <a:solidFill>
                  <a:srgbClr val="1F3A5F"/>
                </a:solidFill>
                <a:latin typeface="Courier New" pitchFamily="34" charset="0"/>
                <a:ea typeface="Courier New" pitchFamily="34" charset="-122"/>
                <a:cs typeface="Courier New" pitchFamily="34" charset="-120"/>
              </a:rPr>
              <a:t>pytest.raises ... as erreur</a:t>
            </a:r>
            <a:endParaRPr lang="en-US" sz="1700" dirty="0"/>
          </a:p>
        </p:txBody>
      </p:sp>
      <p:sp>
        <p:nvSpPr>
          <p:cNvPr id="7" name="Shape 5"/>
          <p:cNvSpPr/>
          <p:nvPr/>
        </p:nvSpPr>
        <p:spPr>
          <a:xfrm>
            <a:off x="548640" y="1828800"/>
            <a:ext cx="6382329" cy="922020"/>
          </a:xfrm>
          <a:prstGeom prst="rect">
            <a:avLst/>
          </a:prstGeom>
          <a:solidFill>
            <a:srgbClr val="F3F4F6"/>
          </a:solidFill>
          <a:ln/>
        </p:spPr>
      </p:sp>
      <p:sp>
        <p:nvSpPr>
          <p:cNvPr id="8" name="Text 6"/>
          <p:cNvSpPr txBox="1"/>
          <p:nvPr/>
        </p:nvSpPr>
        <p:spPr>
          <a:xfrm>
            <a:off x="731520" y="1975104"/>
            <a:ext cx="6016569" cy="629412"/>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with pytest.raises(ColonnesManquantesError) as erreur:</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charger_fichier_ventes(fichier)</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assert erreur.value.manquantes == {"quantite"}</a:t>
            </a:r>
            <a:endParaRPr lang="en-US" sz="1400" dirty="0"/>
          </a:p>
        </p:txBody>
      </p:sp>
      <p:sp>
        <p:nvSpPr>
          <p:cNvPr id="9" name="Text 7"/>
          <p:cNvSpPr txBox="1"/>
          <p:nvPr/>
        </p:nvSpPr>
        <p:spPr>
          <a:xfrm>
            <a:off x="548640" y="3070860"/>
            <a:ext cx="6382329" cy="365760"/>
          </a:xfrm>
          <a:prstGeom prst="rect">
            <a:avLst/>
          </a:prstGeom>
          <a:noFill/>
          <a:ln/>
        </p:spPr>
        <p:txBody>
          <a:bodyPr wrap="square" lIns="0" tIns="0" rIns="0" bIns="0" rtlCol="0" anchor="t"/>
          <a:lstStyle/>
          <a:p>
            <a:pPr indent="0" marL="0">
              <a:buNone/>
            </a:pPr>
            <a:r>
              <a:rPr lang="en-US" sz="1700" b="1" dirty="0">
                <a:solidFill>
                  <a:srgbClr val="1F3A5F"/>
                </a:solidFill>
                <a:latin typeface="Courier New" pitchFamily="34" charset="0"/>
                <a:ea typeface="Courier New" pitchFamily="34" charset="-122"/>
                <a:cs typeface="Courier New" pitchFamily="34" charset="-120"/>
              </a:rPr>
              <a:t>pytest.approx</a:t>
            </a:r>
            <a:pPr indent="0" marL="0">
              <a:buNone/>
            </a:pPr>
            <a:r>
              <a:rPr lang="en-US" sz="1700" b="1" dirty="0">
                <a:solidFill>
                  <a:srgbClr val="1F3A5F"/>
                </a:solidFill>
                <a:latin typeface="Calibri" pitchFamily="34" charset="0"/>
                <a:ea typeface="Calibri" pitchFamily="34" charset="-122"/>
                <a:cs typeface="Calibri" pitchFamily="34" charset="-120"/>
              </a:rPr>
              <a:t> pour les décimaux</a:t>
            </a:r>
            <a:endParaRPr lang="en-US" sz="1700" dirty="0"/>
          </a:p>
        </p:txBody>
      </p:sp>
      <p:sp>
        <p:nvSpPr>
          <p:cNvPr id="10" name="Shape 8"/>
          <p:cNvSpPr/>
          <p:nvPr/>
        </p:nvSpPr>
        <p:spPr>
          <a:xfrm>
            <a:off x="548640" y="3482340"/>
            <a:ext cx="6382329" cy="922020"/>
          </a:xfrm>
          <a:prstGeom prst="rect">
            <a:avLst/>
          </a:prstGeom>
          <a:solidFill>
            <a:srgbClr val="F3F4F6"/>
          </a:solidFill>
          <a:ln/>
        </p:spPr>
      </p:sp>
      <p:sp>
        <p:nvSpPr>
          <p:cNvPr id="11" name="Text 9"/>
          <p:cNvSpPr txBox="1"/>
          <p:nvPr/>
        </p:nvSpPr>
        <p:spPr>
          <a:xfrm>
            <a:off x="731520" y="3628644"/>
            <a:ext cx="6016569" cy="629412"/>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assert taux_realisation(70, 100) == pytest.approx(0.7)</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total = ventes["montant"].sum()</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assert total == pytest.approx(409501.59, abs=0.01)</a:t>
            </a:r>
            <a:endParaRPr lang="en-US" sz="1400" dirty="0"/>
          </a:p>
        </p:txBody>
      </p:sp>
      <p:sp>
        <p:nvSpPr>
          <p:cNvPr id="12" name="Text 10"/>
          <p:cNvSpPr txBox="1"/>
          <p:nvPr/>
        </p:nvSpPr>
        <p:spPr>
          <a:xfrm>
            <a:off x="7388169" y="1417320"/>
            <a:ext cx="4254886"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Lancer une partie des tests</a:t>
            </a:r>
            <a:endParaRPr lang="en-US" sz="1700" dirty="0"/>
          </a:p>
        </p:txBody>
      </p:sp>
      <p:sp>
        <p:nvSpPr>
          <p:cNvPr id="13" name="Shape 11"/>
          <p:cNvSpPr/>
          <p:nvPr/>
        </p:nvSpPr>
        <p:spPr>
          <a:xfrm>
            <a:off x="7388169" y="1828800"/>
            <a:ext cx="4254886" cy="877062"/>
          </a:xfrm>
          <a:prstGeom prst="rect">
            <a:avLst/>
          </a:prstGeom>
          <a:solidFill>
            <a:srgbClr val="F3F4F6"/>
          </a:solidFill>
          <a:ln/>
        </p:spPr>
      </p:sp>
      <p:sp>
        <p:nvSpPr>
          <p:cNvPr id="14" name="Text 12"/>
          <p:cNvSpPr txBox="1"/>
          <p:nvPr/>
        </p:nvSpPr>
        <p:spPr>
          <a:xfrm>
            <a:off x="7571049" y="1975104"/>
            <a:ext cx="3889126" cy="584454"/>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uv run pytest tests/test_chargement.py</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uv run pytest -k unicite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uv run pytest -x</a:t>
            </a:r>
            <a:endParaRPr lang="en-US" sz="1300" dirty="0"/>
          </a:p>
        </p:txBody>
      </p:sp>
      <p:sp>
        <p:nvSpPr>
          <p:cNvPr id="15" name="Text 13"/>
          <p:cNvSpPr txBox="1"/>
          <p:nvPr/>
        </p:nvSpPr>
        <p:spPr>
          <a:xfrm>
            <a:off x="7388169" y="3025902"/>
            <a:ext cx="4254886" cy="1310640"/>
          </a:xfrm>
          <a:prstGeom prst="rect">
            <a:avLst/>
          </a:prstGeom>
          <a:noFill/>
          <a:ln/>
        </p:spPr>
        <p:txBody>
          <a:bodyPr wrap="square" lIns="0" tIns="0" rIns="0" bIns="0" rtlCol="0" anchor="t"/>
          <a:lstStyle/>
          <a:p>
            <a:pPr marL="254000" indent="-2540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un seul fichier</a:t>
            </a:r>
            <a:endParaRPr lang="en-US" sz="1500" dirty="0"/>
          </a:p>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-k</a:t>
            </a:r>
            <a:pPr indent="0" marL="0">
              <a:buNone/>
            </a:pPr>
            <a:r>
              <a:rPr lang="en-US" sz="1500" dirty="0">
                <a:solidFill>
                  <a:srgbClr val="1F2933"/>
                </a:solidFill>
                <a:latin typeface="Calibri" pitchFamily="34" charset="0"/>
                <a:ea typeface="Calibri" pitchFamily="34" charset="-122"/>
                <a:cs typeface="Calibri" pitchFamily="34" charset="-120"/>
              </a:rPr>
              <a:t> : les tests dont le nom contient « unicite »</a:t>
            </a:r>
            <a:endParaRPr lang="en-US" sz="1500" dirty="0"/>
          </a:p>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-x</a:t>
            </a:r>
            <a:pPr indent="0" marL="0">
              <a:buNone/>
            </a:pPr>
            <a:r>
              <a:rPr lang="en-US" sz="1500" dirty="0">
                <a:solidFill>
                  <a:srgbClr val="1F2933"/>
                </a:solidFill>
                <a:latin typeface="Calibri" pitchFamily="34" charset="0"/>
                <a:ea typeface="Calibri" pitchFamily="34" charset="-122"/>
                <a:cs typeface="Calibri" pitchFamily="34" charset="-120"/>
              </a:rPr>
              <a:t> : s'arrêter au premier échec</a:t>
            </a:r>
            <a:endParaRPr lang="en-US" sz="1500" dirty="0"/>
          </a:p>
        </p:txBody>
      </p:sp>
      <p:sp>
        <p:nvSpPr>
          <p:cNvPr id="16" name="Text 14"/>
          <p:cNvSpPr txBox="1"/>
          <p:nvPr/>
        </p:nvSpPr>
        <p:spPr>
          <a:xfrm>
            <a:off x="548640" y="4724400"/>
            <a:ext cx="11094415" cy="38100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Pas de </a:t>
            </a:r>
            <a:pPr indent="0" marL="0">
              <a:buNone/>
            </a:pPr>
            <a:r>
              <a:rPr lang="en-US" sz="1600" dirty="0">
                <a:solidFill>
                  <a:srgbClr val="1F3A5F"/>
                </a:solidFill>
                <a:latin typeface="Courier New" pitchFamily="34" charset="0"/>
                <a:ea typeface="Courier New" pitchFamily="34" charset="-122"/>
                <a:cs typeface="Courier New" pitchFamily="34" charset="-120"/>
              </a:rPr>
              <a:t>==</a:t>
            </a:r>
            <a:pPr indent="0" marL="0">
              <a:buNone/>
            </a:pPr>
            <a:r>
              <a:rPr lang="en-US" sz="1600" dirty="0">
                <a:solidFill>
                  <a:srgbClr val="6B7280"/>
                </a:solidFill>
                <a:latin typeface="Calibri" pitchFamily="34" charset="0"/>
                <a:ea typeface="Calibri" pitchFamily="34" charset="-122"/>
                <a:cs typeface="Calibri" pitchFamily="34" charset="-120"/>
              </a:rPr>
              <a:t> entre décimaux, à cause des arrondis : </a:t>
            </a:r>
            <a:pPr indent="0" marL="0">
              <a:buNone/>
            </a:pPr>
            <a:r>
              <a:rPr lang="en-US" sz="1600" dirty="0">
                <a:solidFill>
                  <a:srgbClr val="1F3A5F"/>
                </a:solidFill>
                <a:latin typeface="Courier New" pitchFamily="34" charset="0"/>
                <a:ea typeface="Courier New" pitchFamily="34" charset="-122"/>
                <a:cs typeface="Courier New" pitchFamily="34" charset="-120"/>
              </a:rPr>
              <a:t>pytest.approx</a:t>
            </a:r>
            <a:pPr indent="0" marL="0">
              <a:buNone/>
            </a:pPr>
            <a:r>
              <a:rPr lang="en-US" sz="1600" dirty="0">
                <a:solidFill>
                  <a:srgbClr val="6B7280"/>
                </a:solidFill>
                <a:latin typeface="Calibri" pitchFamily="34" charset="0"/>
                <a:ea typeface="Calibri" pitchFamily="34" charset="-122"/>
                <a:cs typeface="Calibri" pitchFamily="34" charset="-120"/>
              </a:rPr>
              <a:t> tolère un petit écart.</a:t>
            </a:r>
            <a:endParaRPr lang="en-US" sz="1600" dirty="0"/>
          </a:p>
        </p:txBody>
      </p:sp>
      <p:sp>
        <p:nvSpPr>
          <p:cNvPr id="17" name="Text 1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TESTER ET VÉRIFIER LE CODE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Les tests de recette</a:t>
            </a:r>
            <a:endParaRPr lang="en-US" sz="3000" dirty="0"/>
          </a:p>
        </p:txBody>
      </p:sp>
      <p:sp>
        <p:nvSpPr>
          <p:cNvPr id="6" name="Text 4"/>
          <p:cNvSpPr txBox="1"/>
          <p:nvPr/>
        </p:nvSpPr>
        <p:spPr>
          <a:xfrm>
            <a:off x="548640" y="1417320"/>
            <a:ext cx="4727651" cy="195072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Ils vérifient les résultats attendus sur les </a:t>
            </a:r>
            <a:pPr indent="0" marL="0">
              <a:buNone/>
            </a:pPr>
            <a:r>
              <a:rPr lang="en-US" sz="1700" b="1" dirty="0">
                <a:solidFill>
                  <a:srgbClr val="1F2933"/>
                </a:solidFill>
                <a:latin typeface="Calibri" pitchFamily="34" charset="0"/>
                <a:ea typeface="Calibri" pitchFamily="34" charset="-122"/>
                <a:cs typeface="Calibri" pitchFamily="34" charset="-120"/>
              </a:rPr>
              <a:t>vraies données</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Lignes chargées, total du chiffre d'affaires, lignes produites</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Plus lents, mais ils garantissent les mêmes chiffres que le notebook d'origine</a:t>
            </a:r>
            <a:endParaRPr lang="en-US" sz="1700" dirty="0"/>
          </a:p>
        </p:txBody>
      </p:sp>
      <p:sp>
        <p:nvSpPr>
          <p:cNvPr id="7" name="Text 5"/>
          <p:cNvSpPr txBox="1"/>
          <p:nvPr/>
        </p:nvSpPr>
        <p:spPr>
          <a:xfrm>
            <a:off x="5733491" y="1417320"/>
            <a:ext cx="5909564"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Extrait de tests/test_recette.py</a:t>
            </a:r>
            <a:endParaRPr lang="en-US" sz="1200" dirty="0"/>
          </a:p>
        </p:txBody>
      </p:sp>
      <p:sp>
        <p:nvSpPr>
          <p:cNvPr id="8" name="Shape 6"/>
          <p:cNvSpPr/>
          <p:nvPr/>
        </p:nvSpPr>
        <p:spPr>
          <a:xfrm>
            <a:off x="5733491" y="1709928"/>
            <a:ext cx="5909564" cy="1011936"/>
          </a:xfrm>
          <a:prstGeom prst="rect">
            <a:avLst/>
          </a:prstGeom>
          <a:solidFill>
            <a:srgbClr val="F3F4F6"/>
          </a:solidFill>
          <a:ln/>
        </p:spPr>
      </p:sp>
      <p:sp>
        <p:nvSpPr>
          <p:cNvPr id="9" name="Text 7"/>
          <p:cNvSpPr txBox="1"/>
          <p:nvPr/>
        </p:nvSpPr>
        <p:spPr>
          <a:xfrm>
            <a:off x="5916371" y="1856232"/>
            <a:ext cx="5543804" cy="719328"/>
          </a:xfrm>
          <a:prstGeom prst="rect">
            <a:avLst/>
          </a:prstGeom>
          <a:noFill/>
          <a:ln/>
        </p:spPr>
        <p:txBody>
          <a:bodyPr wrap="square" lIns="0" tIns="0" rIns="0" bIns="0" rtlCol="0" anchor="t"/>
          <a:lstStyle/>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def test_les_9_fichiers_donnent_2182_ventes() -&gt; None:</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ventes = charger_ventes(DONNEES / "brut" / "ventes")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assert ventes.shape == (2182, 8)</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assert ventes["fichier"].nunique() == 9</a:t>
            </a:r>
            <a:endParaRPr lang="en-US" sz="1200" dirty="0"/>
          </a:p>
        </p:txBody>
      </p:sp>
      <p:sp>
        <p:nvSpPr>
          <p:cNvPr id="10" name="Shape 8"/>
          <p:cNvSpPr/>
          <p:nvPr/>
        </p:nvSpPr>
        <p:spPr>
          <a:xfrm>
            <a:off x="548640" y="3688080"/>
            <a:ext cx="11094415" cy="883920"/>
          </a:xfrm>
          <a:prstGeom prst="roundRect">
            <a:avLst>
              <a:gd name="adj" fmla="val 6207"/>
            </a:avLst>
          </a:prstGeom>
          <a:solidFill>
            <a:srgbClr val="E8F3EE"/>
          </a:solidFill>
          <a:ln/>
        </p:spPr>
      </p:sp>
      <p:sp>
        <p:nvSpPr>
          <p:cNvPr id="11" name="Text 9"/>
          <p:cNvSpPr txBox="1"/>
          <p:nvPr/>
        </p:nvSpPr>
        <p:spPr>
          <a:xfrm>
            <a:off x="822960" y="3688080"/>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Le TP5 en fournit un fichier, </a:t>
            </a:r>
            <a:pPr indent="0" marL="0">
              <a:buNone/>
            </a:pPr>
            <a:r>
              <a:rPr lang="en-US" sz="1700" dirty="0">
                <a:solidFill>
                  <a:srgbClr val="2F7D62"/>
                </a:solidFill>
                <a:latin typeface="Courier New" pitchFamily="34" charset="0"/>
                <a:ea typeface="Courier New" pitchFamily="34" charset="-122"/>
                <a:cs typeface="Courier New" pitchFamily="34" charset="-120"/>
              </a:rPr>
              <a:t>tests/test_recette.py</a:t>
            </a:r>
            <a:pPr indent="0" marL="0">
              <a:buNone/>
            </a:pPr>
            <a:r>
              <a:rPr lang="en-US" sz="1700" dirty="0">
                <a:solidFill>
                  <a:srgbClr val="1F3A5F"/>
                </a:solidFill>
                <a:latin typeface="Calibri" pitchFamily="34" charset="0"/>
                <a:ea typeface="Calibri" pitchFamily="34" charset="-122"/>
                <a:cs typeface="Calibri" pitchFamily="34" charset="-120"/>
              </a:rPr>
              <a:t>, à ne pas modifier : ses tests échouent au départ et doivent tous passer à la fin.</a:t>
            </a:r>
            <a:endParaRPr lang="en-US" sz="1700" dirty="0"/>
          </a:p>
        </p:txBody>
      </p:sp>
      <p:sp>
        <p:nvSpPr>
          <p:cNvPr id="12" name="Text 1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TESTER ET VÉRIFIER LE CODE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ruff : lint et formatage</a:t>
            </a:r>
            <a:endParaRPr lang="en-US" sz="3000" dirty="0"/>
          </a:p>
        </p:txBody>
      </p:sp>
      <p:sp>
        <p:nvSpPr>
          <p:cNvPr id="6" name="Shape 4"/>
          <p:cNvSpPr/>
          <p:nvPr/>
        </p:nvSpPr>
        <p:spPr>
          <a:xfrm>
            <a:off x="548640" y="1417320"/>
            <a:ext cx="5318608" cy="1416558"/>
          </a:xfrm>
          <a:prstGeom prst="rect">
            <a:avLst/>
          </a:prstGeom>
          <a:solidFill>
            <a:srgbClr val="F3F4F6"/>
          </a:solidFill>
          <a:ln/>
        </p:spPr>
      </p:sp>
      <p:sp>
        <p:nvSpPr>
          <p:cNvPr id="7" name="Text 5"/>
          <p:cNvSpPr txBox="1"/>
          <p:nvPr/>
        </p:nvSpPr>
        <p:spPr>
          <a:xfrm>
            <a:off x="731520" y="1563624"/>
            <a:ext cx="4952848" cy="112395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add --dev ruff</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run ruff check .        # signale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run ruff check --fix .  # corrige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run ruff format .       # reformate</a:t>
            </a:r>
            <a:endParaRPr lang="en-US" sz="1500" dirty="0"/>
          </a:p>
        </p:txBody>
      </p:sp>
      <p:sp>
        <p:nvSpPr>
          <p:cNvPr id="8" name="Text 6"/>
          <p:cNvSpPr txBox="1"/>
          <p:nvPr/>
        </p:nvSpPr>
        <p:spPr>
          <a:xfrm>
            <a:off x="6324448" y="1417320"/>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Résultat</a:t>
            </a:r>
            <a:endParaRPr lang="en-US" sz="1200" dirty="0"/>
          </a:p>
        </p:txBody>
      </p:sp>
      <p:sp>
        <p:nvSpPr>
          <p:cNvPr id="9" name="Shape 7"/>
          <p:cNvSpPr/>
          <p:nvPr/>
        </p:nvSpPr>
        <p:spPr>
          <a:xfrm>
            <a:off x="6324448" y="1709928"/>
            <a:ext cx="5318608" cy="1266698"/>
          </a:xfrm>
          <a:prstGeom prst="rect">
            <a:avLst/>
          </a:prstGeom>
          <a:solidFill>
            <a:srgbClr val="FFFFFF"/>
          </a:solidFill>
          <a:ln w="12700">
            <a:solidFill>
              <a:srgbClr val="D5DCE3"/>
            </a:solidFill>
            <a:prstDash val="solid"/>
          </a:ln>
        </p:spPr>
      </p:sp>
      <p:sp>
        <p:nvSpPr>
          <p:cNvPr id="10" name="Text 8"/>
          <p:cNvSpPr txBox="1"/>
          <p:nvPr/>
        </p:nvSpPr>
        <p:spPr>
          <a:xfrm>
            <a:off x="6507328" y="1856232"/>
            <a:ext cx="4952848" cy="974090"/>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F401 [*] `os` imported but unused</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--&gt; exemple.py:1:8</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1 | import os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        ^^</a:t>
            </a:r>
            <a:endParaRPr lang="en-US" sz="1300" dirty="0"/>
          </a:p>
        </p:txBody>
      </p:sp>
      <p:sp>
        <p:nvSpPr>
          <p:cNvPr id="11" name="Text 9"/>
          <p:cNvSpPr txBox="1"/>
          <p:nvPr/>
        </p:nvSpPr>
        <p:spPr>
          <a:xfrm>
            <a:off x="6324448" y="3296666"/>
            <a:ext cx="5318608" cy="8229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Imports inutiles, variables non utilisées, comparaisons douteuses, style incohérent : ruff les détecte en une fraction de seconde.</a:t>
            </a:r>
            <a:endParaRPr lang="en-US" sz="1500" dirty="0"/>
          </a:p>
        </p:txBody>
      </p:sp>
      <p:sp>
        <p:nvSpPr>
          <p:cNvPr id="12" name="Text 1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TESTER ET VÉRIFIER LE CODE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TP5, étapes 3 et 4</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Étape 3 : le chargement</a:t>
            </a:r>
            <a:endParaRPr lang="en-US" sz="1700" dirty="0"/>
          </a:p>
        </p:txBody>
      </p:sp>
      <p:sp>
        <p:nvSpPr>
          <p:cNvPr id="7" name="Text 5"/>
          <p:cNvSpPr txBox="1"/>
          <p:nvPr/>
        </p:nvSpPr>
        <p:spPr>
          <a:xfrm>
            <a:off x="548640" y="1828800"/>
            <a:ext cx="5318608" cy="1310640"/>
          </a:xfrm>
          <a:prstGeom prst="rect">
            <a:avLst/>
          </a:prstGeom>
          <a:noFill/>
          <a:ln/>
        </p:spPr>
        <p:txBody>
          <a:bodyPr wrap="square" lIns="0" tIns="0" rIns="0" bIns="0" rtlCol="0" anchor="t"/>
          <a:lstStyle/>
          <a:p>
            <a:pPr marL="254000" indent="-2540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Les quatre fonctions de </a:t>
            </a:r>
            <a:pPr indent="0" marL="0">
              <a:buNone/>
            </a:pPr>
            <a:r>
              <a:rPr lang="en-US" sz="1500" dirty="0">
                <a:solidFill>
                  <a:srgbClr val="1F3A5F"/>
                </a:solidFill>
                <a:latin typeface="Courier New" pitchFamily="34" charset="0"/>
                <a:ea typeface="Courier New" pitchFamily="34" charset="-122"/>
                <a:cs typeface="Courier New" pitchFamily="34" charset="-120"/>
              </a:rPr>
              <a:t>chargement.py</a:t>
            </a:r>
            <a:endParaRPr lang="en-US" sz="1500" dirty="0"/>
          </a:p>
          <a:p>
            <a:pPr marL="254000" indent="-2540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Les exceptions de l'étape 2, un journal avec </a:t>
            </a:r>
            <a:pPr indent="0" marL="0">
              <a:buNone/>
            </a:pPr>
            <a:r>
              <a:rPr lang="en-US" sz="1500" dirty="0">
                <a:solidFill>
                  <a:srgbClr val="1F3A5F"/>
                </a:solidFill>
                <a:latin typeface="Courier New" pitchFamily="34" charset="0"/>
                <a:ea typeface="Courier New" pitchFamily="34" charset="-122"/>
                <a:cs typeface="Courier New" pitchFamily="34" charset="-120"/>
              </a:rPr>
              <a:t>logger.info</a:t>
            </a:r>
            <a:endParaRPr lang="en-US" sz="1500" dirty="0"/>
          </a:p>
          <a:p>
            <a:pPr marL="254000" indent="-2540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Compléter </a:t>
            </a:r>
            <a:pPr indent="0" marL="0">
              <a:buNone/>
            </a:pPr>
            <a:r>
              <a:rPr lang="en-US" sz="1500" dirty="0">
                <a:solidFill>
                  <a:srgbClr val="1F3A5F"/>
                </a:solidFill>
                <a:latin typeface="Courier New" pitchFamily="34" charset="0"/>
                <a:ea typeface="Courier New" pitchFamily="34" charset="-122"/>
                <a:cs typeface="Courier New" pitchFamily="34" charset="-120"/>
              </a:rPr>
              <a:t>tests/test_chargement.py</a:t>
            </a:r>
            <a:endParaRPr lang="en-US" sz="1500" dirty="0"/>
          </a:p>
        </p:txBody>
      </p:sp>
      <p:sp>
        <p:nvSpPr>
          <p:cNvPr id="8" name="Shape 6"/>
          <p:cNvSpPr/>
          <p:nvPr/>
        </p:nvSpPr>
        <p:spPr>
          <a:xfrm>
            <a:off x="548640" y="3459480"/>
            <a:ext cx="5318608" cy="742188"/>
          </a:xfrm>
          <a:prstGeom prst="rect">
            <a:avLst/>
          </a:prstGeom>
          <a:solidFill>
            <a:srgbClr val="F3F4F6"/>
          </a:solidFill>
          <a:ln/>
        </p:spPr>
      </p:sp>
      <p:sp>
        <p:nvSpPr>
          <p:cNvPr id="9" name="Text 7"/>
          <p:cNvSpPr txBox="1"/>
          <p:nvPr/>
        </p:nvSpPr>
        <p:spPr>
          <a:xfrm>
            <a:off x="731520" y="3605784"/>
            <a:ext cx="4952848" cy="44958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run pytest tests/test_chargement.py</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run pytest tests/test_recette.py -k 2182</a:t>
            </a:r>
            <a:endParaRPr lang="en-US" sz="1500" dirty="0"/>
          </a:p>
        </p:txBody>
      </p:sp>
      <p:sp>
        <p:nvSpPr>
          <p:cNvPr id="10" name="Text 8"/>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Étape 4 : les indicateurs</a:t>
            </a:r>
            <a:endParaRPr lang="en-US" sz="1700" dirty="0"/>
          </a:p>
        </p:txBody>
      </p:sp>
      <p:sp>
        <p:nvSpPr>
          <p:cNvPr id="11" name="Text 9"/>
          <p:cNvSpPr txBox="1"/>
          <p:nvPr/>
        </p:nvSpPr>
        <p:spPr>
          <a:xfrm>
            <a:off x="6324448" y="1828800"/>
            <a:ext cx="5318608" cy="1082040"/>
          </a:xfrm>
          <a:prstGeom prst="rect">
            <a:avLst/>
          </a:prstGeom>
          <a:noFill/>
          <a:ln/>
        </p:spPr>
        <p:txBody>
          <a:bodyPr wrap="square" lIns="0" tIns="0" rIns="0" bIns="0" rtlCol="0" anchor="t"/>
          <a:lstStyle/>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enrichir</a:t>
            </a:r>
            <a:pPr indent="0" marL="0">
              <a:buNone/>
            </a:pPr>
            <a:r>
              <a:rPr lang="en-US" sz="1500" dirty="0">
                <a:solidFill>
                  <a:srgbClr val="1F2933"/>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indicateurs_mois_region</a:t>
            </a:r>
            <a:pPr indent="0" marL="0">
              <a:buNone/>
            </a:pPr>
            <a:r>
              <a:rPr lang="en-US" sz="1500" dirty="0">
                <a:solidFill>
                  <a:srgbClr val="1F2933"/>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filtrer_periode</a:t>
            </a:r>
            <a:endParaRPr lang="en-US" sz="1500" dirty="0"/>
          </a:p>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logger.warning</a:t>
            </a:r>
            <a:pPr indent="0" marL="0">
              <a:buNone/>
            </a:pPr>
            <a:r>
              <a:rPr lang="en-US" sz="1500" dirty="0">
                <a:solidFill>
                  <a:srgbClr val="1F2933"/>
                </a:solidFill>
                <a:latin typeface="Calibri" pitchFamily="34" charset="0"/>
                <a:ea typeface="Calibri" pitchFamily="34" charset="-122"/>
                <a:cs typeface="Calibri" pitchFamily="34" charset="-120"/>
              </a:rPr>
              <a:t> pour les produits hors catalogue</a:t>
            </a:r>
            <a:endParaRPr lang="en-US" sz="1500" dirty="0"/>
          </a:p>
          <a:p>
            <a:pPr marL="254000" indent="-2540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Compléter </a:t>
            </a:r>
            <a:pPr indent="0" marL="0">
              <a:buNone/>
            </a:pPr>
            <a:r>
              <a:rPr lang="en-US" sz="1500" dirty="0">
                <a:solidFill>
                  <a:srgbClr val="1F3A5F"/>
                </a:solidFill>
                <a:latin typeface="Courier New" pitchFamily="34" charset="0"/>
                <a:ea typeface="Courier New" pitchFamily="34" charset="-122"/>
                <a:cs typeface="Courier New" pitchFamily="34" charset="-120"/>
              </a:rPr>
              <a:t>tests/test_indicateurs.py</a:t>
            </a:r>
            <a:endParaRPr lang="en-US" sz="1500" dirty="0"/>
          </a:p>
        </p:txBody>
      </p:sp>
      <p:sp>
        <p:nvSpPr>
          <p:cNvPr id="12" name="Shape 10"/>
          <p:cNvSpPr/>
          <p:nvPr/>
        </p:nvSpPr>
        <p:spPr>
          <a:xfrm>
            <a:off x="6324448" y="3230880"/>
            <a:ext cx="5318608" cy="517398"/>
          </a:xfrm>
          <a:prstGeom prst="rect">
            <a:avLst/>
          </a:prstGeom>
          <a:solidFill>
            <a:srgbClr val="F3F4F6"/>
          </a:solidFill>
          <a:ln/>
        </p:spPr>
      </p:sp>
      <p:sp>
        <p:nvSpPr>
          <p:cNvPr id="13" name="Text 11"/>
          <p:cNvSpPr txBox="1"/>
          <p:nvPr/>
        </p:nvSpPr>
        <p:spPr>
          <a:xfrm>
            <a:off x="6507328" y="3377184"/>
            <a:ext cx="4952848" cy="22479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run pytest</a:t>
            </a:r>
            <a:endParaRPr lang="en-US" sz="1500" dirty="0"/>
          </a:p>
        </p:txBody>
      </p:sp>
      <p:sp>
        <p:nvSpPr>
          <p:cNvPr id="14" name="Shape 12"/>
          <p:cNvSpPr/>
          <p:nvPr/>
        </p:nvSpPr>
        <p:spPr>
          <a:xfrm>
            <a:off x="548640" y="4521708"/>
            <a:ext cx="11094415" cy="883920"/>
          </a:xfrm>
          <a:prstGeom prst="roundRect">
            <a:avLst>
              <a:gd name="adj" fmla="val 6207"/>
            </a:avLst>
          </a:prstGeom>
          <a:solidFill>
            <a:srgbClr val="E8F3EE"/>
          </a:solidFill>
          <a:ln/>
        </p:spPr>
      </p:sp>
      <p:sp>
        <p:nvSpPr>
          <p:cNvPr id="15" name="Text 13"/>
          <p:cNvSpPr txBox="1"/>
          <p:nvPr/>
        </p:nvSpPr>
        <p:spPr>
          <a:xfrm>
            <a:off x="822960" y="4521708"/>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Résultat attendu : tous les tests passent, sauf les deux tests de recette qui appellent la commande, pas encore écrite.</a:t>
            </a:r>
            <a:endParaRPr lang="en-US" sz="1700" dirty="0"/>
          </a:p>
        </p:txBody>
      </p:sp>
      <p:sp>
        <p:nvSpPr>
          <p:cNvPr id="16" name="Text 1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07</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Une commande avec argparse</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Paramètres   |   Code de sortie   |   Traitement réutilisable   |   Distribuer</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UNE COMMANDE AVEC ARGPARSE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Déclarer les paramètres</a:t>
            </a:r>
            <a:endParaRPr lang="en-US" sz="3000" dirty="0"/>
          </a:p>
        </p:txBody>
      </p:sp>
      <p:sp>
        <p:nvSpPr>
          <p:cNvPr id="6" name="Shape 4"/>
          <p:cNvSpPr/>
          <p:nvPr/>
        </p:nvSpPr>
        <p:spPr>
          <a:xfrm>
            <a:off x="548640" y="1417320"/>
            <a:ext cx="6382329" cy="3020060"/>
          </a:xfrm>
          <a:prstGeom prst="rect">
            <a:avLst/>
          </a:prstGeom>
          <a:solidFill>
            <a:srgbClr val="F3F4F6"/>
          </a:solidFill>
          <a:ln/>
        </p:spPr>
      </p:sp>
      <p:sp>
        <p:nvSpPr>
          <p:cNvPr id="7" name="Text 5"/>
          <p:cNvSpPr txBox="1"/>
          <p:nvPr/>
        </p:nvSpPr>
        <p:spPr>
          <a:xfrm>
            <a:off x="731520" y="1563624"/>
            <a:ext cx="6016569" cy="2727452"/>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parser = argparse.ArgumentParser(</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prog="ventes",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description="Consolide les ventes mensuelles.",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parser.add_argument("-c", "--config", type=Path,</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default=Path("config.yaml"))</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parser.add_argument("-o", "--sortie", type=Path)</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parser.add_argument("--debut", help="AAAA-MM")</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parser.add_argument("--fin", help="AAAA-MM")</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parser.add_argument("-v", "--verbose",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action="store_true")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args = parser.parse_args()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args.config, args.verbose</a:t>
            </a:r>
            <a:endParaRPr lang="en-US" sz="13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388169" y="1417320"/>
          <a:ext cx="4254886" cy="914400"/>
        </p:xfrm>
        <a:graphic>
          <a:graphicData uri="http://schemas.openxmlformats.org/drawingml/2006/table">
            <a:tbl>
              <a:tblPr/>
              <a:tblGrid>
                <a:gridCol w="2072893"/>
                <a:gridCol w="2181993"/>
              </a:tblGrid>
              <a:tr h="336169">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Option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Rôle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526034">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"dossier"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positionnel, obligatoire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36169">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"--config"</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option, facultative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36169">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type=Path</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conversion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36169">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default=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valeur par défaut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36169">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action="store_true"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interrupteur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36169">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choices=[...]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valeurs permises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9" name="Text 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UNE COMMANDE AVEC ARGPARSE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Déclarer la commande et son code de sortie</a:t>
            </a:r>
            <a:endParaRPr lang="en-US" sz="3000" dirty="0"/>
          </a:p>
        </p:txBody>
      </p:sp>
      <p:sp>
        <p:nvSpPr>
          <p:cNvPr id="6" name="Text 4"/>
          <p:cNvSpPr txBox="1"/>
          <p:nvPr/>
        </p:nvSpPr>
        <p:spPr>
          <a:xfrm>
            <a:off x="548640" y="1417320"/>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pyproject.toml</a:t>
            </a:r>
            <a:endParaRPr lang="en-US" sz="1200" dirty="0"/>
          </a:p>
        </p:txBody>
      </p:sp>
      <p:sp>
        <p:nvSpPr>
          <p:cNvPr id="7" name="Shape 5"/>
          <p:cNvSpPr/>
          <p:nvPr/>
        </p:nvSpPr>
        <p:spPr>
          <a:xfrm>
            <a:off x="548640" y="1709928"/>
            <a:ext cx="5318608" cy="742188"/>
          </a:xfrm>
          <a:prstGeom prst="rect">
            <a:avLst/>
          </a:prstGeom>
          <a:solidFill>
            <a:srgbClr val="F3F4F6"/>
          </a:solidFill>
          <a:ln/>
        </p:spPr>
      </p:sp>
      <p:sp>
        <p:nvSpPr>
          <p:cNvPr id="8" name="Text 6"/>
          <p:cNvSpPr txBox="1"/>
          <p:nvPr/>
        </p:nvSpPr>
        <p:spPr>
          <a:xfrm>
            <a:off x="731520" y="1856232"/>
            <a:ext cx="4952848" cy="44958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[project.scripts]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ventes = "ventes.cli:main"</a:t>
            </a:r>
            <a:endParaRPr lang="en-US" sz="1500" dirty="0"/>
          </a:p>
        </p:txBody>
      </p:sp>
      <p:sp>
        <p:nvSpPr>
          <p:cNvPr id="9" name="Text 7"/>
          <p:cNvSpPr txBox="1"/>
          <p:nvPr/>
        </p:nvSpPr>
        <p:spPr>
          <a:xfrm>
            <a:off x="548640" y="2772156"/>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Terminal</a:t>
            </a:r>
            <a:endParaRPr lang="en-US" sz="1200" dirty="0"/>
          </a:p>
        </p:txBody>
      </p:sp>
      <p:sp>
        <p:nvSpPr>
          <p:cNvPr id="10" name="Shape 8"/>
          <p:cNvSpPr/>
          <p:nvPr/>
        </p:nvSpPr>
        <p:spPr>
          <a:xfrm>
            <a:off x="548640" y="3064764"/>
            <a:ext cx="5318608" cy="742188"/>
          </a:xfrm>
          <a:prstGeom prst="rect">
            <a:avLst/>
          </a:prstGeom>
          <a:solidFill>
            <a:srgbClr val="F3F4F6"/>
          </a:solidFill>
          <a:ln/>
        </p:spPr>
      </p:sp>
      <p:sp>
        <p:nvSpPr>
          <p:cNvPr id="11" name="Text 9"/>
          <p:cNvSpPr txBox="1"/>
          <p:nvPr/>
        </p:nvSpPr>
        <p:spPr>
          <a:xfrm>
            <a:off x="731520" y="3211068"/>
            <a:ext cx="4952848" cy="44958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run ventes --help</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run ventes --debut 2025-07 --fin 2025-08</a:t>
            </a:r>
            <a:endParaRPr lang="en-US" sz="1500" dirty="0"/>
          </a:p>
        </p:txBody>
      </p:sp>
      <p:sp>
        <p:nvSpPr>
          <p:cNvPr id="12" name="Shape 10"/>
          <p:cNvSpPr/>
          <p:nvPr/>
        </p:nvSpPr>
        <p:spPr>
          <a:xfrm>
            <a:off x="6324448" y="1417320"/>
            <a:ext cx="5318608" cy="2045970"/>
          </a:xfrm>
          <a:prstGeom prst="rect">
            <a:avLst/>
          </a:prstGeom>
          <a:solidFill>
            <a:srgbClr val="F3F4F6"/>
          </a:solidFill>
          <a:ln/>
        </p:spPr>
      </p:sp>
      <p:sp>
        <p:nvSpPr>
          <p:cNvPr id="13" name="Text 11"/>
          <p:cNvSpPr txBox="1"/>
          <p:nvPr/>
        </p:nvSpPr>
        <p:spPr>
          <a:xfrm>
            <a:off x="6507328" y="1563624"/>
            <a:ext cx="4952848" cy="1753362"/>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def main(argv: list[str] | None = None) -&gt; int:</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args = creer_parser().parse_args(argv)</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configurer_console(args.verbose)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try:</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executer(args)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except VentesError as erreur:</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logger.error("%s", erreur)</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return 1</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return 0</a:t>
            </a:r>
            <a:endParaRPr lang="en-US" sz="1300" dirty="0"/>
          </a:p>
        </p:txBody>
      </p:sp>
      <p:sp>
        <p:nvSpPr>
          <p:cNvPr id="14" name="Text 12"/>
          <p:cNvSpPr txBox="1"/>
          <p:nvPr/>
        </p:nvSpPr>
        <p:spPr>
          <a:xfrm>
            <a:off x="6324448" y="3783330"/>
            <a:ext cx="5318608" cy="5943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0 : succès. 1 : échec. C'est ce code que lisent les tâches planifiées et les pipelines.</a:t>
            </a:r>
            <a:endParaRPr lang="en-US" sz="1500" dirty="0"/>
          </a:p>
        </p:txBody>
      </p:sp>
      <p:sp>
        <p:nvSpPr>
          <p:cNvPr id="15" name="Text 1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UNE COMMANDE AVEC ARGPARSE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Une commande mince, un traitement réutilisable</a:t>
            </a:r>
            <a:endParaRPr lang="en-US" sz="3000" dirty="0"/>
          </a:p>
        </p:txBody>
      </p:sp>
      <p:sp>
        <p:nvSpPr>
          <p:cNvPr id="6" name="Text 4"/>
          <p:cNvSpPr txBox="1"/>
          <p:nvPr/>
        </p:nvSpPr>
        <p:spPr>
          <a:xfrm>
            <a:off x="548640" y="1417320"/>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src/ventes/traitement.py</a:t>
            </a:r>
            <a:endParaRPr lang="en-US" sz="1200" dirty="0"/>
          </a:p>
        </p:txBody>
      </p:sp>
      <p:sp>
        <p:nvSpPr>
          <p:cNvPr id="7" name="Shape 5"/>
          <p:cNvSpPr/>
          <p:nvPr/>
        </p:nvSpPr>
        <p:spPr>
          <a:xfrm>
            <a:off x="548640" y="1709928"/>
            <a:ext cx="5318608" cy="2810256"/>
          </a:xfrm>
          <a:prstGeom prst="rect">
            <a:avLst/>
          </a:prstGeom>
          <a:solidFill>
            <a:srgbClr val="F3F4F6"/>
          </a:solidFill>
          <a:ln/>
        </p:spPr>
      </p:sp>
      <p:sp>
        <p:nvSpPr>
          <p:cNvPr id="8" name="Text 6"/>
          <p:cNvSpPr txBox="1"/>
          <p:nvPr/>
        </p:nvSpPr>
        <p:spPr>
          <a:xfrm>
            <a:off x="731520" y="1856232"/>
            <a:ext cx="4952848" cy="2517648"/>
          </a:xfrm>
          <a:prstGeom prst="rect">
            <a:avLst/>
          </a:prstGeom>
          <a:noFill/>
          <a:ln/>
        </p:spPr>
        <p:txBody>
          <a:bodyPr wrap="square" lIns="0" tIns="0" rIns="0" bIns="0" rtlCol="0" anchor="t"/>
          <a:lstStyle/>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def consolider(dossier_ventes: Path,</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fichier_produits: Path,</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fichier_regions: Path,</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debut: str | None = None,</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fin: str | None = None,</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 -&gt; pd.DataFrame:</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ventes = charger_ventes(dossier_ventes)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produits = charger_reference(fichier_produits,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"id_produit")</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regions = charger_reference(fichier_regions,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"code_region")</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df = enrichir(ventes, produits, regions)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df = filtrer_periode(df, debut, fin)</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return indicateurs_mois_region(df)</a:t>
            </a:r>
            <a:endParaRPr lang="en-US" sz="1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324448" y="1417320"/>
          <a:ext cx="5318608" cy="914400"/>
        </p:xfrm>
        <a:graphic>
          <a:graphicData uri="http://schemas.openxmlformats.org/drawingml/2006/table">
            <a:tbl>
              <a:tblPr/>
              <a:tblGrid>
                <a:gridCol w="1697428"/>
                <a:gridCol w="3621180"/>
              </a:tblGrid>
              <a:tr h="336169">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Module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Son rôle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526034">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traitement.py</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le calcul : renvoie un DataFrame, lève des </a:t>
                      </a:r>
                      <a:pPr indent="0" marL="0">
                        <a:buNone/>
                      </a:pPr>
                      <a:r>
                        <a:rPr lang="en-US" sz="1300" dirty="0">
                          <a:solidFill>
                            <a:srgbClr val="1F3A5F"/>
                          </a:solidFill>
                          <a:latin typeface="Courier New" pitchFamily="34" charset="0"/>
                          <a:ea typeface="Courier New" pitchFamily="34" charset="-122"/>
                          <a:cs typeface="Courier New" pitchFamily="34" charset="-120"/>
                        </a:rPr>
                        <a:t>VentesError</a:t>
                      </a:r>
                      <a:pPr indent="0" marL="0">
                        <a:buNone/>
                      </a:pPr>
                      <a:r>
                        <a:rPr lang="en-US" sz="1300" dirty="0">
                          <a:solidFill>
                            <a:srgbClr val="1F2933"/>
                          </a:solidFill>
                          <a:latin typeface="Calibri" pitchFamily="34" charset="0"/>
                          <a:ea typeface="Calibri" pitchFamily="34" charset="-122"/>
                          <a:cs typeface="Calibri" pitchFamily="34" charset="-120"/>
                        </a:rPr>
                        <a:t>, n'écrit rien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26034">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cli.py</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les arguments, les journaux, le fichier Parquet, le code de sortie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10" name="Text 7"/>
          <p:cNvSpPr txBox="1"/>
          <p:nvPr/>
        </p:nvSpPr>
        <p:spPr>
          <a:xfrm>
            <a:off x="6324448" y="3125597"/>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Réutiliser sans la ligne de commande</a:t>
            </a:r>
            <a:endParaRPr lang="en-US" sz="1700" dirty="0"/>
          </a:p>
        </p:txBody>
      </p:sp>
      <p:sp>
        <p:nvSpPr>
          <p:cNvPr id="11" name="Shape 8"/>
          <p:cNvSpPr/>
          <p:nvPr/>
        </p:nvSpPr>
        <p:spPr>
          <a:xfrm>
            <a:off x="6324448" y="3537077"/>
            <a:ext cx="5318608" cy="966978"/>
          </a:xfrm>
          <a:prstGeom prst="rect">
            <a:avLst/>
          </a:prstGeom>
          <a:solidFill>
            <a:srgbClr val="F3F4F6"/>
          </a:solidFill>
          <a:ln/>
        </p:spPr>
      </p:sp>
      <p:sp>
        <p:nvSpPr>
          <p:cNvPr id="12" name="Text 9"/>
          <p:cNvSpPr txBox="1"/>
          <p:nvPr/>
        </p:nvSpPr>
        <p:spPr>
          <a:xfrm>
            <a:off x="6507328" y="3683381"/>
            <a:ext cx="4952848" cy="67437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from ventes import consolider</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indicateurs = consolider(...)</a:t>
            </a:r>
            <a:endParaRPr lang="en-US" sz="1500" dirty="0"/>
          </a:p>
        </p:txBody>
      </p:sp>
      <p:sp>
        <p:nvSpPr>
          <p:cNvPr id="13" name="Text 10"/>
          <p:cNvSpPr txBox="1"/>
          <p:nvPr/>
        </p:nvSpPr>
        <p:spPr>
          <a:xfrm>
            <a:off x="6324448" y="4824095"/>
            <a:ext cx="5318608" cy="77724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On n'importe pas </a:t>
            </a:r>
            <a:pPr indent="0" marL="0">
              <a:buNone/>
            </a:pPr>
            <a:r>
              <a:rPr lang="en-US" sz="1400" dirty="0">
                <a:solidFill>
                  <a:srgbClr val="1F3A5F"/>
                </a:solidFill>
                <a:latin typeface="Courier New" pitchFamily="34" charset="0"/>
                <a:ea typeface="Courier New" pitchFamily="34" charset="-122"/>
                <a:cs typeface="Courier New" pitchFamily="34" charset="-120"/>
              </a:rPr>
              <a:t>ventes.cli</a:t>
            </a:r>
            <a:pPr indent="0" marL="0">
              <a:buNone/>
            </a:pPr>
            <a:r>
              <a:rPr lang="en-US" sz="1400" dirty="0">
                <a:solidFill>
                  <a:srgbClr val="6B7280"/>
                </a:solidFill>
                <a:latin typeface="Calibri" pitchFamily="34" charset="0"/>
                <a:ea typeface="Calibri" pitchFamily="34" charset="-122"/>
                <a:cs typeface="Calibri" pitchFamily="34" charset="-120"/>
              </a:rPr>
              <a:t> pour relancer le traitement : </a:t>
            </a:r>
            <a:pPr indent="0" marL="0">
              <a:buNone/>
            </a:pPr>
            <a:r>
              <a:rPr lang="en-US" sz="1400" dirty="0">
                <a:solidFill>
                  <a:srgbClr val="1F3A5F"/>
                </a:solidFill>
                <a:latin typeface="Courier New" pitchFamily="34" charset="0"/>
                <a:ea typeface="Courier New" pitchFamily="34" charset="-122"/>
                <a:cs typeface="Courier New" pitchFamily="34" charset="-120"/>
              </a:rPr>
              <a:t>main</a:t>
            </a:r>
            <a:pPr indent="0" marL="0">
              <a:buNone/>
            </a:pPr>
            <a:r>
              <a:rPr lang="en-US" sz="1400" dirty="0">
                <a:solidFill>
                  <a:srgbClr val="6B7280"/>
                </a:solidFill>
                <a:latin typeface="Calibri" pitchFamily="34" charset="0"/>
                <a:ea typeface="Calibri" pitchFamily="34" charset="-122"/>
                <a:cs typeface="Calibri" pitchFamily="34" charset="-120"/>
              </a:rPr>
              <a:t> attend des arguments texte et renvoie 0 ou 1, pas des données.</a:t>
            </a:r>
            <a:endParaRPr lang="en-US" sz="1400" dirty="0"/>
          </a:p>
        </p:txBody>
      </p:sp>
      <p:sp>
        <p:nvSpPr>
          <p:cNvPr id="14" name="Text 1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UNE COMMANDE AVEC ARGPARSE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Distribuer la commande</a:t>
            </a:r>
            <a:endParaRPr lang="en-US" sz="3000" dirty="0"/>
          </a:p>
        </p:txBody>
      </p:sp>
      <p:sp>
        <p:nvSpPr>
          <p:cNvPr id="6" name="Text 4"/>
          <p:cNvSpPr txBox="1"/>
          <p:nvPr/>
        </p:nvSpPr>
        <p:spPr>
          <a:xfrm>
            <a:off x="548640" y="1417320"/>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Terminal</a:t>
            </a:r>
            <a:endParaRPr lang="en-US" sz="1200" dirty="0"/>
          </a:p>
        </p:txBody>
      </p:sp>
      <p:sp>
        <p:nvSpPr>
          <p:cNvPr id="7" name="Shape 5"/>
          <p:cNvSpPr/>
          <p:nvPr/>
        </p:nvSpPr>
        <p:spPr>
          <a:xfrm>
            <a:off x="548640" y="1709928"/>
            <a:ext cx="5318608" cy="517398"/>
          </a:xfrm>
          <a:prstGeom prst="rect">
            <a:avLst/>
          </a:prstGeom>
          <a:solidFill>
            <a:srgbClr val="F3F4F6"/>
          </a:solidFill>
          <a:ln/>
        </p:spPr>
      </p:sp>
      <p:sp>
        <p:nvSpPr>
          <p:cNvPr id="8" name="Text 6"/>
          <p:cNvSpPr txBox="1"/>
          <p:nvPr/>
        </p:nvSpPr>
        <p:spPr>
          <a:xfrm>
            <a:off x="731520" y="1856232"/>
            <a:ext cx="4952848" cy="22479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build</a:t>
            </a:r>
            <a:endParaRPr lang="en-US" sz="1500" dirty="0"/>
          </a:p>
        </p:txBody>
      </p:sp>
      <p:sp>
        <p:nvSpPr>
          <p:cNvPr id="9" name="Text 7"/>
          <p:cNvSpPr txBox="1"/>
          <p:nvPr/>
        </p:nvSpPr>
        <p:spPr>
          <a:xfrm>
            <a:off x="548640" y="2547366"/>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Résultat</a:t>
            </a:r>
            <a:endParaRPr lang="en-US" sz="1200" dirty="0"/>
          </a:p>
        </p:txBody>
      </p:sp>
      <p:sp>
        <p:nvSpPr>
          <p:cNvPr id="10" name="Shape 8"/>
          <p:cNvSpPr/>
          <p:nvPr/>
        </p:nvSpPr>
        <p:spPr>
          <a:xfrm>
            <a:off x="548640" y="2839974"/>
            <a:ext cx="5318608" cy="652272"/>
          </a:xfrm>
          <a:prstGeom prst="rect">
            <a:avLst/>
          </a:prstGeom>
          <a:solidFill>
            <a:srgbClr val="FFFFFF"/>
          </a:solidFill>
          <a:ln w="12700">
            <a:solidFill>
              <a:srgbClr val="D5DCE3"/>
            </a:solidFill>
            <a:prstDash val="solid"/>
          </a:ln>
        </p:spPr>
      </p:sp>
      <p:sp>
        <p:nvSpPr>
          <p:cNvPr id="11" name="Text 9"/>
          <p:cNvSpPr txBox="1"/>
          <p:nvPr/>
        </p:nvSpPr>
        <p:spPr>
          <a:xfrm>
            <a:off x="731520" y="2986278"/>
            <a:ext cx="4952848" cy="359664"/>
          </a:xfrm>
          <a:prstGeom prst="rect">
            <a:avLst/>
          </a:prstGeom>
          <a:noFill/>
          <a:ln/>
        </p:spPr>
        <p:txBody>
          <a:bodyPr wrap="square" lIns="0" tIns="0" rIns="0" bIns="0" rtlCol="0" anchor="t"/>
          <a:lstStyle/>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Successfully built dist/ventes-0.1.0.tar.gz</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Successfully built dist/ventes-0.1.0-py3-none-any.whl</a:t>
            </a:r>
            <a:endParaRPr lang="en-US" sz="1200" dirty="0"/>
          </a:p>
        </p:txBody>
      </p:sp>
      <p:sp>
        <p:nvSpPr>
          <p:cNvPr id="12" name="Text 10"/>
          <p:cNvSpPr txBox="1"/>
          <p:nvPr/>
        </p:nvSpPr>
        <p:spPr>
          <a:xfrm>
            <a:off x="548640" y="3812286"/>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Installer la commande chez un collègue</a:t>
            </a:r>
            <a:endParaRPr lang="en-US" sz="1700" dirty="0"/>
          </a:p>
        </p:txBody>
      </p:sp>
      <p:sp>
        <p:nvSpPr>
          <p:cNvPr id="13" name="Shape 11"/>
          <p:cNvSpPr/>
          <p:nvPr/>
        </p:nvSpPr>
        <p:spPr>
          <a:xfrm>
            <a:off x="548640" y="4223766"/>
            <a:ext cx="5318608" cy="832104"/>
          </a:xfrm>
          <a:prstGeom prst="rect">
            <a:avLst/>
          </a:prstGeom>
          <a:solidFill>
            <a:srgbClr val="F3F4F6"/>
          </a:solidFill>
          <a:ln/>
        </p:spPr>
      </p:sp>
      <p:sp>
        <p:nvSpPr>
          <p:cNvPr id="14" name="Text 12"/>
          <p:cNvSpPr txBox="1"/>
          <p:nvPr/>
        </p:nvSpPr>
        <p:spPr>
          <a:xfrm>
            <a:off x="731520" y="4370070"/>
            <a:ext cx="4952848" cy="539496"/>
          </a:xfrm>
          <a:prstGeom prst="rect">
            <a:avLst/>
          </a:prstGeom>
          <a:noFill/>
          <a:ln/>
        </p:spPr>
        <p:txBody>
          <a:bodyPr wrap="square" lIns="0" tIns="0" rIns="0" bIns="0" rtlCol="0" anchor="t"/>
          <a:lstStyle/>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uv tool install dist/ventes-0.1.0-py3-none-any.whl</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uv tool install git+https://github.com/equipe/ventes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ventes --help</a:t>
            </a:r>
            <a:endParaRPr lang="en-US" sz="1200" dirty="0"/>
          </a:p>
        </p:txBody>
      </p:sp>
      <p:sp>
        <p:nvSpPr>
          <p:cNvPr id="15" name="Text 13"/>
          <p:cNvSpPr txBox="1"/>
          <p:nvPr/>
        </p:nvSpPr>
        <p:spPr>
          <a:xfrm>
            <a:off x="6324448" y="1417320"/>
            <a:ext cx="5318608" cy="2098040"/>
          </a:xfrm>
          <a:prstGeom prst="rect">
            <a:avLst/>
          </a:prstGeom>
          <a:noFill/>
          <a:ln/>
        </p:spPr>
        <p:txBody>
          <a:bodyPr wrap="square" lIns="0" tIns="0" rIns="0" bIns="0" rtlCol="0" anchor="t"/>
          <a:lstStyle/>
          <a:p>
            <a:pPr marL="254000" indent="-2540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Le </a:t>
            </a:r>
            <a:pPr indent="0" marL="0">
              <a:buNone/>
            </a:pPr>
            <a:r>
              <a:rPr lang="en-US" sz="1500" dirty="0">
                <a:solidFill>
                  <a:srgbClr val="1F3A5F"/>
                </a:solidFill>
                <a:latin typeface="Courier New" pitchFamily="34" charset="0"/>
                <a:ea typeface="Courier New" pitchFamily="34" charset="-122"/>
                <a:cs typeface="Courier New" pitchFamily="34" charset="-120"/>
              </a:rPr>
              <a:t>.tar.gz</a:t>
            </a:r>
            <a:pPr indent="0" marL="0">
              <a:buNone/>
            </a:pPr>
            <a:r>
              <a:rPr lang="en-US" sz="1500" dirty="0">
                <a:solidFill>
                  <a:srgbClr val="1F2933"/>
                </a:solidFill>
                <a:latin typeface="Calibri" pitchFamily="34" charset="0"/>
                <a:ea typeface="Calibri" pitchFamily="34" charset="-122"/>
                <a:cs typeface="Calibri" pitchFamily="34" charset="-120"/>
              </a:rPr>
              <a:t> contient les sources, la </a:t>
            </a:r>
            <a:pPr indent="0" marL="0">
              <a:buNone/>
            </a:pPr>
            <a:r>
              <a:rPr lang="en-US" sz="1500" b="1" dirty="0">
                <a:solidFill>
                  <a:srgbClr val="1F2933"/>
                </a:solidFill>
                <a:latin typeface="Calibri" pitchFamily="34" charset="0"/>
                <a:ea typeface="Calibri" pitchFamily="34" charset="-122"/>
                <a:cs typeface="Calibri" pitchFamily="34" charset="-120"/>
              </a:rPr>
              <a:t>wheel</a:t>
            </a:r>
            <a:pPr indent="0" marL="0">
              <a:buNone/>
            </a:pPr>
            <a:r>
              <a:rPr lang="en-US" sz="1500" dirty="0">
                <a:solidFill>
                  <a:srgbClr val="1F2933"/>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.whl</a:t>
            </a:r>
            <a:pPr indent="0" marL="0">
              <a:buNone/>
            </a:pPr>
            <a:r>
              <a:rPr lang="en-US" sz="1500" dirty="0">
                <a:solidFill>
                  <a:srgbClr val="1F2933"/>
                </a:solidFill>
                <a:latin typeface="Calibri" pitchFamily="34" charset="0"/>
                <a:ea typeface="Calibri" pitchFamily="34" charset="-122"/>
                <a:cs typeface="Calibri" pitchFamily="34" charset="-120"/>
              </a:rPr>
              <a:t> est le paquet prêt à installer</a:t>
            </a:r>
            <a:endParaRPr lang="en-US" sz="1500" dirty="0"/>
          </a:p>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py3-none-any</a:t>
            </a:r>
            <a:pPr indent="0" marL="0">
              <a:buNone/>
            </a:pPr>
            <a:r>
              <a:rPr lang="en-US" sz="1500" dirty="0">
                <a:solidFill>
                  <a:srgbClr val="1F2933"/>
                </a:solidFill>
                <a:latin typeface="Calibri" pitchFamily="34" charset="0"/>
                <a:ea typeface="Calibri" pitchFamily="34" charset="-122"/>
                <a:cs typeface="Calibri" pitchFamily="34" charset="-120"/>
              </a:rPr>
              <a:t> : du code Python en clair, pour tout Python 3 et tout système. </a:t>
            </a:r>
            <a:pPr indent="0" marL="0">
              <a:buNone/>
            </a:pPr>
            <a:r>
              <a:rPr lang="en-US" sz="1500" b="1" dirty="0">
                <a:solidFill>
                  <a:srgbClr val="1F2933"/>
                </a:solidFill>
                <a:latin typeface="Calibri" pitchFamily="34" charset="0"/>
                <a:ea typeface="Calibri" pitchFamily="34" charset="-122"/>
                <a:cs typeface="Calibri" pitchFamily="34" charset="-120"/>
              </a:rPr>
              <a:t>Rien n'est compilé</a:t>
            </a:r>
            <a:endParaRPr lang="en-US" sz="1500" dirty="0"/>
          </a:p>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uv tool install</a:t>
            </a:r>
            <a:pPr indent="0" marL="0">
              <a:buNone/>
            </a:pPr>
            <a:r>
              <a:rPr lang="en-US" sz="1500" dirty="0">
                <a:solidFill>
                  <a:srgbClr val="1F2933"/>
                </a:solidFill>
                <a:latin typeface="Calibri" pitchFamily="34" charset="0"/>
                <a:ea typeface="Calibri" pitchFamily="34" charset="-122"/>
                <a:cs typeface="Calibri" pitchFamily="34" charset="-120"/>
              </a:rPr>
              <a:t> crée un environnement isolé et met la commande </a:t>
            </a:r>
            <a:pPr indent="0" marL="0">
              <a:buNone/>
            </a:pPr>
            <a:r>
              <a:rPr lang="en-US" sz="1500" dirty="0">
                <a:solidFill>
                  <a:srgbClr val="1F3A5F"/>
                </a:solidFill>
                <a:latin typeface="Courier New" pitchFamily="34" charset="0"/>
                <a:ea typeface="Courier New" pitchFamily="34" charset="-122"/>
                <a:cs typeface="Courier New" pitchFamily="34" charset="-120"/>
              </a:rPr>
              <a:t>ventes</a:t>
            </a:r>
            <a:pPr indent="0" marL="0">
              <a:buNone/>
            </a:pPr>
            <a:r>
              <a:rPr lang="en-US" sz="1500" dirty="0">
                <a:solidFill>
                  <a:srgbClr val="1F2933"/>
                </a:solidFill>
                <a:latin typeface="Calibri" pitchFamily="34" charset="0"/>
                <a:ea typeface="Calibri" pitchFamily="34" charset="-122"/>
                <a:cs typeface="Calibri" pitchFamily="34" charset="-120"/>
              </a:rPr>
              <a:t> dans le </a:t>
            </a:r>
            <a:pPr indent="0" marL="0">
              <a:buNone/>
            </a:pPr>
            <a:r>
              <a:rPr lang="en-US" sz="1500" dirty="0">
                <a:solidFill>
                  <a:srgbClr val="1F3A5F"/>
                </a:solidFill>
                <a:latin typeface="Courier New" pitchFamily="34" charset="0"/>
                <a:ea typeface="Courier New" pitchFamily="34" charset="-122"/>
                <a:cs typeface="Courier New" pitchFamily="34" charset="-120"/>
              </a:rPr>
              <a:t>PATH</a:t>
            </a:r>
            <a:endParaRPr lang="en-US" sz="1500" dirty="0"/>
          </a:p>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uvx --from ... ventes</a:t>
            </a:r>
            <a:pPr indent="0" marL="0">
              <a:buNone/>
            </a:pPr>
            <a:r>
              <a:rPr lang="en-US" sz="1500" dirty="0">
                <a:solidFill>
                  <a:srgbClr val="1F2933"/>
                </a:solidFill>
                <a:latin typeface="Calibri" pitchFamily="34" charset="0"/>
                <a:ea typeface="Calibri" pitchFamily="34" charset="-122"/>
                <a:cs typeface="Calibri" pitchFamily="34" charset="-120"/>
              </a:rPr>
              <a:t> la lance sans l'installer</a:t>
            </a:r>
            <a:endParaRPr lang="en-US" sz="1500" dirty="0"/>
          </a:p>
        </p:txBody>
      </p:sp>
      <p:sp>
        <p:nvSpPr>
          <p:cNvPr id="16" name="Shape 14"/>
          <p:cNvSpPr/>
          <p:nvPr/>
        </p:nvSpPr>
        <p:spPr>
          <a:xfrm>
            <a:off x="6324448" y="3835400"/>
            <a:ext cx="5318608" cy="1005840"/>
          </a:xfrm>
          <a:prstGeom prst="roundRect">
            <a:avLst>
              <a:gd name="adj" fmla="val 5455"/>
            </a:avLst>
          </a:prstGeom>
          <a:solidFill>
            <a:srgbClr val="E8F3EE"/>
          </a:solidFill>
          <a:ln/>
        </p:spPr>
      </p:sp>
      <p:sp>
        <p:nvSpPr>
          <p:cNvPr id="17" name="Text 15"/>
          <p:cNvSpPr txBox="1"/>
          <p:nvPr/>
        </p:nvSpPr>
        <p:spPr>
          <a:xfrm>
            <a:off x="6598768" y="3835400"/>
            <a:ext cx="4769968" cy="1005840"/>
          </a:xfrm>
          <a:prstGeom prst="rect">
            <a:avLst/>
          </a:prstGeom>
          <a:noFill/>
          <a:ln/>
        </p:spPr>
        <p:txBody>
          <a:bodyPr wrap="square" lIns="0" tIns="0" rIns="0" bIns="0" rtlCol="0" anchor="ctr"/>
          <a:lstStyle/>
          <a:p>
            <a:pPr indent="0" marL="0">
              <a:buNone/>
            </a:pPr>
            <a:r>
              <a:rPr lang="en-US" sz="1400" dirty="0">
                <a:solidFill>
                  <a:srgbClr val="1F3A5F"/>
                </a:solidFill>
                <a:latin typeface="Calibri" pitchFamily="34" charset="0"/>
                <a:ea typeface="Calibri" pitchFamily="34" charset="-122"/>
                <a:cs typeface="Calibri" pitchFamily="34" charset="-120"/>
              </a:rPr>
              <a:t>uv doit être présent sur la machine. Pour un exécutable autonome, sans Python ni uv : PyInstaller, dans le TP bonus B.</a:t>
            </a:r>
            <a:endParaRPr lang="en-US" sz="1400" dirty="0"/>
          </a:p>
        </p:txBody>
      </p:sp>
      <p:sp>
        <p:nvSpPr>
          <p:cNvPr id="18" name="Text 1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08</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Journaliser avec logging</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Niveaux   |   Dans les modules   |   Dans le point d'entrée</a:t>
            </a:r>
            <a:endParaRPr 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JOURNALISER AVEC LOGGING</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Pourquoi pas print</a:t>
            </a:r>
            <a:endParaRPr lang="en-US" sz="3000" dirty="0"/>
          </a:p>
        </p:txBody>
      </p:sp>
      <p:sp>
        <p:nvSpPr>
          <p:cNvPr id="6" name="Text 4"/>
          <p:cNvSpPr txBox="1"/>
          <p:nvPr/>
        </p:nvSpPr>
        <p:spPr>
          <a:xfrm>
            <a:off x="548640" y="1417320"/>
            <a:ext cx="5318608" cy="143256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Un </a:t>
            </a:r>
            <a:pPr indent="0" marL="0">
              <a:buNone/>
            </a:pPr>
            <a:r>
              <a:rPr lang="en-US" sz="1700" b="1" dirty="0">
                <a:solidFill>
                  <a:srgbClr val="1F2933"/>
                </a:solidFill>
                <a:latin typeface="Calibri" pitchFamily="34" charset="0"/>
                <a:ea typeface="Calibri" pitchFamily="34" charset="-122"/>
                <a:cs typeface="Calibri" pitchFamily="34" charset="-120"/>
              </a:rPr>
              <a:t>niveau</a:t>
            </a:r>
            <a:pPr indent="0" marL="0">
              <a:buNone/>
            </a:pPr>
            <a:r>
              <a:rPr lang="en-US" sz="1700" dirty="0">
                <a:solidFill>
                  <a:srgbClr val="1F2933"/>
                </a:solidFill>
                <a:latin typeface="Calibri" pitchFamily="34" charset="0"/>
                <a:ea typeface="Calibri" pitchFamily="34" charset="-122"/>
                <a:cs typeface="Calibri" pitchFamily="34" charset="-120"/>
              </a:rPr>
              <a:t> de gravité, pour filtrer</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a:t>
            </a:r>
            <a:pPr indent="0" marL="0">
              <a:buNone/>
            </a:pPr>
            <a:r>
              <a:rPr lang="en-US" sz="1700" b="1" dirty="0">
                <a:solidFill>
                  <a:srgbClr val="1F2933"/>
                </a:solidFill>
                <a:latin typeface="Calibri" pitchFamily="34" charset="0"/>
                <a:ea typeface="Calibri" pitchFamily="34" charset="-122"/>
                <a:cs typeface="Calibri" pitchFamily="34" charset="-120"/>
              </a:rPr>
              <a:t>heure</a:t>
            </a:r>
            <a:pPr indent="0" marL="0">
              <a:buNone/>
            </a:pPr>
            <a:r>
              <a:rPr lang="en-US" sz="1700" dirty="0">
                <a:solidFill>
                  <a:srgbClr val="1F2933"/>
                </a:solidFill>
                <a:latin typeface="Calibri" pitchFamily="34" charset="0"/>
                <a:ea typeface="Calibri" pitchFamily="34" charset="-122"/>
                <a:cs typeface="Calibri" pitchFamily="34" charset="-120"/>
              </a:rPr>
              <a:t> et l'</a:t>
            </a:r>
            <a:pPr indent="0" marL="0">
              <a:buNone/>
            </a:pPr>
            <a:r>
              <a:rPr lang="en-US" sz="1700" b="1" dirty="0">
                <a:solidFill>
                  <a:srgbClr val="1F2933"/>
                </a:solidFill>
                <a:latin typeface="Calibri" pitchFamily="34" charset="0"/>
                <a:ea typeface="Calibri" pitchFamily="34" charset="-122"/>
                <a:cs typeface="Calibri" pitchFamily="34" charset="-120"/>
              </a:rPr>
              <a:t>origine</a:t>
            </a:r>
            <a:pPr indent="0" marL="0">
              <a:buNone/>
            </a:pPr>
            <a:r>
              <a:rPr lang="en-US" sz="1700" dirty="0">
                <a:solidFill>
                  <a:srgbClr val="1F2933"/>
                </a:solidFill>
                <a:latin typeface="Calibri" pitchFamily="34" charset="0"/>
                <a:ea typeface="Calibri" pitchFamily="34" charset="-122"/>
                <a:cs typeface="Calibri" pitchFamily="34" charset="-120"/>
              </a:rPr>
              <a:t> de chaque message</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La console </a:t>
            </a:r>
            <a:pPr indent="0" marL="0">
              <a:buNone/>
            </a:pPr>
            <a:r>
              <a:rPr lang="en-US" sz="1700" b="1" dirty="0">
                <a:solidFill>
                  <a:srgbClr val="1F2933"/>
                </a:solidFill>
                <a:latin typeface="Calibri" pitchFamily="34" charset="0"/>
                <a:ea typeface="Calibri" pitchFamily="34" charset="-122"/>
                <a:cs typeface="Calibri" pitchFamily="34" charset="-120"/>
              </a:rPr>
              <a:t>et</a:t>
            </a:r>
            <a:pPr indent="0" marL="0">
              <a:buNone/>
            </a:pPr>
            <a:r>
              <a:rPr lang="en-US" sz="1700" dirty="0">
                <a:solidFill>
                  <a:srgbClr val="1F2933"/>
                </a:solidFill>
                <a:latin typeface="Calibri" pitchFamily="34" charset="0"/>
                <a:ea typeface="Calibri" pitchFamily="34" charset="-122"/>
                <a:cs typeface="Calibri" pitchFamily="34" charset="-120"/>
              </a:rPr>
              <a:t> un </a:t>
            </a:r>
            <a:pPr indent="0" marL="0">
              <a:buNone/>
            </a:pPr>
            <a:r>
              <a:rPr lang="en-US" sz="1700" b="1" dirty="0">
                <a:solidFill>
                  <a:srgbClr val="1F2933"/>
                </a:solidFill>
                <a:latin typeface="Calibri" pitchFamily="34" charset="0"/>
                <a:ea typeface="Calibri" pitchFamily="34" charset="-122"/>
                <a:cs typeface="Calibri" pitchFamily="34" charset="-120"/>
              </a:rPr>
              <a:t>fichier</a:t>
            </a:r>
            <a:pPr indent="0" marL="0">
              <a:buNone/>
            </a:pPr>
            <a:r>
              <a:rPr lang="en-US" sz="1700" dirty="0">
                <a:solidFill>
                  <a:srgbClr val="1F2933"/>
                </a:solidFill>
                <a:latin typeface="Calibri" pitchFamily="34" charset="0"/>
                <a:ea typeface="Calibri" pitchFamily="34" charset="-122"/>
                <a:cs typeface="Calibri" pitchFamily="34" charset="-120"/>
              </a:rPr>
              <a:t> qui garde l'historique</a:t>
            </a:r>
            <a:endParaRPr lang="en-US" sz="1700" dirty="0"/>
          </a:p>
        </p:txBody>
      </p:sp>
      <p:sp>
        <p:nvSpPr>
          <p:cNvPr id="7" name="Text 5"/>
          <p:cNvSpPr txBox="1"/>
          <p:nvPr/>
        </p:nvSpPr>
        <p:spPr>
          <a:xfrm>
            <a:off x="548640" y="31699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Dans chaque module</a:t>
            </a:r>
            <a:endParaRPr lang="en-US" sz="1700" dirty="0"/>
          </a:p>
        </p:txBody>
      </p:sp>
      <p:sp>
        <p:nvSpPr>
          <p:cNvPr id="8" name="Shape 6"/>
          <p:cNvSpPr/>
          <p:nvPr/>
        </p:nvSpPr>
        <p:spPr>
          <a:xfrm>
            <a:off x="548640" y="3581400"/>
            <a:ext cx="5318608" cy="922020"/>
          </a:xfrm>
          <a:prstGeom prst="rect">
            <a:avLst/>
          </a:prstGeom>
          <a:solidFill>
            <a:srgbClr val="F3F4F6"/>
          </a:solidFill>
          <a:ln/>
        </p:spPr>
      </p:sp>
      <p:sp>
        <p:nvSpPr>
          <p:cNvPr id="9" name="Text 7"/>
          <p:cNvSpPr txBox="1"/>
          <p:nvPr/>
        </p:nvSpPr>
        <p:spPr>
          <a:xfrm>
            <a:off x="731520" y="3727704"/>
            <a:ext cx="4952848" cy="629412"/>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logger = logging.getLogger(__name__)</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logger.info("%d ventes chargées", len(ventes))</a:t>
            </a:r>
            <a:endParaRPr lang="en-US" sz="14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6324448" y="1417320"/>
          <a:ext cx="5318608" cy="914400"/>
        </p:xfrm>
        <a:graphic>
          <a:graphicData uri="http://schemas.openxmlformats.org/drawingml/2006/table">
            <a:tbl>
              <a:tblPr/>
              <a:tblGrid>
                <a:gridCol w="1692284"/>
                <a:gridCol w="3626323"/>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Niveau</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Usage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DEBUG</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détail pour comprendre un problème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INFO</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étapes normales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WARNING</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anomalie, le traitement continue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ERROR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le traitement a échoué</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55524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CRITICAL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le programme ne peut plus fonctionner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11" name="Text 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JOURNALISER AVEC LOGGING</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Configurer une seule fois, au point d'entrée</a:t>
            </a:r>
            <a:endParaRPr lang="en-US" sz="3000" dirty="0"/>
          </a:p>
        </p:txBody>
      </p:sp>
      <p:sp>
        <p:nvSpPr>
          <p:cNvPr id="6" name="Shape 4"/>
          <p:cNvSpPr/>
          <p:nvPr/>
        </p:nvSpPr>
        <p:spPr>
          <a:xfrm>
            <a:off x="548640" y="1417320"/>
            <a:ext cx="11094415" cy="1656334"/>
          </a:xfrm>
          <a:prstGeom prst="rect">
            <a:avLst/>
          </a:prstGeom>
          <a:solidFill>
            <a:srgbClr val="F3F4F6"/>
          </a:solidFill>
          <a:ln/>
        </p:spPr>
      </p:sp>
      <p:sp>
        <p:nvSpPr>
          <p:cNvPr id="7" name="Text 5"/>
          <p:cNvSpPr txBox="1"/>
          <p:nvPr/>
        </p:nvSpPr>
        <p:spPr>
          <a:xfrm>
            <a:off x="731520" y="1563624"/>
            <a:ext cx="10728655" cy="1363726"/>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FORMAT_JOURNAL = "%(asctime)s %(levelname)-8s %(name)s : %(message)s"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logging.basicConfig(level=logging.DEBUG if verbose else logging.INFO, format=FORMAT_JOURNAL)</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journal = logging.FileHandler("outputs/ventes.log", encoding="utf-8")</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journal.setFormatter(logging.Formatter(FORMAT_JOURNAL))</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logging.getLogger().addHandler(journal)</a:t>
            </a:r>
            <a:endParaRPr lang="en-US" sz="1300" dirty="0"/>
          </a:p>
        </p:txBody>
      </p:sp>
      <p:sp>
        <p:nvSpPr>
          <p:cNvPr id="8" name="Text 6"/>
          <p:cNvSpPr txBox="1"/>
          <p:nvPr/>
        </p:nvSpPr>
        <p:spPr>
          <a:xfrm>
            <a:off x="548640" y="3393694"/>
            <a:ext cx="11094415"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Résultat</a:t>
            </a:r>
            <a:endParaRPr lang="en-US" sz="1200" dirty="0"/>
          </a:p>
        </p:txBody>
      </p:sp>
      <p:sp>
        <p:nvSpPr>
          <p:cNvPr id="9" name="Shape 7"/>
          <p:cNvSpPr/>
          <p:nvPr/>
        </p:nvSpPr>
        <p:spPr>
          <a:xfrm>
            <a:off x="548640" y="3686302"/>
            <a:ext cx="11094415" cy="1011936"/>
          </a:xfrm>
          <a:prstGeom prst="rect">
            <a:avLst/>
          </a:prstGeom>
          <a:solidFill>
            <a:srgbClr val="FFFFFF"/>
          </a:solidFill>
          <a:ln w="12700">
            <a:solidFill>
              <a:srgbClr val="D5DCE3"/>
            </a:solidFill>
            <a:prstDash val="solid"/>
          </a:ln>
        </p:spPr>
      </p:sp>
      <p:sp>
        <p:nvSpPr>
          <p:cNvPr id="10" name="Text 8"/>
          <p:cNvSpPr txBox="1"/>
          <p:nvPr/>
        </p:nvSpPr>
        <p:spPr>
          <a:xfrm>
            <a:off x="731520" y="3832606"/>
            <a:ext cx="10728655" cy="719328"/>
          </a:xfrm>
          <a:prstGeom prst="rect">
            <a:avLst/>
          </a:prstGeom>
          <a:noFill/>
          <a:ln/>
        </p:spPr>
        <p:txBody>
          <a:bodyPr wrap="square" lIns="0" tIns="0" rIns="0" bIns="0" rtlCol="0" anchor="t"/>
          <a:lstStyle/>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2026-09-26 14:56:50 INFO     ventes.chargement : 9 fichiers trouvés dans data/brut/ventes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2026-09-26 14:56:50 INFO     ventes.chargement : 2182 ventes chargées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2026-09-26 14:56:50 WARNING  ventes.indicateurs : 17 ventes de produits hors catalogue : P17</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2026-09-26 14:56:52 INFO     ventes : 54 lignes d'indicateurs écrites dans outputs/indicateurs_mois_region.parquet</a:t>
            </a:r>
            <a:endParaRPr lang="en-US" sz="1200" dirty="0"/>
          </a:p>
        </p:txBody>
      </p:sp>
      <p:sp>
        <p:nvSpPr>
          <p:cNvPr id="11" name="Text 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09</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Séparer la configuration du code</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YAML   |   .env   |   Priorités</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SÉPARER LA CONFIGURATION DU CODE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Chaque valeur à sa place</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318608" cy="914400"/>
        </p:xfrm>
        <a:graphic>
          <a:graphicData uri="http://schemas.openxmlformats.org/drawingml/2006/table">
            <a:tbl>
              <a:tblPr/>
              <a:tblGrid>
                <a:gridCol w="1994478"/>
                <a:gridCol w="3324130"/>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Où</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Quoi</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55524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le code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la logique, des valeurs par défaut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config.yaml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chemins, paramètres stables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les arguments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ce qui change à chaque exécution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.env</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les secrets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7" name="Shape 4"/>
          <p:cNvSpPr/>
          <p:nvPr/>
        </p:nvSpPr>
        <p:spPr>
          <a:xfrm>
            <a:off x="548640" y="3695700"/>
            <a:ext cx="5318608" cy="822960"/>
          </a:xfrm>
          <a:prstGeom prst="roundRect">
            <a:avLst>
              <a:gd name="adj" fmla="val 6667"/>
            </a:avLst>
          </a:prstGeom>
          <a:solidFill>
            <a:srgbClr val="E8F3EE"/>
          </a:solidFill>
          <a:ln/>
        </p:spPr>
      </p:sp>
      <p:sp>
        <p:nvSpPr>
          <p:cNvPr id="8" name="Text 5"/>
          <p:cNvSpPr txBox="1"/>
          <p:nvPr/>
        </p:nvSpPr>
        <p:spPr>
          <a:xfrm>
            <a:off x="822960" y="3695700"/>
            <a:ext cx="4769968" cy="822960"/>
          </a:xfrm>
          <a:prstGeom prst="rect">
            <a:avLst/>
          </a:prstGeom>
          <a:noFill/>
          <a:ln/>
        </p:spPr>
        <p:txBody>
          <a:bodyPr wrap="square" lIns="0" tIns="0" rIns="0" bIns="0" rtlCol="0" anchor="ctr"/>
          <a:lstStyle/>
          <a:p>
            <a:pPr indent="0" marL="0">
              <a:buNone/>
            </a:pPr>
            <a:r>
              <a:rPr lang="en-US" sz="1500" dirty="0">
                <a:solidFill>
                  <a:srgbClr val="1F3A5F"/>
                </a:solidFill>
                <a:latin typeface="Calibri" pitchFamily="34" charset="0"/>
                <a:ea typeface="Calibri" pitchFamily="34" charset="-122"/>
                <a:cs typeface="Calibri" pitchFamily="34" charset="-120"/>
              </a:rPr>
              <a:t>Priorité : argument, puis configuration, puis valeur par défaut.</a:t>
            </a:r>
            <a:endParaRPr lang="en-US" sz="1500" dirty="0"/>
          </a:p>
        </p:txBody>
      </p:sp>
      <p:sp>
        <p:nvSpPr>
          <p:cNvPr id="9" name="Text 6"/>
          <p:cNvSpPr txBox="1"/>
          <p:nvPr/>
        </p:nvSpPr>
        <p:spPr>
          <a:xfrm>
            <a:off x="6324448" y="1417320"/>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config.yaml</a:t>
            </a:r>
            <a:endParaRPr lang="en-US" sz="1200" dirty="0"/>
          </a:p>
        </p:txBody>
      </p:sp>
      <p:sp>
        <p:nvSpPr>
          <p:cNvPr id="10" name="Shape 7"/>
          <p:cNvSpPr/>
          <p:nvPr/>
        </p:nvSpPr>
        <p:spPr>
          <a:xfrm>
            <a:off x="6324448" y="1709928"/>
            <a:ext cx="5318608" cy="1731264"/>
          </a:xfrm>
          <a:prstGeom prst="rect">
            <a:avLst/>
          </a:prstGeom>
          <a:solidFill>
            <a:srgbClr val="F3F4F6"/>
          </a:solidFill>
          <a:ln/>
        </p:spPr>
      </p:sp>
      <p:sp>
        <p:nvSpPr>
          <p:cNvPr id="11" name="Text 8"/>
          <p:cNvSpPr txBox="1"/>
          <p:nvPr/>
        </p:nvSpPr>
        <p:spPr>
          <a:xfrm>
            <a:off x="6507328" y="1856232"/>
            <a:ext cx="4952848" cy="1438656"/>
          </a:xfrm>
          <a:prstGeom prst="rect">
            <a:avLst/>
          </a:prstGeom>
          <a:noFill/>
          <a:ln/>
        </p:spPr>
        <p:txBody>
          <a:bodyPr wrap="square" lIns="0" tIns="0" rIns="0" bIns="0" rtlCol="0" anchor="t"/>
          <a:lstStyle/>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donnees: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ventes: data/brut/ventes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produits: data/brut/produits.csv</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regions: data/brut/regions.csv</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sorties: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indicateurs: outputs/indicateurs_mois_region.parquet</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journal: outputs/ventes.log</a:t>
            </a:r>
            <a:endParaRPr lang="en-US" sz="1200" dirty="0"/>
          </a:p>
        </p:txBody>
      </p:sp>
      <p:sp>
        <p:nvSpPr>
          <p:cNvPr id="12" name="Text 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SÉPARER LA CONFIGURATION DU CODE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Lire la configuration et les secrets</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YAML</a:t>
            </a:r>
            <a:endParaRPr lang="en-US" sz="1700" dirty="0"/>
          </a:p>
        </p:txBody>
      </p:sp>
      <p:sp>
        <p:nvSpPr>
          <p:cNvPr id="7" name="Shape 5"/>
          <p:cNvSpPr/>
          <p:nvPr/>
        </p:nvSpPr>
        <p:spPr>
          <a:xfrm>
            <a:off x="548640" y="1828800"/>
            <a:ext cx="5318608" cy="2090928"/>
          </a:xfrm>
          <a:prstGeom prst="rect">
            <a:avLst/>
          </a:prstGeom>
          <a:solidFill>
            <a:srgbClr val="F3F4F6"/>
          </a:solidFill>
          <a:ln/>
        </p:spPr>
      </p:sp>
      <p:sp>
        <p:nvSpPr>
          <p:cNvPr id="8" name="Text 6"/>
          <p:cNvSpPr txBox="1"/>
          <p:nvPr/>
        </p:nvSpPr>
        <p:spPr>
          <a:xfrm>
            <a:off x="731520" y="1975104"/>
            <a:ext cx="4952848" cy="1798320"/>
          </a:xfrm>
          <a:prstGeom prst="rect">
            <a:avLst/>
          </a:prstGeom>
          <a:noFill/>
          <a:ln/>
        </p:spPr>
        <p:txBody>
          <a:bodyPr wrap="square" lIns="0" tIns="0" rIns="0" bIns="0" rtlCol="0" anchor="t"/>
          <a:lstStyle/>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import yaml</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def charger_config(chemin: Path) -&gt; dict[str, Any]:</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if not chemin.exists():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raise ConfigurationError(</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f"introuvable : {chemin}")</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with chemin.open(encoding="utf-8") as f:</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config = yaml.safe_load(f) or {}</a:t>
            </a:r>
            <a:endParaRPr lang="en-US" sz="1200" dirty="0"/>
          </a:p>
          <a:p>
            <a:pPr indent="0" marL="0">
              <a:lnSpc>
                <a:spcPct val="100000"/>
              </a:lnSpc>
              <a:buNone/>
            </a:pPr>
            <a:r>
              <a:rPr lang="en-US" sz="1200" dirty="0">
                <a:solidFill>
                  <a:srgbClr val="6B7280"/>
                </a:solidFill>
                <a:latin typeface="Courier New" pitchFamily="34" charset="0"/>
                <a:ea typeface="Courier New" pitchFamily="34" charset="-122"/>
                <a:cs typeface="Courier New" pitchFamily="34" charset="-120"/>
              </a:rPr>
              <a:t>    # vérifier les clés obligatoires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return config</a:t>
            </a:r>
            <a:endParaRPr lang="en-US" sz="1200" dirty="0"/>
          </a:p>
        </p:txBody>
      </p:sp>
      <p:sp>
        <p:nvSpPr>
          <p:cNvPr id="9" name="Text 7"/>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.env</a:t>
            </a:r>
            <a:endParaRPr lang="en-US" sz="1700" dirty="0"/>
          </a:p>
        </p:txBody>
      </p:sp>
      <p:sp>
        <p:nvSpPr>
          <p:cNvPr id="10" name="Shape 8"/>
          <p:cNvSpPr/>
          <p:nvPr/>
        </p:nvSpPr>
        <p:spPr>
          <a:xfrm>
            <a:off x="6324448" y="1828800"/>
            <a:ext cx="5318608" cy="1641348"/>
          </a:xfrm>
          <a:prstGeom prst="rect">
            <a:avLst/>
          </a:prstGeom>
          <a:solidFill>
            <a:srgbClr val="F3F4F6"/>
          </a:solidFill>
          <a:ln/>
        </p:spPr>
      </p:sp>
      <p:sp>
        <p:nvSpPr>
          <p:cNvPr id="11" name="Text 9"/>
          <p:cNvSpPr txBox="1"/>
          <p:nvPr/>
        </p:nvSpPr>
        <p:spPr>
          <a:xfrm>
            <a:off x="6507328" y="1975104"/>
            <a:ext cx="4952848" cy="1348740"/>
          </a:xfrm>
          <a:prstGeom prst="rect">
            <a:avLst/>
          </a:prstGeom>
          <a:noFill/>
          <a:ln/>
        </p:spPr>
        <p:txBody>
          <a:bodyPr wrap="square" lIns="0" tIns="0" rIns="0" bIns="0" rtlCol="0" anchor="t"/>
          <a:lstStyle/>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.env</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API_CLE=abc123</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from dotenv import load_dotenv</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load_dotenv()</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cle = os.getenv("API_CLE")</a:t>
            </a:r>
            <a:endParaRPr lang="en-US" sz="1500" dirty="0"/>
          </a:p>
        </p:txBody>
      </p:sp>
      <p:sp>
        <p:nvSpPr>
          <p:cNvPr id="12" name="Text 10"/>
          <p:cNvSpPr txBox="1"/>
          <p:nvPr/>
        </p:nvSpPr>
        <p:spPr>
          <a:xfrm>
            <a:off x="6324448" y="3790188"/>
            <a:ext cx="5318608" cy="8229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Le </a:t>
            </a:r>
            <a:pPr indent="0" marL="0">
              <a:buNone/>
            </a:pPr>
            <a:r>
              <a:rPr lang="en-US" sz="1500" dirty="0">
                <a:solidFill>
                  <a:srgbClr val="1F3A5F"/>
                </a:solidFill>
                <a:latin typeface="Courier New" pitchFamily="34" charset="0"/>
                <a:ea typeface="Courier New" pitchFamily="34" charset="-122"/>
                <a:cs typeface="Courier New" pitchFamily="34" charset="-120"/>
              </a:rPr>
              <a:t>.env</a:t>
            </a:r>
            <a:pPr indent="0" marL="0">
              <a:buNone/>
            </a:pPr>
            <a:r>
              <a:rPr lang="en-US" sz="1500" dirty="0">
                <a:solidFill>
                  <a:srgbClr val="6B7280"/>
                </a:solidFill>
                <a:latin typeface="Calibri" pitchFamily="34" charset="0"/>
                <a:ea typeface="Calibri" pitchFamily="34" charset="-122"/>
                <a:cs typeface="Calibri" pitchFamily="34" charset="-120"/>
              </a:rPr>
              <a:t> ne se versionne jamais : il va dans le </a:t>
            </a:r>
            <a:pPr indent="0" marL="0">
              <a:buNone/>
            </a:pPr>
            <a:r>
              <a:rPr lang="en-US" sz="1500" dirty="0">
                <a:solidFill>
                  <a:srgbClr val="1F3A5F"/>
                </a:solidFill>
                <a:latin typeface="Courier New" pitchFamily="34" charset="0"/>
                <a:ea typeface="Courier New" pitchFamily="34" charset="-122"/>
                <a:cs typeface="Courier New" pitchFamily="34" charset="-120"/>
              </a:rPr>
              <a:t>.gitignore</a:t>
            </a:r>
            <a:pPr indent="0" marL="0">
              <a:buNone/>
            </a:pPr>
            <a:r>
              <a:rPr lang="en-US" sz="1500" dirty="0">
                <a:solidFill>
                  <a:srgbClr val="6B7280"/>
                </a:solidFill>
                <a:latin typeface="Calibri" pitchFamily="34" charset="0"/>
                <a:ea typeface="Calibri" pitchFamily="34" charset="-122"/>
                <a:cs typeface="Calibri" pitchFamily="34" charset="-120"/>
              </a:rPr>
              <a:t>, et on fournit un </a:t>
            </a:r>
            <a:pPr indent="0" marL="0">
              <a:buNone/>
            </a:pPr>
            <a:r>
              <a:rPr lang="en-US" sz="1500" dirty="0">
                <a:solidFill>
                  <a:srgbClr val="1F3A5F"/>
                </a:solidFill>
                <a:latin typeface="Courier New" pitchFamily="34" charset="0"/>
                <a:ea typeface="Courier New" pitchFamily="34" charset="-122"/>
                <a:cs typeface="Courier New" pitchFamily="34" charset="-120"/>
              </a:rPr>
              <a:t>.env.exemple</a:t>
            </a:r>
            <a:pPr indent="0" marL="0">
              <a:buNone/>
            </a:pPr>
            <a:r>
              <a:rPr lang="en-US" sz="1500" dirty="0">
                <a:solidFill>
                  <a:srgbClr val="6B7280"/>
                </a:solidFill>
                <a:latin typeface="Calibri" pitchFamily="34" charset="0"/>
                <a:ea typeface="Calibri" pitchFamily="34" charset="-122"/>
                <a:cs typeface="Calibri" pitchFamily="34" charset="-120"/>
              </a:rPr>
              <a:t> aux valeurs fictives.</a:t>
            </a:r>
            <a:endParaRPr lang="en-US" sz="1500" dirty="0"/>
          </a:p>
        </p:txBody>
      </p:sp>
      <p:sp>
        <p:nvSpPr>
          <p:cNvPr id="13" name="Text 1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SÉPARER LA CONFIGURATION DU CODE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TP5, étapes 5 à 7</a:t>
            </a:r>
            <a:endParaRPr lang="en-US" sz="3000" dirty="0"/>
          </a:p>
        </p:txBody>
      </p:sp>
      <p:sp>
        <p:nvSpPr>
          <p:cNvPr id="6" name="Shape 4"/>
          <p:cNvSpPr/>
          <p:nvPr/>
        </p:nvSpPr>
        <p:spPr>
          <a:xfrm>
            <a:off x="548640" y="1417320"/>
            <a:ext cx="3515258" cy="2103120"/>
          </a:xfrm>
          <a:prstGeom prst="roundRect">
            <a:avLst>
              <a:gd name="adj" fmla="val 3478"/>
            </a:avLst>
          </a:prstGeom>
          <a:solidFill>
            <a:srgbClr val="EEF3F7"/>
          </a:solidFill>
          <a:ln/>
        </p:spPr>
      </p:sp>
      <p:sp>
        <p:nvSpPr>
          <p:cNvPr id="7" name="Shape 5"/>
          <p:cNvSpPr/>
          <p:nvPr/>
        </p:nvSpPr>
        <p:spPr>
          <a:xfrm>
            <a:off x="777240" y="1691640"/>
            <a:ext cx="402336" cy="402336"/>
          </a:xfrm>
          <a:prstGeom prst="ellipse">
            <a:avLst/>
          </a:prstGeom>
          <a:solidFill>
            <a:srgbClr val="2F7D62"/>
          </a:solidFill>
          <a:ln/>
        </p:spPr>
      </p:sp>
      <p:sp>
        <p:nvSpPr>
          <p:cNvPr id="8" name="Text 6"/>
          <p:cNvSpPr txBox="1"/>
          <p:nvPr/>
        </p:nvSpPr>
        <p:spPr>
          <a:xfrm>
            <a:off x="777240"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9" name="Text 7"/>
          <p:cNvSpPr txBox="1"/>
          <p:nvPr/>
        </p:nvSpPr>
        <p:spPr>
          <a:xfrm>
            <a:off x="777240"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La configuration</a:t>
            </a:r>
            <a:endParaRPr lang="en-US" sz="1800" dirty="0"/>
          </a:p>
        </p:txBody>
      </p:sp>
      <p:sp>
        <p:nvSpPr>
          <p:cNvPr id="10" name="Text 8"/>
          <p:cNvSpPr txBox="1"/>
          <p:nvPr/>
        </p:nvSpPr>
        <p:spPr>
          <a:xfrm>
            <a:off x="777240" y="2606040"/>
            <a:ext cx="3058058" cy="731520"/>
          </a:xfrm>
          <a:prstGeom prst="rect">
            <a:avLst/>
          </a:prstGeom>
          <a:noFill/>
          <a:ln/>
        </p:spPr>
        <p:txBody>
          <a:bodyPr wrap="square" lIns="0" tIns="0" rIns="0" bIns="0" rtlCol="0" anchor="t"/>
          <a:lstStyle/>
          <a:p>
            <a:pPr indent="0" marL="0">
              <a:buNone/>
            </a:pPr>
            <a:r>
              <a:rPr lang="en-US" sz="1500" dirty="0">
                <a:solidFill>
                  <a:srgbClr val="1F3A5F"/>
                </a:solidFill>
                <a:latin typeface="Courier New" pitchFamily="34" charset="0"/>
                <a:ea typeface="Courier New" pitchFamily="34" charset="-122"/>
                <a:cs typeface="Courier New" pitchFamily="34" charset="-120"/>
              </a:rPr>
              <a:t>config.yaml</a:t>
            </a:r>
            <a:pPr indent="0" marL="0">
              <a:buNone/>
            </a:pPr>
            <a:r>
              <a:rPr lang="en-US" sz="1500" dirty="0">
                <a:solidFill>
                  <a:srgbClr val="1F2933"/>
                </a:solidFill>
                <a:latin typeface="Calibri" pitchFamily="34" charset="0"/>
                <a:ea typeface="Calibri" pitchFamily="34" charset="-122"/>
                <a:cs typeface="Calibri" pitchFamily="34" charset="-120"/>
              </a:rPr>
              <a:t> avec </a:t>
            </a:r>
            <a:pPr indent="0" marL="0">
              <a:buNone/>
            </a:pPr>
            <a:r>
              <a:rPr lang="en-US" sz="1500" dirty="0">
                <a:solidFill>
                  <a:srgbClr val="1F3A5F"/>
                </a:solidFill>
                <a:latin typeface="Courier New" pitchFamily="34" charset="0"/>
                <a:ea typeface="Courier New" pitchFamily="34" charset="-122"/>
                <a:cs typeface="Courier New" pitchFamily="34" charset="-120"/>
              </a:rPr>
              <a:t>donnees</a:t>
            </a:r>
            <a:pPr indent="0" marL="0">
              <a:buNone/>
            </a:pPr>
            <a:r>
              <a:rPr lang="en-US" sz="1500" dirty="0">
                <a:solidFill>
                  <a:srgbClr val="1F2933"/>
                </a:solidFill>
                <a:latin typeface="Calibri" pitchFamily="34" charset="0"/>
                <a:ea typeface="Calibri" pitchFamily="34" charset="-122"/>
                <a:cs typeface="Calibri" pitchFamily="34" charset="-120"/>
              </a:rPr>
              <a:t> et </a:t>
            </a:r>
            <a:pPr indent="0" marL="0">
              <a:buNone/>
            </a:pPr>
            <a:r>
              <a:rPr lang="en-US" sz="1500" dirty="0">
                <a:solidFill>
                  <a:srgbClr val="1F3A5F"/>
                </a:solidFill>
                <a:latin typeface="Courier New" pitchFamily="34" charset="0"/>
                <a:ea typeface="Courier New" pitchFamily="34" charset="-122"/>
                <a:cs typeface="Courier New" pitchFamily="34" charset="-120"/>
              </a:rPr>
              <a:t>sorties</a:t>
            </a:r>
            <a:pPr indent="0" marL="0">
              <a:buNone/>
            </a:pPr>
            <a:r>
              <a:rPr lang="en-US" sz="1500" dirty="0">
                <a:solidFill>
                  <a:srgbClr val="1F2933"/>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charger_config</a:t>
            </a:r>
            <a:pPr indent="0" marL="0">
              <a:buNone/>
            </a:pPr>
            <a:r>
              <a:rPr lang="en-US" sz="1500" dirty="0">
                <a:solidFill>
                  <a:srgbClr val="1F2933"/>
                </a:solidFill>
                <a:latin typeface="Calibri" pitchFamily="34" charset="0"/>
                <a:ea typeface="Calibri" pitchFamily="34" charset="-122"/>
                <a:cs typeface="Calibri" pitchFamily="34" charset="-120"/>
              </a:rPr>
              <a:t> et ses trois tests. Attendu : </a:t>
            </a:r>
            <a:pPr indent="0" marL="0">
              <a:buNone/>
            </a:pPr>
            <a:r>
              <a:rPr lang="en-US" sz="1500" dirty="0">
                <a:solidFill>
                  <a:srgbClr val="1F3A5F"/>
                </a:solidFill>
                <a:latin typeface="Courier New" pitchFamily="34" charset="0"/>
                <a:ea typeface="Courier New" pitchFamily="34" charset="-122"/>
                <a:cs typeface="Courier New" pitchFamily="34" charset="-120"/>
              </a:rPr>
              <a:t>3 passed</a:t>
            </a:r>
            <a:pPr indent="0" marL="0">
              <a:buNone/>
            </a:pPr>
            <a:r>
              <a:rPr lang="en-US" sz="1500" dirty="0">
                <a:solidFill>
                  <a:srgbClr val="1F2933"/>
                </a:solidFill>
                <a:latin typeface="Calibri" pitchFamily="34" charset="0"/>
                <a:ea typeface="Calibri" pitchFamily="34" charset="-122"/>
                <a:cs typeface="Calibri" pitchFamily="34" charset="-120"/>
              </a:rPr>
              <a:t>.</a:t>
            </a:r>
            <a:endParaRPr lang="en-US" sz="1500" dirty="0"/>
          </a:p>
        </p:txBody>
      </p:sp>
      <p:sp>
        <p:nvSpPr>
          <p:cNvPr id="11" name="Shape 9"/>
          <p:cNvSpPr/>
          <p:nvPr/>
        </p:nvSpPr>
        <p:spPr>
          <a:xfrm>
            <a:off x="4338218" y="1417320"/>
            <a:ext cx="3515258" cy="2103120"/>
          </a:xfrm>
          <a:prstGeom prst="roundRect">
            <a:avLst>
              <a:gd name="adj" fmla="val 3478"/>
            </a:avLst>
          </a:prstGeom>
          <a:solidFill>
            <a:srgbClr val="EEF3F7"/>
          </a:solidFill>
          <a:ln/>
        </p:spPr>
      </p:sp>
      <p:sp>
        <p:nvSpPr>
          <p:cNvPr id="12" name="Shape 10"/>
          <p:cNvSpPr/>
          <p:nvPr/>
        </p:nvSpPr>
        <p:spPr>
          <a:xfrm>
            <a:off x="4566818" y="1691640"/>
            <a:ext cx="402336" cy="402336"/>
          </a:xfrm>
          <a:prstGeom prst="ellipse">
            <a:avLst/>
          </a:prstGeom>
          <a:solidFill>
            <a:srgbClr val="2F7D62"/>
          </a:solidFill>
          <a:ln/>
        </p:spPr>
      </p:sp>
      <p:sp>
        <p:nvSpPr>
          <p:cNvPr id="13" name="Text 11"/>
          <p:cNvSpPr txBox="1"/>
          <p:nvPr/>
        </p:nvSpPr>
        <p:spPr>
          <a:xfrm>
            <a:off x="4566818"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4566818"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La commande</a:t>
            </a:r>
            <a:endParaRPr lang="en-US" sz="1800" dirty="0"/>
          </a:p>
        </p:txBody>
      </p:sp>
      <p:sp>
        <p:nvSpPr>
          <p:cNvPr id="15" name="Text 13"/>
          <p:cNvSpPr txBox="1"/>
          <p:nvPr/>
        </p:nvSpPr>
        <p:spPr>
          <a:xfrm>
            <a:off x="4566818" y="2606040"/>
            <a:ext cx="3058058" cy="7315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Dans </a:t>
            </a:r>
            <a:pPr indent="0" marL="0">
              <a:buNone/>
            </a:pPr>
            <a:r>
              <a:rPr lang="en-US" sz="1500" dirty="0">
                <a:solidFill>
                  <a:srgbClr val="1F3A5F"/>
                </a:solidFill>
                <a:latin typeface="Courier New" pitchFamily="34" charset="0"/>
                <a:ea typeface="Courier New" pitchFamily="34" charset="-122"/>
                <a:cs typeface="Courier New" pitchFamily="34" charset="-120"/>
              </a:rPr>
              <a:t>cli.py</a:t>
            </a:r>
            <a:pPr indent="0" marL="0">
              <a:buNone/>
            </a:pPr>
            <a:r>
              <a:rPr lang="en-US" sz="1500" dirty="0">
                <a:solidFill>
                  <a:srgbClr val="1F2933"/>
                </a:solidFill>
                <a:latin typeface="Calibri" pitchFamily="34" charset="0"/>
                <a:ea typeface="Calibri" pitchFamily="34" charset="-122"/>
                <a:cs typeface="Calibri" pitchFamily="34" charset="-120"/>
              </a:rPr>
              <a:t> : les options, les journaux console et fichier, le traitement, le code de sortie.</a:t>
            </a:r>
            <a:endParaRPr lang="en-US" sz="1500" dirty="0"/>
          </a:p>
        </p:txBody>
      </p:sp>
      <p:sp>
        <p:nvSpPr>
          <p:cNvPr id="16" name="Shape 14"/>
          <p:cNvSpPr/>
          <p:nvPr/>
        </p:nvSpPr>
        <p:spPr>
          <a:xfrm>
            <a:off x="8127797" y="1417320"/>
            <a:ext cx="3515258" cy="2103120"/>
          </a:xfrm>
          <a:prstGeom prst="roundRect">
            <a:avLst>
              <a:gd name="adj" fmla="val 3478"/>
            </a:avLst>
          </a:prstGeom>
          <a:solidFill>
            <a:srgbClr val="EEF3F7"/>
          </a:solidFill>
          <a:ln/>
        </p:spPr>
      </p:sp>
      <p:sp>
        <p:nvSpPr>
          <p:cNvPr id="17" name="Shape 15"/>
          <p:cNvSpPr/>
          <p:nvPr/>
        </p:nvSpPr>
        <p:spPr>
          <a:xfrm>
            <a:off x="8356397" y="1691640"/>
            <a:ext cx="402336" cy="402336"/>
          </a:xfrm>
          <a:prstGeom prst="ellipse">
            <a:avLst/>
          </a:prstGeom>
          <a:solidFill>
            <a:srgbClr val="2F7D62"/>
          </a:solidFill>
          <a:ln/>
        </p:spPr>
      </p:sp>
      <p:sp>
        <p:nvSpPr>
          <p:cNvPr id="18" name="Text 16"/>
          <p:cNvSpPr txBox="1"/>
          <p:nvPr/>
        </p:nvSpPr>
        <p:spPr>
          <a:xfrm>
            <a:off x="8356397"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19" name="Text 17"/>
          <p:cNvSpPr txBox="1"/>
          <p:nvPr/>
        </p:nvSpPr>
        <p:spPr>
          <a:xfrm>
            <a:off x="8356397"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De bout en bout</a:t>
            </a:r>
            <a:endParaRPr lang="en-US" sz="1800" dirty="0"/>
          </a:p>
        </p:txBody>
      </p:sp>
      <p:sp>
        <p:nvSpPr>
          <p:cNvPr id="20" name="Text 18"/>
          <p:cNvSpPr txBox="1"/>
          <p:nvPr/>
        </p:nvSpPr>
        <p:spPr>
          <a:xfrm>
            <a:off x="8356397" y="2606040"/>
            <a:ext cx="3058058" cy="7315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La commande, une période, un fichier défectueux, puis tous les tests, ruff et mypy.</a:t>
            </a:r>
            <a:endParaRPr lang="en-US" sz="1500" dirty="0"/>
          </a:p>
        </p:txBody>
      </p:sp>
      <p:sp>
        <p:nvSpPr>
          <p:cNvPr id="21" name="Shape 19"/>
          <p:cNvSpPr/>
          <p:nvPr/>
        </p:nvSpPr>
        <p:spPr>
          <a:xfrm>
            <a:off x="548640" y="3840480"/>
            <a:ext cx="11094415" cy="966978"/>
          </a:xfrm>
          <a:prstGeom prst="rect">
            <a:avLst/>
          </a:prstGeom>
          <a:solidFill>
            <a:srgbClr val="F3F4F6"/>
          </a:solidFill>
          <a:ln/>
        </p:spPr>
      </p:sp>
      <p:sp>
        <p:nvSpPr>
          <p:cNvPr id="22" name="Text 20"/>
          <p:cNvSpPr txBox="1"/>
          <p:nvPr/>
        </p:nvSpPr>
        <p:spPr>
          <a:xfrm>
            <a:off x="731520" y="3986784"/>
            <a:ext cx="10728655" cy="67437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run pytest tests/test_config.py</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run ventes --help</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uv run ventes</a:t>
            </a:r>
            <a:endParaRPr lang="en-US" sz="1500" dirty="0"/>
          </a:p>
        </p:txBody>
      </p:sp>
      <p:sp>
        <p:nvSpPr>
          <p:cNvPr id="23" name="Text 2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SÉPARER LA CONFIGURATION DU CODE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TP5, étape 7, de bout en bout</a:t>
            </a:r>
            <a:endParaRPr lang="en-US" sz="30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5042916"/>
                <a:gridCol w="6051499"/>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Commande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Résultat attendu</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55524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uv run ventes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2182 ventes, 17 hors catalogue, 54 lignes d'indicateurs ; les mêmes lignes dans </a:t>
                      </a:r>
                      <a:pPr indent="0" marL="0">
                        <a:buNone/>
                      </a:pPr>
                      <a:r>
                        <a:rPr lang="en-US" sz="1400" dirty="0">
                          <a:solidFill>
                            <a:srgbClr val="1F3A5F"/>
                          </a:solidFill>
                          <a:latin typeface="Courier New" pitchFamily="34" charset="0"/>
                          <a:ea typeface="Courier New" pitchFamily="34" charset="-122"/>
                          <a:cs typeface="Courier New" pitchFamily="34" charset="-120"/>
                        </a:rPr>
                        <a:t>outputs/ventes.log</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5524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uv run ventes --debut 2025-07 --fin 2025-08 --sortie outputs/ete.parquet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12 lignes d'indicateurs : 2 mois et 6 régions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55524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un fichier sans </a:t>
                      </a:r>
                      <a:pPr indent="0" marL="0">
                        <a:buNone/>
                      </a:pPr>
                      <a:r>
                        <a:rPr lang="en-US" sz="1400" dirty="0">
                          <a:solidFill>
                            <a:srgbClr val="1F3A5F"/>
                          </a:solidFill>
                          <a:latin typeface="Courier New" pitchFamily="34" charset="0"/>
                          <a:ea typeface="Courier New" pitchFamily="34" charset="-122"/>
                          <a:cs typeface="Courier New" pitchFamily="34" charset="-120"/>
                        </a:rPr>
                        <a:t>quantite</a:t>
                      </a:r>
                      <a:pPr indent="0" marL="0">
                        <a:buNone/>
                      </a:pPr>
                      <a:r>
                        <a:rPr lang="en-US" sz="1400" dirty="0">
                          <a:solidFill>
                            <a:srgbClr val="1F2933"/>
                          </a:solidFill>
                          <a:latin typeface="Calibri" pitchFamily="34" charset="0"/>
                          <a:ea typeface="Calibri" pitchFamily="34" charset="-122"/>
                          <a:cs typeface="Calibri" pitchFamily="34" charset="-120"/>
                        </a:rPr>
                        <a:t> copié en </a:t>
                      </a:r>
                      <a:pPr indent="0" marL="0">
                        <a:buNone/>
                      </a:pPr>
                      <a:r>
                        <a:rPr lang="en-US" sz="1400" dirty="0">
                          <a:solidFill>
                            <a:srgbClr val="1F3A5F"/>
                          </a:solidFill>
                          <a:latin typeface="Courier New" pitchFamily="34" charset="0"/>
                          <a:ea typeface="Courier New" pitchFamily="34" charset="-122"/>
                          <a:cs typeface="Courier New" pitchFamily="34" charset="-120"/>
                        </a:rPr>
                        <a:t>ventes_2025_10.csv</a:t>
                      </a:r>
                      <a:pPr indent="0" marL="0">
                        <a:buNone/>
                      </a:pPr>
                      <a:r>
                        <a:rPr lang="en-US" sz="1400" dirty="0">
                          <a:solidFill>
                            <a:srgbClr val="1F2933"/>
                          </a:solidFill>
                          <a:latin typeface="Calibri" pitchFamily="34" charset="0"/>
                          <a:ea typeface="Calibri" pitchFamily="34" charset="-122"/>
                          <a:cs typeface="Calibri" pitchFamily="34" charset="-120"/>
                        </a:rPr>
                        <a:t>, puis </a:t>
                      </a:r>
                      <a:pPr indent="0" marL="0">
                        <a:buNone/>
                      </a:pPr>
                      <a:r>
                        <a:rPr lang="en-US" sz="1400" dirty="0">
                          <a:solidFill>
                            <a:srgbClr val="1F3A5F"/>
                          </a:solidFill>
                          <a:latin typeface="Courier New" pitchFamily="34" charset="0"/>
                          <a:ea typeface="Courier New" pitchFamily="34" charset="-122"/>
                          <a:cs typeface="Courier New" pitchFamily="34" charset="-120"/>
                        </a:rPr>
                        <a:t>echo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colonnes manquantes ['quantite']</a:t>
                      </a:r>
                      <a:pPr indent="0" marL="0">
                        <a:buNone/>
                      </a:pPr>
                      <a:r>
                        <a:rPr lang="en-US" sz="1400" dirty="0">
                          <a:solidFill>
                            <a:srgbClr val="1F2933"/>
                          </a:solidFill>
                          <a:latin typeface="Calibri" pitchFamily="34" charset="0"/>
                          <a:ea typeface="Calibri" pitchFamily="34" charset="-122"/>
                          <a:cs typeface="Calibri" pitchFamily="34" charset="-120"/>
                        </a:rPr>
                        <a:t> au niveau ERROR, puis </a:t>
                      </a:r>
                      <a:pPr indent="0" marL="0">
                        <a:buNone/>
                      </a:pPr>
                      <a:r>
                        <a:rPr lang="en-US" sz="1400" dirty="0">
                          <a:solidFill>
                            <a:srgbClr val="1F3A5F"/>
                          </a:solidFill>
                          <a:latin typeface="Courier New" pitchFamily="34" charset="0"/>
                          <a:ea typeface="Courier New" pitchFamily="34" charset="-122"/>
                          <a:cs typeface="Courier New" pitchFamily="34" charset="-120"/>
                        </a:rPr>
                        <a:t>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uv run pytest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tous les tests passent, recette comprise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uv run ruff check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All checks passed!</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uv run mypy src</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Success: no issues found</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7" name="Text 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TP5 : d'un notebook à un script en ligne de commande</a:t>
            </a:r>
            <a:endParaRPr lang="en-US" sz="3000" dirty="0"/>
          </a:p>
        </p:txBody>
      </p:sp>
      <p:sp>
        <p:nvSpPr>
          <p:cNvPr id="3" name="Text 1"/>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Dans exercices/tp05-script-cli : étapes 0 à 7 et résultats attendus dans le README</a:t>
            </a:r>
            <a:endParaRPr lang="en-US" sz="1800" dirty="0"/>
          </a:p>
        </p:txBody>
      </p:sp>
      <p:sp>
        <p:nvSpPr>
          <p:cNvPr id="4" name="Shape 2"/>
          <p:cNvSpPr/>
          <p:nvPr/>
        </p:nvSpPr>
        <p:spPr>
          <a:xfrm>
            <a:off x="548640" y="2011680"/>
            <a:ext cx="3515258" cy="2331720"/>
          </a:xfrm>
          <a:prstGeom prst="roundRect">
            <a:avLst>
              <a:gd name="adj" fmla="val 3137"/>
            </a:avLst>
          </a:prstGeom>
          <a:solidFill>
            <a:srgbClr val="EEF3F7"/>
          </a:solidFill>
          <a:ln/>
        </p:spPr>
      </p:sp>
      <p:sp>
        <p:nvSpPr>
          <p:cNvPr id="5" name="Shape 3"/>
          <p:cNvSpPr/>
          <p:nvPr/>
        </p:nvSpPr>
        <p:spPr>
          <a:xfrm>
            <a:off x="777240" y="2286000"/>
            <a:ext cx="402336" cy="402336"/>
          </a:xfrm>
          <a:prstGeom prst="ellipse">
            <a:avLst/>
          </a:prstGeom>
          <a:solidFill>
            <a:srgbClr val="2F7D62"/>
          </a:solidFill>
          <a:ln/>
        </p:spPr>
      </p:sp>
      <p:sp>
        <p:nvSpPr>
          <p:cNvPr id="6" name="Text 4"/>
          <p:cNvSpPr txBox="1"/>
          <p:nvPr/>
        </p:nvSpPr>
        <p:spPr>
          <a:xfrm>
            <a:off x="777240" y="2286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777240" y="283464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Extraire</a:t>
            </a:r>
            <a:endParaRPr lang="en-US" sz="1800" dirty="0"/>
          </a:p>
        </p:txBody>
      </p:sp>
      <p:sp>
        <p:nvSpPr>
          <p:cNvPr id="8" name="Text 6"/>
          <p:cNvSpPr txBox="1"/>
          <p:nvPr/>
        </p:nvSpPr>
        <p:spPr>
          <a:xfrm>
            <a:off x="777240" y="320040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Écrire les fonctions typées déclarées dans </a:t>
            </a:r>
            <a:pPr indent="0" marL="0">
              <a:buNone/>
            </a:pPr>
            <a:r>
              <a:rPr lang="en-US" sz="1500" dirty="0">
                <a:solidFill>
                  <a:srgbClr val="1F3A5F"/>
                </a:solidFill>
                <a:latin typeface="Courier New" pitchFamily="34" charset="0"/>
                <a:ea typeface="Courier New" pitchFamily="34" charset="-122"/>
                <a:cs typeface="Courier New" pitchFamily="34" charset="-120"/>
              </a:rPr>
              <a:t>src/ventes</a:t>
            </a:r>
            <a:pPr indent="0" marL="0">
              <a:buNone/>
            </a:pPr>
            <a:r>
              <a:rPr lang="en-US" sz="1500" dirty="0">
                <a:solidFill>
                  <a:srgbClr val="1F2933"/>
                </a:solidFill>
                <a:latin typeface="Calibri" pitchFamily="34" charset="0"/>
                <a:ea typeface="Calibri" pitchFamily="34" charset="-122"/>
                <a:cs typeface="Calibri" pitchFamily="34" charset="-120"/>
              </a:rPr>
              <a:t>, à partir du notebook du TP3.</a:t>
            </a:r>
            <a:endParaRPr lang="en-US" sz="1500" dirty="0"/>
          </a:p>
        </p:txBody>
      </p:sp>
      <p:sp>
        <p:nvSpPr>
          <p:cNvPr id="9" name="Shape 7"/>
          <p:cNvSpPr/>
          <p:nvPr/>
        </p:nvSpPr>
        <p:spPr>
          <a:xfrm>
            <a:off x="4338218" y="2011680"/>
            <a:ext cx="3515258" cy="2331720"/>
          </a:xfrm>
          <a:prstGeom prst="roundRect">
            <a:avLst>
              <a:gd name="adj" fmla="val 3137"/>
            </a:avLst>
          </a:prstGeom>
          <a:solidFill>
            <a:srgbClr val="EEF3F7"/>
          </a:solidFill>
          <a:ln/>
        </p:spPr>
      </p:sp>
      <p:sp>
        <p:nvSpPr>
          <p:cNvPr id="10" name="Shape 8"/>
          <p:cNvSpPr/>
          <p:nvPr/>
        </p:nvSpPr>
        <p:spPr>
          <a:xfrm>
            <a:off x="4566818" y="2286000"/>
            <a:ext cx="402336" cy="402336"/>
          </a:xfrm>
          <a:prstGeom prst="ellipse">
            <a:avLst/>
          </a:prstGeom>
          <a:solidFill>
            <a:srgbClr val="2F7D62"/>
          </a:solidFill>
          <a:ln/>
        </p:spPr>
      </p:sp>
      <p:sp>
        <p:nvSpPr>
          <p:cNvPr id="11" name="Text 9"/>
          <p:cNvSpPr txBox="1"/>
          <p:nvPr/>
        </p:nvSpPr>
        <p:spPr>
          <a:xfrm>
            <a:off x="4566818" y="2286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4566818" y="283464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Sécuriser</a:t>
            </a:r>
            <a:endParaRPr lang="en-US" sz="1800" dirty="0"/>
          </a:p>
        </p:txBody>
      </p:sp>
      <p:sp>
        <p:nvSpPr>
          <p:cNvPr id="13" name="Text 11"/>
          <p:cNvSpPr txBox="1"/>
          <p:nvPr/>
        </p:nvSpPr>
        <p:spPr>
          <a:xfrm>
            <a:off x="4566818" y="320040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Exceptions du projet, tests pytest, vérifications ruff et mypy.</a:t>
            </a:r>
            <a:endParaRPr lang="en-US" sz="1500" dirty="0"/>
          </a:p>
        </p:txBody>
      </p:sp>
      <p:sp>
        <p:nvSpPr>
          <p:cNvPr id="14" name="Shape 12"/>
          <p:cNvSpPr/>
          <p:nvPr/>
        </p:nvSpPr>
        <p:spPr>
          <a:xfrm>
            <a:off x="8127797" y="2011680"/>
            <a:ext cx="3515258" cy="2331720"/>
          </a:xfrm>
          <a:prstGeom prst="roundRect">
            <a:avLst>
              <a:gd name="adj" fmla="val 3137"/>
            </a:avLst>
          </a:prstGeom>
          <a:solidFill>
            <a:srgbClr val="EEF3F7"/>
          </a:solidFill>
          <a:ln/>
        </p:spPr>
      </p:sp>
      <p:sp>
        <p:nvSpPr>
          <p:cNvPr id="15" name="Shape 13"/>
          <p:cNvSpPr/>
          <p:nvPr/>
        </p:nvSpPr>
        <p:spPr>
          <a:xfrm>
            <a:off x="8356397" y="2286000"/>
            <a:ext cx="402336" cy="402336"/>
          </a:xfrm>
          <a:prstGeom prst="ellipse">
            <a:avLst/>
          </a:prstGeom>
          <a:solidFill>
            <a:srgbClr val="2F7D62"/>
          </a:solidFill>
          <a:ln/>
        </p:spPr>
      </p:sp>
      <p:sp>
        <p:nvSpPr>
          <p:cNvPr id="16" name="Text 14"/>
          <p:cNvSpPr txBox="1"/>
          <p:nvPr/>
        </p:nvSpPr>
        <p:spPr>
          <a:xfrm>
            <a:off x="8356397" y="2286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8356397" y="283464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Livrer</a:t>
            </a:r>
            <a:endParaRPr lang="en-US" sz="1800" dirty="0"/>
          </a:p>
        </p:txBody>
      </p:sp>
      <p:sp>
        <p:nvSpPr>
          <p:cNvPr id="18" name="Text 16"/>
          <p:cNvSpPr txBox="1"/>
          <p:nvPr/>
        </p:nvSpPr>
        <p:spPr>
          <a:xfrm>
            <a:off x="8356397" y="320040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La commande </a:t>
            </a:r>
            <a:pPr indent="0" marL="0">
              <a:buNone/>
            </a:pPr>
            <a:r>
              <a:rPr lang="en-US" sz="1500" dirty="0">
                <a:solidFill>
                  <a:srgbClr val="1F3A5F"/>
                </a:solidFill>
                <a:latin typeface="Courier New" pitchFamily="34" charset="0"/>
                <a:ea typeface="Courier New" pitchFamily="34" charset="-122"/>
                <a:cs typeface="Courier New" pitchFamily="34" charset="-120"/>
              </a:rPr>
              <a:t>uv run ventes</a:t>
            </a:r>
            <a:pPr indent="0" marL="0">
              <a:buNone/>
            </a:pPr>
            <a:r>
              <a:rPr lang="en-US" sz="1500" dirty="0">
                <a:solidFill>
                  <a:srgbClr val="1F2933"/>
                </a:solidFill>
                <a:latin typeface="Calibri" pitchFamily="34" charset="0"/>
                <a:ea typeface="Calibri" pitchFamily="34" charset="-122"/>
                <a:cs typeface="Calibri" pitchFamily="34" charset="-120"/>
              </a:rPr>
              <a:t>, avec paramètres, journal et </a:t>
            </a:r>
            <a:pPr indent="0" marL="0">
              <a:buNone/>
            </a:pPr>
            <a:r>
              <a:rPr lang="en-US" sz="1500" dirty="0">
                <a:solidFill>
                  <a:srgbClr val="1F3A5F"/>
                </a:solidFill>
                <a:latin typeface="Courier New" pitchFamily="34" charset="0"/>
                <a:ea typeface="Courier New" pitchFamily="34" charset="-122"/>
                <a:cs typeface="Courier New" pitchFamily="34" charset="-120"/>
              </a:rPr>
              <a:t>config.yaml</a:t>
            </a:r>
            <a:pPr indent="0" marL="0">
              <a:buNone/>
            </a:pPr>
            <a:r>
              <a:rPr lang="en-US" sz="1500" dirty="0">
                <a:solidFill>
                  <a:srgbClr val="1F2933"/>
                </a:solidFill>
                <a:latin typeface="Calibri" pitchFamily="34" charset="0"/>
                <a:ea typeface="Calibri" pitchFamily="34" charset="-122"/>
                <a:cs typeface="Calibri" pitchFamily="34" charset="-120"/>
              </a:rPr>
              <a:t>, qui fonctionne de bout en bout.</a:t>
            </a:r>
            <a:endParaRPr lang="en-US" sz="1500" dirty="0"/>
          </a:p>
        </p:txBody>
      </p:sp>
      <p:sp>
        <p:nvSpPr>
          <p:cNvPr id="19" name="Shape 17"/>
          <p:cNvSpPr/>
          <p:nvPr/>
        </p:nvSpPr>
        <p:spPr>
          <a:xfrm>
            <a:off x="548640" y="4663440"/>
            <a:ext cx="11094415" cy="1143000"/>
          </a:xfrm>
          <a:prstGeom prst="roundRect">
            <a:avLst>
              <a:gd name="adj" fmla="val 4800"/>
            </a:avLst>
          </a:prstGeom>
          <a:solidFill>
            <a:srgbClr val="E8F3EE"/>
          </a:solidFill>
          <a:ln/>
        </p:spPr>
      </p:sp>
      <p:sp>
        <p:nvSpPr>
          <p:cNvPr id="20" name="Text 18"/>
          <p:cNvSpPr txBox="1"/>
          <p:nvPr/>
        </p:nvSpPr>
        <p:spPr>
          <a:xfrm>
            <a:off x="822960" y="4663440"/>
            <a:ext cx="10545775" cy="114300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Le fichier fourni </a:t>
            </a:r>
            <a:pPr indent="0" marL="0">
              <a:buNone/>
            </a:pPr>
            <a:r>
              <a:rPr lang="en-US" sz="1700" dirty="0">
                <a:solidFill>
                  <a:srgbClr val="2F7D62"/>
                </a:solidFill>
                <a:latin typeface="Courier New" pitchFamily="34" charset="0"/>
                <a:ea typeface="Courier New" pitchFamily="34" charset="-122"/>
                <a:cs typeface="Courier New" pitchFamily="34" charset="-120"/>
              </a:rPr>
              <a:t>tests/test_recette.py</a:t>
            </a:r>
            <a:pPr indent="0" marL="0">
              <a:buNone/>
            </a:pPr>
            <a:r>
              <a:rPr lang="en-US" sz="1700" dirty="0">
                <a:solidFill>
                  <a:srgbClr val="1F3A5F"/>
                </a:solidFill>
                <a:latin typeface="Calibri" pitchFamily="34" charset="0"/>
                <a:ea typeface="Calibri" pitchFamily="34" charset="-122"/>
                <a:cs typeface="Calibri" pitchFamily="34" charset="-120"/>
              </a:rPr>
              <a:t> vérifie les chiffres sur les vraies données : 2182 ventes, 54 lignes d'indicateurs, un code de sortie à 1 avec un fichier défectueux. Le TP est terminé quand tous les tests passent.</a:t>
            </a:r>
            <a:endParaRPr lang="en-US" sz="1700" dirty="0"/>
          </a:p>
        </p:txBody>
      </p:sp>
      <p:sp>
        <p:nvSpPr>
          <p:cNvPr id="21" name="Text 1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3,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À retenir</a:t>
            </a:r>
            <a:endParaRPr lang="en-US" sz="3400" dirty="0"/>
          </a:p>
        </p:txBody>
      </p:sp>
      <p:sp>
        <p:nvSpPr>
          <p:cNvPr id="3" name="Text 1"/>
          <p:cNvSpPr txBox="1"/>
          <p:nvPr/>
        </p:nvSpPr>
        <p:spPr>
          <a:xfrm>
            <a:off x="548640" y="1417320"/>
            <a:ext cx="5272888" cy="3444240"/>
          </a:xfrm>
          <a:prstGeom prst="rect">
            <a:avLst/>
          </a:prstGeom>
          <a:noFill/>
          <a:ln/>
        </p:spPr>
        <p:txBody>
          <a:bodyPr wrap="square" lIns="0" tIns="0" rIns="0" bIns="0" rtlCol="0" anchor="t"/>
          <a:lstStyle/>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uv init --package</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uv add</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uv run</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data/brut</a:t>
            </a:r>
            <a:pPr indent="0" marL="0">
              <a:buNone/>
            </a:pPr>
            <a:r>
              <a:rPr lang="en-US" sz="1600" dirty="0">
                <a:solidFill>
                  <a:srgbClr val="FFFFFF"/>
                </a:solidFill>
                <a:latin typeface="Calibri" pitchFamily="34" charset="0"/>
                <a:ea typeface="Calibri" pitchFamily="34" charset="-122"/>
                <a:cs typeface="Calibri" pitchFamily="34" charset="-120"/>
              </a:rPr>
              <a:t> intouchable, </a:t>
            </a:r>
            <a:pPr indent="0" marL="0">
              <a:buNone/>
            </a:pPr>
            <a:r>
              <a:rPr lang="en-US" sz="1600" dirty="0">
                <a:solidFill>
                  <a:srgbClr val="8FD1B5"/>
                </a:solidFill>
                <a:latin typeface="Courier New" pitchFamily="34" charset="0"/>
                <a:ea typeface="Courier New" pitchFamily="34" charset="-122"/>
                <a:cs typeface="Courier New" pitchFamily="34" charset="-120"/>
              </a:rPr>
              <a:t>src</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tests</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outputs</a:t>
            </a:r>
            <a:pPr indent="0" marL="0">
              <a:buNone/>
            </a:pPr>
            <a:r>
              <a:rPr lang="en-US" sz="1600" dirty="0">
                <a:solidFill>
                  <a:srgbClr val="FFFFFF"/>
                </a:solidFill>
                <a:latin typeface="Calibri" pitchFamily="34" charset="0"/>
                <a:ea typeface="Calibri" pitchFamily="34" charset="-122"/>
                <a:cs typeface="Calibri" pitchFamily="34" charset="-120"/>
              </a:rPr>
              <a:t> régénérable</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Le code stable en fonctions, puis en modules importés</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__init__.py</a:t>
            </a:r>
            <a:pPr indent="0" marL="0">
              <a:buNone/>
            </a:pPr>
            <a:r>
              <a:rPr lang="en-US" sz="1600" dirty="0">
                <a:solidFill>
                  <a:srgbClr val="FFFFFF"/>
                </a:solidFill>
                <a:latin typeface="Calibri" pitchFamily="34" charset="0"/>
                <a:ea typeface="Calibri" pitchFamily="34" charset="-122"/>
                <a:cs typeface="Calibri" pitchFamily="34" charset="-120"/>
              </a:rPr>
              <a:t> pour l'API publique, </a:t>
            </a:r>
            <a:pPr indent="0" marL="0">
              <a:buNone/>
            </a:pPr>
            <a:r>
              <a:rPr lang="en-US" sz="1600" dirty="0">
                <a:solidFill>
                  <a:srgbClr val="8FD1B5"/>
                </a:solidFill>
                <a:latin typeface="Courier New" pitchFamily="34" charset="0"/>
                <a:ea typeface="Courier New" pitchFamily="34" charset="-122"/>
                <a:cs typeface="Courier New" pitchFamily="34" charset="-120"/>
              </a:rPr>
              <a:t>__main__.py</a:t>
            </a:r>
            <a:pPr indent="0" marL="0">
              <a:buNone/>
            </a:pPr>
            <a:r>
              <a:rPr lang="en-US" sz="1600" dirty="0">
                <a:solidFill>
                  <a:srgbClr val="FFFFFF"/>
                </a:solidFill>
                <a:latin typeface="Calibri" pitchFamily="34" charset="0"/>
                <a:ea typeface="Calibri" pitchFamily="34" charset="-122"/>
                <a:cs typeface="Calibri" pitchFamily="34" charset="-120"/>
              </a:rPr>
              <a:t> pour </a:t>
            </a:r>
            <a:pPr indent="0" marL="0">
              <a:buNone/>
            </a:pPr>
            <a:r>
              <a:rPr lang="en-US" sz="1600" dirty="0">
                <a:solidFill>
                  <a:srgbClr val="8FD1B5"/>
                </a:solidFill>
                <a:latin typeface="Courier New" pitchFamily="34" charset="0"/>
                <a:ea typeface="Courier New" pitchFamily="34" charset="-122"/>
                <a:cs typeface="Courier New" pitchFamily="34" charset="-120"/>
              </a:rPr>
              <a:t>python -m</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Les annotations documentent, mypy vérifie</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Exceptions précises, levées tôt, attrapées au point d'entrée</a:t>
            </a:r>
            <a:endParaRPr lang="en-US" sz="1600" dirty="0"/>
          </a:p>
        </p:txBody>
      </p:sp>
      <p:sp>
        <p:nvSpPr>
          <p:cNvPr id="4" name="Text 2"/>
          <p:cNvSpPr txBox="1"/>
          <p:nvPr/>
        </p:nvSpPr>
        <p:spPr>
          <a:xfrm>
            <a:off x="6370168" y="1417320"/>
            <a:ext cx="5272888" cy="3444240"/>
          </a:xfrm>
          <a:prstGeom prst="rect">
            <a:avLst/>
          </a:prstGeom>
          <a:noFill/>
          <a:ln/>
        </p:spPr>
        <p:txBody>
          <a:bodyPr wrap="square" lIns="0" tIns="0" rIns="0" bIns="0" rtlCol="0" anchor="t"/>
          <a:lstStyle/>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Un test par comportement, </a:t>
            </a:r>
            <a:pPr indent="0" marL="0">
              <a:buNone/>
            </a:pPr>
            <a:r>
              <a:rPr lang="en-US" sz="1600" dirty="0">
                <a:solidFill>
                  <a:srgbClr val="8FD1B5"/>
                </a:solidFill>
                <a:latin typeface="Courier New" pitchFamily="34" charset="0"/>
                <a:ea typeface="Courier New" pitchFamily="34" charset="-122"/>
                <a:cs typeface="Courier New" pitchFamily="34" charset="-120"/>
              </a:rPr>
              <a:t>uv run pytest</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pytest.approx</a:t>
            </a:r>
            <a:pPr indent="0" marL="0">
              <a:buNone/>
            </a:pPr>
            <a:r>
              <a:rPr lang="en-US" sz="1600" dirty="0">
                <a:solidFill>
                  <a:srgbClr val="FFFFFF"/>
                </a:solidFill>
                <a:latin typeface="Calibri" pitchFamily="34" charset="0"/>
                <a:ea typeface="Calibri" pitchFamily="34" charset="-122"/>
                <a:cs typeface="Calibri" pitchFamily="34" charset="-120"/>
              </a:rPr>
              <a:t> pour les décimaux</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ruff check</a:t>
            </a:r>
            <a:pPr indent="0" marL="0">
              <a:buNone/>
            </a:pPr>
            <a:r>
              <a:rPr lang="en-US" sz="1600" dirty="0">
                <a:solidFill>
                  <a:srgbClr val="FFFFFF"/>
                </a:solidFill>
                <a:latin typeface="Calibri" pitchFamily="34" charset="0"/>
                <a:ea typeface="Calibri" pitchFamily="34" charset="-122"/>
                <a:cs typeface="Calibri" pitchFamily="34" charset="-120"/>
              </a:rPr>
              <a:t> et </a:t>
            </a:r>
            <a:pPr indent="0" marL="0">
              <a:buNone/>
            </a:pPr>
            <a:r>
              <a:rPr lang="en-US" sz="1600" dirty="0">
                <a:solidFill>
                  <a:srgbClr val="8FD1B5"/>
                </a:solidFill>
                <a:latin typeface="Courier New" pitchFamily="34" charset="0"/>
                <a:ea typeface="Courier New" pitchFamily="34" charset="-122"/>
                <a:cs typeface="Courier New" pitchFamily="34" charset="-120"/>
              </a:rPr>
              <a:t>ruff format</a:t>
            </a:r>
            <a:pPr indent="0" marL="0">
              <a:buNone/>
            </a:pPr>
            <a:r>
              <a:rPr lang="en-US" sz="1600" dirty="0">
                <a:solidFill>
                  <a:srgbClr val="FFFFFF"/>
                </a:solidFill>
                <a:latin typeface="Calibri" pitchFamily="34" charset="0"/>
                <a:ea typeface="Calibri" pitchFamily="34" charset="-122"/>
                <a:cs typeface="Calibri" pitchFamily="34" charset="-120"/>
              </a:rPr>
              <a:t> pour un code homogène</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argparse, </a:t>
            </a:r>
            <a:pPr indent="0" marL="0">
              <a:buNone/>
            </a:pPr>
            <a:r>
              <a:rPr lang="en-US" sz="1600" dirty="0">
                <a:solidFill>
                  <a:srgbClr val="8FD1B5"/>
                </a:solidFill>
                <a:latin typeface="Courier New" pitchFamily="34" charset="0"/>
                <a:ea typeface="Courier New" pitchFamily="34" charset="-122"/>
                <a:cs typeface="Courier New" pitchFamily="34" charset="-120"/>
              </a:rPr>
              <a:t>[project.scripts]</a:t>
            </a:r>
            <a:pPr indent="0" marL="0">
              <a:buNone/>
            </a:pPr>
            <a:r>
              <a:rPr lang="en-US" sz="1600" dirty="0">
                <a:solidFill>
                  <a:srgbClr val="FFFFFF"/>
                </a:solidFill>
                <a:latin typeface="Calibri" pitchFamily="34" charset="0"/>
                <a:ea typeface="Calibri" pitchFamily="34" charset="-122"/>
                <a:cs typeface="Calibri" pitchFamily="34" charset="-120"/>
              </a:rPr>
              <a:t> et un code de sortie</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Une commande mince autour d'un traitement réutilisable, </a:t>
            </a:r>
            <a:pPr indent="0" marL="0">
              <a:buNone/>
            </a:pPr>
            <a:r>
              <a:rPr lang="en-US" sz="1600" dirty="0">
                <a:solidFill>
                  <a:srgbClr val="8FD1B5"/>
                </a:solidFill>
                <a:latin typeface="Courier New" pitchFamily="34" charset="0"/>
                <a:ea typeface="Courier New" pitchFamily="34" charset="-122"/>
                <a:cs typeface="Courier New" pitchFamily="34" charset="-120"/>
              </a:rPr>
              <a:t>uv build</a:t>
            </a:r>
            <a:pPr indent="0" marL="0">
              <a:buNone/>
            </a:pPr>
            <a:r>
              <a:rPr lang="en-US" sz="1600" dirty="0">
                <a:solidFill>
                  <a:srgbClr val="FFFFFF"/>
                </a:solidFill>
                <a:latin typeface="Calibri" pitchFamily="34" charset="0"/>
                <a:ea typeface="Calibri" pitchFamily="34" charset="-122"/>
                <a:cs typeface="Calibri" pitchFamily="34" charset="-120"/>
              </a:rPr>
              <a:t> pour distribuer</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getLogger(__name__)</a:t>
            </a:r>
            <a:pPr indent="0" marL="0">
              <a:buNone/>
            </a:pPr>
            <a:r>
              <a:rPr lang="en-US" sz="1600" dirty="0">
                <a:solidFill>
                  <a:srgbClr val="FFFFFF"/>
                </a:solidFill>
                <a:latin typeface="Calibri" pitchFamily="34" charset="0"/>
                <a:ea typeface="Calibri" pitchFamily="34" charset="-122"/>
                <a:cs typeface="Calibri" pitchFamily="34" charset="-120"/>
              </a:rPr>
              <a:t> dans les modules, configuration au point d'entrée</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Chemins en configuration, secrets dans </a:t>
            </a:r>
            <a:pPr indent="0" marL="0">
              <a:buNone/>
            </a:pPr>
            <a:r>
              <a:rPr lang="en-US" sz="1600" dirty="0">
                <a:solidFill>
                  <a:srgbClr val="8FD1B5"/>
                </a:solidFill>
                <a:latin typeface="Courier New" pitchFamily="34" charset="0"/>
                <a:ea typeface="Courier New" pitchFamily="34" charset="-122"/>
                <a:cs typeface="Courier New" pitchFamily="34" charset="-120"/>
              </a:rPr>
              <a:t>.env</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Analyse de données avec Python, jour 3 matin</dc:title>
  <dc:subject>PptxGenJS Presentation</dc:subject>
  <dc:creator/>
  <cp:lastModifiedBy/>
  <cp:revision>1</cp:revision>
  <dcterms:created xsi:type="dcterms:W3CDTF">2026-10-22T21:23:46Z</dcterms:created>
  <dcterms:modified xsi:type="dcterms:W3CDTF">2026-10-22T21:23:46Z</dcterms:modified>
</cp:coreProperties>
</file>