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Reprendre brièvement la synthèse d'exploration du TP1 : c'est la liste des problèmes à régler cet 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commence par un retour sur la synthèse d'exploration du TP1 (diapositive suivante). Les parties 1 à 6 du TP2 sont des exercices courts, sur de petits tableaux qui isolent chaque notion ; la partie 7 applique toute la démarche au fichier des ventes. Objectif de l'après-midi : transformer le fichier brut des ventes en un jeu de données propre, fiable et documenté. Les exemples du cours portent sur ce même fichier.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au groupe ce qu'il avait trouvé. Certains auront peut-être manqué les doublons ou l'espace en fin de Bretagne : c'est normal, ils ne se voient pas à l'oeil 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Sélectionner est la base de tout le reste : filtrer, corriger, calculer sur un sous-ensemble.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qui piège tout le monde : avec loc, la borne de fin est incluse. 0:4 donne cinq lignes avec loc, quatre avec iloc.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la démonstration en direct : afficher tri.head() et montrer les labels dans le désordre à gauche.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mécanisme que le masque numpy vu ce 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les participants provoquer l'erreur eux-mêmes pendant le TP, c'est le meilleur moyen de la retenir.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query, and et or fonctionnent. Les noms de colonnes avec espaces sont pénibles : une raison de plus pour les harmoniser plus tard.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changement le plus visible de pandas 3. Beaucoup de code trouvé en ligne utilise encore l'affectation enchaînée.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environ 15 minutes. Partie 0 du notebook : réutiliser l'environnement du TP1, ou en recréer un à partir de son requirements.txt. Cette partie travaille sur df, la copie du fichier brut, avec ses noms de colonnes d'origine. Question 1.3 : isin laisse échapper les variantes d'écriture (Bretagne avec une espace, occitanie), qu'on corrigera plus tard. La question 1.8 (l'affectation enchaînée, sans effet) est facultative.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Enrichir le jeu de données avec des colonnes calculées.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se prête bien à l'enchaînement d'opérations, on le reverra demain.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fréquente : appeler df.drop(...) sans réaffecter, puis s'étonner que la colonne soit toujours là.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Toujours contrôler avec isna().sum() après un map avec dictionnaire.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du TP1, partie 2 : la boucle Python est des dizaines de fois plus lente que le calcul vectorisé.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d'écrire un apply, se demander s'il existe une méthode pandas qui fait la même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valeur hors de toutes les bornes donne une valeur manquante : ici le prix à 0 et le prix à 12 999 du fichier des ventes. Les classes de la category suivent l'ordre des bornes.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10 à 15 minutes. Le tableau est propre pour se concentrer sur les transformations. La question 2.5 (pd.cut sur les prix unitaires) est facultative.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variantes d'écriture faussent tous les comptages et les regroupements.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participants connaissent strip, lower, replace sur une chaîne : .str permet de les appliquer à une colonne.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Commencer toujours par value_counts pour lister les variantes, puis construire le dictionnaire.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très fréquente entre les deux méthodes.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signifie « un ou plusieurs chiffres ». Avec expand=False, le résultat est une Series qu'on convertit directement avec astype(int).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 besoin de maîtriser les expressions régulières : ces quelques patterns couvrent la plupart des besoins de nettoyage. Le r devant la chaîne évite que Python interprète la barre oblique 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une dizaine de minutes. La question 3.4 est facultative : harmoniser des numéros de téléphone avec \D, et comparer replace et str.replace.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type incorrect ne provoque pas toujours d'erreur, mais il fausse les résultats.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entier numpy ne peut pas contenir de NaN : une colonne d'entiers avec une valeur manquante devient float64. Le type Int64 avec majuscule règle ce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Préciser le format de date évite toute ambiguïté entre jour et mois. L'accesseur .dt sera approfondi demain 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deep=True, la mémoire du texte n'est pas comptée en entier. Si on convertit avant de nettoyer, INFORMATIQUE et Informatique deviennent deux catégories distinctes. Pas de category pour une colonne dont presque toutes les valeurs sont différentes, comme un identifiant ou un commentaire. La mesure se fait dans le cas pratique, question 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rencontré dans le cas pratique, question 7.7 : une fois region convertie en category, remplir les régions manquantes avec Inconnue échoue tant que la catégorie n'est pas déclarée.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une dizaine de minutes. La conversion en category et la mesure de la mémoire se font dans le cas pratique, question 7.4. Pause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pause. C'est la partie où les choix ont le plus d'impact sur les résultats de l'analyse.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les ventes : 3 régions manquantes sur 62 lignes, soit un peu moins de 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pandas 3, fillna(method="ffill") n'existe plus : on utilise directement ffill() et bfill().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calculer la moyenne et la médiane des prix au groupe avant d'afficher la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pandas, -3 est un nombre parfaitement valide. Seule une règle métier permet de dire qu'il est impossible. En cas de doute, on signale et on pose la question au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doublons exacts viennent souvent d'un export lancé deux fois ou d'une concaténation de fichiers qui se chevauchent.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environ 15 minutes. À la correction, faire justifier le choix de l'interpolation pour la température et de la propagation pour le stock, et l'écart entre dropna() et dropna(subset=...).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finitions qui rendent le jeu de données agréable à utiliser.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nlargest est pratique pour inspecter les valeurs aberrantes hautes.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dernières lignes de l'enchaînement retirent les accents : normalize sépare la lettre de son accent, encode en ascii supprime l'accent. La fonction est à écrire dans le TP2, question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fichier brut, id_commande n'est pas unique à cause des doublons : set_index fonctionne quand même, mais loc renverrait plusieurs lignes.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une dizaine de minutes. La fonction de la question 6.2 resservira dès la question 7.1 du cas pratique. La question 6.4 (reindex) est facultative.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notions sont vues : on les met dans l'ordre, puis on les applique au fichier des ventes.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fichier brut ne se modifie jamais sur le disque. La note des choix permet à quelqu'un d'autre de comprendre, et éventuellement de contester, les données obtenues. Cet ordre est celui du cas pratique du TP2.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30 à 35 minutes : c'est le cœur de l'après-midi. Il n'y a pas une seule bonne réponse pour les valeurs aberrantes et manquantes : ce qui compte, c'est que chaque choix soit justifié et noté. Question 7.7 : rappeler cat.add_categories si region est déjà en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Retour sur le format vu ce matin, maintenant qu'on a un jeu de données propre à stocker.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Parquet est le format standard des outils data modernes : Polars, DuckDB, Spark le lisent nativement.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sont les questions 8.1 et 8.2 du TP : laisser les participants découvrir le résultat par eux-mêmes. À la relecture, sans aucune option, le Parquet restitue une date, des catégories et des booléens.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Garder le brut permet de refaire tout le nettoyage si on change d'avis sur un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une dizaine de minutes. La question 8.3 (comparer les temps de lecture avec %timeit) est facultative. Avant de rendre : ventes_propres.csv et ventes_propres.parquet sont présents, ressources/ventes.csv n'a pas été modifié, les vérifications affichent OK et le notebook s'exécute de haut en 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n'y a pas une seule bonne réponse pour les valeurs aberrantes et manquantes : ce qui compte, c'est que chaque choix soit justifié et noté. Le jeu de données propre servira demain 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Demain matin : agréger, combiner plusieurs sources et manipuler les dates, à partir du jeu de données nettoyé.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9144000" cy="365760"/>
          </a:xfrm>
          <a:prstGeom prst="rect">
            <a:avLst/>
          </a:prstGeom>
          <a:noFill/>
          <a:ln/>
        </p:spPr>
        <p:txBody>
          <a:bodyPr wrap="square" lIns="0" tIns="0" rIns="0" bIns="0" rtlCol="0" anchor="ctr"/>
          <a:lstStyle/>
          <a:p>
            <a:pPr indent="0" marL="0">
              <a:buNone/>
            </a:pPr>
            <a:r>
              <a:rPr lang="en-US" sz="1400" b="1" spc="400" kern="0" dirty="0">
                <a:solidFill>
                  <a:srgbClr val="8FD1B5"/>
                </a:solidFill>
                <a:latin typeface="Calibri" pitchFamily="34" charset="0"/>
                <a:ea typeface="Calibri" pitchFamily="34" charset="-122"/>
                <a:cs typeface="Calibri" pitchFamily="34" charset="-120"/>
              </a:rPr>
              <a:t>FORMATION</a:t>
            </a:r>
            <a:endParaRPr lang="en-US" sz="1400" dirty="0"/>
          </a:p>
        </p:txBody>
      </p:sp>
      <p:sp>
        <p:nvSpPr>
          <p:cNvPr id="3" name="Text 1"/>
          <p:cNvSpPr txBox="1"/>
          <p:nvPr/>
        </p:nvSpPr>
        <p:spPr>
          <a:xfrm>
            <a:off x="731520" y="2148840"/>
            <a:ext cx="10515600" cy="10972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Analyse de données avec Python</a:t>
            </a:r>
            <a:endParaRPr lang="en-US" sz="4600" dirty="0"/>
          </a:p>
        </p:txBody>
      </p:sp>
      <p:sp>
        <p:nvSpPr>
          <p:cNvPr id="4" name="Text 2"/>
          <p:cNvSpPr txBox="1"/>
          <p:nvPr/>
        </p:nvSpPr>
        <p:spPr>
          <a:xfrm>
            <a:off x="731520" y="3337560"/>
            <a:ext cx="1005840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Jour 1, après-midi</a:t>
            </a:r>
            <a:endParaRPr lang="en-US" sz="2200" dirty="0"/>
          </a:p>
          <a:p>
            <a:pPr indent="0" marL="0">
              <a:buNone/>
            </a:pPr>
            <a:r>
              <a:rPr lang="en-US" sz="2200" dirty="0">
                <a:solidFill>
                  <a:srgbClr val="C9D6E3"/>
                </a:solidFill>
                <a:latin typeface="Calibri" pitchFamily="34" charset="0"/>
                <a:ea typeface="Calibri" pitchFamily="34" charset="-122"/>
                <a:cs typeface="Calibri" pitchFamily="34" charset="-120"/>
              </a:rPr>
              <a:t>Sélection, transformation et nettoyage de données</a:t>
            </a:r>
            <a:endParaRPr lang="en-US" sz="2200" dirty="0"/>
          </a:p>
        </p:txBody>
      </p:sp>
      <p:sp>
        <p:nvSpPr>
          <p:cNvPr id="5" name="Text 3"/>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Cours et TP2 sur le jeu de données des ventes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déroulé de l'après-midi</a:t>
            </a:r>
            <a:endParaRPr lang="en-US" sz="3000" dirty="0"/>
          </a:p>
        </p:txBody>
      </p:sp>
      <p:sp>
        <p:nvSpPr>
          <p:cNvPr id="3" name="Shape 1"/>
          <p:cNvSpPr/>
          <p:nvPr/>
        </p:nvSpPr>
        <p:spPr>
          <a:xfrm>
            <a:off x="1164996" y="2057400"/>
            <a:ext cx="9861702" cy="0"/>
          </a:xfrm>
          <a:prstGeom prst="line">
            <a:avLst/>
          </a:prstGeom>
          <a:noFill/>
          <a:ln w="25400">
            <a:solidFill>
              <a:srgbClr val="D5DCE3"/>
            </a:solidFill>
            <a:prstDash val="solid"/>
          </a:ln>
        </p:spPr>
      </p:sp>
      <p:sp>
        <p:nvSpPr>
          <p:cNvPr id="4" name="Shape 2"/>
          <p:cNvSpPr/>
          <p:nvPr/>
        </p:nvSpPr>
        <p:spPr>
          <a:xfrm>
            <a:off x="936396" y="1828800"/>
            <a:ext cx="457200" cy="457200"/>
          </a:xfrm>
          <a:prstGeom prst="ellipse">
            <a:avLst/>
          </a:prstGeom>
          <a:solidFill>
            <a:srgbClr val="2F7D62"/>
          </a:solidFill>
          <a:ln/>
        </p:spPr>
      </p:sp>
      <p:sp>
        <p:nvSpPr>
          <p:cNvPr id="5" name="Text 3"/>
          <p:cNvSpPr txBox="1"/>
          <p:nvPr/>
        </p:nvSpPr>
        <p:spPr>
          <a:xfrm>
            <a:off x="93639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Sélection</a:t>
            </a:r>
            <a:endParaRPr lang="en-US" sz="1500" dirty="0"/>
          </a:p>
        </p:txBody>
      </p:sp>
      <p:sp>
        <p:nvSpPr>
          <p:cNvPr id="7" name="Text 5"/>
          <p:cNvSpPr txBox="1"/>
          <p:nvPr/>
        </p:nvSpPr>
        <p:spPr>
          <a:xfrm>
            <a:off x="594360"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TP2 partie 1</a:t>
            </a:r>
            <a:endParaRPr lang="en-US" sz="1300" dirty="0"/>
          </a:p>
        </p:txBody>
      </p:sp>
      <p:sp>
        <p:nvSpPr>
          <p:cNvPr id="8" name="Shape 6"/>
          <p:cNvSpPr/>
          <p:nvPr/>
        </p:nvSpPr>
        <p:spPr>
          <a:xfrm>
            <a:off x="2169109" y="1828800"/>
            <a:ext cx="457200" cy="457200"/>
          </a:xfrm>
          <a:prstGeom prst="ellipse">
            <a:avLst/>
          </a:prstGeom>
          <a:solidFill>
            <a:srgbClr val="2F7D62"/>
          </a:solidFill>
          <a:ln/>
        </p:spPr>
      </p:sp>
      <p:sp>
        <p:nvSpPr>
          <p:cNvPr id="9" name="Text 7"/>
          <p:cNvSpPr txBox="1"/>
          <p:nvPr/>
        </p:nvSpPr>
        <p:spPr>
          <a:xfrm>
            <a:off x="2169109"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827073"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Transformer</a:t>
            </a:r>
            <a:endParaRPr lang="en-US" sz="1500" dirty="0"/>
          </a:p>
        </p:txBody>
      </p:sp>
      <p:sp>
        <p:nvSpPr>
          <p:cNvPr id="11" name="Text 9"/>
          <p:cNvSpPr txBox="1"/>
          <p:nvPr/>
        </p:nvSpPr>
        <p:spPr>
          <a:xfrm>
            <a:off x="1827073"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TP2 partie 2</a:t>
            </a:r>
            <a:endParaRPr lang="en-US" sz="1300" dirty="0"/>
          </a:p>
        </p:txBody>
      </p:sp>
      <p:sp>
        <p:nvSpPr>
          <p:cNvPr id="12" name="Shape 10"/>
          <p:cNvSpPr/>
          <p:nvPr/>
        </p:nvSpPr>
        <p:spPr>
          <a:xfrm>
            <a:off x="3401822" y="1828800"/>
            <a:ext cx="457200" cy="457200"/>
          </a:xfrm>
          <a:prstGeom prst="ellipse">
            <a:avLst/>
          </a:prstGeom>
          <a:solidFill>
            <a:srgbClr val="2F7D62"/>
          </a:solidFill>
          <a:ln/>
        </p:spPr>
      </p:sp>
      <p:sp>
        <p:nvSpPr>
          <p:cNvPr id="13" name="Text 11"/>
          <p:cNvSpPr txBox="1"/>
          <p:nvPr/>
        </p:nvSpPr>
        <p:spPr>
          <a:xfrm>
            <a:off x="3401822"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3059786"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Texte</a:t>
            </a:r>
            <a:endParaRPr lang="en-US" sz="1500" dirty="0"/>
          </a:p>
        </p:txBody>
      </p:sp>
      <p:sp>
        <p:nvSpPr>
          <p:cNvPr id="15" name="Text 13"/>
          <p:cNvSpPr txBox="1"/>
          <p:nvPr/>
        </p:nvSpPr>
        <p:spPr>
          <a:xfrm>
            <a:off x="3059786"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TP2 partie 3</a:t>
            </a:r>
            <a:endParaRPr lang="en-US" sz="1300" dirty="0"/>
          </a:p>
        </p:txBody>
      </p:sp>
      <p:sp>
        <p:nvSpPr>
          <p:cNvPr id="16" name="Shape 14"/>
          <p:cNvSpPr/>
          <p:nvPr/>
        </p:nvSpPr>
        <p:spPr>
          <a:xfrm>
            <a:off x="4634535" y="1828800"/>
            <a:ext cx="457200" cy="457200"/>
          </a:xfrm>
          <a:prstGeom prst="ellipse">
            <a:avLst/>
          </a:prstGeom>
          <a:solidFill>
            <a:srgbClr val="2F7D62"/>
          </a:solidFill>
          <a:ln/>
        </p:spPr>
      </p:sp>
      <p:sp>
        <p:nvSpPr>
          <p:cNvPr id="17" name="Text 15"/>
          <p:cNvSpPr txBox="1"/>
          <p:nvPr/>
        </p:nvSpPr>
        <p:spPr>
          <a:xfrm>
            <a:off x="463453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4292498"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Types</a:t>
            </a:r>
            <a:endParaRPr lang="en-US" sz="1500" dirty="0"/>
          </a:p>
        </p:txBody>
      </p:sp>
      <p:sp>
        <p:nvSpPr>
          <p:cNvPr id="19" name="Text 17"/>
          <p:cNvSpPr txBox="1"/>
          <p:nvPr/>
        </p:nvSpPr>
        <p:spPr>
          <a:xfrm>
            <a:off x="4292498"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TP2 partie 4</a:t>
            </a:r>
            <a:endParaRPr lang="en-US" sz="1300" dirty="0"/>
          </a:p>
        </p:txBody>
      </p:sp>
      <p:sp>
        <p:nvSpPr>
          <p:cNvPr id="20" name="Shape 18"/>
          <p:cNvSpPr/>
          <p:nvPr/>
        </p:nvSpPr>
        <p:spPr>
          <a:xfrm>
            <a:off x="5867248" y="1828800"/>
            <a:ext cx="457200" cy="457200"/>
          </a:xfrm>
          <a:prstGeom prst="ellipse">
            <a:avLst/>
          </a:prstGeom>
          <a:solidFill>
            <a:srgbClr val="D5DCE3"/>
          </a:solidFill>
          <a:ln/>
        </p:spPr>
      </p:sp>
      <p:sp>
        <p:nvSpPr>
          <p:cNvPr id="21" name="Text 19"/>
          <p:cNvSpPr txBox="1"/>
          <p:nvPr/>
        </p:nvSpPr>
        <p:spPr>
          <a:xfrm>
            <a:off x="5867248" y="1828800"/>
            <a:ext cx="457200" cy="457200"/>
          </a:xfrm>
          <a:prstGeom prst="rect">
            <a:avLst/>
          </a:prstGeom>
          <a:noFill/>
          <a:ln/>
        </p:spPr>
        <p:txBody>
          <a:bodyPr wrap="square" lIns="0" tIns="0" rIns="0" bIns="0" rtlCol="0" anchor="ctr"/>
          <a:lstStyle/>
          <a:p>
            <a:pPr algn="ctr" indent="0" marL="0">
              <a:buNone/>
            </a:pPr>
            <a:endParaRPr lang="en-US" sz="1500" dirty="0"/>
          </a:p>
        </p:txBody>
      </p:sp>
      <p:sp>
        <p:nvSpPr>
          <p:cNvPr id="22" name="Text 20"/>
          <p:cNvSpPr txBox="1"/>
          <p:nvPr/>
        </p:nvSpPr>
        <p:spPr>
          <a:xfrm>
            <a:off x="5525211"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Pause</a:t>
            </a:r>
            <a:endParaRPr lang="en-US" sz="1500" dirty="0"/>
          </a:p>
        </p:txBody>
      </p:sp>
      <p:sp>
        <p:nvSpPr>
          <p:cNvPr id="23" name="Shape 21"/>
          <p:cNvSpPr/>
          <p:nvPr/>
        </p:nvSpPr>
        <p:spPr>
          <a:xfrm>
            <a:off x="7099960" y="1828800"/>
            <a:ext cx="457200" cy="457200"/>
          </a:xfrm>
          <a:prstGeom prst="ellipse">
            <a:avLst/>
          </a:prstGeom>
          <a:solidFill>
            <a:srgbClr val="2F7D62"/>
          </a:solidFill>
          <a:ln/>
        </p:spPr>
      </p:sp>
      <p:sp>
        <p:nvSpPr>
          <p:cNvPr id="24" name="Text 22"/>
          <p:cNvSpPr txBox="1"/>
          <p:nvPr/>
        </p:nvSpPr>
        <p:spPr>
          <a:xfrm>
            <a:off x="709996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3"/>
          <p:cNvSpPr txBox="1"/>
          <p:nvPr/>
        </p:nvSpPr>
        <p:spPr>
          <a:xfrm>
            <a:off x="6757924"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Manquants et doublons</a:t>
            </a:r>
            <a:endParaRPr lang="en-US" sz="1500" dirty="0"/>
          </a:p>
        </p:txBody>
      </p:sp>
      <p:sp>
        <p:nvSpPr>
          <p:cNvPr id="26" name="Text 24"/>
          <p:cNvSpPr txBox="1"/>
          <p:nvPr/>
        </p:nvSpPr>
        <p:spPr>
          <a:xfrm>
            <a:off x="6757924"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TP2 partie 5</a:t>
            </a:r>
            <a:endParaRPr lang="en-US" sz="1300" dirty="0"/>
          </a:p>
        </p:txBody>
      </p:sp>
      <p:sp>
        <p:nvSpPr>
          <p:cNvPr id="27" name="Shape 25"/>
          <p:cNvSpPr/>
          <p:nvPr/>
        </p:nvSpPr>
        <p:spPr>
          <a:xfrm>
            <a:off x="8332673" y="1828800"/>
            <a:ext cx="457200" cy="457200"/>
          </a:xfrm>
          <a:prstGeom prst="ellipse">
            <a:avLst/>
          </a:prstGeom>
          <a:solidFill>
            <a:srgbClr val="2F7D62"/>
          </a:solidFill>
          <a:ln/>
        </p:spPr>
      </p:sp>
      <p:sp>
        <p:nvSpPr>
          <p:cNvPr id="28" name="Text 26"/>
          <p:cNvSpPr txBox="1"/>
          <p:nvPr/>
        </p:nvSpPr>
        <p:spPr>
          <a:xfrm>
            <a:off x="8332673"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7"/>
          <p:cNvSpPr txBox="1"/>
          <p:nvPr/>
        </p:nvSpPr>
        <p:spPr>
          <a:xfrm>
            <a:off x="7990637"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Tri et index</a:t>
            </a:r>
            <a:endParaRPr lang="en-US" sz="1500" dirty="0"/>
          </a:p>
        </p:txBody>
      </p:sp>
      <p:sp>
        <p:nvSpPr>
          <p:cNvPr id="30" name="Text 28"/>
          <p:cNvSpPr txBox="1"/>
          <p:nvPr/>
        </p:nvSpPr>
        <p:spPr>
          <a:xfrm>
            <a:off x="7990637"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TP2 partie 6</a:t>
            </a:r>
            <a:endParaRPr lang="en-US" sz="1300" dirty="0"/>
          </a:p>
        </p:txBody>
      </p:sp>
      <p:sp>
        <p:nvSpPr>
          <p:cNvPr id="31" name="Shape 29"/>
          <p:cNvSpPr/>
          <p:nvPr/>
        </p:nvSpPr>
        <p:spPr>
          <a:xfrm>
            <a:off x="9565386" y="1828800"/>
            <a:ext cx="457200" cy="457200"/>
          </a:xfrm>
          <a:prstGeom prst="ellipse">
            <a:avLst/>
          </a:prstGeom>
          <a:solidFill>
            <a:srgbClr val="2F7D62"/>
          </a:solidFill>
          <a:ln/>
        </p:spPr>
      </p:sp>
      <p:sp>
        <p:nvSpPr>
          <p:cNvPr id="32" name="Text 30"/>
          <p:cNvSpPr txBox="1"/>
          <p:nvPr/>
        </p:nvSpPr>
        <p:spPr>
          <a:xfrm>
            <a:off x="956538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3" name="Text 31"/>
          <p:cNvSpPr txBox="1"/>
          <p:nvPr/>
        </p:nvSpPr>
        <p:spPr>
          <a:xfrm>
            <a:off x="9223350"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Démarche</a:t>
            </a:r>
            <a:endParaRPr lang="en-US" sz="1500" dirty="0"/>
          </a:p>
        </p:txBody>
      </p:sp>
      <p:sp>
        <p:nvSpPr>
          <p:cNvPr id="34" name="Text 32"/>
          <p:cNvSpPr txBox="1"/>
          <p:nvPr/>
        </p:nvSpPr>
        <p:spPr>
          <a:xfrm>
            <a:off x="9223350"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TP2 partie 7</a:t>
            </a:r>
            <a:endParaRPr lang="en-US" sz="1300" dirty="0"/>
          </a:p>
        </p:txBody>
      </p:sp>
      <p:sp>
        <p:nvSpPr>
          <p:cNvPr id="35" name="Shape 33"/>
          <p:cNvSpPr/>
          <p:nvPr/>
        </p:nvSpPr>
        <p:spPr>
          <a:xfrm>
            <a:off x="10798099" y="1828800"/>
            <a:ext cx="457200" cy="457200"/>
          </a:xfrm>
          <a:prstGeom prst="ellipse">
            <a:avLst/>
          </a:prstGeom>
          <a:solidFill>
            <a:srgbClr val="2F7D62"/>
          </a:solidFill>
          <a:ln/>
        </p:spPr>
      </p:sp>
      <p:sp>
        <p:nvSpPr>
          <p:cNvPr id="36" name="Text 34"/>
          <p:cNvSpPr txBox="1"/>
          <p:nvPr/>
        </p:nvSpPr>
        <p:spPr>
          <a:xfrm>
            <a:off x="10798099"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7" name="Text 35"/>
          <p:cNvSpPr txBox="1"/>
          <p:nvPr/>
        </p:nvSpPr>
        <p:spPr>
          <a:xfrm>
            <a:off x="10456062"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Parquet</a:t>
            </a:r>
            <a:endParaRPr lang="en-US" sz="1500" dirty="0"/>
          </a:p>
        </p:txBody>
      </p:sp>
      <p:sp>
        <p:nvSpPr>
          <p:cNvPr id="38" name="Text 36"/>
          <p:cNvSpPr txBox="1"/>
          <p:nvPr/>
        </p:nvSpPr>
        <p:spPr>
          <a:xfrm>
            <a:off x="10456062"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TP2 partie 8</a:t>
            </a:r>
            <a:endParaRPr lang="en-US" sz="1300" dirty="0"/>
          </a:p>
        </p:txBody>
      </p:sp>
      <p:sp>
        <p:nvSpPr>
          <p:cNvPr id="39" name="Shape 37"/>
          <p:cNvSpPr/>
          <p:nvPr/>
        </p:nvSpPr>
        <p:spPr>
          <a:xfrm>
            <a:off x="548640" y="3657600"/>
            <a:ext cx="3515258" cy="1600200"/>
          </a:xfrm>
          <a:prstGeom prst="roundRect">
            <a:avLst>
              <a:gd name="adj" fmla="val 4571"/>
            </a:avLst>
          </a:prstGeom>
          <a:solidFill>
            <a:srgbClr val="EEF3F7"/>
          </a:solidFill>
          <a:ln/>
        </p:spPr>
      </p:sp>
      <p:sp>
        <p:nvSpPr>
          <p:cNvPr id="40" name="Text 38"/>
          <p:cNvSpPr txBox="1"/>
          <p:nvPr/>
        </p:nvSpPr>
        <p:spPr>
          <a:xfrm>
            <a:off x="777240"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13h30</a:t>
            </a:r>
            <a:endParaRPr lang="en-US" sz="4000" dirty="0"/>
          </a:p>
        </p:txBody>
      </p:sp>
      <p:sp>
        <p:nvSpPr>
          <p:cNvPr id="41" name="Text 39"/>
          <p:cNvSpPr txBox="1"/>
          <p:nvPr/>
        </p:nvSpPr>
        <p:spPr>
          <a:xfrm>
            <a:off x="777240"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début</a:t>
            </a:r>
            <a:endParaRPr lang="en-US" sz="1500" dirty="0"/>
          </a:p>
        </p:txBody>
      </p:sp>
      <p:sp>
        <p:nvSpPr>
          <p:cNvPr id="42" name="Shape 40"/>
          <p:cNvSpPr/>
          <p:nvPr/>
        </p:nvSpPr>
        <p:spPr>
          <a:xfrm>
            <a:off x="4338218" y="3657600"/>
            <a:ext cx="3515258" cy="1600200"/>
          </a:xfrm>
          <a:prstGeom prst="roundRect">
            <a:avLst>
              <a:gd name="adj" fmla="val 4571"/>
            </a:avLst>
          </a:prstGeom>
          <a:solidFill>
            <a:srgbClr val="EEF3F7"/>
          </a:solidFill>
          <a:ln/>
        </p:spPr>
      </p:sp>
      <p:sp>
        <p:nvSpPr>
          <p:cNvPr id="43" name="Text 41"/>
          <p:cNvSpPr txBox="1"/>
          <p:nvPr/>
        </p:nvSpPr>
        <p:spPr>
          <a:xfrm>
            <a:off x="4566818"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15h00</a:t>
            </a:r>
            <a:endParaRPr lang="en-US" sz="4000" dirty="0"/>
          </a:p>
        </p:txBody>
      </p:sp>
      <p:sp>
        <p:nvSpPr>
          <p:cNvPr id="44" name="Text 42"/>
          <p:cNvSpPr txBox="1"/>
          <p:nvPr/>
        </p:nvSpPr>
        <p:spPr>
          <a:xfrm>
            <a:off x="4566818"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pause</a:t>
            </a:r>
            <a:endParaRPr lang="en-US" sz="1500" dirty="0"/>
          </a:p>
        </p:txBody>
      </p:sp>
      <p:sp>
        <p:nvSpPr>
          <p:cNvPr id="45" name="Shape 43"/>
          <p:cNvSpPr/>
          <p:nvPr/>
        </p:nvSpPr>
        <p:spPr>
          <a:xfrm>
            <a:off x="8127797" y="3657600"/>
            <a:ext cx="3515258" cy="1600200"/>
          </a:xfrm>
          <a:prstGeom prst="roundRect">
            <a:avLst>
              <a:gd name="adj" fmla="val 4571"/>
            </a:avLst>
          </a:prstGeom>
          <a:solidFill>
            <a:srgbClr val="EEF3F7"/>
          </a:solidFill>
          <a:ln/>
        </p:spPr>
      </p:sp>
      <p:sp>
        <p:nvSpPr>
          <p:cNvPr id="46" name="Text 44"/>
          <p:cNvSpPr txBox="1"/>
          <p:nvPr/>
        </p:nvSpPr>
        <p:spPr>
          <a:xfrm>
            <a:off x="8356397"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17h00</a:t>
            </a:r>
            <a:endParaRPr lang="en-US" sz="4000" dirty="0"/>
          </a:p>
        </p:txBody>
      </p:sp>
      <p:sp>
        <p:nvSpPr>
          <p:cNvPr id="47" name="Text 45"/>
          <p:cNvSpPr txBox="1"/>
          <p:nvPr/>
        </p:nvSpPr>
        <p:spPr>
          <a:xfrm>
            <a:off x="8356397"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fin</a:t>
            </a:r>
            <a:endParaRPr lang="en-US" sz="1500" dirty="0"/>
          </a:p>
        </p:txBody>
      </p:sp>
      <p:sp>
        <p:nvSpPr>
          <p:cNvPr id="48" name="Shape 46"/>
          <p:cNvSpPr/>
          <p:nvPr/>
        </p:nvSpPr>
        <p:spPr>
          <a:xfrm>
            <a:off x="548640" y="5577840"/>
            <a:ext cx="11094415" cy="624840"/>
          </a:xfrm>
          <a:prstGeom prst="roundRect">
            <a:avLst>
              <a:gd name="adj" fmla="val 8780"/>
            </a:avLst>
          </a:prstGeom>
          <a:solidFill>
            <a:srgbClr val="E8F3EE"/>
          </a:solidFill>
          <a:ln/>
        </p:spPr>
      </p:sp>
      <p:sp>
        <p:nvSpPr>
          <p:cNvPr id="49" name="Text 47"/>
          <p:cNvSpPr txBox="1"/>
          <p:nvPr/>
        </p:nvSpPr>
        <p:spPr>
          <a:xfrm>
            <a:off x="822960" y="55778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Chaque section de cours est suivie de la partie du TP2 qui lui correspond.</a:t>
            </a:r>
            <a:endParaRPr lang="en-US" sz="1700" dirty="0"/>
          </a:p>
        </p:txBody>
      </p:sp>
      <p:sp>
        <p:nvSpPr>
          <p:cNvPr id="50" name="Text 4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D'où l'on part : les constats du TP1</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169833"/>
                <a:gridCol w="7924582"/>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Constat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Dans le fichier des ventes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Valeurs manquantes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3 régions vides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1366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Valeurs aberrantes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une quantité à -3, un prix à 0, un prix à 12 999, une commande de 480 unités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Variantes d'écriture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Bretagne </a:t>
                      </a:r>
                      <a:pPr indent="0" marL="0">
                        <a:buNone/>
                      </a:pPr>
                      <a:r>
                        <a:rPr lang="en-US" sz="1600" dirty="0">
                          <a:solidFill>
                            <a:srgbClr val="1F2933"/>
                          </a:solidFill>
                          <a:latin typeface="Calibri" pitchFamily="34" charset="0"/>
                          <a:ea typeface="Calibri" pitchFamily="34" charset="-122"/>
                          <a:cs typeface="Calibri" pitchFamily="34" charset="-120"/>
                        </a:rPr>
                        <a:t> avec un espace, </a:t>
                      </a:r>
                      <a:pPr indent="0" marL="0">
                        <a:buNone/>
                      </a:pPr>
                      <a:r>
                        <a:rPr lang="en-US" sz="1600" dirty="0">
                          <a:solidFill>
                            <a:srgbClr val="1F3A5F"/>
                          </a:solidFill>
                          <a:latin typeface="Courier New" pitchFamily="34" charset="0"/>
                          <a:ea typeface="Courier New" pitchFamily="34" charset="-122"/>
                          <a:cs typeface="Courier New" pitchFamily="34" charset="-120"/>
                        </a:rPr>
                        <a:t>occitanie</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Ile-de-France</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INFORMATIQUE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Doublons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2 lignes identiques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Types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date</a:t>
                      </a:r>
                      <a:pPr indent="0" marL="0">
                        <a:buNone/>
                      </a:pPr>
                      <a:r>
                        <a:rPr lang="en-US" sz="1600" dirty="0">
                          <a:solidFill>
                            <a:srgbClr val="1F2933"/>
                          </a:solidFill>
                          <a:latin typeface="Calibri" pitchFamily="34" charset="0"/>
                          <a:ea typeface="Calibri" pitchFamily="34" charset="-122"/>
                          <a:cs typeface="Calibri" pitchFamily="34" charset="-120"/>
                        </a:rPr>
                        <a:t> lue comme du texte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Noms de colonnes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Prix unitaire</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Client fidèle</a:t>
                      </a:r>
                      <a:pPr indent="0" marL="0">
                        <a:buNone/>
                      </a:pPr>
                      <a:r>
                        <a:rPr lang="en-US" sz="1600" dirty="0">
                          <a:solidFill>
                            <a:srgbClr val="1F2933"/>
                          </a:solidFill>
                          <a:latin typeface="Calibri" pitchFamily="34" charset="0"/>
                          <a:ea typeface="Calibri" pitchFamily="34" charset="-122"/>
                          <a:cs typeface="Calibri" pitchFamily="34" charset="-120"/>
                        </a:rPr>
                        <a:t> au milieu de noms en minuscules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4"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Sélectionner des données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loc et iloc   |   Filtrage booléen   |   Modifier une sélection</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SÉLECTIONNER DES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loc et iloc</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4835098" cy="914400"/>
        </p:xfrm>
        <a:graphic>
          <a:graphicData uri="http://schemas.openxmlformats.org/drawingml/2006/table">
            <a:tbl>
              <a:tblPr/>
              <a:tblGrid>
                <a:gridCol w="1715680"/>
                <a:gridCol w="1559709"/>
                <a:gridCol w="1559709"/>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loc</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iloc</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Sélectionne par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label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position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Fin de tranche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incluse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exclue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Masque booléen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oui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140456"/>
            <a:ext cx="4835098"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La syntaxe est toujours </a:t>
            </a:r>
            <a:pPr indent="0" marL="0">
              <a:buNone/>
            </a:pPr>
            <a:r>
              <a:rPr lang="en-US" sz="1600" dirty="0">
                <a:solidFill>
                  <a:srgbClr val="1F3A5F"/>
                </a:solidFill>
                <a:latin typeface="Courier New" pitchFamily="34" charset="0"/>
                <a:ea typeface="Courier New" pitchFamily="34" charset="-122"/>
                <a:cs typeface="Courier New" pitchFamily="34" charset="-120"/>
              </a:rPr>
              <a:t>df.loc[lignes, colonnes]</a:t>
            </a:r>
            <a:pPr indent="0" marL="0">
              <a:buNone/>
            </a:pPr>
            <a:r>
              <a:rPr lang="en-US" sz="1600" dirty="0">
                <a:solidFill>
                  <a:srgbClr val="6B7280"/>
                </a:solidFill>
                <a:latin typeface="Calibri" pitchFamily="34" charset="0"/>
                <a:ea typeface="Calibri" pitchFamily="34" charset="-122"/>
                <a:cs typeface="Calibri" pitchFamily="34" charset="-120"/>
              </a:rPr>
              <a:t>. Les deux-points seuls signifient « tout ».</a:t>
            </a:r>
            <a:endParaRPr lang="en-US" sz="1600" dirty="0"/>
          </a:p>
        </p:txBody>
      </p:sp>
      <p:sp>
        <p:nvSpPr>
          <p:cNvPr id="8" name="Shape 5"/>
          <p:cNvSpPr/>
          <p:nvPr/>
        </p:nvSpPr>
        <p:spPr>
          <a:xfrm>
            <a:off x="5840938" y="1417320"/>
            <a:ext cx="5802117" cy="1761236"/>
          </a:xfrm>
          <a:prstGeom prst="rect">
            <a:avLst/>
          </a:prstGeom>
          <a:solidFill>
            <a:srgbClr val="F3F4F6"/>
          </a:solidFill>
          <a:ln/>
        </p:spPr>
      </p:sp>
      <p:sp>
        <p:nvSpPr>
          <p:cNvPr id="9" name="Text 6"/>
          <p:cNvSpPr txBox="1"/>
          <p:nvPr/>
        </p:nvSpPr>
        <p:spPr>
          <a:xfrm>
            <a:off x="6023818" y="1563624"/>
            <a:ext cx="5436357" cy="1468628"/>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df.loc[0]                              # label 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df.loc[0:4, ["produit", "quantite"]]   # 5 lignes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df.iloc[0:4, [4, 6]]                   # 4 lignes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df.iloc[-1]         # dernière ligne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df.iloc[:, 0]       # première colonne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df.loc[:, "produit"]</a:t>
            </a:r>
            <a:endParaRPr lang="en-US" sz="14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SÉLECTIONNER DES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Label ou position : la différence après un tri</a:t>
            </a:r>
            <a:endParaRPr lang="en-US" sz="3000" dirty="0"/>
          </a:p>
        </p:txBody>
      </p:sp>
      <p:sp>
        <p:nvSpPr>
          <p:cNvPr id="6" name="Shape 4"/>
          <p:cNvSpPr/>
          <p:nvPr/>
        </p:nvSpPr>
        <p:spPr>
          <a:xfrm>
            <a:off x="548640" y="1417320"/>
            <a:ext cx="5318608" cy="1656334"/>
          </a:xfrm>
          <a:prstGeom prst="rect">
            <a:avLst/>
          </a:prstGeom>
          <a:solidFill>
            <a:srgbClr val="F3F4F6"/>
          </a:solidFill>
          <a:ln/>
        </p:spPr>
      </p:sp>
      <p:sp>
        <p:nvSpPr>
          <p:cNvPr id="7" name="Text 5"/>
          <p:cNvSpPr txBox="1"/>
          <p:nvPr/>
        </p:nvSpPr>
        <p:spPr>
          <a:xfrm>
            <a:off x="731520" y="1563624"/>
            <a:ext cx="4952848" cy="1363726"/>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tri = df.sort_values("quantite", ascending=False)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tri.loc[0]     # la ligne de label 0,</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 où qu'elle soit après le tri</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tri.iloc[0]    # la nouvelle première ligne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 la plus grosse quantité</a:t>
            </a:r>
            <a:endParaRPr lang="en-US" sz="1300" dirty="0"/>
          </a:p>
        </p:txBody>
      </p:sp>
      <p:sp>
        <p:nvSpPr>
          <p:cNvPr id="8" name="Text 6"/>
          <p:cNvSpPr txBox="1"/>
          <p:nvPr/>
        </p:nvSpPr>
        <p:spPr>
          <a:xfrm>
            <a:off x="6324448" y="1417320"/>
            <a:ext cx="5318608" cy="195072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Avec l'index par défaut, labels et positions coïncident : la différence ne se voit pas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Elle apparaît dès qu'on </a:t>
            </a:r>
            <a:pPr indent="0" marL="0">
              <a:buNone/>
            </a:pPr>
            <a:r>
              <a:rPr lang="en-US" sz="1700" b="1" dirty="0">
                <a:solidFill>
                  <a:srgbClr val="1F2933"/>
                </a:solidFill>
                <a:latin typeface="Calibri" pitchFamily="34" charset="0"/>
                <a:ea typeface="Calibri" pitchFamily="34" charset="-122"/>
                <a:cs typeface="Calibri" pitchFamily="34" charset="-120"/>
              </a:rPr>
              <a:t>trie</a:t>
            </a:r>
            <a:pPr indent="0" marL="0">
              <a:buNone/>
            </a:pPr>
            <a:r>
              <a:rPr lang="en-US" sz="1700" dirty="0">
                <a:solidFill>
                  <a:srgbClr val="1F2933"/>
                </a:solidFill>
                <a:latin typeface="Calibri" pitchFamily="34" charset="0"/>
                <a:ea typeface="Calibri" pitchFamily="34" charset="-122"/>
                <a:cs typeface="Calibri" pitchFamily="34" charset="-120"/>
              </a:rPr>
              <a:t>, </a:t>
            </a:r>
            <a:pPr indent="0" marL="0">
              <a:buNone/>
            </a:pPr>
            <a:r>
              <a:rPr lang="en-US" sz="1700" b="1" dirty="0">
                <a:solidFill>
                  <a:srgbClr val="1F2933"/>
                </a:solidFill>
                <a:latin typeface="Calibri" pitchFamily="34" charset="0"/>
                <a:ea typeface="Calibri" pitchFamily="34" charset="-122"/>
                <a:cs typeface="Calibri" pitchFamily="34" charset="-120"/>
              </a:rPr>
              <a:t>filtre</a:t>
            </a:r>
            <a:pPr indent="0" marL="0">
              <a:buNone/>
            </a:pPr>
            <a:r>
              <a:rPr lang="en-US" sz="1700" dirty="0">
                <a:solidFill>
                  <a:srgbClr val="1F2933"/>
                </a:solidFill>
                <a:latin typeface="Calibri" pitchFamily="34" charset="0"/>
                <a:ea typeface="Calibri" pitchFamily="34" charset="-122"/>
                <a:cs typeface="Calibri" pitchFamily="34" charset="-120"/>
              </a:rPr>
              <a:t> ou </a:t>
            </a:r>
            <a:pPr indent="0" marL="0">
              <a:buNone/>
            </a:pPr>
            <a:r>
              <a:rPr lang="en-US" sz="1700" b="1" dirty="0">
                <a:solidFill>
                  <a:srgbClr val="1F2933"/>
                </a:solidFill>
                <a:latin typeface="Calibri" pitchFamily="34" charset="0"/>
                <a:ea typeface="Calibri" pitchFamily="34" charset="-122"/>
                <a:cs typeface="Calibri" pitchFamily="34" charset="-120"/>
              </a:rPr>
              <a:t>change d'index</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loc</a:t>
            </a:r>
            <a:pPr indent="0" marL="0">
              <a:buNone/>
            </a:pPr>
            <a:r>
              <a:rPr lang="en-US" sz="1700" dirty="0">
                <a:solidFill>
                  <a:srgbClr val="1F2933"/>
                </a:solidFill>
                <a:latin typeface="Calibri" pitchFamily="34" charset="0"/>
                <a:ea typeface="Calibri" pitchFamily="34" charset="-122"/>
                <a:cs typeface="Calibri" pitchFamily="34" charset="-120"/>
              </a:rPr>
              <a:t> suit les lignes, </a:t>
            </a:r>
            <a:pPr indent="0" marL="0">
              <a:buNone/>
            </a:pPr>
            <a:r>
              <a:rPr lang="en-US" sz="1700" dirty="0">
                <a:solidFill>
                  <a:srgbClr val="1F3A5F"/>
                </a:solidFill>
                <a:latin typeface="Courier New" pitchFamily="34" charset="0"/>
                <a:ea typeface="Courier New" pitchFamily="34" charset="-122"/>
                <a:cs typeface="Courier New" pitchFamily="34" charset="-120"/>
              </a:rPr>
              <a:t>iloc</a:t>
            </a:r>
            <a:pPr indent="0" marL="0">
              <a:buNone/>
            </a:pPr>
            <a:r>
              <a:rPr lang="en-US" sz="1700" dirty="0">
                <a:solidFill>
                  <a:srgbClr val="1F2933"/>
                </a:solidFill>
                <a:latin typeface="Calibri" pitchFamily="34" charset="0"/>
                <a:ea typeface="Calibri" pitchFamily="34" charset="-122"/>
                <a:cs typeface="Calibri" pitchFamily="34" charset="-120"/>
              </a:rPr>
              <a:t> suit l'ordre d'affichage</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SÉLECTIONNER DES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filtrage booléen</a:t>
            </a:r>
            <a:endParaRPr lang="en-US" sz="3000" dirty="0"/>
          </a:p>
        </p:txBody>
      </p:sp>
      <p:sp>
        <p:nvSpPr>
          <p:cNvPr id="6" name="Shape 4"/>
          <p:cNvSpPr/>
          <p:nvPr/>
        </p:nvSpPr>
        <p:spPr>
          <a:xfrm>
            <a:off x="548640" y="1417320"/>
            <a:ext cx="5802117" cy="2390648"/>
          </a:xfrm>
          <a:prstGeom prst="rect">
            <a:avLst/>
          </a:prstGeom>
          <a:solidFill>
            <a:srgbClr val="F3F4F6"/>
          </a:solidFill>
          <a:ln/>
        </p:spPr>
      </p:sp>
      <p:sp>
        <p:nvSpPr>
          <p:cNvPr id="7" name="Text 5"/>
          <p:cNvSpPr txBox="1"/>
          <p:nvPr/>
        </p:nvSpPr>
        <p:spPr>
          <a:xfrm>
            <a:off x="731520" y="1563624"/>
            <a:ext cx="5436357" cy="2098040"/>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df["quantite"] &gt; 10          # masque True / False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df[df["quantite"] &gt; 10]      # lignes filtrées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df[(df["categorie"] == "Bureau")</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&amp; (df["quantite"] &gt;= 5)]</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df[(df["quantite"] &lt;= 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 (df["quantite"] &gt; 100)]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df[~df["Client fidèle"]]</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1611699"/>
                <a:gridCol w="3223399"/>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Opérateur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&amp;</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ou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non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9" name="Shape 6"/>
          <p:cNvSpPr/>
          <p:nvPr/>
        </p:nvSpPr>
        <p:spPr>
          <a:xfrm>
            <a:off x="6807957" y="3257296"/>
            <a:ext cx="4835098" cy="624840"/>
          </a:xfrm>
          <a:prstGeom prst="roundRect">
            <a:avLst>
              <a:gd name="adj" fmla="val 8780"/>
            </a:avLst>
          </a:prstGeom>
          <a:solidFill>
            <a:srgbClr val="E8F3EE"/>
          </a:solidFill>
          <a:ln/>
        </p:spPr>
      </p:sp>
      <p:sp>
        <p:nvSpPr>
          <p:cNvPr id="10" name="Text 7"/>
          <p:cNvSpPr txBox="1"/>
          <p:nvPr/>
        </p:nvSpPr>
        <p:spPr>
          <a:xfrm>
            <a:off x="7082277" y="3257296"/>
            <a:ext cx="4286458"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Chaque condition entre parenthèses.</a:t>
            </a:r>
            <a:endParaRPr lang="en-US" sz="17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SÉLECTIONNER DES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deux erreurs classiques</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Ne fonctionne pas</a:t>
            </a:r>
            <a:endParaRPr lang="en-US" sz="1700" dirty="0"/>
          </a:p>
        </p:txBody>
      </p:sp>
      <p:sp>
        <p:nvSpPr>
          <p:cNvPr id="7" name="Shape 5"/>
          <p:cNvSpPr/>
          <p:nvPr/>
        </p:nvSpPr>
        <p:spPr>
          <a:xfrm>
            <a:off x="548640" y="1828800"/>
            <a:ext cx="5318608" cy="1551432"/>
          </a:xfrm>
          <a:prstGeom prst="rect">
            <a:avLst/>
          </a:prstGeom>
          <a:solidFill>
            <a:srgbClr val="F3F4F6"/>
          </a:solidFill>
          <a:ln/>
        </p:spPr>
      </p:sp>
      <p:sp>
        <p:nvSpPr>
          <p:cNvPr id="8" name="Text 6"/>
          <p:cNvSpPr txBox="1"/>
          <p:nvPr/>
        </p:nvSpPr>
        <p:spPr>
          <a:xfrm>
            <a:off x="731520" y="1975104"/>
            <a:ext cx="4952848" cy="125882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df[df["quantite"] &gt; 5 and df["quantite"] &lt; 10]</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ValueError: The truth value of a</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Series is ambiguous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df[df["quantite"] &gt; 5 &amp; df["quantite"] &lt; 10]</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erreur : &amp; est prioritaire sur &gt; et &lt;</a:t>
            </a:r>
            <a:endParaRPr lang="en-US" sz="14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Fonctionne</a:t>
            </a:r>
            <a:endParaRPr lang="en-US" sz="1700" dirty="0"/>
          </a:p>
        </p:txBody>
      </p:sp>
      <p:sp>
        <p:nvSpPr>
          <p:cNvPr id="10" name="Shape 8"/>
          <p:cNvSpPr/>
          <p:nvPr/>
        </p:nvSpPr>
        <p:spPr>
          <a:xfrm>
            <a:off x="6324448" y="1828800"/>
            <a:ext cx="5318608" cy="1071880"/>
          </a:xfrm>
          <a:prstGeom prst="rect">
            <a:avLst/>
          </a:prstGeom>
          <a:solidFill>
            <a:srgbClr val="F3F4F6"/>
          </a:solidFill>
          <a:ln/>
        </p:spPr>
      </p:sp>
      <p:sp>
        <p:nvSpPr>
          <p:cNvPr id="11" name="Text 9"/>
          <p:cNvSpPr txBox="1"/>
          <p:nvPr/>
        </p:nvSpPr>
        <p:spPr>
          <a:xfrm>
            <a:off x="6507328" y="1975104"/>
            <a:ext cx="4952848" cy="77927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df[(df["quantite"] &gt; 5) &amp; (df["quantite"] &lt; 10)]</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ou, plus lisible ici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df[df["quantite"].between(6, 9)]</a:t>
            </a:r>
            <a:endParaRPr lang="en-US" sz="1300" dirty="0"/>
          </a:p>
        </p:txBody>
      </p:sp>
      <p:sp>
        <p:nvSpPr>
          <p:cNvPr id="12" name="Shape 10"/>
          <p:cNvSpPr/>
          <p:nvPr/>
        </p:nvSpPr>
        <p:spPr>
          <a:xfrm>
            <a:off x="548640" y="3700272"/>
            <a:ext cx="11094415" cy="883920"/>
          </a:xfrm>
          <a:prstGeom prst="roundRect">
            <a:avLst>
              <a:gd name="adj" fmla="val 6207"/>
            </a:avLst>
          </a:prstGeom>
          <a:solidFill>
            <a:srgbClr val="E8F3EE"/>
          </a:solidFill>
          <a:ln/>
        </p:spPr>
      </p:sp>
      <p:sp>
        <p:nvSpPr>
          <p:cNvPr id="13" name="Text 11"/>
          <p:cNvSpPr txBox="1"/>
          <p:nvPr/>
        </p:nvSpPr>
        <p:spPr>
          <a:xfrm>
            <a:off x="822960" y="3700272"/>
            <a:ext cx="10545775" cy="883920"/>
          </a:xfrm>
          <a:prstGeom prst="rect">
            <a:avLst/>
          </a:prstGeom>
          <a:noFill/>
          <a:ln/>
        </p:spPr>
        <p:txBody>
          <a:bodyPr wrap="square" lIns="0" tIns="0" rIns="0" bIns="0" rtlCol="0" anchor="ctr"/>
          <a:lstStyle/>
          <a:p>
            <a:pPr indent="0" marL="0">
              <a:buNone/>
            </a:pPr>
            <a:r>
              <a:rPr lang="en-US" sz="1700" dirty="0">
                <a:solidFill>
                  <a:srgbClr val="2F7D62"/>
                </a:solidFill>
                <a:latin typeface="Courier New" pitchFamily="34" charset="0"/>
                <a:ea typeface="Courier New" pitchFamily="34" charset="-122"/>
                <a:cs typeface="Courier New" pitchFamily="34" charset="-120"/>
              </a:rPr>
              <a:t>and</a:t>
            </a:r>
            <a:pPr indent="0" marL="0">
              <a:buNone/>
            </a:pPr>
            <a:r>
              <a:rPr lang="en-US" sz="1700" dirty="0">
                <a:solidFill>
                  <a:srgbClr val="1F3A5F"/>
                </a:solidFill>
                <a:latin typeface="Calibri" pitchFamily="34" charset="0"/>
                <a:ea typeface="Calibri" pitchFamily="34" charset="-122"/>
                <a:cs typeface="Calibri" pitchFamily="34" charset="-120"/>
              </a:rPr>
              <a:t> et </a:t>
            </a:r>
            <a:pPr indent="0" marL="0">
              <a:buNone/>
            </a:pPr>
            <a:r>
              <a:rPr lang="en-US" sz="1700" dirty="0">
                <a:solidFill>
                  <a:srgbClr val="2F7D62"/>
                </a:solidFill>
                <a:latin typeface="Courier New" pitchFamily="34" charset="0"/>
                <a:ea typeface="Courier New" pitchFamily="34" charset="-122"/>
                <a:cs typeface="Courier New" pitchFamily="34" charset="-120"/>
              </a:rPr>
              <a:t>or</a:t>
            </a:r>
            <a:pPr indent="0" marL="0">
              <a:buNone/>
            </a:pPr>
            <a:r>
              <a:rPr lang="en-US" sz="1700" dirty="0">
                <a:solidFill>
                  <a:srgbClr val="1F3A5F"/>
                </a:solidFill>
                <a:latin typeface="Calibri" pitchFamily="34" charset="0"/>
                <a:ea typeface="Calibri" pitchFamily="34" charset="-122"/>
                <a:cs typeface="Calibri" pitchFamily="34" charset="-120"/>
              </a:rPr>
              <a:t> comparent deux valeurs uniques. Pour comparer deux colonnes ligne par ligne, il faut </a:t>
            </a:r>
            <a:pPr indent="0" marL="0">
              <a:buNone/>
            </a:pPr>
            <a:r>
              <a:rPr lang="en-US" sz="1700" dirty="0">
                <a:solidFill>
                  <a:srgbClr val="2F7D62"/>
                </a:solidFill>
                <a:latin typeface="Courier New" pitchFamily="34" charset="0"/>
                <a:ea typeface="Courier New" pitchFamily="34" charset="-122"/>
                <a:cs typeface="Courier New" pitchFamily="34" charset="-120"/>
              </a:rPr>
              <a:t>&amp;</a:t>
            </a:r>
            <a:pPr indent="0" marL="0">
              <a:buNone/>
            </a:pPr>
            <a:r>
              <a:rPr lang="en-US" sz="1700" dirty="0">
                <a:solidFill>
                  <a:srgbClr val="1F3A5F"/>
                </a:solidFill>
                <a:latin typeface="Calibri" pitchFamily="34" charset="0"/>
                <a:ea typeface="Calibri" pitchFamily="34" charset="-122"/>
                <a:cs typeface="Calibri" pitchFamily="34" charset="-120"/>
              </a:rPr>
              <a:t> et </a:t>
            </a:r>
            <a:pPr indent="0" marL="0">
              <a:buNone/>
            </a:pPr>
            <a:r>
              <a:rPr lang="en-US" sz="1700" dirty="0">
                <a:solidFill>
                  <a:srgbClr val="2F7D62"/>
                </a:solidFill>
                <a:latin typeface="Courier New" pitchFamily="34" charset="0"/>
                <a:ea typeface="Courier New" pitchFamily="34" charset="-122"/>
                <a:cs typeface="Courier New" pitchFamily="34" charset="-120"/>
              </a:rPr>
              <a:t>|</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SÉLECTIONNER DES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Construire des conditions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929464"/>
                <a:gridCol w="5064842"/>
                <a:gridCol w="4100110"/>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Méthode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Exemple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Garde les lignes où...</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isin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df["region"].isin(["Bretagne", "Occitanie"])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la valeur est dans la liste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between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df["Prix unitaire"].between(10, 50)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la valeur est dans l'intervalle, bornes incluses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isna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df["region"].isna()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la valeur est manquante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str.contains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df["produit"].str.contains("Écran")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le texte contient le pattern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548640" y="3783330"/>
            <a:ext cx="11094415"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Sélection combinée, et query pour les filtres longs</a:t>
            </a:r>
            <a:endParaRPr lang="en-US" sz="1200" dirty="0"/>
          </a:p>
        </p:txBody>
      </p:sp>
      <p:sp>
        <p:nvSpPr>
          <p:cNvPr id="8" name="Shape 5"/>
          <p:cNvSpPr/>
          <p:nvPr/>
        </p:nvSpPr>
        <p:spPr>
          <a:xfrm>
            <a:off x="548640" y="4075938"/>
            <a:ext cx="11094415" cy="1191768"/>
          </a:xfrm>
          <a:prstGeom prst="rect">
            <a:avLst/>
          </a:prstGeom>
          <a:solidFill>
            <a:srgbClr val="F3F4F6"/>
          </a:solidFill>
          <a:ln/>
        </p:spPr>
      </p:sp>
      <p:sp>
        <p:nvSpPr>
          <p:cNvPr id="9" name="Text 6"/>
          <p:cNvSpPr txBox="1"/>
          <p:nvPr/>
        </p:nvSpPr>
        <p:spPr>
          <a:xfrm>
            <a:off x="731520" y="4222242"/>
            <a:ext cx="10728655"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df.loc[df["quantite"] &gt; 10, ["date", "produit", "quantite"]]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df.query("quantite &gt; 10 and categorie == 'Bureau'")</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df.query("`Prix unitaire` &gt; 5000")     # espaces : accents graves</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SÉLECTIONNER DES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Modifier une sélection</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Sans effet</a:t>
            </a:r>
            <a:endParaRPr lang="en-US" sz="1700" dirty="0"/>
          </a:p>
        </p:txBody>
      </p:sp>
      <p:sp>
        <p:nvSpPr>
          <p:cNvPr id="7" name="Shape 5"/>
          <p:cNvSpPr/>
          <p:nvPr/>
        </p:nvSpPr>
        <p:spPr>
          <a:xfrm>
            <a:off x="548640" y="1828800"/>
            <a:ext cx="5318608" cy="742188"/>
          </a:xfrm>
          <a:prstGeom prst="rect">
            <a:avLst/>
          </a:prstGeom>
          <a:solidFill>
            <a:srgbClr val="F3F4F6"/>
          </a:solidFill>
          <a:ln/>
        </p:spPr>
      </p:sp>
      <p:sp>
        <p:nvSpPr>
          <p:cNvPr id="8" name="Text 6"/>
          <p:cNvSpPr txBox="1"/>
          <p:nvPr/>
        </p:nvSpPr>
        <p:spPr>
          <a:xfrm>
            <a:off x="731520" y="1975104"/>
            <a:ext cx="495284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df[df["quantite"] &gt; 100]["quantite"] = 0</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ChainedAssignmentError</a:t>
            </a:r>
            <a:endParaRPr lang="en-US" sz="1500" dirty="0"/>
          </a:p>
        </p:txBody>
      </p:sp>
      <p:sp>
        <p:nvSpPr>
          <p:cNvPr id="9" name="Text 7"/>
          <p:cNvSpPr txBox="1"/>
          <p:nvPr/>
        </p:nvSpPr>
        <p:spPr>
          <a:xfrm>
            <a:off x="548640" y="2891028"/>
            <a:ext cx="5318608"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Deux étapes : la sélection crée une copie temporaire, c'est elle qui est modifiée, puis elle est perdue.</a:t>
            </a:r>
            <a:endParaRPr lang="en-US" sz="1600" dirty="0"/>
          </a:p>
        </p:txBody>
      </p:sp>
      <p:sp>
        <p:nvSpPr>
          <p:cNvPr id="10" name="Text 8"/>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Correct</a:t>
            </a:r>
            <a:endParaRPr lang="en-US" sz="1700" dirty="0"/>
          </a:p>
        </p:txBody>
      </p:sp>
      <p:sp>
        <p:nvSpPr>
          <p:cNvPr id="11" name="Shape 9"/>
          <p:cNvSpPr/>
          <p:nvPr/>
        </p:nvSpPr>
        <p:spPr>
          <a:xfrm>
            <a:off x="6324448" y="1828800"/>
            <a:ext cx="5318608" cy="1071880"/>
          </a:xfrm>
          <a:prstGeom prst="rect">
            <a:avLst/>
          </a:prstGeom>
          <a:solidFill>
            <a:srgbClr val="F3F4F6"/>
          </a:solidFill>
          <a:ln/>
        </p:spPr>
      </p:sp>
      <p:sp>
        <p:nvSpPr>
          <p:cNvPr id="12" name="Text 10"/>
          <p:cNvSpPr txBox="1"/>
          <p:nvPr/>
        </p:nvSpPr>
        <p:spPr>
          <a:xfrm>
            <a:off x="6507328" y="1975104"/>
            <a:ext cx="4952848" cy="77927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df.loc[df["quantite"] &gt; 100, "quantite"] = 0</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sous-ensemble à modifier ensuite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bureau = df[df["categorie"] == "Bureau"].copy()</a:t>
            </a:r>
            <a:endParaRPr lang="en-US" sz="1300" dirty="0"/>
          </a:p>
        </p:txBody>
      </p:sp>
      <p:sp>
        <p:nvSpPr>
          <p:cNvPr id="13" name="Text 11"/>
          <p:cNvSpPr txBox="1"/>
          <p:nvPr/>
        </p:nvSpPr>
        <p:spPr>
          <a:xfrm>
            <a:off x="6324448" y="3220720"/>
            <a:ext cx="531860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Une seule étape avec </a:t>
            </a:r>
            <a:pPr indent="0" marL="0">
              <a:buNone/>
            </a:pPr>
            <a:r>
              <a:rPr lang="en-US" sz="1600" dirty="0">
                <a:solidFill>
                  <a:srgbClr val="1F3A5F"/>
                </a:solidFill>
                <a:latin typeface="Courier New" pitchFamily="34" charset="0"/>
                <a:ea typeface="Courier New" pitchFamily="34" charset="-122"/>
                <a:cs typeface="Courier New" pitchFamily="34" charset="-120"/>
              </a:rPr>
              <a:t>loc</a:t>
            </a:r>
            <a:pPr indent="0" marL="0">
              <a:buNone/>
            </a:pPr>
            <a:r>
              <a:rPr lang="en-US" sz="1600" dirty="0">
                <a:solidFill>
                  <a:srgbClr val="6B7280"/>
                </a:solidFill>
                <a:latin typeface="Calibri" pitchFamily="34" charset="0"/>
                <a:ea typeface="Calibri" pitchFamily="34" charset="-122"/>
                <a:cs typeface="Calibri" pitchFamily="34" charset="-120"/>
              </a:rPr>
              <a:t> : sélection et affectation portent sur </a:t>
            </a:r>
            <a:pPr indent="0" marL="0">
              <a:buNone/>
            </a:pPr>
            <a:r>
              <a:rPr lang="en-US" sz="1600" dirty="0">
                <a:solidFill>
                  <a:srgbClr val="1F3A5F"/>
                </a:solidFill>
                <a:latin typeface="Courier New" pitchFamily="34" charset="0"/>
                <a:ea typeface="Courier New" pitchFamily="34" charset="-122"/>
                <a:cs typeface="Courier New" pitchFamily="34" charset="-120"/>
              </a:rPr>
              <a:t>df</a:t>
            </a:r>
            <a:pPr indent="0" marL="0">
              <a:buNone/>
            </a:pPr>
            <a:r>
              <a:rPr lang="en-US" sz="1600" dirty="0">
                <a:solidFill>
                  <a:srgbClr val="6B7280"/>
                </a:solidFill>
                <a:latin typeface="Calibri" pitchFamily="34" charset="0"/>
                <a:ea typeface="Calibri" pitchFamily="34" charset="-122"/>
                <a:cs typeface="Calibri" pitchFamily="34" charset="-120"/>
              </a:rPr>
              <a:t> lui-même.</a:t>
            </a:r>
            <a:endParaRPr lang="en-US" sz="1600" dirty="0"/>
          </a:p>
        </p:txBody>
      </p:sp>
      <p:sp>
        <p:nvSpPr>
          <p:cNvPr id="14" name="Shape 12"/>
          <p:cNvSpPr/>
          <p:nvPr/>
        </p:nvSpPr>
        <p:spPr>
          <a:xfrm>
            <a:off x="548640" y="4165600"/>
            <a:ext cx="11094415" cy="883920"/>
          </a:xfrm>
          <a:prstGeom prst="roundRect">
            <a:avLst>
              <a:gd name="adj" fmla="val 6207"/>
            </a:avLst>
          </a:prstGeom>
          <a:solidFill>
            <a:srgbClr val="E8F3EE"/>
          </a:solidFill>
          <a:ln/>
        </p:spPr>
      </p:sp>
      <p:sp>
        <p:nvSpPr>
          <p:cNvPr id="15" name="Text 13"/>
          <p:cNvSpPr txBox="1"/>
          <p:nvPr/>
        </p:nvSpPr>
        <p:spPr>
          <a:xfrm>
            <a:off x="822960" y="416560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Depuis pandas 3, le mode Copy-on-Write est actif par défaut : toute sélection se comporte comme une copie. Avec pandas 2, le même code affichait un </a:t>
            </a:r>
            <a:pPr indent="0" marL="0">
              <a:buNone/>
            </a:pPr>
            <a:r>
              <a:rPr lang="en-US" sz="1700" dirty="0">
                <a:solidFill>
                  <a:srgbClr val="2F7D62"/>
                </a:solidFill>
                <a:latin typeface="Courier New" pitchFamily="34" charset="0"/>
                <a:ea typeface="Courier New" pitchFamily="34" charset="-122"/>
                <a:cs typeface="Courier New" pitchFamily="34" charset="-120"/>
              </a:rPr>
              <a:t>SettingWithCopyWarning</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6" name="Text 1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SÉLECTIONNER DES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TP2, partie 1</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Sélectionner des données, dans le notebook </a:t>
            </a:r>
            <a:pPr indent="0" marL="0">
              <a:buNone/>
            </a:pPr>
            <a:r>
              <a:rPr lang="en-US" sz="1800" dirty="0">
                <a:solidFill>
                  <a:srgbClr val="1F3A5F"/>
                </a:solidFill>
                <a:latin typeface="Courier New" pitchFamily="34" charset="0"/>
                <a:ea typeface="Courier New" pitchFamily="34" charset="-122"/>
                <a:cs typeface="Courier New" pitchFamily="34" charset="-120"/>
              </a:rPr>
              <a:t>exercices/tp02-nettoyage/tp02.ipynb</a:t>
            </a:r>
            <a:endParaRPr lang="en-US" sz="1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les mêmes lignes avec </a:t>
                      </a:r>
                      <a:pPr indent="0" marL="0">
                        <a:buNone/>
                      </a:pPr>
                      <a:r>
                        <a:rPr lang="en-US" sz="1600" dirty="0">
                          <a:solidFill>
                            <a:srgbClr val="1F3A5F"/>
                          </a:solidFill>
                          <a:latin typeface="Courier New" pitchFamily="34" charset="0"/>
                          <a:ea typeface="Courier New" pitchFamily="34" charset="-122"/>
                          <a:cs typeface="Courier New" pitchFamily="34" charset="-120"/>
                        </a:rPr>
                        <a:t>loc</a:t>
                      </a:r>
                      <a:pPr indent="0" marL="0">
                        <a:buNone/>
                      </a:pPr>
                      <a:r>
                        <a:rPr lang="en-US" sz="1600" dirty="0">
                          <a:solidFill>
                            <a:srgbClr val="1F2933"/>
                          </a:solidFill>
                          <a:latin typeface="Calibri" pitchFamily="34" charset="0"/>
                          <a:ea typeface="Calibri" pitchFamily="34" charset="-122"/>
                          <a:cs typeface="Calibri" pitchFamily="34" charset="-120"/>
                        </a:rPr>
                        <a:t> puis avec </a:t>
                      </a:r>
                      <a:pPr indent="0" marL="0">
                        <a:buNone/>
                      </a:pPr>
                      <a:r>
                        <a:rPr lang="en-US" sz="1600" dirty="0">
                          <a:solidFill>
                            <a:srgbClr val="1F3A5F"/>
                          </a:solidFill>
                          <a:latin typeface="Courier New" pitchFamily="34" charset="0"/>
                          <a:ea typeface="Courier New" pitchFamily="34" charset="-122"/>
                          <a:cs typeface="Courier New" pitchFamily="34" charset="-120"/>
                        </a:rPr>
                        <a:t>iloc</a:t>
                      </a:r>
                      <a:pPr indent="0" marL="0">
                        <a:buNone/>
                      </a:pPr>
                      <a:r>
                        <a:rPr lang="en-US" sz="1600" dirty="0">
                          <a:solidFill>
                            <a:srgbClr val="1F2933"/>
                          </a:solidFill>
                          <a:latin typeface="Calibri" pitchFamily="34" charset="0"/>
                          <a:ea typeface="Calibri" pitchFamily="34" charset="-122"/>
                          <a:cs typeface="Calibri" pitchFamily="34" charset="-120"/>
                        </a:rPr>
                        <a:t> : pourquoi les bornes diffèrent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1.2 et 1.3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combiner des conditions, </a:t>
                      </a:r>
                      <a:pPr indent="0" marL="0">
                        <a:buNone/>
                      </a:pPr>
                      <a:r>
                        <a:rPr lang="en-US" sz="1600" dirty="0">
                          <a:solidFill>
                            <a:srgbClr val="1F3A5F"/>
                          </a:solidFill>
                          <a:latin typeface="Courier New" pitchFamily="34" charset="0"/>
                          <a:ea typeface="Courier New" pitchFamily="34" charset="-122"/>
                          <a:cs typeface="Courier New" pitchFamily="34" charset="-120"/>
                        </a:rPr>
                        <a:t>isin</a:t>
                      </a:r>
                      <a:pPr indent="0" marL="0">
                        <a:buNone/>
                      </a:pPr>
                      <a:r>
                        <a:rPr lang="en-US" sz="1600" dirty="0">
                          <a:solidFill>
                            <a:srgbClr val="1F2933"/>
                          </a:solidFill>
                          <a:latin typeface="Calibri" pitchFamily="34" charset="0"/>
                          <a:ea typeface="Calibri" pitchFamily="34" charset="-122"/>
                          <a:cs typeface="Calibri" pitchFamily="34" charset="-120"/>
                        </a:rPr>
                        <a:t>, et ce que le filtre laisse échapper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1.4 à 1.6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loc</a:t>
                      </a:r>
                      <a:pPr indent="0" marL="0">
                        <a:buNone/>
                      </a:pPr>
                      <a:r>
                        <a:rPr lang="en-US" sz="1600" dirty="0">
                          <a:solidFill>
                            <a:srgbClr val="1F2933"/>
                          </a:solidFill>
                          <a:latin typeface="Calibri" pitchFamily="34" charset="0"/>
                          <a:ea typeface="Calibri" pitchFamily="34" charset="-122"/>
                          <a:cs typeface="Calibri" pitchFamily="34" charset="-120"/>
                        </a:rPr>
                        <a:t> avec un masque et des colonnes, </a:t>
                      </a:r>
                      <a:pPr indent="0" marL="0">
                        <a:buNone/>
                      </a:pPr>
                      <a:r>
                        <a:rPr lang="en-US" sz="1600" dirty="0">
                          <a:solidFill>
                            <a:srgbClr val="1F3A5F"/>
                          </a:solidFill>
                          <a:latin typeface="Courier New" pitchFamily="34" charset="0"/>
                          <a:ea typeface="Courier New" pitchFamily="34" charset="-122"/>
                          <a:cs typeface="Courier New" pitchFamily="34" charset="-120"/>
                        </a:rPr>
                        <a:t>~</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between</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query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modifier une copie en une seule instruction avec </a:t>
                      </a:r>
                      <a:pPr indent="0" marL="0">
                        <a:buNone/>
                      </a:pPr>
                      <a:r>
                        <a:rPr lang="en-US" sz="1600" dirty="0">
                          <a:solidFill>
                            <a:srgbClr val="1F3A5F"/>
                          </a:solidFill>
                          <a:latin typeface="Courier New" pitchFamily="34" charset="0"/>
                          <a:ea typeface="Courier New" pitchFamily="34" charset="-122"/>
                          <a:cs typeface="Courier New" pitchFamily="34" charset="-120"/>
                        </a:rPr>
                        <a:t>loc</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Shape 5"/>
          <p:cNvSpPr/>
          <p:nvPr/>
        </p:nvSpPr>
        <p:spPr>
          <a:xfrm>
            <a:off x="548640" y="4231640"/>
            <a:ext cx="11094415" cy="883920"/>
          </a:xfrm>
          <a:prstGeom prst="roundRect">
            <a:avLst>
              <a:gd name="adj" fmla="val 6207"/>
            </a:avLst>
          </a:prstGeom>
          <a:solidFill>
            <a:srgbClr val="E8F3EE"/>
          </a:solidFill>
          <a:ln/>
        </p:spPr>
      </p:sp>
      <p:sp>
        <p:nvSpPr>
          <p:cNvPr id="9" name="Text 6"/>
          <p:cNvSpPr txBox="1"/>
          <p:nvPr/>
        </p:nvSpPr>
        <p:spPr>
          <a:xfrm>
            <a:off x="822960" y="423164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Comme au TP1 : </a:t>
            </a:r>
            <a:pPr indent="0" marL="0">
              <a:buNone/>
            </a:pPr>
            <a:r>
              <a:rPr lang="en-US" sz="1700" b="1" dirty="0">
                <a:solidFill>
                  <a:srgbClr val="1F3A5F"/>
                </a:solidFill>
                <a:latin typeface="Calibri" pitchFamily="34" charset="0"/>
                <a:ea typeface="Calibri" pitchFamily="34" charset="-122"/>
                <a:cs typeface="Calibri" pitchFamily="34" charset="-120"/>
              </a:rPr>
              <a:t>résultat attendu</a:t>
            </a:r>
            <a:pPr indent="0" marL="0">
              <a:buNone/>
            </a:pPr>
            <a:r>
              <a:rPr lang="en-US" sz="1700" dirty="0">
                <a:solidFill>
                  <a:srgbClr val="1F3A5F"/>
                </a:solidFill>
                <a:latin typeface="Calibri" pitchFamily="34" charset="0"/>
                <a:ea typeface="Calibri" pitchFamily="34" charset="-122"/>
                <a:cs typeface="Calibri" pitchFamily="34" charset="-120"/>
              </a:rPr>
              <a:t>, cellules de </a:t>
            </a:r>
            <a:pPr indent="0" marL="0">
              <a:buNone/>
            </a:pPr>
            <a:r>
              <a:rPr lang="en-US" sz="1700" b="1" dirty="0">
                <a:solidFill>
                  <a:srgbClr val="1F3A5F"/>
                </a:solidFill>
                <a:latin typeface="Calibri" pitchFamily="34" charset="0"/>
                <a:ea typeface="Calibri" pitchFamily="34" charset="-122"/>
                <a:cs typeface="Calibri" pitchFamily="34" charset="-120"/>
              </a:rPr>
              <a:t>vérification</a:t>
            </a:r>
            <a:pPr indent="0" marL="0">
              <a:buNone/>
            </a:pPr>
            <a:r>
              <a:rPr lang="en-US" sz="1700" dirty="0">
                <a:solidFill>
                  <a:srgbClr val="1F3A5F"/>
                </a:solidFill>
                <a:latin typeface="Calibri" pitchFamily="34" charset="0"/>
                <a:ea typeface="Calibri" pitchFamily="34" charset="-122"/>
                <a:cs typeface="Calibri" pitchFamily="34" charset="-120"/>
              </a:rPr>
              <a:t> avec </a:t>
            </a:r>
            <a:pPr indent="0" marL="0">
              <a:buNone/>
            </a:pPr>
            <a:r>
              <a:rPr lang="en-US" sz="1700" dirty="0">
                <a:solidFill>
                  <a:srgbClr val="2F7D62"/>
                </a:solidFill>
                <a:latin typeface="Courier New" pitchFamily="34" charset="0"/>
                <a:ea typeface="Courier New" pitchFamily="34" charset="-122"/>
                <a:cs typeface="Courier New" pitchFamily="34" charset="-120"/>
              </a:rPr>
              <a:t>assert</a:t>
            </a:r>
            <a:pPr indent="0" marL="0">
              <a:buNone/>
            </a:pPr>
            <a:r>
              <a:rPr lang="en-US" sz="1700" dirty="0">
                <a:solidFill>
                  <a:srgbClr val="1F3A5F"/>
                </a:solidFill>
                <a:latin typeface="Calibri" pitchFamily="34" charset="0"/>
                <a:ea typeface="Calibri" pitchFamily="34" charset="-122"/>
                <a:cs typeface="Calibri" pitchFamily="34" charset="-120"/>
              </a:rPr>
              <a:t>, questions </a:t>
            </a:r>
            <a:pPr indent="0" marL="0">
              <a:buNone/>
            </a:pPr>
            <a:r>
              <a:rPr lang="en-US" sz="1700" b="1" dirty="0">
                <a:solidFill>
                  <a:srgbClr val="1F3A5F"/>
                </a:solidFill>
                <a:latin typeface="Calibri" pitchFamily="34" charset="0"/>
                <a:ea typeface="Calibri" pitchFamily="34" charset="-122"/>
                <a:cs typeface="Calibri" pitchFamily="34" charset="-120"/>
              </a:rPr>
              <a:t>Pour aller plus loin</a:t>
            </a:r>
            <a:pPr indent="0" marL="0">
              <a:buNone/>
            </a:pPr>
            <a:r>
              <a:rPr lang="en-US" sz="1700" dirty="0">
                <a:solidFill>
                  <a:srgbClr val="1F3A5F"/>
                </a:solidFill>
                <a:latin typeface="Calibri" pitchFamily="34" charset="0"/>
                <a:ea typeface="Calibri" pitchFamily="34" charset="-122"/>
                <a:cs typeface="Calibri" pitchFamily="34" charset="-120"/>
              </a:rPr>
              <a:t> facultatives.</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Transformer les données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Créer et supprimer   |   map et apply   |   pd.cut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TRANSFORMER LES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Créer une colonne</a:t>
            </a:r>
            <a:endParaRPr lang="en-US" sz="3000" dirty="0"/>
          </a:p>
        </p:txBody>
      </p:sp>
      <p:sp>
        <p:nvSpPr>
          <p:cNvPr id="6" name="Shape 4"/>
          <p:cNvSpPr/>
          <p:nvPr/>
        </p:nvSpPr>
        <p:spPr>
          <a:xfrm>
            <a:off x="548640" y="1417320"/>
            <a:ext cx="5802117" cy="1656334"/>
          </a:xfrm>
          <a:prstGeom prst="rect">
            <a:avLst/>
          </a:prstGeom>
          <a:solidFill>
            <a:srgbClr val="F3F4F6"/>
          </a:solidFill>
          <a:ln/>
        </p:spPr>
      </p:sp>
      <p:sp>
        <p:nvSpPr>
          <p:cNvPr id="7" name="Text 5"/>
          <p:cNvSpPr txBox="1"/>
          <p:nvPr/>
        </p:nvSpPr>
        <p:spPr>
          <a:xfrm>
            <a:off x="731520" y="1563624"/>
            <a:ext cx="5436357" cy="1363726"/>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df["montant"] = df["Prix unitaire"] * df["quantite"]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df["montant_ttc"] = (df["montant"] * 1.2).round(2)</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df["source"] = "boutique"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df["taille_commande"] = np.where(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df["quantite"] &gt;= 10, "grosse", "standard"</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p:txBody>
      </p:sp>
      <p:sp>
        <p:nvSpPr>
          <p:cNvPr id="8" name="Text 6"/>
          <p:cNvSpPr txBox="1"/>
          <p:nvPr/>
        </p:nvSpPr>
        <p:spPr>
          <a:xfrm>
            <a:off x="6807957" y="1417320"/>
            <a:ext cx="4835098" cy="195072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On affecte un calcul vectorisé à un nouveau nom de colonne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Une valeur seule est répétée sur toutes les lignes</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np.where(condition, si_vrai, si_faux)</a:t>
            </a:r>
            <a:pPr indent="0" marL="0">
              <a:buNone/>
            </a:pPr>
            <a:r>
              <a:rPr lang="en-US" sz="1700" dirty="0">
                <a:solidFill>
                  <a:srgbClr val="1F2933"/>
                </a:solidFill>
                <a:latin typeface="Calibri" pitchFamily="34" charset="0"/>
                <a:ea typeface="Calibri" pitchFamily="34" charset="-122"/>
                <a:cs typeface="Calibri" pitchFamily="34" charset="-120"/>
              </a:rPr>
              <a:t> : le </a:t>
            </a:r>
            <a:pPr indent="0" marL="0">
              <a:buNone/>
            </a:pPr>
            <a:r>
              <a:rPr lang="en-US" sz="1700" dirty="0">
                <a:solidFill>
                  <a:srgbClr val="1F3A5F"/>
                </a:solidFill>
                <a:latin typeface="Courier New" pitchFamily="34" charset="0"/>
                <a:ea typeface="Courier New" pitchFamily="34" charset="-122"/>
                <a:cs typeface="Courier New" pitchFamily="34" charset="-120"/>
              </a:rPr>
              <a:t>if ... else</a:t>
            </a:r>
            <a:pPr indent="0" marL="0">
              <a:buNone/>
            </a:pPr>
            <a:r>
              <a:rPr lang="en-US" sz="1700" dirty="0">
                <a:solidFill>
                  <a:srgbClr val="1F2933"/>
                </a:solidFill>
                <a:latin typeface="Calibri" pitchFamily="34" charset="0"/>
                <a:ea typeface="Calibri" pitchFamily="34" charset="-122"/>
                <a:cs typeface="Calibri" pitchFamily="34" charset="-120"/>
              </a:rPr>
              <a:t> vectorisé</a:t>
            </a:r>
            <a:endParaRPr lang="en-US" sz="1700" dirty="0"/>
          </a:p>
        </p:txBody>
      </p:sp>
      <p:sp>
        <p:nvSpPr>
          <p:cNvPr id="9" name="Text 7"/>
          <p:cNvSpPr txBox="1"/>
          <p:nvPr/>
        </p:nvSpPr>
        <p:spPr>
          <a:xfrm>
            <a:off x="6807957" y="3688080"/>
            <a:ext cx="483509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assign : sans modifier l'original</a:t>
            </a:r>
            <a:endParaRPr lang="en-US" sz="1200" dirty="0"/>
          </a:p>
        </p:txBody>
      </p:sp>
      <p:sp>
        <p:nvSpPr>
          <p:cNvPr id="10" name="Shape 8"/>
          <p:cNvSpPr/>
          <p:nvPr/>
        </p:nvSpPr>
        <p:spPr>
          <a:xfrm>
            <a:off x="6807957" y="3980688"/>
            <a:ext cx="4835098" cy="951992"/>
          </a:xfrm>
          <a:prstGeom prst="rect">
            <a:avLst/>
          </a:prstGeom>
          <a:solidFill>
            <a:srgbClr val="F3F4F6"/>
          </a:solidFill>
          <a:ln/>
        </p:spPr>
      </p:sp>
      <p:sp>
        <p:nvSpPr>
          <p:cNvPr id="11" name="Text 9"/>
          <p:cNvSpPr txBox="1"/>
          <p:nvPr/>
        </p:nvSpPr>
        <p:spPr>
          <a:xfrm>
            <a:off x="6990837" y="4126992"/>
            <a:ext cx="4469338" cy="659384"/>
          </a:xfrm>
          <a:prstGeom prst="rect">
            <a:avLst/>
          </a:prstGeom>
          <a:noFill/>
          <a:ln/>
        </p:spPr>
        <p:txBody>
          <a:bodyPr wrap="square" lIns="0" tIns="0" rIns="0" bIns="0" rtlCol="0" anchor="t"/>
          <a:lstStyle/>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df_enrichi = df.assign(</a:t>
            </a:r>
            <a:endParaRPr lang="en-US" sz="1100" dirty="0"/>
          </a:p>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    montant=df["Prix unitaire"] * df["quantite"],</a:t>
            </a:r>
            <a:endParaRPr lang="en-US" sz="1100" dirty="0"/>
          </a:p>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    annee=df["date"].dt.year,</a:t>
            </a:r>
            <a:endParaRPr lang="en-US" sz="1100" dirty="0"/>
          </a:p>
          <a:p>
            <a:pPr indent="0" marL="0">
              <a:lnSpc>
                <a:spcPct val="100000"/>
              </a:lnSpc>
              <a:buNone/>
            </a:pPr>
            <a:r>
              <a:rPr lang="en-US" sz="1100" dirty="0">
                <a:solidFill>
                  <a:srgbClr val="1F2933"/>
                </a:solidFill>
                <a:latin typeface="Courier New" pitchFamily="34" charset="0"/>
                <a:ea typeface="Courier New" pitchFamily="34" charset="-122"/>
                <a:cs typeface="Courier New" pitchFamily="34" charset="-120"/>
              </a:rPr>
              <a:t>)</a:t>
            </a:r>
            <a:endParaRPr lang="en-US" sz="11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TRANSFORMER LES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Supprimer des colonnes ou des lignes</a:t>
            </a:r>
            <a:endParaRPr lang="en-US" sz="3000" dirty="0"/>
          </a:p>
        </p:txBody>
      </p:sp>
      <p:sp>
        <p:nvSpPr>
          <p:cNvPr id="6" name="Shape 4"/>
          <p:cNvSpPr/>
          <p:nvPr/>
        </p:nvSpPr>
        <p:spPr>
          <a:xfrm>
            <a:off x="548640" y="1417320"/>
            <a:ext cx="5802117" cy="966978"/>
          </a:xfrm>
          <a:prstGeom prst="rect">
            <a:avLst/>
          </a:prstGeom>
          <a:solidFill>
            <a:srgbClr val="F3F4F6"/>
          </a:solidFill>
          <a:ln/>
        </p:spPr>
      </p:sp>
      <p:sp>
        <p:nvSpPr>
          <p:cNvPr id="7" name="Text 5"/>
          <p:cNvSpPr txBox="1"/>
          <p:nvPr/>
        </p:nvSpPr>
        <p:spPr>
          <a:xfrm>
            <a:off x="731520" y="1563624"/>
            <a:ext cx="5436357"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 = df.drop(columns=["source", "montant_ttc"])</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 = df.drop(index=[0, 1])    # par label</a:t>
            </a:r>
            <a:endParaRPr lang="en-US" sz="1500" dirty="0"/>
          </a:p>
        </p:txBody>
      </p:sp>
      <p:sp>
        <p:nvSpPr>
          <p:cNvPr id="8" name="Text 6"/>
          <p:cNvSpPr txBox="1"/>
          <p:nvPr/>
        </p:nvSpPr>
        <p:spPr>
          <a:xfrm>
            <a:off x="6807957" y="1417320"/>
            <a:ext cx="4835098" cy="195072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drop</a:t>
            </a:r>
            <a:pPr indent="0" marL="0">
              <a:buNone/>
            </a:pPr>
            <a:r>
              <a:rPr lang="en-US" sz="1700" dirty="0">
                <a:solidFill>
                  <a:srgbClr val="1F2933"/>
                </a:solidFill>
                <a:latin typeface="Calibri" pitchFamily="34" charset="0"/>
                <a:ea typeface="Calibri" pitchFamily="34" charset="-122"/>
                <a:cs typeface="Calibri" pitchFamily="34" charset="-120"/>
              </a:rPr>
              <a:t> renvoie un </a:t>
            </a:r>
            <a:pPr indent="0" marL="0">
              <a:buNone/>
            </a:pPr>
            <a:r>
              <a:rPr lang="en-US" sz="1700" b="1" dirty="0">
                <a:solidFill>
                  <a:srgbClr val="1F2933"/>
                </a:solidFill>
                <a:latin typeface="Calibri" pitchFamily="34" charset="0"/>
                <a:ea typeface="Calibri" pitchFamily="34" charset="-122"/>
                <a:cs typeface="Calibri" pitchFamily="34" charset="-120"/>
              </a:rPr>
              <a:t>nouveau</a:t>
            </a:r>
            <a:pPr indent="0" marL="0">
              <a:buNone/>
            </a:pPr>
            <a:r>
              <a:rPr lang="en-US" sz="1700" dirty="0">
                <a:solidFill>
                  <a:srgbClr val="1F2933"/>
                </a:solidFill>
                <a:latin typeface="Calibri" pitchFamily="34" charset="0"/>
                <a:ea typeface="Calibri" pitchFamily="34" charset="-122"/>
                <a:cs typeface="Calibri" pitchFamily="34" charset="-120"/>
              </a:rPr>
              <a:t> DataFrame : il faut réaffecter le résultat</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inplace=True</a:t>
            </a:r>
            <a:pPr indent="0" marL="0">
              <a:buNone/>
            </a:pPr>
            <a:r>
              <a:rPr lang="en-US" sz="1700" dirty="0">
                <a:solidFill>
                  <a:srgbClr val="1F2933"/>
                </a:solidFill>
                <a:latin typeface="Calibri" pitchFamily="34" charset="0"/>
                <a:ea typeface="Calibri" pitchFamily="34" charset="-122"/>
                <a:cs typeface="Calibri" pitchFamily="34" charset="-120"/>
              </a:rPr>
              <a:t> existe encore, mais il est déconseillé</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Il n'apporte aucun gain et empêche d'enchaîner les opérations</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TRANSFORMER LES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map : remplacer valeur par valeur</a:t>
            </a:r>
            <a:endParaRPr lang="en-US" sz="3000" dirty="0"/>
          </a:p>
        </p:txBody>
      </p:sp>
      <p:sp>
        <p:nvSpPr>
          <p:cNvPr id="6" name="Shape 4"/>
          <p:cNvSpPr/>
          <p:nvPr/>
        </p:nvSpPr>
        <p:spPr>
          <a:xfrm>
            <a:off x="548640" y="1417320"/>
            <a:ext cx="5318608" cy="2630424"/>
          </a:xfrm>
          <a:prstGeom prst="rect">
            <a:avLst/>
          </a:prstGeom>
          <a:solidFill>
            <a:srgbClr val="F3F4F6"/>
          </a:solidFill>
          <a:ln/>
        </p:spPr>
      </p:sp>
      <p:sp>
        <p:nvSpPr>
          <p:cNvPr id="7" name="Text 5"/>
          <p:cNvSpPr txBox="1"/>
          <p:nvPr/>
        </p:nvSpPr>
        <p:spPr>
          <a:xfrm>
            <a:off x="731520" y="1563624"/>
            <a:ext cx="4952848" cy="2337816"/>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codes =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"Bureau": "BUR",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"Papeterie": "PAP",</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"Informatique": "INF",</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"Électroménager": "ELM",</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df["code_categorie"] = df["categorie"].map(codes)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avec une fonction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df["premier_mot"] = df["produit"].map(</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lambda p: p.split()[0]</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p:txBody>
      </p:sp>
      <p:sp>
        <p:nvSpPr>
          <p:cNvPr id="8" name="Text 6"/>
          <p:cNvSpPr txBox="1"/>
          <p:nvPr/>
        </p:nvSpPr>
        <p:spPr>
          <a:xfrm>
            <a:off x="6324448" y="1417320"/>
            <a:ext cx="5318608" cy="16916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S'applique à une </a:t>
            </a:r>
            <a:pPr indent="0" marL="0">
              <a:buNone/>
            </a:pPr>
            <a:r>
              <a:rPr lang="en-US" sz="1700" b="1" dirty="0">
                <a:solidFill>
                  <a:srgbClr val="1F2933"/>
                </a:solidFill>
                <a:latin typeface="Calibri" pitchFamily="34" charset="0"/>
                <a:ea typeface="Calibri" pitchFamily="34" charset="-122"/>
                <a:cs typeface="Calibri" pitchFamily="34" charset="-120"/>
              </a:rPr>
              <a:t>Series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Avec un dictionnaire : chaque valeur est remplacée par sa correspondance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Les valeurs absentes du dictionnaire deviennent </a:t>
            </a:r>
            <a:pPr indent="0" marL="0">
              <a:buNone/>
            </a:pPr>
            <a:r>
              <a:rPr lang="en-US" sz="1700" dirty="0">
                <a:solidFill>
                  <a:srgbClr val="1F3A5F"/>
                </a:solidFill>
                <a:latin typeface="Courier New" pitchFamily="34" charset="0"/>
                <a:ea typeface="Courier New" pitchFamily="34" charset="-122"/>
                <a:cs typeface="Courier New" pitchFamily="34" charset="-120"/>
              </a:rPr>
              <a:t>NaN</a:t>
            </a:r>
            <a:endParaRPr lang="en-US" sz="1700" dirty="0"/>
          </a:p>
        </p:txBody>
      </p:sp>
      <p:sp>
        <p:nvSpPr>
          <p:cNvPr id="9" name="Shape 7"/>
          <p:cNvSpPr/>
          <p:nvPr/>
        </p:nvSpPr>
        <p:spPr>
          <a:xfrm>
            <a:off x="6324448" y="3429000"/>
            <a:ext cx="5318608" cy="1143000"/>
          </a:xfrm>
          <a:prstGeom prst="roundRect">
            <a:avLst>
              <a:gd name="adj" fmla="val 4800"/>
            </a:avLst>
          </a:prstGeom>
          <a:solidFill>
            <a:srgbClr val="E8F3EE"/>
          </a:solidFill>
          <a:ln/>
        </p:spPr>
      </p:sp>
      <p:sp>
        <p:nvSpPr>
          <p:cNvPr id="10" name="Text 8"/>
          <p:cNvSpPr txBox="1"/>
          <p:nvPr/>
        </p:nvSpPr>
        <p:spPr>
          <a:xfrm>
            <a:off x="6598768" y="3429000"/>
            <a:ext cx="4769968" cy="114300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Ici, </a:t>
            </a:r>
            <a:pPr indent="0" marL="0">
              <a:buNone/>
            </a:pPr>
            <a:r>
              <a:rPr lang="en-US" sz="1700" dirty="0">
                <a:solidFill>
                  <a:srgbClr val="2F7D62"/>
                </a:solidFill>
                <a:latin typeface="Courier New" pitchFamily="34" charset="0"/>
                <a:ea typeface="Courier New" pitchFamily="34" charset="-122"/>
                <a:cs typeface="Courier New" pitchFamily="34" charset="-120"/>
              </a:rPr>
              <a:t>INFORMATIQUE</a:t>
            </a:r>
            <a:pPr indent="0" marL="0">
              <a:buNone/>
            </a:pPr>
            <a:r>
              <a:rPr lang="en-US" sz="1700" dirty="0">
                <a:solidFill>
                  <a:srgbClr val="1F3A5F"/>
                </a:solidFill>
                <a:latin typeface="Calibri" pitchFamily="34" charset="0"/>
                <a:ea typeface="Calibri" pitchFamily="34" charset="-122"/>
                <a:cs typeface="Calibri" pitchFamily="34" charset="-120"/>
              </a:rPr>
              <a:t> en majuscules donne </a:t>
            </a:r>
            <a:pPr indent="0" marL="0">
              <a:buNone/>
            </a:pPr>
            <a:r>
              <a:rPr lang="en-US" sz="1700" dirty="0">
                <a:solidFill>
                  <a:srgbClr val="2F7D62"/>
                </a:solidFill>
                <a:latin typeface="Courier New" pitchFamily="34" charset="0"/>
                <a:ea typeface="Courier New" pitchFamily="34" charset="-122"/>
                <a:cs typeface="Courier New" pitchFamily="34" charset="-120"/>
              </a:rPr>
              <a:t>NaN</a:t>
            </a:r>
            <a:pPr indent="0" marL="0">
              <a:buNone/>
            </a:pPr>
            <a:r>
              <a:rPr lang="en-US" sz="1700" dirty="0">
                <a:solidFill>
                  <a:srgbClr val="1F3A5F"/>
                </a:solidFill>
                <a:latin typeface="Calibri" pitchFamily="34" charset="0"/>
                <a:ea typeface="Calibri" pitchFamily="34" charset="-122"/>
                <a:cs typeface="Calibri" pitchFamily="34" charset="-120"/>
              </a:rPr>
              <a:t> : un bon moyen de repérer les valeurs inattendues, à condition de vérifier le résultat.</a:t>
            </a:r>
            <a:endParaRPr lang="en-US" sz="17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TRANSFORMER LES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apply : une fonction par ligne</a:t>
            </a:r>
            <a:endParaRPr lang="en-US" sz="3000" dirty="0"/>
          </a:p>
        </p:txBody>
      </p:sp>
      <p:sp>
        <p:nvSpPr>
          <p:cNvPr id="6" name="Shape 4"/>
          <p:cNvSpPr/>
          <p:nvPr/>
        </p:nvSpPr>
        <p:spPr>
          <a:xfrm>
            <a:off x="548640" y="1417320"/>
            <a:ext cx="5802117" cy="1266698"/>
          </a:xfrm>
          <a:prstGeom prst="rect">
            <a:avLst/>
          </a:prstGeom>
          <a:solidFill>
            <a:srgbClr val="F3F4F6"/>
          </a:solidFill>
          <a:ln/>
        </p:spPr>
      </p:sp>
      <p:sp>
        <p:nvSpPr>
          <p:cNvPr id="7" name="Text 5"/>
          <p:cNvSpPr txBox="1"/>
          <p:nvPr/>
        </p:nvSpPr>
        <p:spPr>
          <a:xfrm>
            <a:off x="731520" y="1563624"/>
            <a:ext cx="5436357" cy="97409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def libelle(ligne):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return f"{ligne['produit']} x{ligne['quantite']}"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df["libelle"] = df.apply(libelle, axis=1)</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"Lampe LED x9"</a:t>
            </a:r>
            <a:endParaRPr lang="en-US" sz="1300" dirty="0"/>
          </a:p>
        </p:txBody>
      </p:sp>
      <p:sp>
        <p:nvSpPr>
          <p:cNvPr id="8" name="Text 6"/>
          <p:cNvSpPr txBox="1"/>
          <p:nvPr/>
        </p:nvSpPr>
        <p:spPr>
          <a:xfrm>
            <a:off x="6807957" y="1417320"/>
            <a:ext cx="4835098" cy="257048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Sur une Series : une fonction par valeur, comme </a:t>
            </a:r>
            <a:pPr indent="0" marL="0">
              <a:buNone/>
            </a:pPr>
            <a:r>
              <a:rPr lang="en-US" sz="1700" dirty="0">
                <a:solidFill>
                  <a:srgbClr val="1F3A5F"/>
                </a:solidFill>
                <a:latin typeface="Courier New" pitchFamily="34" charset="0"/>
                <a:ea typeface="Courier New" pitchFamily="34" charset="-122"/>
                <a:cs typeface="Courier New" pitchFamily="34" charset="-120"/>
              </a:rPr>
              <a:t>map</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Sur un DataFrame avec </a:t>
            </a:r>
            <a:pPr indent="0" marL="0">
              <a:buNone/>
            </a:pPr>
            <a:r>
              <a:rPr lang="en-US" sz="1700" dirty="0">
                <a:solidFill>
                  <a:srgbClr val="1F3A5F"/>
                </a:solidFill>
                <a:latin typeface="Courier New" pitchFamily="34" charset="0"/>
                <a:ea typeface="Courier New" pitchFamily="34" charset="-122"/>
                <a:cs typeface="Courier New" pitchFamily="34" charset="-120"/>
              </a:rPr>
              <a:t>axis=1</a:t>
            </a:r>
            <a:pPr indent="0" marL="0">
              <a:buNone/>
            </a:pPr>
            <a:r>
              <a:rPr lang="en-US" sz="1700" dirty="0">
                <a:solidFill>
                  <a:srgbClr val="1F2933"/>
                </a:solidFill>
                <a:latin typeface="Calibri" pitchFamily="34" charset="0"/>
                <a:ea typeface="Calibri" pitchFamily="34" charset="-122"/>
                <a:cs typeface="Calibri" pitchFamily="34" charset="-120"/>
              </a:rPr>
              <a:t> : une fonction par </a:t>
            </a:r>
            <a:pPr indent="0" marL="0">
              <a:buNone/>
            </a:pPr>
            <a:r>
              <a:rPr lang="en-US" sz="1700" b="1" dirty="0">
                <a:solidFill>
                  <a:srgbClr val="1F2933"/>
                </a:solidFill>
                <a:latin typeface="Calibri" pitchFamily="34" charset="0"/>
                <a:ea typeface="Calibri" pitchFamily="34" charset="-122"/>
                <a:cs typeface="Calibri" pitchFamily="34" charset="-120"/>
              </a:rPr>
              <a:t>ligne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Pratique quand le calcul combine plusieurs colonnes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Mais c'est une boucle Python : </a:t>
            </a:r>
            <a:pPr indent="0" marL="0">
              <a:buNone/>
            </a:pPr>
            <a:r>
              <a:rPr lang="en-US" sz="1700" b="1" dirty="0">
                <a:solidFill>
                  <a:srgbClr val="1F2933"/>
                </a:solidFill>
                <a:latin typeface="Calibri" pitchFamily="34" charset="0"/>
                <a:ea typeface="Calibri" pitchFamily="34" charset="-122"/>
                <a:cs typeface="Calibri" pitchFamily="34" charset="-120"/>
              </a:rPr>
              <a:t>lent</a:t>
            </a:r>
            <a:pPr indent="0" marL="0">
              <a:buNone/>
            </a:pPr>
            <a:r>
              <a:rPr lang="en-US" sz="1700" dirty="0">
                <a:solidFill>
                  <a:srgbClr val="1F2933"/>
                </a:solidFill>
                <a:latin typeface="Calibri" pitchFamily="34" charset="0"/>
                <a:ea typeface="Calibri" pitchFamily="34" charset="-122"/>
                <a:cs typeface="Calibri" pitchFamily="34" charset="-120"/>
              </a:rPr>
              <a:t> sur de gros volumes</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TRANSFORMER LES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Du plus rapide au plus lent</a:t>
            </a:r>
            <a:endParaRPr lang="en-US" sz="3000" dirty="0"/>
          </a:p>
        </p:txBody>
      </p:sp>
      <p:sp>
        <p:nvSpPr>
          <p:cNvPr id="6" name="Shape 4"/>
          <p:cNvSpPr/>
          <p:nvPr/>
        </p:nvSpPr>
        <p:spPr>
          <a:xfrm>
            <a:off x="548640" y="1417320"/>
            <a:ext cx="3515258" cy="2148840"/>
          </a:xfrm>
          <a:prstGeom prst="roundRect">
            <a:avLst>
              <a:gd name="adj" fmla="val 3404"/>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Opérations vectorisées</a:t>
            </a:r>
            <a:endParaRPr lang="en-US" sz="1800" dirty="0"/>
          </a:p>
        </p:txBody>
      </p:sp>
      <p:sp>
        <p:nvSpPr>
          <p:cNvPr id="10" name="Text 8"/>
          <p:cNvSpPr txBox="1"/>
          <p:nvPr/>
        </p:nvSpPr>
        <p:spPr>
          <a:xfrm>
            <a:off x="777240" y="2606040"/>
            <a:ext cx="3058058" cy="7772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Opérateurs, méthodes pandas, </a:t>
            </a:r>
            <a:pPr indent="0" marL="0">
              <a:buNone/>
            </a:pPr>
            <a:r>
              <a:rPr lang="en-US" sz="1500" dirty="0">
                <a:solidFill>
                  <a:srgbClr val="1F3A5F"/>
                </a:solidFill>
                <a:latin typeface="Courier New" pitchFamily="34" charset="0"/>
                <a:ea typeface="Courier New" pitchFamily="34" charset="-122"/>
                <a:cs typeface="Courier New" pitchFamily="34" charset="-120"/>
              </a:rPr>
              <a:t>np.where</a:t>
            </a:r>
            <a:pPr indent="0" marL="0">
              <a:buNone/>
            </a:pPr>
            <a:r>
              <a:rPr lang="en-US" sz="1500" dirty="0">
                <a:solidFill>
                  <a:srgbClr val="1F2933"/>
                </a:solidFill>
                <a:latin typeface="Calibri" pitchFamily="34" charset="0"/>
                <a:ea typeface="Calibri" pitchFamily="34" charset="-122"/>
                <a:cs typeface="Calibri" pitchFamily="34" charset="-120"/>
              </a:rPr>
              <a:t>, accesseurs </a:t>
            </a:r>
            <a:pPr indent="0" marL="0">
              <a:buNone/>
            </a:pPr>
            <a:r>
              <a:rPr lang="en-US" sz="1500" dirty="0">
                <a:solidFill>
                  <a:srgbClr val="1F3A5F"/>
                </a:solidFill>
                <a:latin typeface="Courier New" pitchFamily="34" charset="0"/>
                <a:ea typeface="Courier New" pitchFamily="34" charset="-122"/>
                <a:cs typeface="Courier New" pitchFamily="34" charset="-120"/>
              </a:rPr>
              <a:t>.str</a:t>
            </a:r>
            <a:pPr indent="0" marL="0">
              <a:buNone/>
            </a:pPr>
            <a:r>
              <a:rPr lang="en-US" sz="1500" dirty="0">
                <a:solidFill>
                  <a:srgbClr val="1F2933"/>
                </a:solidFill>
                <a:latin typeface="Calibri" pitchFamily="34" charset="0"/>
                <a:ea typeface="Calibri" pitchFamily="34" charset="-122"/>
                <a:cs typeface="Calibri" pitchFamily="34" charset="-120"/>
              </a:rPr>
              <a:t> et </a:t>
            </a:r>
            <a:pPr indent="0" marL="0">
              <a:buNone/>
            </a:pPr>
            <a:r>
              <a:rPr lang="en-US" sz="1500" dirty="0">
                <a:solidFill>
                  <a:srgbClr val="1F3A5F"/>
                </a:solidFill>
                <a:latin typeface="Courier New" pitchFamily="34" charset="0"/>
                <a:ea typeface="Courier New" pitchFamily="34" charset="-122"/>
                <a:cs typeface="Courier New" pitchFamily="34" charset="-120"/>
              </a:rPr>
              <a:t>.dt</a:t>
            </a:r>
            <a:pPr indent="0" marL="0">
              <a:buNone/>
            </a:pPr>
            <a:r>
              <a:rPr lang="en-US" sz="1500" dirty="0">
                <a:solidFill>
                  <a:srgbClr val="1F2933"/>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4338218" y="1417320"/>
            <a:ext cx="3515258" cy="2148840"/>
          </a:xfrm>
          <a:prstGeom prst="roundRect">
            <a:avLst>
              <a:gd name="adj" fmla="val 3404"/>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map avec un dictionnaire</a:t>
            </a:r>
            <a:endParaRPr lang="en-US" sz="1800" dirty="0"/>
          </a:p>
        </p:txBody>
      </p:sp>
      <p:sp>
        <p:nvSpPr>
          <p:cNvPr id="15" name="Text 13"/>
          <p:cNvSpPr txBox="1"/>
          <p:nvPr/>
        </p:nvSpPr>
        <p:spPr>
          <a:xfrm>
            <a:off x="4566818" y="2606040"/>
            <a:ext cx="3058058" cy="77724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Pour remplacer des valeurs selon une table de correspondance.</a:t>
            </a:r>
            <a:endParaRPr lang="en-US" sz="1500" dirty="0"/>
          </a:p>
        </p:txBody>
      </p:sp>
      <p:sp>
        <p:nvSpPr>
          <p:cNvPr id="16" name="Shape 14"/>
          <p:cNvSpPr/>
          <p:nvPr/>
        </p:nvSpPr>
        <p:spPr>
          <a:xfrm>
            <a:off x="8127797" y="1417320"/>
            <a:ext cx="3515258" cy="2148840"/>
          </a:xfrm>
          <a:prstGeom prst="roundRect">
            <a:avLst>
              <a:gd name="adj" fmla="val 3404"/>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54864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map ou apply avec une fonction</a:t>
            </a:r>
            <a:endParaRPr lang="en-US" sz="1800" dirty="0"/>
          </a:p>
        </p:txBody>
      </p:sp>
      <p:sp>
        <p:nvSpPr>
          <p:cNvPr id="20" name="Text 18"/>
          <p:cNvSpPr txBox="1"/>
          <p:nvPr/>
        </p:nvSpPr>
        <p:spPr>
          <a:xfrm>
            <a:off x="8356397" y="2880360"/>
            <a:ext cx="3058058" cy="5029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En dernier recours, quand rien d'autre ne convient.</a:t>
            </a:r>
            <a:endParaRPr lang="en-US" sz="1500" dirty="0"/>
          </a:p>
        </p:txBody>
      </p:sp>
      <p:sp>
        <p:nvSpPr>
          <p:cNvPr id="21" name="Text 19"/>
          <p:cNvSpPr txBox="1"/>
          <p:nvPr/>
        </p:nvSpPr>
        <p:spPr>
          <a:xfrm>
            <a:off x="548640" y="3886200"/>
            <a:ext cx="11094415"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Le libellé précédent, sans apply</a:t>
            </a:r>
            <a:endParaRPr lang="en-US" sz="1200" dirty="0"/>
          </a:p>
        </p:txBody>
      </p:sp>
      <p:sp>
        <p:nvSpPr>
          <p:cNvPr id="22" name="Shape 20"/>
          <p:cNvSpPr/>
          <p:nvPr/>
        </p:nvSpPr>
        <p:spPr>
          <a:xfrm>
            <a:off x="548640" y="4178808"/>
            <a:ext cx="11094415" cy="517398"/>
          </a:xfrm>
          <a:prstGeom prst="rect">
            <a:avLst/>
          </a:prstGeom>
          <a:solidFill>
            <a:srgbClr val="F3F4F6"/>
          </a:solidFill>
          <a:ln/>
        </p:spPr>
      </p:sp>
      <p:sp>
        <p:nvSpPr>
          <p:cNvPr id="23" name="Text 21"/>
          <p:cNvSpPr txBox="1"/>
          <p:nvPr/>
        </p:nvSpPr>
        <p:spPr>
          <a:xfrm>
            <a:off x="731520" y="4325112"/>
            <a:ext cx="10728655"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df["libelle"] = df["produit"] + " x" + df["quantite"].astype(str)</a:t>
            </a:r>
            <a:endParaRPr lang="en-US" sz="15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TRANSFORMER LES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Découper en tranches avec pd.cut</a:t>
            </a:r>
            <a:endParaRPr lang="en-US" sz="3000" dirty="0"/>
          </a:p>
        </p:txBody>
      </p:sp>
      <p:sp>
        <p:nvSpPr>
          <p:cNvPr id="6" name="Shape 4"/>
          <p:cNvSpPr/>
          <p:nvPr/>
        </p:nvSpPr>
        <p:spPr>
          <a:xfrm>
            <a:off x="548640" y="1417320"/>
            <a:ext cx="6205042" cy="1266698"/>
          </a:xfrm>
          <a:prstGeom prst="rect">
            <a:avLst/>
          </a:prstGeom>
          <a:solidFill>
            <a:srgbClr val="F3F4F6"/>
          </a:solidFill>
          <a:ln/>
        </p:spPr>
      </p:sp>
      <p:sp>
        <p:nvSpPr>
          <p:cNvPr id="7" name="Text 5"/>
          <p:cNvSpPr txBox="1"/>
          <p:nvPr/>
        </p:nvSpPr>
        <p:spPr>
          <a:xfrm>
            <a:off x="731520" y="1563624"/>
            <a:ext cx="5839282" cy="97409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df["gamme"] = pd.cut(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df["Prix unitaire"],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bins=[0, 30, 100, 500],</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labels=["petit prix", "prix moyen", "haut de gamme"],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a:t>
            </a:r>
            <a:endParaRPr lang="en-US" sz="1300" dirty="0"/>
          </a:p>
        </p:txBody>
      </p:sp>
      <p:sp>
        <p:nvSpPr>
          <p:cNvPr id="8" name="Text 6"/>
          <p:cNvSpPr txBox="1"/>
          <p:nvPr/>
        </p:nvSpPr>
        <p:spPr>
          <a:xfrm>
            <a:off x="548640" y="3004058"/>
            <a:ext cx="6205042" cy="62484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np.where</a:t>
            </a:r>
            <a:pPr indent="0" marL="0">
              <a:buNone/>
            </a:pPr>
            <a:r>
              <a:rPr lang="en-US" sz="1600" dirty="0">
                <a:solidFill>
                  <a:srgbClr val="6B7280"/>
                </a:solidFill>
                <a:latin typeface="Calibri" pitchFamily="34" charset="0"/>
                <a:ea typeface="Calibri" pitchFamily="34" charset="-122"/>
                <a:cs typeface="Calibri" pitchFamily="34" charset="-120"/>
              </a:rPr>
              <a:t> choisit entre deux valeurs. </a:t>
            </a:r>
            <a:pPr indent="0" marL="0">
              <a:buNone/>
            </a:pPr>
            <a:r>
              <a:rPr lang="en-US" sz="1600" dirty="0">
                <a:solidFill>
                  <a:srgbClr val="1F3A5F"/>
                </a:solidFill>
                <a:latin typeface="Courier New" pitchFamily="34" charset="0"/>
                <a:ea typeface="Courier New" pitchFamily="34" charset="-122"/>
                <a:cs typeface="Courier New" pitchFamily="34" charset="-120"/>
              </a:rPr>
              <a:t>pd.cut</a:t>
            </a:r>
            <a:pPr indent="0" marL="0">
              <a:buNone/>
            </a:pPr>
            <a:r>
              <a:rPr lang="en-US" sz="1600" dirty="0">
                <a:solidFill>
                  <a:srgbClr val="6B7280"/>
                </a:solidFill>
                <a:latin typeface="Calibri" pitchFamily="34" charset="0"/>
                <a:ea typeface="Calibri" pitchFamily="34" charset="-122"/>
                <a:cs typeface="Calibri" pitchFamily="34" charset="-120"/>
              </a:rPr>
              <a:t> range une valeur numérique dans plus de deux classes, selon des bornes.</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210882" y="1417320"/>
          <a:ext cx="4432173" cy="914400"/>
        </p:xfrm>
        <a:graphic>
          <a:graphicData uri="http://schemas.openxmlformats.org/drawingml/2006/table">
            <a:tbl>
              <a:tblPr/>
              <a:tblGrid>
                <a:gridCol w="1927032"/>
                <a:gridCol w="2505141"/>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Prix unitaire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gamme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petit prix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30,01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prix moyen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189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haut de gamme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 ou 12 999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NaN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0" name="Text 7"/>
          <p:cNvSpPr txBox="1"/>
          <p:nvPr/>
        </p:nvSpPr>
        <p:spPr>
          <a:xfrm>
            <a:off x="7210882" y="3564255"/>
            <a:ext cx="4432173"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Borne de droite incluse, borne de gauche exclue. Le résultat est de type </a:t>
            </a:r>
            <a:pPr indent="0" marL="0">
              <a:buNone/>
            </a:pPr>
            <a:r>
              <a:rPr lang="en-US" sz="1500" dirty="0">
                <a:solidFill>
                  <a:srgbClr val="1F3A5F"/>
                </a:solidFill>
                <a:latin typeface="Courier New" pitchFamily="34" charset="0"/>
                <a:ea typeface="Courier New" pitchFamily="34" charset="-122"/>
                <a:cs typeface="Courier New" pitchFamily="34" charset="-120"/>
              </a:rPr>
              <a:t>category</a:t>
            </a:r>
            <a:pP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TRANSFORMER LES DONNÉES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TP2, partie 2</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Transformer les données, sur un petit tableau de commandes propre</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créer des colonnes par un calcul vectorisé et avec </a:t>
                      </a:r>
                      <a:pPr indent="0" marL="0">
                        <a:buNone/>
                      </a:pPr>
                      <a:r>
                        <a:rPr lang="en-US" sz="1600" dirty="0">
                          <a:solidFill>
                            <a:srgbClr val="1F3A5F"/>
                          </a:solidFill>
                          <a:latin typeface="Courier New" pitchFamily="34" charset="0"/>
                          <a:ea typeface="Courier New" pitchFamily="34" charset="-122"/>
                          <a:cs typeface="Courier New" pitchFamily="34" charset="-120"/>
                        </a:rPr>
                        <a:t>np.where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assign</a:t>
                      </a:r>
                      <a:pPr indent="0" marL="0">
                        <a:buNone/>
                      </a:pPr>
                      <a:r>
                        <a:rPr lang="en-US" sz="1600" dirty="0">
                          <a:solidFill>
                            <a:srgbClr val="1F2933"/>
                          </a:solidFill>
                          <a:latin typeface="Calibri" pitchFamily="34" charset="0"/>
                          <a:ea typeface="Calibri" pitchFamily="34" charset="-122"/>
                          <a:cs typeface="Calibri" pitchFamily="34" charset="-120"/>
                        </a:rPr>
                        <a:t> sans modifier l'original, puis </a:t>
                      </a:r>
                      <a:pPr indent="0" marL="0">
                        <a:buNone/>
                      </a:pPr>
                      <a:r>
                        <a:rPr lang="en-US" sz="1600" dirty="0">
                          <a:solidFill>
                            <a:srgbClr val="1F3A5F"/>
                          </a:solidFill>
                          <a:latin typeface="Courier New" pitchFamily="34" charset="0"/>
                          <a:ea typeface="Courier New" pitchFamily="34" charset="-122"/>
                          <a:cs typeface="Courier New" pitchFamily="34" charset="-120"/>
                        </a:rPr>
                        <a:t>drop</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map</a:t>
                      </a:r>
                      <a:pPr indent="0" marL="0">
                        <a:buNone/>
                      </a:pPr>
                      <a:r>
                        <a:rPr lang="en-US" sz="1600" dirty="0">
                          <a:solidFill>
                            <a:srgbClr val="1F2933"/>
                          </a:solidFill>
                          <a:latin typeface="Calibri" pitchFamily="34" charset="0"/>
                          <a:ea typeface="Calibri" pitchFamily="34" charset="-122"/>
                          <a:cs typeface="Calibri" pitchFamily="34" charset="-120"/>
                        </a:rPr>
                        <a:t> avec un dictionnaire, puis avec une </a:t>
                      </a:r>
                      <a:pPr indent="0" marL="0">
                        <a:buNone/>
                      </a:pPr>
                      <a:r>
                        <a:rPr lang="en-US" sz="1600" dirty="0">
                          <a:solidFill>
                            <a:srgbClr val="1F3A5F"/>
                          </a:solidFill>
                          <a:latin typeface="Courier New" pitchFamily="34" charset="0"/>
                          <a:ea typeface="Courier New" pitchFamily="34" charset="-122"/>
                          <a:cs typeface="Courier New" pitchFamily="34" charset="-120"/>
                        </a:rPr>
                        <a:t>lambda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un libellé avec </a:t>
                      </a:r>
                      <a:pPr indent="0" marL="0">
                        <a:buNone/>
                      </a:pPr>
                      <a:r>
                        <a:rPr lang="en-US" sz="1600" dirty="0">
                          <a:solidFill>
                            <a:srgbClr val="1F3A5F"/>
                          </a:solidFill>
                          <a:latin typeface="Courier New" pitchFamily="34" charset="0"/>
                          <a:ea typeface="Courier New" pitchFamily="34" charset="-122"/>
                          <a:cs typeface="Courier New" pitchFamily="34" charset="-120"/>
                        </a:rPr>
                        <a:t>apply</a:t>
                      </a:r>
                      <a:pPr indent="0" marL="0">
                        <a:buNone/>
                      </a:pPr>
                      <a:r>
                        <a:rPr lang="en-US" sz="1600" dirty="0">
                          <a:solidFill>
                            <a:srgbClr val="1F2933"/>
                          </a:solidFill>
                          <a:latin typeface="Calibri" pitchFamily="34" charset="0"/>
                          <a:ea typeface="Calibri" pitchFamily="34" charset="-122"/>
                          <a:cs typeface="Calibri" pitchFamily="34" charset="-120"/>
                        </a:rPr>
                        <a:t>, puis le même sans </a:t>
                      </a:r>
                      <a:pPr indent="0" marL="0">
                        <a:buNone/>
                      </a:pPr>
                      <a:r>
                        <a:rPr lang="en-US" sz="1600" dirty="0">
                          <a:solidFill>
                            <a:srgbClr val="1F3A5F"/>
                          </a:solidFill>
                          <a:latin typeface="Courier New" pitchFamily="34" charset="0"/>
                          <a:ea typeface="Courier New" pitchFamily="34" charset="-122"/>
                          <a:cs typeface="Courier New" pitchFamily="34" charset="-120"/>
                        </a:rPr>
                        <a:t>apply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Nettoyer le texte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Espaces et casse   |   Remplacer   |   Chercher et extraire</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NETTOYER LE TEXTE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L'accesseur .str</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4835098" cy="914400"/>
        </p:xfrm>
        <a:graphic>
          <a:graphicData uri="http://schemas.openxmlformats.org/drawingml/2006/table">
            <a:tbl>
              <a:tblPr/>
              <a:tblGrid>
                <a:gridCol w="1934039"/>
                <a:gridCol w="2901059"/>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Méthode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Rôle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.str.strip()</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retirer les espaces aux extrémités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.str.lower()</a:t>
                      </a:r>
                      <a:pPr indent="0" marL="0">
                        <a:buNone/>
                      </a:pPr>
                      <a:r>
                        <a:rPr lang="en-US" sz="1400" dirty="0">
                          <a:solidFill>
                            <a:srgbClr val="1F2933"/>
                          </a:solidFill>
                          <a:latin typeface="Calibri" pitchFamily="34" charset="0"/>
                          <a:ea typeface="Calibri" pitchFamily="34" charset="-122"/>
                          <a:cs typeface="Calibri" pitchFamily="34" charset="-120"/>
                        </a:rPr>
                        <a:t>, </a:t>
                      </a:r>
                      <a:pPr indent="0" marL="0">
                        <a:buNone/>
                      </a:pPr>
                      <a:r>
                        <a:rPr lang="en-US" sz="1400" dirty="0">
                          <a:solidFill>
                            <a:srgbClr val="1F3A5F"/>
                          </a:solidFill>
                          <a:latin typeface="Courier New" pitchFamily="34" charset="0"/>
                          <a:ea typeface="Courier New" pitchFamily="34" charset="-122"/>
                          <a:cs typeface="Courier New" pitchFamily="34" charset="-120"/>
                        </a:rPr>
                        <a:t>.str.upper()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changer la casse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.str.replace(a, 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remplacer un pattern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.str.contains(m)</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tester la présence d'un pattern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.str.len()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longueur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.str.split(sep)</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découper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.str.extract(regex)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extraire une partie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Shape 4"/>
          <p:cNvSpPr/>
          <p:nvPr/>
        </p:nvSpPr>
        <p:spPr>
          <a:xfrm>
            <a:off x="5840938" y="1417320"/>
            <a:ext cx="5802117" cy="1416558"/>
          </a:xfrm>
          <a:prstGeom prst="rect">
            <a:avLst/>
          </a:prstGeom>
          <a:solidFill>
            <a:srgbClr val="F3F4F6"/>
          </a:solidFill>
          <a:ln/>
        </p:spPr>
      </p:sp>
      <p:sp>
        <p:nvSpPr>
          <p:cNvPr id="8" name="Text 5"/>
          <p:cNvSpPr txBox="1"/>
          <p:nvPr/>
        </p:nvSpPr>
        <p:spPr>
          <a:xfrm>
            <a:off x="6023818" y="1563624"/>
            <a:ext cx="5436357"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df["region"].str.strip()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df["categorie"].str.lower()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les méthodes s'enchaînent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df["region"].str.strip().str.lower()</a:t>
            </a:r>
            <a:endParaRPr lang="en-US" sz="1500" dirty="0"/>
          </a:p>
        </p:txBody>
      </p:sp>
      <p:sp>
        <p:nvSpPr>
          <p:cNvPr id="9" name="Text 6"/>
          <p:cNvSpPr txBox="1"/>
          <p:nvPr/>
        </p:nvSpPr>
        <p:spPr>
          <a:xfrm>
            <a:off x="5840938" y="3153918"/>
            <a:ext cx="5802117" cy="127000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Les méthodes de texte de Python, appliquées à toute une colonne</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Les valeurs manquantes restent manquantes, sans erreur</a:t>
            </a:r>
            <a:endParaRPr lang="en-US" sz="16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NETTOYER LE TEXTE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Corriger des variantes d'écriture</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 piège de title()</a:t>
            </a:r>
            <a:endParaRPr lang="en-US" sz="1700" dirty="0"/>
          </a:p>
        </p:txBody>
      </p:sp>
      <p:sp>
        <p:nvSpPr>
          <p:cNvPr id="7" name="Shape 5"/>
          <p:cNvSpPr/>
          <p:nvPr/>
        </p:nvSpPr>
        <p:spPr>
          <a:xfrm>
            <a:off x="548640" y="1828800"/>
            <a:ext cx="5318608" cy="1191768"/>
          </a:xfrm>
          <a:prstGeom prst="rect">
            <a:avLst/>
          </a:prstGeom>
          <a:solidFill>
            <a:srgbClr val="F3F4F6"/>
          </a:solidFill>
          <a:ln/>
        </p:spPr>
      </p:sp>
      <p:sp>
        <p:nvSpPr>
          <p:cNvPr id="8" name="Text 6"/>
          <p:cNvSpPr txBox="1"/>
          <p:nvPr/>
        </p:nvSpPr>
        <p:spPr>
          <a:xfrm>
            <a:off x="731520" y="1975104"/>
            <a:ext cx="495284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"Île-de-France".title()</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'Île-De-France'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une majuscule après chaque tiret</a:t>
            </a:r>
            <a:endParaRPr lang="en-US" sz="1500" dirty="0"/>
          </a:p>
        </p:txBody>
      </p:sp>
      <p:sp>
        <p:nvSpPr>
          <p:cNvPr id="9" name="Text 7"/>
          <p:cNvSpPr txBox="1"/>
          <p:nvPr/>
        </p:nvSpPr>
        <p:spPr>
          <a:xfrm>
            <a:off x="548640" y="3340608"/>
            <a:ext cx="5318608"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Pour des libellés de référence, on corrige explicitement les variantes plutôt que de compter sur une règle générale.</a:t>
            </a:r>
            <a:endParaRPr lang="en-US" sz="1600" dirty="0"/>
          </a:p>
        </p:txBody>
      </p:sp>
      <p:sp>
        <p:nvSpPr>
          <p:cNvPr id="10" name="Text 8"/>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Un dictionnaire de corrections</a:t>
            </a:r>
            <a:endParaRPr lang="en-US" sz="1700" dirty="0"/>
          </a:p>
        </p:txBody>
      </p:sp>
      <p:sp>
        <p:nvSpPr>
          <p:cNvPr id="11" name="Shape 9"/>
          <p:cNvSpPr/>
          <p:nvPr/>
        </p:nvSpPr>
        <p:spPr>
          <a:xfrm>
            <a:off x="6324448" y="1828800"/>
            <a:ext cx="5318608" cy="2540508"/>
          </a:xfrm>
          <a:prstGeom prst="rect">
            <a:avLst/>
          </a:prstGeom>
          <a:solidFill>
            <a:srgbClr val="F3F4F6"/>
          </a:solidFill>
          <a:ln/>
        </p:spPr>
      </p:sp>
      <p:sp>
        <p:nvSpPr>
          <p:cNvPr id="12" name="Text 10"/>
          <p:cNvSpPr txBox="1"/>
          <p:nvPr/>
        </p:nvSpPr>
        <p:spPr>
          <a:xfrm>
            <a:off x="6507328" y="1975104"/>
            <a:ext cx="4952848" cy="224790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corrections =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"occitanie": "Occitanie",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"Ile-de-France": "Île-de-France",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df["region"] =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df["region"]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.str.strip()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.replace(corrections)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NETTOYER LE TEXTE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replace ou str.replace ?</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ourier New" pitchFamily="34" charset="0"/>
                <a:ea typeface="Courier New" pitchFamily="34" charset="-122"/>
                <a:cs typeface="Courier New" pitchFamily="34" charset="-120"/>
              </a:rPr>
              <a:t>Series.replace</a:t>
            </a:r>
            <a:pPr indent="0" marL="0">
              <a:buNone/>
            </a:pPr>
            <a:r>
              <a:rPr lang="en-US" sz="1700" b="1" dirty="0">
                <a:solidFill>
                  <a:srgbClr val="1F3A5F"/>
                </a:solidFill>
                <a:latin typeface="Calibri" pitchFamily="34" charset="0"/>
                <a:ea typeface="Calibri" pitchFamily="34" charset="-122"/>
                <a:cs typeface="Calibri" pitchFamily="34" charset="-120"/>
              </a:rPr>
              <a:t> : valeurs entières</a:t>
            </a:r>
            <a:endParaRPr lang="en-US" sz="1700" dirty="0"/>
          </a:p>
        </p:txBody>
      </p:sp>
      <p:sp>
        <p:nvSpPr>
          <p:cNvPr id="7" name="Shape 5"/>
          <p:cNvSpPr/>
          <p:nvPr/>
        </p:nvSpPr>
        <p:spPr>
          <a:xfrm>
            <a:off x="548640" y="1828800"/>
            <a:ext cx="5318608" cy="1071880"/>
          </a:xfrm>
          <a:prstGeom prst="rect">
            <a:avLst/>
          </a:prstGeom>
          <a:solidFill>
            <a:srgbClr val="F3F4F6"/>
          </a:solidFill>
          <a:ln/>
        </p:spPr>
      </p:sp>
      <p:sp>
        <p:nvSpPr>
          <p:cNvPr id="8" name="Text 6"/>
          <p:cNvSpPr txBox="1"/>
          <p:nvPr/>
        </p:nvSpPr>
        <p:spPr>
          <a:xfrm>
            <a:off x="731520" y="1975104"/>
            <a:ext cx="4952848" cy="77927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df["region"].replace({"occitanie": "Occitanie"})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remplace uniquement les cellules</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qui valent exactement "occitanie"</a:t>
            </a:r>
            <a:endParaRPr lang="en-US" sz="13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ourier New" pitchFamily="34" charset="0"/>
                <a:ea typeface="Courier New" pitchFamily="34" charset="-122"/>
                <a:cs typeface="Courier New" pitchFamily="34" charset="-120"/>
              </a:rPr>
              <a:t>Series.str.replace</a:t>
            </a:r>
            <a:pPr indent="0" marL="0">
              <a:buNone/>
            </a:pPr>
            <a:r>
              <a:rPr lang="en-US" sz="1700" b="1" dirty="0">
                <a:solidFill>
                  <a:srgbClr val="1F3A5F"/>
                </a:solidFill>
                <a:latin typeface="Calibri" pitchFamily="34" charset="0"/>
                <a:ea typeface="Calibri" pitchFamily="34" charset="-122"/>
                <a:cs typeface="Calibri" pitchFamily="34" charset="-120"/>
              </a:rPr>
              <a:t> : morceaux de texte</a:t>
            </a:r>
            <a:endParaRPr lang="en-US" sz="1700" dirty="0"/>
          </a:p>
        </p:txBody>
      </p:sp>
      <p:sp>
        <p:nvSpPr>
          <p:cNvPr id="10" name="Shape 8"/>
          <p:cNvSpPr/>
          <p:nvPr/>
        </p:nvSpPr>
        <p:spPr>
          <a:xfrm>
            <a:off x="6324448" y="1828800"/>
            <a:ext cx="5318608" cy="1191768"/>
          </a:xfrm>
          <a:prstGeom prst="rect">
            <a:avLst/>
          </a:prstGeom>
          <a:solidFill>
            <a:srgbClr val="F3F4F6"/>
          </a:solidFill>
          <a:ln/>
        </p:spPr>
      </p:sp>
      <p:sp>
        <p:nvSpPr>
          <p:cNvPr id="11" name="Text 9"/>
          <p:cNvSpPr txBox="1"/>
          <p:nvPr/>
        </p:nvSpPr>
        <p:spPr>
          <a:xfrm>
            <a:off x="6507328" y="1975104"/>
            <a:ext cx="4952848" cy="899160"/>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df["produit"].str.replace(" ", "_")</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"Lampe LED" devient "Lampe_LED"</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expression régulière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df["produit"].str.replace(r"\s+", " ", regex=True)</a:t>
            </a:r>
            <a:endParaRPr lang="en-US" sz="1200" dirty="0"/>
          </a:p>
        </p:txBody>
      </p:sp>
      <p:sp>
        <p:nvSpPr>
          <p:cNvPr id="12" name="Shape 10"/>
          <p:cNvSpPr/>
          <p:nvPr/>
        </p:nvSpPr>
        <p:spPr>
          <a:xfrm>
            <a:off x="548640" y="3340608"/>
            <a:ext cx="11094415" cy="883920"/>
          </a:xfrm>
          <a:prstGeom prst="roundRect">
            <a:avLst>
              <a:gd name="adj" fmla="val 6207"/>
            </a:avLst>
          </a:prstGeom>
          <a:solidFill>
            <a:srgbClr val="E8F3EE"/>
          </a:solidFill>
          <a:ln/>
        </p:spPr>
      </p:sp>
      <p:sp>
        <p:nvSpPr>
          <p:cNvPr id="13" name="Text 11"/>
          <p:cNvSpPr txBox="1"/>
          <p:nvPr/>
        </p:nvSpPr>
        <p:spPr>
          <a:xfrm>
            <a:off x="822960" y="334060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Par défaut, </a:t>
            </a:r>
            <a:pPr indent="0" marL="0">
              <a:buNone/>
            </a:pPr>
            <a:r>
              <a:rPr lang="en-US" sz="1700" dirty="0">
                <a:solidFill>
                  <a:srgbClr val="2F7D62"/>
                </a:solidFill>
                <a:latin typeface="Courier New" pitchFamily="34" charset="0"/>
                <a:ea typeface="Courier New" pitchFamily="34" charset="-122"/>
                <a:cs typeface="Courier New" pitchFamily="34" charset="-120"/>
              </a:rPr>
              <a:t>.str.replace</a:t>
            </a:r>
            <a:pPr indent="0" marL="0">
              <a:buNone/>
            </a:pPr>
            <a:r>
              <a:rPr lang="en-US" sz="1700" dirty="0">
                <a:solidFill>
                  <a:srgbClr val="1F3A5F"/>
                </a:solidFill>
                <a:latin typeface="Calibri" pitchFamily="34" charset="0"/>
                <a:ea typeface="Calibri" pitchFamily="34" charset="-122"/>
                <a:cs typeface="Calibri" pitchFamily="34" charset="-120"/>
              </a:rPr>
              <a:t> cherche un texte littéral. Avec </a:t>
            </a:r>
            <a:pPr indent="0" marL="0">
              <a:buNone/>
            </a:pPr>
            <a:r>
              <a:rPr lang="en-US" sz="1700" dirty="0">
                <a:solidFill>
                  <a:srgbClr val="2F7D62"/>
                </a:solidFill>
                <a:latin typeface="Courier New" pitchFamily="34" charset="0"/>
                <a:ea typeface="Courier New" pitchFamily="34" charset="-122"/>
                <a:cs typeface="Courier New" pitchFamily="34" charset="-120"/>
              </a:rPr>
              <a:t>regex=True</a:t>
            </a:r>
            <a:pPr indent="0" marL="0">
              <a:buNone/>
            </a:pPr>
            <a:r>
              <a:rPr lang="en-US" sz="1700" dirty="0">
                <a:solidFill>
                  <a:srgbClr val="1F3A5F"/>
                </a:solidFill>
                <a:latin typeface="Calibri" pitchFamily="34" charset="0"/>
                <a:ea typeface="Calibri" pitchFamily="34" charset="-122"/>
                <a:cs typeface="Calibri" pitchFamily="34" charset="-120"/>
              </a:rPr>
              <a:t>, le pattern est une expression régulière.</a:t>
            </a:r>
            <a:endParaRPr lang="en-US" sz="17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NETTOYER LE TEXTE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Chercher et extraire</a:t>
            </a:r>
            <a:endParaRPr lang="en-US" sz="3000" dirty="0"/>
          </a:p>
        </p:txBody>
      </p:sp>
      <p:sp>
        <p:nvSpPr>
          <p:cNvPr id="6" name="Shape 4"/>
          <p:cNvSpPr/>
          <p:nvPr/>
        </p:nvSpPr>
        <p:spPr>
          <a:xfrm>
            <a:off x="548640" y="1417320"/>
            <a:ext cx="5802117" cy="1911096"/>
          </a:xfrm>
          <a:prstGeom prst="rect">
            <a:avLst/>
          </a:prstGeom>
          <a:solidFill>
            <a:srgbClr val="F3F4F6"/>
          </a:solidFill>
          <a:ln/>
        </p:spPr>
      </p:sp>
      <p:sp>
        <p:nvSpPr>
          <p:cNvPr id="7" name="Text 5"/>
          <p:cNvSpPr txBox="1"/>
          <p:nvPr/>
        </p:nvSpPr>
        <p:spPr>
          <a:xfrm>
            <a:off x="731520" y="1563624"/>
            <a:ext cx="5436357" cy="1618488"/>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df["produit"].str.contains("écran", case=False)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df["pouces"] = df["produit"].str.extract(r"(\d+) pouces")</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"Écran 24 pouces" donne "24", les autres NaN</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df[["type", "detail"]] = df["produit"].str.split(</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 ", n=1, expand=True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"Lampe LED" donne "Lampe" et "LED"</a:t>
            </a:r>
            <a:endParaRPr lang="en-US" sz="1200" dirty="0"/>
          </a:p>
        </p:txBody>
      </p:sp>
      <p:sp>
        <p:nvSpPr>
          <p:cNvPr id="8" name="Text 6"/>
          <p:cNvSpPr txBox="1"/>
          <p:nvPr/>
        </p:nvSpPr>
        <p:spPr>
          <a:xfrm>
            <a:off x="6807957" y="1417320"/>
            <a:ext cx="4835098" cy="185928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extract</a:t>
            </a:r>
            <a:pPr indent="0" marL="0">
              <a:buNone/>
            </a:pPr>
            <a:r>
              <a:rPr lang="en-US" sz="1600" dirty="0">
                <a:solidFill>
                  <a:srgbClr val="1F2933"/>
                </a:solidFill>
                <a:latin typeface="Calibri" pitchFamily="34" charset="0"/>
                <a:ea typeface="Calibri" pitchFamily="34" charset="-122"/>
                <a:cs typeface="Calibri" pitchFamily="34" charset="-120"/>
              </a:rPr>
              <a:t> récupère la partie entre parenthèses</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Par défaut, il renvoie un DataFrame : une colonne par partie entre parenthèses</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Une seule partie et </a:t>
            </a:r>
            <a:pPr indent="0" marL="0">
              <a:buNone/>
            </a:pPr>
            <a:r>
              <a:rPr lang="en-US" sz="1600" dirty="0">
                <a:solidFill>
                  <a:srgbClr val="1F3A5F"/>
                </a:solidFill>
                <a:latin typeface="Courier New" pitchFamily="34" charset="0"/>
                <a:ea typeface="Courier New" pitchFamily="34" charset="-122"/>
                <a:cs typeface="Courier New" pitchFamily="34" charset="-120"/>
              </a:rPr>
              <a:t>expand=False</a:t>
            </a:r>
            <a:pPr indent="0" marL="0">
              <a:buNone/>
            </a:pPr>
            <a:r>
              <a:rPr lang="en-US" sz="1600" dirty="0">
                <a:solidFill>
                  <a:srgbClr val="1F2933"/>
                </a:solidFill>
                <a:latin typeface="Calibri" pitchFamily="34" charset="0"/>
                <a:ea typeface="Calibri" pitchFamily="34" charset="-122"/>
                <a:cs typeface="Calibri" pitchFamily="34" charset="-120"/>
              </a:rPr>
              <a:t> : une Series, qu'on peut convertir</a:t>
            </a:r>
            <a:endParaRPr lang="en-US" sz="1600" dirty="0"/>
          </a:p>
        </p:txBody>
      </p:sp>
      <p:sp>
        <p:nvSpPr>
          <p:cNvPr id="9" name="Shape 7"/>
          <p:cNvSpPr/>
          <p:nvPr/>
        </p:nvSpPr>
        <p:spPr>
          <a:xfrm>
            <a:off x="6807957" y="3596640"/>
            <a:ext cx="4835098" cy="1191768"/>
          </a:xfrm>
          <a:prstGeom prst="rect">
            <a:avLst/>
          </a:prstGeom>
          <a:solidFill>
            <a:srgbClr val="F3F4F6"/>
          </a:solidFill>
          <a:ln/>
        </p:spPr>
      </p:sp>
      <p:sp>
        <p:nvSpPr>
          <p:cNvPr id="10" name="Text 8"/>
          <p:cNvSpPr txBox="1"/>
          <p:nvPr/>
        </p:nvSpPr>
        <p:spPr>
          <a:xfrm>
            <a:off x="6990837" y="3742944"/>
            <a:ext cx="4469338" cy="899160"/>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references = pd.Series(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["REF-001 / Clavier", "REF-042 / Souris"])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references.str.extract(</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r"REF-(\d+)", expand=False).astype(int)</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1, 42</a:t>
            </a:r>
            <a:endParaRPr lang="en-US" sz="12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NETTOYER LE TEXTE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Quelques patterns d'expressions régulières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4254886" cy="914400"/>
        </p:xfrm>
        <a:graphic>
          <a:graphicData uri="http://schemas.openxmlformats.org/drawingml/2006/table">
            <a:tbl>
              <a:tblPr/>
              <a:tblGrid>
                <a:gridCol w="1329652"/>
                <a:gridCol w="2925234"/>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Pattern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chiffre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tout caractère qui n'est pas un chiffre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espace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ou plusieurs fois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début, fin de la chaîne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[A-Z]</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une lettre majuscule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la partie à extraire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260726" y="1417320"/>
            <a:ext cx="6382329"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Ne garder que les chiffres</a:t>
            </a:r>
            <a:endParaRPr lang="en-US" sz="1700" dirty="0"/>
          </a:p>
        </p:txBody>
      </p:sp>
      <p:sp>
        <p:nvSpPr>
          <p:cNvPr id="8" name="Shape 5"/>
          <p:cNvSpPr/>
          <p:nvPr/>
        </p:nvSpPr>
        <p:spPr>
          <a:xfrm>
            <a:off x="5260726" y="1828800"/>
            <a:ext cx="6382329" cy="1641348"/>
          </a:xfrm>
          <a:prstGeom prst="rect">
            <a:avLst/>
          </a:prstGeom>
          <a:solidFill>
            <a:srgbClr val="F3F4F6"/>
          </a:solidFill>
          <a:ln/>
        </p:spPr>
      </p:sp>
      <p:sp>
        <p:nvSpPr>
          <p:cNvPr id="9" name="Text 6"/>
          <p:cNvSpPr txBox="1"/>
          <p:nvPr/>
        </p:nvSpPr>
        <p:spPr>
          <a:xfrm>
            <a:off x="5443606" y="1975104"/>
            <a:ext cx="6016569"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telephones = pd.Series(["01 23 45 67 89",</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"01.23.45.67.89",</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"01-23-45-67-89"])</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telephones.str.replace(r"\D", "", regex=True)</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"0123456789" pour les trois</a:t>
            </a:r>
            <a:endParaRPr lang="en-US" sz="1500" dirty="0"/>
          </a:p>
        </p:txBody>
      </p:sp>
      <p:sp>
        <p:nvSpPr>
          <p:cNvPr id="10" name="Text 7"/>
          <p:cNvSpPr txBox="1"/>
          <p:nvPr/>
        </p:nvSpPr>
        <p:spPr>
          <a:xfrm>
            <a:off x="5260726" y="3790188"/>
            <a:ext cx="6382329" cy="62484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\D</a:t>
            </a:r>
            <a:pPr indent="0" marL="0">
              <a:buNone/>
            </a:pPr>
            <a:r>
              <a:rPr lang="en-US" sz="1600" dirty="0">
                <a:solidFill>
                  <a:srgbClr val="6B7280"/>
                </a:solidFill>
                <a:latin typeface="Calibri" pitchFamily="34" charset="0"/>
                <a:ea typeface="Calibri" pitchFamily="34" charset="-122"/>
                <a:cs typeface="Calibri" pitchFamily="34" charset="-120"/>
              </a:rPr>
              <a:t> désigne tout ce qui n'est pas un chiffre : espaces, points et tirets disparaissent.</a:t>
            </a:r>
            <a:endParaRPr lang="en-US" sz="1600" dirty="0"/>
          </a:p>
        </p:txBody>
      </p:sp>
      <p:sp>
        <p:nvSpPr>
          <p:cNvPr id="11"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NETTOYER LE TEXTE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TP2, partie 3</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Nettoyer le texte avec l'accesseur </a:t>
            </a:r>
            <a:pPr indent="0" marL="0">
              <a:buNone/>
            </a:pPr>
            <a:r>
              <a:rPr lang="en-US" sz="1800" dirty="0">
                <a:solidFill>
                  <a:srgbClr val="1F3A5F"/>
                </a:solidFill>
                <a:latin typeface="Courier New" pitchFamily="34" charset="0"/>
                <a:ea typeface="Courier New" pitchFamily="34" charset="-122"/>
                <a:cs typeface="Courier New" pitchFamily="34" charset="-120"/>
              </a:rPr>
              <a:t>.str</a:t>
            </a:r>
            <a:endParaRPr lang="en-US" sz="18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nettoyer des noms de villes : espaces, majuscules, valeur manquante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compter les produits qui contiennent un mot, sans tenir compte de la casse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extraire un numéro avec </a:t>
                      </a:r>
                      <a:pPr indent="0" marL="0">
                        <a:buNone/>
                      </a:pPr>
                      <a:r>
                        <a:rPr lang="en-US" sz="1600" dirty="0">
                          <a:solidFill>
                            <a:srgbClr val="1F3A5F"/>
                          </a:solidFill>
                          <a:latin typeface="Courier New" pitchFamily="34" charset="0"/>
                          <a:ea typeface="Courier New" pitchFamily="34" charset="-122"/>
                          <a:cs typeface="Courier New" pitchFamily="34" charset="-120"/>
                        </a:rPr>
                        <a:t>str.extract</a:t>
                      </a:r>
                      <a:pPr indent="0" marL="0">
                        <a:buNone/>
                      </a:pPr>
                      <a:r>
                        <a:rPr lang="en-US" sz="1600" dirty="0">
                          <a:solidFill>
                            <a:srgbClr val="1F2933"/>
                          </a:solidFill>
                          <a:latin typeface="Calibri" pitchFamily="34" charset="0"/>
                          <a:ea typeface="Calibri" pitchFamily="34" charset="-122"/>
                          <a:cs typeface="Calibri" pitchFamily="34" charset="-120"/>
                        </a:rPr>
                        <a:t>, découper avec </a:t>
                      </a:r>
                      <a:pPr indent="0" marL="0">
                        <a:buNone/>
                      </a:pPr>
                      <a:r>
                        <a:rPr lang="en-US" sz="1600" dirty="0">
                          <a:solidFill>
                            <a:srgbClr val="1F3A5F"/>
                          </a:solidFill>
                          <a:latin typeface="Courier New" pitchFamily="34" charset="0"/>
                          <a:ea typeface="Courier New" pitchFamily="34" charset="-122"/>
                          <a:cs typeface="Courier New" pitchFamily="34" charset="-120"/>
                        </a:rPr>
                        <a:t>str.split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04</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Gérer les types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astype   |   to_numeric et to_datetime   |   category</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GÉRER LES TYPES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Pourquoi les types comptent</a:t>
            </a:r>
            <a:endParaRPr lang="en-US" sz="3000" dirty="0"/>
          </a:p>
        </p:txBody>
      </p:sp>
      <p:sp>
        <p:nvSpPr>
          <p:cNvPr id="6" name="Shape 4"/>
          <p:cNvSpPr/>
          <p:nvPr/>
        </p:nvSpPr>
        <p:spPr>
          <a:xfrm>
            <a:off x="548640" y="1417320"/>
            <a:ext cx="3515258" cy="2331720"/>
          </a:xfrm>
          <a:prstGeom prst="roundRect">
            <a:avLst>
              <a:gd name="adj" fmla="val 3137"/>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Les calculs</a:t>
            </a:r>
            <a:endParaRPr lang="en-US" sz="1800" dirty="0"/>
          </a:p>
        </p:txBody>
      </p:sp>
      <p:sp>
        <p:nvSpPr>
          <p:cNvPr id="10" name="Text 8"/>
          <p:cNvSpPr txBox="1"/>
          <p:nvPr/>
        </p:nvSpPr>
        <p:spPr>
          <a:xfrm>
            <a:off x="777240" y="260604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Des nombres stockés en texte ne s'additionnent pas : </a:t>
            </a:r>
            <a:pPr indent="0" marL="0">
              <a:buNone/>
            </a:pPr>
            <a:r>
              <a:rPr lang="en-US" sz="1500" dirty="0">
                <a:solidFill>
                  <a:srgbClr val="1F3A5F"/>
                </a:solidFill>
                <a:latin typeface="Courier New" pitchFamily="34" charset="0"/>
                <a:ea typeface="Courier New" pitchFamily="34" charset="-122"/>
                <a:cs typeface="Courier New" pitchFamily="34" charset="-120"/>
              </a:rPr>
              <a:t>"3" + "2"</a:t>
            </a:r>
            <a:pPr indent="0" marL="0">
              <a:buNone/>
            </a:pPr>
            <a:r>
              <a:rPr lang="en-US" sz="1500" dirty="0">
                <a:solidFill>
                  <a:srgbClr val="1F2933"/>
                </a:solidFill>
                <a:latin typeface="Calibri" pitchFamily="34" charset="0"/>
                <a:ea typeface="Calibri" pitchFamily="34" charset="-122"/>
                <a:cs typeface="Calibri" pitchFamily="34" charset="-120"/>
              </a:rPr>
              <a:t> donne </a:t>
            </a:r>
            <a:pPr indent="0" marL="0">
              <a:buNone/>
            </a:pPr>
            <a:r>
              <a:rPr lang="en-US" sz="1500" dirty="0">
                <a:solidFill>
                  <a:srgbClr val="1F3A5F"/>
                </a:solidFill>
                <a:latin typeface="Courier New" pitchFamily="34" charset="0"/>
                <a:ea typeface="Courier New" pitchFamily="34" charset="-122"/>
                <a:cs typeface="Courier New" pitchFamily="34" charset="-120"/>
              </a:rPr>
              <a:t>"32"</a:t>
            </a:r>
            <a:pPr indent="0" marL="0">
              <a:buNone/>
            </a:pPr>
            <a:r>
              <a:rPr lang="en-US" sz="1500" dirty="0">
                <a:solidFill>
                  <a:srgbClr val="1F2933"/>
                </a:solidFill>
                <a:latin typeface="Calibri" pitchFamily="34" charset="0"/>
                <a:ea typeface="Calibri" pitchFamily="34" charset="-122"/>
                <a:cs typeface="Calibri" pitchFamily="34" charset="-120"/>
              </a:rPr>
              <a:t>.</a:t>
            </a:r>
            <a:endParaRPr lang="en-US" sz="1500" dirty="0"/>
          </a:p>
        </p:txBody>
      </p:sp>
      <p:sp>
        <p:nvSpPr>
          <p:cNvPr id="11" name="Shape 9"/>
          <p:cNvSpPr/>
          <p:nvPr/>
        </p:nvSpPr>
        <p:spPr>
          <a:xfrm>
            <a:off x="4338218" y="1417320"/>
            <a:ext cx="3515258" cy="2331720"/>
          </a:xfrm>
          <a:prstGeom prst="roundRect">
            <a:avLst>
              <a:gd name="adj" fmla="val 3137"/>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Les tris</a:t>
            </a:r>
            <a:endParaRPr lang="en-US" sz="1800" dirty="0"/>
          </a:p>
        </p:txBody>
      </p:sp>
      <p:sp>
        <p:nvSpPr>
          <p:cNvPr id="15" name="Text 13"/>
          <p:cNvSpPr txBox="1"/>
          <p:nvPr/>
        </p:nvSpPr>
        <p:spPr>
          <a:xfrm>
            <a:off x="4566818" y="260604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Des dates en texte au format jour/mois/année se trient mal : </a:t>
            </a:r>
            <a:pPr indent="0" marL="0">
              <a:buNone/>
            </a:pPr>
            <a:r>
              <a:rPr lang="en-US" sz="1500" dirty="0">
                <a:solidFill>
                  <a:srgbClr val="1F3A5F"/>
                </a:solidFill>
                <a:latin typeface="Courier New" pitchFamily="34" charset="0"/>
                <a:ea typeface="Courier New" pitchFamily="34" charset="-122"/>
                <a:cs typeface="Courier New" pitchFamily="34" charset="-120"/>
              </a:rPr>
              <a:t>"02/01/2026"</a:t>
            </a:r>
            <a:pPr indent="0" marL="0">
              <a:buNone/>
            </a:pPr>
            <a:r>
              <a:rPr lang="en-US" sz="1500" dirty="0">
                <a:solidFill>
                  <a:srgbClr val="1F2933"/>
                </a:solidFill>
                <a:latin typeface="Calibri" pitchFamily="34" charset="0"/>
                <a:ea typeface="Calibri" pitchFamily="34" charset="-122"/>
                <a:cs typeface="Calibri" pitchFamily="34" charset="-120"/>
              </a:rPr>
              <a:t> passe avant </a:t>
            </a:r>
            <a:pPr indent="0" marL="0">
              <a:buNone/>
            </a:pPr>
            <a:r>
              <a:rPr lang="en-US" sz="1500" dirty="0">
                <a:solidFill>
                  <a:srgbClr val="1F3A5F"/>
                </a:solidFill>
                <a:latin typeface="Courier New" pitchFamily="34" charset="0"/>
                <a:ea typeface="Courier New" pitchFamily="34" charset="-122"/>
                <a:cs typeface="Courier New" pitchFamily="34" charset="-120"/>
              </a:rPr>
              <a:t>"15/12/2025"</a:t>
            </a:r>
            <a:pPr indent="0" marL="0">
              <a:buNone/>
            </a:pPr>
            <a:r>
              <a:rPr lang="en-US" sz="1500" dirty="0">
                <a:solidFill>
                  <a:srgbClr val="1F2933"/>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127797" y="1417320"/>
            <a:ext cx="3515258" cy="2331720"/>
          </a:xfrm>
          <a:prstGeom prst="roundRect">
            <a:avLst>
              <a:gd name="adj" fmla="val 3137"/>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La mémoire</a:t>
            </a:r>
            <a:endParaRPr lang="en-US" sz="1800" dirty="0"/>
          </a:p>
        </p:txBody>
      </p:sp>
      <p:sp>
        <p:nvSpPr>
          <p:cNvPr id="20" name="Text 18"/>
          <p:cNvSpPr txBox="1"/>
          <p:nvPr/>
        </p:nvSpPr>
        <p:spPr>
          <a:xfrm>
            <a:off x="8356397" y="260604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Une colonne texte qui répète quelques valeurs occupe bien plus de place qu'une </a:t>
            </a:r>
            <a:pPr indent="0" marL="0">
              <a:buNone/>
            </a:pPr>
            <a:r>
              <a:rPr lang="en-US" sz="1500" dirty="0">
                <a:solidFill>
                  <a:srgbClr val="1F3A5F"/>
                </a:solidFill>
                <a:latin typeface="Courier New" pitchFamily="34" charset="0"/>
                <a:ea typeface="Courier New" pitchFamily="34" charset="-122"/>
                <a:cs typeface="Courier New" pitchFamily="34" charset="-120"/>
              </a:rPr>
              <a:t>category</a:t>
            </a:r>
            <a:pPr indent="0" marL="0">
              <a:buNone/>
            </a:pPr>
            <a:r>
              <a:rPr lang="en-US" sz="1500" dirty="0">
                <a:solidFill>
                  <a:srgbClr val="1F2933"/>
                </a:solidFill>
                <a:latin typeface="Calibri" pitchFamily="34" charset="0"/>
                <a:ea typeface="Calibri" pitchFamily="34" charset="-122"/>
                <a:cs typeface="Calibri" pitchFamily="34" charset="-120"/>
              </a:rPr>
              <a:t>.</a:t>
            </a:r>
            <a:endParaRPr lang="en-US" sz="1500" dirty="0"/>
          </a:p>
        </p:txBody>
      </p:sp>
      <p:sp>
        <p:nvSpPr>
          <p:cNvPr id="21" name="Text 19"/>
          <p:cNvSpPr txBox="1"/>
          <p:nvPr/>
        </p:nvSpPr>
        <p:spPr>
          <a:xfrm>
            <a:off x="548640" y="4069080"/>
            <a:ext cx="11094415"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Conversions simples</a:t>
            </a:r>
            <a:endParaRPr lang="en-US" sz="1200" dirty="0"/>
          </a:p>
        </p:txBody>
      </p:sp>
      <p:sp>
        <p:nvSpPr>
          <p:cNvPr id="22" name="Shape 20"/>
          <p:cNvSpPr/>
          <p:nvPr/>
        </p:nvSpPr>
        <p:spPr>
          <a:xfrm>
            <a:off x="548640" y="4361688"/>
            <a:ext cx="11094415" cy="1191768"/>
          </a:xfrm>
          <a:prstGeom prst="rect">
            <a:avLst/>
          </a:prstGeom>
          <a:solidFill>
            <a:srgbClr val="F3F4F6"/>
          </a:solidFill>
          <a:ln/>
        </p:spPr>
      </p:sp>
      <p:sp>
        <p:nvSpPr>
          <p:cNvPr id="23" name="Text 21"/>
          <p:cNvSpPr txBox="1"/>
          <p:nvPr/>
        </p:nvSpPr>
        <p:spPr>
          <a:xfrm>
            <a:off x="731520" y="4507992"/>
            <a:ext cx="10728655"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df["quantite"].astype("float64")</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df["id_commande"].astype(str)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pd.Series([1, None, 3], dtype="Int64")   # entier avec valeur manquante : 1, &lt;NA&gt;, 3</a:t>
            </a:r>
            <a:endParaRPr lang="en-US" sz="15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GÉRER LES TYPES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Convertir sans planter : errors="coerce"</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Nombres</a:t>
            </a:r>
            <a:endParaRPr lang="en-US" sz="1700" dirty="0"/>
          </a:p>
        </p:txBody>
      </p:sp>
      <p:sp>
        <p:nvSpPr>
          <p:cNvPr id="7" name="Shape 5"/>
          <p:cNvSpPr/>
          <p:nvPr/>
        </p:nvSpPr>
        <p:spPr>
          <a:xfrm>
            <a:off x="548640" y="1828800"/>
            <a:ext cx="5318608" cy="2090928"/>
          </a:xfrm>
          <a:prstGeom prst="rect">
            <a:avLst/>
          </a:prstGeom>
          <a:solidFill>
            <a:srgbClr val="F3F4F6"/>
          </a:solidFill>
          <a:ln/>
        </p:spPr>
      </p:sp>
      <p:sp>
        <p:nvSpPr>
          <p:cNvPr id="8" name="Text 6"/>
          <p:cNvSpPr txBox="1"/>
          <p:nvPr/>
        </p:nvSpPr>
        <p:spPr>
          <a:xfrm>
            <a:off x="731520" y="1975104"/>
            <a:ext cx="4952848" cy="179832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prix = pd.Series(["12.5", "12,5", "abc"])</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pd.to_numeric(prix, errors="coerce")</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12.5, NaN, NaN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pd.to_numeric(prix.str.replace(",",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errors="coerce")</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12.5, 12.5, NaN</a:t>
            </a:r>
            <a:endParaRPr lang="en-US" sz="15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Dates</a:t>
            </a:r>
            <a:endParaRPr lang="en-US" sz="1700" dirty="0"/>
          </a:p>
        </p:txBody>
      </p:sp>
      <p:sp>
        <p:nvSpPr>
          <p:cNvPr id="10" name="Shape 8"/>
          <p:cNvSpPr/>
          <p:nvPr/>
        </p:nvSpPr>
        <p:spPr>
          <a:xfrm>
            <a:off x="6324448" y="1828800"/>
            <a:ext cx="5318608" cy="1551432"/>
          </a:xfrm>
          <a:prstGeom prst="rect">
            <a:avLst/>
          </a:prstGeom>
          <a:solidFill>
            <a:srgbClr val="F3F4F6"/>
          </a:solidFill>
          <a:ln/>
        </p:spPr>
      </p:sp>
      <p:sp>
        <p:nvSpPr>
          <p:cNvPr id="11" name="Text 9"/>
          <p:cNvSpPr txBox="1"/>
          <p:nvPr/>
        </p:nvSpPr>
        <p:spPr>
          <a:xfrm>
            <a:off x="6507328" y="1975104"/>
            <a:ext cx="4952848" cy="125882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df["date"] = pd.to_datetime(df["date"],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format="%Y-%m-%d")</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pd.to_datetime(pd.Series(["03/02/2025"]),</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format="%d/%m/%Y")</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3 février 2025, pas 2 mars</a:t>
            </a:r>
            <a:endParaRPr lang="en-US" sz="1400" dirty="0"/>
          </a:p>
        </p:txBody>
      </p:sp>
      <p:sp>
        <p:nvSpPr>
          <p:cNvPr id="12" name="Shape 10"/>
          <p:cNvSpPr/>
          <p:nvPr/>
        </p:nvSpPr>
        <p:spPr>
          <a:xfrm>
            <a:off x="548640" y="4239768"/>
            <a:ext cx="11094415" cy="883920"/>
          </a:xfrm>
          <a:prstGeom prst="roundRect">
            <a:avLst>
              <a:gd name="adj" fmla="val 6207"/>
            </a:avLst>
          </a:prstGeom>
          <a:solidFill>
            <a:srgbClr val="E8F3EE"/>
          </a:solidFill>
          <a:ln/>
        </p:spPr>
      </p:sp>
      <p:sp>
        <p:nvSpPr>
          <p:cNvPr id="13" name="Text 11"/>
          <p:cNvSpPr txBox="1"/>
          <p:nvPr/>
        </p:nvSpPr>
        <p:spPr>
          <a:xfrm>
            <a:off x="822960" y="4239768"/>
            <a:ext cx="10545775" cy="883920"/>
          </a:xfrm>
          <a:prstGeom prst="rect">
            <a:avLst/>
          </a:prstGeom>
          <a:noFill/>
          <a:ln/>
        </p:spPr>
        <p:txBody>
          <a:bodyPr wrap="square" lIns="0" tIns="0" rIns="0" bIns="0" rtlCol="0" anchor="ctr"/>
          <a:lstStyle/>
          <a:p>
            <a:pPr indent="0" marL="0">
              <a:buNone/>
            </a:pPr>
            <a:r>
              <a:rPr lang="en-US" sz="1700" dirty="0">
                <a:solidFill>
                  <a:srgbClr val="2F7D62"/>
                </a:solidFill>
                <a:latin typeface="Courier New" pitchFamily="34" charset="0"/>
                <a:ea typeface="Courier New" pitchFamily="34" charset="-122"/>
                <a:cs typeface="Courier New" pitchFamily="34" charset="-120"/>
              </a:rPr>
              <a:t>errors="coerce"</a:t>
            </a:r>
            <a:pPr indent="0" marL="0">
              <a:buNone/>
            </a:pPr>
            <a:r>
              <a:rPr lang="en-US" sz="1700" dirty="0">
                <a:solidFill>
                  <a:srgbClr val="1F3A5F"/>
                </a:solidFill>
                <a:latin typeface="Calibri" pitchFamily="34" charset="0"/>
                <a:ea typeface="Calibri" pitchFamily="34" charset="-122"/>
                <a:cs typeface="Calibri" pitchFamily="34" charset="-120"/>
              </a:rPr>
              <a:t> transforme les valeurs non convertibles en valeurs manquantes : on peut ensuite les compter et décider quoi en faire.</a:t>
            </a:r>
            <a:endParaRPr lang="en-US" sz="17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GÉRER LES TYPES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type category</a:t>
            </a:r>
            <a:endParaRPr lang="en-US" sz="3000" dirty="0"/>
          </a:p>
        </p:txBody>
      </p:sp>
      <p:sp>
        <p:nvSpPr>
          <p:cNvPr id="6" name="Shape 4"/>
          <p:cNvSpPr/>
          <p:nvPr/>
        </p:nvSpPr>
        <p:spPr>
          <a:xfrm>
            <a:off x="548640" y="1417320"/>
            <a:ext cx="5802117" cy="1461516"/>
          </a:xfrm>
          <a:prstGeom prst="rect">
            <a:avLst/>
          </a:prstGeom>
          <a:solidFill>
            <a:srgbClr val="F3F4F6"/>
          </a:solidFill>
          <a:ln/>
        </p:spPr>
      </p:sp>
      <p:sp>
        <p:nvSpPr>
          <p:cNvPr id="7" name="Text 5"/>
          <p:cNvSpPr txBox="1"/>
          <p:nvPr/>
        </p:nvSpPr>
        <p:spPr>
          <a:xfrm>
            <a:off x="731520" y="1563624"/>
            <a:ext cx="5436357" cy="116890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df["categorie"] = df["categorie"].astype("category")</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df["categorie"].cat.categories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mémoire réellement occupée, texte compris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df[["categorie", "region"]].memory_usage(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deep=True, index=False)</a:t>
            </a:r>
            <a:endParaRPr lang="en-US" sz="1300" dirty="0"/>
          </a:p>
        </p:txBody>
      </p:sp>
      <p:sp>
        <p:nvSpPr>
          <p:cNvPr id="8" name="Text 6"/>
          <p:cNvSpPr txBox="1"/>
          <p:nvPr/>
        </p:nvSpPr>
        <p:spPr>
          <a:xfrm>
            <a:off x="548640" y="3198876"/>
            <a:ext cx="5802117" cy="161544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Chaque valeur distincte stockée une seule fois, un code numérique par ligne</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Pour les colonnes à </a:t>
            </a:r>
            <a:pPr indent="0" marL="0">
              <a:buNone/>
            </a:pPr>
            <a:r>
              <a:rPr lang="en-US" sz="1600" b="1" dirty="0">
                <a:solidFill>
                  <a:srgbClr val="1F2933"/>
                </a:solidFill>
                <a:latin typeface="Calibri" pitchFamily="34" charset="0"/>
                <a:ea typeface="Calibri" pitchFamily="34" charset="-122"/>
                <a:cs typeface="Calibri" pitchFamily="34" charset="-120"/>
              </a:rPr>
              <a:t>faible cardinalité</a:t>
            </a:r>
            <a:pPr indent="0" marL="0">
              <a:buNone/>
            </a:pPr>
            <a:r>
              <a:rPr lang="en-US" sz="1600" dirty="0">
                <a:solidFill>
                  <a:srgbClr val="1F2933"/>
                </a:solidFill>
                <a:latin typeface="Calibri" pitchFamily="34" charset="0"/>
                <a:ea typeface="Calibri" pitchFamily="34" charset="-122"/>
                <a:cs typeface="Calibri" pitchFamily="34" charset="-120"/>
              </a:rPr>
              <a:t> : catégorie, région, statut</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À convertir </a:t>
            </a:r>
            <a:pPr indent="0" marL="0">
              <a:buNone/>
            </a:pPr>
            <a:r>
              <a:rPr lang="en-US" sz="1600" b="1" dirty="0">
                <a:solidFill>
                  <a:srgbClr val="1F2933"/>
                </a:solidFill>
                <a:latin typeface="Calibri" pitchFamily="34" charset="0"/>
                <a:ea typeface="Calibri" pitchFamily="34" charset="-122"/>
                <a:cs typeface="Calibri" pitchFamily="34" charset="-120"/>
              </a:rPr>
              <a:t>après</a:t>
            </a:r>
            <a:pPr indent="0" marL="0">
              <a:buNone/>
            </a:pPr>
            <a:r>
              <a:rPr lang="en-US" sz="1600" dirty="0">
                <a:solidFill>
                  <a:srgbClr val="1F2933"/>
                </a:solidFill>
                <a:latin typeface="Calibri" pitchFamily="34" charset="0"/>
                <a:ea typeface="Calibri" pitchFamily="34" charset="-122"/>
                <a:cs typeface="Calibri" pitchFamily="34" charset="-120"/>
              </a:rPr>
              <a:t> le nettoyage du texte</a:t>
            </a:r>
            <a:endParaRPr lang="en-US" sz="1600" dirty="0"/>
          </a:p>
        </p:txBody>
      </p:sp>
      <p:sp>
        <p:nvSpPr>
          <p:cNvPr id="9" name="Text 7"/>
          <p:cNvSpPr txBox="1"/>
          <p:nvPr/>
        </p:nvSpPr>
        <p:spPr>
          <a:xfrm>
            <a:off x="6807957" y="1417320"/>
            <a:ext cx="483509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Colonne </a:t>
            </a:r>
            <a:pPr indent="0" marL="0">
              <a:buNone/>
            </a:pPr>
            <a:r>
              <a:rPr lang="en-US" sz="1700" b="1" dirty="0">
                <a:solidFill>
                  <a:srgbClr val="1F3A5F"/>
                </a:solidFill>
                <a:latin typeface="Courier New" pitchFamily="34" charset="0"/>
                <a:ea typeface="Courier New" pitchFamily="34" charset="-122"/>
                <a:cs typeface="Courier New" pitchFamily="34" charset="-120"/>
              </a:rPr>
              <a:t>categorie</a:t>
            </a:r>
            <a:pPr indent="0" marL="0">
              <a:buNone/>
            </a:pPr>
            <a:r>
              <a:rPr lang="en-US" sz="1700" b="1" dirty="0">
                <a:solidFill>
                  <a:srgbClr val="1F3A5F"/>
                </a:solidFill>
                <a:latin typeface="Calibri" pitchFamily="34" charset="0"/>
                <a:ea typeface="Calibri" pitchFamily="34" charset="-122"/>
                <a:cs typeface="Calibri" pitchFamily="34" charset="-120"/>
              </a:rPr>
              <a:t> des ventes nettoyées</a:t>
            </a:r>
            <a:endParaRPr lang="en-US" sz="1700" dirty="0"/>
          </a:p>
        </p:txBody>
      </p:sp>
      <p:sp>
        <p:nvSpPr>
          <p:cNvPr id="10" name="Shape 8"/>
          <p:cNvSpPr/>
          <p:nvPr/>
        </p:nvSpPr>
        <p:spPr>
          <a:xfrm>
            <a:off x="6807957" y="1828800"/>
            <a:ext cx="2280389" cy="1600200"/>
          </a:xfrm>
          <a:prstGeom prst="roundRect">
            <a:avLst>
              <a:gd name="adj" fmla="val 4571"/>
            </a:avLst>
          </a:prstGeom>
          <a:solidFill>
            <a:srgbClr val="EEF3F7"/>
          </a:solidFill>
          <a:ln/>
        </p:spPr>
      </p:sp>
      <p:sp>
        <p:nvSpPr>
          <p:cNvPr id="11" name="Text 9"/>
          <p:cNvSpPr txBox="1"/>
          <p:nvPr/>
        </p:nvSpPr>
        <p:spPr>
          <a:xfrm>
            <a:off x="7036557" y="2011680"/>
            <a:ext cx="1823189"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1,1 Ko</a:t>
            </a:r>
            <a:endParaRPr lang="en-US" sz="4000" dirty="0"/>
          </a:p>
        </p:txBody>
      </p:sp>
      <p:sp>
        <p:nvSpPr>
          <p:cNvPr id="12" name="Text 10"/>
          <p:cNvSpPr txBox="1"/>
          <p:nvPr/>
        </p:nvSpPr>
        <p:spPr>
          <a:xfrm>
            <a:off x="7036557" y="2834640"/>
            <a:ext cx="1823189"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en texte, type </a:t>
            </a:r>
            <a:pPr indent="0" marL="0">
              <a:buNone/>
            </a:pPr>
            <a:r>
              <a:rPr lang="en-US" sz="1500" dirty="0">
                <a:solidFill>
                  <a:srgbClr val="1F3A5F"/>
                </a:solidFill>
                <a:latin typeface="Courier New" pitchFamily="34" charset="0"/>
                <a:ea typeface="Courier New" pitchFamily="34" charset="-122"/>
                <a:cs typeface="Courier New" pitchFamily="34" charset="-120"/>
              </a:rPr>
              <a:t>str</a:t>
            </a:r>
            <a:endParaRPr lang="en-US" sz="1500" dirty="0"/>
          </a:p>
        </p:txBody>
      </p:sp>
      <p:sp>
        <p:nvSpPr>
          <p:cNvPr id="13" name="Shape 11"/>
          <p:cNvSpPr/>
          <p:nvPr/>
        </p:nvSpPr>
        <p:spPr>
          <a:xfrm>
            <a:off x="9362666" y="1828800"/>
            <a:ext cx="2280389" cy="1600200"/>
          </a:xfrm>
          <a:prstGeom prst="roundRect">
            <a:avLst>
              <a:gd name="adj" fmla="val 4571"/>
            </a:avLst>
          </a:prstGeom>
          <a:solidFill>
            <a:srgbClr val="EEF3F7"/>
          </a:solidFill>
          <a:ln/>
        </p:spPr>
      </p:sp>
      <p:sp>
        <p:nvSpPr>
          <p:cNvPr id="14" name="Text 12"/>
          <p:cNvSpPr txBox="1"/>
          <p:nvPr/>
        </p:nvSpPr>
        <p:spPr>
          <a:xfrm>
            <a:off x="9591266" y="2011680"/>
            <a:ext cx="1823189" cy="777240"/>
          </a:xfrm>
          <a:prstGeom prst="rect">
            <a:avLst/>
          </a:prstGeom>
          <a:noFill/>
          <a:ln/>
        </p:spPr>
        <p:txBody>
          <a:bodyPr wrap="square" lIns="0" tIns="0" rIns="0" bIns="0" rtlCol="0" anchor="ctr"/>
          <a:lstStyle/>
          <a:p>
            <a:pPr indent="0" marL="0">
              <a:buNone/>
            </a:pPr>
            <a:r>
              <a:rPr lang="en-US" sz="4000" b="1" dirty="0">
                <a:solidFill>
                  <a:srgbClr val="2F7D62"/>
                </a:solidFill>
                <a:latin typeface="Cambria" pitchFamily="34" charset="0"/>
                <a:ea typeface="Cambria" pitchFamily="34" charset="-122"/>
                <a:cs typeface="Cambria" pitchFamily="34" charset="-120"/>
              </a:rPr>
              <a:t>0,1 Ko</a:t>
            </a:r>
            <a:endParaRPr lang="en-US" sz="4000" dirty="0"/>
          </a:p>
        </p:txBody>
      </p:sp>
      <p:sp>
        <p:nvSpPr>
          <p:cNvPr id="15" name="Text 13"/>
          <p:cNvSpPr txBox="1"/>
          <p:nvPr/>
        </p:nvSpPr>
        <p:spPr>
          <a:xfrm>
            <a:off x="9591266" y="2834640"/>
            <a:ext cx="1823189"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en </a:t>
            </a:r>
            <a:pPr indent="0" marL="0">
              <a:buNone/>
            </a:pPr>
            <a:r>
              <a:rPr lang="en-US" sz="1500" dirty="0">
                <a:solidFill>
                  <a:srgbClr val="1F3A5F"/>
                </a:solidFill>
                <a:latin typeface="Courier New" pitchFamily="34" charset="0"/>
                <a:ea typeface="Courier New" pitchFamily="34" charset="-122"/>
                <a:cs typeface="Courier New" pitchFamily="34" charset="-120"/>
              </a:rPr>
              <a:t>category</a:t>
            </a:r>
            <a:endParaRPr lang="en-US" sz="1500" dirty="0"/>
          </a:p>
        </p:txBody>
      </p:sp>
      <p:sp>
        <p:nvSpPr>
          <p:cNvPr id="16" name="Text 14"/>
          <p:cNvSpPr txBox="1"/>
          <p:nvPr/>
        </p:nvSpPr>
        <p:spPr>
          <a:xfrm>
            <a:off x="6807957" y="3749040"/>
            <a:ext cx="483509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L'écart devient considérable sur des millions de lignes.</a:t>
            </a:r>
            <a:endParaRPr lang="en-US" sz="16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GÉRER LES TYPES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Ajouter une valeur à une category</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Une colonne </a:t>
            </a:r>
            <a:pPr indent="0" marL="0">
              <a:buNone/>
            </a:pPr>
            <a:r>
              <a:rPr lang="en-US" sz="1800" dirty="0">
                <a:solidFill>
                  <a:srgbClr val="1F3A5F"/>
                </a:solidFill>
                <a:latin typeface="Courier New" pitchFamily="34" charset="0"/>
                <a:ea typeface="Courier New" pitchFamily="34" charset="-122"/>
                <a:cs typeface="Courier New" pitchFamily="34" charset="-120"/>
              </a:rPr>
              <a:t>category</a:t>
            </a:r>
            <a:pPr indent="0" marL="0">
              <a:buNone/>
            </a:pPr>
            <a:r>
              <a:rPr lang="en-US" sz="1800" dirty="0">
                <a:solidFill>
                  <a:srgbClr val="6B7280"/>
                </a:solidFill>
                <a:latin typeface="Calibri" pitchFamily="34" charset="0"/>
                <a:ea typeface="Calibri" pitchFamily="34" charset="-122"/>
                <a:cs typeface="Calibri" pitchFamily="34" charset="-120"/>
              </a:rPr>
              <a:t> n'accepte que des valeurs qui font partie de ses catégories.</a:t>
            </a:r>
            <a:endParaRPr lang="en-US" sz="1800" dirty="0"/>
          </a:p>
        </p:txBody>
      </p:sp>
      <p:sp>
        <p:nvSpPr>
          <p:cNvPr id="7" name="Text 5"/>
          <p:cNvSpPr txBox="1"/>
          <p:nvPr/>
        </p:nvSpPr>
        <p:spPr>
          <a:xfrm>
            <a:off x="548640" y="201168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Refusé</a:t>
            </a:r>
            <a:endParaRPr lang="en-US" sz="1700" dirty="0"/>
          </a:p>
        </p:txBody>
      </p:sp>
      <p:sp>
        <p:nvSpPr>
          <p:cNvPr id="8" name="Shape 6"/>
          <p:cNvSpPr/>
          <p:nvPr/>
        </p:nvSpPr>
        <p:spPr>
          <a:xfrm>
            <a:off x="548640" y="2423160"/>
            <a:ext cx="5318608" cy="1131824"/>
          </a:xfrm>
          <a:prstGeom prst="rect">
            <a:avLst/>
          </a:prstGeom>
          <a:solidFill>
            <a:srgbClr val="F3F4F6"/>
          </a:solidFill>
          <a:ln/>
        </p:spPr>
      </p:sp>
      <p:sp>
        <p:nvSpPr>
          <p:cNvPr id="9" name="Text 7"/>
          <p:cNvSpPr txBox="1"/>
          <p:nvPr/>
        </p:nvSpPr>
        <p:spPr>
          <a:xfrm>
            <a:off x="731520" y="2569464"/>
            <a:ext cx="4952848" cy="83921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df["region"].fillna("Inconnue")</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TypeError: Cannot setitem on a Categorical</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with a new category (Inconnue), set the</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categories first</a:t>
            </a:r>
            <a:endParaRPr lang="en-US" sz="1400" dirty="0"/>
          </a:p>
        </p:txBody>
      </p:sp>
      <p:sp>
        <p:nvSpPr>
          <p:cNvPr id="10" name="Text 8"/>
          <p:cNvSpPr txBox="1"/>
          <p:nvPr/>
        </p:nvSpPr>
        <p:spPr>
          <a:xfrm>
            <a:off x="548640" y="3875024"/>
            <a:ext cx="531860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Avec </a:t>
            </a:r>
            <a:pPr indent="0" marL="0">
              <a:buNone/>
            </a:pPr>
            <a:r>
              <a:rPr lang="en-US" sz="1600" dirty="0">
                <a:solidFill>
                  <a:srgbClr val="1F3A5F"/>
                </a:solidFill>
                <a:latin typeface="Courier New" pitchFamily="34" charset="0"/>
                <a:ea typeface="Courier New" pitchFamily="34" charset="-122"/>
                <a:cs typeface="Courier New" pitchFamily="34" charset="-120"/>
              </a:rPr>
              <a:t>region</a:t>
            </a:r>
            <a:pPr indent="0" marL="0">
              <a:buNone/>
            </a:pPr>
            <a:r>
              <a:rPr lang="en-US" sz="1600" dirty="0">
                <a:solidFill>
                  <a:srgbClr val="6B7280"/>
                </a:solidFill>
                <a:latin typeface="Calibri" pitchFamily="34" charset="0"/>
                <a:ea typeface="Calibri" pitchFamily="34" charset="-122"/>
                <a:cs typeface="Calibri" pitchFamily="34" charset="-120"/>
              </a:rPr>
              <a:t> en </a:t>
            </a:r>
            <a:pPr indent="0" marL="0">
              <a:buNone/>
            </a:pPr>
            <a:r>
              <a:rPr lang="en-US" sz="1600" dirty="0">
                <a:solidFill>
                  <a:srgbClr val="1F3A5F"/>
                </a:solidFill>
                <a:latin typeface="Courier New" pitchFamily="34" charset="0"/>
                <a:ea typeface="Courier New" pitchFamily="34" charset="-122"/>
                <a:cs typeface="Courier New" pitchFamily="34" charset="-120"/>
              </a:rPr>
              <a:t>category</a:t>
            </a:r>
            <a:pPr indent="0" marL="0">
              <a:buNone/>
            </a:pPr>
            <a:r>
              <a:rPr lang="en-US" sz="1600" dirty="0">
                <a:solidFill>
                  <a:srgbClr val="6B7280"/>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Inconnue</a:t>
            </a:r>
            <a:pPr indent="0" marL="0">
              <a:buNone/>
            </a:pPr>
            <a:r>
              <a:rPr lang="en-US" sz="1600" dirty="0">
                <a:solidFill>
                  <a:srgbClr val="6B7280"/>
                </a:solidFill>
                <a:latin typeface="Calibri" pitchFamily="34" charset="0"/>
                <a:ea typeface="Calibri" pitchFamily="34" charset="-122"/>
                <a:cs typeface="Calibri" pitchFamily="34" charset="-120"/>
              </a:rPr>
              <a:t> ne fait pas partie des catégories.</a:t>
            </a:r>
            <a:endParaRPr lang="en-US" sz="1600" dirty="0"/>
          </a:p>
        </p:txBody>
      </p:sp>
      <p:sp>
        <p:nvSpPr>
          <p:cNvPr id="11" name="Text 9"/>
          <p:cNvSpPr txBox="1"/>
          <p:nvPr/>
        </p:nvSpPr>
        <p:spPr>
          <a:xfrm>
            <a:off x="6324448" y="201168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Déclarer d'abord la nouvelle valeur</a:t>
            </a:r>
            <a:endParaRPr lang="en-US" sz="1700" dirty="0"/>
          </a:p>
        </p:txBody>
      </p:sp>
      <p:sp>
        <p:nvSpPr>
          <p:cNvPr id="12" name="Shape 10"/>
          <p:cNvSpPr/>
          <p:nvPr/>
        </p:nvSpPr>
        <p:spPr>
          <a:xfrm>
            <a:off x="6324448" y="2423160"/>
            <a:ext cx="5318608" cy="1416558"/>
          </a:xfrm>
          <a:prstGeom prst="rect">
            <a:avLst/>
          </a:prstGeom>
          <a:solidFill>
            <a:srgbClr val="F3F4F6"/>
          </a:solidFill>
          <a:ln/>
        </p:spPr>
      </p:sp>
      <p:sp>
        <p:nvSpPr>
          <p:cNvPr id="13" name="Text 11"/>
          <p:cNvSpPr txBox="1"/>
          <p:nvPr/>
        </p:nvSpPr>
        <p:spPr>
          <a:xfrm>
            <a:off x="6507328" y="2569464"/>
            <a:ext cx="4952848"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df["region"] =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df["region"]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.cat.add_categories("Inconnue")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.fillna("Inconnue")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p:txBody>
      </p:sp>
      <p:sp>
        <p:nvSpPr>
          <p:cNvPr id="14" name="Text 12"/>
          <p:cNvSpPr txBox="1"/>
          <p:nvPr/>
        </p:nvSpPr>
        <p:spPr>
          <a:xfrm>
            <a:off x="6324448" y="4159758"/>
            <a:ext cx="5318608" cy="62484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cat.add_categories</a:t>
            </a:r>
            <a:pPr indent="0" marL="0">
              <a:buNone/>
            </a:pPr>
            <a:r>
              <a:rPr lang="en-US" sz="1600" dirty="0">
                <a:solidFill>
                  <a:srgbClr val="6B7280"/>
                </a:solidFill>
                <a:latin typeface="Calibri" pitchFamily="34" charset="0"/>
                <a:ea typeface="Calibri" pitchFamily="34" charset="-122"/>
                <a:cs typeface="Calibri" pitchFamily="34" charset="-120"/>
              </a:rPr>
              <a:t> ajoute la valeur aux catégories, puis </a:t>
            </a:r>
            <a:pPr indent="0" marL="0">
              <a:buNone/>
            </a:pPr>
            <a:r>
              <a:rPr lang="en-US" sz="1600" dirty="0">
                <a:solidFill>
                  <a:srgbClr val="1F3A5F"/>
                </a:solidFill>
                <a:latin typeface="Courier New" pitchFamily="34" charset="0"/>
                <a:ea typeface="Courier New" pitchFamily="34" charset="-122"/>
                <a:cs typeface="Courier New" pitchFamily="34" charset="-120"/>
              </a:rPr>
              <a:t>fillna</a:t>
            </a:r>
            <a:pPr indent="0" marL="0">
              <a:buNone/>
            </a:pPr>
            <a:r>
              <a:rPr lang="en-US" sz="1600" dirty="0">
                <a:solidFill>
                  <a:srgbClr val="6B7280"/>
                </a:solidFill>
                <a:latin typeface="Calibri" pitchFamily="34" charset="0"/>
                <a:ea typeface="Calibri" pitchFamily="34" charset="-122"/>
                <a:cs typeface="Calibri" pitchFamily="34" charset="-120"/>
              </a:rPr>
              <a:t> peut l'écrire.</a:t>
            </a:r>
            <a:endParaRPr lang="en-US" sz="1600" dirty="0"/>
          </a:p>
        </p:txBody>
      </p:sp>
      <p:sp>
        <p:nvSpPr>
          <p:cNvPr id="15"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GÉRER LES TYPES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TP2, partie 4</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Gérer les types, sur de petites Series</a:t>
            </a:r>
            <a:endParaRPr lang="en-US" sz="1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convertir des prix saisis en texte avec </a:t>
                      </a:r>
                      <a:pPr indent="0" marL="0">
                        <a:buNone/>
                      </a:pPr>
                      <a:r>
                        <a:rPr lang="en-US" sz="1600" dirty="0">
                          <a:solidFill>
                            <a:srgbClr val="1F3A5F"/>
                          </a:solidFill>
                          <a:latin typeface="Courier New" pitchFamily="34" charset="0"/>
                          <a:ea typeface="Courier New" pitchFamily="34" charset="-122"/>
                          <a:cs typeface="Courier New" pitchFamily="34" charset="-120"/>
                        </a:rPr>
                        <a:t>to_numeric</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errors="coerce"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garder des entiers malgré une valeur manquante : le type </a:t>
                      </a:r>
                      <a:pPr indent="0" marL="0">
                        <a:buNone/>
                      </a:pPr>
                      <a:r>
                        <a:rPr lang="en-US" sz="1600" dirty="0">
                          <a:solidFill>
                            <a:srgbClr val="1F3A5F"/>
                          </a:solidFill>
                          <a:latin typeface="Courier New" pitchFamily="34" charset="0"/>
                          <a:ea typeface="Courier New" pitchFamily="34" charset="-122"/>
                          <a:cs typeface="Courier New" pitchFamily="34" charset="-120"/>
                        </a:rPr>
                        <a:t>Int64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convertir des dates au format français, puis utiliser l'accesseur </a:t>
                      </a:r>
                      <a:pPr indent="0" marL="0">
                        <a:buNone/>
                      </a:pPr>
                      <a:r>
                        <a:rPr lang="en-US" sz="1600" dirty="0">
                          <a:solidFill>
                            <a:srgbClr val="1F3A5F"/>
                          </a:solidFill>
                          <a:latin typeface="Courier New" pitchFamily="34" charset="0"/>
                          <a:ea typeface="Courier New" pitchFamily="34" charset="-122"/>
                          <a:cs typeface="Courier New" pitchFamily="34" charset="-120"/>
                        </a:rPr>
                        <a:t>.dt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05</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Valeurs manquantes, aberrantes et doublons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Détecter   |   Choisir une stratégie   |   Dédoublonner</a:t>
            </a:r>
            <a:endParaRPr 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VALEURS MANQUANTES, ABERRANTES ET DOUBLONS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Détecter les valeurs manquantes</a:t>
            </a:r>
            <a:endParaRPr lang="en-US" sz="3000" dirty="0"/>
          </a:p>
        </p:txBody>
      </p:sp>
      <p:sp>
        <p:nvSpPr>
          <p:cNvPr id="6" name="Shape 4"/>
          <p:cNvSpPr/>
          <p:nvPr/>
        </p:nvSpPr>
        <p:spPr>
          <a:xfrm>
            <a:off x="548640" y="1417320"/>
            <a:ext cx="5802117" cy="1266698"/>
          </a:xfrm>
          <a:prstGeom prst="rect">
            <a:avLst/>
          </a:prstGeom>
          <a:solidFill>
            <a:srgbClr val="F3F4F6"/>
          </a:solidFill>
          <a:ln/>
        </p:spPr>
      </p:sp>
      <p:sp>
        <p:nvSpPr>
          <p:cNvPr id="7" name="Text 5"/>
          <p:cNvSpPr txBox="1"/>
          <p:nvPr/>
        </p:nvSpPr>
        <p:spPr>
          <a:xfrm>
            <a:off x="731520" y="1563624"/>
            <a:ext cx="5436357" cy="97409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df.isna().sum()                # nombre par colonne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df.isna().mean().round(3)      # proportion</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df[df["region"].isna()]        # lignes concernées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df[df.isna().any(axis=1)]      # au moins un manque</a:t>
            </a:r>
            <a:endParaRPr lang="en-US" sz="13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1611699"/>
                <a:gridCol w="322339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Notation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Pour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NaN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nombres et texte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NaT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dates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&lt;NA&gt;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types nullables comme </a:t>
                      </a:r>
                      <a:pPr indent="0" marL="0">
                        <a:buNone/>
                      </a:pPr>
                      <a:r>
                        <a:rPr lang="en-US" sz="1500" dirty="0">
                          <a:solidFill>
                            <a:srgbClr val="1F3A5F"/>
                          </a:solidFill>
                          <a:latin typeface="Courier New" pitchFamily="34" charset="0"/>
                          <a:ea typeface="Courier New" pitchFamily="34" charset="-122"/>
                          <a:cs typeface="Courier New" pitchFamily="34" charset="-120"/>
                        </a:rPr>
                        <a:t>Int64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6807957" y="3198876"/>
            <a:ext cx="4835098" cy="38100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isna</a:t>
            </a:r>
            <a:pPr indent="0" marL="0">
              <a:buNone/>
            </a:pPr>
            <a:r>
              <a:rPr lang="en-US" sz="1600" dirty="0">
                <a:solidFill>
                  <a:srgbClr val="6B7280"/>
                </a:solidFill>
                <a:latin typeface="Calibri" pitchFamily="34" charset="0"/>
                <a:ea typeface="Calibri" pitchFamily="34" charset="-122"/>
                <a:cs typeface="Calibri" pitchFamily="34" charset="-120"/>
              </a:rPr>
              <a:t> les détecte toutes.</a:t>
            </a:r>
            <a:endParaRPr lang="en-US" sz="16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VALEURS MANQUANTES, ABERRANTES ET DOUBLONS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Choisir une stratégie</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50055"/>
                <a:gridCol w="4341293"/>
                <a:gridCol w="4703067"/>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Stratégie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Quand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Supprimer les lignes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df.dropna(subset=["region"])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peu de lignes, colonne indispensable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Supprimer la colonne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df.drop(columns=["col"])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colonne très incomplète et peu utile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Valeur fixe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df["region"].fillna("Inconnue")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catégorie : l'absence est une information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Statistique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df["prix"].fillna(df["prix"].median())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nombre, peu de manques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Propagation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df["stock"].ffill()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la dernière valeur connue reste valable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Interpolation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df["temperature"].interpolate()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série temporelle qui évolue progressivement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Shape 4"/>
          <p:cNvSpPr/>
          <p:nvPr/>
        </p:nvSpPr>
        <p:spPr>
          <a:xfrm>
            <a:off x="548640" y="4601718"/>
            <a:ext cx="11094415" cy="883920"/>
          </a:xfrm>
          <a:prstGeom prst="roundRect">
            <a:avLst>
              <a:gd name="adj" fmla="val 6207"/>
            </a:avLst>
          </a:prstGeom>
          <a:solidFill>
            <a:srgbClr val="E8F3EE"/>
          </a:solidFill>
          <a:ln/>
        </p:spPr>
      </p:sp>
      <p:sp>
        <p:nvSpPr>
          <p:cNvPr id="8" name="Text 5"/>
          <p:cNvSpPr txBox="1"/>
          <p:nvPr/>
        </p:nvSpPr>
        <p:spPr>
          <a:xfrm>
            <a:off x="822960" y="460171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Pas de bonne stratégie universelle : on choisit selon l'usage des données, on justifie, et on note le nombre de lignes concernées.</a:t>
            </a:r>
            <a:endParaRPr lang="en-US" sz="1700" dirty="0"/>
          </a:p>
        </p:txBody>
      </p:sp>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VALEURS MANQUANTES, ABERRANTES ET DOUBLONS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Deux pièges à éviter</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Moyenne ou médiane ?</a:t>
            </a:r>
            <a:endParaRPr lang="en-US" sz="1700" dirty="0"/>
          </a:p>
        </p:txBody>
      </p:sp>
      <p:sp>
        <p:nvSpPr>
          <p:cNvPr id="7" name="Shape 5"/>
          <p:cNvSpPr/>
          <p:nvPr/>
        </p:nvSpPr>
        <p:spPr>
          <a:xfrm>
            <a:off x="548640" y="1828800"/>
            <a:ext cx="2522144" cy="1600200"/>
          </a:xfrm>
          <a:prstGeom prst="roundRect">
            <a:avLst>
              <a:gd name="adj" fmla="val 4571"/>
            </a:avLst>
          </a:prstGeom>
          <a:solidFill>
            <a:srgbClr val="EEF3F7"/>
          </a:solidFill>
          <a:ln/>
        </p:spPr>
      </p:sp>
      <p:sp>
        <p:nvSpPr>
          <p:cNvPr id="8" name="Text 6"/>
          <p:cNvSpPr txBox="1"/>
          <p:nvPr/>
        </p:nvSpPr>
        <p:spPr>
          <a:xfrm>
            <a:off x="777240" y="2011680"/>
            <a:ext cx="2064944"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406,80</a:t>
            </a:r>
            <a:endParaRPr lang="en-US" sz="4000" dirty="0"/>
          </a:p>
        </p:txBody>
      </p:sp>
      <p:sp>
        <p:nvSpPr>
          <p:cNvPr id="9" name="Text 7"/>
          <p:cNvSpPr txBox="1"/>
          <p:nvPr/>
        </p:nvSpPr>
        <p:spPr>
          <a:xfrm>
            <a:off x="777240" y="2834640"/>
            <a:ext cx="2064944"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prix unitaire moyen</a:t>
            </a:r>
            <a:endParaRPr lang="en-US" sz="1500" dirty="0"/>
          </a:p>
        </p:txBody>
      </p:sp>
      <p:sp>
        <p:nvSpPr>
          <p:cNvPr id="10" name="Shape 8"/>
          <p:cNvSpPr/>
          <p:nvPr/>
        </p:nvSpPr>
        <p:spPr>
          <a:xfrm>
            <a:off x="3345104" y="1828800"/>
            <a:ext cx="2522144" cy="1600200"/>
          </a:xfrm>
          <a:prstGeom prst="roundRect">
            <a:avLst>
              <a:gd name="adj" fmla="val 4571"/>
            </a:avLst>
          </a:prstGeom>
          <a:solidFill>
            <a:srgbClr val="EEF3F7"/>
          </a:solidFill>
          <a:ln/>
        </p:spPr>
      </p:sp>
      <p:sp>
        <p:nvSpPr>
          <p:cNvPr id="11" name="Text 9"/>
          <p:cNvSpPr txBox="1"/>
          <p:nvPr/>
        </p:nvSpPr>
        <p:spPr>
          <a:xfrm>
            <a:off x="3573704" y="2011680"/>
            <a:ext cx="2064944" cy="777240"/>
          </a:xfrm>
          <a:prstGeom prst="rect">
            <a:avLst/>
          </a:prstGeom>
          <a:noFill/>
          <a:ln/>
        </p:spPr>
        <p:txBody>
          <a:bodyPr wrap="square" lIns="0" tIns="0" rIns="0" bIns="0" rtlCol="0" anchor="ctr"/>
          <a:lstStyle/>
          <a:p>
            <a:pPr indent="0" marL="0">
              <a:buNone/>
            </a:pPr>
            <a:r>
              <a:rPr lang="en-US" sz="4000" b="1" dirty="0">
                <a:solidFill>
                  <a:srgbClr val="2F7D62"/>
                </a:solidFill>
                <a:latin typeface="Cambria" pitchFamily="34" charset="0"/>
                <a:ea typeface="Cambria" pitchFamily="34" charset="-122"/>
                <a:cs typeface="Cambria" pitchFamily="34" charset="-120"/>
              </a:rPr>
              <a:t>215,39</a:t>
            </a:r>
            <a:endParaRPr lang="en-US" sz="4000" dirty="0"/>
          </a:p>
        </p:txBody>
      </p:sp>
      <p:sp>
        <p:nvSpPr>
          <p:cNvPr id="12" name="Text 10"/>
          <p:cNvSpPr txBox="1"/>
          <p:nvPr/>
        </p:nvSpPr>
        <p:spPr>
          <a:xfrm>
            <a:off x="3573704" y="2834640"/>
            <a:ext cx="2064944"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prix unitaire médian</a:t>
            </a:r>
            <a:endParaRPr lang="en-US" sz="1500" dirty="0"/>
          </a:p>
        </p:txBody>
      </p:sp>
      <p:sp>
        <p:nvSpPr>
          <p:cNvPr id="13" name="Text 11"/>
          <p:cNvSpPr txBox="1"/>
          <p:nvPr/>
        </p:nvSpPr>
        <p:spPr>
          <a:xfrm>
            <a:off x="548640" y="3749040"/>
            <a:ext cx="5318608"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La moyenne est tirée vers le haut par un seul prix à 12 999. La médiane, peu sensible aux extrêmes, est souvent préférable pour remplir.</a:t>
            </a:r>
            <a:endParaRPr lang="en-US" sz="1600" dirty="0"/>
          </a:p>
        </p:txBody>
      </p:sp>
      <p:sp>
        <p:nvSpPr>
          <p:cNvPr id="14" name="Text 12"/>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dropna sans subset</a:t>
            </a:r>
            <a:endParaRPr lang="en-US" sz="1700" dirty="0"/>
          </a:p>
        </p:txBody>
      </p:sp>
      <p:sp>
        <p:nvSpPr>
          <p:cNvPr id="15" name="Shape 13"/>
          <p:cNvSpPr/>
          <p:nvPr/>
        </p:nvSpPr>
        <p:spPr>
          <a:xfrm>
            <a:off x="6324448" y="1828800"/>
            <a:ext cx="5318608" cy="1641348"/>
          </a:xfrm>
          <a:prstGeom prst="rect">
            <a:avLst/>
          </a:prstGeom>
          <a:solidFill>
            <a:srgbClr val="F3F4F6"/>
          </a:solidFill>
          <a:ln/>
        </p:spPr>
      </p:sp>
      <p:sp>
        <p:nvSpPr>
          <p:cNvPr id="16" name="Text 14"/>
          <p:cNvSpPr txBox="1"/>
          <p:nvPr/>
        </p:nvSpPr>
        <p:spPr>
          <a:xfrm>
            <a:off x="6507328" y="1975104"/>
            <a:ext cx="4952848"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df.dropna()</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supprime toute ligne ayant un manque,</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dans n'importe quelle colonne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df.dropna(subset=["region"])</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seulement si region est manquante</a:t>
            </a:r>
            <a:endParaRPr lang="en-US" sz="15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VALEURS MANQUANTES, ABERRANTES ET DOUBLONS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valeurs aberrantes</a:t>
            </a:r>
            <a:endParaRPr lang="en-US" sz="3000" dirty="0"/>
          </a:p>
        </p:txBody>
      </p:sp>
      <p:sp>
        <p:nvSpPr>
          <p:cNvPr id="6" name="Shape 4"/>
          <p:cNvSpPr/>
          <p:nvPr/>
        </p:nvSpPr>
        <p:spPr>
          <a:xfrm>
            <a:off x="548640" y="1417320"/>
            <a:ext cx="5802117" cy="2540508"/>
          </a:xfrm>
          <a:prstGeom prst="rect">
            <a:avLst/>
          </a:prstGeom>
          <a:solidFill>
            <a:srgbClr val="F3F4F6"/>
          </a:solidFill>
          <a:ln/>
        </p:spPr>
      </p:sp>
      <p:sp>
        <p:nvSpPr>
          <p:cNvPr id="7" name="Text 5"/>
          <p:cNvSpPr txBox="1"/>
          <p:nvPr/>
        </p:nvSpPr>
        <p:spPr>
          <a:xfrm>
            <a:off x="731520" y="1563624"/>
            <a:ext cx="5436357" cy="224790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anomalies = df[(df["quantite"] &lt;= 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 (df["Prix unitaire"] &lt;= 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rendre manquant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df["quantite"] = df["quantite"].mask(</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df["quantite"] &lt;= 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signaler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df["prix_suspect"] = df["Prix unitaire"] &gt; 5000</a:t>
            </a:r>
            <a:endParaRPr lang="en-US" sz="1500" dirty="0"/>
          </a:p>
        </p:txBody>
      </p:sp>
      <p:sp>
        <p:nvSpPr>
          <p:cNvPr id="8" name="Text 6"/>
          <p:cNvSpPr txBox="1"/>
          <p:nvPr/>
        </p:nvSpPr>
        <p:spPr>
          <a:xfrm>
            <a:off x="548640" y="4277868"/>
            <a:ext cx="5802117" cy="594360"/>
          </a:xfrm>
          <a:prstGeom prst="rect">
            <a:avLst/>
          </a:prstGeom>
          <a:noFill/>
          <a:ln/>
        </p:spPr>
        <p:txBody>
          <a:bodyPr wrap="square" lIns="0" tIns="0" rIns="0" bIns="0" rtlCol="0" anchor="t"/>
          <a:lstStyle/>
          <a:p>
            <a:pPr indent="0" marL="0">
              <a:buNone/>
            </a:pPr>
            <a:r>
              <a:rPr lang="en-US" sz="1500" dirty="0">
                <a:solidFill>
                  <a:srgbClr val="1F3A5F"/>
                </a:solidFill>
                <a:latin typeface="Courier New" pitchFamily="34" charset="0"/>
                <a:ea typeface="Courier New" pitchFamily="34" charset="-122"/>
                <a:cs typeface="Courier New" pitchFamily="34" charset="-120"/>
              </a:rPr>
              <a:t>mask</a:t>
            </a:r>
            <a:pPr indent="0" marL="0">
              <a:buNone/>
            </a:pPr>
            <a:r>
              <a:rPr lang="en-US" sz="1500" dirty="0">
                <a:solidFill>
                  <a:srgbClr val="6B7280"/>
                </a:solidFill>
                <a:latin typeface="Calibri" pitchFamily="34" charset="0"/>
                <a:ea typeface="Calibri" pitchFamily="34" charset="-122"/>
                <a:cs typeface="Calibri" pitchFamily="34" charset="-120"/>
              </a:rPr>
              <a:t> remplace par </a:t>
            </a:r>
            <a:pPr indent="0" marL="0">
              <a:buNone/>
            </a:pPr>
            <a:r>
              <a:rPr lang="en-US" sz="1500" dirty="0">
                <a:solidFill>
                  <a:srgbClr val="1F3A5F"/>
                </a:solidFill>
                <a:latin typeface="Courier New" pitchFamily="34" charset="0"/>
                <a:ea typeface="Courier New" pitchFamily="34" charset="-122"/>
                <a:cs typeface="Courier New" pitchFamily="34" charset="-120"/>
              </a:rPr>
              <a:t>NaN</a:t>
            </a:r>
            <a:pPr indent="0" marL="0">
              <a:buNone/>
            </a:pPr>
            <a:r>
              <a:rPr lang="en-US" sz="1500" dirty="0">
                <a:solidFill>
                  <a:srgbClr val="6B7280"/>
                </a:solidFill>
                <a:latin typeface="Calibri" pitchFamily="34" charset="0"/>
                <a:ea typeface="Calibri" pitchFamily="34" charset="-122"/>
                <a:cs typeface="Calibri" pitchFamily="34" charset="-120"/>
              </a:rPr>
              <a:t> là où la condition est vraie. Son inverse : </a:t>
            </a:r>
            <a:pPr indent="0" marL="0">
              <a:buNone/>
            </a:pPr>
            <a:r>
              <a:rPr lang="en-US" sz="1500" dirty="0">
                <a:solidFill>
                  <a:srgbClr val="1F3A5F"/>
                </a:solidFill>
                <a:latin typeface="Courier New" pitchFamily="34" charset="0"/>
                <a:ea typeface="Courier New" pitchFamily="34" charset="-122"/>
                <a:cs typeface="Courier New" pitchFamily="34" charset="-120"/>
              </a:rPr>
              <a:t>where</a:t>
            </a:r>
            <a:pPr indent="0" marL="0">
              <a:buNone/>
            </a:pPr>
            <a:r>
              <a:rPr lang="en-US" sz="1500" dirty="0">
                <a:solidFill>
                  <a:srgbClr val="6B7280"/>
                </a:solidFill>
                <a:latin typeface="Calibri" pitchFamily="34" charset="0"/>
                <a:ea typeface="Calibri" pitchFamily="34" charset="-122"/>
                <a:cs typeface="Calibri" pitchFamily="34" charset="-120"/>
              </a:rPr>
              <a:t>.</a:t>
            </a:r>
            <a:endParaRPr lang="en-US" sz="15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1934039"/>
                <a:gridCol w="290105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Quand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Supprimer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peu nombreuses et manifestement erronées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Rendre manquantes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puis appliquer une stratégie de remplissage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80352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Signaler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quand on ne peut pas trancher : 480 unités peut être une vraie 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VALEURS MANQUANTES, ABERRANTES ET DOUBLONS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doublons</a:t>
            </a:r>
            <a:endParaRPr lang="en-US" sz="3000" dirty="0"/>
          </a:p>
        </p:txBody>
      </p:sp>
      <p:sp>
        <p:nvSpPr>
          <p:cNvPr id="6" name="Shape 4"/>
          <p:cNvSpPr/>
          <p:nvPr/>
        </p:nvSpPr>
        <p:spPr>
          <a:xfrm>
            <a:off x="548640" y="1417320"/>
            <a:ext cx="5802117" cy="2090928"/>
          </a:xfrm>
          <a:prstGeom prst="rect">
            <a:avLst/>
          </a:prstGeom>
          <a:solidFill>
            <a:srgbClr val="F3F4F6"/>
          </a:solidFill>
          <a:ln/>
        </p:spPr>
      </p:sp>
      <p:sp>
        <p:nvSpPr>
          <p:cNvPr id="7" name="Text 5"/>
          <p:cNvSpPr txBox="1"/>
          <p:nvPr/>
        </p:nvSpPr>
        <p:spPr>
          <a:xfrm>
            <a:off x="731520" y="1563624"/>
            <a:ext cx="5436357" cy="1798320"/>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df.duplicated().sum()           # 2</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df[df.duplicated(keep=False)]   # toutes les occurrences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 = df.drop_duplicates()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df.duplicated(subset=["id_commande"]).sum()</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df["id_commande"].is_unique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même identifiant : garder la dernière ligne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df.drop_duplicates(subset=["id_commande"],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keep="last")</a:t>
            </a:r>
            <a:endParaRPr lang="en-US" sz="1200" dirty="0"/>
          </a:p>
        </p:txBody>
      </p:sp>
      <p:sp>
        <p:nvSpPr>
          <p:cNvPr id="8" name="Text 6"/>
          <p:cNvSpPr txBox="1"/>
          <p:nvPr/>
        </p:nvSpPr>
        <p:spPr>
          <a:xfrm>
            <a:off x="6807957" y="1417320"/>
            <a:ext cx="4835098" cy="220980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Par défaut : toutes les colonnes comparées, la première occurrence conservée</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subset</a:t>
            </a:r>
            <a:pPr indent="0" marL="0">
              <a:buNone/>
            </a:pPr>
            <a:r>
              <a:rPr lang="en-US" sz="1700" dirty="0">
                <a:solidFill>
                  <a:srgbClr val="1F2933"/>
                </a:solidFill>
                <a:latin typeface="Calibri" pitchFamily="34" charset="0"/>
                <a:ea typeface="Calibri" pitchFamily="34" charset="-122"/>
                <a:cs typeface="Calibri" pitchFamily="34" charset="-120"/>
              </a:rPr>
              <a:t> : vérifier qu'une </a:t>
            </a:r>
            <a:pPr indent="0" marL="0">
              <a:buNone/>
            </a:pPr>
            <a:r>
              <a:rPr lang="en-US" sz="1700" b="1" dirty="0">
                <a:solidFill>
                  <a:srgbClr val="1F2933"/>
                </a:solidFill>
                <a:latin typeface="Calibri" pitchFamily="34" charset="0"/>
                <a:ea typeface="Calibri" pitchFamily="34" charset="-122"/>
                <a:cs typeface="Calibri" pitchFamily="34" charset="-120"/>
              </a:rPr>
              <a:t>clé</a:t>
            </a:r>
            <a:pPr indent="0" marL="0">
              <a:buNone/>
            </a:pPr>
            <a:r>
              <a:rPr lang="en-US" sz="1700" dirty="0">
                <a:solidFill>
                  <a:srgbClr val="1F2933"/>
                </a:solidFill>
                <a:latin typeface="Calibri" pitchFamily="34" charset="0"/>
                <a:ea typeface="Calibri" pitchFamily="34" charset="-122"/>
                <a:cs typeface="Calibri" pitchFamily="34" charset="-120"/>
              </a:rPr>
              <a:t> est unique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Même identifiant, lignes différentes : une commande corrigée ? Choisir laquelle garder, par exemple la plus récente avec </a:t>
            </a:r>
            <a:pPr indent="0" marL="0">
              <a:buNone/>
            </a:pPr>
            <a:r>
              <a:rPr lang="en-US" sz="1700" dirty="0">
                <a:solidFill>
                  <a:srgbClr val="1F3A5F"/>
                </a:solidFill>
                <a:latin typeface="Courier New" pitchFamily="34" charset="0"/>
                <a:ea typeface="Courier New" pitchFamily="34" charset="-122"/>
                <a:cs typeface="Courier New" pitchFamily="34" charset="-120"/>
              </a:rPr>
              <a:t>keep="last"</a:t>
            </a:r>
            <a:pPr indent="0" marL="0">
              <a:buNone/>
            </a:pPr>
            <a:r>
              <a:rPr lang="en-US" sz="1700" dirty="0">
                <a:solidFill>
                  <a:srgbClr val="1F2933"/>
                </a:solidFill>
                <a:latin typeface="Calibri" pitchFamily="34" charset="0"/>
                <a:ea typeface="Calibri" pitchFamily="34" charset="-122"/>
                <a:cs typeface="Calibri" pitchFamily="34" charset="-120"/>
              </a:rPr>
              <a:t> après un tri</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VALEURS MANQUANTES, ABERRANTES ET DOUBLONS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TP2, partie 5</a:t>
            </a:r>
            <a:endParaRPr lang="en-US" sz="3000" dirty="0"/>
          </a:p>
        </p:txBody>
      </p:sp>
      <p:sp>
        <p:nvSpPr>
          <p:cNvPr id="6" name="Text 4"/>
          <p:cNvSpPr txBox="1"/>
          <p:nvPr/>
        </p:nvSpPr>
        <p:spPr>
          <a:xfrm>
            <a:off x="548640" y="1417320"/>
            <a:ext cx="11094415" cy="68580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Des relevés de magasin avec des trous, un capteur en panne, un fichier clients avec des doublons</a:t>
            </a:r>
            <a:endParaRPr lang="en-US" sz="18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compter les valeurs manquantes et leur proportion par colonne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5.2 et 5.3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interpolation, propagation, valeur fixe ; </a:t>
                      </a:r>
                      <a:pPr indent="0" marL="0">
                        <a:buNone/>
                      </a:pPr>
                      <a:r>
                        <a:rPr lang="en-US" sz="1600" dirty="0">
                          <a:solidFill>
                            <a:srgbClr val="1F3A5F"/>
                          </a:solidFill>
                          <a:latin typeface="Courier New" pitchFamily="34" charset="0"/>
                          <a:ea typeface="Courier New" pitchFamily="34" charset="-122"/>
                          <a:cs typeface="Courier New" pitchFamily="34" charset="-120"/>
                        </a:rPr>
                        <a:t>dropna</a:t>
                      </a:r>
                      <a:pPr indent="0" marL="0">
                        <a:buNone/>
                      </a:pPr>
                      <a:r>
                        <a:rPr lang="en-US" sz="1600" dirty="0">
                          <a:solidFill>
                            <a:srgbClr val="1F2933"/>
                          </a:solidFill>
                          <a:latin typeface="Calibri" pitchFamily="34" charset="0"/>
                          <a:ea typeface="Calibri" pitchFamily="34" charset="-122"/>
                          <a:cs typeface="Calibri" pitchFamily="34" charset="-120"/>
                        </a:rPr>
                        <a:t> avec ou sans </a:t>
                      </a:r>
                      <a:pPr indent="0" marL="0">
                        <a:buNone/>
                      </a:pPr>
                      <a:r>
                        <a:rPr lang="en-US" sz="1600" dirty="0">
                          <a:solidFill>
                            <a:srgbClr val="1F3A5F"/>
                          </a:solidFill>
                          <a:latin typeface="Courier New" pitchFamily="34" charset="0"/>
                          <a:ea typeface="Courier New" pitchFamily="34" charset="-122"/>
                          <a:cs typeface="Courier New" pitchFamily="34" charset="-120"/>
                        </a:rPr>
                        <a:t>subset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rendre manquantes des mesures impossibles avec </a:t>
                      </a:r>
                      <a:pPr indent="0" marL="0">
                        <a:buNone/>
                      </a:pPr>
                      <a:r>
                        <a:rPr lang="en-US" sz="1600" dirty="0">
                          <a:solidFill>
                            <a:srgbClr val="1F3A5F"/>
                          </a:solidFill>
                          <a:latin typeface="Courier New" pitchFamily="34" charset="0"/>
                          <a:ea typeface="Courier New" pitchFamily="34" charset="-122"/>
                          <a:cs typeface="Courier New" pitchFamily="34" charset="-120"/>
                        </a:rPr>
                        <a:t>mask</a:t>
                      </a:r>
                      <a:pPr indent="0" marL="0">
                        <a:buNone/>
                      </a:pPr>
                      <a:r>
                        <a:rPr lang="en-US" sz="1600" dirty="0">
                          <a:solidFill>
                            <a:srgbClr val="1F2933"/>
                          </a:solidFill>
                          <a:latin typeface="Calibri" pitchFamily="34" charset="0"/>
                          <a:ea typeface="Calibri" pitchFamily="34" charset="-122"/>
                          <a:cs typeface="Calibri" pitchFamily="34" charset="-120"/>
                        </a:rPr>
                        <a:t>, remplir avec la médiane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doublons exacts, doublons d'identifiant, garder la dernière ligne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06</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Trier, renommer, gérer l'index</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sort_values   |   rename   |   set_index et reset_index</a:t>
            </a:r>
            <a:endParaRPr 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TRIER, RENOMMER, GÉRER L'INDEX</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Trier</a:t>
            </a:r>
            <a:endParaRPr lang="en-US" sz="3000" dirty="0"/>
          </a:p>
        </p:txBody>
      </p:sp>
      <p:sp>
        <p:nvSpPr>
          <p:cNvPr id="6" name="Shape 4"/>
          <p:cNvSpPr/>
          <p:nvPr/>
        </p:nvSpPr>
        <p:spPr>
          <a:xfrm>
            <a:off x="548640" y="1417320"/>
            <a:ext cx="5802117" cy="2090928"/>
          </a:xfrm>
          <a:prstGeom prst="rect">
            <a:avLst/>
          </a:prstGeom>
          <a:solidFill>
            <a:srgbClr val="F3F4F6"/>
          </a:solidFill>
          <a:ln/>
        </p:spPr>
      </p:sp>
      <p:sp>
        <p:nvSpPr>
          <p:cNvPr id="7" name="Text 5"/>
          <p:cNvSpPr txBox="1"/>
          <p:nvPr/>
        </p:nvSpPr>
        <p:spPr>
          <a:xfrm>
            <a:off x="731520" y="1563624"/>
            <a:ext cx="5436357" cy="179832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df.sort_values("quantite", ascending=False)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df.sort_values(["categorie", "quantite"],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ascending=[True, False])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df.sort_index()</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df.nlargest(5, "quantite")</a:t>
            </a:r>
            <a:endParaRPr lang="en-US" sz="1500" dirty="0"/>
          </a:p>
        </p:txBody>
      </p:sp>
      <p:sp>
        <p:nvSpPr>
          <p:cNvPr id="8" name="Text 6"/>
          <p:cNvSpPr txBox="1"/>
          <p:nvPr/>
        </p:nvSpPr>
        <p:spPr>
          <a:xfrm>
            <a:off x="6807957" y="1417320"/>
            <a:ext cx="4835098" cy="16916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Plusieurs colonnes : une liste de colonnes, une liste de sens</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sort_index</a:t>
            </a:r>
            <a:pPr indent="0" marL="0">
              <a:buNone/>
            </a:pPr>
            <a:r>
              <a:rPr lang="en-US" sz="1700" dirty="0">
                <a:solidFill>
                  <a:srgbClr val="1F2933"/>
                </a:solidFill>
                <a:latin typeface="Calibri" pitchFamily="34" charset="0"/>
                <a:ea typeface="Calibri" pitchFamily="34" charset="-122"/>
                <a:cs typeface="Calibri" pitchFamily="34" charset="-120"/>
              </a:rPr>
              <a:t> rétablit l'ordre des labels</a:t>
            </a:r>
            <a:endParaRPr lang="en-US" sz="1700" dirty="0"/>
          </a:p>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nlargest</a:t>
            </a:r>
            <a:pPr indent="0" marL="0">
              <a:buNone/>
            </a:pPr>
            <a:r>
              <a:rPr lang="en-US" sz="1700" dirty="0">
                <a:solidFill>
                  <a:srgbClr val="1F2933"/>
                </a:solidFill>
                <a:latin typeface="Calibri" pitchFamily="34" charset="0"/>
                <a:ea typeface="Calibri" pitchFamily="34" charset="-122"/>
                <a:cs typeface="Calibri" pitchFamily="34" charset="-120"/>
              </a:rPr>
              <a:t> et </a:t>
            </a:r>
            <a:pPr indent="0" marL="0">
              <a:buNone/>
            </a:pPr>
            <a:r>
              <a:rPr lang="en-US" sz="1700" dirty="0">
                <a:solidFill>
                  <a:srgbClr val="1F3A5F"/>
                </a:solidFill>
                <a:latin typeface="Courier New" pitchFamily="34" charset="0"/>
                <a:ea typeface="Courier New" pitchFamily="34" charset="-122"/>
                <a:cs typeface="Courier New" pitchFamily="34" charset="-120"/>
              </a:rPr>
              <a:t>nsmallest</a:t>
            </a:r>
            <a:pPr indent="0" marL="0">
              <a:buNone/>
            </a:pPr>
            <a:r>
              <a:rPr lang="en-US" sz="1700" dirty="0">
                <a:solidFill>
                  <a:srgbClr val="1F2933"/>
                </a:solidFill>
                <a:latin typeface="Calibri" pitchFamily="34" charset="0"/>
                <a:ea typeface="Calibri" pitchFamily="34" charset="-122"/>
                <a:cs typeface="Calibri" pitchFamily="34" charset="-120"/>
              </a:rPr>
              <a:t> : les extrêmes en une ligne</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TRIER, RENOMMER, GÉRER L'INDEX</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Harmoniser les noms de colonnes</a:t>
            </a:r>
            <a:endParaRPr lang="en-US" sz="3000" dirty="0"/>
          </a:p>
        </p:txBody>
      </p:sp>
      <p:sp>
        <p:nvSpPr>
          <p:cNvPr id="6" name="Shape 4"/>
          <p:cNvSpPr/>
          <p:nvPr/>
        </p:nvSpPr>
        <p:spPr>
          <a:xfrm>
            <a:off x="548640" y="1417320"/>
            <a:ext cx="5802117" cy="2315718"/>
          </a:xfrm>
          <a:prstGeom prst="rect">
            <a:avLst/>
          </a:prstGeom>
          <a:solidFill>
            <a:srgbClr val="F3F4F6"/>
          </a:solidFill>
          <a:ln/>
        </p:spPr>
      </p:sp>
      <p:sp>
        <p:nvSpPr>
          <p:cNvPr id="7" name="Text 5"/>
          <p:cNvSpPr txBox="1"/>
          <p:nvPr/>
        </p:nvSpPr>
        <p:spPr>
          <a:xfrm>
            <a:off x="731520" y="1563624"/>
            <a:ext cx="5436357" cy="202311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df.columns =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df.columns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.str.strip()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.str.lower()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.str.replace(" ", "_")</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.str.normalize("NFKD")</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.str.encode("ascii", errors="ignore")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.str.decode("ascii")</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p:txBody>
      </p:sp>
      <p:sp>
        <p:nvSpPr>
          <p:cNvPr id="8" name="Text 6"/>
          <p:cNvSpPr txBox="1"/>
          <p:nvPr/>
        </p:nvSpPr>
        <p:spPr>
          <a:xfrm>
            <a:off x="548640" y="4053078"/>
            <a:ext cx="5802117"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Ou colonne par colonne</a:t>
            </a:r>
            <a:endParaRPr lang="en-US" sz="1200" dirty="0"/>
          </a:p>
        </p:txBody>
      </p:sp>
      <p:sp>
        <p:nvSpPr>
          <p:cNvPr id="9" name="Shape 7"/>
          <p:cNvSpPr/>
          <p:nvPr/>
        </p:nvSpPr>
        <p:spPr>
          <a:xfrm>
            <a:off x="548640" y="4345686"/>
            <a:ext cx="5802117" cy="487426"/>
          </a:xfrm>
          <a:prstGeom prst="rect">
            <a:avLst/>
          </a:prstGeom>
          <a:solidFill>
            <a:srgbClr val="F3F4F6"/>
          </a:solidFill>
          <a:ln/>
        </p:spPr>
      </p:sp>
      <p:sp>
        <p:nvSpPr>
          <p:cNvPr id="10" name="Text 8"/>
          <p:cNvSpPr txBox="1"/>
          <p:nvPr/>
        </p:nvSpPr>
        <p:spPr>
          <a:xfrm>
            <a:off x="731520" y="4491990"/>
            <a:ext cx="5436357" cy="19481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df.rename(columns={"Prix unitaire": "prix_unitaire"})</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2417549"/>
                <a:gridCol w="241754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Avant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Après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Prix unitaire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prix_unitaire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Client fidèle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client_fidele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quantite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quantite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6807957" y="3198876"/>
            <a:ext cx="4835098" cy="111252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Le *snake_case* : minuscules, sans accents ni espaces, mots séparés par des tirets bas. Les noms deviennent utilisables partout, y compris dans </a:t>
            </a:r>
            <a:pPr indent="0" marL="0">
              <a:buNone/>
            </a:pPr>
            <a:r>
              <a:rPr lang="en-US" sz="1600" dirty="0">
                <a:solidFill>
                  <a:srgbClr val="1F3A5F"/>
                </a:solidFill>
                <a:latin typeface="Courier New" pitchFamily="34" charset="0"/>
                <a:ea typeface="Courier New" pitchFamily="34" charset="-122"/>
                <a:cs typeface="Courier New" pitchFamily="34" charset="-120"/>
              </a:rPr>
              <a:t>query</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3" name="Shape 10"/>
          <p:cNvSpPr/>
          <p:nvPr/>
        </p:nvSpPr>
        <p:spPr>
          <a:xfrm>
            <a:off x="548640" y="5153152"/>
            <a:ext cx="11094415" cy="883920"/>
          </a:xfrm>
          <a:prstGeom prst="roundRect">
            <a:avLst>
              <a:gd name="adj" fmla="val 6207"/>
            </a:avLst>
          </a:prstGeom>
          <a:solidFill>
            <a:srgbClr val="E8F3EE"/>
          </a:solidFill>
          <a:ln/>
        </p:spPr>
      </p:sp>
      <p:sp>
        <p:nvSpPr>
          <p:cNvPr id="14" name="Text 11"/>
          <p:cNvSpPr txBox="1"/>
          <p:nvPr/>
        </p:nvSpPr>
        <p:spPr>
          <a:xfrm>
            <a:off x="822960" y="5153152"/>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Ce traitement resservira pour chaque nouveau fichier : on l'écrit une fois pour toutes dans une fonction, qui reçoit un DataFrame et en renvoie une copie aux colonnes harmonisées.</a:t>
            </a:r>
            <a:endParaRPr lang="en-US" sz="1700" dirty="0"/>
          </a:p>
        </p:txBody>
      </p:sp>
      <p:sp>
        <p:nvSpPr>
          <p:cNvPr id="15"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TRIER, RENOMMER, GÉRER L'INDEX</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set_index, reset_index, reindex</a:t>
            </a:r>
            <a:endParaRPr lang="en-US" sz="3000" dirty="0"/>
          </a:p>
        </p:txBody>
      </p:sp>
      <p:sp>
        <p:nvSpPr>
          <p:cNvPr id="6" name="Shape 4"/>
          <p:cNvSpPr/>
          <p:nvPr/>
        </p:nvSpPr>
        <p:spPr>
          <a:xfrm>
            <a:off x="548640" y="1417320"/>
            <a:ext cx="5802117" cy="2240788"/>
          </a:xfrm>
          <a:prstGeom prst="rect">
            <a:avLst/>
          </a:prstGeom>
          <a:solidFill>
            <a:srgbClr val="F3F4F6"/>
          </a:solidFill>
          <a:ln/>
        </p:spPr>
      </p:sp>
      <p:sp>
        <p:nvSpPr>
          <p:cNvPr id="7" name="Text 5"/>
          <p:cNvSpPr txBox="1"/>
          <p:nvPr/>
        </p:nvSpPr>
        <p:spPr>
          <a:xfrm>
            <a:off x="731520" y="1563624"/>
            <a:ext cx="5436357" cy="194818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df["id_commande"].is_unique       # à vérifier avant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 = df.set_index("id_commande")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df.loc[1042]                      # accès direct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 = df.reset_index()</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 = df.drop_duplicates().reset_index(drop=True)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df.reindex(columns=["date", "produit", "quantite"])</a:t>
            </a:r>
            <a:endParaRPr lang="en-US" sz="1300" dirty="0"/>
          </a:p>
        </p:txBody>
      </p:sp>
      <p:sp>
        <p:nvSpPr>
          <p:cNvPr id="8" name="Text 6"/>
          <p:cNvSpPr txBox="1"/>
          <p:nvPr/>
        </p:nvSpPr>
        <p:spPr>
          <a:xfrm>
            <a:off x="6807957" y="1417320"/>
            <a:ext cx="4835098" cy="220472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set_index</a:t>
            </a:r>
            <a:pPr indent="0" marL="0">
              <a:buNone/>
            </a:pPr>
            <a:r>
              <a:rPr lang="en-US" sz="1600" dirty="0">
                <a:solidFill>
                  <a:srgbClr val="1F2933"/>
                </a:solidFill>
                <a:latin typeface="Calibri" pitchFamily="34" charset="0"/>
                <a:ea typeface="Calibri" pitchFamily="34" charset="-122"/>
                <a:cs typeface="Calibri" pitchFamily="34" charset="-120"/>
              </a:rPr>
              <a:t> : une colonne devient l'index</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reset_index</a:t>
            </a:r>
            <a:pPr indent="0" marL="0">
              <a:buNone/>
            </a:pPr>
            <a:r>
              <a:rPr lang="en-US" sz="1600" dirty="0">
                <a:solidFill>
                  <a:srgbClr val="1F2933"/>
                </a:solidFill>
                <a:latin typeface="Calibri" pitchFamily="34" charset="0"/>
                <a:ea typeface="Calibri" pitchFamily="34" charset="-122"/>
                <a:cs typeface="Calibri" pitchFamily="34" charset="-120"/>
              </a:rPr>
              <a:t> : l'index redevient une colonne</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drop=True</a:t>
            </a:r>
            <a:pPr indent="0" marL="0">
              <a:buNone/>
            </a:pPr>
            <a:r>
              <a:rPr lang="en-US" sz="1600" dirty="0">
                <a:solidFill>
                  <a:srgbClr val="1F2933"/>
                </a:solidFill>
                <a:latin typeface="Calibri" pitchFamily="34" charset="0"/>
                <a:ea typeface="Calibri" pitchFamily="34" charset="-122"/>
                <a:cs typeface="Calibri" pitchFamily="34" charset="-120"/>
              </a:rPr>
              <a:t> : renuméroter sans garder l'ancien index, après un filtre ou un dédoublonnage</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reindex</a:t>
            </a:r>
            <a:pPr indent="0" marL="0">
              <a:buNone/>
            </a:pPr>
            <a:r>
              <a:rPr lang="en-US" sz="1600" dirty="0">
                <a:solidFill>
                  <a:srgbClr val="1F2933"/>
                </a:solidFill>
                <a:latin typeface="Calibri" pitchFamily="34" charset="0"/>
                <a:ea typeface="Calibri" pitchFamily="34" charset="-122"/>
                <a:cs typeface="Calibri" pitchFamily="34" charset="-120"/>
              </a:rPr>
              <a:t> : réorganiser selon une liste ; les labels absents sont remplis de </a:t>
            </a:r>
            <a:pPr indent="0" marL="0">
              <a:buNone/>
            </a:pPr>
            <a:r>
              <a:rPr lang="en-US" sz="1600" dirty="0">
                <a:solidFill>
                  <a:srgbClr val="1F3A5F"/>
                </a:solidFill>
                <a:latin typeface="Courier New" pitchFamily="34" charset="0"/>
                <a:ea typeface="Courier New" pitchFamily="34" charset="-122"/>
                <a:cs typeface="Courier New" pitchFamily="34" charset="-120"/>
              </a:rPr>
              <a:t>NaN</a:t>
            </a:r>
            <a:endParaRPr lang="en-US" sz="16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TRIER, RENOMMER, GÉRER L'INDEX</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TP2, partie 6</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Trier, renommer, gérer l'index</a:t>
            </a:r>
            <a:endParaRPr lang="en-US" sz="18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6.1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trier sur deux colonnes, puis </a:t>
                      </a:r>
                      <a:pPr indent="0" marL="0">
                        <a:buNone/>
                      </a:pPr>
                      <a:r>
                        <a:rPr lang="en-US" sz="1600" dirty="0">
                          <a:solidFill>
                            <a:srgbClr val="1F3A5F"/>
                          </a:solidFill>
                          <a:latin typeface="Courier New" pitchFamily="34" charset="0"/>
                          <a:ea typeface="Courier New" pitchFamily="34" charset="-122"/>
                          <a:cs typeface="Courier New" pitchFamily="34" charset="-120"/>
                        </a:rPr>
                        <a:t>nlargest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6.2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écrire la fonction </a:t>
                      </a:r>
                      <a:pPr indent="0" marL="0">
                        <a:buNone/>
                      </a:pPr>
                      <a:r>
                        <a:rPr lang="en-US" sz="1600" dirty="0">
                          <a:solidFill>
                            <a:srgbClr val="1F3A5F"/>
                          </a:solidFill>
                          <a:latin typeface="Courier New" pitchFamily="34" charset="0"/>
                          <a:ea typeface="Courier New" pitchFamily="34" charset="-122"/>
                          <a:cs typeface="Courier New" pitchFamily="34" charset="-120"/>
                        </a:rPr>
                        <a:t>harmoniser_colonnes</a:t>
                      </a:r>
                      <a:pPr indent="0" marL="0">
                        <a:buNone/>
                      </a:pPr>
                      <a:r>
                        <a:rPr lang="en-US" sz="1600" dirty="0">
                          <a:solidFill>
                            <a:srgbClr val="1F2933"/>
                          </a:solidFill>
                          <a:latin typeface="Calibri" pitchFamily="34" charset="0"/>
                          <a:ea typeface="Calibri" pitchFamily="34" charset="-122"/>
                          <a:cs typeface="Calibri" pitchFamily="34" charset="-120"/>
                        </a:rPr>
                        <a:t> et la tester sur deux tableaux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6.3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vérifier l'unicité, puis </a:t>
                      </a:r>
                      <a:pPr indent="0" marL="0">
                        <a:buNone/>
                      </a:pPr>
                      <a:r>
                        <a:rPr lang="en-US" sz="1600" dirty="0">
                          <a:solidFill>
                            <a:srgbClr val="1F3A5F"/>
                          </a:solidFill>
                          <a:latin typeface="Courier New" pitchFamily="34" charset="0"/>
                          <a:ea typeface="Courier New" pitchFamily="34" charset="-122"/>
                          <a:cs typeface="Courier New" pitchFamily="34" charset="-120"/>
                        </a:rPr>
                        <a:t>set_index</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loc</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reset_index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07</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Une démarche de nettoyage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Un ordre   |   Des choix notés   |   Le cas pratique</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UNE DÉMARCHE DE NETTOYAGE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Une démarche de nettoyage</a:t>
            </a:r>
            <a:endParaRPr lang="en-US" sz="3000" dirty="0"/>
          </a:p>
        </p:txBody>
      </p:sp>
      <p:sp>
        <p:nvSpPr>
          <p:cNvPr id="6" name="Shape 4"/>
          <p:cNvSpPr/>
          <p:nvPr/>
        </p:nvSpPr>
        <p:spPr>
          <a:xfrm>
            <a:off x="1164996" y="2057400"/>
            <a:ext cx="9861702" cy="0"/>
          </a:xfrm>
          <a:prstGeom prst="line">
            <a:avLst/>
          </a:prstGeom>
          <a:noFill/>
          <a:ln w="25400">
            <a:solidFill>
              <a:srgbClr val="D5DCE3"/>
            </a:solidFill>
            <a:prstDash val="solid"/>
          </a:ln>
        </p:spPr>
      </p:sp>
      <p:sp>
        <p:nvSpPr>
          <p:cNvPr id="7" name="Shape 5"/>
          <p:cNvSpPr/>
          <p:nvPr/>
        </p:nvSpPr>
        <p:spPr>
          <a:xfrm>
            <a:off x="936396" y="1828800"/>
            <a:ext cx="457200" cy="457200"/>
          </a:xfrm>
          <a:prstGeom prst="ellipse">
            <a:avLst/>
          </a:prstGeom>
          <a:solidFill>
            <a:srgbClr val="2F7D62"/>
          </a:solidFill>
          <a:ln/>
        </p:spPr>
      </p:sp>
      <p:sp>
        <p:nvSpPr>
          <p:cNvPr id="8" name="Text 6"/>
          <p:cNvSpPr txBox="1"/>
          <p:nvPr/>
        </p:nvSpPr>
        <p:spPr>
          <a:xfrm>
            <a:off x="93639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594360" y="2423160"/>
            <a:ext cx="1141273"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Charger</a:t>
            </a:r>
            <a:endParaRPr lang="en-US" sz="1400" dirty="0"/>
          </a:p>
        </p:txBody>
      </p:sp>
      <p:sp>
        <p:nvSpPr>
          <p:cNvPr id="10" name="Text 8"/>
          <p:cNvSpPr txBox="1"/>
          <p:nvPr/>
        </p:nvSpPr>
        <p:spPr>
          <a:xfrm>
            <a:off x="594360" y="2926080"/>
            <a:ext cx="1141273"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le brut</a:t>
            </a:r>
            <a:endParaRPr lang="en-US" sz="1200" dirty="0"/>
          </a:p>
        </p:txBody>
      </p:sp>
      <p:sp>
        <p:nvSpPr>
          <p:cNvPr id="11" name="Shape 9"/>
          <p:cNvSpPr/>
          <p:nvPr/>
        </p:nvSpPr>
        <p:spPr>
          <a:xfrm>
            <a:off x="2169109" y="1828800"/>
            <a:ext cx="457200" cy="457200"/>
          </a:xfrm>
          <a:prstGeom prst="ellipse">
            <a:avLst/>
          </a:prstGeom>
          <a:solidFill>
            <a:srgbClr val="2F7D62"/>
          </a:solidFill>
          <a:ln/>
        </p:spPr>
      </p:sp>
      <p:sp>
        <p:nvSpPr>
          <p:cNvPr id="12" name="Text 10"/>
          <p:cNvSpPr txBox="1"/>
          <p:nvPr/>
        </p:nvSpPr>
        <p:spPr>
          <a:xfrm>
            <a:off x="2169109"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827073" y="2423160"/>
            <a:ext cx="1141273"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Noms de colonnes</a:t>
            </a:r>
            <a:endParaRPr lang="en-US" sz="1400" dirty="0"/>
          </a:p>
        </p:txBody>
      </p:sp>
      <p:sp>
        <p:nvSpPr>
          <p:cNvPr id="14" name="Text 12"/>
          <p:cNvSpPr txBox="1"/>
          <p:nvPr/>
        </p:nvSpPr>
        <p:spPr>
          <a:xfrm>
            <a:off x="1827073" y="2926080"/>
            <a:ext cx="1141273"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snake_case</a:t>
            </a:r>
            <a:endParaRPr lang="en-US" sz="1200" dirty="0"/>
          </a:p>
        </p:txBody>
      </p:sp>
      <p:sp>
        <p:nvSpPr>
          <p:cNvPr id="15" name="Shape 13"/>
          <p:cNvSpPr/>
          <p:nvPr/>
        </p:nvSpPr>
        <p:spPr>
          <a:xfrm>
            <a:off x="3401822" y="1828800"/>
            <a:ext cx="457200" cy="457200"/>
          </a:xfrm>
          <a:prstGeom prst="ellipse">
            <a:avLst/>
          </a:prstGeom>
          <a:solidFill>
            <a:srgbClr val="2F7D62"/>
          </a:solidFill>
          <a:ln/>
        </p:spPr>
      </p:sp>
      <p:sp>
        <p:nvSpPr>
          <p:cNvPr id="16" name="Text 14"/>
          <p:cNvSpPr txBox="1"/>
          <p:nvPr/>
        </p:nvSpPr>
        <p:spPr>
          <a:xfrm>
            <a:off x="3401822"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3059786" y="2423160"/>
            <a:ext cx="1141273"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Doublons</a:t>
            </a:r>
            <a:endParaRPr lang="en-US" sz="1400" dirty="0"/>
          </a:p>
        </p:txBody>
      </p:sp>
      <p:sp>
        <p:nvSpPr>
          <p:cNvPr id="18" name="Text 16"/>
          <p:cNvSpPr txBox="1"/>
          <p:nvPr/>
        </p:nvSpPr>
        <p:spPr>
          <a:xfrm>
            <a:off x="3059786" y="2926080"/>
            <a:ext cx="1141273"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exacts</a:t>
            </a:r>
            <a:endParaRPr lang="en-US" sz="1200" dirty="0"/>
          </a:p>
        </p:txBody>
      </p:sp>
      <p:sp>
        <p:nvSpPr>
          <p:cNvPr id="19" name="Shape 17"/>
          <p:cNvSpPr/>
          <p:nvPr/>
        </p:nvSpPr>
        <p:spPr>
          <a:xfrm>
            <a:off x="4634535" y="1828800"/>
            <a:ext cx="457200" cy="457200"/>
          </a:xfrm>
          <a:prstGeom prst="ellipse">
            <a:avLst/>
          </a:prstGeom>
          <a:solidFill>
            <a:srgbClr val="2F7D62"/>
          </a:solidFill>
          <a:ln/>
        </p:spPr>
      </p:sp>
      <p:sp>
        <p:nvSpPr>
          <p:cNvPr id="20" name="Text 18"/>
          <p:cNvSpPr txBox="1"/>
          <p:nvPr/>
        </p:nvSpPr>
        <p:spPr>
          <a:xfrm>
            <a:off x="463453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4292498" y="2423160"/>
            <a:ext cx="1141273"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Texte</a:t>
            </a:r>
            <a:endParaRPr lang="en-US" sz="1400" dirty="0"/>
          </a:p>
        </p:txBody>
      </p:sp>
      <p:sp>
        <p:nvSpPr>
          <p:cNvPr id="22" name="Text 20"/>
          <p:cNvSpPr txBox="1"/>
          <p:nvPr/>
        </p:nvSpPr>
        <p:spPr>
          <a:xfrm>
            <a:off x="4292498" y="2926080"/>
            <a:ext cx="1141273"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espaces, casse, variantes</a:t>
            </a:r>
            <a:endParaRPr lang="en-US" sz="1200" dirty="0"/>
          </a:p>
        </p:txBody>
      </p:sp>
      <p:sp>
        <p:nvSpPr>
          <p:cNvPr id="23" name="Shape 21"/>
          <p:cNvSpPr/>
          <p:nvPr/>
        </p:nvSpPr>
        <p:spPr>
          <a:xfrm>
            <a:off x="5867248" y="1828800"/>
            <a:ext cx="457200" cy="457200"/>
          </a:xfrm>
          <a:prstGeom prst="ellipse">
            <a:avLst/>
          </a:prstGeom>
          <a:solidFill>
            <a:srgbClr val="2F7D62"/>
          </a:solidFill>
          <a:ln/>
        </p:spPr>
      </p:sp>
      <p:sp>
        <p:nvSpPr>
          <p:cNvPr id="24" name="Text 22"/>
          <p:cNvSpPr txBox="1"/>
          <p:nvPr/>
        </p:nvSpPr>
        <p:spPr>
          <a:xfrm>
            <a:off x="586724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3"/>
          <p:cNvSpPr txBox="1"/>
          <p:nvPr/>
        </p:nvSpPr>
        <p:spPr>
          <a:xfrm>
            <a:off x="5525211" y="2423160"/>
            <a:ext cx="1141273"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Types</a:t>
            </a:r>
            <a:endParaRPr lang="en-US" sz="1400" dirty="0"/>
          </a:p>
        </p:txBody>
      </p:sp>
      <p:sp>
        <p:nvSpPr>
          <p:cNvPr id="26" name="Text 24"/>
          <p:cNvSpPr txBox="1"/>
          <p:nvPr/>
        </p:nvSpPr>
        <p:spPr>
          <a:xfrm>
            <a:off x="5525211" y="2926080"/>
            <a:ext cx="1141273"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nombres, dates, catégories</a:t>
            </a:r>
            <a:endParaRPr lang="en-US" sz="1200" dirty="0"/>
          </a:p>
        </p:txBody>
      </p:sp>
      <p:sp>
        <p:nvSpPr>
          <p:cNvPr id="27" name="Shape 25"/>
          <p:cNvSpPr/>
          <p:nvPr/>
        </p:nvSpPr>
        <p:spPr>
          <a:xfrm>
            <a:off x="7099960" y="1828800"/>
            <a:ext cx="457200" cy="457200"/>
          </a:xfrm>
          <a:prstGeom prst="ellipse">
            <a:avLst/>
          </a:prstGeom>
          <a:solidFill>
            <a:srgbClr val="2F7D62"/>
          </a:solidFill>
          <a:ln/>
        </p:spPr>
      </p:sp>
      <p:sp>
        <p:nvSpPr>
          <p:cNvPr id="28" name="Text 26"/>
          <p:cNvSpPr txBox="1"/>
          <p:nvPr/>
        </p:nvSpPr>
        <p:spPr>
          <a:xfrm>
            <a:off x="709996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7"/>
          <p:cNvSpPr txBox="1"/>
          <p:nvPr/>
        </p:nvSpPr>
        <p:spPr>
          <a:xfrm>
            <a:off x="6757924" y="2423160"/>
            <a:ext cx="1141273"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Aberrantes</a:t>
            </a:r>
            <a:endParaRPr lang="en-US" sz="1400" dirty="0"/>
          </a:p>
        </p:txBody>
      </p:sp>
      <p:sp>
        <p:nvSpPr>
          <p:cNvPr id="30" name="Text 28"/>
          <p:cNvSpPr txBox="1"/>
          <p:nvPr/>
        </p:nvSpPr>
        <p:spPr>
          <a:xfrm>
            <a:off x="6757924" y="2926080"/>
            <a:ext cx="1141273"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règles métier</a:t>
            </a:r>
            <a:endParaRPr lang="en-US" sz="1200" dirty="0"/>
          </a:p>
        </p:txBody>
      </p:sp>
      <p:sp>
        <p:nvSpPr>
          <p:cNvPr id="31" name="Shape 29"/>
          <p:cNvSpPr/>
          <p:nvPr/>
        </p:nvSpPr>
        <p:spPr>
          <a:xfrm>
            <a:off x="8332673" y="1828800"/>
            <a:ext cx="457200" cy="457200"/>
          </a:xfrm>
          <a:prstGeom prst="ellipse">
            <a:avLst/>
          </a:prstGeom>
          <a:solidFill>
            <a:srgbClr val="2F7D62"/>
          </a:solidFill>
          <a:ln/>
        </p:spPr>
      </p:sp>
      <p:sp>
        <p:nvSpPr>
          <p:cNvPr id="32" name="Text 30"/>
          <p:cNvSpPr txBox="1"/>
          <p:nvPr/>
        </p:nvSpPr>
        <p:spPr>
          <a:xfrm>
            <a:off x="8332673"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3" name="Text 31"/>
          <p:cNvSpPr txBox="1"/>
          <p:nvPr/>
        </p:nvSpPr>
        <p:spPr>
          <a:xfrm>
            <a:off x="7990637" y="2423160"/>
            <a:ext cx="1141273"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Manquants</a:t>
            </a:r>
            <a:endParaRPr lang="en-US" sz="1400" dirty="0"/>
          </a:p>
        </p:txBody>
      </p:sp>
      <p:sp>
        <p:nvSpPr>
          <p:cNvPr id="34" name="Text 32"/>
          <p:cNvSpPr txBox="1"/>
          <p:nvPr/>
        </p:nvSpPr>
        <p:spPr>
          <a:xfrm>
            <a:off x="7990637" y="2926080"/>
            <a:ext cx="1141273"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stratégie</a:t>
            </a:r>
            <a:endParaRPr lang="en-US" sz="1200" dirty="0"/>
          </a:p>
        </p:txBody>
      </p:sp>
      <p:sp>
        <p:nvSpPr>
          <p:cNvPr id="35" name="Shape 33"/>
          <p:cNvSpPr/>
          <p:nvPr/>
        </p:nvSpPr>
        <p:spPr>
          <a:xfrm>
            <a:off x="9565386" y="1828800"/>
            <a:ext cx="457200" cy="457200"/>
          </a:xfrm>
          <a:prstGeom prst="ellipse">
            <a:avLst/>
          </a:prstGeom>
          <a:solidFill>
            <a:srgbClr val="2F7D62"/>
          </a:solidFill>
          <a:ln/>
        </p:spPr>
      </p:sp>
      <p:sp>
        <p:nvSpPr>
          <p:cNvPr id="36" name="Text 34"/>
          <p:cNvSpPr txBox="1"/>
          <p:nvPr/>
        </p:nvSpPr>
        <p:spPr>
          <a:xfrm>
            <a:off x="956538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7" name="Text 35"/>
          <p:cNvSpPr txBox="1"/>
          <p:nvPr/>
        </p:nvSpPr>
        <p:spPr>
          <a:xfrm>
            <a:off x="9223350" y="2423160"/>
            <a:ext cx="1141273"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Vérifier</a:t>
            </a:r>
            <a:endParaRPr lang="en-US" sz="1400" dirty="0"/>
          </a:p>
        </p:txBody>
      </p:sp>
      <p:sp>
        <p:nvSpPr>
          <p:cNvPr id="38" name="Text 36"/>
          <p:cNvSpPr txBox="1"/>
          <p:nvPr/>
        </p:nvSpPr>
        <p:spPr>
          <a:xfrm>
            <a:off x="9223350" y="2926080"/>
            <a:ext cx="1141273"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comme au TP1</a:t>
            </a:r>
            <a:endParaRPr lang="en-US" sz="1200" dirty="0"/>
          </a:p>
        </p:txBody>
      </p:sp>
      <p:sp>
        <p:nvSpPr>
          <p:cNvPr id="39" name="Shape 37"/>
          <p:cNvSpPr/>
          <p:nvPr/>
        </p:nvSpPr>
        <p:spPr>
          <a:xfrm>
            <a:off x="10798099" y="1828800"/>
            <a:ext cx="457200" cy="457200"/>
          </a:xfrm>
          <a:prstGeom prst="ellipse">
            <a:avLst/>
          </a:prstGeom>
          <a:solidFill>
            <a:srgbClr val="2F7D62"/>
          </a:solidFill>
          <a:ln/>
        </p:spPr>
      </p:sp>
      <p:sp>
        <p:nvSpPr>
          <p:cNvPr id="40" name="Text 38"/>
          <p:cNvSpPr txBox="1"/>
          <p:nvPr/>
        </p:nvSpPr>
        <p:spPr>
          <a:xfrm>
            <a:off x="10798099"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1" name="Text 39"/>
          <p:cNvSpPr txBox="1"/>
          <p:nvPr/>
        </p:nvSpPr>
        <p:spPr>
          <a:xfrm>
            <a:off x="10456062" y="2423160"/>
            <a:ext cx="1141273" cy="502920"/>
          </a:xfrm>
          <a:prstGeom prst="rect">
            <a:avLst/>
          </a:prstGeom>
          <a:noFill/>
          <a:ln/>
        </p:spPr>
        <p:txBody>
          <a:bodyPr wrap="square" lIns="0" tIns="0" rIns="0" bIns="0" rtlCol="0" anchor="t"/>
          <a:lstStyle/>
          <a:p>
            <a:pPr algn="ctr" indent="0" marL="0">
              <a:buNone/>
            </a:pPr>
            <a:r>
              <a:rPr lang="en-US" sz="1400" b="1" dirty="0">
                <a:solidFill>
                  <a:srgbClr val="1F3A5F"/>
                </a:solidFill>
                <a:latin typeface="Calibri" pitchFamily="34" charset="0"/>
                <a:ea typeface="Calibri" pitchFamily="34" charset="-122"/>
                <a:cs typeface="Calibri" pitchFamily="34" charset="-120"/>
              </a:rPr>
              <a:t>Exporter</a:t>
            </a:r>
            <a:endParaRPr lang="en-US" sz="1400" dirty="0"/>
          </a:p>
        </p:txBody>
      </p:sp>
      <p:sp>
        <p:nvSpPr>
          <p:cNvPr id="42" name="Text 40"/>
          <p:cNvSpPr txBox="1"/>
          <p:nvPr/>
        </p:nvSpPr>
        <p:spPr>
          <a:xfrm>
            <a:off x="10456062" y="2926080"/>
            <a:ext cx="1141273"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Parquet</a:t>
            </a:r>
            <a:endParaRPr lang="en-US" sz="1200" dirty="0"/>
          </a:p>
        </p:txBody>
      </p:sp>
      <p:sp>
        <p:nvSpPr>
          <p:cNvPr id="43" name="Shape 41"/>
          <p:cNvSpPr/>
          <p:nvPr/>
        </p:nvSpPr>
        <p:spPr>
          <a:xfrm>
            <a:off x="548640" y="3657600"/>
            <a:ext cx="11094415" cy="883920"/>
          </a:xfrm>
          <a:prstGeom prst="roundRect">
            <a:avLst>
              <a:gd name="adj" fmla="val 6207"/>
            </a:avLst>
          </a:prstGeom>
          <a:solidFill>
            <a:srgbClr val="E8F3EE"/>
          </a:solidFill>
          <a:ln/>
        </p:spPr>
      </p:sp>
      <p:sp>
        <p:nvSpPr>
          <p:cNvPr id="44" name="Text 42"/>
          <p:cNvSpPr txBox="1"/>
          <p:nvPr/>
        </p:nvSpPr>
        <p:spPr>
          <a:xfrm>
            <a:off x="822960" y="365760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 texte avant les catégories et les clés, les aberrantes avant les manquants : on évite les catégories en trop, les doublons manqués et les moyennes faussées.</a:t>
            </a:r>
            <a:endParaRPr lang="en-US" sz="1700" dirty="0"/>
          </a:p>
        </p:txBody>
      </p:sp>
      <p:sp>
        <p:nvSpPr>
          <p:cNvPr id="45" name="Text 43"/>
          <p:cNvSpPr txBox="1"/>
          <p:nvPr/>
        </p:nvSpPr>
        <p:spPr>
          <a:xfrm>
            <a:off x="548640" y="4861560"/>
            <a:ext cx="11094415" cy="655320"/>
          </a:xfrm>
          <a:prstGeom prst="rect">
            <a:avLst/>
          </a:prstGeom>
          <a:noFill/>
          <a:ln/>
        </p:spPr>
        <p:txBody>
          <a:bodyPr wrap="square" lIns="0" tIns="0" rIns="0" bIns="0" rtlCol="0" anchor="t"/>
          <a:lstStyle/>
          <a:p>
            <a:pPr indent="0" marL="0">
              <a:buNone/>
            </a:pPr>
            <a:r>
              <a:rPr lang="en-US" sz="1700" dirty="0">
                <a:solidFill>
                  <a:srgbClr val="6B7280"/>
                </a:solidFill>
                <a:latin typeface="Calibri" pitchFamily="34" charset="0"/>
                <a:ea typeface="Calibri" pitchFamily="34" charset="-122"/>
                <a:cs typeface="Calibri" pitchFamily="34" charset="-120"/>
              </a:rPr>
              <a:t>À chaque étape, on note le choix fait et le nombre de lignes concernées. Cette note fait partie du livrable.</a:t>
            </a:r>
            <a:endParaRPr lang="en-US" sz="1700" dirty="0"/>
          </a:p>
        </p:txBody>
      </p:sp>
      <p:sp>
        <p:nvSpPr>
          <p:cNvPr id="46" name="Text 4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UNE DÉMARCHE DE NETTOYAGE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TP2, partie 7, le cas pratique</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Le nettoyage complet des ventes, à partir du fichier brut et de la synthèse du TP1</a:t>
            </a:r>
            <a:endParaRPr lang="en-US" sz="1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Étape de la démarche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7.1 et 7.2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harmoniser les noms de colonnes, supprimer les doublons exacts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7.3 et 7.4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corriger les variantes d'écriture, convertir les dates et les catégories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7.5 et 7.6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repérer les valeurs aberrantes, puis supprimer, rendre manquant ou signaler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7.7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traiter les valeurs manquantes, en justifiant chaque choix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7.8 et 7.9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ajouter les colonnes calculées, refaire les vérifications du TP1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4523994"/>
            <a:ext cx="11094415" cy="883920"/>
          </a:xfrm>
          <a:prstGeom prst="roundRect">
            <a:avLst>
              <a:gd name="adj" fmla="val 6207"/>
            </a:avLst>
          </a:prstGeom>
          <a:solidFill>
            <a:srgbClr val="E8F3EE"/>
          </a:solidFill>
          <a:ln/>
        </p:spPr>
      </p:sp>
      <p:sp>
        <p:nvSpPr>
          <p:cNvPr id="9" name="Text 6"/>
          <p:cNvSpPr txBox="1"/>
          <p:nvPr/>
        </p:nvSpPr>
        <p:spPr>
          <a:xfrm>
            <a:off x="822960" y="4523994"/>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Noter au fur et à mesure chaque choix et le nombre de lignes concernées : la note de fin de notebook fait partie du livrable.</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08</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Exporter en Parquet</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Pourquoi plus compact   |   Pourquoi plus rapide   |   Mesurer</a:t>
            </a:r>
            <a:endParaRPr lang="en-U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EXPORTER EN PARQUET</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Pourquoi Parquet est plus compact et plus rapide</a:t>
            </a:r>
            <a:endParaRPr lang="en-US" sz="3000" dirty="0"/>
          </a:p>
        </p:txBody>
      </p:sp>
      <p:sp>
        <p:nvSpPr>
          <p:cNvPr id="6" name="Shape 4"/>
          <p:cNvSpPr/>
          <p:nvPr/>
        </p:nvSpPr>
        <p:spPr>
          <a:xfrm>
            <a:off x="548640" y="1417320"/>
            <a:ext cx="3515258" cy="2331720"/>
          </a:xfrm>
          <a:prstGeom prst="roundRect">
            <a:avLst>
              <a:gd name="adj" fmla="val 3137"/>
            </a:avLst>
          </a:prstGeom>
          <a:solidFill>
            <a:srgbClr val="EEF3F7"/>
          </a:solidFill>
          <a:ln/>
        </p:spPr>
      </p:sp>
      <p:sp>
        <p:nvSpPr>
          <p:cNvPr id="7" name="Shape 5"/>
          <p:cNvSpPr/>
          <p:nvPr/>
        </p:nvSpPr>
        <p:spPr>
          <a:xfrm>
            <a:off x="777240" y="1691640"/>
            <a:ext cx="402336" cy="402336"/>
          </a:xfrm>
          <a:prstGeom prst="ellipse">
            <a:avLst/>
          </a:prstGeom>
          <a:solidFill>
            <a:srgbClr val="2F7D62"/>
          </a:solidFill>
          <a:ln/>
        </p:spPr>
      </p:sp>
      <p:sp>
        <p:nvSpPr>
          <p:cNvPr id="8" name="Text 6"/>
          <p:cNvSpPr txBox="1"/>
          <p:nvPr/>
        </p:nvSpPr>
        <p:spPr>
          <a:xfrm>
            <a:off x="777240"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Stockage par colonne</a:t>
            </a:r>
            <a:endParaRPr lang="en-US" sz="1800" dirty="0"/>
          </a:p>
        </p:txBody>
      </p:sp>
      <p:sp>
        <p:nvSpPr>
          <p:cNvPr id="10" name="Text 8"/>
          <p:cNvSpPr txBox="1"/>
          <p:nvPr/>
        </p:nvSpPr>
        <p:spPr>
          <a:xfrm>
            <a:off x="777240" y="260604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Les valeurs d'une colonne se ressemblent : elles se compressent bien mieux que des lignes qui mélangent tout.</a:t>
            </a:r>
            <a:endParaRPr lang="en-US" sz="1500" dirty="0"/>
          </a:p>
        </p:txBody>
      </p:sp>
      <p:sp>
        <p:nvSpPr>
          <p:cNvPr id="11" name="Shape 9"/>
          <p:cNvSpPr/>
          <p:nvPr/>
        </p:nvSpPr>
        <p:spPr>
          <a:xfrm>
            <a:off x="4338218" y="1417320"/>
            <a:ext cx="3515258" cy="2331720"/>
          </a:xfrm>
          <a:prstGeom prst="roundRect">
            <a:avLst>
              <a:gd name="adj" fmla="val 3137"/>
            </a:avLst>
          </a:prstGeom>
          <a:solidFill>
            <a:srgbClr val="EEF3F7"/>
          </a:solidFill>
          <a:ln/>
        </p:spPr>
      </p:sp>
      <p:sp>
        <p:nvSpPr>
          <p:cNvPr id="12" name="Shape 10"/>
          <p:cNvSpPr/>
          <p:nvPr/>
        </p:nvSpPr>
        <p:spPr>
          <a:xfrm>
            <a:off x="4566818" y="1691640"/>
            <a:ext cx="402336" cy="402336"/>
          </a:xfrm>
          <a:prstGeom prst="ellipse">
            <a:avLst/>
          </a:prstGeom>
          <a:solidFill>
            <a:srgbClr val="2F7D62"/>
          </a:solidFill>
          <a:ln/>
        </p:spPr>
      </p:sp>
      <p:sp>
        <p:nvSpPr>
          <p:cNvPr id="13" name="Text 11"/>
          <p:cNvSpPr txBox="1"/>
          <p:nvPr/>
        </p:nvSpPr>
        <p:spPr>
          <a:xfrm>
            <a:off x="456681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Valeurs répétées encodées</a:t>
            </a:r>
            <a:endParaRPr lang="en-US" sz="1800" dirty="0"/>
          </a:p>
        </p:txBody>
      </p:sp>
      <p:sp>
        <p:nvSpPr>
          <p:cNvPr id="15" name="Text 13"/>
          <p:cNvSpPr txBox="1"/>
          <p:nvPr/>
        </p:nvSpPr>
        <p:spPr>
          <a:xfrm>
            <a:off x="4566818" y="260604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Une colonne comme </a:t>
            </a:r>
            <a:pPr indent="0" marL="0">
              <a:buNone/>
            </a:pPr>
            <a:r>
              <a:rPr lang="en-US" sz="1500" dirty="0">
                <a:solidFill>
                  <a:srgbClr val="1F3A5F"/>
                </a:solidFill>
                <a:latin typeface="Courier New" pitchFamily="34" charset="0"/>
                <a:ea typeface="Courier New" pitchFamily="34" charset="-122"/>
                <a:cs typeface="Courier New" pitchFamily="34" charset="-120"/>
              </a:rPr>
              <a:t>region</a:t>
            </a:r>
            <a:pPr indent="0" marL="0">
              <a:buNone/>
            </a:pPr>
            <a:r>
              <a:rPr lang="en-US" sz="1500" dirty="0">
                <a:solidFill>
                  <a:srgbClr val="1F2933"/>
                </a:solidFill>
                <a:latin typeface="Calibri" pitchFamily="34" charset="0"/>
                <a:ea typeface="Calibri" pitchFamily="34" charset="-122"/>
                <a:cs typeface="Calibri" pitchFamily="34" charset="-120"/>
              </a:rPr>
              <a:t> est stockée sous forme d'un dictionnaire et de codes, comme </a:t>
            </a:r>
            <a:pPr indent="0" marL="0">
              <a:buNone/>
            </a:pPr>
            <a:r>
              <a:rPr lang="en-US" sz="1500" dirty="0">
                <a:solidFill>
                  <a:srgbClr val="1F3A5F"/>
                </a:solidFill>
                <a:latin typeface="Courier New" pitchFamily="34" charset="0"/>
                <a:ea typeface="Courier New" pitchFamily="34" charset="-122"/>
                <a:cs typeface="Courier New" pitchFamily="34" charset="-120"/>
              </a:rPr>
              <a:t>category</a:t>
            </a:r>
            <a:pPr indent="0" marL="0">
              <a:buNone/>
            </a:pPr>
            <a:r>
              <a:rPr lang="en-US" sz="1500" dirty="0">
                <a:solidFill>
                  <a:srgbClr val="1F2933"/>
                </a:solidFill>
                <a:latin typeface="Calibri" pitchFamily="34" charset="0"/>
                <a:ea typeface="Calibri" pitchFamily="34" charset="-122"/>
                <a:cs typeface="Calibri" pitchFamily="34" charset="-120"/>
              </a:rPr>
              <a:t>.</a:t>
            </a:r>
            <a:endParaRPr lang="en-US" sz="1500" dirty="0"/>
          </a:p>
        </p:txBody>
      </p:sp>
      <p:sp>
        <p:nvSpPr>
          <p:cNvPr id="16" name="Shape 14"/>
          <p:cNvSpPr/>
          <p:nvPr/>
        </p:nvSpPr>
        <p:spPr>
          <a:xfrm>
            <a:off x="8127797" y="1417320"/>
            <a:ext cx="3515258" cy="2331720"/>
          </a:xfrm>
          <a:prstGeom prst="roundRect">
            <a:avLst>
              <a:gd name="adj" fmla="val 3137"/>
            </a:avLst>
          </a:prstGeom>
          <a:solidFill>
            <a:srgbClr val="EEF3F7"/>
          </a:solidFill>
          <a:ln/>
        </p:spPr>
      </p:sp>
      <p:sp>
        <p:nvSpPr>
          <p:cNvPr id="17" name="Shape 15"/>
          <p:cNvSpPr/>
          <p:nvPr/>
        </p:nvSpPr>
        <p:spPr>
          <a:xfrm>
            <a:off x="8356397" y="1691640"/>
            <a:ext cx="402336" cy="402336"/>
          </a:xfrm>
          <a:prstGeom prst="ellipse">
            <a:avLst/>
          </a:prstGeom>
          <a:solidFill>
            <a:srgbClr val="2F7D62"/>
          </a:solidFill>
          <a:ln/>
        </p:spPr>
      </p:sp>
      <p:sp>
        <p:nvSpPr>
          <p:cNvPr id="18" name="Text 16"/>
          <p:cNvSpPr txBox="1"/>
          <p:nvPr/>
        </p:nvSpPr>
        <p:spPr>
          <a:xfrm>
            <a:off x="835639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24028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Binaire et typé</a:t>
            </a:r>
            <a:endParaRPr lang="en-US" sz="1800" dirty="0"/>
          </a:p>
        </p:txBody>
      </p:sp>
      <p:sp>
        <p:nvSpPr>
          <p:cNvPr id="20" name="Text 18"/>
          <p:cNvSpPr txBox="1"/>
          <p:nvPr/>
        </p:nvSpPr>
        <p:spPr>
          <a:xfrm>
            <a:off x="8356397" y="260604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Pas de texte à analyser à la lecture, les types sont décrits dans le fichier.</a:t>
            </a:r>
            <a:endParaRPr lang="en-US" sz="1500" dirty="0"/>
          </a:p>
        </p:txBody>
      </p:sp>
      <p:sp>
        <p:nvSpPr>
          <p:cNvPr id="21" name="Text 19"/>
          <p:cNvSpPr txBox="1"/>
          <p:nvPr/>
        </p:nvSpPr>
        <p:spPr>
          <a:xfrm>
            <a:off x="548640" y="4069080"/>
            <a:ext cx="11094415"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On peut ne lire que les colonnes utiles</a:t>
            </a:r>
            <a:endParaRPr lang="en-US" sz="1200" dirty="0"/>
          </a:p>
        </p:txBody>
      </p:sp>
      <p:sp>
        <p:nvSpPr>
          <p:cNvPr id="22" name="Shape 20"/>
          <p:cNvSpPr/>
          <p:nvPr/>
        </p:nvSpPr>
        <p:spPr>
          <a:xfrm>
            <a:off x="548640" y="4361688"/>
            <a:ext cx="11094415" cy="517398"/>
          </a:xfrm>
          <a:prstGeom prst="rect">
            <a:avLst/>
          </a:prstGeom>
          <a:solidFill>
            <a:srgbClr val="F3F4F6"/>
          </a:solidFill>
          <a:ln/>
        </p:spPr>
      </p:sp>
      <p:sp>
        <p:nvSpPr>
          <p:cNvPr id="23" name="Text 21"/>
          <p:cNvSpPr txBox="1"/>
          <p:nvPr/>
        </p:nvSpPr>
        <p:spPr>
          <a:xfrm>
            <a:off x="731520" y="4507992"/>
            <a:ext cx="10728655"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pd.read_parquet("ventes_propres.parquet", columns=["date", "montant"])</a:t>
            </a:r>
            <a:endParaRPr lang="en-US" sz="15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EXPORTER EN PARQUET</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Mesurer : attention aux petits fichiers</a:t>
            </a:r>
            <a:endParaRPr lang="en-US" sz="3000" dirty="0"/>
          </a:p>
        </p:txBody>
      </p:sp>
      <p:sp>
        <p:nvSpPr>
          <p:cNvPr id="6" name="Shape 4"/>
          <p:cNvSpPr/>
          <p:nvPr/>
        </p:nvSpPr>
        <p:spPr>
          <a:xfrm>
            <a:off x="548640" y="1417320"/>
            <a:ext cx="4835098" cy="2435606"/>
          </a:xfrm>
          <a:prstGeom prst="rect">
            <a:avLst/>
          </a:prstGeom>
          <a:solidFill>
            <a:srgbClr val="F3F4F6"/>
          </a:solidFill>
          <a:ln/>
        </p:spPr>
      </p:sp>
      <p:sp>
        <p:nvSpPr>
          <p:cNvPr id="7" name="Text 5"/>
          <p:cNvSpPr txBox="1"/>
          <p:nvPr/>
        </p:nvSpPr>
        <p:spPr>
          <a:xfrm>
            <a:off x="731520" y="1563624"/>
            <a:ext cx="4469338" cy="214299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from pathlib import Path</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df.to_csv("ventes_propres.csv", index=False)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df.to_parquet("ventes_propres.parquet",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index=False)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Path("ventes_propres.csv").stat().st_size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les types sont conservés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pd.read_parquet(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"ventes_propres.parquet").dtypes</a:t>
            </a:r>
            <a:endParaRPr lang="en-US" sz="13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840938" y="1417320"/>
          <a:ext cx="5802117" cy="914400"/>
        </p:xfrm>
        <a:graphic>
          <a:graphicData uri="http://schemas.openxmlformats.org/drawingml/2006/table">
            <a:tbl>
              <a:tblPr/>
              <a:tblGrid>
                <a:gridCol w="1934039"/>
                <a:gridCol w="1934039"/>
                <a:gridCol w="1934039"/>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Lignes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CSV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Parquet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59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6,0 Ko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9,9 Ko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295 000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29,5 Mo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0,15 Mo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9" name="Text 6"/>
          <p:cNvSpPr txBox="1"/>
          <p:nvPr/>
        </p:nvSpPr>
        <p:spPr>
          <a:xfrm>
            <a:off x="5840938" y="2877312"/>
            <a:ext cx="5802117" cy="12801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Sur 59 lignes, les métadonnées du Parquet (schéma, statistiques) pèsent plus que les données. Le gain apparaît avec le volume. Le second cas, les mêmes ventes répétées 5 000 fois, est extrême ; sur des données réelles, le fichier est couramment plusieurs fois plus petit.</a:t>
            </a:r>
            <a:endParaRPr lang="en-US" sz="15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EXPORTER EN PARQUET</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En pratique</a:t>
            </a:r>
            <a:endParaRPr lang="en-US" sz="3000" dirty="0"/>
          </a:p>
        </p:txBody>
      </p:sp>
      <p:sp>
        <p:nvSpPr>
          <p:cNvPr id="6" name="Shape 4"/>
          <p:cNvSpPr/>
          <p:nvPr/>
        </p:nvSpPr>
        <p:spPr>
          <a:xfrm>
            <a:off x="1935442" y="2057400"/>
            <a:ext cx="8320811" cy="0"/>
          </a:xfrm>
          <a:prstGeom prst="line">
            <a:avLst/>
          </a:prstGeom>
          <a:noFill/>
          <a:ln w="25400">
            <a:solidFill>
              <a:srgbClr val="D5DCE3"/>
            </a:solidFill>
            <a:prstDash val="solid"/>
          </a:ln>
        </p:spPr>
      </p:sp>
      <p:sp>
        <p:nvSpPr>
          <p:cNvPr id="7" name="Shape 5"/>
          <p:cNvSpPr/>
          <p:nvPr/>
        </p:nvSpPr>
        <p:spPr>
          <a:xfrm>
            <a:off x="1706842" y="1828800"/>
            <a:ext cx="457200" cy="457200"/>
          </a:xfrm>
          <a:prstGeom prst="ellipse">
            <a:avLst/>
          </a:prstGeom>
          <a:solidFill>
            <a:srgbClr val="2F7D62"/>
          </a:solidFill>
          <a:ln/>
        </p:spPr>
      </p:sp>
      <p:sp>
        <p:nvSpPr>
          <p:cNvPr id="8" name="Text 6"/>
          <p:cNvSpPr txBox="1"/>
          <p:nvPr/>
        </p:nvSpPr>
        <p:spPr>
          <a:xfrm>
            <a:off x="1706842"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594360" y="2423160"/>
            <a:ext cx="2682164" cy="502920"/>
          </a:xfrm>
          <a:prstGeom prst="rect">
            <a:avLst/>
          </a:prstGeom>
          <a:noFill/>
          <a:ln/>
        </p:spPr>
        <p:txBody>
          <a:bodyPr wrap="square" lIns="0" tIns="0" rIns="0" bIns="0" rtlCol="0" anchor="t"/>
          <a:lstStyle/>
          <a:p>
            <a:pPr algn="ctr" indent="0" marL="0">
              <a:buNone/>
            </a:pPr>
            <a:r>
              <a:rPr lang="en-US" sz="1700" b="1" dirty="0">
                <a:solidFill>
                  <a:srgbClr val="1F3A5F"/>
                </a:solidFill>
                <a:latin typeface="Calibri" pitchFamily="34" charset="0"/>
                <a:ea typeface="Calibri" pitchFamily="34" charset="-122"/>
                <a:cs typeface="Calibri" pitchFamily="34" charset="-120"/>
              </a:rPr>
              <a:t>Fichier brut</a:t>
            </a:r>
            <a:endParaRPr lang="en-US" sz="1700" dirty="0"/>
          </a:p>
        </p:txBody>
      </p:sp>
      <p:sp>
        <p:nvSpPr>
          <p:cNvPr id="10" name="Text 8"/>
          <p:cNvSpPr txBox="1"/>
          <p:nvPr/>
        </p:nvSpPr>
        <p:spPr>
          <a:xfrm>
            <a:off x="594360" y="2926080"/>
            <a:ext cx="2682164" cy="685800"/>
          </a:xfrm>
          <a:prstGeom prst="rect">
            <a:avLst/>
          </a:prstGeom>
          <a:noFill/>
          <a:ln/>
        </p:spPr>
        <p:txBody>
          <a:bodyPr wrap="square" lIns="0" tIns="0" rIns="0" bIns="0" rtlCol="0" anchor="t"/>
          <a:lstStyle/>
          <a:p>
            <a:pPr algn="ctr" indent="0" marL="0">
              <a:buNone/>
            </a:pPr>
            <a:r>
              <a:rPr lang="en-US" sz="1400" dirty="0">
                <a:solidFill>
                  <a:srgbClr val="6B7280"/>
                </a:solidFill>
                <a:latin typeface="Calibri" pitchFamily="34" charset="0"/>
                <a:ea typeface="Calibri" pitchFamily="34" charset="-122"/>
                <a:cs typeface="Calibri" pitchFamily="34" charset="-120"/>
              </a:rPr>
              <a:t>conservé tel quel, jamais écrasé</a:t>
            </a:r>
            <a:endParaRPr lang="en-US" sz="1400" dirty="0"/>
          </a:p>
        </p:txBody>
      </p:sp>
      <p:sp>
        <p:nvSpPr>
          <p:cNvPr id="11" name="Shape 9"/>
          <p:cNvSpPr/>
          <p:nvPr/>
        </p:nvSpPr>
        <p:spPr>
          <a:xfrm>
            <a:off x="4480446" y="1828800"/>
            <a:ext cx="457200" cy="457200"/>
          </a:xfrm>
          <a:prstGeom prst="ellipse">
            <a:avLst/>
          </a:prstGeom>
          <a:solidFill>
            <a:srgbClr val="2F7D62"/>
          </a:solidFill>
          <a:ln/>
        </p:spPr>
      </p:sp>
      <p:sp>
        <p:nvSpPr>
          <p:cNvPr id="12" name="Text 10"/>
          <p:cNvSpPr txBox="1"/>
          <p:nvPr/>
        </p:nvSpPr>
        <p:spPr>
          <a:xfrm>
            <a:off x="448044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367964" y="2423160"/>
            <a:ext cx="2682164" cy="502920"/>
          </a:xfrm>
          <a:prstGeom prst="rect">
            <a:avLst/>
          </a:prstGeom>
          <a:noFill/>
          <a:ln/>
        </p:spPr>
        <p:txBody>
          <a:bodyPr wrap="square" lIns="0" tIns="0" rIns="0" bIns="0" rtlCol="0" anchor="t"/>
          <a:lstStyle/>
          <a:p>
            <a:pPr algn="ctr" indent="0" marL="0">
              <a:buNone/>
            </a:pPr>
            <a:r>
              <a:rPr lang="en-US" sz="1700" b="1" dirty="0">
                <a:solidFill>
                  <a:srgbClr val="1F3A5F"/>
                </a:solidFill>
                <a:latin typeface="Calibri" pitchFamily="34" charset="0"/>
                <a:ea typeface="Calibri" pitchFamily="34" charset="-122"/>
                <a:cs typeface="Calibri" pitchFamily="34" charset="-120"/>
              </a:rPr>
              <a:t>Nettoyage</a:t>
            </a:r>
            <a:endParaRPr lang="en-US" sz="1700" dirty="0"/>
          </a:p>
        </p:txBody>
      </p:sp>
      <p:sp>
        <p:nvSpPr>
          <p:cNvPr id="14" name="Text 12"/>
          <p:cNvSpPr txBox="1"/>
          <p:nvPr/>
        </p:nvSpPr>
        <p:spPr>
          <a:xfrm>
            <a:off x="3367964" y="2926080"/>
            <a:ext cx="2682164" cy="685800"/>
          </a:xfrm>
          <a:prstGeom prst="rect">
            <a:avLst/>
          </a:prstGeom>
          <a:noFill/>
          <a:ln/>
        </p:spPr>
        <p:txBody>
          <a:bodyPr wrap="square" lIns="0" tIns="0" rIns="0" bIns="0" rtlCol="0" anchor="t"/>
          <a:lstStyle/>
          <a:p>
            <a:pPr algn="ctr" indent="0" marL="0">
              <a:buNone/>
            </a:pPr>
            <a:r>
              <a:rPr lang="en-US" sz="1400" dirty="0">
                <a:solidFill>
                  <a:srgbClr val="6B7280"/>
                </a:solidFill>
                <a:latin typeface="Calibri" pitchFamily="34" charset="0"/>
                <a:ea typeface="Calibri" pitchFamily="34" charset="-122"/>
                <a:cs typeface="Calibri" pitchFamily="34" charset="-120"/>
              </a:rPr>
              <a:t>dans le notebook, sur une copie</a:t>
            </a:r>
            <a:endParaRPr lang="en-US" sz="1400" dirty="0"/>
          </a:p>
        </p:txBody>
      </p:sp>
      <p:sp>
        <p:nvSpPr>
          <p:cNvPr id="15" name="Shape 13"/>
          <p:cNvSpPr/>
          <p:nvPr/>
        </p:nvSpPr>
        <p:spPr>
          <a:xfrm>
            <a:off x="7254050" y="1828800"/>
            <a:ext cx="457200" cy="457200"/>
          </a:xfrm>
          <a:prstGeom prst="ellipse">
            <a:avLst/>
          </a:prstGeom>
          <a:solidFill>
            <a:srgbClr val="2F7D62"/>
          </a:solidFill>
          <a:ln/>
        </p:spPr>
      </p:sp>
      <p:sp>
        <p:nvSpPr>
          <p:cNvPr id="16" name="Text 14"/>
          <p:cNvSpPr txBox="1"/>
          <p:nvPr/>
        </p:nvSpPr>
        <p:spPr>
          <a:xfrm>
            <a:off x="7254050"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141568" y="2423160"/>
            <a:ext cx="2682164" cy="502920"/>
          </a:xfrm>
          <a:prstGeom prst="rect">
            <a:avLst/>
          </a:prstGeom>
          <a:noFill/>
          <a:ln/>
        </p:spPr>
        <p:txBody>
          <a:bodyPr wrap="square" lIns="0" tIns="0" rIns="0" bIns="0" rtlCol="0" anchor="t"/>
          <a:lstStyle/>
          <a:p>
            <a:pPr algn="ctr" indent="0" marL="0">
              <a:buNone/>
            </a:pPr>
            <a:r>
              <a:rPr lang="en-US" sz="1700" b="1" dirty="0">
                <a:solidFill>
                  <a:srgbClr val="1F3A5F"/>
                </a:solidFill>
                <a:latin typeface="Calibri" pitchFamily="34" charset="0"/>
                <a:ea typeface="Calibri" pitchFamily="34" charset="-122"/>
                <a:cs typeface="Calibri" pitchFamily="34" charset="-120"/>
              </a:rPr>
              <a:t>Parquet propre</a:t>
            </a:r>
            <a:endParaRPr lang="en-US" sz="1700" dirty="0"/>
          </a:p>
        </p:txBody>
      </p:sp>
      <p:sp>
        <p:nvSpPr>
          <p:cNvPr id="18" name="Text 16"/>
          <p:cNvSpPr txBox="1"/>
          <p:nvPr/>
        </p:nvSpPr>
        <p:spPr>
          <a:xfrm>
            <a:off x="6141568" y="2926080"/>
            <a:ext cx="2682164" cy="685800"/>
          </a:xfrm>
          <a:prstGeom prst="rect">
            <a:avLst/>
          </a:prstGeom>
          <a:noFill/>
          <a:ln/>
        </p:spPr>
        <p:txBody>
          <a:bodyPr wrap="square" lIns="0" tIns="0" rIns="0" bIns="0" rtlCol="0" anchor="t"/>
          <a:lstStyle/>
          <a:p>
            <a:pPr algn="ctr" indent="0" marL="0">
              <a:buNone/>
            </a:pPr>
            <a:r>
              <a:rPr lang="en-US" sz="1400" dirty="0">
                <a:solidFill>
                  <a:srgbClr val="6B7280"/>
                </a:solidFill>
                <a:latin typeface="Calibri" pitchFamily="34" charset="0"/>
                <a:ea typeface="Calibri" pitchFamily="34" charset="-122"/>
                <a:cs typeface="Calibri" pitchFamily="34" charset="-120"/>
              </a:rPr>
              <a:t>pour tous les traitements suivants</a:t>
            </a:r>
            <a:endParaRPr lang="en-US" sz="1400" dirty="0"/>
          </a:p>
        </p:txBody>
      </p:sp>
      <p:sp>
        <p:nvSpPr>
          <p:cNvPr id="19" name="Shape 17"/>
          <p:cNvSpPr/>
          <p:nvPr/>
        </p:nvSpPr>
        <p:spPr>
          <a:xfrm>
            <a:off x="10027653" y="1828800"/>
            <a:ext cx="457200" cy="457200"/>
          </a:xfrm>
          <a:prstGeom prst="ellipse">
            <a:avLst/>
          </a:prstGeom>
          <a:solidFill>
            <a:srgbClr val="2F7D62"/>
          </a:solidFill>
          <a:ln/>
        </p:spPr>
      </p:sp>
      <p:sp>
        <p:nvSpPr>
          <p:cNvPr id="20" name="Text 18"/>
          <p:cNvSpPr txBox="1"/>
          <p:nvPr/>
        </p:nvSpPr>
        <p:spPr>
          <a:xfrm>
            <a:off x="10027653"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8915171" y="2423160"/>
            <a:ext cx="2682164" cy="502920"/>
          </a:xfrm>
          <a:prstGeom prst="rect">
            <a:avLst/>
          </a:prstGeom>
          <a:noFill/>
          <a:ln/>
        </p:spPr>
        <p:txBody>
          <a:bodyPr wrap="square" lIns="0" tIns="0" rIns="0" bIns="0" rtlCol="0" anchor="t"/>
          <a:lstStyle/>
          <a:p>
            <a:pPr algn="ctr" indent="0" marL="0">
              <a:buNone/>
            </a:pPr>
            <a:r>
              <a:rPr lang="en-US" sz="1700" b="1" dirty="0">
                <a:solidFill>
                  <a:srgbClr val="1F3A5F"/>
                </a:solidFill>
                <a:latin typeface="Calibri" pitchFamily="34" charset="0"/>
                <a:ea typeface="Calibri" pitchFamily="34" charset="-122"/>
                <a:cs typeface="Calibri" pitchFamily="34" charset="-120"/>
              </a:rPr>
              <a:t>CSV ou Excel</a:t>
            </a:r>
            <a:endParaRPr lang="en-US" sz="1700" dirty="0"/>
          </a:p>
        </p:txBody>
      </p:sp>
      <p:sp>
        <p:nvSpPr>
          <p:cNvPr id="22" name="Text 20"/>
          <p:cNvSpPr txBox="1"/>
          <p:nvPr/>
        </p:nvSpPr>
        <p:spPr>
          <a:xfrm>
            <a:off x="8915171" y="2926080"/>
            <a:ext cx="2682164" cy="685800"/>
          </a:xfrm>
          <a:prstGeom prst="rect">
            <a:avLst/>
          </a:prstGeom>
          <a:noFill/>
          <a:ln/>
        </p:spPr>
        <p:txBody>
          <a:bodyPr wrap="square" lIns="0" tIns="0" rIns="0" bIns="0" rtlCol="0" anchor="t"/>
          <a:lstStyle/>
          <a:p>
            <a:pPr algn="ctr" indent="0" marL="0">
              <a:buNone/>
            </a:pPr>
            <a:r>
              <a:rPr lang="en-US" sz="1400" dirty="0">
                <a:solidFill>
                  <a:srgbClr val="6B7280"/>
                </a:solidFill>
                <a:latin typeface="Calibri" pitchFamily="34" charset="0"/>
                <a:ea typeface="Calibri" pitchFamily="34" charset="-122"/>
                <a:cs typeface="Calibri" pitchFamily="34" charset="-120"/>
              </a:rPr>
              <a:t>seulement pour partager</a:t>
            </a:r>
            <a:endParaRPr lang="en-US" sz="14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EXPORTER EN PARQUET</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TP2, partie 8</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Exporter le jeu de données propre, puis compléter la note des choix</a:t>
            </a:r>
            <a:endParaRPr lang="en-US" sz="18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61366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8.1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exporter en CSV et en Parquet, comparer les tailles, relire le Parquet et ses types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8.2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répéter les ventes 5 000 fois, puis comparer à nouveau, en mégaoctets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Note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compléter le tableau des choix de nettoyage : une ligne par décision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TP2 : nettoyage d'un jeu de données</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Le notebook </a:t>
            </a:r>
            <a:pPr indent="0" marL="0">
              <a:buNone/>
            </a:pPr>
            <a:r>
              <a:rPr lang="en-US" sz="1800" dirty="0">
                <a:solidFill>
                  <a:srgbClr val="1F3A5F"/>
                </a:solidFill>
                <a:latin typeface="Courier New" pitchFamily="34" charset="0"/>
                <a:ea typeface="Courier New" pitchFamily="34" charset="-122"/>
                <a:cs typeface="Courier New" pitchFamily="34" charset="-120"/>
              </a:rPr>
              <a:t>exercices/tp02-nettoyage/tp02.ipynb</a:t>
            </a:r>
            <a:pPr indent="0" marL="0">
              <a:buNone/>
            </a:pPr>
            <a:r>
              <a:rPr lang="en-US" sz="1800" dirty="0">
                <a:solidFill>
                  <a:srgbClr val="6B7280"/>
                </a:solidFill>
                <a:latin typeface="Calibri" pitchFamily="34" charset="0"/>
                <a:ea typeface="Calibri" pitchFamily="34" charset="-122"/>
                <a:cs typeface="Calibri" pitchFamily="34" charset="-120"/>
              </a:rPr>
              <a:t>, complété au fil de l'après-midi</a:t>
            </a:r>
            <a:endParaRPr lang="en-US" sz="1800" dirty="0"/>
          </a:p>
        </p:txBody>
      </p:sp>
      <p:sp>
        <p:nvSpPr>
          <p:cNvPr id="6" name="Shape 4"/>
          <p:cNvSpPr/>
          <p:nvPr/>
        </p:nvSpPr>
        <p:spPr>
          <a:xfrm>
            <a:off x="548640" y="2011680"/>
            <a:ext cx="3515258" cy="2331720"/>
          </a:xfrm>
          <a:prstGeom prst="roundRect">
            <a:avLst>
              <a:gd name="adj" fmla="val 3137"/>
            </a:avLst>
          </a:prstGeom>
          <a:solidFill>
            <a:srgbClr val="EEF3F7"/>
          </a:solidFill>
          <a:ln/>
        </p:spPr>
      </p:sp>
      <p:sp>
        <p:nvSpPr>
          <p:cNvPr id="7" name="Shape 5"/>
          <p:cNvSpPr/>
          <p:nvPr/>
        </p:nvSpPr>
        <p:spPr>
          <a:xfrm>
            <a:off x="777240" y="2286000"/>
            <a:ext cx="402336" cy="402336"/>
          </a:xfrm>
          <a:prstGeom prst="ellipse">
            <a:avLst/>
          </a:prstGeom>
          <a:solidFill>
            <a:srgbClr val="2F7D62"/>
          </a:solidFill>
          <a:ln/>
        </p:spPr>
      </p:sp>
      <p:sp>
        <p:nvSpPr>
          <p:cNvPr id="8" name="Text 6"/>
          <p:cNvSpPr txBox="1"/>
          <p:nvPr/>
        </p:nvSpPr>
        <p:spPr>
          <a:xfrm>
            <a:off x="777240"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S'exercer</a:t>
            </a:r>
            <a:endParaRPr lang="en-US" sz="1800" dirty="0"/>
          </a:p>
        </p:txBody>
      </p:sp>
      <p:sp>
        <p:nvSpPr>
          <p:cNvPr id="10" name="Text 8"/>
          <p:cNvSpPr txBox="1"/>
          <p:nvPr/>
        </p:nvSpPr>
        <p:spPr>
          <a:xfrm>
            <a:off x="777240"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Parties 1 à 6 : un exercice court par section du cours, sur de petits tableaux dont on connaît le résultat.</a:t>
            </a:r>
            <a:endParaRPr lang="en-US" sz="1500" dirty="0"/>
          </a:p>
        </p:txBody>
      </p:sp>
      <p:sp>
        <p:nvSpPr>
          <p:cNvPr id="11" name="Shape 9"/>
          <p:cNvSpPr/>
          <p:nvPr/>
        </p:nvSpPr>
        <p:spPr>
          <a:xfrm>
            <a:off x="4338218" y="2011680"/>
            <a:ext cx="3515258" cy="2331720"/>
          </a:xfrm>
          <a:prstGeom prst="roundRect">
            <a:avLst>
              <a:gd name="adj" fmla="val 3137"/>
            </a:avLst>
          </a:prstGeom>
          <a:solidFill>
            <a:srgbClr val="EEF3F7"/>
          </a:solidFill>
          <a:ln/>
        </p:spPr>
      </p:sp>
      <p:sp>
        <p:nvSpPr>
          <p:cNvPr id="12" name="Shape 10"/>
          <p:cNvSpPr/>
          <p:nvPr/>
        </p:nvSpPr>
        <p:spPr>
          <a:xfrm>
            <a:off x="4566818" y="2286000"/>
            <a:ext cx="402336" cy="402336"/>
          </a:xfrm>
          <a:prstGeom prst="ellipse">
            <a:avLst/>
          </a:prstGeom>
          <a:solidFill>
            <a:srgbClr val="2F7D62"/>
          </a:solidFill>
          <a:ln/>
        </p:spPr>
      </p:sp>
      <p:sp>
        <p:nvSpPr>
          <p:cNvPr id="13" name="Text 11"/>
          <p:cNvSpPr txBox="1"/>
          <p:nvPr/>
        </p:nvSpPr>
        <p:spPr>
          <a:xfrm>
            <a:off x="4566818"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Nettoyer les ventes</a:t>
            </a:r>
            <a:endParaRPr lang="en-US" sz="1800" dirty="0"/>
          </a:p>
        </p:txBody>
      </p:sp>
      <p:sp>
        <p:nvSpPr>
          <p:cNvPr id="15" name="Text 13"/>
          <p:cNvSpPr txBox="1"/>
          <p:nvPr/>
        </p:nvSpPr>
        <p:spPr>
          <a:xfrm>
            <a:off x="4566818"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 7, le cas pratique : noms de colonnes, doublons, texte, types, valeurs aberrantes et manquantes.</a:t>
            </a:r>
            <a:endParaRPr lang="en-US" sz="1500" dirty="0"/>
          </a:p>
        </p:txBody>
      </p:sp>
      <p:sp>
        <p:nvSpPr>
          <p:cNvPr id="16" name="Shape 14"/>
          <p:cNvSpPr/>
          <p:nvPr/>
        </p:nvSpPr>
        <p:spPr>
          <a:xfrm>
            <a:off x="8127797" y="2011680"/>
            <a:ext cx="3515258" cy="2331720"/>
          </a:xfrm>
          <a:prstGeom prst="roundRect">
            <a:avLst>
              <a:gd name="adj" fmla="val 3137"/>
            </a:avLst>
          </a:prstGeom>
          <a:solidFill>
            <a:srgbClr val="EEF3F7"/>
          </a:solidFill>
          <a:ln/>
        </p:spPr>
      </p:sp>
      <p:sp>
        <p:nvSpPr>
          <p:cNvPr id="17" name="Shape 15"/>
          <p:cNvSpPr/>
          <p:nvPr/>
        </p:nvSpPr>
        <p:spPr>
          <a:xfrm>
            <a:off x="8356397" y="2286000"/>
            <a:ext cx="402336" cy="402336"/>
          </a:xfrm>
          <a:prstGeom prst="ellipse">
            <a:avLst/>
          </a:prstGeom>
          <a:solidFill>
            <a:srgbClr val="2F7D62"/>
          </a:solidFill>
          <a:ln/>
        </p:spPr>
      </p:sp>
      <p:sp>
        <p:nvSpPr>
          <p:cNvPr id="18" name="Text 16"/>
          <p:cNvSpPr txBox="1"/>
          <p:nvPr/>
        </p:nvSpPr>
        <p:spPr>
          <a:xfrm>
            <a:off x="8356397"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Exporter et livrer</a:t>
            </a:r>
            <a:endParaRPr lang="en-US" sz="1800" dirty="0"/>
          </a:p>
        </p:txBody>
      </p:sp>
      <p:sp>
        <p:nvSpPr>
          <p:cNvPr id="20" name="Text 18"/>
          <p:cNvSpPr txBox="1"/>
          <p:nvPr/>
        </p:nvSpPr>
        <p:spPr>
          <a:xfrm>
            <a:off x="8356397"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 8 : le jeu de données propre en CSV et en Parquet, la comparaison des tailles, la note des choix.</a:t>
            </a:r>
            <a:endParaRPr lang="en-US" sz="1500" dirty="0"/>
          </a:p>
        </p:txBody>
      </p:sp>
      <p:sp>
        <p:nvSpPr>
          <p:cNvPr id="21" name="Shape 19"/>
          <p:cNvSpPr/>
          <p:nvPr/>
        </p:nvSpPr>
        <p:spPr>
          <a:xfrm>
            <a:off x="548640" y="4663440"/>
            <a:ext cx="11094415" cy="883920"/>
          </a:xfrm>
          <a:prstGeom prst="roundRect">
            <a:avLst>
              <a:gd name="adj" fmla="val 6207"/>
            </a:avLst>
          </a:prstGeom>
          <a:solidFill>
            <a:srgbClr val="E8F3EE"/>
          </a:solidFill>
          <a:ln/>
        </p:spPr>
      </p:sp>
      <p:sp>
        <p:nvSpPr>
          <p:cNvPr id="22" name="Text 20"/>
          <p:cNvSpPr txBox="1"/>
          <p:nvPr/>
        </p:nvSpPr>
        <p:spPr>
          <a:xfrm>
            <a:off x="822960" y="466344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Livrable : un jeu de données propre en CSV et en Parquet, avec une comparaison rapide de leur taille, et une courte note des choix de nettoyage.</a:t>
            </a:r>
            <a:endParaRPr lang="en-US" sz="17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après-midi</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À retenir</a:t>
            </a:r>
            <a:endParaRPr lang="en-US" sz="3400" dirty="0"/>
          </a:p>
        </p:txBody>
      </p:sp>
      <p:sp>
        <p:nvSpPr>
          <p:cNvPr id="3" name="Text 1"/>
          <p:cNvSpPr txBox="1"/>
          <p:nvPr/>
        </p:nvSpPr>
        <p:spPr>
          <a:xfrm>
            <a:off x="548640" y="1417320"/>
            <a:ext cx="5272888" cy="368808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loc</a:t>
            </a:r>
            <a:pPr indent="0" marL="0">
              <a:buNone/>
            </a:pPr>
            <a:r>
              <a:rPr lang="en-US" sz="1600" dirty="0">
                <a:solidFill>
                  <a:srgbClr val="FFFFFF"/>
                </a:solidFill>
                <a:latin typeface="Calibri" pitchFamily="34" charset="0"/>
                <a:ea typeface="Calibri" pitchFamily="34" charset="-122"/>
                <a:cs typeface="Calibri" pitchFamily="34" charset="-120"/>
              </a:rPr>
              <a:t> : labels, fin incluse. </a:t>
            </a:r>
            <a:pPr indent="0" marL="0">
              <a:buNone/>
            </a:pPr>
            <a:r>
              <a:rPr lang="en-US" sz="1600" dirty="0">
                <a:solidFill>
                  <a:srgbClr val="8FD1B5"/>
                </a:solidFill>
                <a:latin typeface="Courier New" pitchFamily="34" charset="0"/>
                <a:ea typeface="Courier New" pitchFamily="34" charset="-122"/>
                <a:cs typeface="Courier New" pitchFamily="34" charset="-120"/>
              </a:rPr>
              <a:t>iloc</a:t>
            </a:r>
            <a:pPr indent="0" marL="0">
              <a:buNone/>
            </a:pPr>
            <a:r>
              <a:rPr lang="en-US" sz="1600" dirty="0">
                <a:solidFill>
                  <a:srgbClr val="FFFFFF"/>
                </a:solidFill>
                <a:latin typeface="Calibri" pitchFamily="34" charset="0"/>
                <a:ea typeface="Calibri" pitchFamily="34" charset="-122"/>
                <a:cs typeface="Calibri" pitchFamily="34" charset="-120"/>
              </a:rPr>
              <a:t> : positions, fin exclue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Filtres : parenthèses, </a:t>
            </a:r>
            <a:pPr indent="0" marL="0">
              <a:buNone/>
            </a:pPr>
            <a:r>
              <a:rPr lang="en-US" sz="1600" dirty="0">
                <a:solidFill>
                  <a:srgbClr val="8FD1B5"/>
                </a:solidFill>
                <a:latin typeface="Courier New" pitchFamily="34" charset="0"/>
                <a:ea typeface="Courier New" pitchFamily="34" charset="-122"/>
                <a:cs typeface="Courier New" pitchFamily="34" charset="-120"/>
              </a:rPr>
              <a:t>&amp;</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Modifier : </a:t>
            </a:r>
            <a:pPr indent="0" marL="0">
              <a:buNone/>
            </a:pPr>
            <a:r>
              <a:rPr lang="en-US" sz="1600" dirty="0">
                <a:solidFill>
                  <a:srgbClr val="8FD1B5"/>
                </a:solidFill>
                <a:latin typeface="Courier New" pitchFamily="34" charset="0"/>
                <a:ea typeface="Courier New" pitchFamily="34" charset="-122"/>
                <a:cs typeface="Courier New" pitchFamily="34" charset="-120"/>
              </a:rPr>
              <a:t>df.loc[masque, "col"] = valeur</a:t>
            </a:r>
            <a:pPr indent="0" marL="0">
              <a:buNone/>
            </a:pPr>
            <a:r>
              <a:rPr lang="en-US" sz="1600" dirty="0">
                <a:solidFill>
                  <a:srgbClr val="FFFFFF"/>
                </a:solidFill>
                <a:latin typeface="Calibri" pitchFamily="34" charset="0"/>
                <a:ea typeface="Calibri" pitchFamily="34" charset="-122"/>
                <a:cs typeface="Calibri" pitchFamily="34" charset="-120"/>
              </a:rPr>
              <a:t>, en une étape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Vectorisé d'abord, </a:t>
            </a:r>
            <a:pPr indent="0" marL="0">
              <a:buNone/>
            </a:pPr>
            <a:r>
              <a:rPr lang="en-US" sz="1600" dirty="0">
                <a:solidFill>
                  <a:srgbClr val="8FD1B5"/>
                </a:solidFill>
                <a:latin typeface="Courier New" pitchFamily="34" charset="0"/>
                <a:ea typeface="Courier New" pitchFamily="34" charset="-122"/>
                <a:cs typeface="Courier New" pitchFamily="34" charset="-120"/>
              </a:rPr>
              <a:t>map</a:t>
            </a:r>
            <a:pPr indent="0" marL="0">
              <a:buNone/>
            </a:pPr>
            <a:r>
              <a:rPr lang="en-US" sz="1600" dirty="0">
                <a:solidFill>
                  <a:srgbClr val="FFFFFF"/>
                </a:solidFill>
                <a:latin typeface="Calibri" pitchFamily="34" charset="0"/>
                <a:ea typeface="Calibri" pitchFamily="34" charset="-122"/>
                <a:cs typeface="Calibri" pitchFamily="34" charset="-120"/>
              </a:rPr>
              <a:t> ensuite, </a:t>
            </a:r>
            <a:pPr indent="0" marL="0">
              <a:buNone/>
            </a:pPr>
            <a:r>
              <a:rPr lang="en-US" sz="1600" dirty="0">
                <a:solidFill>
                  <a:srgbClr val="8FD1B5"/>
                </a:solidFill>
                <a:latin typeface="Courier New" pitchFamily="34" charset="0"/>
                <a:ea typeface="Courier New" pitchFamily="34" charset="-122"/>
                <a:cs typeface="Courier New" pitchFamily="34" charset="-120"/>
              </a:rPr>
              <a:t>apply</a:t>
            </a:r>
            <a:pPr indent="0" marL="0">
              <a:buNone/>
            </a:pPr>
            <a:r>
              <a:rPr lang="en-US" sz="1600" dirty="0">
                <a:solidFill>
                  <a:srgbClr val="FFFFFF"/>
                </a:solidFill>
                <a:latin typeface="Calibri" pitchFamily="34" charset="0"/>
                <a:ea typeface="Calibri" pitchFamily="34" charset="-122"/>
                <a:cs typeface="Calibri" pitchFamily="34" charset="-120"/>
              </a:rPr>
              <a:t> en dernier</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np.where</a:t>
            </a:r>
            <a:pPr indent="0" marL="0">
              <a:buNone/>
            </a:pPr>
            <a:r>
              <a:rPr lang="en-US" sz="1600" dirty="0">
                <a:solidFill>
                  <a:srgbClr val="FFFFFF"/>
                </a:solidFill>
                <a:latin typeface="Calibri" pitchFamily="34" charset="0"/>
                <a:ea typeface="Calibri" pitchFamily="34" charset="-122"/>
                <a:cs typeface="Calibri" pitchFamily="34" charset="-120"/>
              </a:rPr>
              <a:t> pour deux valeurs, </a:t>
            </a:r>
            <a:pPr indent="0" marL="0">
              <a:buNone/>
            </a:pPr>
            <a:r>
              <a:rPr lang="en-US" sz="1600" dirty="0">
                <a:solidFill>
                  <a:srgbClr val="8FD1B5"/>
                </a:solidFill>
                <a:latin typeface="Courier New" pitchFamily="34" charset="0"/>
                <a:ea typeface="Courier New" pitchFamily="34" charset="-122"/>
                <a:cs typeface="Courier New" pitchFamily="34" charset="-120"/>
              </a:rPr>
              <a:t>pd.cut</a:t>
            </a:r>
            <a:pPr indent="0" marL="0">
              <a:buNone/>
            </a:pPr>
            <a:r>
              <a:rPr lang="en-US" sz="1600" dirty="0">
                <a:solidFill>
                  <a:srgbClr val="FFFFFF"/>
                </a:solidFill>
                <a:latin typeface="Calibri" pitchFamily="34" charset="0"/>
                <a:ea typeface="Calibri" pitchFamily="34" charset="-122"/>
                <a:cs typeface="Calibri" pitchFamily="34" charset="-120"/>
              </a:rPr>
              <a:t> pour des classes</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.str</a:t>
            </a:r>
            <a:pPr indent="0" marL="0">
              <a:buNone/>
            </a:pPr>
            <a:r>
              <a:rPr lang="en-US" sz="1600" dirty="0">
                <a:solidFill>
                  <a:srgbClr val="FFFFFF"/>
                </a:solidFill>
                <a:latin typeface="Calibri" pitchFamily="34" charset="0"/>
                <a:ea typeface="Calibri" pitchFamily="34" charset="-122"/>
                <a:cs typeface="Calibri" pitchFamily="34" charset="-120"/>
              </a:rPr>
              <a:t> pour le texte, un dictionnaire pour les variantes</a:t>
            </a:r>
            <a:endParaRPr lang="en-US" sz="1600" dirty="0"/>
          </a:p>
        </p:txBody>
      </p:sp>
      <p:sp>
        <p:nvSpPr>
          <p:cNvPr id="4" name="Text 2"/>
          <p:cNvSpPr txBox="1"/>
          <p:nvPr/>
        </p:nvSpPr>
        <p:spPr>
          <a:xfrm>
            <a:off x="6370168" y="1417320"/>
            <a:ext cx="5272888" cy="368808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errors="coerce"</a:t>
            </a:r>
            <a:pPr indent="0" marL="0">
              <a:buNone/>
            </a:pPr>
            <a:r>
              <a:rPr lang="en-US" sz="1600" dirty="0">
                <a:solidFill>
                  <a:srgbClr val="FFFFFF"/>
                </a:solidFill>
                <a:latin typeface="Calibri" pitchFamily="34" charset="0"/>
                <a:ea typeface="Calibri" pitchFamily="34" charset="-122"/>
                <a:cs typeface="Calibri" pitchFamily="34" charset="-120"/>
              </a:rPr>
              <a:t> rend les échecs de conversion visibles</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category</a:t>
            </a:r>
            <a:pPr indent="0" marL="0">
              <a:buNone/>
            </a:pPr>
            <a:r>
              <a:rPr lang="en-US" sz="1600" dirty="0">
                <a:solidFill>
                  <a:srgbClr val="FFFFFF"/>
                </a:solidFill>
                <a:latin typeface="Calibri" pitchFamily="34" charset="0"/>
                <a:ea typeface="Calibri" pitchFamily="34" charset="-122"/>
                <a:cs typeface="Calibri" pitchFamily="34" charset="-120"/>
              </a:rPr>
              <a:t> après le nettoyage du texte ; une nouvelle valeur se déclare avec </a:t>
            </a:r>
            <a:pPr indent="0" marL="0">
              <a:buNone/>
            </a:pPr>
            <a:r>
              <a:rPr lang="en-US" sz="1600" dirty="0">
                <a:solidFill>
                  <a:srgbClr val="8FD1B5"/>
                </a:solidFill>
                <a:latin typeface="Courier New" pitchFamily="34" charset="0"/>
                <a:ea typeface="Courier New" pitchFamily="34" charset="-122"/>
                <a:cs typeface="Courier New" pitchFamily="34" charset="-120"/>
              </a:rPr>
              <a:t>cat.add_categories</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Manquants : choisir, justifier, noter</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Aberrante ne veut pas dire manquante : il faut une règle métier</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Vérifier l'unicité d'une clé avant d'en faire un index</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Le brut ne s'écrase jamais, le propre s'écrit en Parquet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données avec Python, jour 1 après-midi</dc:title>
  <dc:subject>PptxGenJS Presentation</dc:subject>
  <dc:creator/>
  <cp:lastModifiedBy/>
  <cp:revision>1</cp:revision>
  <dcterms:created xsi:type="dcterms:W3CDTF">2026-10-20T20:55:28Z</dcterms:created>
  <dcterms:modified xsi:type="dcterms:W3CDTF">2026-10-20T20:55:28Z</dcterms:modified>
</cp:coreProperties>
</file>