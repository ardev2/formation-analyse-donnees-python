
<file path=[Content_Types].xml><?xml version="1.0" encoding="utf-8"?>
<Types xmlns="http://schemas.openxmlformats.org/package/2006/content-types">
  <Default ContentType="application/xml" Extension="xml"/>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33.xml"/>
  <Override ContentType="application/vnd.openxmlformats-officedocument.presentationml.notesSlide+xml" PartName="/ppt/notesSlides/notesSlide41.xml"/>
  <Override ContentType="application/vnd.openxmlformats-officedocument.presentationml.notesSlide+xml" PartName="/ppt/notesSlides/notesSlide15.xml"/>
  <Override ContentType="application/vnd.openxmlformats-officedocument.presentationml.notesSlide+xml" PartName="/ppt/notesSlides/notesSlide24.xml"/>
  <Override ContentType="application/vnd.openxmlformats-officedocument.presentationml.notesSlide+xml" PartName="/ppt/notesSlides/notesSlide50.xml"/>
  <Override ContentType="application/vnd.openxmlformats-officedocument.presentationml.notesSlide+xml" PartName="/ppt/notesSlides/notesSlide17.xml"/>
  <Override ContentType="application/vnd.openxmlformats-officedocument.presentationml.notesSlide+xml" PartName="/ppt/notesSlides/notesSlide42.xml"/>
  <Override ContentType="application/vnd.openxmlformats-officedocument.presentationml.notesSlide+xml" PartName="/ppt/notesSlides/notesSlide16.xml"/>
  <Override ContentType="application/vnd.openxmlformats-officedocument.presentationml.notesSlide+xml" PartName="/ppt/notesSlides/notesSlide34.xml"/>
  <Override ContentType="application/vnd.openxmlformats-officedocument.presentationml.notesSlide+xml" PartName="/ppt/notesSlides/notesSlide51.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43.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6.xml"/>
  <Override ContentType="application/vnd.openxmlformats-officedocument.presentationml.notesSlide+xml" PartName="/ppt/notesSlides/notesSlide39.xml"/>
  <Override ContentType="application/vnd.openxmlformats-officedocument.presentationml.notesSlide+xml" PartName="/ppt/notesSlides/notesSlide31.xml"/>
  <Override ContentType="application/vnd.openxmlformats-officedocument.presentationml.notesSlide+xml" PartName="/ppt/notesSlides/notesSlide44.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54.xml"/>
  <Override ContentType="application/vnd.openxmlformats-officedocument.presentationml.notesSlide+xml" PartName="/ppt/notesSlides/notesSlide45.xml"/>
  <Override ContentType="application/vnd.openxmlformats-officedocument.presentationml.notesSlide+xml" PartName="/ppt/notesSlides/notesSlide46.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1.xml"/>
  <Override ContentType="application/vnd.openxmlformats-officedocument.presentationml.notesSlide+xml" PartName="/ppt/notesSlides/notesSlide5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47.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8.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48.xml"/>
  <Override ContentType="application/vnd.openxmlformats-officedocument.presentationml.notesSlide+xml" PartName="/ppt/notesSlides/notesSlide22.xml"/>
  <Override ContentType="application/vnd.openxmlformats-officedocument.presentationml.notesSlide+xml" PartName="/ppt/notesSlides/notesSlide52.xml"/>
  <Override ContentType="application/vnd.openxmlformats-officedocument.presentationml.notesSlide+xml" PartName="/ppt/notesSlides/notesSlide7.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6.xml"/>
  <Override ContentType="application/vnd.openxmlformats-officedocument.presentationml.notesSlide+xml" PartName="/ppt/notesSlides/notesSlide49.xml"/>
  <Override ContentType="application/vnd.openxmlformats-officedocument.presentationml.notesSlide+xml" PartName="/ppt/notesSlides/notesSlide19.xml"/>
  <Override ContentType="application/vnd.openxmlformats-officedocument.presentationml.notesSlide+xml" PartName="/ppt/notesSlides/notesSlide53.xml"/>
  <Override ContentType="application/vnd.openxmlformats-officedocument.presentationml.notesSlide+xml" PartName="/ppt/notesSlides/notesSlide40.xml"/>
  <Override ContentType="application/vnd.openxmlformats-officedocument.presentationml.notesSlide+xml" PartName="/ppt/notesSlides/notesSlide23.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1.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43.xml"/>
  <Override ContentType="application/vnd.openxmlformats-officedocument.presentationml.slide+xml" PartName="/ppt/slides/slide35.xml"/>
  <Override ContentType="application/vnd.openxmlformats-officedocument.presentationml.slide+xml" PartName="/ppt/slides/slide5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5.xml"/>
  <Override ContentType="application/vnd.openxmlformats-officedocument.presentationml.slide+xml" PartName="/ppt/slides/slide17.xml"/>
  <Override ContentType="application/vnd.openxmlformats-officedocument.presentationml.slide+xml" PartName="/ppt/slides/slide42.xml"/>
  <Override ContentType="application/vnd.openxmlformats-officedocument.presentationml.slide+xml" PartName="/ppt/slides/slide25.xml"/>
  <Override ContentType="application/vnd.openxmlformats-officedocument.presentationml.slide+xml" PartName="/ppt/slides/slide50.xml"/>
  <Override ContentType="application/vnd.openxmlformats-officedocument.presentationml.slide+xml" PartName="/ppt/slides/slide34.xml"/>
  <Override ContentType="application/vnd.openxmlformats-officedocument.presentationml.slide+xml" PartName="/ppt/slides/slide33.xml"/>
  <Override ContentType="application/vnd.openxmlformats-officedocument.presentationml.slide+xml" PartName="/ppt/slides/slide51.xml"/>
  <Override ContentType="application/vnd.openxmlformats-officedocument.presentationml.slide+xml" PartName="/ppt/slides/slide16.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7.xml"/>
  <Override ContentType="application/vnd.openxmlformats-officedocument.presentationml.slide+xml" PartName="/ppt/slides/slide41.xml"/>
  <Override ContentType="application/vnd.openxmlformats-officedocument.presentationml.slide+xml" PartName="/ppt/slides/slide7.xml"/>
  <Override ContentType="application/vnd.openxmlformats-officedocument.presentationml.slide+xml" PartName="/ppt/slides/slide54.xml"/>
  <Override ContentType="application/vnd.openxmlformats-officedocument.presentationml.slide+xml" PartName="/ppt/slides/slide36.xml"/>
  <Override ContentType="application/vnd.openxmlformats-officedocument.presentationml.slide+xml" PartName="/ppt/slides/slide23.xml"/>
  <Override ContentType="application/vnd.openxmlformats-officedocument.presentationml.slide+xml" PartName="/ppt/slides/slide49.xml"/>
  <Override ContentType="application/vnd.openxmlformats-officedocument.presentationml.slide+xml" PartName="/ppt/slides/slide10.xml"/>
  <Override ContentType="application/vnd.openxmlformats-officedocument.presentationml.slide+xml" PartName="/ppt/slides/slide6.xml"/>
  <Override ContentType="application/vnd.openxmlformats-officedocument.presentationml.slide+xml" PartName="/ppt/slides/slide53.xml"/>
  <Override ContentType="application/vnd.openxmlformats-officedocument.presentationml.slide+xml" PartName="/ppt/slides/slide40.xml"/>
  <Override ContentType="application/vnd.openxmlformats-officedocument.presentationml.slide+xml" PartName="/ppt/slides/slide4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9.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12.xml"/>
  <Override ContentType="application/vnd.openxmlformats-officedocument.presentationml.slide+xml" PartName="/ppt/slides/slide47.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8.xml"/>
  <Override ContentType="application/vnd.openxmlformats-officedocument.presentationml.slide+xml" PartName="/ppt/slides/slide46.xml"/>
  <Override ContentType="application/vnd.openxmlformats-officedocument.presentationml.slide+xml" PartName="/ppt/slides/slide8.xml"/>
  <Override ContentType="application/vnd.openxmlformats-officedocument.presentationml.slide+xml" PartName="/ppt/slides/slide55.xml"/>
  <Override ContentType="application/vnd.openxmlformats-officedocument.presentationml.slide+xml" PartName="/ppt/slides/slide29.xml"/>
  <Override ContentType="application/vnd.openxmlformats-officedocument.presentationml.slide+xml" PartName="/ppt/slides/slide32.xml"/>
  <Override ContentType="application/vnd.openxmlformats-officedocument.presentationml.slide+xml" PartName="/ppt/slides/slide1.xml"/>
  <Override ContentType="application/vnd.openxmlformats-officedocument.presentationml.slide+xml" PartName="/ppt/slides/slide45.xml"/>
  <Override ContentType="application/vnd.openxmlformats-officedocument.presentationml.slide+xml" PartName="/ppt/slides/slide28.xml"/>
  <Override ContentType="application/vnd.openxmlformats-officedocument.presentationml.slide+xml" PartName="/ppt/slides/slide15.xml"/>
  <Override ContentType="application/vnd.openxmlformats-officedocument.presentationml.slide+xml" PartName="/ppt/slides/slide31.xml"/>
  <Override ContentType="application/vnd.openxmlformats-officedocument.presentationml.slide+xml" PartName="/ppt/slides/slide27.xml"/>
  <Override ContentType="application/vnd.openxmlformats-officedocument.presentationml.slide+xml" PartName="/ppt/slides/slide2.xml"/>
  <Override ContentType="application/vnd.openxmlformats-officedocument.presentationml.slide+xml" PartName="/ppt/slides/slide44.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6" r:id="rId56"/>
    <p:sldId id="307" r:id="rId57"/>
    <p:sldId id="308" r:id="rId58"/>
    <p:sldId id="309" r:id="rId59"/>
    <p:sldId id="310" r:id="rId60"/>
  </p:sldIdLst>
  <p:sldSz cy="6858000" cx="12192000"/>
  <p:notesSz cx="6858000" cy="12192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61" roundtripDataSignature="AMtx7midLWNuvTJQSogn/3UtO861VeVOJg=="/>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5790C458-BB61-4800-A068-DD2F3961D878}">
  <a:tblStyle styleId="{5790C458-BB61-4800-A068-DD2F3961D878}"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40" Type="http://schemas.openxmlformats.org/officeDocument/2006/relationships/slide" Target="slides/slide35.xml"/><Relationship Id="rId42" Type="http://schemas.openxmlformats.org/officeDocument/2006/relationships/slide" Target="slides/slide37.xml"/><Relationship Id="rId41" Type="http://schemas.openxmlformats.org/officeDocument/2006/relationships/slide" Target="slides/slide36.xml"/><Relationship Id="rId44" Type="http://schemas.openxmlformats.org/officeDocument/2006/relationships/slide" Target="slides/slide39.xml"/><Relationship Id="rId43" Type="http://schemas.openxmlformats.org/officeDocument/2006/relationships/slide" Target="slides/slide38.xml"/><Relationship Id="rId46" Type="http://schemas.openxmlformats.org/officeDocument/2006/relationships/slide" Target="slides/slide41.xml"/><Relationship Id="rId45" Type="http://schemas.openxmlformats.org/officeDocument/2006/relationships/slide" Target="slides/slide40.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4.xml"/><Relationship Id="rId48" Type="http://schemas.openxmlformats.org/officeDocument/2006/relationships/slide" Target="slides/slide43.xml"/><Relationship Id="rId47" Type="http://schemas.openxmlformats.org/officeDocument/2006/relationships/slide" Target="slides/slide42.xml"/><Relationship Id="rId49" Type="http://schemas.openxmlformats.org/officeDocument/2006/relationships/slide" Target="slides/slide44.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31" Type="http://schemas.openxmlformats.org/officeDocument/2006/relationships/slide" Target="slides/slide26.xml"/><Relationship Id="rId30" Type="http://schemas.openxmlformats.org/officeDocument/2006/relationships/slide" Target="slides/slide25.xml"/><Relationship Id="rId33" Type="http://schemas.openxmlformats.org/officeDocument/2006/relationships/slide" Target="slides/slide28.xml"/><Relationship Id="rId32" Type="http://schemas.openxmlformats.org/officeDocument/2006/relationships/slide" Target="slides/slide27.xml"/><Relationship Id="rId35" Type="http://schemas.openxmlformats.org/officeDocument/2006/relationships/slide" Target="slides/slide30.xml"/><Relationship Id="rId34" Type="http://schemas.openxmlformats.org/officeDocument/2006/relationships/slide" Target="slides/slide29.xml"/><Relationship Id="rId37" Type="http://schemas.openxmlformats.org/officeDocument/2006/relationships/slide" Target="slides/slide32.xml"/><Relationship Id="rId36" Type="http://schemas.openxmlformats.org/officeDocument/2006/relationships/slide" Target="slides/slide31.xml"/><Relationship Id="rId39" Type="http://schemas.openxmlformats.org/officeDocument/2006/relationships/slide" Target="slides/slide34.xml"/><Relationship Id="rId38" Type="http://schemas.openxmlformats.org/officeDocument/2006/relationships/slide" Target="slides/slide33.xml"/><Relationship Id="rId61" Type="http://customschemas.google.com/relationships/presentationmetadata" Target="metadata"/><Relationship Id="rId20" Type="http://schemas.openxmlformats.org/officeDocument/2006/relationships/slide" Target="slides/slide15.xml"/><Relationship Id="rId22" Type="http://schemas.openxmlformats.org/officeDocument/2006/relationships/slide" Target="slides/slide17.xml"/><Relationship Id="rId21" Type="http://schemas.openxmlformats.org/officeDocument/2006/relationships/slide" Target="slides/slide16.xml"/><Relationship Id="rId24" Type="http://schemas.openxmlformats.org/officeDocument/2006/relationships/slide" Target="slides/slide19.xml"/><Relationship Id="rId23" Type="http://schemas.openxmlformats.org/officeDocument/2006/relationships/slide" Target="slides/slide18.xml"/><Relationship Id="rId60" Type="http://schemas.openxmlformats.org/officeDocument/2006/relationships/slide" Target="slides/slide55.xml"/><Relationship Id="rId26" Type="http://schemas.openxmlformats.org/officeDocument/2006/relationships/slide" Target="slides/slide21.xml"/><Relationship Id="rId25" Type="http://schemas.openxmlformats.org/officeDocument/2006/relationships/slide" Target="slides/slide20.xml"/><Relationship Id="rId28" Type="http://schemas.openxmlformats.org/officeDocument/2006/relationships/slide" Target="slides/slide23.xml"/><Relationship Id="rId27" Type="http://schemas.openxmlformats.org/officeDocument/2006/relationships/slide" Target="slides/slide22.xml"/><Relationship Id="rId29" Type="http://schemas.openxmlformats.org/officeDocument/2006/relationships/slide" Target="slides/slide24.xml"/><Relationship Id="rId51" Type="http://schemas.openxmlformats.org/officeDocument/2006/relationships/slide" Target="slides/slide46.xml"/><Relationship Id="rId50" Type="http://schemas.openxmlformats.org/officeDocument/2006/relationships/slide" Target="slides/slide45.xml"/><Relationship Id="rId53" Type="http://schemas.openxmlformats.org/officeDocument/2006/relationships/slide" Target="slides/slide48.xml"/><Relationship Id="rId52" Type="http://schemas.openxmlformats.org/officeDocument/2006/relationships/slide" Target="slides/slide47.xml"/><Relationship Id="rId11" Type="http://schemas.openxmlformats.org/officeDocument/2006/relationships/slide" Target="slides/slide6.xml"/><Relationship Id="rId55" Type="http://schemas.openxmlformats.org/officeDocument/2006/relationships/slide" Target="slides/slide50.xml"/><Relationship Id="rId10" Type="http://schemas.openxmlformats.org/officeDocument/2006/relationships/slide" Target="slides/slide5.xml"/><Relationship Id="rId54" Type="http://schemas.openxmlformats.org/officeDocument/2006/relationships/slide" Target="slides/slide49.xml"/><Relationship Id="rId13" Type="http://schemas.openxmlformats.org/officeDocument/2006/relationships/slide" Target="slides/slide8.xml"/><Relationship Id="rId57" Type="http://schemas.openxmlformats.org/officeDocument/2006/relationships/slide" Target="slides/slide52.xml"/><Relationship Id="rId12" Type="http://schemas.openxmlformats.org/officeDocument/2006/relationships/slide" Target="slides/slide7.xml"/><Relationship Id="rId56" Type="http://schemas.openxmlformats.org/officeDocument/2006/relationships/slide" Target="slides/slide51.xml"/><Relationship Id="rId15" Type="http://schemas.openxmlformats.org/officeDocument/2006/relationships/slide" Target="slides/slide10.xml"/><Relationship Id="rId59" Type="http://schemas.openxmlformats.org/officeDocument/2006/relationships/slide" Target="slides/slide54.xml"/><Relationship Id="rId14" Type="http://schemas.openxmlformats.org/officeDocument/2006/relationships/slide" Target="slides/slide9.xml"/><Relationship Id="rId58" Type="http://schemas.openxmlformats.org/officeDocument/2006/relationships/slide" Target="slides/slide53.xml"/><Relationship Id="rId17" Type="http://schemas.openxmlformats.org/officeDocument/2006/relationships/slide" Target="slides/slide12.xml"/><Relationship Id="rId16" Type="http://schemas.openxmlformats.org/officeDocument/2006/relationships/slide" Target="slides/slide11.xml"/><Relationship Id="rId19" Type="http://schemas.openxmlformats.org/officeDocument/2006/relationships/slide" Target="slides/slide14.xml"/><Relationship Id="rId18"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 name="Shape 13"/>
        <p:cNvGrpSpPr/>
        <p:nvPr/>
      </p:nvGrpSpPr>
      <p:grpSpPr>
        <a:xfrm>
          <a:off x="0" y="0"/>
          <a:ext cx="0" cy="0"/>
          <a:chOff x="0" y="0"/>
          <a:chExt cx="0" cy="0"/>
        </a:xfrm>
      </p:grpSpPr>
      <p:sp>
        <p:nvSpPr>
          <p:cNvPr id="14" name="Google Shape;14;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 name="Google Shape;15;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Reprendre brièvement la synthèse d'exploration du TP1 : c'est la liste des problèmes à régler cet après-midi.</a:t>
            </a:r>
            <a:endParaRPr/>
          </a:p>
        </p:txBody>
      </p:sp>
      <p:sp>
        <p:nvSpPr>
          <p:cNvPr id="16" name="Google Shape;16;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 name="Shape 22"/>
        <p:cNvGrpSpPr/>
        <p:nvPr/>
      </p:nvGrpSpPr>
      <p:grpSpPr>
        <a:xfrm>
          <a:off x="0" y="0"/>
          <a:ext cx="0" cy="0"/>
          <a:chOff x="0" y="0"/>
          <a:chExt cx="0" cy="0"/>
        </a:xfrm>
      </p:grpSpPr>
      <p:sp>
        <p:nvSpPr>
          <p:cNvPr id="23" name="Google Shape;23;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 name="Google Shape;24;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On commence par un retour sur la synthèse d'exploration du TP1 (diapositive suivante). Les parties 1 à 6 du TP2 sont des exercices courts, sur de petits tableaux qui isolent chaque notion ; la partie 7 applique toute la démarche au fichier des ventes. Objectif de l'après-midi : transformer le fichier brut des ventes en un jeu de données propre, fiable et documenté. Les exemples du cours portent sur ce même fichier.</a:t>
            </a:r>
            <a:endParaRPr/>
          </a:p>
        </p:txBody>
      </p:sp>
      <p:sp>
        <p:nvSpPr>
          <p:cNvPr id="25" name="Google Shape;25;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 name="Shape 77"/>
        <p:cNvGrpSpPr/>
        <p:nvPr/>
      </p:nvGrpSpPr>
      <p:grpSpPr>
        <a:xfrm>
          <a:off x="0" y="0"/>
          <a:ext cx="0" cy="0"/>
          <a:chOff x="0" y="0"/>
          <a:chExt cx="0" cy="0"/>
        </a:xfrm>
      </p:grpSpPr>
      <p:sp>
        <p:nvSpPr>
          <p:cNvPr id="78" name="Google Shape;78;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9" name="Google Shape;79;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Demander au groupe ce qu'il avait trouvé. Certains auront peut-être manqué les doublons ou l'espace en fin de Bretagne : c'est normal, ils ne se voient pas à l'oeil nu.</a:t>
            </a:r>
            <a:endParaRPr/>
          </a:p>
        </p:txBody>
      </p:sp>
      <p:sp>
        <p:nvSpPr>
          <p:cNvPr id="80" name="Google Shape;80;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 name="Shape 86"/>
        <p:cNvGrpSpPr/>
        <p:nvPr/>
      </p:nvGrpSpPr>
      <p:grpSpPr>
        <a:xfrm>
          <a:off x="0" y="0"/>
          <a:ext cx="0" cy="0"/>
          <a:chOff x="0" y="0"/>
          <a:chExt cx="0" cy="0"/>
        </a:xfrm>
      </p:grpSpPr>
      <p:sp>
        <p:nvSpPr>
          <p:cNvPr id="87" name="Google Shape;87;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8" name="Google Shape;88;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Sélectionner est la base de tout le reste : filtrer, corriger, calculer sur un sous-ensemble.</a:t>
            </a:r>
            <a:endParaRPr/>
          </a:p>
        </p:txBody>
      </p:sp>
      <p:sp>
        <p:nvSpPr>
          <p:cNvPr id="89" name="Google Shape;89;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 name="Shape 94"/>
        <p:cNvGrpSpPr/>
        <p:nvPr/>
      </p:nvGrpSpPr>
      <p:grpSpPr>
        <a:xfrm>
          <a:off x="0" y="0"/>
          <a:ext cx="0" cy="0"/>
          <a:chOff x="0" y="0"/>
          <a:chExt cx="0" cy="0"/>
        </a:xfrm>
      </p:grpSpPr>
      <p:sp>
        <p:nvSpPr>
          <p:cNvPr id="95" name="Google Shape;95;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 name="Google Shape;96;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Point qui piège tout le monde : avec loc, la borne de fin est incluse. 0:4 donne cinq lignes avec loc, quatre avec iloc.</a:t>
            </a:r>
            <a:endParaRPr/>
          </a:p>
        </p:txBody>
      </p:sp>
      <p:sp>
        <p:nvSpPr>
          <p:cNvPr id="97" name="Google Shape;97;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1" name="Google Shape;111;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Faire la démonstration en direct : afficher tri.head() et montrer les labels dans le désordre à gauche.</a:t>
            </a:r>
            <a:endParaRPr/>
          </a:p>
        </p:txBody>
      </p:sp>
      <p:sp>
        <p:nvSpPr>
          <p:cNvPr id="112" name="Google Shape;112;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 name="Shape 123"/>
        <p:cNvGrpSpPr/>
        <p:nvPr/>
      </p:nvGrpSpPr>
      <p:grpSpPr>
        <a:xfrm>
          <a:off x="0" y="0"/>
          <a:ext cx="0" cy="0"/>
          <a:chOff x="0" y="0"/>
          <a:chExt cx="0" cy="0"/>
        </a:xfrm>
      </p:grpSpPr>
      <p:sp>
        <p:nvSpPr>
          <p:cNvPr id="124" name="Google Shape;124;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5" name="Google Shape;125;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Même mécanisme que le masque numpy vu ce matin.</a:t>
            </a:r>
            <a:endParaRPr/>
          </a:p>
        </p:txBody>
      </p:sp>
      <p:sp>
        <p:nvSpPr>
          <p:cNvPr id="126" name="Google Shape;126;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 name="Shape 139"/>
        <p:cNvGrpSpPr/>
        <p:nvPr/>
      </p:nvGrpSpPr>
      <p:grpSpPr>
        <a:xfrm>
          <a:off x="0" y="0"/>
          <a:ext cx="0" cy="0"/>
          <a:chOff x="0" y="0"/>
          <a:chExt cx="0" cy="0"/>
        </a:xfrm>
      </p:grpSpPr>
      <p:sp>
        <p:nvSpPr>
          <p:cNvPr id="140" name="Google Shape;140;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1" name="Google Shape;141;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Laisser les participants provoquer l'erreur eux-mêmes pendant le TP, c'est le meilleur moyen de la retenir.</a:t>
            </a:r>
            <a:endParaRPr/>
          </a:p>
        </p:txBody>
      </p:sp>
      <p:sp>
        <p:nvSpPr>
          <p:cNvPr id="142" name="Google Shape;142;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8" name="Shape 158"/>
        <p:cNvGrpSpPr/>
        <p:nvPr/>
      </p:nvGrpSpPr>
      <p:grpSpPr>
        <a:xfrm>
          <a:off x="0" y="0"/>
          <a:ext cx="0" cy="0"/>
          <a:chOff x="0" y="0"/>
          <a:chExt cx="0" cy="0"/>
        </a:xfrm>
      </p:grpSpPr>
      <p:sp>
        <p:nvSpPr>
          <p:cNvPr id="159" name="Google Shape;159;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0" name="Google Shape;160;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Dans query, and et or fonctionnent. Les noms de colonnes avec espaces sont pénibles : une raison de plus pour les harmoniser plus tard.</a:t>
            </a:r>
            <a:endParaRPr/>
          </a:p>
        </p:txBody>
      </p:sp>
      <p:sp>
        <p:nvSpPr>
          <p:cNvPr id="161" name="Google Shape;161;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 name="Shape 173"/>
        <p:cNvGrpSpPr/>
        <p:nvPr/>
      </p:nvGrpSpPr>
      <p:grpSpPr>
        <a:xfrm>
          <a:off x="0" y="0"/>
          <a:ext cx="0" cy="0"/>
          <a:chOff x="0" y="0"/>
          <a:chExt cx="0" cy="0"/>
        </a:xfrm>
      </p:grpSpPr>
      <p:sp>
        <p:nvSpPr>
          <p:cNvPr id="174" name="Google Shape;174;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5" name="Google Shape;175;p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C'est le changement le plus visible de pandas 3. Beaucoup de code trouvé en ligne utilise encore l'affectation enchaînée.</a:t>
            </a:r>
            <a:endParaRPr/>
          </a:p>
        </p:txBody>
      </p:sp>
      <p:sp>
        <p:nvSpPr>
          <p:cNvPr id="176" name="Google Shape;176;p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4" name="Shape 194"/>
        <p:cNvGrpSpPr/>
        <p:nvPr/>
      </p:nvGrpSpPr>
      <p:grpSpPr>
        <a:xfrm>
          <a:off x="0" y="0"/>
          <a:ext cx="0" cy="0"/>
          <a:chOff x="0" y="0"/>
          <a:chExt cx="0" cy="0"/>
        </a:xfrm>
      </p:grpSpPr>
      <p:sp>
        <p:nvSpPr>
          <p:cNvPr id="195" name="Google Shape;195;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6" name="Google Shape;196;p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Compter environ 15 minutes. Partie 0 du notebook : réutiliser l'environnement du TP1, ou en recréer un à partir de son requirements.txt. Cette partie travaille sur df, la copie du fichier brut, avec ses noms de colonnes d'origine. Question 1.3 : isin laisse échapper les variantes d'écriture (Bretagne avec une espace, occitanie), qu'on corrigera plus tard. La question 1.8 (l'affectation enchaînée, sans effet) est facultative.</a:t>
            </a:r>
            <a:endParaRPr/>
          </a:p>
        </p:txBody>
      </p:sp>
      <p:sp>
        <p:nvSpPr>
          <p:cNvPr id="197" name="Google Shape;197;p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9" name="Shape 209"/>
        <p:cNvGrpSpPr/>
        <p:nvPr/>
      </p:nvGrpSpPr>
      <p:grpSpPr>
        <a:xfrm>
          <a:off x="0" y="0"/>
          <a:ext cx="0" cy="0"/>
          <a:chOff x="0" y="0"/>
          <a:chExt cx="0" cy="0"/>
        </a:xfrm>
      </p:grpSpPr>
      <p:sp>
        <p:nvSpPr>
          <p:cNvPr id="210" name="Google Shape;21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1" name="Google Shape;211;p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Enrichir le jeu de données avec des colonnes calculées.</a:t>
            </a:r>
            <a:endParaRPr/>
          </a:p>
        </p:txBody>
      </p:sp>
      <p:sp>
        <p:nvSpPr>
          <p:cNvPr id="212" name="Google Shape;212;p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7" name="Shape 217"/>
        <p:cNvGrpSpPr/>
        <p:nvPr/>
      </p:nvGrpSpPr>
      <p:grpSpPr>
        <a:xfrm>
          <a:off x="0" y="0"/>
          <a:ext cx="0" cy="0"/>
          <a:chOff x="0" y="0"/>
          <a:chExt cx="0" cy="0"/>
        </a:xfrm>
      </p:grpSpPr>
      <p:sp>
        <p:nvSpPr>
          <p:cNvPr id="218" name="Google Shape;21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9" name="Google Shape;219;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Ici, chaque affectation modifie df directement. La diapositive suivante montre comment obtenir un nouveau DataFrame sans toucher à l'original.</a:t>
            </a:r>
            <a:endParaRPr/>
          </a:p>
        </p:txBody>
      </p:sp>
      <p:sp>
        <p:nvSpPr>
          <p:cNvPr id="220" name="Google Shape;220;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1" name="Shape 231"/>
        <p:cNvGrpSpPr/>
        <p:nvPr/>
      </p:nvGrpSpPr>
      <p:grpSpPr>
        <a:xfrm>
          <a:off x="0" y="0"/>
          <a:ext cx="0" cy="0"/>
          <a:chOff x="0" y="0"/>
          <a:chExt cx="0" cy="0"/>
        </a:xfrm>
      </p:grpSpPr>
      <p:sp>
        <p:nvSpPr>
          <p:cNvPr id="232" name="Google Shape;232;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3" name="Google Shape;233;p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Même résultat dans les deux cas : un df_enrichi avec deux colonnes de plus, et un df intact. assign le fait en une seule expression, ce qui permet de l'enchaîner avec d'autres opérations ; on le reverra demain.</a:t>
            </a:r>
            <a:endParaRPr/>
          </a:p>
        </p:txBody>
      </p:sp>
      <p:sp>
        <p:nvSpPr>
          <p:cNvPr id="234" name="Google Shape;234;p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0" name="Shape 250"/>
        <p:cNvGrpSpPr/>
        <p:nvPr/>
      </p:nvGrpSpPr>
      <p:grpSpPr>
        <a:xfrm>
          <a:off x="0" y="0"/>
          <a:ext cx="0" cy="0"/>
          <a:chOff x="0" y="0"/>
          <a:chExt cx="0" cy="0"/>
        </a:xfrm>
      </p:grpSpPr>
      <p:sp>
        <p:nvSpPr>
          <p:cNvPr id="251" name="Google Shape;25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2" name="Google Shape;252;p1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Erreur fréquente : appeler df.drop(...) sans réaffecter, puis s'étonner que la colonne soit toujours là.</a:t>
            </a:r>
            <a:endParaRPr/>
          </a:p>
        </p:txBody>
      </p:sp>
      <p:sp>
        <p:nvSpPr>
          <p:cNvPr id="253" name="Google Shape;253;p1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4" name="Shape 264"/>
        <p:cNvGrpSpPr/>
        <p:nvPr/>
      </p:nvGrpSpPr>
      <p:grpSpPr>
        <a:xfrm>
          <a:off x="0" y="0"/>
          <a:ext cx="0" cy="0"/>
          <a:chOff x="0" y="0"/>
          <a:chExt cx="0" cy="0"/>
        </a:xfrm>
      </p:grpSpPr>
      <p:sp>
        <p:nvSpPr>
          <p:cNvPr id="265" name="Google Shape;265;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6" name="Google Shape;266;p1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Toujours contrôler avec isna().sum() après un map avec dictionnaire.</a:t>
            </a:r>
            <a:endParaRPr/>
          </a:p>
        </p:txBody>
      </p:sp>
      <p:sp>
        <p:nvSpPr>
          <p:cNvPr id="267" name="Google Shape;267;p1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0" name="Shape 280"/>
        <p:cNvGrpSpPr/>
        <p:nvPr/>
      </p:nvGrpSpPr>
      <p:grpSpPr>
        <a:xfrm>
          <a:off x="0" y="0"/>
          <a:ext cx="0" cy="0"/>
          <a:chOff x="0" y="0"/>
          <a:chExt cx="0" cy="0"/>
        </a:xfrm>
      </p:grpSpPr>
      <p:sp>
        <p:nvSpPr>
          <p:cNvPr id="281" name="Google Shape;281;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2" name="Google Shape;282;p1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Rappel du TP1, partie 2 : la boucle Python est des dizaines de fois plus lente que le calcul vectorisé.</a:t>
            </a:r>
            <a:endParaRPr/>
          </a:p>
        </p:txBody>
      </p:sp>
      <p:sp>
        <p:nvSpPr>
          <p:cNvPr id="283" name="Google Shape;283;p1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96" name="Google Shape;296;p1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Avant d'écrire un apply, se demander s'il existe une méthode pandas qui fait la même chose.</a:t>
            </a:r>
            <a:endParaRPr/>
          </a:p>
        </p:txBody>
      </p:sp>
      <p:sp>
        <p:nvSpPr>
          <p:cNvPr id="297" name="Google Shape;297;p1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3" name="Shape 323"/>
        <p:cNvGrpSpPr/>
        <p:nvPr/>
      </p:nvGrpSpPr>
      <p:grpSpPr>
        <a:xfrm>
          <a:off x="0" y="0"/>
          <a:ext cx="0" cy="0"/>
          <a:chOff x="0" y="0"/>
          <a:chExt cx="0" cy="0"/>
        </a:xfrm>
      </p:grpSpPr>
      <p:sp>
        <p:nvSpPr>
          <p:cNvPr id="324" name="Google Shape;324;p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25" name="Google Shape;325;p1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Une valeur hors de toutes les bornes donne une valeur manquante : ici le prix à 0 et le prix à 12 999 du fichier des ventes. Les classes de la category suivent l'ordre des bornes.</a:t>
            </a:r>
            <a:endParaRPr/>
          </a:p>
        </p:txBody>
      </p:sp>
      <p:sp>
        <p:nvSpPr>
          <p:cNvPr id="326" name="Google Shape;326;p1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9" name="Shape 339"/>
        <p:cNvGrpSpPr/>
        <p:nvPr/>
      </p:nvGrpSpPr>
      <p:grpSpPr>
        <a:xfrm>
          <a:off x="0" y="0"/>
          <a:ext cx="0" cy="0"/>
          <a:chOff x="0" y="0"/>
          <a:chExt cx="0" cy="0"/>
        </a:xfrm>
      </p:grpSpPr>
      <p:sp>
        <p:nvSpPr>
          <p:cNvPr id="340" name="Google Shape;340;p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41" name="Google Shape;341;p2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Compter 10 à 15 minutes. Le tableau est propre pour se concentrer sur les transformations. La question 2.5 (pd.cut sur les prix unitaires) est facultative.</a:t>
            </a:r>
            <a:endParaRPr/>
          </a:p>
        </p:txBody>
      </p:sp>
      <p:sp>
        <p:nvSpPr>
          <p:cNvPr id="342" name="Google Shape;342;p2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2" name="Shape 352"/>
        <p:cNvGrpSpPr/>
        <p:nvPr/>
      </p:nvGrpSpPr>
      <p:grpSpPr>
        <a:xfrm>
          <a:off x="0" y="0"/>
          <a:ext cx="0" cy="0"/>
          <a:chOff x="0" y="0"/>
          <a:chExt cx="0" cy="0"/>
        </a:xfrm>
      </p:grpSpPr>
      <p:sp>
        <p:nvSpPr>
          <p:cNvPr id="353" name="Google Shape;353;p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4" name="Google Shape;354;p2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Les variantes d'écriture faussent tous les comptages et les regroupements.</a:t>
            </a:r>
            <a:endParaRPr/>
          </a:p>
        </p:txBody>
      </p:sp>
      <p:sp>
        <p:nvSpPr>
          <p:cNvPr id="355" name="Google Shape;355;p2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0" name="Shape 360"/>
        <p:cNvGrpSpPr/>
        <p:nvPr/>
      </p:nvGrpSpPr>
      <p:grpSpPr>
        <a:xfrm>
          <a:off x="0" y="0"/>
          <a:ext cx="0" cy="0"/>
          <a:chOff x="0" y="0"/>
          <a:chExt cx="0" cy="0"/>
        </a:xfrm>
      </p:grpSpPr>
      <p:sp>
        <p:nvSpPr>
          <p:cNvPr id="361" name="Google Shape;361;p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62" name="Google Shape;362;p2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Les participants connaissent strip, lower, replace sur une chaîne : .str permet de les appliquer à une colonne.</a:t>
            </a:r>
            <a:endParaRPr/>
          </a:p>
        </p:txBody>
      </p:sp>
      <p:sp>
        <p:nvSpPr>
          <p:cNvPr id="363" name="Google Shape;363;p2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5" name="Shape 375"/>
        <p:cNvGrpSpPr/>
        <p:nvPr/>
      </p:nvGrpSpPr>
      <p:grpSpPr>
        <a:xfrm>
          <a:off x="0" y="0"/>
          <a:ext cx="0" cy="0"/>
          <a:chOff x="0" y="0"/>
          <a:chExt cx="0" cy="0"/>
        </a:xfrm>
      </p:grpSpPr>
      <p:sp>
        <p:nvSpPr>
          <p:cNvPr id="376" name="Google Shape;376;p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77" name="Google Shape;377;p2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Commencer toujours par value_counts pour lister les variantes, puis construire le dictionnaire.</a:t>
            </a:r>
            <a:endParaRPr/>
          </a:p>
        </p:txBody>
      </p:sp>
      <p:sp>
        <p:nvSpPr>
          <p:cNvPr id="378" name="Google Shape;378;p2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p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95" name="Google Shape;395;p2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Confusion très fréquente entre les deux méthodes.</a:t>
            </a:r>
            <a:endParaRPr/>
          </a:p>
        </p:txBody>
      </p:sp>
      <p:sp>
        <p:nvSpPr>
          <p:cNvPr id="396" name="Google Shape;396;p2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2" name="Shape 412"/>
        <p:cNvGrpSpPr/>
        <p:nvPr/>
      </p:nvGrpSpPr>
      <p:grpSpPr>
        <a:xfrm>
          <a:off x="0" y="0"/>
          <a:ext cx="0" cy="0"/>
          <a:chOff x="0" y="0"/>
          <a:chExt cx="0" cy="0"/>
        </a:xfrm>
      </p:grpSpPr>
      <p:sp>
        <p:nvSpPr>
          <p:cNvPr id="413" name="Google Shape;413;p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14" name="Google Shape;414;p2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 signifie « un ou plusieurs chiffres ». Avec expand=False, le résultat est une Series qu'on convertit directement avec astype(int).</a:t>
            </a:r>
            <a:endParaRPr/>
          </a:p>
        </p:txBody>
      </p:sp>
      <p:sp>
        <p:nvSpPr>
          <p:cNvPr id="415" name="Google Shape;415;p2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8" name="Shape 428"/>
        <p:cNvGrpSpPr/>
        <p:nvPr/>
      </p:nvGrpSpPr>
      <p:grpSpPr>
        <a:xfrm>
          <a:off x="0" y="0"/>
          <a:ext cx="0" cy="0"/>
          <a:chOff x="0" y="0"/>
          <a:chExt cx="0" cy="0"/>
        </a:xfrm>
      </p:grpSpPr>
      <p:sp>
        <p:nvSpPr>
          <p:cNvPr id="429" name="Google Shape;429;p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30" name="Google Shape;430;p2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Pas besoin de maîtriser les expressions régulières : ces quelques patterns couvrent la plupart des besoins de nettoyage. Le r devant la chaîne évite que Python interprète la barre oblique inverse.</a:t>
            </a:r>
            <a:endParaRPr/>
          </a:p>
        </p:txBody>
      </p:sp>
      <p:sp>
        <p:nvSpPr>
          <p:cNvPr id="431" name="Google Shape;431;p2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4" name="Shape 444"/>
        <p:cNvGrpSpPr/>
        <p:nvPr/>
      </p:nvGrpSpPr>
      <p:grpSpPr>
        <a:xfrm>
          <a:off x="0" y="0"/>
          <a:ext cx="0" cy="0"/>
          <a:chOff x="0" y="0"/>
          <a:chExt cx="0" cy="0"/>
        </a:xfrm>
      </p:grpSpPr>
      <p:sp>
        <p:nvSpPr>
          <p:cNvPr id="445" name="Google Shape;445;p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6" name="Google Shape;446;p2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Compter une dizaine de minutes. La question 3.4 est facultative : harmoniser des numéros de téléphone avec \D, et comparer replace et str.replace.</a:t>
            </a:r>
            <a:endParaRPr/>
          </a:p>
        </p:txBody>
      </p:sp>
      <p:sp>
        <p:nvSpPr>
          <p:cNvPr id="447" name="Google Shape;447;p2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7" name="Shape 457"/>
        <p:cNvGrpSpPr/>
        <p:nvPr/>
      </p:nvGrpSpPr>
      <p:grpSpPr>
        <a:xfrm>
          <a:off x="0" y="0"/>
          <a:ext cx="0" cy="0"/>
          <a:chOff x="0" y="0"/>
          <a:chExt cx="0" cy="0"/>
        </a:xfrm>
      </p:grpSpPr>
      <p:sp>
        <p:nvSpPr>
          <p:cNvPr id="458" name="Google Shape;458;p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9" name="Google Shape;459;p2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Un type incorrect ne provoque pas toujours d'erreur, mais il fausse les résultats.</a:t>
            </a:r>
            <a:endParaRPr/>
          </a:p>
        </p:txBody>
      </p:sp>
      <p:sp>
        <p:nvSpPr>
          <p:cNvPr id="460" name="Google Shape;460;p2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5" name="Shape 465"/>
        <p:cNvGrpSpPr/>
        <p:nvPr/>
      </p:nvGrpSpPr>
      <p:grpSpPr>
        <a:xfrm>
          <a:off x="0" y="0"/>
          <a:ext cx="0" cy="0"/>
          <a:chOff x="0" y="0"/>
          <a:chExt cx="0" cy="0"/>
        </a:xfrm>
      </p:grpSpPr>
      <p:sp>
        <p:nvSpPr>
          <p:cNvPr id="466" name="Google Shape;466;p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67" name="Google Shape;467;p2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Un entier numpy ne peut pas contenir de NaN : une colonne d'entiers avec une valeur manquante devient float64. Le type Int64 avec majuscule règle ce problème.</a:t>
            </a:r>
            <a:endParaRPr/>
          </a:p>
        </p:txBody>
      </p:sp>
      <p:sp>
        <p:nvSpPr>
          <p:cNvPr id="468" name="Google Shape;468;p2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p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6" name="Google Shape;496;p3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Préciser le format de date évite toute ambiguïté entre jour et mois. L'accesseur .dt sera approfondi demain matin.</a:t>
            </a:r>
            <a:endParaRPr/>
          </a:p>
        </p:txBody>
      </p:sp>
      <p:sp>
        <p:nvSpPr>
          <p:cNvPr id="497" name="Google Shape;497;p3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3" name="Shape 513"/>
        <p:cNvGrpSpPr/>
        <p:nvPr/>
      </p:nvGrpSpPr>
      <p:grpSpPr>
        <a:xfrm>
          <a:off x="0" y="0"/>
          <a:ext cx="0" cy="0"/>
          <a:chOff x="0" y="0"/>
          <a:chExt cx="0" cy="0"/>
        </a:xfrm>
      </p:grpSpPr>
      <p:sp>
        <p:nvSpPr>
          <p:cNvPr id="514" name="Google Shape;514;p3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15" name="Google Shape;515;p3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Sans deep=True, la mémoire du texte n'est pas comptée en entier. Si on convertit avant de nettoyer, INFORMATIQUE et Informatique deviennent deux catégories distinctes. Pas de category pour une colonne dont presque toutes les valeurs sont différentes, comme un identifiant ou un commentaire. La mesure se fait dans le cas pratique, question 7.4.</a:t>
            </a:r>
            <a:endParaRPr/>
          </a:p>
        </p:txBody>
      </p:sp>
      <p:sp>
        <p:nvSpPr>
          <p:cNvPr id="516" name="Google Shape;516;p3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5" name="Shape 535"/>
        <p:cNvGrpSpPr/>
        <p:nvPr/>
      </p:nvGrpSpPr>
      <p:grpSpPr>
        <a:xfrm>
          <a:off x="0" y="0"/>
          <a:ext cx="0" cy="0"/>
          <a:chOff x="0" y="0"/>
          <a:chExt cx="0" cy="0"/>
        </a:xfrm>
      </p:grpSpPr>
      <p:sp>
        <p:nvSpPr>
          <p:cNvPr id="536" name="Google Shape;536;p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37" name="Google Shape;537;p3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Cas rencontré dans le cas pratique, question 7.7 : une fois region convertie en category, remplir les régions manquantes avec Inconnue échoue tant que la catégorie n'est pas déclarée.</a:t>
            </a:r>
            <a:endParaRPr/>
          </a:p>
        </p:txBody>
      </p:sp>
      <p:sp>
        <p:nvSpPr>
          <p:cNvPr id="538" name="Google Shape;538;p3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5" name="Shape 555"/>
        <p:cNvGrpSpPr/>
        <p:nvPr/>
      </p:nvGrpSpPr>
      <p:grpSpPr>
        <a:xfrm>
          <a:off x="0" y="0"/>
          <a:ext cx="0" cy="0"/>
          <a:chOff x="0" y="0"/>
          <a:chExt cx="0" cy="0"/>
        </a:xfrm>
      </p:grpSpPr>
      <p:sp>
        <p:nvSpPr>
          <p:cNvPr id="556" name="Google Shape;556;p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7" name="Google Shape;557;p3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Compter une dizaine de minutes. La conversion en category et la mesure de la mémoire se font dans le cas pratique, question 7.4. Pause ensuite.</a:t>
            </a:r>
            <a:endParaRPr/>
          </a:p>
        </p:txBody>
      </p:sp>
      <p:sp>
        <p:nvSpPr>
          <p:cNvPr id="558" name="Google Shape;558;p3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8" name="Shape 568"/>
        <p:cNvGrpSpPr/>
        <p:nvPr/>
      </p:nvGrpSpPr>
      <p:grpSpPr>
        <a:xfrm>
          <a:off x="0" y="0"/>
          <a:ext cx="0" cy="0"/>
          <a:chOff x="0" y="0"/>
          <a:chExt cx="0" cy="0"/>
        </a:xfrm>
      </p:grpSpPr>
      <p:sp>
        <p:nvSpPr>
          <p:cNvPr id="569" name="Google Shape;569;p3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70" name="Google Shape;570;p3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Après la pause. C'est la partie où les choix ont le plus d'impact sur les résultats de l'analyse.</a:t>
            </a:r>
            <a:endParaRPr/>
          </a:p>
        </p:txBody>
      </p:sp>
      <p:sp>
        <p:nvSpPr>
          <p:cNvPr id="571" name="Google Shape;571;p3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6" name="Shape 576"/>
        <p:cNvGrpSpPr/>
        <p:nvPr/>
      </p:nvGrpSpPr>
      <p:grpSpPr>
        <a:xfrm>
          <a:off x="0" y="0"/>
          <a:ext cx="0" cy="0"/>
          <a:chOff x="0" y="0"/>
          <a:chExt cx="0" cy="0"/>
        </a:xfrm>
      </p:grpSpPr>
      <p:sp>
        <p:nvSpPr>
          <p:cNvPr id="577" name="Google Shape;577;p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78" name="Google Shape;578;p3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Sur les ventes : 3 régions manquantes sur 62 lignes, soit un peu moins de 5 %.</a:t>
            </a:r>
            <a:endParaRPr/>
          </a:p>
        </p:txBody>
      </p:sp>
      <p:sp>
        <p:nvSpPr>
          <p:cNvPr id="579" name="Google Shape;579;p3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1" name="Shape 591"/>
        <p:cNvGrpSpPr/>
        <p:nvPr/>
      </p:nvGrpSpPr>
      <p:grpSpPr>
        <a:xfrm>
          <a:off x="0" y="0"/>
          <a:ext cx="0" cy="0"/>
          <a:chOff x="0" y="0"/>
          <a:chExt cx="0" cy="0"/>
        </a:xfrm>
      </p:grpSpPr>
      <p:sp>
        <p:nvSpPr>
          <p:cNvPr id="592" name="Google Shape;592;p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93" name="Google Shape;593;p3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Avec pandas 3, fillna(method="ffill") n'existe plus : on utilise directement ffill() et bfill().</a:t>
            </a:r>
            <a:endParaRPr/>
          </a:p>
        </p:txBody>
      </p:sp>
      <p:sp>
        <p:nvSpPr>
          <p:cNvPr id="594" name="Google Shape;594;p3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5" name="Shape 605"/>
        <p:cNvGrpSpPr/>
        <p:nvPr/>
      </p:nvGrpSpPr>
      <p:grpSpPr>
        <a:xfrm>
          <a:off x="0" y="0"/>
          <a:ext cx="0" cy="0"/>
          <a:chOff x="0" y="0"/>
          <a:chExt cx="0" cy="0"/>
        </a:xfrm>
      </p:grpSpPr>
      <p:sp>
        <p:nvSpPr>
          <p:cNvPr id="606" name="Google Shape;606;p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7" name="Google Shape;607;p3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Faire calculer la moyenne et la médiane des prix au groupe avant d'afficher la diapositive.</a:t>
            </a:r>
            <a:endParaRPr/>
          </a:p>
        </p:txBody>
      </p:sp>
      <p:sp>
        <p:nvSpPr>
          <p:cNvPr id="608" name="Google Shape;608;p3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7" name="Shape 627"/>
        <p:cNvGrpSpPr/>
        <p:nvPr/>
      </p:nvGrpSpPr>
      <p:grpSpPr>
        <a:xfrm>
          <a:off x="0" y="0"/>
          <a:ext cx="0" cy="0"/>
          <a:chOff x="0" y="0"/>
          <a:chExt cx="0" cy="0"/>
        </a:xfrm>
      </p:grpSpPr>
      <p:sp>
        <p:nvSpPr>
          <p:cNvPr id="628" name="Google Shape;628;p3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9" name="Google Shape;629;p3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Pour pandas, -3 est un nombre parfaitement valide. Seule une règle métier permet de dire qu'il est impossible. En cas de doute, on signale et on pose la question au métier.</a:t>
            </a:r>
            <a:endParaRPr/>
          </a:p>
        </p:txBody>
      </p:sp>
      <p:sp>
        <p:nvSpPr>
          <p:cNvPr id="630" name="Google Shape;630;p3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2" name="Shape 642"/>
        <p:cNvGrpSpPr/>
        <p:nvPr/>
      </p:nvGrpSpPr>
      <p:grpSpPr>
        <a:xfrm>
          <a:off x="0" y="0"/>
          <a:ext cx="0" cy="0"/>
          <a:chOff x="0" y="0"/>
          <a:chExt cx="0" cy="0"/>
        </a:xfrm>
      </p:grpSpPr>
      <p:sp>
        <p:nvSpPr>
          <p:cNvPr id="643" name="Google Shape;643;p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4" name="Google Shape;644;p3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Les doublons exacts viennent souvent d'un export lancé deux fois ou d'une concaténation de fichiers qui se chevauchent.</a:t>
            </a:r>
            <a:endParaRPr/>
          </a:p>
        </p:txBody>
      </p:sp>
      <p:sp>
        <p:nvSpPr>
          <p:cNvPr id="645" name="Google Shape;645;p3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6" name="Shape 656"/>
        <p:cNvGrpSpPr/>
        <p:nvPr/>
      </p:nvGrpSpPr>
      <p:grpSpPr>
        <a:xfrm>
          <a:off x="0" y="0"/>
          <a:ext cx="0" cy="0"/>
          <a:chOff x="0" y="0"/>
          <a:chExt cx="0" cy="0"/>
        </a:xfrm>
      </p:grpSpPr>
      <p:sp>
        <p:nvSpPr>
          <p:cNvPr id="657" name="Google Shape;657;p4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8" name="Google Shape;658;p4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Compter environ 15 minutes. À la correction, faire justifier le choix de l'interpolation pour la température et de la propagation pour le stock, et l'écart entre dropna() et dropna(subset=...).</a:t>
            </a:r>
            <a:endParaRPr/>
          </a:p>
        </p:txBody>
      </p:sp>
      <p:sp>
        <p:nvSpPr>
          <p:cNvPr id="659" name="Google Shape;659;p4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9" name="Shape 669"/>
        <p:cNvGrpSpPr/>
        <p:nvPr/>
      </p:nvGrpSpPr>
      <p:grpSpPr>
        <a:xfrm>
          <a:off x="0" y="0"/>
          <a:ext cx="0" cy="0"/>
          <a:chOff x="0" y="0"/>
          <a:chExt cx="0" cy="0"/>
        </a:xfrm>
      </p:grpSpPr>
      <p:sp>
        <p:nvSpPr>
          <p:cNvPr id="670" name="Google Shape;670;p4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1" name="Google Shape;671;p4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Les finitions qui rendent le jeu de données agréable à utiliser.</a:t>
            </a:r>
            <a:endParaRPr/>
          </a:p>
        </p:txBody>
      </p:sp>
      <p:sp>
        <p:nvSpPr>
          <p:cNvPr id="672" name="Google Shape;672;p4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7" name="Shape 677"/>
        <p:cNvGrpSpPr/>
        <p:nvPr/>
      </p:nvGrpSpPr>
      <p:grpSpPr>
        <a:xfrm>
          <a:off x="0" y="0"/>
          <a:ext cx="0" cy="0"/>
          <a:chOff x="0" y="0"/>
          <a:chExt cx="0" cy="0"/>
        </a:xfrm>
      </p:grpSpPr>
      <p:sp>
        <p:nvSpPr>
          <p:cNvPr id="678" name="Google Shape;678;p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9" name="Google Shape;679;p4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nlargest est pratique pour inspecter les valeurs aberrantes hautes.</a:t>
            </a:r>
            <a:endParaRPr/>
          </a:p>
        </p:txBody>
      </p:sp>
      <p:sp>
        <p:nvSpPr>
          <p:cNvPr id="680" name="Google Shape;680;p4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1" name="Shape 691"/>
        <p:cNvGrpSpPr/>
        <p:nvPr/>
      </p:nvGrpSpPr>
      <p:grpSpPr>
        <a:xfrm>
          <a:off x="0" y="0"/>
          <a:ext cx="0" cy="0"/>
          <a:chOff x="0" y="0"/>
          <a:chExt cx="0" cy="0"/>
        </a:xfrm>
      </p:grpSpPr>
      <p:sp>
        <p:nvSpPr>
          <p:cNvPr id="692" name="Google Shape;692;p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93" name="Google Shape;693;p4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Les trois dernières lignes de l'enchaînement retirent les accents : normalize sépare la lettre de son accent, encode en ascii supprime l'accent. La fonction est à écrire dans le TP2, question 6.2.</a:t>
            </a:r>
            <a:endParaRPr/>
          </a:p>
        </p:txBody>
      </p:sp>
      <p:sp>
        <p:nvSpPr>
          <p:cNvPr id="694" name="Google Shape;694;p4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1" name="Shape 711"/>
        <p:cNvGrpSpPr/>
        <p:nvPr/>
      </p:nvGrpSpPr>
      <p:grpSpPr>
        <a:xfrm>
          <a:off x="0" y="0"/>
          <a:ext cx="0" cy="0"/>
          <a:chOff x="0" y="0"/>
          <a:chExt cx="0" cy="0"/>
        </a:xfrm>
      </p:grpSpPr>
      <p:sp>
        <p:nvSpPr>
          <p:cNvPr id="712" name="Google Shape;712;p4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13" name="Google Shape;713;p4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Sur le fichier brut, id_commande n'est pas unique à cause des doublons : set_index fonctionne quand même, mais loc renverrait plusieurs lignes.</a:t>
            </a:r>
            <a:endParaRPr/>
          </a:p>
        </p:txBody>
      </p:sp>
      <p:sp>
        <p:nvSpPr>
          <p:cNvPr id="714" name="Google Shape;714;p4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5" name="Shape 725"/>
        <p:cNvGrpSpPr/>
        <p:nvPr/>
      </p:nvGrpSpPr>
      <p:grpSpPr>
        <a:xfrm>
          <a:off x="0" y="0"/>
          <a:ext cx="0" cy="0"/>
          <a:chOff x="0" y="0"/>
          <a:chExt cx="0" cy="0"/>
        </a:xfrm>
      </p:grpSpPr>
      <p:sp>
        <p:nvSpPr>
          <p:cNvPr id="726" name="Google Shape;726;p4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27" name="Google Shape;727;p4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Compter une dizaine de minutes. La fonction de la question 6.2 resservira dès la question 7.1 du cas pratique. La question 6.4 (reindex) est facultative.</a:t>
            </a:r>
            <a:endParaRPr/>
          </a:p>
        </p:txBody>
      </p:sp>
      <p:sp>
        <p:nvSpPr>
          <p:cNvPr id="728" name="Google Shape;728;p4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8" name="Shape 738"/>
        <p:cNvGrpSpPr/>
        <p:nvPr/>
      </p:nvGrpSpPr>
      <p:grpSpPr>
        <a:xfrm>
          <a:off x="0" y="0"/>
          <a:ext cx="0" cy="0"/>
          <a:chOff x="0" y="0"/>
          <a:chExt cx="0" cy="0"/>
        </a:xfrm>
      </p:grpSpPr>
      <p:sp>
        <p:nvSpPr>
          <p:cNvPr id="739" name="Google Shape;739;p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40" name="Google Shape;740;p4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Toutes les notions sont vues : on les met dans l'ordre, puis on les applique au fichier des ventes.</a:t>
            </a:r>
            <a:endParaRPr/>
          </a:p>
        </p:txBody>
      </p:sp>
      <p:sp>
        <p:nvSpPr>
          <p:cNvPr id="741" name="Google Shape;741;p4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6" name="Shape 746"/>
        <p:cNvGrpSpPr/>
        <p:nvPr/>
      </p:nvGrpSpPr>
      <p:grpSpPr>
        <a:xfrm>
          <a:off x="0" y="0"/>
          <a:ext cx="0" cy="0"/>
          <a:chOff x="0" y="0"/>
          <a:chExt cx="0" cy="0"/>
        </a:xfrm>
      </p:grpSpPr>
      <p:sp>
        <p:nvSpPr>
          <p:cNvPr id="747" name="Google Shape;747;p4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48" name="Google Shape;748;p4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Le fichier brut ne se modifie jamais sur le disque. La note des choix permet à quelqu'un d'autre de comprendre, et éventuellement de contester, les données obtenues. Cet ordre est celui du cas pratique du TP2.</a:t>
            </a:r>
            <a:endParaRPr/>
          </a:p>
        </p:txBody>
      </p:sp>
      <p:sp>
        <p:nvSpPr>
          <p:cNvPr id="749" name="Google Shape;749;p4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7" name="Shape 797"/>
        <p:cNvGrpSpPr/>
        <p:nvPr/>
      </p:nvGrpSpPr>
      <p:grpSpPr>
        <a:xfrm>
          <a:off x="0" y="0"/>
          <a:ext cx="0" cy="0"/>
          <a:chOff x="0" y="0"/>
          <a:chExt cx="0" cy="0"/>
        </a:xfrm>
      </p:grpSpPr>
      <p:sp>
        <p:nvSpPr>
          <p:cNvPr id="798" name="Google Shape;798;p4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99" name="Google Shape;799;p4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Compter 30 à 35 minutes : c'est le cœur de l'après-midi. Il n'y a pas une seule bonne réponse pour les valeurs aberrantes et manquantes : ce qui compte, c'est que chaque choix soit justifié et noté. Question 7.7 : rappeler cat.add_categories si region est déjà en category.</a:t>
            </a:r>
            <a:endParaRPr/>
          </a:p>
        </p:txBody>
      </p:sp>
      <p:sp>
        <p:nvSpPr>
          <p:cNvPr id="800" name="Google Shape;800;p4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2" name="Shape 812"/>
        <p:cNvGrpSpPr/>
        <p:nvPr/>
      </p:nvGrpSpPr>
      <p:grpSpPr>
        <a:xfrm>
          <a:off x="0" y="0"/>
          <a:ext cx="0" cy="0"/>
          <a:chOff x="0" y="0"/>
          <a:chExt cx="0" cy="0"/>
        </a:xfrm>
      </p:grpSpPr>
      <p:sp>
        <p:nvSpPr>
          <p:cNvPr id="813" name="Google Shape;813;p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14" name="Google Shape;814;p4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Retour sur le format vu ce matin, maintenant qu'on a un jeu de données propre à stocker.</a:t>
            </a:r>
            <a:endParaRPr/>
          </a:p>
        </p:txBody>
      </p:sp>
      <p:sp>
        <p:nvSpPr>
          <p:cNvPr id="815" name="Google Shape;815;p4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0" name="Shape 820"/>
        <p:cNvGrpSpPr/>
        <p:nvPr/>
      </p:nvGrpSpPr>
      <p:grpSpPr>
        <a:xfrm>
          <a:off x="0" y="0"/>
          <a:ext cx="0" cy="0"/>
          <a:chOff x="0" y="0"/>
          <a:chExt cx="0" cy="0"/>
        </a:xfrm>
      </p:grpSpPr>
      <p:sp>
        <p:nvSpPr>
          <p:cNvPr id="821" name="Google Shape;821;p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22" name="Google Shape;822;p5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Parquet est le format standard des outils data modernes : Polars, DuckDB, Spark le lisent nativement.</a:t>
            </a:r>
            <a:endParaRPr/>
          </a:p>
        </p:txBody>
      </p:sp>
      <p:sp>
        <p:nvSpPr>
          <p:cNvPr id="823" name="Google Shape;823;p5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9" name="Shape 849"/>
        <p:cNvGrpSpPr/>
        <p:nvPr/>
      </p:nvGrpSpPr>
      <p:grpSpPr>
        <a:xfrm>
          <a:off x="0" y="0"/>
          <a:ext cx="0" cy="0"/>
          <a:chOff x="0" y="0"/>
          <a:chExt cx="0" cy="0"/>
        </a:xfrm>
      </p:grpSpPr>
      <p:sp>
        <p:nvSpPr>
          <p:cNvPr id="850" name="Google Shape;850;p5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51" name="Google Shape;851;p5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Ce sont les questions 8.1 et 8.2 du TP : laisser les participants découvrir le résultat par eux-mêmes. À la relecture, sans aucune option, le Parquet restitue une date, des catégories et des booléens.</a:t>
            </a:r>
            <a:endParaRPr/>
          </a:p>
        </p:txBody>
      </p:sp>
      <p:sp>
        <p:nvSpPr>
          <p:cNvPr id="852" name="Google Shape;852;p5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4" name="Shape 864"/>
        <p:cNvGrpSpPr/>
        <p:nvPr/>
      </p:nvGrpSpPr>
      <p:grpSpPr>
        <a:xfrm>
          <a:off x="0" y="0"/>
          <a:ext cx="0" cy="0"/>
          <a:chOff x="0" y="0"/>
          <a:chExt cx="0" cy="0"/>
        </a:xfrm>
      </p:grpSpPr>
      <p:sp>
        <p:nvSpPr>
          <p:cNvPr id="865" name="Google Shape;865;p5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66" name="Google Shape;866;p5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Garder le brut permet de refaire tout le nettoyage si on change d'avis sur un choix.</a:t>
            </a:r>
            <a:endParaRPr/>
          </a:p>
        </p:txBody>
      </p:sp>
      <p:sp>
        <p:nvSpPr>
          <p:cNvPr id="867" name="Google Shape;867;p5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2" name="Shape 892"/>
        <p:cNvGrpSpPr/>
        <p:nvPr/>
      </p:nvGrpSpPr>
      <p:grpSpPr>
        <a:xfrm>
          <a:off x="0" y="0"/>
          <a:ext cx="0" cy="0"/>
          <a:chOff x="0" y="0"/>
          <a:chExt cx="0" cy="0"/>
        </a:xfrm>
      </p:grpSpPr>
      <p:sp>
        <p:nvSpPr>
          <p:cNvPr id="893" name="Google Shape;893;p5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94" name="Google Shape;894;p5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Compter une dizaine de minutes. La question 8.3 (comparer les temps de lecture avec %timeit) est facultative. Avant de rendre : ventes_propres.csv et ventes_propres.parquet sont présents, ressources/ventes.csv n'a pas été modifié, les vérifications affichent OK et le notebook s'exécute de haut en bas.</a:t>
            </a:r>
            <a:endParaRPr/>
          </a:p>
        </p:txBody>
      </p:sp>
      <p:sp>
        <p:nvSpPr>
          <p:cNvPr id="895" name="Google Shape;895;p5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5" name="Shape 905"/>
        <p:cNvGrpSpPr/>
        <p:nvPr/>
      </p:nvGrpSpPr>
      <p:grpSpPr>
        <a:xfrm>
          <a:off x="0" y="0"/>
          <a:ext cx="0" cy="0"/>
          <a:chOff x="0" y="0"/>
          <a:chExt cx="0" cy="0"/>
        </a:xfrm>
      </p:grpSpPr>
      <p:sp>
        <p:nvSpPr>
          <p:cNvPr id="906" name="Google Shape;906;p5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07" name="Google Shape;907;p5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Il n'y a pas une seule bonne réponse pour les valeurs aberrantes et manquantes : ce qui compte, c'est que chaque choix soit justifié et noté. Le jeu de données propre servira demain matin.</a:t>
            </a:r>
            <a:endParaRPr/>
          </a:p>
        </p:txBody>
      </p:sp>
      <p:sp>
        <p:nvSpPr>
          <p:cNvPr id="908" name="Google Shape;908;p5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3" name="Shape 933"/>
        <p:cNvGrpSpPr/>
        <p:nvPr/>
      </p:nvGrpSpPr>
      <p:grpSpPr>
        <a:xfrm>
          <a:off x="0" y="0"/>
          <a:ext cx="0" cy="0"/>
          <a:chOff x="0" y="0"/>
          <a:chExt cx="0" cy="0"/>
        </a:xfrm>
      </p:grpSpPr>
      <p:sp>
        <p:nvSpPr>
          <p:cNvPr id="934" name="Google Shape;934;p5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5" name="Google Shape;935;p5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Demain matin : agréger, combiner plusieurs sources et manipuler les dates, à partir du jeu de données nettoyé.</a:t>
            </a:r>
            <a:endParaRPr/>
          </a:p>
        </p:txBody>
      </p:sp>
      <p:sp>
        <p:nvSpPr>
          <p:cNvPr id="936" name="Google Shape;936;p5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1" name="Shape 11"/>
        <p:cNvGrpSpPr/>
        <p:nvPr/>
      </p:nvGrpSpPr>
      <p:grpSpPr>
        <a:xfrm>
          <a:off x="0" y="0"/>
          <a:ext cx="0" cy="0"/>
          <a:chOff x="0" y="0"/>
          <a:chExt cx="0" cy="0"/>
        </a:xfrm>
      </p:grpSpPr>
      <p:sp>
        <p:nvSpPr>
          <p:cNvPr id="12" name="Google Shape;12;p57"/>
          <p:cNvSpPr txBox="1"/>
          <p:nvPr>
            <p:ph idx="12" type="sldNum"/>
          </p:nvPr>
        </p:nvSpPr>
        <p:spPr>
          <a:xfrm>
            <a:off x="11094415" y="6400800"/>
            <a:ext cx="548640" cy="274320"/>
          </a:xfrm>
          <a:prstGeom prst="rect">
            <a:avLst/>
          </a:prstGeom>
          <a:noFill/>
          <a:ln>
            <a:noFill/>
          </a:ln>
        </p:spPr>
        <p:txBody>
          <a:bodyPr anchorCtr="0" anchor="t" bIns="45700" lIns="91425" spcFirstLastPara="1" rIns="91425" wrap="square" tIns="45700">
            <a:noAutofit/>
          </a:bodyPr>
          <a:lstStyle>
            <a:lvl1pPr indent="0" lvl="0" marL="0" marR="0" algn="r">
              <a:spcBef>
                <a:spcPts val="0"/>
              </a:spcBef>
              <a:buNone/>
              <a:defRPr b="0" i="0" sz="1000" u="none" cap="none" strike="noStrike">
                <a:solidFill>
                  <a:srgbClr val="6B7280"/>
                </a:solidFill>
                <a:latin typeface="Calibri"/>
                <a:ea typeface="Calibri"/>
                <a:cs typeface="Calibri"/>
                <a:sym typeface="Calibri"/>
              </a:defRPr>
            </a:lvl1pPr>
            <a:lvl2pPr indent="0" lvl="1" marL="0" marR="0" algn="r">
              <a:spcBef>
                <a:spcPts val="0"/>
              </a:spcBef>
              <a:buNone/>
              <a:defRPr b="0" i="0" sz="1000" u="none" cap="none" strike="noStrike">
                <a:solidFill>
                  <a:srgbClr val="6B7280"/>
                </a:solidFill>
                <a:latin typeface="Calibri"/>
                <a:ea typeface="Calibri"/>
                <a:cs typeface="Calibri"/>
                <a:sym typeface="Calibri"/>
              </a:defRPr>
            </a:lvl2pPr>
            <a:lvl3pPr indent="0" lvl="2" marL="0" marR="0" algn="r">
              <a:spcBef>
                <a:spcPts val="0"/>
              </a:spcBef>
              <a:buNone/>
              <a:defRPr b="0" i="0" sz="1000" u="none" cap="none" strike="noStrike">
                <a:solidFill>
                  <a:srgbClr val="6B7280"/>
                </a:solidFill>
                <a:latin typeface="Calibri"/>
                <a:ea typeface="Calibri"/>
                <a:cs typeface="Calibri"/>
                <a:sym typeface="Calibri"/>
              </a:defRPr>
            </a:lvl3pPr>
            <a:lvl4pPr indent="0" lvl="3" marL="0" marR="0" algn="r">
              <a:spcBef>
                <a:spcPts val="0"/>
              </a:spcBef>
              <a:buNone/>
              <a:defRPr b="0" i="0" sz="1000" u="none" cap="none" strike="noStrike">
                <a:solidFill>
                  <a:srgbClr val="6B7280"/>
                </a:solidFill>
                <a:latin typeface="Calibri"/>
                <a:ea typeface="Calibri"/>
                <a:cs typeface="Calibri"/>
                <a:sym typeface="Calibri"/>
              </a:defRPr>
            </a:lvl4pPr>
            <a:lvl5pPr indent="0" lvl="4" marL="0" marR="0" algn="r">
              <a:spcBef>
                <a:spcPts val="0"/>
              </a:spcBef>
              <a:buNone/>
              <a:defRPr b="0" i="0" sz="1000" u="none" cap="none" strike="noStrike">
                <a:solidFill>
                  <a:srgbClr val="6B7280"/>
                </a:solidFill>
                <a:latin typeface="Calibri"/>
                <a:ea typeface="Calibri"/>
                <a:cs typeface="Calibri"/>
                <a:sym typeface="Calibri"/>
              </a:defRPr>
            </a:lvl5pPr>
            <a:lvl6pPr indent="0" lvl="5" marL="0" marR="0" algn="r">
              <a:spcBef>
                <a:spcPts val="0"/>
              </a:spcBef>
              <a:buNone/>
              <a:defRPr b="0" i="0" sz="1000" u="none" cap="none" strike="noStrike">
                <a:solidFill>
                  <a:srgbClr val="6B7280"/>
                </a:solidFill>
                <a:latin typeface="Calibri"/>
                <a:ea typeface="Calibri"/>
                <a:cs typeface="Calibri"/>
                <a:sym typeface="Calibri"/>
              </a:defRPr>
            </a:lvl6pPr>
            <a:lvl7pPr indent="0" lvl="6" marL="0" marR="0" algn="r">
              <a:spcBef>
                <a:spcPts val="0"/>
              </a:spcBef>
              <a:buNone/>
              <a:defRPr b="0" i="0" sz="1000" u="none" cap="none" strike="noStrike">
                <a:solidFill>
                  <a:srgbClr val="6B7280"/>
                </a:solidFill>
                <a:latin typeface="Calibri"/>
                <a:ea typeface="Calibri"/>
                <a:cs typeface="Calibri"/>
                <a:sym typeface="Calibri"/>
              </a:defRPr>
            </a:lvl7pPr>
            <a:lvl8pPr indent="0" lvl="7" marL="0" marR="0" algn="r">
              <a:spcBef>
                <a:spcPts val="0"/>
              </a:spcBef>
              <a:buNone/>
              <a:defRPr b="0" i="0" sz="1000" u="none" cap="none" strike="noStrike">
                <a:solidFill>
                  <a:srgbClr val="6B7280"/>
                </a:solidFill>
                <a:latin typeface="Calibri"/>
                <a:ea typeface="Calibri"/>
                <a:cs typeface="Calibri"/>
                <a:sym typeface="Calibri"/>
              </a:defRPr>
            </a:lvl8pPr>
            <a:lvl9pPr indent="0" lvl="8" marL="0" marR="0" algn="r">
              <a:spcBef>
                <a:spcPts val="0"/>
              </a:spcBef>
              <a:buNone/>
              <a:defRPr b="0" i="0" sz="1000" u="none" cap="none" strike="noStrike">
                <a:solidFill>
                  <a:srgbClr val="6B7280"/>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
        <p:nvSpPr>
          <p:cNvPr id="10" name="Google Shape;10;p56"/>
          <p:cNvSpPr txBox="1"/>
          <p:nvPr>
            <p:ph idx="12" type="sldNum"/>
          </p:nvPr>
        </p:nvSpPr>
        <p:spPr>
          <a:xfrm>
            <a:off x="11094415" y="6400800"/>
            <a:ext cx="548640" cy="274320"/>
          </a:xfrm>
          <a:prstGeom prst="rect">
            <a:avLst/>
          </a:prstGeom>
          <a:noFill/>
          <a:ln>
            <a:noFill/>
          </a:ln>
        </p:spPr>
        <p:txBody>
          <a:bodyPr anchorCtr="0" anchor="t" bIns="45700" lIns="91425" spcFirstLastPara="1" rIns="91425" wrap="square" tIns="45700">
            <a:noAutofit/>
          </a:bodyPr>
          <a:lstStyle>
            <a:lvl1pPr indent="0" lvl="0" marL="0" marR="0" rtl="0" algn="r">
              <a:spcBef>
                <a:spcPts val="0"/>
              </a:spcBef>
              <a:buNone/>
              <a:defRPr b="0" i="0" sz="1000" u="none" cap="none" strike="noStrike">
                <a:solidFill>
                  <a:srgbClr val="6B7280"/>
                </a:solidFill>
                <a:latin typeface="Calibri"/>
                <a:ea typeface="Calibri"/>
                <a:cs typeface="Calibri"/>
                <a:sym typeface="Calibri"/>
              </a:defRPr>
            </a:lvl1pPr>
            <a:lvl2pPr indent="0" lvl="1" marL="0" marR="0" rtl="0" algn="r">
              <a:spcBef>
                <a:spcPts val="0"/>
              </a:spcBef>
              <a:buNone/>
              <a:defRPr b="0" i="0" sz="1000" u="none" cap="none" strike="noStrike">
                <a:solidFill>
                  <a:srgbClr val="6B7280"/>
                </a:solidFill>
                <a:latin typeface="Calibri"/>
                <a:ea typeface="Calibri"/>
                <a:cs typeface="Calibri"/>
                <a:sym typeface="Calibri"/>
              </a:defRPr>
            </a:lvl2pPr>
            <a:lvl3pPr indent="0" lvl="2" marL="0" marR="0" rtl="0" algn="r">
              <a:spcBef>
                <a:spcPts val="0"/>
              </a:spcBef>
              <a:buNone/>
              <a:defRPr b="0" i="0" sz="1000" u="none" cap="none" strike="noStrike">
                <a:solidFill>
                  <a:srgbClr val="6B7280"/>
                </a:solidFill>
                <a:latin typeface="Calibri"/>
                <a:ea typeface="Calibri"/>
                <a:cs typeface="Calibri"/>
                <a:sym typeface="Calibri"/>
              </a:defRPr>
            </a:lvl3pPr>
            <a:lvl4pPr indent="0" lvl="3" marL="0" marR="0" rtl="0" algn="r">
              <a:spcBef>
                <a:spcPts val="0"/>
              </a:spcBef>
              <a:buNone/>
              <a:defRPr b="0" i="0" sz="1000" u="none" cap="none" strike="noStrike">
                <a:solidFill>
                  <a:srgbClr val="6B7280"/>
                </a:solidFill>
                <a:latin typeface="Calibri"/>
                <a:ea typeface="Calibri"/>
                <a:cs typeface="Calibri"/>
                <a:sym typeface="Calibri"/>
              </a:defRPr>
            </a:lvl4pPr>
            <a:lvl5pPr indent="0" lvl="4" marL="0" marR="0" rtl="0" algn="r">
              <a:spcBef>
                <a:spcPts val="0"/>
              </a:spcBef>
              <a:buNone/>
              <a:defRPr b="0" i="0" sz="1000" u="none" cap="none" strike="noStrike">
                <a:solidFill>
                  <a:srgbClr val="6B7280"/>
                </a:solidFill>
                <a:latin typeface="Calibri"/>
                <a:ea typeface="Calibri"/>
                <a:cs typeface="Calibri"/>
                <a:sym typeface="Calibri"/>
              </a:defRPr>
            </a:lvl5pPr>
            <a:lvl6pPr indent="0" lvl="5" marL="0" marR="0" rtl="0" algn="r">
              <a:spcBef>
                <a:spcPts val="0"/>
              </a:spcBef>
              <a:buNone/>
              <a:defRPr b="0" i="0" sz="1000" u="none" cap="none" strike="noStrike">
                <a:solidFill>
                  <a:srgbClr val="6B7280"/>
                </a:solidFill>
                <a:latin typeface="Calibri"/>
                <a:ea typeface="Calibri"/>
                <a:cs typeface="Calibri"/>
                <a:sym typeface="Calibri"/>
              </a:defRPr>
            </a:lvl6pPr>
            <a:lvl7pPr indent="0" lvl="6" marL="0" marR="0" rtl="0" algn="r">
              <a:spcBef>
                <a:spcPts val="0"/>
              </a:spcBef>
              <a:buNone/>
              <a:defRPr b="0" i="0" sz="1000" u="none" cap="none" strike="noStrike">
                <a:solidFill>
                  <a:srgbClr val="6B7280"/>
                </a:solidFill>
                <a:latin typeface="Calibri"/>
                <a:ea typeface="Calibri"/>
                <a:cs typeface="Calibri"/>
                <a:sym typeface="Calibri"/>
              </a:defRPr>
            </a:lvl7pPr>
            <a:lvl8pPr indent="0" lvl="7" marL="0" marR="0" rtl="0" algn="r">
              <a:spcBef>
                <a:spcPts val="0"/>
              </a:spcBef>
              <a:buNone/>
              <a:defRPr b="0" i="0" sz="1000" u="none" cap="none" strike="noStrike">
                <a:solidFill>
                  <a:srgbClr val="6B7280"/>
                </a:solidFill>
                <a:latin typeface="Calibri"/>
                <a:ea typeface="Calibri"/>
                <a:cs typeface="Calibri"/>
                <a:sym typeface="Calibri"/>
              </a:defRPr>
            </a:lvl8pPr>
            <a:lvl9pPr indent="0" lvl="8" marL="0" marR="0" rtl="0" algn="r">
              <a:spcBef>
                <a:spcPts val="0"/>
              </a:spcBef>
              <a:buNone/>
              <a:defRPr b="0" i="0" sz="1000" u="none" cap="none" strike="noStrike">
                <a:solidFill>
                  <a:srgbClr val="6B7280"/>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9"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F3A5F"/>
        </a:solidFill>
      </p:bgPr>
    </p:bg>
    <p:spTree>
      <p:nvGrpSpPr>
        <p:cNvPr id="17" name="Shape 17"/>
        <p:cNvGrpSpPr/>
        <p:nvPr/>
      </p:nvGrpSpPr>
      <p:grpSpPr>
        <a:xfrm>
          <a:off x="0" y="0"/>
          <a:ext cx="0" cy="0"/>
          <a:chOff x="0" y="0"/>
          <a:chExt cx="0" cy="0"/>
        </a:xfrm>
      </p:grpSpPr>
      <p:sp>
        <p:nvSpPr>
          <p:cNvPr id="18" name="Google Shape;18;p1"/>
          <p:cNvSpPr txBox="1"/>
          <p:nvPr/>
        </p:nvSpPr>
        <p:spPr>
          <a:xfrm>
            <a:off x="731520" y="1737360"/>
            <a:ext cx="91440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FD1B5"/>
              </a:buClr>
              <a:buSzPts val="1400"/>
              <a:buFont typeface="Calibri"/>
              <a:buNone/>
            </a:pPr>
            <a:r>
              <a:rPr b="1" i="0" lang="en-US" sz="1400" u="none" cap="none" strike="noStrike">
                <a:solidFill>
                  <a:srgbClr val="8FD1B5"/>
                </a:solidFill>
                <a:latin typeface="Calibri"/>
                <a:ea typeface="Calibri"/>
                <a:cs typeface="Calibri"/>
                <a:sym typeface="Calibri"/>
              </a:rPr>
              <a:t>FORMATION</a:t>
            </a:r>
            <a:endParaRPr b="0" i="0" sz="1400" u="none" cap="none" strike="noStrike">
              <a:solidFill>
                <a:schemeClr val="dk1"/>
              </a:solidFill>
              <a:latin typeface="Calibri"/>
              <a:ea typeface="Calibri"/>
              <a:cs typeface="Calibri"/>
              <a:sym typeface="Calibri"/>
            </a:endParaRPr>
          </a:p>
        </p:txBody>
      </p:sp>
      <p:sp>
        <p:nvSpPr>
          <p:cNvPr id="19" name="Google Shape;19;p1"/>
          <p:cNvSpPr txBox="1"/>
          <p:nvPr/>
        </p:nvSpPr>
        <p:spPr>
          <a:xfrm>
            <a:off x="731520" y="2148840"/>
            <a:ext cx="10515600" cy="10972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FFFFFF"/>
              </a:buClr>
              <a:buSzPts val="4600"/>
              <a:buFont typeface="Cambria"/>
              <a:buNone/>
            </a:pPr>
            <a:r>
              <a:rPr b="1" i="0" lang="en-US" sz="4600" u="none" cap="none" strike="noStrike">
                <a:solidFill>
                  <a:srgbClr val="FFFFFF"/>
                </a:solidFill>
                <a:latin typeface="Cambria"/>
                <a:ea typeface="Cambria"/>
                <a:cs typeface="Cambria"/>
                <a:sym typeface="Cambria"/>
              </a:rPr>
              <a:t>Analyse de données avec Python</a:t>
            </a:r>
            <a:endParaRPr b="0" i="0" sz="4600" u="none" cap="none" strike="noStrike">
              <a:solidFill>
                <a:schemeClr val="dk1"/>
              </a:solidFill>
              <a:latin typeface="Calibri"/>
              <a:ea typeface="Calibri"/>
              <a:cs typeface="Calibri"/>
              <a:sym typeface="Calibri"/>
            </a:endParaRPr>
          </a:p>
        </p:txBody>
      </p:sp>
      <p:sp>
        <p:nvSpPr>
          <p:cNvPr id="20" name="Google Shape;20;p1"/>
          <p:cNvSpPr txBox="1"/>
          <p:nvPr/>
        </p:nvSpPr>
        <p:spPr>
          <a:xfrm>
            <a:off x="731520" y="3337560"/>
            <a:ext cx="10058400" cy="914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C9D6E3"/>
              </a:buClr>
              <a:buSzPts val="2200"/>
              <a:buFont typeface="Calibri"/>
              <a:buNone/>
            </a:pPr>
            <a:r>
              <a:rPr b="0" i="0" lang="en-US" sz="2200" u="none" cap="none" strike="noStrike">
                <a:solidFill>
                  <a:srgbClr val="C9D6E3"/>
                </a:solidFill>
                <a:latin typeface="Calibri"/>
                <a:ea typeface="Calibri"/>
                <a:cs typeface="Calibri"/>
                <a:sym typeface="Calibri"/>
              </a:rPr>
              <a:t>Jour 1, après-midi</a:t>
            </a:r>
            <a:endParaRPr b="0" i="0" sz="22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C9D6E3"/>
              </a:buClr>
              <a:buSzPts val="2200"/>
              <a:buFont typeface="Calibri"/>
              <a:buNone/>
            </a:pPr>
            <a:r>
              <a:rPr b="0" i="0" lang="en-US" sz="2200" u="none" cap="none" strike="noStrike">
                <a:solidFill>
                  <a:srgbClr val="C9D6E3"/>
                </a:solidFill>
                <a:latin typeface="Calibri"/>
                <a:ea typeface="Calibri"/>
                <a:cs typeface="Calibri"/>
                <a:sym typeface="Calibri"/>
              </a:rPr>
              <a:t>Sélection, transformation et nettoyage de données</a:t>
            </a:r>
            <a:endParaRPr b="0" i="0" sz="2200" u="none" cap="none" strike="noStrike">
              <a:solidFill>
                <a:schemeClr val="dk1"/>
              </a:solidFill>
              <a:latin typeface="Calibri"/>
              <a:ea typeface="Calibri"/>
              <a:cs typeface="Calibri"/>
              <a:sym typeface="Calibri"/>
            </a:endParaRPr>
          </a:p>
        </p:txBody>
      </p:sp>
      <p:sp>
        <p:nvSpPr>
          <p:cNvPr id="21" name="Google Shape;21;p1"/>
          <p:cNvSpPr txBox="1"/>
          <p:nvPr/>
        </p:nvSpPr>
        <p:spPr>
          <a:xfrm>
            <a:off x="731520" y="5669280"/>
            <a:ext cx="100584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9D6E3"/>
              </a:buClr>
              <a:buSzPts val="1400"/>
              <a:buFont typeface="Calibri"/>
              <a:buNone/>
            </a:pPr>
            <a:r>
              <a:rPr b="0" i="0" lang="en-US" sz="1400" u="none" cap="none" strike="noStrike">
                <a:solidFill>
                  <a:srgbClr val="C9D6E3"/>
                </a:solidFill>
                <a:latin typeface="Calibri"/>
                <a:ea typeface="Calibri"/>
                <a:cs typeface="Calibri"/>
                <a:sym typeface="Calibri"/>
              </a:rPr>
              <a:t>Cours et TP2 sur le jeu de données des ventes</a:t>
            </a:r>
            <a:endParaRPr b="0" i="0" sz="1400" u="none" cap="none" strike="noStrike">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 name="Shape 26"/>
        <p:cNvGrpSpPr/>
        <p:nvPr/>
      </p:nvGrpSpPr>
      <p:grpSpPr>
        <a:xfrm>
          <a:off x="0" y="0"/>
          <a:ext cx="0" cy="0"/>
          <a:chOff x="0" y="0"/>
          <a:chExt cx="0" cy="0"/>
        </a:xfrm>
      </p:grpSpPr>
      <p:sp>
        <p:nvSpPr>
          <p:cNvPr id="27" name="Google Shape;27;p2"/>
          <p:cNvSpPr txBox="1"/>
          <p:nvPr/>
        </p:nvSpPr>
        <p:spPr>
          <a:xfrm>
            <a:off x="548640" y="457200"/>
            <a:ext cx="11094415" cy="6949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F3A5F"/>
              </a:buClr>
              <a:buSzPts val="3000"/>
              <a:buFont typeface="Cambria"/>
              <a:buNone/>
            </a:pPr>
            <a:r>
              <a:rPr b="1" i="0" lang="en-US" sz="3000" u="none" cap="none" strike="noStrike">
                <a:solidFill>
                  <a:srgbClr val="1F3A5F"/>
                </a:solidFill>
                <a:latin typeface="Cambria"/>
                <a:ea typeface="Cambria"/>
                <a:cs typeface="Cambria"/>
                <a:sym typeface="Cambria"/>
              </a:rPr>
              <a:t>Le déroulé de l'après-midi</a:t>
            </a:r>
            <a:endParaRPr b="0" i="0" sz="3000" u="none" cap="none" strike="noStrike">
              <a:solidFill>
                <a:schemeClr val="dk1"/>
              </a:solidFill>
              <a:latin typeface="Calibri"/>
              <a:ea typeface="Calibri"/>
              <a:cs typeface="Calibri"/>
              <a:sym typeface="Calibri"/>
            </a:endParaRPr>
          </a:p>
        </p:txBody>
      </p:sp>
      <p:cxnSp>
        <p:nvCxnSpPr>
          <p:cNvPr id="28" name="Google Shape;28;p2"/>
          <p:cNvCxnSpPr/>
          <p:nvPr/>
        </p:nvCxnSpPr>
        <p:spPr>
          <a:xfrm>
            <a:off x="1164996" y="2057400"/>
            <a:ext cx="9861702" cy="0"/>
          </a:xfrm>
          <a:prstGeom prst="straightConnector1">
            <a:avLst/>
          </a:prstGeom>
          <a:noFill/>
          <a:ln cap="flat" cmpd="sng" w="25400">
            <a:solidFill>
              <a:srgbClr val="D5DCE3"/>
            </a:solidFill>
            <a:prstDash val="solid"/>
            <a:round/>
            <a:headEnd len="sm" w="sm" type="none"/>
            <a:tailEnd len="sm" w="sm" type="none"/>
          </a:ln>
        </p:spPr>
      </p:cxnSp>
      <p:sp>
        <p:nvSpPr>
          <p:cNvPr id="29" name="Google Shape;29;p2"/>
          <p:cNvSpPr/>
          <p:nvPr/>
        </p:nvSpPr>
        <p:spPr>
          <a:xfrm>
            <a:off x="936396" y="1828800"/>
            <a:ext cx="457200" cy="457200"/>
          </a:xfrm>
          <a:prstGeom prst="ellipse">
            <a:avLst/>
          </a:prstGeom>
          <a:solidFill>
            <a:srgbClr val="2F7D6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 name="Google Shape;30;p2"/>
          <p:cNvSpPr txBox="1"/>
          <p:nvPr/>
        </p:nvSpPr>
        <p:spPr>
          <a:xfrm>
            <a:off x="936396" y="1828800"/>
            <a:ext cx="4572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1</a:t>
            </a:r>
            <a:endParaRPr b="0" i="0" sz="1500" u="none" cap="none" strike="noStrike">
              <a:solidFill>
                <a:schemeClr val="dk1"/>
              </a:solidFill>
              <a:latin typeface="Calibri"/>
              <a:ea typeface="Calibri"/>
              <a:cs typeface="Calibri"/>
              <a:sym typeface="Calibri"/>
            </a:endParaRPr>
          </a:p>
        </p:txBody>
      </p:sp>
      <p:sp>
        <p:nvSpPr>
          <p:cNvPr id="31" name="Google Shape;31;p2"/>
          <p:cNvSpPr txBox="1"/>
          <p:nvPr/>
        </p:nvSpPr>
        <p:spPr>
          <a:xfrm>
            <a:off x="594360" y="2423160"/>
            <a:ext cx="1141273" cy="50292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1F3A5F"/>
              </a:buClr>
              <a:buSzPts val="1500"/>
              <a:buFont typeface="Calibri"/>
              <a:buNone/>
            </a:pPr>
            <a:r>
              <a:rPr b="1" i="0" lang="en-US" sz="1500" u="none" cap="none" strike="noStrike">
                <a:solidFill>
                  <a:srgbClr val="1F3A5F"/>
                </a:solidFill>
                <a:latin typeface="Calibri"/>
                <a:ea typeface="Calibri"/>
                <a:cs typeface="Calibri"/>
                <a:sym typeface="Calibri"/>
              </a:rPr>
              <a:t>Sélection</a:t>
            </a:r>
            <a:endParaRPr b="0" i="0" sz="1500" u="none" cap="none" strike="noStrike">
              <a:solidFill>
                <a:schemeClr val="dk1"/>
              </a:solidFill>
              <a:latin typeface="Calibri"/>
              <a:ea typeface="Calibri"/>
              <a:cs typeface="Calibri"/>
              <a:sym typeface="Calibri"/>
            </a:endParaRPr>
          </a:p>
        </p:txBody>
      </p:sp>
      <p:sp>
        <p:nvSpPr>
          <p:cNvPr id="32" name="Google Shape;32;p2"/>
          <p:cNvSpPr txBox="1"/>
          <p:nvPr/>
        </p:nvSpPr>
        <p:spPr>
          <a:xfrm>
            <a:off x="594360" y="2926080"/>
            <a:ext cx="1141273" cy="6858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6B7280"/>
              </a:buClr>
              <a:buSzPts val="1300"/>
              <a:buFont typeface="Calibri"/>
              <a:buNone/>
            </a:pPr>
            <a:r>
              <a:rPr b="0" i="0" lang="en-US" sz="1300" u="none" cap="none" strike="noStrike">
                <a:solidFill>
                  <a:srgbClr val="6B7280"/>
                </a:solidFill>
                <a:latin typeface="Calibri"/>
                <a:ea typeface="Calibri"/>
                <a:cs typeface="Calibri"/>
                <a:sym typeface="Calibri"/>
              </a:rPr>
              <a:t>TP2 partie 1</a:t>
            </a:r>
            <a:endParaRPr b="0" i="0" sz="1300" u="none" cap="none" strike="noStrike">
              <a:solidFill>
                <a:schemeClr val="dk1"/>
              </a:solidFill>
              <a:latin typeface="Calibri"/>
              <a:ea typeface="Calibri"/>
              <a:cs typeface="Calibri"/>
              <a:sym typeface="Calibri"/>
            </a:endParaRPr>
          </a:p>
        </p:txBody>
      </p:sp>
      <p:sp>
        <p:nvSpPr>
          <p:cNvPr id="33" name="Google Shape;33;p2"/>
          <p:cNvSpPr/>
          <p:nvPr/>
        </p:nvSpPr>
        <p:spPr>
          <a:xfrm>
            <a:off x="2169109" y="1828800"/>
            <a:ext cx="457200" cy="457200"/>
          </a:xfrm>
          <a:prstGeom prst="ellipse">
            <a:avLst/>
          </a:prstGeom>
          <a:solidFill>
            <a:srgbClr val="2F7D6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 name="Google Shape;34;p2"/>
          <p:cNvSpPr txBox="1"/>
          <p:nvPr/>
        </p:nvSpPr>
        <p:spPr>
          <a:xfrm>
            <a:off x="2169109" y="1828800"/>
            <a:ext cx="4572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2</a:t>
            </a:r>
            <a:endParaRPr b="0" i="0" sz="1500" u="none" cap="none" strike="noStrike">
              <a:solidFill>
                <a:schemeClr val="dk1"/>
              </a:solidFill>
              <a:latin typeface="Calibri"/>
              <a:ea typeface="Calibri"/>
              <a:cs typeface="Calibri"/>
              <a:sym typeface="Calibri"/>
            </a:endParaRPr>
          </a:p>
        </p:txBody>
      </p:sp>
      <p:sp>
        <p:nvSpPr>
          <p:cNvPr id="35" name="Google Shape;35;p2"/>
          <p:cNvSpPr txBox="1"/>
          <p:nvPr/>
        </p:nvSpPr>
        <p:spPr>
          <a:xfrm>
            <a:off x="1827073" y="2423160"/>
            <a:ext cx="1141273" cy="50292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1F3A5F"/>
              </a:buClr>
              <a:buSzPts val="1500"/>
              <a:buFont typeface="Calibri"/>
              <a:buNone/>
            </a:pPr>
            <a:r>
              <a:rPr b="1" i="0" lang="en-US" sz="1500" u="none" cap="none" strike="noStrike">
                <a:solidFill>
                  <a:srgbClr val="1F3A5F"/>
                </a:solidFill>
                <a:latin typeface="Calibri"/>
                <a:ea typeface="Calibri"/>
                <a:cs typeface="Calibri"/>
                <a:sym typeface="Calibri"/>
              </a:rPr>
              <a:t>Transformer</a:t>
            </a:r>
            <a:endParaRPr b="0" i="0" sz="1500" u="none" cap="none" strike="noStrike">
              <a:solidFill>
                <a:schemeClr val="dk1"/>
              </a:solidFill>
              <a:latin typeface="Calibri"/>
              <a:ea typeface="Calibri"/>
              <a:cs typeface="Calibri"/>
              <a:sym typeface="Calibri"/>
            </a:endParaRPr>
          </a:p>
        </p:txBody>
      </p:sp>
      <p:sp>
        <p:nvSpPr>
          <p:cNvPr id="36" name="Google Shape;36;p2"/>
          <p:cNvSpPr txBox="1"/>
          <p:nvPr/>
        </p:nvSpPr>
        <p:spPr>
          <a:xfrm>
            <a:off x="1827073" y="2926080"/>
            <a:ext cx="1141273" cy="6858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6B7280"/>
              </a:buClr>
              <a:buSzPts val="1300"/>
              <a:buFont typeface="Calibri"/>
              <a:buNone/>
            </a:pPr>
            <a:r>
              <a:rPr b="0" i="0" lang="en-US" sz="1300" u="none" cap="none" strike="noStrike">
                <a:solidFill>
                  <a:srgbClr val="6B7280"/>
                </a:solidFill>
                <a:latin typeface="Calibri"/>
                <a:ea typeface="Calibri"/>
                <a:cs typeface="Calibri"/>
                <a:sym typeface="Calibri"/>
              </a:rPr>
              <a:t>TP2 partie 2</a:t>
            </a:r>
            <a:endParaRPr b="0" i="0" sz="1300" u="none" cap="none" strike="noStrike">
              <a:solidFill>
                <a:schemeClr val="dk1"/>
              </a:solidFill>
              <a:latin typeface="Calibri"/>
              <a:ea typeface="Calibri"/>
              <a:cs typeface="Calibri"/>
              <a:sym typeface="Calibri"/>
            </a:endParaRPr>
          </a:p>
        </p:txBody>
      </p:sp>
      <p:sp>
        <p:nvSpPr>
          <p:cNvPr id="37" name="Google Shape;37;p2"/>
          <p:cNvSpPr/>
          <p:nvPr/>
        </p:nvSpPr>
        <p:spPr>
          <a:xfrm>
            <a:off x="3401822" y="1828800"/>
            <a:ext cx="457200" cy="457200"/>
          </a:xfrm>
          <a:prstGeom prst="ellipse">
            <a:avLst/>
          </a:prstGeom>
          <a:solidFill>
            <a:srgbClr val="2F7D6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 name="Google Shape;38;p2"/>
          <p:cNvSpPr txBox="1"/>
          <p:nvPr/>
        </p:nvSpPr>
        <p:spPr>
          <a:xfrm>
            <a:off x="3401822" y="1828800"/>
            <a:ext cx="4572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3</a:t>
            </a:r>
            <a:endParaRPr b="0" i="0" sz="1500" u="none" cap="none" strike="noStrike">
              <a:solidFill>
                <a:schemeClr val="dk1"/>
              </a:solidFill>
              <a:latin typeface="Calibri"/>
              <a:ea typeface="Calibri"/>
              <a:cs typeface="Calibri"/>
              <a:sym typeface="Calibri"/>
            </a:endParaRPr>
          </a:p>
        </p:txBody>
      </p:sp>
      <p:sp>
        <p:nvSpPr>
          <p:cNvPr id="39" name="Google Shape;39;p2"/>
          <p:cNvSpPr txBox="1"/>
          <p:nvPr/>
        </p:nvSpPr>
        <p:spPr>
          <a:xfrm>
            <a:off x="3059786" y="2423160"/>
            <a:ext cx="1141273" cy="50292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1F3A5F"/>
              </a:buClr>
              <a:buSzPts val="1500"/>
              <a:buFont typeface="Calibri"/>
              <a:buNone/>
            </a:pPr>
            <a:r>
              <a:rPr b="1" i="0" lang="en-US" sz="1500" u="none" cap="none" strike="noStrike">
                <a:solidFill>
                  <a:srgbClr val="1F3A5F"/>
                </a:solidFill>
                <a:latin typeface="Calibri"/>
                <a:ea typeface="Calibri"/>
                <a:cs typeface="Calibri"/>
                <a:sym typeface="Calibri"/>
              </a:rPr>
              <a:t>Texte</a:t>
            </a:r>
            <a:endParaRPr b="0" i="0" sz="1500" u="none" cap="none" strike="noStrike">
              <a:solidFill>
                <a:schemeClr val="dk1"/>
              </a:solidFill>
              <a:latin typeface="Calibri"/>
              <a:ea typeface="Calibri"/>
              <a:cs typeface="Calibri"/>
              <a:sym typeface="Calibri"/>
            </a:endParaRPr>
          </a:p>
        </p:txBody>
      </p:sp>
      <p:sp>
        <p:nvSpPr>
          <p:cNvPr id="40" name="Google Shape;40;p2"/>
          <p:cNvSpPr txBox="1"/>
          <p:nvPr/>
        </p:nvSpPr>
        <p:spPr>
          <a:xfrm>
            <a:off x="3059786" y="2926080"/>
            <a:ext cx="1141273" cy="6858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6B7280"/>
              </a:buClr>
              <a:buSzPts val="1300"/>
              <a:buFont typeface="Calibri"/>
              <a:buNone/>
            </a:pPr>
            <a:r>
              <a:rPr b="0" i="0" lang="en-US" sz="1300" u="none" cap="none" strike="noStrike">
                <a:solidFill>
                  <a:srgbClr val="6B7280"/>
                </a:solidFill>
                <a:latin typeface="Calibri"/>
                <a:ea typeface="Calibri"/>
                <a:cs typeface="Calibri"/>
                <a:sym typeface="Calibri"/>
              </a:rPr>
              <a:t>TP2 partie 3</a:t>
            </a:r>
            <a:endParaRPr b="0" i="0" sz="1300" u="none" cap="none" strike="noStrike">
              <a:solidFill>
                <a:schemeClr val="dk1"/>
              </a:solidFill>
              <a:latin typeface="Calibri"/>
              <a:ea typeface="Calibri"/>
              <a:cs typeface="Calibri"/>
              <a:sym typeface="Calibri"/>
            </a:endParaRPr>
          </a:p>
        </p:txBody>
      </p:sp>
      <p:sp>
        <p:nvSpPr>
          <p:cNvPr id="41" name="Google Shape;41;p2"/>
          <p:cNvSpPr/>
          <p:nvPr/>
        </p:nvSpPr>
        <p:spPr>
          <a:xfrm>
            <a:off x="4634535" y="1828800"/>
            <a:ext cx="457200" cy="457200"/>
          </a:xfrm>
          <a:prstGeom prst="ellipse">
            <a:avLst/>
          </a:prstGeom>
          <a:solidFill>
            <a:srgbClr val="2F7D6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 name="Google Shape;42;p2"/>
          <p:cNvSpPr txBox="1"/>
          <p:nvPr/>
        </p:nvSpPr>
        <p:spPr>
          <a:xfrm>
            <a:off x="4634535" y="1828800"/>
            <a:ext cx="4572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4</a:t>
            </a:r>
            <a:endParaRPr b="0" i="0" sz="1500" u="none" cap="none" strike="noStrike">
              <a:solidFill>
                <a:schemeClr val="dk1"/>
              </a:solidFill>
              <a:latin typeface="Calibri"/>
              <a:ea typeface="Calibri"/>
              <a:cs typeface="Calibri"/>
              <a:sym typeface="Calibri"/>
            </a:endParaRPr>
          </a:p>
        </p:txBody>
      </p:sp>
      <p:sp>
        <p:nvSpPr>
          <p:cNvPr id="43" name="Google Shape;43;p2"/>
          <p:cNvSpPr txBox="1"/>
          <p:nvPr/>
        </p:nvSpPr>
        <p:spPr>
          <a:xfrm>
            <a:off x="4292498" y="2423160"/>
            <a:ext cx="1141273" cy="50292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1F3A5F"/>
              </a:buClr>
              <a:buSzPts val="1500"/>
              <a:buFont typeface="Calibri"/>
              <a:buNone/>
            </a:pPr>
            <a:r>
              <a:rPr b="1" i="0" lang="en-US" sz="1500" u="none" cap="none" strike="noStrike">
                <a:solidFill>
                  <a:srgbClr val="1F3A5F"/>
                </a:solidFill>
                <a:latin typeface="Calibri"/>
                <a:ea typeface="Calibri"/>
                <a:cs typeface="Calibri"/>
                <a:sym typeface="Calibri"/>
              </a:rPr>
              <a:t>Types</a:t>
            </a:r>
            <a:endParaRPr b="0" i="0" sz="1500" u="none" cap="none" strike="noStrike">
              <a:solidFill>
                <a:schemeClr val="dk1"/>
              </a:solidFill>
              <a:latin typeface="Calibri"/>
              <a:ea typeface="Calibri"/>
              <a:cs typeface="Calibri"/>
              <a:sym typeface="Calibri"/>
            </a:endParaRPr>
          </a:p>
        </p:txBody>
      </p:sp>
      <p:sp>
        <p:nvSpPr>
          <p:cNvPr id="44" name="Google Shape;44;p2"/>
          <p:cNvSpPr txBox="1"/>
          <p:nvPr/>
        </p:nvSpPr>
        <p:spPr>
          <a:xfrm>
            <a:off x="4292498" y="2926080"/>
            <a:ext cx="1141273" cy="6858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6B7280"/>
              </a:buClr>
              <a:buSzPts val="1300"/>
              <a:buFont typeface="Calibri"/>
              <a:buNone/>
            </a:pPr>
            <a:r>
              <a:rPr b="0" i="0" lang="en-US" sz="1300" u="none" cap="none" strike="noStrike">
                <a:solidFill>
                  <a:srgbClr val="6B7280"/>
                </a:solidFill>
                <a:latin typeface="Calibri"/>
                <a:ea typeface="Calibri"/>
                <a:cs typeface="Calibri"/>
                <a:sym typeface="Calibri"/>
              </a:rPr>
              <a:t>TP2 partie 4</a:t>
            </a:r>
            <a:endParaRPr b="0" i="0" sz="1300" u="none" cap="none" strike="noStrike">
              <a:solidFill>
                <a:schemeClr val="dk1"/>
              </a:solidFill>
              <a:latin typeface="Calibri"/>
              <a:ea typeface="Calibri"/>
              <a:cs typeface="Calibri"/>
              <a:sym typeface="Calibri"/>
            </a:endParaRPr>
          </a:p>
        </p:txBody>
      </p:sp>
      <p:sp>
        <p:nvSpPr>
          <p:cNvPr id="45" name="Google Shape;45;p2"/>
          <p:cNvSpPr/>
          <p:nvPr/>
        </p:nvSpPr>
        <p:spPr>
          <a:xfrm>
            <a:off x="5867248" y="1828800"/>
            <a:ext cx="457200" cy="457200"/>
          </a:xfrm>
          <a:prstGeom prst="ellipse">
            <a:avLst/>
          </a:prstGeom>
          <a:solidFill>
            <a:srgbClr val="D5DC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 name="Google Shape;46;p2"/>
          <p:cNvSpPr txBox="1"/>
          <p:nvPr/>
        </p:nvSpPr>
        <p:spPr>
          <a:xfrm>
            <a:off x="5867248" y="1828800"/>
            <a:ext cx="4572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chemeClr val="dk1"/>
              </a:buClr>
              <a:buSzPts val="1500"/>
              <a:buFont typeface="Calibri"/>
              <a:buNone/>
            </a:pPr>
            <a:r>
              <a:t/>
            </a:r>
            <a:endParaRPr b="0" i="0" sz="1500" u="none" cap="none" strike="noStrike">
              <a:solidFill>
                <a:schemeClr val="dk1"/>
              </a:solidFill>
              <a:latin typeface="Calibri"/>
              <a:ea typeface="Calibri"/>
              <a:cs typeface="Calibri"/>
              <a:sym typeface="Calibri"/>
            </a:endParaRPr>
          </a:p>
        </p:txBody>
      </p:sp>
      <p:sp>
        <p:nvSpPr>
          <p:cNvPr id="47" name="Google Shape;47;p2"/>
          <p:cNvSpPr txBox="1"/>
          <p:nvPr/>
        </p:nvSpPr>
        <p:spPr>
          <a:xfrm>
            <a:off x="5525211" y="2423160"/>
            <a:ext cx="1141273" cy="50292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1F3A5F"/>
              </a:buClr>
              <a:buSzPts val="1500"/>
              <a:buFont typeface="Calibri"/>
              <a:buNone/>
            </a:pPr>
            <a:r>
              <a:rPr b="1" i="0" lang="en-US" sz="1500" u="none" cap="none" strike="noStrike">
                <a:solidFill>
                  <a:srgbClr val="1F3A5F"/>
                </a:solidFill>
                <a:latin typeface="Calibri"/>
                <a:ea typeface="Calibri"/>
                <a:cs typeface="Calibri"/>
                <a:sym typeface="Calibri"/>
              </a:rPr>
              <a:t>Pause</a:t>
            </a:r>
            <a:endParaRPr b="0" i="0" sz="1500" u="none" cap="none" strike="noStrike">
              <a:solidFill>
                <a:schemeClr val="dk1"/>
              </a:solidFill>
              <a:latin typeface="Calibri"/>
              <a:ea typeface="Calibri"/>
              <a:cs typeface="Calibri"/>
              <a:sym typeface="Calibri"/>
            </a:endParaRPr>
          </a:p>
        </p:txBody>
      </p:sp>
      <p:sp>
        <p:nvSpPr>
          <p:cNvPr id="48" name="Google Shape;48;p2"/>
          <p:cNvSpPr/>
          <p:nvPr/>
        </p:nvSpPr>
        <p:spPr>
          <a:xfrm>
            <a:off x="7099960" y="1828800"/>
            <a:ext cx="457200" cy="457200"/>
          </a:xfrm>
          <a:prstGeom prst="ellipse">
            <a:avLst/>
          </a:prstGeom>
          <a:solidFill>
            <a:srgbClr val="2F7D6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 name="Google Shape;49;p2"/>
          <p:cNvSpPr txBox="1"/>
          <p:nvPr/>
        </p:nvSpPr>
        <p:spPr>
          <a:xfrm>
            <a:off x="7099960" y="1828800"/>
            <a:ext cx="4572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5</a:t>
            </a:r>
            <a:endParaRPr b="0" i="0" sz="1500" u="none" cap="none" strike="noStrike">
              <a:solidFill>
                <a:schemeClr val="dk1"/>
              </a:solidFill>
              <a:latin typeface="Calibri"/>
              <a:ea typeface="Calibri"/>
              <a:cs typeface="Calibri"/>
              <a:sym typeface="Calibri"/>
            </a:endParaRPr>
          </a:p>
        </p:txBody>
      </p:sp>
      <p:sp>
        <p:nvSpPr>
          <p:cNvPr id="50" name="Google Shape;50;p2"/>
          <p:cNvSpPr txBox="1"/>
          <p:nvPr/>
        </p:nvSpPr>
        <p:spPr>
          <a:xfrm>
            <a:off x="6757924" y="2423160"/>
            <a:ext cx="1141273" cy="50292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1F3A5F"/>
              </a:buClr>
              <a:buSzPts val="1500"/>
              <a:buFont typeface="Calibri"/>
              <a:buNone/>
            </a:pPr>
            <a:r>
              <a:rPr b="1" i="0" lang="en-US" sz="1500" u="none" cap="none" strike="noStrike">
                <a:solidFill>
                  <a:srgbClr val="1F3A5F"/>
                </a:solidFill>
                <a:latin typeface="Calibri"/>
                <a:ea typeface="Calibri"/>
                <a:cs typeface="Calibri"/>
                <a:sym typeface="Calibri"/>
              </a:rPr>
              <a:t>Manquants et doublons</a:t>
            </a:r>
            <a:endParaRPr b="0" i="0" sz="1500" u="none" cap="none" strike="noStrike">
              <a:solidFill>
                <a:schemeClr val="dk1"/>
              </a:solidFill>
              <a:latin typeface="Calibri"/>
              <a:ea typeface="Calibri"/>
              <a:cs typeface="Calibri"/>
              <a:sym typeface="Calibri"/>
            </a:endParaRPr>
          </a:p>
        </p:txBody>
      </p:sp>
      <p:sp>
        <p:nvSpPr>
          <p:cNvPr id="51" name="Google Shape;51;p2"/>
          <p:cNvSpPr txBox="1"/>
          <p:nvPr/>
        </p:nvSpPr>
        <p:spPr>
          <a:xfrm>
            <a:off x="6757924" y="2926080"/>
            <a:ext cx="1141273" cy="6858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6B7280"/>
              </a:buClr>
              <a:buSzPts val="1300"/>
              <a:buFont typeface="Calibri"/>
              <a:buNone/>
            </a:pPr>
            <a:r>
              <a:rPr b="0" i="0" lang="en-US" sz="1300" u="none" cap="none" strike="noStrike">
                <a:solidFill>
                  <a:srgbClr val="6B7280"/>
                </a:solidFill>
                <a:latin typeface="Calibri"/>
                <a:ea typeface="Calibri"/>
                <a:cs typeface="Calibri"/>
                <a:sym typeface="Calibri"/>
              </a:rPr>
              <a:t>TP2 partie 5</a:t>
            </a:r>
            <a:endParaRPr b="0" i="0" sz="1300" u="none" cap="none" strike="noStrike">
              <a:solidFill>
                <a:schemeClr val="dk1"/>
              </a:solidFill>
              <a:latin typeface="Calibri"/>
              <a:ea typeface="Calibri"/>
              <a:cs typeface="Calibri"/>
              <a:sym typeface="Calibri"/>
            </a:endParaRPr>
          </a:p>
        </p:txBody>
      </p:sp>
      <p:sp>
        <p:nvSpPr>
          <p:cNvPr id="52" name="Google Shape;52;p2"/>
          <p:cNvSpPr/>
          <p:nvPr/>
        </p:nvSpPr>
        <p:spPr>
          <a:xfrm>
            <a:off x="8332673" y="1828800"/>
            <a:ext cx="457200" cy="457200"/>
          </a:xfrm>
          <a:prstGeom prst="ellipse">
            <a:avLst/>
          </a:prstGeom>
          <a:solidFill>
            <a:srgbClr val="2F7D6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 name="Google Shape;53;p2"/>
          <p:cNvSpPr txBox="1"/>
          <p:nvPr/>
        </p:nvSpPr>
        <p:spPr>
          <a:xfrm>
            <a:off x="8332673" y="1828800"/>
            <a:ext cx="4572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6</a:t>
            </a:r>
            <a:endParaRPr b="0" i="0" sz="1500" u="none" cap="none" strike="noStrike">
              <a:solidFill>
                <a:schemeClr val="dk1"/>
              </a:solidFill>
              <a:latin typeface="Calibri"/>
              <a:ea typeface="Calibri"/>
              <a:cs typeface="Calibri"/>
              <a:sym typeface="Calibri"/>
            </a:endParaRPr>
          </a:p>
        </p:txBody>
      </p:sp>
      <p:sp>
        <p:nvSpPr>
          <p:cNvPr id="54" name="Google Shape;54;p2"/>
          <p:cNvSpPr txBox="1"/>
          <p:nvPr/>
        </p:nvSpPr>
        <p:spPr>
          <a:xfrm>
            <a:off x="7990637" y="2423160"/>
            <a:ext cx="1141273" cy="50292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1F3A5F"/>
              </a:buClr>
              <a:buSzPts val="1500"/>
              <a:buFont typeface="Calibri"/>
              <a:buNone/>
            </a:pPr>
            <a:r>
              <a:rPr b="1" i="0" lang="en-US" sz="1500" u="none" cap="none" strike="noStrike">
                <a:solidFill>
                  <a:srgbClr val="1F3A5F"/>
                </a:solidFill>
                <a:latin typeface="Calibri"/>
                <a:ea typeface="Calibri"/>
                <a:cs typeface="Calibri"/>
                <a:sym typeface="Calibri"/>
              </a:rPr>
              <a:t>Tri et index</a:t>
            </a:r>
            <a:endParaRPr b="0" i="0" sz="1500" u="none" cap="none" strike="noStrike">
              <a:solidFill>
                <a:schemeClr val="dk1"/>
              </a:solidFill>
              <a:latin typeface="Calibri"/>
              <a:ea typeface="Calibri"/>
              <a:cs typeface="Calibri"/>
              <a:sym typeface="Calibri"/>
            </a:endParaRPr>
          </a:p>
        </p:txBody>
      </p:sp>
      <p:sp>
        <p:nvSpPr>
          <p:cNvPr id="55" name="Google Shape;55;p2"/>
          <p:cNvSpPr txBox="1"/>
          <p:nvPr/>
        </p:nvSpPr>
        <p:spPr>
          <a:xfrm>
            <a:off x="7990637" y="2926080"/>
            <a:ext cx="1141273" cy="6858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6B7280"/>
              </a:buClr>
              <a:buSzPts val="1300"/>
              <a:buFont typeface="Calibri"/>
              <a:buNone/>
            </a:pPr>
            <a:r>
              <a:rPr b="0" i="0" lang="en-US" sz="1300" u="none" cap="none" strike="noStrike">
                <a:solidFill>
                  <a:srgbClr val="6B7280"/>
                </a:solidFill>
                <a:latin typeface="Calibri"/>
                <a:ea typeface="Calibri"/>
                <a:cs typeface="Calibri"/>
                <a:sym typeface="Calibri"/>
              </a:rPr>
              <a:t>TP2 partie 6</a:t>
            </a:r>
            <a:endParaRPr b="0" i="0" sz="1300" u="none" cap="none" strike="noStrike">
              <a:solidFill>
                <a:schemeClr val="dk1"/>
              </a:solidFill>
              <a:latin typeface="Calibri"/>
              <a:ea typeface="Calibri"/>
              <a:cs typeface="Calibri"/>
              <a:sym typeface="Calibri"/>
            </a:endParaRPr>
          </a:p>
        </p:txBody>
      </p:sp>
      <p:sp>
        <p:nvSpPr>
          <p:cNvPr id="56" name="Google Shape;56;p2"/>
          <p:cNvSpPr/>
          <p:nvPr/>
        </p:nvSpPr>
        <p:spPr>
          <a:xfrm>
            <a:off x="9565386" y="1828800"/>
            <a:ext cx="457200" cy="457200"/>
          </a:xfrm>
          <a:prstGeom prst="ellipse">
            <a:avLst/>
          </a:prstGeom>
          <a:solidFill>
            <a:srgbClr val="2F7D6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 name="Google Shape;57;p2"/>
          <p:cNvSpPr txBox="1"/>
          <p:nvPr/>
        </p:nvSpPr>
        <p:spPr>
          <a:xfrm>
            <a:off x="9565386" y="1828800"/>
            <a:ext cx="4572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7</a:t>
            </a:r>
            <a:endParaRPr b="0" i="0" sz="1500" u="none" cap="none" strike="noStrike">
              <a:solidFill>
                <a:schemeClr val="dk1"/>
              </a:solidFill>
              <a:latin typeface="Calibri"/>
              <a:ea typeface="Calibri"/>
              <a:cs typeface="Calibri"/>
              <a:sym typeface="Calibri"/>
            </a:endParaRPr>
          </a:p>
        </p:txBody>
      </p:sp>
      <p:sp>
        <p:nvSpPr>
          <p:cNvPr id="58" name="Google Shape;58;p2"/>
          <p:cNvSpPr txBox="1"/>
          <p:nvPr/>
        </p:nvSpPr>
        <p:spPr>
          <a:xfrm>
            <a:off x="9223350" y="2423160"/>
            <a:ext cx="1141273" cy="50292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1F3A5F"/>
              </a:buClr>
              <a:buSzPts val="1500"/>
              <a:buFont typeface="Calibri"/>
              <a:buNone/>
            </a:pPr>
            <a:r>
              <a:rPr b="1" i="0" lang="en-US" sz="1500" u="none" cap="none" strike="noStrike">
                <a:solidFill>
                  <a:srgbClr val="1F3A5F"/>
                </a:solidFill>
                <a:latin typeface="Calibri"/>
                <a:ea typeface="Calibri"/>
                <a:cs typeface="Calibri"/>
                <a:sym typeface="Calibri"/>
              </a:rPr>
              <a:t>Démarche</a:t>
            </a:r>
            <a:endParaRPr b="0" i="0" sz="1500" u="none" cap="none" strike="noStrike">
              <a:solidFill>
                <a:schemeClr val="dk1"/>
              </a:solidFill>
              <a:latin typeface="Calibri"/>
              <a:ea typeface="Calibri"/>
              <a:cs typeface="Calibri"/>
              <a:sym typeface="Calibri"/>
            </a:endParaRPr>
          </a:p>
        </p:txBody>
      </p:sp>
      <p:sp>
        <p:nvSpPr>
          <p:cNvPr id="59" name="Google Shape;59;p2"/>
          <p:cNvSpPr txBox="1"/>
          <p:nvPr/>
        </p:nvSpPr>
        <p:spPr>
          <a:xfrm>
            <a:off x="9223350" y="2926080"/>
            <a:ext cx="1141273" cy="6858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6B7280"/>
              </a:buClr>
              <a:buSzPts val="1300"/>
              <a:buFont typeface="Calibri"/>
              <a:buNone/>
            </a:pPr>
            <a:r>
              <a:rPr b="0" i="0" lang="en-US" sz="1300" u="none" cap="none" strike="noStrike">
                <a:solidFill>
                  <a:srgbClr val="6B7280"/>
                </a:solidFill>
                <a:latin typeface="Calibri"/>
                <a:ea typeface="Calibri"/>
                <a:cs typeface="Calibri"/>
                <a:sym typeface="Calibri"/>
              </a:rPr>
              <a:t>TP2 partie 7</a:t>
            </a:r>
            <a:endParaRPr b="0" i="0" sz="1300" u="none" cap="none" strike="noStrike">
              <a:solidFill>
                <a:schemeClr val="dk1"/>
              </a:solidFill>
              <a:latin typeface="Calibri"/>
              <a:ea typeface="Calibri"/>
              <a:cs typeface="Calibri"/>
              <a:sym typeface="Calibri"/>
            </a:endParaRPr>
          </a:p>
        </p:txBody>
      </p:sp>
      <p:sp>
        <p:nvSpPr>
          <p:cNvPr id="60" name="Google Shape;60;p2"/>
          <p:cNvSpPr/>
          <p:nvPr/>
        </p:nvSpPr>
        <p:spPr>
          <a:xfrm>
            <a:off x="10798099" y="1828800"/>
            <a:ext cx="457200" cy="457200"/>
          </a:xfrm>
          <a:prstGeom prst="ellipse">
            <a:avLst/>
          </a:prstGeom>
          <a:solidFill>
            <a:srgbClr val="2F7D6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 name="Google Shape;61;p2"/>
          <p:cNvSpPr txBox="1"/>
          <p:nvPr/>
        </p:nvSpPr>
        <p:spPr>
          <a:xfrm>
            <a:off x="10798099" y="1828800"/>
            <a:ext cx="4572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8</a:t>
            </a:r>
            <a:endParaRPr b="0" i="0" sz="1500" u="none" cap="none" strike="noStrike">
              <a:solidFill>
                <a:schemeClr val="dk1"/>
              </a:solidFill>
              <a:latin typeface="Calibri"/>
              <a:ea typeface="Calibri"/>
              <a:cs typeface="Calibri"/>
              <a:sym typeface="Calibri"/>
            </a:endParaRPr>
          </a:p>
        </p:txBody>
      </p:sp>
      <p:sp>
        <p:nvSpPr>
          <p:cNvPr id="62" name="Google Shape;62;p2"/>
          <p:cNvSpPr txBox="1"/>
          <p:nvPr/>
        </p:nvSpPr>
        <p:spPr>
          <a:xfrm>
            <a:off x="10456062" y="2423160"/>
            <a:ext cx="1141273" cy="50292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1F3A5F"/>
              </a:buClr>
              <a:buSzPts val="1500"/>
              <a:buFont typeface="Calibri"/>
              <a:buNone/>
            </a:pPr>
            <a:r>
              <a:rPr b="1" i="0" lang="en-US" sz="1500" u="none" cap="none" strike="noStrike">
                <a:solidFill>
                  <a:srgbClr val="1F3A5F"/>
                </a:solidFill>
                <a:latin typeface="Calibri"/>
                <a:ea typeface="Calibri"/>
                <a:cs typeface="Calibri"/>
                <a:sym typeface="Calibri"/>
              </a:rPr>
              <a:t>Parquet</a:t>
            </a:r>
            <a:endParaRPr b="0" i="0" sz="1500" u="none" cap="none" strike="noStrike">
              <a:solidFill>
                <a:schemeClr val="dk1"/>
              </a:solidFill>
              <a:latin typeface="Calibri"/>
              <a:ea typeface="Calibri"/>
              <a:cs typeface="Calibri"/>
              <a:sym typeface="Calibri"/>
            </a:endParaRPr>
          </a:p>
        </p:txBody>
      </p:sp>
      <p:sp>
        <p:nvSpPr>
          <p:cNvPr id="63" name="Google Shape;63;p2"/>
          <p:cNvSpPr txBox="1"/>
          <p:nvPr/>
        </p:nvSpPr>
        <p:spPr>
          <a:xfrm>
            <a:off x="10456062" y="2926080"/>
            <a:ext cx="1141273" cy="6858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6B7280"/>
              </a:buClr>
              <a:buSzPts val="1300"/>
              <a:buFont typeface="Calibri"/>
              <a:buNone/>
            </a:pPr>
            <a:r>
              <a:rPr b="0" i="0" lang="en-US" sz="1300" u="none" cap="none" strike="noStrike">
                <a:solidFill>
                  <a:srgbClr val="6B7280"/>
                </a:solidFill>
                <a:latin typeface="Calibri"/>
                <a:ea typeface="Calibri"/>
                <a:cs typeface="Calibri"/>
                <a:sym typeface="Calibri"/>
              </a:rPr>
              <a:t>TP2 partie 8</a:t>
            </a:r>
            <a:endParaRPr b="0" i="0" sz="1300" u="none" cap="none" strike="noStrike">
              <a:solidFill>
                <a:schemeClr val="dk1"/>
              </a:solidFill>
              <a:latin typeface="Calibri"/>
              <a:ea typeface="Calibri"/>
              <a:cs typeface="Calibri"/>
              <a:sym typeface="Calibri"/>
            </a:endParaRPr>
          </a:p>
        </p:txBody>
      </p:sp>
      <p:sp>
        <p:nvSpPr>
          <p:cNvPr id="64" name="Google Shape;64;p2"/>
          <p:cNvSpPr/>
          <p:nvPr/>
        </p:nvSpPr>
        <p:spPr>
          <a:xfrm>
            <a:off x="548640" y="3657600"/>
            <a:ext cx="3515258" cy="1600200"/>
          </a:xfrm>
          <a:prstGeom prst="roundRect">
            <a:avLst>
              <a:gd fmla="val 4571" name="adj"/>
            </a:avLst>
          </a:prstGeom>
          <a:solidFill>
            <a:srgbClr val="EEF3F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 name="Google Shape;65;p2"/>
          <p:cNvSpPr txBox="1"/>
          <p:nvPr/>
        </p:nvSpPr>
        <p:spPr>
          <a:xfrm>
            <a:off x="777240" y="3840480"/>
            <a:ext cx="3058058" cy="7772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F3A5F"/>
              </a:buClr>
              <a:buSzPts val="4000"/>
              <a:buFont typeface="Cambria"/>
              <a:buNone/>
            </a:pPr>
            <a:r>
              <a:rPr b="1" i="0" lang="en-US" sz="4000" u="none" cap="none" strike="noStrike">
                <a:solidFill>
                  <a:srgbClr val="1F3A5F"/>
                </a:solidFill>
                <a:latin typeface="Cambria"/>
                <a:ea typeface="Cambria"/>
                <a:cs typeface="Cambria"/>
                <a:sym typeface="Cambria"/>
              </a:rPr>
              <a:t>13h30</a:t>
            </a:r>
            <a:endParaRPr b="0" i="0" sz="4000" u="none" cap="none" strike="noStrike">
              <a:solidFill>
                <a:schemeClr val="dk1"/>
              </a:solidFill>
              <a:latin typeface="Calibri"/>
              <a:ea typeface="Calibri"/>
              <a:cs typeface="Calibri"/>
              <a:sym typeface="Calibri"/>
            </a:endParaRPr>
          </a:p>
        </p:txBody>
      </p:sp>
      <p:sp>
        <p:nvSpPr>
          <p:cNvPr id="66" name="Google Shape;66;p2"/>
          <p:cNvSpPr txBox="1"/>
          <p:nvPr/>
        </p:nvSpPr>
        <p:spPr>
          <a:xfrm>
            <a:off x="777240" y="4663440"/>
            <a:ext cx="3058058"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B7280"/>
              </a:buClr>
              <a:buSzPts val="1500"/>
              <a:buFont typeface="Calibri"/>
              <a:buNone/>
            </a:pPr>
            <a:r>
              <a:rPr b="0" i="0" lang="en-US" sz="1500" u="none" cap="none" strike="noStrike">
                <a:solidFill>
                  <a:srgbClr val="6B7280"/>
                </a:solidFill>
                <a:latin typeface="Calibri"/>
                <a:ea typeface="Calibri"/>
                <a:cs typeface="Calibri"/>
                <a:sym typeface="Calibri"/>
              </a:rPr>
              <a:t>début</a:t>
            </a:r>
            <a:endParaRPr b="0" i="0" sz="1500" u="none" cap="none" strike="noStrike">
              <a:solidFill>
                <a:schemeClr val="dk1"/>
              </a:solidFill>
              <a:latin typeface="Calibri"/>
              <a:ea typeface="Calibri"/>
              <a:cs typeface="Calibri"/>
              <a:sym typeface="Calibri"/>
            </a:endParaRPr>
          </a:p>
        </p:txBody>
      </p:sp>
      <p:sp>
        <p:nvSpPr>
          <p:cNvPr id="67" name="Google Shape;67;p2"/>
          <p:cNvSpPr/>
          <p:nvPr/>
        </p:nvSpPr>
        <p:spPr>
          <a:xfrm>
            <a:off x="4338218" y="3657600"/>
            <a:ext cx="3515258" cy="1600200"/>
          </a:xfrm>
          <a:prstGeom prst="roundRect">
            <a:avLst>
              <a:gd fmla="val 4571" name="adj"/>
            </a:avLst>
          </a:prstGeom>
          <a:solidFill>
            <a:srgbClr val="EEF3F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 name="Google Shape;68;p2"/>
          <p:cNvSpPr txBox="1"/>
          <p:nvPr/>
        </p:nvSpPr>
        <p:spPr>
          <a:xfrm>
            <a:off x="4566818" y="3840480"/>
            <a:ext cx="3058058" cy="7772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F3A5F"/>
              </a:buClr>
              <a:buSzPts val="4000"/>
              <a:buFont typeface="Cambria"/>
              <a:buNone/>
            </a:pPr>
            <a:r>
              <a:rPr b="1" i="0" lang="en-US" sz="4000" u="none" cap="none" strike="noStrike">
                <a:solidFill>
                  <a:srgbClr val="1F3A5F"/>
                </a:solidFill>
                <a:latin typeface="Cambria"/>
                <a:ea typeface="Cambria"/>
                <a:cs typeface="Cambria"/>
                <a:sym typeface="Cambria"/>
              </a:rPr>
              <a:t>15h00</a:t>
            </a:r>
            <a:endParaRPr b="0" i="0" sz="4000" u="none" cap="none" strike="noStrike">
              <a:solidFill>
                <a:schemeClr val="dk1"/>
              </a:solidFill>
              <a:latin typeface="Calibri"/>
              <a:ea typeface="Calibri"/>
              <a:cs typeface="Calibri"/>
              <a:sym typeface="Calibri"/>
            </a:endParaRPr>
          </a:p>
        </p:txBody>
      </p:sp>
      <p:sp>
        <p:nvSpPr>
          <p:cNvPr id="69" name="Google Shape;69;p2"/>
          <p:cNvSpPr txBox="1"/>
          <p:nvPr/>
        </p:nvSpPr>
        <p:spPr>
          <a:xfrm>
            <a:off x="4566818" y="4663440"/>
            <a:ext cx="3058058"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B7280"/>
              </a:buClr>
              <a:buSzPts val="1500"/>
              <a:buFont typeface="Calibri"/>
              <a:buNone/>
            </a:pPr>
            <a:r>
              <a:rPr b="0" i="0" lang="en-US" sz="1500" u="none" cap="none" strike="noStrike">
                <a:solidFill>
                  <a:srgbClr val="6B7280"/>
                </a:solidFill>
                <a:latin typeface="Calibri"/>
                <a:ea typeface="Calibri"/>
                <a:cs typeface="Calibri"/>
                <a:sym typeface="Calibri"/>
              </a:rPr>
              <a:t>pause</a:t>
            </a:r>
            <a:endParaRPr b="0" i="0" sz="1500" u="none" cap="none" strike="noStrike">
              <a:solidFill>
                <a:schemeClr val="dk1"/>
              </a:solidFill>
              <a:latin typeface="Calibri"/>
              <a:ea typeface="Calibri"/>
              <a:cs typeface="Calibri"/>
              <a:sym typeface="Calibri"/>
            </a:endParaRPr>
          </a:p>
        </p:txBody>
      </p:sp>
      <p:sp>
        <p:nvSpPr>
          <p:cNvPr id="70" name="Google Shape;70;p2"/>
          <p:cNvSpPr/>
          <p:nvPr/>
        </p:nvSpPr>
        <p:spPr>
          <a:xfrm>
            <a:off x="8127797" y="3657600"/>
            <a:ext cx="3515258" cy="1600200"/>
          </a:xfrm>
          <a:prstGeom prst="roundRect">
            <a:avLst>
              <a:gd fmla="val 4571" name="adj"/>
            </a:avLst>
          </a:prstGeom>
          <a:solidFill>
            <a:srgbClr val="EEF3F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 name="Google Shape;71;p2"/>
          <p:cNvSpPr txBox="1"/>
          <p:nvPr/>
        </p:nvSpPr>
        <p:spPr>
          <a:xfrm>
            <a:off x="8356397" y="3840480"/>
            <a:ext cx="3058058" cy="7772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F3A5F"/>
              </a:buClr>
              <a:buSzPts val="4000"/>
              <a:buFont typeface="Cambria"/>
              <a:buNone/>
            </a:pPr>
            <a:r>
              <a:rPr b="1" i="0" lang="en-US" sz="4000" u="none" cap="none" strike="noStrike">
                <a:solidFill>
                  <a:srgbClr val="1F3A5F"/>
                </a:solidFill>
                <a:latin typeface="Cambria"/>
                <a:ea typeface="Cambria"/>
                <a:cs typeface="Cambria"/>
                <a:sym typeface="Cambria"/>
              </a:rPr>
              <a:t>17h00</a:t>
            </a:r>
            <a:endParaRPr b="0" i="0" sz="4000" u="none" cap="none" strike="noStrike">
              <a:solidFill>
                <a:schemeClr val="dk1"/>
              </a:solidFill>
              <a:latin typeface="Calibri"/>
              <a:ea typeface="Calibri"/>
              <a:cs typeface="Calibri"/>
              <a:sym typeface="Calibri"/>
            </a:endParaRPr>
          </a:p>
        </p:txBody>
      </p:sp>
      <p:sp>
        <p:nvSpPr>
          <p:cNvPr id="72" name="Google Shape;72;p2"/>
          <p:cNvSpPr txBox="1"/>
          <p:nvPr/>
        </p:nvSpPr>
        <p:spPr>
          <a:xfrm>
            <a:off x="8356397" y="4663440"/>
            <a:ext cx="3058058"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B7280"/>
              </a:buClr>
              <a:buSzPts val="1500"/>
              <a:buFont typeface="Calibri"/>
              <a:buNone/>
            </a:pPr>
            <a:r>
              <a:rPr b="0" i="0" lang="en-US" sz="1500" u="none" cap="none" strike="noStrike">
                <a:solidFill>
                  <a:srgbClr val="6B7280"/>
                </a:solidFill>
                <a:latin typeface="Calibri"/>
                <a:ea typeface="Calibri"/>
                <a:cs typeface="Calibri"/>
                <a:sym typeface="Calibri"/>
              </a:rPr>
              <a:t>fin</a:t>
            </a:r>
            <a:endParaRPr b="0" i="0" sz="1500" u="none" cap="none" strike="noStrike">
              <a:solidFill>
                <a:schemeClr val="dk1"/>
              </a:solidFill>
              <a:latin typeface="Calibri"/>
              <a:ea typeface="Calibri"/>
              <a:cs typeface="Calibri"/>
              <a:sym typeface="Calibri"/>
            </a:endParaRPr>
          </a:p>
        </p:txBody>
      </p:sp>
      <p:sp>
        <p:nvSpPr>
          <p:cNvPr id="73" name="Google Shape;73;p2"/>
          <p:cNvSpPr/>
          <p:nvPr/>
        </p:nvSpPr>
        <p:spPr>
          <a:xfrm>
            <a:off x="548640" y="5577840"/>
            <a:ext cx="11094415" cy="624840"/>
          </a:xfrm>
          <a:prstGeom prst="roundRect">
            <a:avLst>
              <a:gd fmla="val 8780" name="adj"/>
            </a:avLst>
          </a:prstGeom>
          <a:solidFill>
            <a:srgbClr val="E8F3E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 name="Google Shape;74;p2"/>
          <p:cNvSpPr txBox="1"/>
          <p:nvPr/>
        </p:nvSpPr>
        <p:spPr>
          <a:xfrm>
            <a:off x="822960" y="5577840"/>
            <a:ext cx="10545775" cy="6248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F3A5F"/>
              </a:buClr>
              <a:buSzPts val="1700"/>
              <a:buFont typeface="Calibri"/>
              <a:buNone/>
            </a:pPr>
            <a:r>
              <a:rPr b="0" i="0" lang="en-US" sz="1700" u="none" cap="none" strike="noStrike">
                <a:solidFill>
                  <a:srgbClr val="1F3A5F"/>
                </a:solidFill>
                <a:latin typeface="Calibri"/>
                <a:ea typeface="Calibri"/>
                <a:cs typeface="Calibri"/>
                <a:sym typeface="Calibri"/>
              </a:rPr>
              <a:t>Chaque section de cours est suivie de la partie du TP2 qui lui correspond.</a:t>
            </a:r>
            <a:endParaRPr b="0" i="0" sz="1700" u="none" cap="none" strike="noStrike">
              <a:solidFill>
                <a:schemeClr val="dk1"/>
              </a:solidFill>
              <a:latin typeface="Calibri"/>
              <a:ea typeface="Calibri"/>
              <a:cs typeface="Calibri"/>
              <a:sym typeface="Calibri"/>
            </a:endParaRPr>
          </a:p>
        </p:txBody>
      </p:sp>
      <p:sp>
        <p:nvSpPr>
          <p:cNvPr id="75" name="Google Shape;75;p2"/>
          <p:cNvSpPr txBox="1"/>
          <p:nvPr/>
        </p:nvSpPr>
        <p:spPr>
          <a:xfrm>
            <a:off x="548640" y="6400800"/>
            <a:ext cx="73152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B7280"/>
              </a:buClr>
              <a:buSzPts val="1000"/>
              <a:buFont typeface="Calibri"/>
              <a:buNone/>
            </a:pPr>
            <a:r>
              <a:rPr b="0" i="0" lang="en-US" sz="1000" u="none" cap="none" strike="noStrike">
                <a:solidFill>
                  <a:srgbClr val="6B7280"/>
                </a:solidFill>
                <a:latin typeface="Calibri"/>
                <a:ea typeface="Calibri"/>
                <a:cs typeface="Calibri"/>
                <a:sym typeface="Calibri"/>
              </a:rPr>
              <a:t>Analyse de données avec Python   |   Jour 1, après-midi</a:t>
            </a:r>
            <a:endParaRPr b="0" i="0" sz="1000" u="none" cap="none" strike="noStrike">
              <a:solidFill>
                <a:schemeClr val="dk1"/>
              </a:solidFill>
              <a:latin typeface="Calibri"/>
              <a:ea typeface="Calibri"/>
              <a:cs typeface="Calibri"/>
              <a:sym typeface="Calibri"/>
            </a:endParaRPr>
          </a:p>
        </p:txBody>
      </p:sp>
      <p:sp>
        <p:nvSpPr>
          <p:cNvPr id="76" name="Google Shape;76;p2"/>
          <p:cNvSpPr txBox="1"/>
          <p:nvPr>
            <p:ph idx="4294967295" type="sldNum"/>
          </p:nvPr>
        </p:nvSpPr>
        <p:spPr>
          <a:xfrm>
            <a:off x="11094415" y="6400800"/>
            <a:ext cx="548640" cy="27432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000" u="none" cap="none" strike="noStrike">
                <a:solidFill>
                  <a:srgbClr val="6B7280"/>
                </a:solidFill>
                <a:latin typeface="Calibri"/>
                <a:ea typeface="Calibri"/>
                <a:cs typeface="Calibri"/>
                <a:sym typeface="Calibri"/>
              </a:rPr>
              <a:t>‹#›</a:t>
            </a:fld>
            <a:endParaRPr b="0" i="0" sz="1000" u="none" cap="none" strike="noStrike">
              <a:solidFill>
                <a:srgbClr val="6B7280"/>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1" name="Shape 81"/>
        <p:cNvGrpSpPr/>
        <p:nvPr/>
      </p:nvGrpSpPr>
      <p:grpSpPr>
        <a:xfrm>
          <a:off x="0" y="0"/>
          <a:ext cx="0" cy="0"/>
          <a:chOff x="0" y="0"/>
          <a:chExt cx="0" cy="0"/>
        </a:xfrm>
      </p:grpSpPr>
      <p:sp>
        <p:nvSpPr>
          <p:cNvPr id="82" name="Google Shape;82;p3"/>
          <p:cNvSpPr txBox="1"/>
          <p:nvPr/>
        </p:nvSpPr>
        <p:spPr>
          <a:xfrm>
            <a:off x="548640" y="457200"/>
            <a:ext cx="11094415" cy="6949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F3A5F"/>
              </a:buClr>
              <a:buSzPts val="3000"/>
              <a:buFont typeface="Cambria"/>
              <a:buNone/>
            </a:pPr>
            <a:r>
              <a:rPr b="1" i="0" lang="en-US" sz="3000" u="none" cap="none" strike="noStrike">
                <a:solidFill>
                  <a:srgbClr val="1F3A5F"/>
                </a:solidFill>
                <a:latin typeface="Cambria"/>
                <a:ea typeface="Cambria"/>
                <a:cs typeface="Cambria"/>
                <a:sym typeface="Cambria"/>
              </a:rPr>
              <a:t>D'où l'on part : les constats du TP1</a:t>
            </a:r>
            <a:endParaRPr b="0" i="0" sz="3000" u="none" cap="none" strike="noStrike">
              <a:solidFill>
                <a:schemeClr val="dk1"/>
              </a:solidFill>
              <a:latin typeface="Calibri"/>
              <a:ea typeface="Calibri"/>
              <a:cs typeface="Calibri"/>
              <a:sym typeface="Calibri"/>
            </a:endParaRPr>
          </a:p>
        </p:txBody>
      </p:sp>
      <p:graphicFrame>
        <p:nvGraphicFramePr>
          <p:cNvPr id="83" name="Google Shape;83;p3"/>
          <p:cNvGraphicFramePr/>
          <p:nvPr/>
        </p:nvGraphicFramePr>
        <p:xfrm>
          <a:off x="548640" y="1417320"/>
          <a:ext cx="3000000" cy="3000000"/>
        </p:xfrm>
        <a:graphic>
          <a:graphicData uri="http://schemas.openxmlformats.org/drawingml/2006/table">
            <a:tbl>
              <a:tblPr>
                <a:noFill/>
                <a:tableStyleId>{5790C458-BB61-4800-A068-DD2F3961D878}</a:tableStyleId>
              </a:tblPr>
              <a:tblGrid>
                <a:gridCol w="3169825"/>
                <a:gridCol w="7924575"/>
              </a:tblGrid>
              <a:tr h="379975">
                <a:tc>
                  <a:txBody>
                    <a:bodyPr/>
                    <a:lstStyle/>
                    <a:p>
                      <a:pPr indent="0" lvl="0" marL="0" marR="0" rtl="0" algn="l">
                        <a:spcBef>
                          <a:spcPts val="0"/>
                        </a:spcBef>
                        <a:spcAft>
                          <a:spcPts val="0"/>
                        </a:spcAft>
                        <a:buClr>
                          <a:srgbClr val="FFFFFF"/>
                        </a:buClr>
                        <a:buSzPts val="1600"/>
                        <a:buFont typeface="Calibri"/>
                        <a:buNone/>
                      </a:pPr>
                      <a:r>
                        <a:rPr b="1" lang="en-US" sz="1600" u="none" cap="none" strike="noStrike">
                          <a:solidFill>
                            <a:srgbClr val="FFFFFF"/>
                          </a:solidFill>
                          <a:latin typeface="Calibri"/>
                          <a:ea typeface="Calibri"/>
                          <a:cs typeface="Calibri"/>
                          <a:sym typeface="Calibri"/>
                        </a:rPr>
                        <a:t>Constat</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1F3A5F"/>
                    </a:solidFill>
                  </a:tcPr>
                </a:tc>
                <a:tc>
                  <a:txBody>
                    <a:bodyPr/>
                    <a:lstStyle/>
                    <a:p>
                      <a:pPr indent="0" lvl="0" marL="0" marR="0" rtl="0" algn="l">
                        <a:spcBef>
                          <a:spcPts val="0"/>
                        </a:spcBef>
                        <a:spcAft>
                          <a:spcPts val="0"/>
                        </a:spcAft>
                        <a:buClr>
                          <a:srgbClr val="FFFFFF"/>
                        </a:buClr>
                        <a:buSzPts val="1600"/>
                        <a:buFont typeface="Calibri"/>
                        <a:buNone/>
                      </a:pPr>
                      <a:r>
                        <a:rPr b="1" lang="en-US" sz="1600" u="none" cap="none" strike="noStrike">
                          <a:solidFill>
                            <a:srgbClr val="FFFFFF"/>
                          </a:solidFill>
                          <a:latin typeface="Calibri"/>
                          <a:ea typeface="Calibri"/>
                          <a:cs typeface="Calibri"/>
                          <a:sym typeface="Calibri"/>
                        </a:rPr>
                        <a:t>Dans le fichier des ventes</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1F3A5F"/>
                    </a:solidFill>
                  </a:tcPr>
                </a:tc>
              </a:tr>
              <a:tr h="379975">
                <a:tc>
                  <a:txBody>
                    <a:bodyPr/>
                    <a:lstStyle/>
                    <a:p>
                      <a:pPr indent="0" lvl="0" marL="0" marR="0" rtl="0" algn="l">
                        <a:spcBef>
                          <a:spcPts val="0"/>
                        </a:spcBef>
                        <a:spcAft>
                          <a:spcPts val="0"/>
                        </a:spcAft>
                        <a:buClr>
                          <a:srgbClr val="1F2933"/>
                        </a:buClr>
                        <a:buSzPts val="1600"/>
                        <a:buFont typeface="Calibri"/>
                        <a:buNone/>
                      </a:pPr>
                      <a:r>
                        <a:rPr b="1" lang="en-US" sz="1600" u="none" cap="none" strike="noStrike">
                          <a:solidFill>
                            <a:srgbClr val="1F2933"/>
                          </a:solidFill>
                          <a:latin typeface="Calibri"/>
                          <a:ea typeface="Calibri"/>
                          <a:cs typeface="Calibri"/>
                          <a:sym typeface="Calibri"/>
                        </a:rPr>
                        <a:t>Valeurs manquantes</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F2933"/>
                        </a:buClr>
                        <a:buSzPts val="1600"/>
                        <a:buFont typeface="Calibri"/>
                        <a:buNone/>
                      </a:pPr>
                      <a:r>
                        <a:rPr lang="en-US" sz="1600" u="none" cap="none" strike="noStrike">
                          <a:solidFill>
                            <a:srgbClr val="1F2933"/>
                          </a:solidFill>
                          <a:latin typeface="Calibri"/>
                          <a:ea typeface="Calibri"/>
                          <a:cs typeface="Calibri"/>
                          <a:sym typeface="Calibri"/>
                        </a:rPr>
                        <a:t>3 régions vides</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FFFFF"/>
                    </a:solidFill>
                  </a:tcPr>
                </a:tc>
              </a:tr>
              <a:tr h="613675">
                <a:tc>
                  <a:txBody>
                    <a:bodyPr/>
                    <a:lstStyle/>
                    <a:p>
                      <a:pPr indent="0" lvl="0" marL="0" marR="0" rtl="0" algn="l">
                        <a:spcBef>
                          <a:spcPts val="0"/>
                        </a:spcBef>
                        <a:spcAft>
                          <a:spcPts val="0"/>
                        </a:spcAft>
                        <a:buClr>
                          <a:srgbClr val="1F2933"/>
                        </a:buClr>
                        <a:buSzPts val="1600"/>
                        <a:buFont typeface="Calibri"/>
                        <a:buNone/>
                      </a:pPr>
                      <a:r>
                        <a:rPr b="1" lang="en-US" sz="1600" u="none" cap="none" strike="noStrike">
                          <a:solidFill>
                            <a:srgbClr val="1F2933"/>
                          </a:solidFill>
                          <a:latin typeface="Calibri"/>
                          <a:ea typeface="Calibri"/>
                          <a:cs typeface="Calibri"/>
                          <a:sym typeface="Calibri"/>
                        </a:rPr>
                        <a:t>Valeurs aberrantes</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7F9FB"/>
                    </a:solidFill>
                  </a:tcPr>
                </a:tc>
                <a:tc>
                  <a:txBody>
                    <a:bodyPr/>
                    <a:lstStyle/>
                    <a:p>
                      <a:pPr indent="0" lvl="0" marL="0" marR="0" rtl="0" algn="l">
                        <a:spcBef>
                          <a:spcPts val="0"/>
                        </a:spcBef>
                        <a:spcAft>
                          <a:spcPts val="0"/>
                        </a:spcAft>
                        <a:buClr>
                          <a:srgbClr val="1F2933"/>
                        </a:buClr>
                        <a:buSzPts val="1600"/>
                        <a:buFont typeface="Calibri"/>
                        <a:buNone/>
                      </a:pPr>
                      <a:r>
                        <a:rPr lang="en-US" sz="1600" u="none" cap="none" strike="noStrike">
                          <a:solidFill>
                            <a:srgbClr val="1F2933"/>
                          </a:solidFill>
                          <a:latin typeface="Calibri"/>
                          <a:ea typeface="Calibri"/>
                          <a:cs typeface="Calibri"/>
                          <a:sym typeface="Calibri"/>
                        </a:rPr>
                        <a:t>une quantité à -3, un prix à 0, un prix à 12 999, une commande de 480 unités</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7F9FB"/>
                    </a:solidFill>
                  </a:tcPr>
                </a:tc>
              </a:tr>
              <a:tr h="379975">
                <a:tc>
                  <a:txBody>
                    <a:bodyPr/>
                    <a:lstStyle/>
                    <a:p>
                      <a:pPr indent="0" lvl="0" marL="0" marR="0" rtl="0" algn="l">
                        <a:spcBef>
                          <a:spcPts val="0"/>
                        </a:spcBef>
                        <a:spcAft>
                          <a:spcPts val="0"/>
                        </a:spcAft>
                        <a:buClr>
                          <a:srgbClr val="1F2933"/>
                        </a:buClr>
                        <a:buSzPts val="1600"/>
                        <a:buFont typeface="Calibri"/>
                        <a:buNone/>
                      </a:pPr>
                      <a:r>
                        <a:rPr b="1" lang="en-US" sz="1600" u="none" cap="none" strike="noStrike">
                          <a:solidFill>
                            <a:srgbClr val="1F2933"/>
                          </a:solidFill>
                          <a:latin typeface="Calibri"/>
                          <a:ea typeface="Calibri"/>
                          <a:cs typeface="Calibri"/>
                          <a:sym typeface="Calibri"/>
                        </a:rPr>
                        <a:t>Variantes d'écriture</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F3A5F"/>
                        </a:buClr>
                        <a:buSzPts val="1600"/>
                        <a:buFont typeface="Courier New"/>
                        <a:buNone/>
                      </a:pPr>
                      <a:r>
                        <a:rPr lang="en-US" sz="1600" u="none" cap="none" strike="noStrike">
                          <a:solidFill>
                            <a:srgbClr val="1F3A5F"/>
                          </a:solidFill>
                          <a:latin typeface="Courier New"/>
                          <a:ea typeface="Courier New"/>
                          <a:cs typeface="Courier New"/>
                          <a:sym typeface="Courier New"/>
                        </a:rPr>
                        <a:t>Bretagne </a:t>
                      </a:r>
                      <a:r>
                        <a:rPr lang="en-US" sz="1600" u="none" cap="none" strike="noStrike">
                          <a:solidFill>
                            <a:srgbClr val="1F2933"/>
                          </a:solidFill>
                          <a:latin typeface="Calibri"/>
                          <a:ea typeface="Calibri"/>
                          <a:cs typeface="Calibri"/>
                          <a:sym typeface="Calibri"/>
                        </a:rPr>
                        <a:t> avec un espace, </a:t>
                      </a:r>
                      <a:r>
                        <a:rPr lang="en-US" sz="1600" u="none" cap="none" strike="noStrike">
                          <a:solidFill>
                            <a:srgbClr val="1F3A5F"/>
                          </a:solidFill>
                          <a:latin typeface="Courier New"/>
                          <a:ea typeface="Courier New"/>
                          <a:cs typeface="Courier New"/>
                          <a:sym typeface="Courier New"/>
                        </a:rPr>
                        <a:t>occitanie</a:t>
                      </a:r>
                      <a:r>
                        <a:rPr lang="en-US" sz="1600" u="none" cap="none" strike="noStrike">
                          <a:solidFill>
                            <a:srgbClr val="1F2933"/>
                          </a:solidFill>
                          <a:latin typeface="Calibri"/>
                          <a:ea typeface="Calibri"/>
                          <a:cs typeface="Calibri"/>
                          <a:sym typeface="Calibri"/>
                        </a:rPr>
                        <a:t>, </a:t>
                      </a:r>
                      <a:r>
                        <a:rPr lang="en-US" sz="1600" u="none" cap="none" strike="noStrike">
                          <a:solidFill>
                            <a:srgbClr val="1F3A5F"/>
                          </a:solidFill>
                          <a:latin typeface="Courier New"/>
                          <a:ea typeface="Courier New"/>
                          <a:cs typeface="Courier New"/>
                          <a:sym typeface="Courier New"/>
                        </a:rPr>
                        <a:t>Ile-de-France</a:t>
                      </a:r>
                      <a:r>
                        <a:rPr lang="en-US" sz="1600" u="none" cap="none" strike="noStrike">
                          <a:solidFill>
                            <a:srgbClr val="1F2933"/>
                          </a:solidFill>
                          <a:latin typeface="Calibri"/>
                          <a:ea typeface="Calibri"/>
                          <a:cs typeface="Calibri"/>
                          <a:sym typeface="Calibri"/>
                        </a:rPr>
                        <a:t>, </a:t>
                      </a:r>
                      <a:r>
                        <a:rPr lang="en-US" sz="1600" u="none" cap="none" strike="noStrike">
                          <a:solidFill>
                            <a:srgbClr val="1F3A5F"/>
                          </a:solidFill>
                          <a:latin typeface="Courier New"/>
                          <a:ea typeface="Courier New"/>
                          <a:cs typeface="Courier New"/>
                          <a:sym typeface="Courier New"/>
                        </a:rPr>
                        <a:t>INFORMATIQUE</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FFFFF"/>
                    </a:solidFill>
                  </a:tcPr>
                </a:tc>
              </a:tr>
              <a:tr h="379975">
                <a:tc>
                  <a:txBody>
                    <a:bodyPr/>
                    <a:lstStyle/>
                    <a:p>
                      <a:pPr indent="0" lvl="0" marL="0" marR="0" rtl="0" algn="l">
                        <a:spcBef>
                          <a:spcPts val="0"/>
                        </a:spcBef>
                        <a:spcAft>
                          <a:spcPts val="0"/>
                        </a:spcAft>
                        <a:buClr>
                          <a:srgbClr val="1F2933"/>
                        </a:buClr>
                        <a:buSzPts val="1600"/>
                        <a:buFont typeface="Calibri"/>
                        <a:buNone/>
                      </a:pPr>
                      <a:r>
                        <a:rPr b="1" lang="en-US" sz="1600" u="none" cap="none" strike="noStrike">
                          <a:solidFill>
                            <a:srgbClr val="1F2933"/>
                          </a:solidFill>
                          <a:latin typeface="Calibri"/>
                          <a:ea typeface="Calibri"/>
                          <a:cs typeface="Calibri"/>
                          <a:sym typeface="Calibri"/>
                        </a:rPr>
                        <a:t>Doublons</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7F9FB"/>
                    </a:solidFill>
                  </a:tcPr>
                </a:tc>
                <a:tc>
                  <a:txBody>
                    <a:bodyPr/>
                    <a:lstStyle/>
                    <a:p>
                      <a:pPr indent="0" lvl="0" marL="0" marR="0" rtl="0" algn="l">
                        <a:spcBef>
                          <a:spcPts val="0"/>
                        </a:spcBef>
                        <a:spcAft>
                          <a:spcPts val="0"/>
                        </a:spcAft>
                        <a:buClr>
                          <a:srgbClr val="1F2933"/>
                        </a:buClr>
                        <a:buSzPts val="1600"/>
                        <a:buFont typeface="Calibri"/>
                        <a:buNone/>
                      </a:pPr>
                      <a:r>
                        <a:rPr lang="en-US" sz="1600" u="none" cap="none" strike="noStrike">
                          <a:solidFill>
                            <a:srgbClr val="1F2933"/>
                          </a:solidFill>
                          <a:latin typeface="Calibri"/>
                          <a:ea typeface="Calibri"/>
                          <a:cs typeface="Calibri"/>
                          <a:sym typeface="Calibri"/>
                        </a:rPr>
                        <a:t>2 lignes identiques</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7F9FB"/>
                    </a:solidFill>
                  </a:tcPr>
                </a:tc>
              </a:tr>
              <a:tr h="379975">
                <a:tc>
                  <a:txBody>
                    <a:bodyPr/>
                    <a:lstStyle/>
                    <a:p>
                      <a:pPr indent="0" lvl="0" marL="0" marR="0" rtl="0" algn="l">
                        <a:spcBef>
                          <a:spcPts val="0"/>
                        </a:spcBef>
                        <a:spcAft>
                          <a:spcPts val="0"/>
                        </a:spcAft>
                        <a:buClr>
                          <a:srgbClr val="1F2933"/>
                        </a:buClr>
                        <a:buSzPts val="1600"/>
                        <a:buFont typeface="Calibri"/>
                        <a:buNone/>
                      </a:pPr>
                      <a:r>
                        <a:rPr b="1" lang="en-US" sz="1600" u="none" cap="none" strike="noStrike">
                          <a:solidFill>
                            <a:srgbClr val="1F2933"/>
                          </a:solidFill>
                          <a:latin typeface="Calibri"/>
                          <a:ea typeface="Calibri"/>
                          <a:cs typeface="Calibri"/>
                          <a:sym typeface="Calibri"/>
                        </a:rPr>
                        <a:t>Types</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F3A5F"/>
                        </a:buClr>
                        <a:buSzPts val="1600"/>
                        <a:buFont typeface="Courier New"/>
                        <a:buNone/>
                      </a:pPr>
                      <a:r>
                        <a:rPr lang="en-US" sz="1600" u="none" cap="none" strike="noStrike">
                          <a:solidFill>
                            <a:srgbClr val="1F3A5F"/>
                          </a:solidFill>
                          <a:latin typeface="Courier New"/>
                          <a:ea typeface="Courier New"/>
                          <a:cs typeface="Courier New"/>
                          <a:sym typeface="Courier New"/>
                        </a:rPr>
                        <a:t>date</a:t>
                      </a:r>
                      <a:r>
                        <a:rPr lang="en-US" sz="1600" u="none" cap="none" strike="noStrike">
                          <a:solidFill>
                            <a:srgbClr val="1F2933"/>
                          </a:solidFill>
                          <a:latin typeface="Calibri"/>
                          <a:ea typeface="Calibri"/>
                          <a:cs typeface="Calibri"/>
                          <a:sym typeface="Calibri"/>
                        </a:rPr>
                        <a:t> lue comme du texte</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FFFFF"/>
                    </a:solidFill>
                  </a:tcPr>
                </a:tc>
              </a:tr>
              <a:tr h="379975">
                <a:tc>
                  <a:txBody>
                    <a:bodyPr/>
                    <a:lstStyle/>
                    <a:p>
                      <a:pPr indent="0" lvl="0" marL="0" marR="0" rtl="0" algn="l">
                        <a:spcBef>
                          <a:spcPts val="0"/>
                        </a:spcBef>
                        <a:spcAft>
                          <a:spcPts val="0"/>
                        </a:spcAft>
                        <a:buClr>
                          <a:srgbClr val="1F2933"/>
                        </a:buClr>
                        <a:buSzPts val="1600"/>
                        <a:buFont typeface="Calibri"/>
                        <a:buNone/>
                      </a:pPr>
                      <a:r>
                        <a:rPr b="1" lang="en-US" sz="1600" u="none" cap="none" strike="noStrike">
                          <a:solidFill>
                            <a:srgbClr val="1F2933"/>
                          </a:solidFill>
                          <a:latin typeface="Calibri"/>
                          <a:ea typeface="Calibri"/>
                          <a:cs typeface="Calibri"/>
                          <a:sym typeface="Calibri"/>
                        </a:rPr>
                        <a:t>Noms de colonnes</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7F9FB"/>
                    </a:solidFill>
                  </a:tcPr>
                </a:tc>
                <a:tc>
                  <a:txBody>
                    <a:bodyPr/>
                    <a:lstStyle/>
                    <a:p>
                      <a:pPr indent="0" lvl="0" marL="0" marR="0" rtl="0" algn="l">
                        <a:spcBef>
                          <a:spcPts val="0"/>
                        </a:spcBef>
                        <a:spcAft>
                          <a:spcPts val="0"/>
                        </a:spcAft>
                        <a:buClr>
                          <a:srgbClr val="1F3A5F"/>
                        </a:buClr>
                        <a:buSzPts val="1600"/>
                        <a:buFont typeface="Courier New"/>
                        <a:buNone/>
                      </a:pPr>
                      <a:r>
                        <a:rPr lang="en-US" sz="1600" u="none" cap="none" strike="noStrike">
                          <a:solidFill>
                            <a:srgbClr val="1F3A5F"/>
                          </a:solidFill>
                          <a:latin typeface="Courier New"/>
                          <a:ea typeface="Courier New"/>
                          <a:cs typeface="Courier New"/>
                          <a:sym typeface="Courier New"/>
                        </a:rPr>
                        <a:t>Prix unitaire</a:t>
                      </a:r>
                      <a:r>
                        <a:rPr lang="en-US" sz="1600" u="none" cap="none" strike="noStrike">
                          <a:solidFill>
                            <a:srgbClr val="1F2933"/>
                          </a:solidFill>
                          <a:latin typeface="Calibri"/>
                          <a:ea typeface="Calibri"/>
                          <a:cs typeface="Calibri"/>
                          <a:sym typeface="Calibri"/>
                        </a:rPr>
                        <a:t> et </a:t>
                      </a:r>
                      <a:r>
                        <a:rPr lang="en-US" sz="1600" u="none" cap="none" strike="noStrike">
                          <a:solidFill>
                            <a:srgbClr val="1F3A5F"/>
                          </a:solidFill>
                          <a:latin typeface="Courier New"/>
                          <a:ea typeface="Courier New"/>
                          <a:cs typeface="Courier New"/>
                          <a:sym typeface="Courier New"/>
                        </a:rPr>
                        <a:t>Client fidèle</a:t>
                      </a:r>
                      <a:r>
                        <a:rPr lang="en-US" sz="1600" u="none" cap="none" strike="noStrike">
                          <a:solidFill>
                            <a:srgbClr val="1F2933"/>
                          </a:solidFill>
                          <a:latin typeface="Calibri"/>
                          <a:ea typeface="Calibri"/>
                          <a:cs typeface="Calibri"/>
                          <a:sym typeface="Calibri"/>
                        </a:rPr>
                        <a:t> au milieu de noms en minuscules</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7F9FB"/>
                    </a:solidFill>
                  </a:tcPr>
                </a:tc>
              </a:tr>
            </a:tbl>
          </a:graphicData>
        </a:graphic>
      </p:graphicFrame>
      <p:sp>
        <p:nvSpPr>
          <p:cNvPr id="84" name="Google Shape;84;p3"/>
          <p:cNvSpPr txBox="1"/>
          <p:nvPr/>
        </p:nvSpPr>
        <p:spPr>
          <a:xfrm>
            <a:off x="548640" y="6400800"/>
            <a:ext cx="73152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B7280"/>
              </a:buClr>
              <a:buSzPts val="1000"/>
              <a:buFont typeface="Calibri"/>
              <a:buNone/>
            </a:pPr>
            <a:r>
              <a:rPr b="0" i="0" lang="en-US" sz="1000" u="none" cap="none" strike="noStrike">
                <a:solidFill>
                  <a:srgbClr val="6B7280"/>
                </a:solidFill>
                <a:latin typeface="Calibri"/>
                <a:ea typeface="Calibri"/>
                <a:cs typeface="Calibri"/>
                <a:sym typeface="Calibri"/>
              </a:rPr>
              <a:t>Analyse de données avec Python   |   Jour 1, après-midi</a:t>
            </a:r>
            <a:endParaRPr b="0" i="0" sz="1000" u="none" cap="none" strike="noStrike">
              <a:solidFill>
                <a:schemeClr val="dk1"/>
              </a:solidFill>
              <a:latin typeface="Calibri"/>
              <a:ea typeface="Calibri"/>
              <a:cs typeface="Calibri"/>
              <a:sym typeface="Calibri"/>
            </a:endParaRPr>
          </a:p>
        </p:txBody>
      </p:sp>
      <p:sp>
        <p:nvSpPr>
          <p:cNvPr id="85" name="Google Shape;85;p3"/>
          <p:cNvSpPr txBox="1"/>
          <p:nvPr>
            <p:ph idx="4294967295" type="sldNum"/>
          </p:nvPr>
        </p:nvSpPr>
        <p:spPr>
          <a:xfrm>
            <a:off x="11094415" y="6400800"/>
            <a:ext cx="548640" cy="27432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000" u="none" cap="none" strike="noStrike">
                <a:solidFill>
                  <a:srgbClr val="6B7280"/>
                </a:solidFill>
                <a:latin typeface="Calibri"/>
                <a:ea typeface="Calibri"/>
                <a:cs typeface="Calibri"/>
                <a:sym typeface="Calibri"/>
              </a:rPr>
              <a:t>‹#›</a:t>
            </a:fld>
            <a:endParaRPr b="0" i="0" sz="1000" u="none" cap="none" strike="noStrike">
              <a:solidFill>
                <a:srgbClr val="6B7280"/>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F3A5F"/>
        </a:solidFill>
      </p:bgPr>
    </p:bg>
    <p:spTree>
      <p:nvGrpSpPr>
        <p:cNvPr id="90" name="Shape 90"/>
        <p:cNvGrpSpPr/>
        <p:nvPr/>
      </p:nvGrpSpPr>
      <p:grpSpPr>
        <a:xfrm>
          <a:off x="0" y="0"/>
          <a:ext cx="0" cy="0"/>
          <a:chOff x="0" y="0"/>
          <a:chExt cx="0" cy="0"/>
        </a:xfrm>
      </p:grpSpPr>
      <p:sp>
        <p:nvSpPr>
          <p:cNvPr id="91" name="Google Shape;91;p4"/>
          <p:cNvSpPr txBox="1"/>
          <p:nvPr/>
        </p:nvSpPr>
        <p:spPr>
          <a:xfrm>
            <a:off x="731520" y="1737360"/>
            <a:ext cx="2743200" cy="11887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FD1B5"/>
              </a:buClr>
              <a:buSzPts val="8000"/>
              <a:buFont typeface="Cambria"/>
              <a:buNone/>
            </a:pPr>
            <a:r>
              <a:rPr b="1" i="0" lang="en-US" sz="8000" u="none" cap="none" strike="noStrike">
                <a:solidFill>
                  <a:srgbClr val="8FD1B5"/>
                </a:solidFill>
                <a:latin typeface="Cambria"/>
                <a:ea typeface="Cambria"/>
                <a:cs typeface="Cambria"/>
                <a:sym typeface="Cambria"/>
              </a:rPr>
              <a:t>01</a:t>
            </a:r>
            <a:endParaRPr b="0" i="0" sz="8000" u="none" cap="none" strike="noStrike">
              <a:solidFill>
                <a:schemeClr val="dk1"/>
              </a:solidFill>
              <a:latin typeface="Calibri"/>
              <a:ea typeface="Calibri"/>
              <a:cs typeface="Calibri"/>
              <a:sym typeface="Calibri"/>
            </a:endParaRPr>
          </a:p>
        </p:txBody>
      </p:sp>
      <p:sp>
        <p:nvSpPr>
          <p:cNvPr id="92" name="Google Shape;92;p4"/>
          <p:cNvSpPr txBox="1"/>
          <p:nvPr/>
        </p:nvSpPr>
        <p:spPr>
          <a:xfrm>
            <a:off x="731520" y="3017520"/>
            <a:ext cx="10515600" cy="8229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FFFFFF"/>
              </a:buClr>
              <a:buSzPts val="4000"/>
              <a:buFont typeface="Cambria"/>
              <a:buNone/>
            </a:pPr>
            <a:r>
              <a:rPr b="1" i="0" lang="en-US" sz="4000" u="none" cap="none" strike="noStrike">
                <a:solidFill>
                  <a:srgbClr val="FFFFFF"/>
                </a:solidFill>
                <a:latin typeface="Cambria"/>
                <a:ea typeface="Cambria"/>
                <a:cs typeface="Cambria"/>
                <a:sym typeface="Cambria"/>
              </a:rPr>
              <a:t>Sélectionner des données</a:t>
            </a:r>
            <a:endParaRPr b="0" i="0" sz="4000" u="none" cap="none" strike="noStrike">
              <a:solidFill>
                <a:schemeClr val="dk1"/>
              </a:solidFill>
              <a:latin typeface="Calibri"/>
              <a:ea typeface="Calibri"/>
              <a:cs typeface="Calibri"/>
              <a:sym typeface="Calibri"/>
            </a:endParaRPr>
          </a:p>
        </p:txBody>
      </p:sp>
      <p:sp>
        <p:nvSpPr>
          <p:cNvPr id="93" name="Google Shape;93;p4"/>
          <p:cNvSpPr txBox="1"/>
          <p:nvPr/>
        </p:nvSpPr>
        <p:spPr>
          <a:xfrm>
            <a:off x="731520" y="3977640"/>
            <a:ext cx="10515600" cy="5486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C9D6E3"/>
              </a:buClr>
              <a:buSzPts val="2000"/>
              <a:buFont typeface="Calibri"/>
              <a:buNone/>
            </a:pPr>
            <a:r>
              <a:rPr b="0" i="0" lang="en-US" sz="2000" u="none" cap="none" strike="noStrike">
                <a:solidFill>
                  <a:srgbClr val="C9D6E3"/>
                </a:solidFill>
                <a:latin typeface="Calibri"/>
                <a:ea typeface="Calibri"/>
                <a:cs typeface="Calibri"/>
                <a:sym typeface="Calibri"/>
              </a:rPr>
              <a:t>loc et iloc   |   Filtrage booléen   |   Modifier une sélection</a:t>
            </a:r>
            <a:endParaRPr b="0" i="0" sz="2000" u="none" cap="none" strike="noStrike">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8" name="Shape 98"/>
        <p:cNvGrpSpPr/>
        <p:nvPr/>
      </p:nvGrpSpPr>
      <p:grpSpPr>
        <a:xfrm>
          <a:off x="0" y="0"/>
          <a:ext cx="0" cy="0"/>
          <a:chOff x="0" y="0"/>
          <a:chExt cx="0" cy="0"/>
        </a:xfrm>
      </p:grpSpPr>
      <p:sp>
        <p:nvSpPr>
          <p:cNvPr id="99" name="Google Shape;99;p5"/>
          <p:cNvSpPr/>
          <p:nvPr/>
        </p:nvSpPr>
        <p:spPr>
          <a:xfrm>
            <a:off x="548640" y="566928"/>
            <a:ext cx="475488" cy="475488"/>
          </a:xfrm>
          <a:prstGeom prst="ellipse">
            <a:avLst/>
          </a:prstGeom>
          <a:solidFill>
            <a:srgbClr val="2F7D6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 name="Google Shape;100;p5"/>
          <p:cNvSpPr txBox="1"/>
          <p:nvPr/>
        </p:nvSpPr>
        <p:spPr>
          <a:xfrm>
            <a:off x="548640" y="566928"/>
            <a:ext cx="475488" cy="47548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1</a:t>
            </a:r>
            <a:endParaRPr b="0" i="0" sz="1600" u="none" cap="none" strike="noStrike">
              <a:solidFill>
                <a:schemeClr val="dk1"/>
              </a:solidFill>
              <a:latin typeface="Calibri"/>
              <a:ea typeface="Calibri"/>
              <a:cs typeface="Calibri"/>
              <a:sym typeface="Calibri"/>
            </a:endParaRPr>
          </a:p>
        </p:txBody>
      </p:sp>
      <p:sp>
        <p:nvSpPr>
          <p:cNvPr id="101" name="Google Shape;101;p5"/>
          <p:cNvSpPr txBox="1"/>
          <p:nvPr/>
        </p:nvSpPr>
        <p:spPr>
          <a:xfrm>
            <a:off x="1280160" y="164592"/>
            <a:ext cx="10362895"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F7D62"/>
              </a:buClr>
              <a:buSzPts val="1200"/>
              <a:buFont typeface="Calibri"/>
              <a:buNone/>
            </a:pPr>
            <a:r>
              <a:rPr b="1" i="0" lang="en-US" sz="1200" u="none" cap="none" strike="noStrike">
                <a:solidFill>
                  <a:srgbClr val="2F7D62"/>
                </a:solidFill>
                <a:latin typeface="Calibri"/>
                <a:ea typeface="Calibri"/>
                <a:cs typeface="Calibri"/>
                <a:sym typeface="Calibri"/>
              </a:rPr>
              <a:t>SÉLECTIONNER DES DONNÉES</a:t>
            </a:r>
            <a:endParaRPr b="0" i="0" sz="1200" u="none" cap="none" strike="noStrike">
              <a:solidFill>
                <a:schemeClr val="dk1"/>
              </a:solidFill>
              <a:latin typeface="Calibri"/>
              <a:ea typeface="Calibri"/>
              <a:cs typeface="Calibri"/>
              <a:sym typeface="Calibri"/>
            </a:endParaRPr>
          </a:p>
        </p:txBody>
      </p:sp>
      <p:sp>
        <p:nvSpPr>
          <p:cNvPr id="102" name="Google Shape;102;p5"/>
          <p:cNvSpPr txBox="1"/>
          <p:nvPr/>
        </p:nvSpPr>
        <p:spPr>
          <a:xfrm>
            <a:off x="1280160" y="457200"/>
            <a:ext cx="10362895" cy="6949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F3A5F"/>
              </a:buClr>
              <a:buSzPts val="3000"/>
              <a:buFont typeface="Cambria"/>
              <a:buNone/>
            </a:pPr>
            <a:r>
              <a:rPr b="1" i="0" lang="en-US" sz="3000" u="none" cap="none" strike="noStrike">
                <a:solidFill>
                  <a:srgbClr val="1F3A5F"/>
                </a:solidFill>
                <a:latin typeface="Cambria"/>
                <a:ea typeface="Cambria"/>
                <a:cs typeface="Cambria"/>
                <a:sym typeface="Cambria"/>
              </a:rPr>
              <a:t>loc et iloc</a:t>
            </a:r>
            <a:endParaRPr b="0" i="0" sz="3000" u="none" cap="none" strike="noStrike">
              <a:solidFill>
                <a:schemeClr val="dk1"/>
              </a:solidFill>
              <a:latin typeface="Calibri"/>
              <a:ea typeface="Calibri"/>
              <a:cs typeface="Calibri"/>
              <a:sym typeface="Calibri"/>
            </a:endParaRPr>
          </a:p>
        </p:txBody>
      </p:sp>
      <p:graphicFrame>
        <p:nvGraphicFramePr>
          <p:cNvPr id="103" name="Google Shape;103;p5"/>
          <p:cNvGraphicFramePr/>
          <p:nvPr/>
        </p:nvGraphicFramePr>
        <p:xfrm>
          <a:off x="548640" y="1417320"/>
          <a:ext cx="3000000" cy="3000000"/>
        </p:xfrm>
        <a:graphic>
          <a:graphicData uri="http://schemas.openxmlformats.org/drawingml/2006/table">
            <a:tbl>
              <a:tblPr>
                <a:noFill/>
                <a:tableStyleId>{5790C458-BB61-4800-A068-DD2F3961D878}</a:tableStyleId>
              </a:tblPr>
              <a:tblGrid>
                <a:gridCol w="1715675"/>
                <a:gridCol w="1559700"/>
                <a:gridCol w="1559700"/>
              </a:tblGrid>
              <a:tr h="350775">
                <a:tc>
                  <a:txBody>
                    <a:bodyPr/>
                    <a:lstStyle/>
                    <a:p>
                      <a:pPr indent="0" lvl="0" marL="0" marR="0" rtl="0" algn="l">
                        <a:spcBef>
                          <a:spcPts val="0"/>
                        </a:spcBef>
                        <a:spcAft>
                          <a:spcPts val="0"/>
                        </a:spcAft>
                        <a:buClr>
                          <a:srgbClr val="FFFFFF"/>
                        </a:buClr>
                        <a:buSzPts val="1400"/>
                        <a:buFont typeface="Calibri"/>
                        <a:buNone/>
                      </a:pPr>
                      <a:r>
                        <a:rPr b="1" lang="en-US" sz="1400" u="none" cap="none" strike="noStrike">
                          <a:solidFill>
                            <a:srgbClr val="FFFFFF"/>
                          </a:solidFill>
                          <a:latin typeface="Calibri"/>
                          <a:ea typeface="Calibri"/>
                          <a:cs typeface="Calibri"/>
                          <a:sym typeface="Calibri"/>
                        </a:rPr>
                        <a:t> </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1F3A5F"/>
                    </a:solidFill>
                  </a:tcPr>
                </a:tc>
                <a:tc>
                  <a:txBody>
                    <a:bodyPr/>
                    <a:lstStyle/>
                    <a:p>
                      <a:pPr indent="0" lvl="0" marL="0" marR="0" rtl="0" algn="l">
                        <a:spcBef>
                          <a:spcPts val="0"/>
                        </a:spcBef>
                        <a:spcAft>
                          <a:spcPts val="0"/>
                        </a:spcAft>
                        <a:buClr>
                          <a:srgbClr val="FFFFFF"/>
                        </a:buClr>
                        <a:buSzPts val="1400"/>
                        <a:buFont typeface="Calibri"/>
                        <a:buNone/>
                      </a:pPr>
                      <a:r>
                        <a:rPr b="1" lang="en-US" sz="1400" u="none" cap="none" strike="noStrike">
                          <a:solidFill>
                            <a:srgbClr val="FFFFFF"/>
                          </a:solidFill>
                          <a:latin typeface="Calibri"/>
                          <a:ea typeface="Calibri"/>
                          <a:cs typeface="Calibri"/>
                          <a:sym typeface="Calibri"/>
                        </a:rPr>
                        <a:t>loc</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1F3A5F"/>
                    </a:solidFill>
                  </a:tcPr>
                </a:tc>
                <a:tc>
                  <a:txBody>
                    <a:bodyPr/>
                    <a:lstStyle/>
                    <a:p>
                      <a:pPr indent="0" lvl="0" marL="0" marR="0" rtl="0" algn="l">
                        <a:spcBef>
                          <a:spcPts val="0"/>
                        </a:spcBef>
                        <a:spcAft>
                          <a:spcPts val="0"/>
                        </a:spcAft>
                        <a:buClr>
                          <a:srgbClr val="FFFFFF"/>
                        </a:buClr>
                        <a:buSzPts val="1400"/>
                        <a:buFont typeface="Calibri"/>
                        <a:buNone/>
                      </a:pPr>
                      <a:r>
                        <a:rPr b="1" lang="en-US" sz="1400" u="none" cap="none" strike="noStrike">
                          <a:solidFill>
                            <a:srgbClr val="FFFFFF"/>
                          </a:solidFill>
                          <a:latin typeface="Calibri"/>
                          <a:ea typeface="Calibri"/>
                          <a:cs typeface="Calibri"/>
                          <a:sym typeface="Calibri"/>
                        </a:rPr>
                        <a:t>iloc</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1F3A5F"/>
                    </a:solidFill>
                  </a:tcPr>
                </a:tc>
              </a:tr>
              <a:tr h="350775">
                <a:tc>
                  <a:txBody>
                    <a:bodyPr/>
                    <a:lstStyle/>
                    <a:p>
                      <a:pPr indent="0" lvl="0" marL="0" marR="0" rtl="0" algn="l">
                        <a:spcBef>
                          <a:spcPts val="0"/>
                        </a:spcBef>
                        <a:spcAft>
                          <a:spcPts val="0"/>
                        </a:spcAft>
                        <a:buClr>
                          <a:srgbClr val="1F2933"/>
                        </a:buClr>
                        <a:buSzPts val="1400"/>
                        <a:buFont typeface="Calibri"/>
                        <a:buNone/>
                      </a:pPr>
                      <a:r>
                        <a:rPr lang="en-US" sz="1400" u="none" cap="none" strike="noStrike">
                          <a:solidFill>
                            <a:srgbClr val="1F2933"/>
                          </a:solidFill>
                          <a:latin typeface="Calibri"/>
                          <a:ea typeface="Calibri"/>
                          <a:cs typeface="Calibri"/>
                          <a:sym typeface="Calibri"/>
                        </a:rPr>
                        <a:t>Sélectionne par</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EEF3F7"/>
                    </a:solidFill>
                  </a:tcPr>
                </a:tc>
                <a:tc>
                  <a:txBody>
                    <a:bodyPr/>
                    <a:lstStyle/>
                    <a:p>
                      <a:pPr indent="0" lvl="0" marL="0" marR="0" rtl="0" algn="l">
                        <a:spcBef>
                          <a:spcPts val="0"/>
                        </a:spcBef>
                        <a:spcAft>
                          <a:spcPts val="0"/>
                        </a:spcAft>
                        <a:buClr>
                          <a:srgbClr val="1F2933"/>
                        </a:buClr>
                        <a:buSzPts val="1400"/>
                        <a:buFont typeface="Calibri"/>
                        <a:buNone/>
                      </a:pPr>
                      <a:r>
                        <a:rPr lang="en-US" sz="1400" u="none" cap="none" strike="noStrike">
                          <a:solidFill>
                            <a:srgbClr val="1F2933"/>
                          </a:solidFill>
                          <a:latin typeface="Calibri"/>
                          <a:ea typeface="Calibri"/>
                          <a:cs typeface="Calibri"/>
                          <a:sym typeface="Calibri"/>
                        </a:rPr>
                        <a:t>label</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F2933"/>
                        </a:buClr>
                        <a:buSzPts val="1400"/>
                        <a:buFont typeface="Calibri"/>
                        <a:buNone/>
                      </a:pPr>
                      <a:r>
                        <a:rPr lang="en-US" sz="1400" u="none" cap="none" strike="noStrike">
                          <a:solidFill>
                            <a:srgbClr val="1F2933"/>
                          </a:solidFill>
                          <a:latin typeface="Calibri"/>
                          <a:ea typeface="Calibri"/>
                          <a:cs typeface="Calibri"/>
                          <a:sym typeface="Calibri"/>
                        </a:rPr>
                        <a:t>position</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FFFFF"/>
                    </a:solidFill>
                  </a:tcPr>
                </a:tc>
              </a:tr>
              <a:tr h="350775">
                <a:tc>
                  <a:txBody>
                    <a:bodyPr/>
                    <a:lstStyle/>
                    <a:p>
                      <a:pPr indent="0" lvl="0" marL="0" marR="0" rtl="0" algn="l">
                        <a:spcBef>
                          <a:spcPts val="0"/>
                        </a:spcBef>
                        <a:spcAft>
                          <a:spcPts val="0"/>
                        </a:spcAft>
                        <a:buClr>
                          <a:srgbClr val="1F2933"/>
                        </a:buClr>
                        <a:buSzPts val="1400"/>
                        <a:buFont typeface="Calibri"/>
                        <a:buNone/>
                      </a:pPr>
                      <a:r>
                        <a:rPr lang="en-US" sz="1400" u="none" cap="none" strike="noStrike">
                          <a:solidFill>
                            <a:srgbClr val="1F2933"/>
                          </a:solidFill>
                          <a:latin typeface="Calibri"/>
                          <a:ea typeface="Calibri"/>
                          <a:cs typeface="Calibri"/>
                          <a:sym typeface="Calibri"/>
                        </a:rPr>
                        <a:t>Fin de tranche</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EEF3F7"/>
                    </a:solidFill>
                  </a:tcPr>
                </a:tc>
                <a:tc>
                  <a:txBody>
                    <a:bodyPr/>
                    <a:lstStyle/>
                    <a:p>
                      <a:pPr indent="0" lvl="0" marL="0" marR="0" rtl="0" algn="l">
                        <a:spcBef>
                          <a:spcPts val="0"/>
                        </a:spcBef>
                        <a:spcAft>
                          <a:spcPts val="0"/>
                        </a:spcAft>
                        <a:buClr>
                          <a:srgbClr val="1F2933"/>
                        </a:buClr>
                        <a:buSzPts val="1400"/>
                        <a:buFont typeface="Calibri"/>
                        <a:buNone/>
                      </a:pPr>
                      <a:r>
                        <a:rPr lang="en-US" sz="1400" u="none" cap="none" strike="noStrike">
                          <a:solidFill>
                            <a:srgbClr val="1F2933"/>
                          </a:solidFill>
                          <a:latin typeface="Calibri"/>
                          <a:ea typeface="Calibri"/>
                          <a:cs typeface="Calibri"/>
                          <a:sym typeface="Calibri"/>
                        </a:rPr>
                        <a:t>incluse</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7F9FB"/>
                    </a:solidFill>
                  </a:tcPr>
                </a:tc>
                <a:tc>
                  <a:txBody>
                    <a:bodyPr/>
                    <a:lstStyle/>
                    <a:p>
                      <a:pPr indent="0" lvl="0" marL="0" marR="0" rtl="0" algn="l">
                        <a:spcBef>
                          <a:spcPts val="0"/>
                        </a:spcBef>
                        <a:spcAft>
                          <a:spcPts val="0"/>
                        </a:spcAft>
                        <a:buClr>
                          <a:srgbClr val="1F2933"/>
                        </a:buClr>
                        <a:buSzPts val="1400"/>
                        <a:buFont typeface="Calibri"/>
                        <a:buNone/>
                      </a:pPr>
                      <a:r>
                        <a:rPr lang="en-US" sz="1400" u="none" cap="none" strike="noStrike">
                          <a:solidFill>
                            <a:srgbClr val="1F2933"/>
                          </a:solidFill>
                          <a:latin typeface="Calibri"/>
                          <a:ea typeface="Calibri"/>
                          <a:cs typeface="Calibri"/>
                          <a:sym typeface="Calibri"/>
                        </a:rPr>
                        <a:t>exclue</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7F9FB"/>
                    </a:solidFill>
                  </a:tcPr>
                </a:tc>
              </a:tr>
              <a:tr h="350775">
                <a:tc>
                  <a:txBody>
                    <a:bodyPr/>
                    <a:lstStyle/>
                    <a:p>
                      <a:pPr indent="0" lvl="0" marL="0" marR="0" rtl="0" algn="l">
                        <a:spcBef>
                          <a:spcPts val="0"/>
                        </a:spcBef>
                        <a:spcAft>
                          <a:spcPts val="0"/>
                        </a:spcAft>
                        <a:buClr>
                          <a:srgbClr val="1F2933"/>
                        </a:buClr>
                        <a:buSzPts val="1400"/>
                        <a:buFont typeface="Calibri"/>
                        <a:buNone/>
                      </a:pPr>
                      <a:r>
                        <a:rPr lang="en-US" sz="1400" u="none" cap="none" strike="noStrike">
                          <a:solidFill>
                            <a:srgbClr val="1F2933"/>
                          </a:solidFill>
                          <a:latin typeface="Calibri"/>
                          <a:ea typeface="Calibri"/>
                          <a:cs typeface="Calibri"/>
                          <a:sym typeface="Calibri"/>
                        </a:rPr>
                        <a:t>Masque booléen</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EEF3F7"/>
                    </a:solidFill>
                  </a:tcPr>
                </a:tc>
                <a:tc>
                  <a:txBody>
                    <a:bodyPr/>
                    <a:lstStyle/>
                    <a:p>
                      <a:pPr indent="0" lvl="0" marL="0" marR="0" rtl="0" algn="l">
                        <a:spcBef>
                          <a:spcPts val="0"/>
                        </a:spcBef>
                        <a:spcAft>
                          <a:spcPts val="0"/>
                        </a:spcAft>
                        <a:buClr>
                          <a:srgbClr val="1F2933"/>
                        </a:buClr>
                        <a:buSzPts val="1400"/>
                        <a:buFont typeface="Calibri"/>
                        <a:buNone/>
                      </a:pPr>
                      <a:r>
                        <a:rPr lang="en-US" sz="1400" u="none" cap="none" strike="noStrike">
                          <a:solidFill>
                            <a:srgbClr val="1F2933"/>
                          </a:solidFill>
                          <a:latin typeface="Calibri"/>
                          <a:ea typeface="Calibri"/>
                          <a:cs typeface="Calibri"/>
                          <a:sym typeface="Calibri"/>
                        </a:rPr>
                        <a:t>oui</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F2933"/>
                        </a:buClr>
                        <a:buSzPts val="1400"/>
                        <a:buFont typeface="Calibri"/>
                        <a:buNone/>
                      </a:pPr>
                      <a:r>
                        <a:rPr lang="en-US" sz="1400" u="none" cap="none" strike="noStrike">
                          <a:solidFill>
                            <a:srgbClr val="1F2933"/>
                          </a:solidFill>
                          <a:latin typeface="Calibri"/>
                          <a:ea typeface="Calibri"/>
                          <a:cs typeface="Calibri"/>
                          <a:sym typeface="Calibri"/>
                        </a:rPr>
                        <a:t>non</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FFFFF"/>
                    </a:solidFill>
                  </a:tcPr>
                </a:tc>
              </a:tr>
            </a:tbl>
          </a:graphicData>
        </a:graphic>
      </p:graphicFrame>
      <p:sp>
        <p:nvSpPr>
          <p:cNvPr id="104" name="Google Shape;104;p5"/>
          <p:cNvSpPr txBox="1"/>
          <p:nvPr/>
        </p:nvSpPr>
        <p:spPr>
          <a:xfrm>
            <a:off x="548640" y="3140456"/>
            <a:ext cx="4835098" cy="8686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B7280"/>
              </a:buClr>
              <a:buSzPts val="1600"/>
              <a:buFont typeface="Calibri"/>
              <a:buNone/>
            </a:pPr>
            <a:r>
              <a:rPr b="0" i="0" lang="en-US" sz="1600" u="none" cap="none" strike="noStrike">
                <a:solidFill>
                  <a:srgbClr val="6B7280"/>
                </a:solidFill>
                <a:latin typeface="Calibri"/>
                <a:ea typeface="Calibri"/>
                <a:cs typeface="Calibri"/>
                <a:sym typeface="Calibri"/>
              </a:rPr>
              <a:t>La syntaxe est toujours </a:t>
            </a:r>
            <a:r>
              <a:rPr b="0" i="0" lang="en-US" sz="1600" u="none" cap="none" strike="noStrike">
                <a:solidFill>
                  <a:srgbClr val="1F3A5F"/>
                </a:solidFill>
                <a:latin typeface="Courier New"/>
                <a:ea typeface="Courier New"/>
                <a:cs typeface="Courier New"/>
                <a:sym typeface="Courier New"/>
              </a:rPr>
              <a:t>df.loc[lignes, colonnes]</a:t>
            </a:r>
            <a:r>
              <a:rPr b="0" i="0" lang="en-US" sz="1600" u="none" cap="none" strike="noStrike">
                <a:solidFill>
                  <a:srgbClr val="6B7280"/>
                </a:solidFill>
                <a:latin typeface="Calibri"/>
                <a:ea typeface="Calibri"/>
                <a:cs typeface="Calibri"/>
                <a:sym typeface="Calibri"/>
              </a:rPr>
              <a:t>. Les deux-points seuls signifient « tout ».</a:t>
            </a:r>
            <a:endParaRPr b="0" i="0" sz="1600" u="none" cap="none" strike="noStrike">
              <a:solidFill>
                <a:schemeClr val="dk1"/>
              </a:solidFill>
              <a:latin typeface="Calibri"/>
              <a:ea typeface="Calibri"/>
              <a:cs typeface="Calibri"/>
              <a:sym typeface="Calibri"/>
            </a:endParaRPr>
          </a:p>
        </p:txBody>
      </p:sp>
      <p:sp>
        <p:nvSpPr>
          <p:cNvPr id="105" name="Google Shape;105;p5"/>
          <p:cNvSpPr/>
          <p:nvPr/>
        </p:nvSpPr>
        <p:spPr>
          <a:xfrm>
            <a:off x="5840938" y="1417320"/>
            <a:ext cx="5802117" cy="1761236"/>
          </a:xfrm>
          <a:prstGeom prst="rect">
            <a:avLst/>
          </a:prstGeom>
          <a:solidFill>
            <a:srgbClr val="F3F4F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 name="Google Shape;106;p5"/>
          <p:cNvSpPr txBox="1"/>
          <p:nvPr/>
        </p:nvSpPr>
        <p:spPr>
          <a:xfrm>
            <a:off x="6023818" y="1563624"/>
            <a:ext cx="5436357" cy="146862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F2933"/>
              </a:buClr>
              <a:buSzPts val="1400"/>
              <a:buFont typeface="Courier New"/>
              <a:buNone/>
            </a:pPr>
            <a:r>
              <a:rPr b="0" i="0" lang="en-US" sz="1400" u="none" cap="none" strike="noStrike">
                <a:solidFill>
                  <a:srgbClr val="1F2933"/>
                </a:solidFill>
                <a:latin typeface="Courier New"/>
                <a:ea typeface="Courier New"/>
                <a:cs typeface="Courier New"/>
                <a:sym typeface="Courier New"/>
              </a:rPr>
              <a:t>df.loc[0]                              # label 0</a:t>
            </a:r>
            <a:endParaRPr b="0" i="0" sz="14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F2933"/>
              </a:buClr>
              <a:buSzPts val="1400"/>
              <a:buFont typeface="Courier New"/>
              <a:buNone/>
            </a:pPr>
            <a:r>
              <a:rPr b="0" i="0" lang="en-US" sz="1400" u="none" cap="none" strike="noStrike">
                <a:solidFill>
                  <a:srgbClr val="1F2933"/>
                </a:solidFill>
                <a:latin typeface="Courier New"/>
                <a:ea typeface="Courier New"/>
                <a:cs typeface="Courier New"/>
                <a:sym typeface="Courier New"/>
              </a:rPr>
              <a:t>df.loc[0:4, ["produit", "quantite"]]   # 5 lignes</a:t>
            </a:r>
            <a:endParaRPr b="0" i="0" sz="14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F2933"/>
              </a:buClr>
              <a:buSzPts val="1400"/>
              <a:buFont typeface="Courier New"/>
              <a:buNone/>
            </a:pPr>
            <a:r>
              <a:rPr b="0" i="0" lang="en-US" sz="1400" u="none" cap="none" strike="noStrike">
                <a:solidFill>
                  <a:srgbClr val="1F2933"/>
                </a:solidFill>
                <a:latin typeface="Courier New"/>
                <a:ea typeface="Courier New"/>
                <a:cs typeface="Courier New"/>
                <a:sym typeface="Courier New"/>
              </a:rPr>
              <a:t>df.iloc[0:4, [4, 6]]                   # 4 lignes</a:t>
            </a:r>
            <a:endParaRPr b="0" i="0" sz="14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F2933"/>
              </a:buClr>
              <a:buSzPts val="1400"/>
              <a:buFont typeface="Courier New"/>
              <a:buNone/>
            </a:pPr>
            <a:r>
              <a:rPr b="0" i="0" lang="en-US" sz="1400" u="none" cap="none" strike="noStrike">
                <a:solidFill>
                  <a:srgbClr val="1F2933"/>
                </a:solidFill>
                <a:latin typeface="Courier New"/>
                <a:ea typeface="Courier New"/>
                <a:cs typeface="Courier New"/>
                <a:sym typeface="Courier New"/>
              </a:rPr>
              <a:t> </a:t>
            </a:r>
            <a:endParaRPr b="0" i="0" sz="14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F2933"/>
              </a:buClr>
              <a:buSzPts val="1400"/>
              <a:buFont typeface="Courier New"/>
              <a:buNone/>
            </a:pPr>
            <a:r>
              <a:rPr b="0" i="0" lang="en-US" sz="1400" u="none" cap="none" strike="noStrike">
                <a:solidFill>
                  <a:srgbClr val="1F2933"/>
                </a:solidFill>
                <a:latin typeface="Courier New"/>
                <a:ea typeface="Courier New"/>
                <a:cs typeface="Courier New"/>
                <a:sym typeface="Courier New"/>
              </a:rPr>
              <a:t>df.iloc[-1]         # dernière ligne</a:t>
            </a:r>
            <a:endParaRPr b="0" i="0" sz="14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F2933"/>
              </a:buClr>
              <a:buSzPts val="1400"/>
              <a:buFont typeface="Courier New"/>
              <a:buNone/>
            </a:pPr>
            <a:r>
              <a:rPr b="0" i="0" lang="en-US" sz="1400" u="none" cap="none" strike="noStrike">
                <a:solidFill>
                  <a:srgbClr val="1F2933"/>
                </a:solidFill>
                <a:latin typeface="Courier New"/>
                <a:ea typeface="Courier New"/>
                <a:cs typeface="Courier New"/>
                <a:sym typeface="Courier New"/>
              </a:rPr>
              <a:t>df.iloc[:, 0]       # première colonne</a:t>
            </a:r>
            <a:endParaRPr b="0" i="0" sz="14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F2933"/>
              </a:buClr>
              <a:buSzPts val="1400"/>
              <a:buFont typeface="Courier New"/>
              <a:buNone/>
            </a:pPr>
            <a:r>
              <a:rPr b="0" i="0" lang="en-US" sz="1400" u="none" cap="none" strike="noStrike">
                <a:solidFill>
                  <a:srgbClr val="1F2933"/>
                </a:solidFill>
                <a:latin typeface="Courier New"/>
                <a:ea typeface="Courier New"/>
                <a:cs typeface="Courier New"/>
                <a:sym typeface="Courier New"/>
              </a:rPr>
              <a:t>df.loc[:, "produit"]</a:t>
            </a:r>
            <a:endParaRPr b="0" i="0" sz="1400" u="none" cap="none" strike="noStrike">
              <a:solidFill>
                <a:schemeClr val="dk1"/>
              </a:solidFill>
              <a:latin typeface="Calibri"/>
              <a:ea typeface="Calibri"/>
              <a:cs typeface="Calibri"/>
              <a:sym typeface="Calibri"/>
            </a:endParaRPr>
          </a:p>
        </p:txBody>
      </p:sp>
      <p:sp>
        <p:nvSpPr>
          <p:cNvPr id="107" name="Google Shape;107;p5"/>
          <p:cNvSpPr txBox="1"/>
          <p:nvPr/>
        </p:nvSpPr>
        <p:spPr>
          <a:xfrm>
            <a:off x="548640" y="6400800"/>
            <a:ext cx="73152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B7280"/>
              </a:buClr>
              <a:buSzPts val="1000"/>
              <a:buFont typeface="Calibri"/>
              <a:buNone/>
            </a:pPr>
            <a:r>
              <a:rPr b="0" i="0" lang="en-US" sz="1000" u="none" cap="none" strike="noStrike">
                <a:solidFill>
                  <a:srgbClr val="6B7280"/>
                </a:solidFill>
                <a:latin typeface="Calibri"/>
                <a:ea typeface="Calibri"/>
                <a:cs typeface="Calibri"/>
                <a:sym typeface="Calibri"/>
              </a:rPr>
              <a:t>Analyse de données avec Python   |   Jour 1, après-midi</a:t>
            </a:r>
            <a:endParaRPr b="0" i="0" sz="1000" u="none" cap="none" strike="noStrike">
              <a:solidFill>
                <a:schemeClr val="dk1"/>
              </a:solidFill>
              <a:latin typeface="Calibri"/>
              <a:ea typeface="Calibri"/>
              <a:cs typeface="Calibri"/>
              <a:sym typeface="Calibri"/>
            </a:endParaRPr>
          </a:p>
        </p:txBody>
      </p:sp>
      <p:sp>
        <p:nvSpPr>
          <p:cNvPr id="108" name="Google Shape;108;p5"/>
          <p:cNvSpPr txBox="1"/>
          <p:nvPr>
            <p:ph idx="4294967295" type="sldNum"/>
          </p:nvPr>
        </p:nvSpPr>
        <p:spPr>
          <a:xfrm>
            <a:off x="11094415" y="6400800"/>
            <a:ext cx="548640" cy="27432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000" u="none" cap="none" strike="noStrike">
                <a:solidFill>
                  <a:srgbClr val="6B7280"/>
                </a:solidFill>
                <a:latin typeface="Calibri"/>
                <a:ea typeface="Calibri"/>
                <a:cs typeface="Calibri"/>
                <a:sym typeface="Calibri"/>
              </a:rPr>
              <a:t>‹#›</a:t>
            </a:fld>
            <a:endParaRPr b="0" i="0" sz="1000" u="none" cap="none" strike="noStrike">
              <a:solidFill>
                <a:srgbClr val="6B7280"/>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3" name="Shape 113"/>
        <p:cNvGrpSpPr/>
        <p:nvPr/>
      </p:nvGrpSpPr>
      <p:grpSpPr>
        <a:xfrm>
          <a:off x="0" y="0"/>
          <a:ext cx="0" cy="0"/>
          <a:chOff x="0" y="0"/>
          <a:chExt cx="0" cy="0"/>
        </a:xfrm>
      </p:grpSpPr>
      <p:sp>
        <p:nvSpPr>
          <p:cNvPr id="114" name="Google Shape;114;p6"/>
          <p:cNvSpPr/>
          <p:nvPr/>
        </p:nvSpPr>
        <p:spPr>
          <a:xfrm>
            <a:off x="548640" y="566928"/>
            <a:ext cx="475488" cy="475488"/>
          </a:xfrm>
          <a:prstGeom prst="ellipse">
            <a:avLst/>
          </a:prstGeom>
          <a:solidFill>
            <a:srgbClr val="2F7D6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 name="Google Shape;115;p6"/>
          <p:cNvSpPr txBox="1"/>
          <p:nvPr/>
        </p:nvSpPr>
        <p:spPr>
          <a:xfrm>
            <a:off x="548640" y="566928"/>
            <a:ext cx="475488" cy="47548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1</a:t>
            </a:r>
            <a:endParaRPr b="0" i="0" sz="1600" u="none" cap="none" strike="noStrike">
              <a:solidFill>
                <a:schemeClr val="dk1"/>
              </a:solidFill>
              <a:latin typeface="Calibri"/>
              <a:ea typeface="Calibri"/>
              <a:cs typeface="Calibri"/>
              <a:sym typeface="Calibri"/>
            </a:endParaRPr>
          </a:p>
        </p:txBody>
      </p:sp>
      <p:sp>
        <p:nvSpPr>
          <p:cNvPr id="116" name="Google Shape;116;p6"/>
          <p:cNvSpPr txBox="1"/>
          <p:nvPr/>
        </p:nvSpPr>
        <p:spPr>
          <a:xfrm>
            <a:off x="1280160" y="164592"/>
            <a:ext cx="10362895"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F7D62"/>
              </a:buClr>
              <a:buSzPts val="1200"/>
              <a:buFont typeface="Calibri"/>
              <a:buNone/>
            </a:pPr>
            <a:r>
              <a:rPr b="1" i="0" lang="en-US" sz="1200" u="none" cap="none" strike="noStrike">
                <a:solidFill>
                  <a:srgbClr val="2F7D62"/>
                </a:solidFill>
                <a:latin typeface="Calibri"/>
                <a:ea typeface="Calibri"/>
                <a:cs typeface="Calibri"/>
                <a:sym typeface="Calibri"/>
              </a:rPr>
              <a:t>SÉLECTIONNER DES DONNÉES</a:t>
            </a:r>
            <a:endParaRPr b="0" i="0" sz="1200" u="none" cap="none" strike="noStrike">
              <a:solidFill>
                <a:schemeClr val="dk1"/>
              </a:solidFill>
              <a:latin typeface="Calibri"/>
              <a:ea typeface="Calibri"/>
              <a:cs typeface="Calibri"/>
              <a:sym typeface="Calibri"/>
            </a:endParaRPr>
          </a:p>
        </p:txBody>
      </p:sp>
      <p:sp>
        <p:nvSpPr>
          <p:cNvPr id="117" name="Google Shape;117;p6"/>
          <p:cNvSpPr txBox="1"/>
          <p:nvPr/>
        </p:nvSpPr>
        <p:spPr>
          <a:xfrm>
            <a:off x="1280160" y="457200"/>
            <a:ext cx="10362895" cy="6949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F3A5F"/>
              </a:buClr>
              <a:buSzPts val="3000"/>
              <a:buFont typeface="Cambria"/>
              <a:buNone/>
            </a:pPr>
            <a:r>
              <a:rPr b="1" i="0" lang="en-US" sz="3000" u="none" cap="none" strike="noStrike">
                <a:solidFill>
                  <a:srgbClr val="1F3A5F"/>
                </a:solidFill>
                <a:latin typeface="Cambria"/>
                <a:ea typeface="Cambria"/>
                <a:cs typeface="Cambria"/>
                <a:sym typeface="Cambria"/>
              </a:rPr>
              <a:t>Label ou position : la différence après un tri</a:t>
            </a:r>
            <a:endParaRPr b="0" i="0" sz="3000" u="none" cap="none" strike="noStrike">
              <a:solidFill>
                <a:schemeClr val="dk1"/>
              </a:solidFill>
              <a:latin typeface="Calibri"/>
              <a:ea typeface="Calibri"/>
              <a:cs typeface="Calibri"/>
              <a:sym typeface="Calibri"/>
            </a:endParaRPr>
          </a:p>
        </p:txBody>
      </p:sp>
      <p:sp>
        <p:nvSpPr>
          <p:cNvPr id="118" name="Google Shape;118;p6"/>
          <p:cNvSpPr/>
          <p:nvPr/>
        </p:nvSpPr>
        <p:spPr>
          <a:xfrm>
            <a:off x="548640" y="1417320"/>
            <a:ext cx="5318608" cy="1656334"/>
          </a:xfrm>
          <a:prstGeom prst="rect">
            <a:avLst/>
          </a:prstGeom>
          <a:solidFill>
            <a:srgbClr val="F3F4F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 name="Google Shape;119;p6"/>
          <p:cNvSpPr txBox="1"/>
          <p:nvPr/>
        </p:nvSpPr>
        <p:spPr>
          <a:xfrm>
            <a:off x="731520" y="1563624"/>
            <a:ext cx="4952848" cy="1363726"/>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F2933"/>
              </a:buClr>
              <a:buSzPts val="1300"/>
              <a:buFont typeface="Courier New"/>
              <a:buNone/>
            </a:pPr>
            <a:r>
              <a:rPr b="0" i="0" lang="en-US" sz="1300" u="none" cap="none" strike="noStrike">
                <a:solidFill>
                  <a:srgbClr val="1F2933"/>
                </a:solidFill>
                <a:latin typeface="Courier New"/>
                <a:ea typeface="Courier New"/>
                <a:cs typeface="Courier New"/>
                <a:sym typeface="Courier New"/>
              </a:rPr>
              <a:t>tri = df.sort_values("quantite", ascending=False)</a:t>
            </a:r>
            <a:endParaRPr b="0" i="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F2933"/>
              </a:buClr>
              <a:buSzPts val="1300"/>
              <a:buFont typeface="Courier New"/>
              <a:buNone/>
            </a:pPr>
            <a:r>
              <a:rPr b="0" i="0" lang="en-US" sz="1300" u="none" cap="none" strike="noStrike">
                <a:solidFill>
                  <a:srgbClr val="1F2933"/>
                </a:solidFill>
                <a:latin typeface="Courier New"/>
                <a:ea typeface="Courier New"/>
                <a:cs typeface="Courier New"/>
                <a:sym typeface="Courier New"/>
              </a:rPr>
              <a:t> </a:t>
            </a:r>
            <a:endParaRPr b="0" i="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F2933"/>
              </a:buClr>
              <a:buSzPts val="1300"/>
              <a:buFont typeface="Courier New"/>
              <a:buNone/>
            </a:pPr>
            <a:r>
              <a:rPr b="0" i="0" lang="en-US" sz="1300" u="none" cap="none" strike="noStrike">
                <a:solidFill>
                  <a:srgbClr val="1F2933"/>
                </a:solidFill>
                <a:latin typeface="Courier New"/>
                <a:ea typeface="Courier New"/>
                <a:cs typeface="Courier New"/>
                <a:sym typeface="Courier New"/>
              </a:rPr>
              <a:t>tri.loc[0]     # la ligne de label 0,</a:t>
            </a:r>
            <a:endParaRPr b="0" i="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B7280"/>
              </a:buClr>
              <a:buSzPts val="1300"/>
              <a:buFont typeface="Courier New"/>
              <a:buNone/>
            </a:pPr>
            <a:r>
              <a:rPr b="0" i="0" lang="en-US" sz="1300" u="none" cap="none" strike="noStrike">
                <a:solidFill>
                  <a:srgbClr val="6B7280"/>
                </a:solidFill>
                <a:latin typeface="Courier New"/>
                <a:ea typeface="Courier New"/>
                <a:cs typeface="Courier New"/>
                <a:sym typeface="Courier New"/>
              </a:rPr>
              <a:t>               # où qu'elle soit après le tri</a:t>
            </a:r>
            <a:endParaRPr b="0" i="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F2933"/>
              </a:buClr>
              <a:buSzPts val="1300"/>
              <a:buFont typeface="Courier New"/>
              <a:buNone/>
            </a:pPr>
            <a:r>
              <a:rPr b="0" i="0" lang="en-US" sz="1300" u="none" cap="none" strike="noStrike">
                <a:solidFill>
                  <a:srgbClr val="1F2933"/>
                </a:solidFill>
                <a:latin typeface="Courier New"/>
                <a:ea typeface="Courier New"/>
                <a:cs typeface="Courier New"/>
                <a:sym typeface="Courier New"/>
              </a:rPr>
              <a:t> </a:t>
            </a:r>
            <a:endParaRPr b="0" i="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F2933"/>
              </a:buClr>
              <a:buSzPts val="1300"/>
              <a:buFont typeface="Courier New"/>
              <a:buNone/>
            </a:pPr>
            <a:r>
              <a:rPr b="0" i="0" lang="en-US" sz="1300" u="none" cap="none" strike="noStrike">
                <a:solidFill>
                  <a:srgbClr val="1F2933"/>
                </a:solidFill>
                <a:latin typeface="Courier New"/>
                <a:ea typeface="Courier New"/>
                <a:cs typeface="Courier New"/>
                <a:sym typeface="Courier New"/>
              </a:rPr>
              <a:t>tri.iloc[0]    # la nouvelle première ligne :</a:t>
            </a:r>
            <a:endParaRPr b="0" i="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B7280"/>
              </a:buClr>
              <a:buSzPts val="1300"/>
              <a:buFont typeface="Courier New"/>
              <a:buNone/>
            </a:pPr>
            <a:r>
              <a:rPr b="0" i="0" lang="en-US" sz="1300" u="none" cap="none" strike="noStrike">
                <a:solidFill>
                  <a:srgbClr val="6B7280"/>
                </a:solidFill>
                <a:latin typeface="Courier New"/>
                <a:ea typeface="Courier New"/>
                <a:cs typeface="Courier New"/>
                <a:sym typeface="Courier New"/>
              </a:rPr>
              <a:t>               # la plus grosse quantité</a:t>
            </a:r>
            <a:endParaRPr b="0" i="0" sz="1300" u="none" cap="none" strike="noStrike">
              <a:solidFill>
                <a:schemeClr val="dk1"/>
              </a:solidFill>
              <a:latin typeface="Calibri"/>
              <a:ea typeface="Calibri"/>
              <a:cs typeface="Calibri"/>
              <a:sym typeface="Calibri"/>
            </a:endParaRPr>
          </a:p>
        </p:txBody>
      </p:sp>
      <p:sp>
        <p:nvSpPr>
          <p:cNvPr id="120" name="Google Shape;120;p6"/>
          <p:cNvSpPr txBox="1"/>
          <p:nvPr/>
        </p:nvSpPr>
        <p:spPr>
          <a:xfrm>
            <a:off x="6324448" y="1417320"/>
            <a:ext cx="5318608" cy="1950720"/>
          </a:xfrm>
          <a:prstGeom prst="rect">
            <a:avLst/>
          </a:prstGeom>
          <a:noFill/>
          <a:ln>
            <a:noFill/>
          </a:ln>
        </p:spPr>
        <p:txBody>
          <a:bodyPr anchorCtr="0" anchor="t" bIns="0" lIns="0" spcFirstLastPara="1" rIns="0" wrap="square" tIns="0">
            <a:noAutofit/>
          </a:bodyPr>
          <a:lstStyle/>
          <a:p>
            <a:pPr indent="-254000" lvl="0" marL="254000" marR="0" rtl="0" algn="l">
              <a:spcBef>
                <a:spcPts val="0"/>
              </a:spcBef>
              <a:spcAft>
                <a:spcPts val="0"/>
              </a:spcAft>
              <a:buClr>
                <a:srgbClr val="1F2933"/>
              </a:buClr>
              <a:buSzPts val="1700"/>
              <a:buFont typeface="Calibri"/>
              <a:buChar char="•"/>
            </a:pPr>
            <a:r>
              <a:rPr b="0" i="0" lang="en-US" sz="1700" u="none" cap="none" strike="noStrike">
                <a:solidFill>
                  <a:srgbClr val="1F2933"/>
                </a:solidFill>
                <a:latin typeface="Calibri"/>
                <a:ea typeface="Calibri"/>
                <a:cs typeface="Calibri"/>
                <a:sym typeface="Calibri"/>
              </a:rPr>
              <a:t>Avec l'index par défaut, labels et positions coïncident : la différence ne se voit pas</a:t>
            </a:r>
            <a:endParaRPr b="0" i="0" sz="1700" u="none" cap="none" strike="noStrike">
              <a:solidFill>
                <a:schemeClr val="dk1"/>
              </a:solidFill>
              <a:latin typeface="Calibri"/>
              <a:ea typeface="Calibri"/>
              <a:cs typeface="Calibri"/>
              <a:sym typeface="Calibri"/>
            </a:endParaRPr>
          </a:p>
          <a:p>
            <a:pPr indent="0" lvl="0" marL="0" marR="0" rtl="0" algn="l">
              <a:spcBef>
                <a:spcPts val="800"/>
              </a:spcBef>
              <a:spcAft>
                <a:spcPts val="0"/>
              </a:spcAft>
              <a:buClr>
                <a:srgbClr val="1F2933"/>
              </a:buClr>
              <a:buSzPts val="1700"/>
              <a:buFont typeface="Calibri"/>
              <a:buNone/>
            </a:pPr>
            <a:r>
              <a:rPr b="0" i="0" lang="en-US" sz="1700" u="none" cap="none" strike="noStrike">
                <a:solidFill>
                  <a:srgbClr val="1F2933"/>
                </a:solidFill>
                <a:latin typeface="Calibri"/>
                <a:ea typeface="Calibri"/>
                <a:cs typeface="Calibri"/>
                <a:sym typeface="Calibri"/>
              </a:rPr>
              <a:t>Elle apparaît dès qu'on </a:t>
            </a:r>
            <a:r>
              <a:rPr b="1" i="0" lang="en-US" sz="1700" u="none" cap="none" strike="noStrike">
                <a:solidFill>
                  <a:srgbClr val="1F2933"/>
                </a:solidFill>
                <a:latin typeface="Calibri"/>
                <a:ea typeface="Calibri"/>
                <a:cs typeface="Calibri"/>
                <a:sym typeface="Calibri"/>
              </a:rPr>
              <a:t>trie</a:t>
            </a:r>
            <a:r>
              <a:rPr b="0" i="0" lang="en-US" sz="1700" u="none" cap="none" strike="noStrike">
                <a:solidFill>
                  <a:srgbClr val="1F2933"/>
                </a:solidFill>
                <a:latin typeface="Calibri"/>
                <a:ea typeface="Calibri"/>
                <a:cs typeface="Calibri"/>
                <a:sym typeface="Calibri"/>
              </a:rPr>
              <a:t>, </a:t>
            </a:r>
            <a:r>
              <a:rPr b="1" i="0" lang="en-US" sz="1700" u="none" cap="none" strike="noStrike">
                <a:solidFill>
                  <a:srgbClr val="1F2933"/>
                </a:solidFill>
                <a:latin typeface="Calibri"/>
                <a:ea typeface="Calibri"/>
                <a:cs typeface="Calibri"/>
                <a:sym typeface="Calibri"/>
              </a:rPr>
              <a:t>filtre</a:t>
            </a:r>
            <a:r>
              <a:rPr b="0" i="0" lang="en-US" sz="1700" u="none" cap="none" strike="noStrike">
                <a:solidFill>
                  <a:srgbClr val="1F2933"/>
                </a:solidFill>
                <a:latin typeface="Calibri"/>
                <a:ea typeface="Calibri"/>
                <a:cs typeface="Calibri"/>
                <a:sym typeface="Calibri"/>
              </a:rPr>
              <a:t> ou </a:t>
            </a:r>
            <a:r>
              <a:rPr b="1" i="0" lang="en-US" sz="1700" u="none" cap="none" strike="noStrike">
                <a:solidFill>
                  <a:srgbClr val="1F2933"/>
                </a:solidFill>
                <a:latin typeface="Calibri"/>
                <a:ea typeface="Calibri"/>
                <a:cs typeface="Calibri"/>
                <a:sym typeface="Calibri"/>
              </a:rPr>
              <a:t>change d'index</a:t>
            </a:r>
            <a:endParaRPr b="0" i="0" sz="1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1F3A5F"/>
              </a:buClr>
              <a:buSzPts val="1700"/>
              <a:buFont typeface="Courier New"/>
              <a:buNone/>
            </a:pPr>
            <a:r>
              <a:rPr b="0" i="0" lang="en-US" sz="1700" u="none" cap="none" strike="noStrike">
                <a:solidFill>
                  <a:srgbClr val="1F3A5F"/>
                </a:solidFill>
                <a:latin typeface="Courier New"/>
                <a:ea typeface="Courier New"/>
                <a:cs typeface="Courier New"/>
                <a:sym typeface="Courier New"/>
              </a:rPr>
              <a:t>loc</a:t>
            </a:r>
            <a:r>
              <a:rPr b="0" i="0" lang="en-US" sz="1700" u="none" cap="none" strike="noStrike">
                <a:solidFill>
                  <a:srgbClr val="1F2933"/>
                </a:solidFill>
                <a:latin typeface="Calibri"/>
                <a:ea typeface="Calibri"/>
                <a:cs typeface="Calibri"/>
                <a:sym typeface="Calibri"/>
              </a:rPr>
              <a:t> suit les lignes, </a:t>
            </a:r>
            <a:r>
              <a:rPr b="0" i="0" lang="en-US" sz="1700" u="none" cap="none" strike="noStrike">
                <a:solidFill>
                  <a:srgbClr val="1F3A5F"/>
                </a:solidFill>
                <a:latin typeface="Courier New"/>
                <a:ea typeface="Courier New"/>
                <a:cs typeface="Courier New"/>
                <a:sym typeface="Courier New"/>
              </a:rPr>
              <a:t>iloc</a:t>
            </a:r>
            <a:r>
              <a:rPr b="0" i="0" lang="en-US" sz="1700" u="none" cap="none" strike="noStrike">
                <a:solidFill>
                  <a:srgbClr val="1F2933"/>
                </a:solidFill>
                <a:latin typeface="Calibri"/>
                <a:ea typeface="Calibri"/>
                <a:cs typeface="Calibri"/>
                <a:sym typeface="Calibri"/>
              </a:rPr>
              <a:t> suit l'ordre d'affichage</a:t>
            </a:r>
            <a:endParaRPr b="0" i="0" sz="1700" u="none" cap="none" strike="noStrike">
              <a:solidFill>
                <a:schemeClr val="dk1"/>
              </a:solidFill>
              <a:latin typeface="Calibri"/>
              <a:ea typeface="Calibri"/>
              <a:cs typeface="Calibri"/>
              <a:sym typeface="Calibri"/>
            </a:endParaRPr>
          </a:p>
        </p:txBody>
      </p:sp>
      <p:sp>
        <p:nvSpPr>
          <p:cNvPr id="121" name="Google Shape;121;p6"/>
          <p:cNvSpPr txBox="1"/>
          <p:nvPr/>
        </p:nvSpPr>
        <p:spPr>
          <a:xfrm>
            <a:off x="548640" y="6400800"/>
            <a:ext cx="73152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B7280"/>
              </a:buClr>
              <a:buSzPts val="1000"/>
              <a:buFont typeface="Calibri"/>
              <a:buNone/>
            </a:pPr>
            <a:r>
              <a:rPr b="0" i="0" lang="en-US" sz="1000" u="none" cap="none" strike="noStrike">
                <a:solidFill>
                  <a:srgbClr val="6B7280"/>
                </a:solidFill>
                <a:latin typeface="Calibri"/>
                <a:ea typeface="Calibri"/>
                <a:cs typeface="Calibri"/>
                <a:sym typeface="Calibri"/>
              </a:rPr>
              <a:t>Analyse de données avec Python   |   Jour 1, après-midi</a:t>
            </a:r>
            <a:endParaRPr b="0" i="0" sz="1000" u="none" cap="none" strike="noStrike">
              <a:solidFill>
                <a:schemeClr val="dk1"/>
              </a:solidFill>
              <a:latin typeface="Calibri"/>
              <a:ea typeface="Calibri"/>
              <a:cs typeface="Calibri"/>
              <a:sym typeface="Calibri"/>
            </a:endParaRPr>
          </a:p>
        </p:txBody>
      </p:sp>
      <p:sp>
        <p:nvSpPr>
          <p:cNvPr id="122" name="Google Shape;122;p6"/>
          <p:cNvSpPr txBox="1"/>
          <p:nvPr>
            <p:ph idx="4294967295" type="sldNum"/>
          </p:nvPr>
        </p:nvSpPr>
        <p:spPr>
          <a:xfrm>
            <a:off x="11094415" y="6400800"/>
            <a:ext cx="548640" cy="27432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000" u="none" cap="none" strike="noStrike">
                <a:solidFill>
                  <a:srgbClr val="6B7280"/>
                </a:solidFill>
                <a:latin typeface="Calibri"/>
                <a:ea typeface="Calibri"/>
                <a:cs typeface="Calibri"/>
                <a:sym typeface="Calibri"/>
              </a:rPr>
              <a:t>‹#›</a:t>
            </a:fld>
            <a:endParaRPr b="0" i="0" sz="1000" u="none" cap="none" strike="noStrike">
              <a:solidFill>
                <a:srgbClr val="6B7280"/>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7" name="Shape 127"/>
        <p:cNvGrpSpPr/>
        <p:nvPr/>
      </p:nvGrpSpPr>
      <p:grpSpPr>
        <a:xfrm>
          <a:off x="0" y="0"/>
          <a:ext cx="0" cy="0"/>
          <a:chOff x="0" y="0"/>
          <a:chExt cx="0" cy="0"/>
        </a:xfrm>
      </p:grpSpPr>
      <p:sp>
        <p:nvSpPr>
          <p:cNvPr id="128" name="Google Shape;128;p7"/>
          <p:cNvSpPr/>
          <p:nvPr/>
        </p:nvSpPr>
        <p:spPr>
          <a:xfrm>
            <a:off x="548640" y="566928"/>
            <a:ext cx="475488" cy="475488"/>
          </a:xfrm>
          <a:prstGeom prst="ellipse">
            <a:avLst/>
          </a:prstGeom>
          <a:solidFill>
            <a:srgbClr val="2F7D6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 name="Google Shape;129;p7"/>
          <p:cNvSpPr txBox="1"/>
          <p:nvPr/>
        </p:nvSpPr>
        <p:spPr>
          <a:xfrm>
            <a:off x="548640" y="566928"/>
            <a:ext cx="475488" cy="47548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1</a:t>
            </a:r>
            <a:endParaRPr b="0" i="0" sz="1600" u="none" cap="none" strike="noStrike">
              <a:solidFill>
                <a:schemeClr val="dk1"/>
              </a:solidFill>
              <a:latin typeface="Calibri"/>
              <a:ea typeface="Calibri"/>
              <a:cs typeface="Calibri"/>
              <a:sym typeface="Calibri"/>
            </a:endParaRPr>
          </a:p>
        </p:txBody>
      </p:sp>
      <p:sp>
        <p:nvSpPr>
          <p:cNvPr id="130" name="Google Shape;130;p7"/>
          <p:cNvSpPr txBox="1"/>
          <p:nvPr/>
        </p:nvSpPr>
        <p:spPr>
          <a:xfrm>
            <a:off x="1280160" y="164592"/>
            <a:ext cx="10362895"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F7D62"/>
              </a:buClr>
              <a:buSzPts val="1200"/>
              <a:buFont typeface="Calibri"/>
              <a:buNone/>
            </a:pPr>
            <a:r>
              <a:rPr b="1" i="0" lang="en-US" sz="1200" u="none" cap="none" strike="noStrike">
                <a:solidFill>
                  <a:srgbClr val="2F7D62"/>
                </a:solidFill>
                <a:latin typeface="Calibri"/>
                <a:ea typeface="Calibri"/>
                <a:cs typeface="Calibri"/>
                <a:sym typeface="Calibri"/>
              </a:rPr>
              <a:t>SÉLECTIONNER DES DONNÉES</a:t>
            </a:r>
            <a:endParaRPr b="0" i="0" sz="1200" u="none" cap="none" strike="noStrike">
              <a:solidFill>
                <a:schemeClr val="dk1"/>
              </a:solidFill>
              <a:latin typeface="Calibri"/>
              <a:ea typeface="Calibri"/>
              <a:cs typeface="Calibri"/>
              <a:sym typeface="Calibri"/>
            </a:endParaRPr>
          </a:p>
        </p:txBody>
      </p:sp>
      <p:sp>
        <p:nvSpPr>
          <p:cNvPr id="131" name="Google Shape;131;p7"/>
          <p:cNvSpPr txBox="1"/>
          <p:nvPr/>
        </p:nvSpPr>
        <p:spPr>
          <a:xfrm>
            <a:off x="1280160" y="457200"/>
            <a:ext cx="10362895" cy="6949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F3A5F"/>
              </a:buClr>
              <a:buSzPts val="3000"/>
              <a:buFont typeface="Cambria"/>
              <a:buNone/>
            </a:pPr>
            <a:r>
              <a:rPr b="1" i="0" lang="en-US" sz="3000" u="none" cap="none" strike="noStrike">
                <a:solidFill>
                  <a:srgbClr val="1F3A5F"/>
                </a:solidFill>
                <a:latin typeface="Cambria"/>
                <a:ea typeface="Cambria"/>
                <a:cs typeface="Cambria"/>
                <a:sym typeface="Cambria"/>
              </a:rPr>
              <a:t>Le filtrage booléen</a:t>
            </a:r>
            <a:endParaRPr b="0" i="0" sz="3000" u="none" cap="none" strike="noStrike">
              <a:solidFill>
                <a:schemeClr val="dk1"/>
              </a:solidFill>
              <a:latin typeface="Calibri"/>
              <a:ea typeface="Calibri"/>
              <a:cs typeface="Calibri"/>
              <a:sym typeface="Calibri"/>
            </a:endParaRPr>
          </a:p>
        </p:txBody>
      </p:sp>
      <p:sp>
        <p:nvSpPr>
          <p:cNvPr id="132" name="Google Shape;132;p7"/>
          <p:cNvSpPr/>
          <p:nvPr/>
        </p:nvSpPr>
        <p:spPr>
          <a:xfrm>
            <a:off x="548640" y="1417320"/>
            <a:ext cx="5802117" cy="2390648"/>
          </a:xfrm>
          <a:prstGeom prst="rect">
            <a:avLst/>
          </a:prstGeom>
          <a:solidFill>
            <a:srgbClr val="F3F4F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 name="Google Shape;133;p7"/>
          <p:cNvSpPr txBox="1"/>
          <p:nvPr/>
        </p:nvSpPr>
        <p:spPr>
          <a:xfrm>
            <a:off x="731520" y="1563624"/>
            <a:ext cx="5436357" cy="20980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F2933"/>
              </a:buClr>
              <a:buSzPts val="1400"/>
              <a:buFont typeface="Courier New"/>
              <a:buNone/>
            </a:pPr>
            <a:r>
              <a:rPr b="0" i="0" lang="en-US" sz="1400" u="none" cap="none" strike="noStrike">
                <a:solidFill>
                  <a:srgbClr val="1F2933"/>
                </a:solidFill>
                <a:latin typeface="Courier New"/>
                <a:ea typeface="Courier New"/>
                <a:cs typeface="Courier New"/>
                <a:sym typeface="Courier New"/>
              </a:rPr>
              <a:t>df["quantite"] &gt; 10          # masque True / False</a:t>
            </a:r>
            <a:endParaRPr b="0" i="0" sz="14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F2933"/>
              </a:buClr>
              <a:buSzPts val="1400"/>
              <a:buFont typeface="Courier New"/>
              <a:buNone/>
            </a:pPr>
            <a:r>
              <a:rPr b="0" i="0" lang="en-US" sz="1400" u="none" cap="none" strike="noStrike">
                <a:solidFill>
                  <a:srgbClr val="1F2933"/>
                </a:solidFill>
                <a:latin typeface="Courier New"/>
                <a:ea typeface="Courier New"/>
                <a:cs typeface="Courier New"/>
                <a:sym typeface="Courier New"/>
              </a:rPr>
              <a:t>df[df["quantite"] &gt; 10]      # lignes filtrées</a:t>
            </a:r>
            <a:endParaRPr b="0" i="0" sz="14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F2933"/>
              </a:buClr>
              <a:buSzPts val="1400"/>
              <a:buFont typeface="Courier New"/>
              <a:buNone/>
            </a:pPr>
            <a:r>
              <a:rPr b="0" i="0" lang="en-US" sz="1400" u="none" cap="none" strike="noStrike">
                <a:solidFill>
                  <a:srgbClr val="1F2933"/>
                </a:solidFill>
                <a:latin typeface="Courier New"/>
                <a:ea typeface="Courier New"/>
                <a:cs typeface="Courier New"/>
                <a:sym typeface="Courier New"/>
              </a:rPr>
              <a:t> </a:t>
            </a:r>
            <a:endParaRPr b="0" i="0" sz="14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F2933"/>
              </a:buClr>
              <a:buSzPts val="1400"/>
              <a:buFont typeface="Courier New"/>
              <a:buNone/>
            </a:pPr>
            <a:r>
              <a:rPr b="0" i="0" lang="en-US" sz="1400" u="none" cap="none" strike="noStrike">
                <a:solidFill>
                  <a:srgbClr val="1F2933"/>
                </a:solidFill>
                <a:latin typeface="Courier New"/>
                <a:ea typeface="Courier New"/>
                <a:cs typeface="Courier New"/>
                <a:sym typeface="Courier New"/>
              </a:rPr>
              <a:t>df[(df["categorie"] == "Bureau")</a:t>
            </a:r>
            <a:endParaRPr b="0" i="0" sz="14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F2933"/>
              </a:buClr>
              <a:buSzPts val="1400"/>
              <a:buFont typeface="Courier New"/>
              <a:buNone/>
            </a:pPr>
            <a:r>
              <a:rPr b="0" i="0" lang="en-US" sz="1400" u="none" cap="none" strike="noStrike">
                <a:solidFill>
                  <a:srgbClr val="1F2933"/>
                </a:solidFill>
                <a:latin typeface="Courier New"/>
                <a:ea typeface="Courier New"/>
                <a:cs typeface="Courier New"/>
                <a:sym typeface="Courier New"/>
              </a:rPr>
              <a:t>   &amp; (df["quantite"] &gt;= 5)]</a:t>
            </a:r>
            <a:endParaRPr b="0" i="0" sz="14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F2933"/>
              </a:buClr>
              <a:buSzPts val="1400"/>
              <a:buFont typeface="Courier New"/>
              <a:buNone/>
            </a:pPr>
            <a:r>
              <a:rPr b="0" i="0" lang="en-US" sz="1400" u="none" cap="none" strike="noStrike">
                <a:solidFill>
                  <a:srgbClr val="1F2933"/>
                </a:solidFill>
                <a:latin typeface="Courier New"/>
                <a:ea typeface="Courier New"/>
                <a:cs typeface="Courier New"/>
                <a:sym typeface="Courier New"/>
              </a:rPr>
              <a:t> </a:t>
            </a:r>
            <a:endParaRPr b="0" i="0" sz="14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F2933"/>
              </a:buClr>
              <a:buSzPts val="1400"/>
              <a:buFont typeface="Courier New"/>
              <a:buNone/>
            </a:pPr>
            <a:r>
              <a:rPr b="0" i="0" lang="en-US" sz="1400" u="none" cap="none" strike="noStrike">
                <a:solidFill>
                  <a:srgbClr val="1F2933"/>
                </a:solidFill>
                <a:latin typeface="Courier New"/>
                <a:ea typeface="Courier New"/>
                <a:cs typeface="Courier New"/>
                <a:sym typeface="Courier New"/>
              </a:rPr>
              <a:t>df[(df["quantite"] &lt;= 0)</a:t>
            </a:r>
            <a:endParaRPr b="0" i="0" sz="14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F2933"/>
              </a:buClr>
              <a:buSzPts val="1400"/>
              <a:buFont typeface="Courier New"/>
              <a:buNone/>
            </a:pPr>
            <a:r>
              <a:rPr b="0" i="0" lang="en-US" sz="1400" u="none" cap="none" strike="noStrike">
                <a:solidFill>
                  <a:srgbClr val="1F2933"/>
                </a:solidFill>
                <a:latin typeface="Courier New"/>
                <a:ea typeface="Courier New"/>
                <a:cs typeface="Courier New"/>
                <a:sym typeface="Courier New"/>
              </a:rPr>
              <a:t>   | (df["quantite"] &gt; 100)]</a:t>
            </a:r>
            <a:endParaRPr b="0" i="0" sz="14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F2933"/>
              </a:buClr>
              <a:buSzPts val="1400"/>
              <a:buFont typeface="Courier New"/>
              <a:buNone/>
            </a:pPr>
            <a:r>
              <a:rPr b="0" i="0" lang="en-US" sz="1400" u="none" cap="none" strike="noStrike">
                <a:solidFill>
                  <a:srgbClr val="1F2933"/>
                </a:solidFill>
                <a:latin typeface="Courier New"/>
                <a:ea typeface="Courier New"/>
                <a:cs typeface="Courier New"/>
                <a:sym typeface="Courier New"/>
              </a:rPr>
              <a:t> </a:t>
            </a:r>
            <a:endParaRPr b="0" i="0" sz="14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F2933"/>
              </a:buClr>
              <a:buSzPts val="1400"/>
              <a:buFont typeface="Courier New"/>
              <a:buNone/>
            </a:pPr>
            <a:r>
              <a:rPr b="0" i="0" lang="en-US" sz="1400" u="none" cap="none" strike="noStrike">
                <a:solidFill>
                  <a:srgbClr val="1F2933"/>
                </a:solidFill>
                <a:latin typeface="Courier New"/>
                <a:ea typeface="Courier New"/>
                <a:cs typeface="Courier New"/>
                <a:sym typeface="Courier New"/>
              </a:rPr>
              <a:t>df[~df["Client fidèle"]]</a:t>
            </a:r>
            <a:endParaRPr b="0" i="0" sz="1400" u="none" cap="none" strike="noStrike">
              <a:solidFill>
                <a:schemeClr val="dk1"/>
              </a:solidFill>
              <a:latin typeface="Calibri"/>
              <a:ea typeface="Calibri"/>
              <a:cs typeface="Calibri"/>
              <a:sym typeface="Calibri"/>
            </a:endParaRPr>
          </a:p>
        </p:txBody>
      </p:sp>
      <p:graphicFrame>
        <p:nvGraphicFramePr>
          <p:cNvPr id="134" name="Google Shape;134;p7"/>
          <p:cNvGraphicFramePr/>
          <p:nvPr/>
        </p:nvGraphicFramePr>
        <p:xfrm>
          <a:off x="6807957" y="1417320"/>
          <a:ext cx="3000000" cy="3000000"/>
        </p:xfrm>
        <a:graphic>
          <a:graphicData uri="http://schemas.openxmlformats.org/drawingml/2006/table">
            <a:tbl>
              <a:tblPr>
                <a:noFill/>
                <a:tableStyleId>{5790C458-BB61-4800-A068-DD2F3961D878}</a:tableStyleId>
              </a:tblPr>
              <a:tblGrid>
                <a:gridCol w="1611700"/>
                <a:gridCol w="3223400"/>
              </a:tblGrid>
              <a:tr h="379975">
                <a:tc>
                  <a:txBody>
                    <a:bodyPr/>
                    <a:lstStyle/>
                    <a:p>
                      <a:pPr indent="0" lvl="0" marL="0" marR="0" rtl="0" algn="l">
                        <a:spcBef>
                          <a:spcPts val="0"/>
                        </a:spcBef>
                        <a:spcAft>
                          <a:spcPts val="0"/>
                        </a:spcAft>
                        <a:buClr>
                          <a:srgbClr val="FFFFFF"/>
                        </a:buClr>
                        <a:buSzPts val="1600"/>
                        <a:buFont typeface="Calibri"/>
                        <a:buNone/>
                      </a:pPr>
                      <a:r>
                        <a:rPr b="1" lang="en-US" sz="1600" u="none" cap="none" strike="noStrike">
                          <a:solidFill>
                            <a:srgbClr val="FFFFFF"/>
                          </a:solidFill>
                          <a:latin typeface="Calibri"/>
                          <a:ea typeface="Calibri"/>
                          <a:cs typeface="Calibri"/>
                          <a:sym typeface="Calibri"/>
                        </a:rPr>
                        <a:t>Opérateur</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1F3A5F"/>
                    </a:solidFill>
                  </a:tcPr>
                </a:tc>
                <a:tc>
                  <a:txBody>
                    <a:bodyPr/>
                    <a:lstStyle/>
                    <a:p>
                      <a:pPr indent="0" lvl="0" marL="0" marR="0" rtl="0" algn="l">
                        <a:spcBef>
                          <a:spcPts val="0"/>
                        </a:spcBef>
                        <a:spcAft>
                          <a:spcPts val="0"/>
                        </a:spcAft>
                        <a:buClr>
                          <a:srgbClr val="FFFFFF"/>
                        </a:buClr>
                        <a:buSzPts val="1600"/>
                        <a:buFont typeface="Calibri"/>
                        <a:buNone/>
                      </a:pPr>
                      <a:r>
                        <a:rPr b="1" lang="en-US" sz="1600" u="none" cap="none" strike="noStrike">
                          <a:solidFill>
                            <a:srgbClr val="FFFFFF"/>
                          </a:solidFill>
                          <a:latin typeface="Calibri"/>
                          <a:ea typeface="Calibri"/>
                          <a:cs typeface="Calibri"/>
                          <a:sym typeface="Calibri"/>
                        </a:rPr>
                        <a:t>Sens</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1F3A5F"/>
                    </a:solidFill>
                  </a:tcPr>
                </a:tc>
              </a:tr>
              <a:tr h="379975">
                <a:tc>
                  <a:txBody>
                    <a:bodyPr/>
                    <a:lstStyle/>
                    <a:p>
                      <a:pPr indent="0" lvl="0" marL="0" marR="0" rtl="0" algn="l">
                        <a:spcBef>
                          <a:spcPts val="0"/>
                        </a:spcBef>
                        <a:spcAft>
                          <a:spcPts val="0"/>
                        </a:spcAft>
                        <a:buClr>
                          <a:srgbClr val="1F3A5F"/>
                        </a:buClr>
                        <a:buSzPts val="1600"/>
                        <a:buFont typeface="Courier New"/>
                        <a:buNone/>
                      </a:pPr>
                      <a:r>
                        <a:rPr lang="en-US" sz="1600" u="none" cap="none" strike="noStrike">
                          <a:solidFill>
                            <a:srgbClr val="1F3A5F"/>
                          </a:solidFill>
                          <a:latin typeface="Courier New"/>
                          <a:ea typeface="Courier New"/>
                          <a:cs typeface="Courier New"/>
                          <a:sym typeface="Courier New"/>
                        </a:rPr>
                        <a:t>&amp;</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F2933"/>
                        </a:buClr>
                        <a:buSzPts val="1600"/>
                        <a:buFont typeface="Calibri"/>
                        <a:buNone/>
                      </a:pPr>
                      <a:r>
                        <a:rPr lang="en-US" sz="1600" u="none" cap="none" strike="noStrike">
                          <a:solidFill>
                            <a:srgbClr val="1F2933"/>
                          </a:solidFill>
                          <a:latin typeface="Calibri"/>
                          <a:ea typeface="Calibri"/>
                          <a:cs typeface="Calibri"/>
                          <a:sym typeface="Calibri"/>
                        </a:rPr>
                        <a:t>et</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FFFFF"/>
                    </a:solidFill>
                  </a:tcPr>
                </a:tc>
              </a:tr>
              <a:tr h="379975">
                <a:tc>
                  <a:txBody>
                    <a:bodyPr/>
                    <a:lstStyle/>
                    <a:p>
                      <a:pPr indent="0" lvl="0" marL="0" marR="0" rtl="0" algn="l">
                        <a:spcBef>
                          <a:spcPts val="0"/>
                        </a:spcBef>
                        <a:spcAft>
                          <a:spcPts val="0"/>
                        </a:spcAft>
                        <a:buClr>
                          <a:srgbClr val="1F3A5F"/>
                        </a:buClr>
                        <a:buSzPts val="1600"/>
                        <a:buFont typeface="Courier New"/>
                        <a:buNone/>
                      </a:pPr>
                      <a:r>
                        <a:rPr lang="en-US" sz="1600" u="none" cap="none" strike="noStrike">
                          <a:solidFill>
                            <a:srgbClr val="1F3A5F"/>
                          </a:solidFill>
                          <a:latin typeface="Courier New"/>
                          <a:ea typeface="Courier New"/>
                          <a:cs typeface="Courier New"/>
                          <a:sym typeface="Courier New"/>
                        </a:rPr>
                        <a:t>|</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7F9FB"/>
                    </a:solidFill>
                  </a:tcPr>
                </a:tc>
                <a:tc>
                  <a:txBody>
                    <a:bodyPr/>
                    <a:lstStyle/>
                    <a:p>
                      <a:pPr indent="0" lvl="0" marL="0" marR="0" rtl="0" algn="l">
                        <a:spcBef>
                          <a:spcPts val="0"/>
                        </a:spcBef>
                        <a:spcAft>
                          <a:spcPts val="0"/>
                        </a:spcAft>
                        <a:buClr>
                          <a:srgbClr val="1F2933"/>
                        </a:buClr>
                        <a:buSzPts val="1600"/>
                        <a:buFont typeface="Calibri"/>
                        <a:buNone/>
                      </a:pPr>
                      <a:r>
                        <a:rPr lang="en-US" sz="1600" u="none" cap="none" strike="noStrike">
                          <a:solidFill>
                            <a:srgbClr val="1F2933"/>
                          </a:solidFill>
                          <a:latin typeface="Calibri"/>
                          <a:ea typeface="Calibri"/>
                          <a:cs typeface="Calibri"/>
                          <a:sym typeface="Calibri"/>
                        </a:rPr>
                        <a:t>ou</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7F9FB"/>
                    </a:solidFill>
                  </a:tcPr>
                </a:tc>
              </a:tr>
              <a:tr h="379975">
                <a:tc>
                  <a:txBody>
                    <a:bodyPr/>
                    <a:lstStyle/>
                    <a:p>
                      <a:pPr indent="0" lvl="0" marL="0" marR="0" rtl="0" algn="l">
                        <a:spcBef>
                          <a:spcPts val="0"/>
                        </a:spcBef>
                        <a:spcAft>
                          <a:spcPts val="0"/>
                        </a:spcAft>
                        <a:buClr>
                          <a:srgbClr val="1F3A5F"/>
                        </a:buClr>
                        <a:buSzPts val="1600"/>
                        <a:buFont typeface="Courier New"/>
                        <a:buNone/>
                      </a:pPr>
                      <a:r>
                        <a:rPr lang="en-US" sz="1600" u="none" cap="none" strike="noStrike">
                          <a:solidFill>
                            <a:srgbClr val="1F3A5F"/>
                          </a:solidFill>
                          <a:latin typeface="Courier New"/>
                          <a:ea typeface="Courier New"/>
                          <a:cs typeface="Courier New"/>
                          <a:sym typeface="Courier New"/>
                        </a:rPr>
                        <a:t>~</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F2933"/>
                        </a:buClr>
                        <a:buSzPts val="1600"/>
                        <a:buFont typeface="Calibri"/>
                        <a:buNone/>
                      </a:pPr>
                      <a:r>
                        <a:rPr lang="en-US" sz="1600" u="none" cap="none" strike="noStrike">
                          <a:solidFill>
                            <a:srgbClr val="1F2933"/>
                          </a:solidFill>
                          <a:latin typeface="Calibri"/>
                          <a:ea typeface="Calibri"/>
                          <a:cs typeface="Calibri"/>
                          <a:sym typeface="Calibri"/>
                        </a:rPr>
                        <a:t>non</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FFFFF"/>
                    </a:solidFill>
                  </a:tcPr>
                </a:tc>
              </a:tr>
            </a:tbl>
          </a:graphicData>
        </a:graphic>
      </p:graphicFrame>
      <p:sp>
        <p:nvSpPr>
          <p:cNvPr id="135" name="Google Shape;135;p7"/>
          <p:cNvSpPr/>
          <p:nvPr/>
        </p:nvSpPr>
        <p:spPr>
          <a:xfrm>
            <a:off x="6807957" y="3257296"/>
            <a:ext cx="4835098" cy="624840"/>
          </a:xfrm>
          <a:prstGeom prst="roundRect">
            <a:avLst>
              <a:gd fmla="val 8780" name="adj"/>
            </a:avLst>
          </a:prstGeom>
          <a:solidFill>
            <a:srgbClr val="E8F3E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 name="Google Shape;136;p7"/>
          <p:cNvSpPr txBox="1"/>
          <p:nvPr/>
        </p:nvSpPr>
        <p:spPr>
          <a:xfrm>
            <a:off x="7082277" y="3257296"/>
            <a:ext cx="4286458" cy="6248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F3A5F"/>
              </a:buClr>
              <a:buSzPts val="1700"/>
              <a:buFont typeface="Calibri"/>
              <a:buNone/>
            </a:pPr>
            <a:r>
              <a:rPr b="0" i="0" lang="en-US" sz="1700" u="none" cap="none" strike="noStrike">
                <a:solidFill>
                  <a:srgbClr val="1F3A5F"/>
                </a:solidFill>
                <a:latin typeface="Calibri"/>
                <a:ea typeface="Calibri"/>
                <a:cs typeface="Calibri"/>
                <a:sym typeface="Calibri"/>
              </a:rPr>
              <a:t>Chaque condition entre parenthèses.</a:t>
            </a:r>
            <a:endParaRPr b="0" i="0" sz="1700" u="none" cap="none" strike="noStrike">
              <a:solidFill>
                <a:schemeClr val="dk1"/>
              </a:solidFill>
              <a:latin typeface="Calibri"/>
              <a:ea typeface="Calibri"/>
              <a:cs typeface="Calibri"/>
              <a:sym typeface="Calibri"/>
            </a:endParaRPr>
          </a:p>
        </p:txBody>
      </p:sp>
      <p:sp>
        <p:nvSpPr>
          <p:cNvPr id="137" name="Google Shape;137;p7"/>
          <p:cNvSpPr txBox="1"/>
          <p:nvPr/>
        </p:nvSpPr>
        <p:spPr>
          <a:xfrm>
            <a:off x="548640" y="6400800"/>
            <a:ext cx="73152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B7280"/>
              </a:buClr>
              <a:buSzPts val="1000"/>
              <a:buFont typeface="Calibri"/>
              <a:buNone/>
            </a:pPr>
            <a:r>
              <a:rPr b="0" i="0" lang="en-US" sz="1000" u="none" cap="none" strike="noStrike">
                <a:solidFill>
                  <a:srgbClr val="6B7280"/>
                </a:solidFill>
                <a:latin typeface="Calibri"/>
                <a:ea typeface="Calibri"/>
                <a:cs typeface="Calibri"/>
                <a:sym typeface="Calibri"/>
              </a:rPr>
              <a:t>Analyse de données avec Python   |   Jour 1, après-midi</a:t>
            </a:r>
            <a:endParaRPr b="0" i="0" sz="1000" u="none" cap="none" strike="noStrike">
              <a:solidFill>
                <a:schemeClr val="dk1"/>
              </a:solidFill>
              <a:latin typeface="Calibri"/>
              <a:ea typeface="Calibri"/>
              <a:cs typeface="Calibri"/>
              <a:sym typeface="Calibri"/>
            </a:endParaRPr>
          </a:p>
        </p:txBody>
      </p:sp>
      <p:sp>
        <p:nvSpPr>
          <p:cNvPr id="138" name="Google Shape;138;p7"/>
          <p:cNvSpPr txBox="1"/>
          <p:nvPr>
            <p:ph idx="4294967295" type="sldNum"/>
          </p:nvPr>
        </p:nvSpPr>
        <p:spPr>
          <a:xfrm>
            <a:off x="11094415" y="6400800"/>
            <a:ext cx="548640" cy="27432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000" u="none" cap="none" strike="noStrike">
                <a:solidFill>
                  <a:srgbClr val="6B7280"/>
                </a:solidFill>
                <a:latin typeface="Calibri"/>
                <a:ea typeface="Calibri"/>
                <a:cs typeface="Calibri"/>
                <a:sym typeface="Calibri"/>
              </a:rPr>
              <a:t>‹#›</a:t>
            </a:fld>
            <a:endParaRPr b="0" i="0" sz="1000" u="none" cap="none" strike="noStrike">
              <a:solidFill>
                <a:srgbClr val="6B7280"/>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3" name="Shape 143"/>
        <p:cNvGrpSpPr/>
        <p:nvPr/>
      </p:nvGrpSpPr>
      <p:grpSpPr>
        <a:xfrm>
          <a:off x="0" y="0"/>
          <a:ext cx="0" cy="0"/>
          <a:chOff x="0" y="0"/>
          <a:chExt cx="0" cy="0"/>
        </a:xfrm>
      </p:grpSpPr>
      <p:sp>
        <p:nvSpPr>
          <p:cNvPr id="144" name="Google Shape;144;p8"/>
          <p:cNvSpPr/>
          <p:nvPr/>
        </p:nvSpPr>
        <p:spPr>
          <a:xfrm>
            <a:off x="548640" y="566928"/>
            <a:ext cx="475488" cy="475488"/>
          </a:xfrm>
          <a:prstGeom prst="ellipse">
            <a:avLst/>
          </a:prstGeom>
          <a:solidFill>
            <a:srgbClr val="2F7D6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 name="Google Shape;145;p8"/>
          <p:cNvSpPr txBox="1"/>
          <p:nvPr/>
        </p:nvSpPr>
        <p:spPr>
          <a:xfrm>
            <a:off x="548640" y="566928"/>
            <a:ext cx="475488" cy="47548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1</a:t>
            </a:r>
            <a:endParaRPr b="0" i="0" sz="1600" u="none" cap="none" strike="noStrike">
              <a:solidFill>
                <a:schemeClr val="dk1"/>
              </a:solidFill>
              <a:latin typeface="Calibri"/>
              <a:ea typeface="Calibri"/>
              <a:cs typeface="Calibri"/>
              <a:sym typeface="Calibri"/>
            </a:endParaRPr>
          </a:p>
        </p:txBody>
      </p:sp>
      <p:sp>
        <p:nvSpPr>
          <p:cNvPr id="146" name="Google Shape;146;p8"/>
          <p:cNvSpPr txBox="1"/>
          <p:nvPr/>
        </p:nvSpPr>
        <p:spPr>
          <a:xfrm>
            <a:off x="1280160" y="164592"/>
            <a:ext cx="10362895"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F7D62"/>
              </a:buClr>
              <a:buSzPts val="1200"/>
              <a:buFont typeface="Calibri"/>
              <a:buNone/>
            </a:pPr>
            <a:r>
              <a:rPr b="1" i="0" lang="en-US" sz="1200" u="none" cap="none" strike="noStrike">
                <a:solidFill>
                  <a:srgbClr val="2F7D62"/>
                </a:solidFill>
                <a:latin typeface="Calibri"/>
                <a:ea typeface="Calibri"/>
                <a:cs typeface="Calibri"/>
                <a:sym typeface="Calibri"/>
              </a:rPr>
              <a:t>SÉLECTIONNER DES DONNÉES</a:t>
            </a:r>
            <a:endParaRPr b="0" i="0" sz="1200" u="none" cap="none" strike="noStrike">
              <a:solidFill>
                <a:schemeClr val="dk1"/>
              </a:solidFill>
              <a:latin typeface="Calibri"/>
              <a:ea typeface="Calibri"/>
              <a:cs typeface="Calibri"/>
              <a:sym typeface="Calibri"/>
            </a:endParaRPr>
          </a:p>
        </p:txBody>
      </p:sp>
      <p:sp>
        <p:nvSpPr>
          <p:cNvPr id="147" name="Google Shape;147;p8"/>
          <p:cNvSpPr txBox="1"/>
          <p:nvPr/>
        </p:nvSpPr>
        <p:spPr>
          <a:xfrm>
            <a:off x="1280160" y="457200"/>
            <a:ext cx="10362895" cy="6949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F3A5F"/>
              </a:buClr>
              <a:buSzPts val="3000"/>
              <a:buFont typeface="Cambria"/>
              <a:buNone/>
            </a:pPr>
            <a:r>
              <a:rPr b="1" i="0" lang="en-US" sz="3000" u="none" cap="none" strike="noStrike">
                <a:solidFill>
                  <a:srgbClr val="1F3A5F"/>
                </a:solidFill>
                <a:latin typeface="Cambria"/>
                <a:ea typeface="Cambria"/>
                <a:cs typeface="Cambria"/>
                <a:sym typeface="Cambria"/>
              </a:rPr>
              <a:t>Les deux erreurs classiques</a:t>
            </a:r>
            <a:endParaRPr b="0" i="0" sz="3000" u="none" cap="none" strike="noStrike">
              <a:solidFill>
                <a:schemeClr val="dk1"/>
              </a:solidFill>
              <a:latin typeface="Calibri"/>
              <a:ea typeface="Calibri"/>
              <a:cs typeface="Calibri"/>
              <a:sym typeface="Calibri"/>
            </a:endParaRPr>
          </a:p>
        </p:txBody>
      </p:sp>
      <p:sp>
        <p:nvSpPr>
          <p:cNvPr id="148" name="Google Shape;148;p8"/>
          <p:cNvSpPr txBox="1"/>
          <p:nvPr/>
        </p:nvSpPr>
        <p:spPr>
          <a:xfrm>
            <a:off x="548640" y="1417320"/>
            <a:ext cx="5318608"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F3A5F"/>
              </a:buClr>
              <a:buSzPts val="1700"/>
              <a:buFont typeface="Calibri"/>
              <a:buNone/>
            </a:pPr>
            <a:r>
              <a:rPr b="1" i="0" lang="en-US" sz="1700" u="none" cap="none" strike="noStrike">
                <a:solidFill>
                  <a:srgbClr val="1F3A5F"/>
                </a:solidFill>
                <a:latin typeface="Calibri"/>
                <a:ea typeface="Calibri"/>
                <a:cs typeface="Calibri"/>
                <a:sym typeface="Calibri"/>
              </a:rPr>
              <a:t>Ne fonctionne pas</a:t>
            </a:r>
            <a:endParaRPr b="0" i="0" sz="1700" u="none" cap="none" strike="noStrike">
              <a:solidFill>
                <a:schemeClr val="dk1"/>
              </a:solidFill>
              <a:latin typeface="Calibri"/>
              <a:ea typeface="Calibri"/>
              <a:cs typeface="Calibri"/>
              <a:sym typeface="Calibri"/>
            </a:endParaRPr>
          </a:p>
        </p:txBody>
      </p:sp>
      <p:sp>
        <p:nvSpPr>
          <p:cNvPr id="149" name="Google Shape;149;p8"/>
          <p:cNvSpPr/>
          <p:nvPr/>
        </p:nvSpPr>
        <p:spPr>
          <a:xfrm>
            <a:off x="548640" y="1828800"/>
            <a:ext cx="5318608" cy="1551432"/>
          </a:xfrm>
          <a:prstGeom prst="rect">
            <a:avLst/>
          </a:prstGeom>
          <a:solidFill>
            <a:srgbClr val="F3F4F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 name="Google Shape;150;p8"/>
          <p:cNvSpPr txBox="1"/>
          <p:nvPr/>
        </p:nvSpPr>
        <p:spPr>
          <a:xfrm>
            <a:off x="731520" y="1975104"/>
            <a:ext cx="4952848" cy="1258824"/>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F2933"/>
              </a:buClr>
              <a:buSzPts val="1400"/>
              <a:buFont typeface="Courier New"/>
              <a:buNone/>
            </a:pPr>
            <a:r>
              <a:rPr b="0" i="0" lang="en-US" sz="1400" u="none" cap="none" strike="noStrike">
                <a:solidFill>
                  <a:srgbClr val="1F2933"/>
                </a:solidFill>
                <a:latin typeface="Courier New"/>
                <a:ea typeface="Courier New"/>
                <a:cs typeface="Courier New"/>
                <a:sym typeface="Courier New"/>
              </a:rPr>
              <a:t>df[df["quantite"] &gt; 5 and df["quantite"] &lt; 10]</a:t>
            </a:r>
            <a:endParaRPr b="0" i="0" sz="14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B7280"/>
              </a:buClr>
              <a:buSzPts val="1400"/>
              <a:buFont typeface="Courier New"/>
              <a:buNone/>
            </a:pPr>
            <a:r>
              <a:rPr b="0" i="0" lang="en-US" sz="1400" u="none" cap="none" strike="noStrike">
                <a:solidFill>
                  <a:srgbClr val="6B7280"/>
                </a:solidFill>
                <a:latin typeface="Courier New"/>
                <a:ea typeface="Courier New"/>
                <a:cs typeface="Courier New"/>
                <a:sym typeface="Courier New"/>
              </a:rPr>
              <a:t># ValueError: The truth value of a</a:t>
            </a:r>
            <a:endParaRPr b="0" i="0" sz="14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B7280"/>
              </a:buClr>
              <a:buSzPts val="1400"/>
              <a:buFont typeface="Courier New"/>
              <a:buNone/>
            </a:pPr>
            <a:r>
              <a:rPr b="0" i="0" lang="en-US" sz="1400" u="none" cap="none" strike="noStrike">
                <a:solidFill>
                  <a:srgbClr val="6B7280"/>
                </a:solidFill>
                <a:latin typeface="Courier New"/>
                <a:ea typeface="Courier New"/>
                <a:cs typeface="Courier New"/>
                <a:sym typeface="Courier New"/>
              </a:rPr>
              <a:t># Series is ambiguous</a:t>
            </a:r>
            <a:endParaRPr b="0" i="0" sz="14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F2933"/>
              </a:buClr>
              <a:buSzPts val="1400"/>
              <a:buFont typeface="Courier New"/>
              <a:buNone/>
            </a:pPr>
            <a:r>
              <a:rPr b="0" i="0" lang="en-US" sz="1400" u="none" cap="none" strike="noStrike">
                <a:solidFill>
                  <a:srgbClr val="1F2933"/>
                </a:solidFill>
                <a:latin typeface="Courier New"/>
                <a:ea typeface="Courier New"/>
                <a:cs typeface="Courier New"/>
                <a:sym typeface="Courier New"/>
              </a:rPr>
              <a:t> </a:t>
            </a:r>
            <a:endParaRPr b="0" i="0" sz="14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F2933"/>
              </a:buClr>
              <a:buSzPts val="1400"/>
              <a:buFont typeface="Courier New"/>
              <a:buNone/>
            </a:pPr>
            <a:r>
              <a:rPr b="0" i="0" lang="en-US" sz="1400" u="none" cap="none" strike="noStrike">
                <a:solidFill>
                  <a:srgbClr val="1F2933"/>
                </a:solidFill>
                <a:latin typeface="Courier New"/>
                <a:ea typeface="Courier New"/>
                <a:cs typeface="Courier New"/>
                <a:sym typeface="Courier New"/>
              </a:rPr>
              <a:t>df[df["quantite"] &gt; 5 &amp; df["quantite"] &lt; 10]</a:t>
            </a:r>
            <a:endParaRPr b="0" i="0" sz="14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B7280"/>
              </a:buClr>
              <a:buSzPts val="1400"/>
              <a:buFont typeface="Courier New"/>
              <a:buNone/>
            </a:pPr>
            <a:r>
              <a:rPr b="0" i="0" lang="en-US" sz="1400" u="none" cap="none" strike="noStrike">
                <a:solidFill>
                  <a:srgbClr val="6B7280"/>
                </a:solidFill>
                <a:latin typeface="Courier New"/>
                <a:ea typeface="Courier New"/>
                <a:cs typeface="Courier New"/>
                <a:sym typeface="Courier New"/>
              </a:rPr>
              <a:t># erreur : &amp; est prioritaire sur &gt; et &lt;</a:t>
            </a:r>
            <a:endParaRPr b="0" i="0" sz="1400" u="none" cap="none" strike="noStrike">
              <a:solidFill>
                <a:schemeClr val="dk1"/>
              </a:solidFill>
              <a:latin typeface="Calibri"/>
              <a:ea typeface="Calibri"/>
              <a:cs typeface="Calibri"/>
              <a:sym typeface="Calibri"/>
            </a:endParaRPr>
          </a:p>
        </p:txBody>
      </p:sp>
      <p:sp>
        <p:nvSpPr>
          <p:cNvPr id="151" name="Google Shape;151;p8"/>
          <p:cNvSpPr txBox="1"/>
          <p:nvPr/>
        </p:nvSpPr>
        <p:spPr>
          <a:xfrm>
            <a:off x="6324448" y="1417320"/>
            <a:ext cx="5318608"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F3A5F"/>
              </a:buClr>
              <a:buSzPts val="1700"/>
              <a:buFont typeface="Calibri"/>
              <a:buNone/>
            </a:pPr>
            <a:r>
              <a:rPr b="1" i="0" lang="en-US" sz="1700" u="none" cap="none" strike="noStrike">
                <a:solidFill>
                  <a:srgbClr val="1F3A5F"/>
                </a:solidFill>
                <a:latin typeface="Calibri"/>
                <a:ea typeface="Calibri"/>
                <a:cs typeface="Calibri"/>
                <a:sym typeface="Calibri"/>
              </a:rPr>
              <a:t>Fonctionne</a:t>
            </a:r>
            <a:endParaRPr b="0" i="0" sz="1700" u="none" cap="none" strike="noStrike">
              <a:solidFill>
                <a:schemeClr val="dk1"/>
              </a:solidFill>
              <a:latin typeface="Calibri"/>
              <a:ea typeface="Calibri"/>
              <a:cs typeface="Calibri"/>
              <a:sym typeface="Calibri"/>
            </a:endParaRPr>
          </a:p>
        </p:txBody>
      </p:sp>
      <p:sp>
        <p:nvSpPr>
          <p:cNvPr id="152" name="Google Shape;152;p8"/>
          <p:cNvSpPr/>
          <p:nvPr/>
        </p:nvSpPr>
        <p:spPr>
          <a:xfrm>
            <a:off x="6324448" y="1828800"/>
            <a:ext cx="5318608" cy="1071880"/>
          </a:xfrm>
          <a:prstGeom prst="rect">
            <a:avLst/>
          </a:prstGeom>
          <a:solidFill>
            <a:srgbClr val="F3F4F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 name="Google Shape;153;p8"/>
          <p:cNvSpPr txBox="1"/>
          <p:nvPr/>
        </p:nvSpPr>
        <p:spPr>
          <a:xfrm>
            <a:off x="6507328" y="1975104"/>
            <a:ext cx="4952848" cy="779272"/>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F2933"/>
              </a:buClr>
              <a:buSzPts val="1300"/>
              <a:buFont typeface="Courier New"/>
              <a:buNone/>
            </a:pPr>
            <a:r>
              <a:rPr b="0" i="0" lang="en-US" sz="1300" u="none" cap="none" strike="noStrike">
                <a:solidFill>
                  <a:srgbClr val="1F2933"/>
                </a:solidFill>
                <a:latin typeface="Courier New"/>
                <a:ea typeface="Courier New"/>
                <a:cs typeface="Courier New"/>
                <a:sym typeface="Courier New"/>
              </a:rPr>
              <a:t>df[(df["quantite"] &gt; 5) &amp; (df["quantite"] &lt; 10)]</a:t>
            </a:r>
            <a:endParaRPr b="0" i="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F2933"/>
              </a:buClr>
              <a:buSzPts val="1300"/>
              <a:buFont typeface="Courier New"/>
              <a:buNone/>
            </a:pPr>
            <a:r>
              <a:rPr b="0" i="0" lang="en-US" sz="1300" u="none" cap="none" strike="noStrike">
                <a:solidFill>
                  <a:srgbClr val="1F2933"/>
                </a:solidFill>
                <a:latin typeface="Courier New"/>
                <a:ea typeface="Courier New"/>
                <a:cs typeface="Courier New"/>
                <a:sym typeface="Courier New"/>
              </a:rPr>
              <a:t> </a:t>
            </a:r>
            <a:endParaRPr b="0" i="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B7280"/>
              </a:buClr>
              <a:buSzPts val="1300"/>
              <a:buFont typeface="Courier New"/>
              <a:buNone/>
            </a:pPr>
            <a:r>
              <a:rPr b="0" i="0" lang="en-US" sz="1300" u="none" cap="none" strike="noStrike">
                <a:solidFill>
                  <a:srgbClr val="6B7280"/>
                </a:solidFill>
                <a:latin typeface="Courier New"/>
                <a:ea typeface="Courier New"/>
                <a:cs typeface="Courier New"/>
                <a:sym typeface="Courier New"/>
              </a:rPr>
              <a:t># ou, plus lisible ici :</a:t>
            </a:r>
            <a:endParaRPr b="0" i="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F2933"/>
              </a:buClr>
              <a:buSzPts val="1300"/>
              <a:buFont typeface="Courier New"/>
              <a:buNone/>
            </a:pPr>
            <a:r>
              <a:rPr b="0" i="0" lang="en-US" sz="1300" u="none" cap="none" strike="noStrike">
                <a:solidFill>
                  <a:srgbClr val="1F2933"/>
                </a:solidFill>
                <a:latin typeface="Courier New"/>
                <a:ea typeface="Courier New"/>
                <a:cs typeface="Courier New"/>
                <a:sym typeface="Courier New"/>
              </a:rPr>
              <a:t>df[df["quantite"].between(6, 9)]</a:t>
            </a:r>
            <a:endParaRPr b="0" i="0" sz="1300" u="none" cap="none" strike="noStrike">
              <a:solidFill>
                <a:schemeClr val="dk1"/>
              </a:solidFill>
              <a:latin typeface="Calibri"/>
              <a:ea typeface="Calibri"/>
              <a:cs typeface="Calibri"/>
              <a:sym typeface="Calibri"/>
            </a:endParaRPr>
          </a:p>
        </p:txBody>
      </p:sp>
      <p:sp>
        <p:nvSpPr>
          <p:cNvPr id="154" name="Google Shape;154;p8"/>
          <p:cNvSpPr/>
          <p:nvPr/>
        </p:nvSpPr>
        <p:spPr>
          <a:xfrm>
            <a:off x="548640" y="3700272"/>
            <a:ext cx="11094415" cy="883920"/>
          </a:xfrm>
          <a:prstGeom prst="roundRect">
            <a:avLst>
              <a:gd fmla="val 6207" name="adj"/>
            </a:avLst>
          </a:prstGeom>
          <a:solidFill>
            <a:srgbClr val="E8F3E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 name="Google Shape;155;p8"/>
          <p:cNvSpPr txBox="1"/>
          <p:nvPr/>
        </p:nvSpPr>
        <p:spPr>
          <a:xfrm>
            <a:off x="822960" y="3700272"/>
            <a:ext cx="10545775" cy="883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F7D62"/>
              </a:buClr>
              <a:buSzPts val="1700"/>
              <a:buFont typeface="Courier New"/>
              <a:buNone/>
            </a:pPr>
            <a:r>
              <a:rPr b="0" i="0" lang="en-US" sz="1700" u="none" cap="none" strike="noStrike">
                <a:solidFill>
                  <a:srgbClr val="2F7D62"/>
                </a:solidFill>
                <a:latin typeface="Courier New"/>
                <a:ea typeface="Courier New"/>
                <a:cs typeface="Courier New"/>
                <a:sym typeface="Courier New"/>
              </a:rPr>
              <a:t>and</a:t>
            </a:r>
            <a:r>
              <a:rPr b="0" i="0" lang="en-US" sz="1700" u="none" cap="none" strike="noStrike">
                <a:solidFill>
                  <a:srgbClr val="1F3A5F"/>
                </a:solidFill>
                <a:latin typeface="Calibri"/>
                <a:ea typeface="Calibri"/>
                <a:cs typeface="Calibri"/>
                <a:sym typeface="Calibri"/>
              </a:rPr>
              <a:t> et </a:t>
            </a:r>
            <a:r>
              <a:rPr b="0" i="0" lang="en-US" sz="1700" u="none" cap="none" strike="noStrike">
                <a:solidFill>
                  <a:srgbClr val="2F7D62"/>
                </a:solidFill>
                <a:latin typeface="Courier New"/>
                <a:ea typeface="Courier New"/>
                <a:cs typeface="Courier New"/>
                <a:sym typeface="Courier New"/>
              </a:rPr>
              <a:t>or</a:t>
            </a:r>
            <a:r>
              <a:rPr b="0" i="0" lang="en-US" sz="1700" u="none" cap="none" strike="noStrike">
                <a:solidFill>
                  <a:srgbClr val="1F3A5F"/>
                </a:solidFill>
                <a:latin typeface="Calibri"/>
                <a:ea typeface="Calibri"/>
                <a:cs typeface="Calibri"/>
                <a:sym typeface="Calibri"/>
              </a:rPr>
              <a:t> comparent deux valeurs uniques. Pour comparer deux colonnes ligne par ligne, il faut </a:t>
            </a:r>
            <a:r>
              <a:rPr b="0" i="0" lang="en-US" sz="1700" u="none" cap="none" strike="noStrike">
                <a:solidFill>
                  <a:srgbClr val="2F7D62"/>
                </a:solidFill>
                <a:latin typeface="Courier New"/>
                <a:ea typeface="Courier New"/>
                <a:cs typeface="Courier New"/>
                <a:sym typeface="Courier New"/>
              </a:rPr>
              <a:t>&amp;</a:t>
            </a:r>
            <a:r>
              <a:rPr b="0" i="0" lang="en-US" sz="1700" u="none" cap="none" strike="noStrike">
                <a:solidFill>
                  <a:srgbClr val="1F3A5F"/>
                </a:solidFill>
                <a:latin typeface="Calibri"/>
                <a:ea typeface="Calibri"/>
                <a:cs typeface="Calibri"/>
                <a:sym typeface="Calibri"/>
              </a:rPr>
              <a:t> et </a:t>
            </a:r>
            <a:r>
              <a:rPr b="0" i="0" lang="en-US" sz="1700" u="none" cap="none" strike="noStrike">
                <a:solidFill>
                  <a:srgbClr val="2F7D62"/>
                </a:solidFill>
                <a:latin typeface="Courier New"/>
                <a:ea typeface="Courier New"/>
                <a:cs typeface="Courier New"/>
                <a:sym typeface="Courier New"/>
              </a:rPr>
              <a:t>|</a:t>
            </a:r>
            <a:r>
              <a:rPr b="0" i="0" lang="en-US" sz="1700" u="none" cap="none" strike="noStrike">
                <a:solidFill>
                  <a:srgbClr val="1F3A5F"/>
                </a:solidFill>
                <a:latin typeface="Calibri"/>
                <a:ea typeface="Calibri"/>
                <a:cs typeface="Calibri"/>
                <a:sym typeface="Calibri"/>
              </a:rPr>
              <a:t>.</a:t>
            </a:r>
            <a:endParaRPr b="0" i="0" sz="1700" u="none" cap="none" strike="noStrike">
              <a:solidFill>
                <a:schemeClr val="dk1"/>
              </a:solidFill>
              <a:latin typeface="Calibri"/>
              <a:ea typeface="Calibri"/>
              <a:cs typeface="Calibri"/>
              <a:sym typeface="Calibri"/>
            </a:endParaRPr>
          </a:p>
        </p:txBody>
      </p:sp>
      <p:sp>
        <p:nvSpPr>
          <p:cNvPr id="156" name="Google Shape;156;p8"/>
          <p:cNvSpPr txBox="1"/>
          <p:nvPr/>
        </p:nvSpPr>
        <p:spPr>
          <a:xfrm>
            <a:off x="548640" y="6400800"/>
            <a:ext cx="73152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B7280"/>
              </a:buClr>
              <a:buSzPts val="1000"/>
              <a:buFont typeface="Calibri"/>
              <a:buNone/>
            </a:pPr>
            <a:r>
              <a:rPr b="0" i="0" lang="en-US" sz="1000" u="none" cap="none" strike="noStrike">
                <a:solidFill>
                  <a:srgbClr val="6B7280"/>
                </a:solidFill>
                <a:latin typeface="Calibri"/>
                <a:ea typeface="Calibri"/>
                <a:cs typeface="Calibri"/>
                <a:sym typeface="Calibri"/>
              </a:rPr>
              <a:t>Analyse de données avec Python   |   Jour 1, après-midi</a:t>
            </a:r>
            <a:endParaRPr b="0" i="0" sz="1000" u="none" cap="none" strike="noStrike">
              <a:solidFill>
                <a:schemeClr val="dk1"/>
              </a:solidFill>
              <a:latin typeface="Calibri"/>
              <a:ea typeface="Calibri"/>
              <a:cs typeface="Calibri"/>
              <a:sym typeface="Calibri"/>
            </a:endParaRPr>
          </a:p>
        </p:txBody>
      </p:sp>
      <p:sp>
        <p:nvSpPr>
          <p:cNvPr id="157" name="Google Shape;157;p8"/>
          <p:cNvSpPr txBox="1"/>
          <p:nvPr>
            <p:ph idx="4294967295" type="sldNum"/>
          </p:nvPr>
        </p:nvSpPr>
        <p:spPr>
          <a:xfrm>
            <a:off x="11094415" y="6400800"/>
            <a:ext cx="548640" cy="27432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000" u="none" cap="none" strike="noStrike">
                <a:solidFill>
                  <a:srgbClr val="6B7280"/>
                </a:solidFill>
                <a:latin typeface="Calibri"/>
                <a:ea typeface="Calibri"/>
                <a:cs typeface="Calibri"/>
                <a:sym typeface="Calibri"/>
              </a:rPr>
              <a:t>‹#›</a:t>
            </a:fld>
            <a:endParaRPr b="0" i="0" sz="1000" u="none" cap="none" strike="noStrike">
              <a:solidFill>
                <a:srgbClr val="6B7280"/>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2" name="Shape 162"/>
        <p:cNvGrpSpPr/>
        <p:nvPr/>
      </p:nvGrpSpPr>
      <p:grpSpPr>
        <a:xfrm>
          <a:off x="0" y="0"/>
          <a:ext cx="0" cy="0"/>
          <a:chOff x="0" y="0"/>
          <a:chExt cx="0" cy="0"/>
        </a:xfrm>
      </p:grpSpPr>
      <p:sp>
        <p:nvSpPr>
          <p:cNvPr id="163" name="Google Shape;163;p9"/>
          <p:cNvSpPr/>
          <p:nvPr/>
        </p:nvSpPr>
        <p:spPr>
          <a:xfrm>
            <a:off x="548640" y="566928"/>
            <a:ext cx="475488" cy="475488"/>
          </a:xfrm>
          <a:prstGeom prst="ellipse">
            <a:avLst/>
          </a:prstGeom>
          <a:solidFill>
            <a:srgbClr val="2F7D6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 name="Google Shape;164;p9"/>
          <p:cNvSpPr txBox="1"/>
          <p:nvPr/>
        </p:nvSpPr>
        <p:spPr>
          <a:xfrm>
            <a:off x="548640" y="566928"/>
            <a:ext cx="475488" cy="47548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1</a:t>
            </a:r>
            <a:endParaRPr b="0" i="0" sz="1600" u="none" cap="none" strike="noStrike">
              <a:solidFill>
                <a:schemeClr val="dk1"/>
              </a:solidFill>
              <a:latin typeface="Calibri"/>
              <a:ea typeface="Calibri"/>
              <a:cs typeface="Calibri"/>
              <a:sym typeface="Calibri"/>
            </a:endParaRPr>
          </a:p>
        </p:txBody>
      </p:sp>
      <p:sp>
        <p:nvSpPr>
          <p:cNvPr id="165" name="Google Shape;165;p9"/>
          <p:cNvSpPr txBox="1"/>
          <p:nvPr/>
        </p:nvSpPr>
        <p:spPr>
          <a:xfrm>
            <a:off x="1280160" y="164592"/>
            <a:ext cx="10362895"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F7D62"/>
              </a:buClr>
              <a:buSzPts val="1200"/>
              <a:buFont typeface="Calibri"/>
              <a:buNone/>
            </a:pPr>
            <a:r>
              <a:rPr b="1" i="0" lang="en-US" sz="1200" u="none" cap="none" strike="noStrike">
                <a:solidFill>
                  <a:srgbClr val="2F7D62"/>
                </a:solidFill>
                <a:latin typeface="Calibri"/>
                <a:ea typeface="Calibri"/>
                <a:cs typeface="Calibri"/>
                <a:sym typeface="Calibri"/>
              </a:rPr>
              <a:t>SÉLECTIONNER DES DONNÉES</a:t>
            </a:r>
            <a:endParaRPr b="0" i="0" sz="1200" u="none" cap="none" strike="noStrike">
              <a:solidFill>
                <a:schemeClr val="dk1"/>
              </a:solidFill>
              <a:latin typeface="Calibri"/>
              <a:ea typeface="Calibri"/>
              <a:cs typeface="Calibri"/>
              <a:sym typeface="Calibri"/>
            </a:endParaRPr>
          </a:p>
        </p:txBody>
      </p:sp>
      <p:sp>
        <p:nvSpPr>
          <p:cNvPr id="166" name="Google Shape;166;p9"/>
          <p:cNvSpPr txBox="1"/>
          <p:nvPr/>
        </p:nvSpPr>
        <p:spPr>
          <a:xfrm>
            <a:off x="1280160" y="457200"/>
            <a:ext cx="10362895" cy="6949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F3A5F"/>
              </a:buClr>
              <a:buSzPts val="3000"/>
              <a:buFont typeface="Cambria"/>
              <a:buNone/>
            </a:pPr>
            <a:r>
              <a:rPr b="1" i="0" lang="en-US" sz="3000" u="none" cap="none" strike="noStrike">
                <a:solidFill>
                  <a:srgbClr val="1F3A5F"/>
                </a:solidFill>
                <a:latin typeface="Cambria"/>
                <a:ea typeface="Cambria"/>
                <a:cs typeface="Cambria"/>
                <a:sym typeface="Cambria"/>
              </a:rPr>
              <a:t>Construire des conditions</a:t>
            </a:r>
            <a:endParaRPr b="0" i="0" sz="3000" u="none" cap="none" strike="noStrike">
              <a:solidFill>
                <a:schemeClr val="dk1"/>
              </a:solidFill>
              <a:latin typeface="Calibri"/>
              <a:ea typeface="Calibri"/>
              <a:cs typeface="Calibri"/>
              <a:sym typeface="Calibri"/>
            </a:endParaRPr>
          </a:p>
        </p:txBody>
      </p:sp>
      <p:graphicFrame>
        <p:nvGraphicFramePr>
          <p:cNvPr id="167" name="Google Shape;167;p9"/>
          <p:cNvGraphicFramePr/>
          <p:nvPr/>
        </p:nvGraphicFramePr>
        <p:xfrm>
          <a:off x="548640" y="1417320"/>
          <a:ext cx="3000000" cy="3000000"/>
        </p:xfrm>
        <a:graphic>
          <a:graphicData uri="http://schemas.openxmlformats.org/drawingml/2006/table">
            <a:tbl>
              <a:tblPr>
                <a:noFill/>
                <a:tableStyleId>{5790C458-BB61-4800-A068-DD2F3961D878}</a:tableStyleId>
              </a:tblPr>
              <a:tblGrid>
                <a:gridCol w="1929475"/>
                <a:gridCol w="5064850"/>
                <a:gridCol w="4100100"/>
              </a:tblGrid>
              <a:tr h="365375">
                <a:tc>
                  <a:txBody>
                    <a:bodyPr/>
                    <a:lstStyle/>
                    <a:p>
                      <a:pPr indent="0" lvl="0" marL="0" marR="0" rtl="0" algn="l">
                        <a:spcBef>
                          <a:spcPts val="0"/>
                        </a:spcBef>
                        <a:spcAft>
                          <a:spcPts val="0"/>
                        </a:spcAft>
                        <a:buClr>
                          <a:srgbClr val="FFFFFF"/>
                        </a:buClr>
                        <a:buSzPts val="1500"/>
                        <a:buFont typeface="Calibri"/>
                        <a:buNone/>
                      </a:pPr>
                      <a:r>
                        <a:rPr b="1" lang="en-US" sz="1500" u="none" cap="none" strike="noStrike">
                          <a:solidFill>
                            <a:srgbClr val="FFFFFF"/>
                          </a:solidFill>
                          <a:latin typeface="Calibri"/>
                          <a:ea typeface="Calibri"/>
                          <a:cs typeface="Calibri"/>
                          <a:sym typeface="Calibri"/>
                        </a:rPr>
                        <a:t>Méthode</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1F3A5F"/>
                    </a:solidFill>
                  </a:tcPr>
                </a:tc>
                <a:tc>
                  <a:txBody>
                    <a:bodyPr/>
                    <a:lstStyle/>
                    <a:p>
                      <a:pPr indent="0" lvl="0" marL="0" marR="0" rtl="0" algn="l">
                        <a:spcBef>
                          <a:spcPts val="0"/>
                        </a:spcBef>
                        <a:spcAft>
                          <a:spcPts val="0"/>
                        </a:spcAft>
                        <a:buClr>
                          <a:srgbClr val="FFFFFF"/>
                        </a:buClr>
                        <a:buSzPts val="1500"/>
                        <a:buFont typeface="Calibri"/>
                        <a:buNone/>
                      </a:pPr>
                      <a:r>
                        <a:rPr b="1" lang="en-US" sz="1500" u="none" cap="none" strike="noStrike">
                          <a:solidFill>
                            <a:srgbClr val="FFFFFF"/>
                          </a:solidFill>
                          <a:latin typeface="Calibri"/>
                          <a:ea typeface="Calibri"/>
                          <a:cs typeface="Calibri"/>
                          <a:sym typeface="Calibri"/>
                        </a:rPr>
                        <a:t>Exemple</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1F3A5F"/>
                    </a:solidFill>
                  </a:tcPr>
                </a:tc>
                <a:tc>
                  <a:txBody>
                    <a:bodyPr/>
                    <a:lstStyle/>
                    <a:p>
                      <a:pPr indent="0" lvl="0" marL="0" marR="0" rtl="0" algn="l">
                        <a:spcBef>
                          <a:spcPts val="0"/>
                        </a:spcBef>
                        <a:spcAft>
                          <a:spcPts val="0"/>
                        </a:spcAft>
                        <a:buClr>
                          <a:srgbClr val="FFFFFF"/>
                        </a:buClr>
                        <a:buSzPts val="1500"/>
                        <a:buFont typeface="Calibri"/>
                        <a:buNone/>
                      </a:pPr>
                      <a:r>
                        <a:rPr b="1" lang="en-US" sz="1500" u="none" cap="none" strike="noStrike">
                          <a:solidFill>
                            <a:srgbClr val="FFFFFF"/>
                          </a:solidFill>
                          <a:latin typeface="Calibri"/>
                          <a:ea typeface="Calibri"/>
                          <a:cs typeface="Calibri"/>
                          <a:sym typeface="Calibri"/>
                        </a:rPr>
                        <a:t>Garde les lignes où...</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1F3A5F"/>
                    </a:solidFill>
                  </a:tcPr>
                </a:tc>
              </a:tr>
              <a:tr h="365375">
                <a:tc>
                  <a:txBody>
                    <a:bodyPr/>
                    <a:lstStyle/>
                    <a:p>
                      <a:pPr indent="0" lvl="0" marL="0" marR="0" rtl="0" algn="l">
                        <a:spcBef>
                          <a:spcPts val="0"/>
                        </a:spcBef>
                        <a:spcAft>
                          <a:spcPts val="0"/>
                        </a:spcAft>
                        <a:buClr>
                          <a:srgbClr val="1F3A5F"/>
                        </a:buClr>
                        <a:buSzPts val="1500"/>
                        <a:buFont typeface="Courier New"/>
                        <a:buNone/>
                      </a:pPr>
                      <a:r>
                        <a:rPr lang="en-US" sz="1500" u="none" cap="none" strike="noStrike">
                          <a:solidFill>
                            <a:srgbClr val="1F3A5F"/>
                          </a:solidFill>
                          <a:latin typeface="Courier New"/>
                          <a:ea typeface="Courier New"/>
                          <a:cs typeface="Courier New"/>
                          <a:sym typeface="Courier New"/>
                        </a:rPr>
                        <a:t>isin</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F3A5F"/>
                        </a:buClr>
                        <a:buSzPts val="1500"/>
                        <a:buFont typeface="Courier New"/>
                        <a:buNone/>
                      </a:pPr>
                      <a:r>
                        <a:rPr lang="en-US" sz="1500" u="none" cap="none" strike="noStrike">
                          <a:solidFill>
                            <a:srgbClr val="1F3A5F"/>
                          </a:solidFill>
                          <a:latin typeface="Courier New"/>
                          <a:ea typeface="Courier New"/>
                          <a:cs typeface="Courier New"/>
                          <a:sym typeface="Courier New"/>
                        </a:rPr>
                        <a:t>df["region"].isin(["Bretagne", "Occitanie"])</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F2933"/>
                        </a:buClr>
                        <a:buSzPts val="1500"/>
                        <a:buFont typeface="Calibri"/>
                        <a:buNone/>
                      </a:pPr>
                      <a:r>
                        <a:rPr lang="en-US" sz="1500" u="none" cap="none" strike="noStrike">
                          <a:solidFill>
                            <a:srgbClr val="1F2933"/>
                          </a:solidFill>
                          <a:latin typeface="Calibri"/>
                          <a:ea typeface="Calibri"/>
                          <a:cs typeface="Calibri"/>
                          <a:sym typeface="Calibri"/>
                        </a:rPr>
                        <a:t>la valeur est dans la liste</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FFFFF"/>
                    </a:solidFill>
                  </a:tcPr>
                </a:tc>
              </a:tr>
              <a:tr h="584450">
                <a:tc>
                  <a:txBody>
                    <a:bodyPr/>
                    <a:lstStyle/>
                    <a:p>
                      <a:pPr indent="0" lvl="0" marL="0" marR="0" rtl="0" algn="l">
                        <a:spcBef>
                          <a:spcPts val="0"/>
                        </a:spcBef>
                        <a:spcAft>
                          <a:spcPts val="0"/>
                        </a:spcAft>
                        <a:buClr>
                          <a:srgbClr val="1F3A5F"/>
                        </a:buClr>
                        <a:buSzPts val="1500"/>
                        <a:buFont typeface="Courier New"/>
                        <a:buNone/>
                      </a:pPr>
                      <a:r>
                        <a:rPr lang="en-US" sz="1500" u="none" cap="none" strike="noStrike">
                          <a:solidFill>
                            <a:srgbClr val="1F3A5F"/>
                          </a:solidFill>
                          <a:latin typeface="Courier New"/>
                          <a:ea typeface="Courier New"/>
                          <a:cs typeface="Courier New"/>
                          <a:sym typeface="Courier New"/>
                        </a:rPr>
                        <a:t>between</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7F9FB"/>
                    </a:solidFill>
                  </a:tcPr>
                </a:tc>
                <a:tc>
                  <a:txBody>
                    <a:bodyPr/>
                    <a:lstStyle/>
                    <a:p>
                      <a:pPr indent="0" lvl="0" marL="0" marR="0" rtl="0" algn="l">
                        <a:spcBef>
                          <a:spcPts val="0"/>
                        </a:spcBef>
                        <a:spcAft>
                          <a:spcPts val="0"/>
                        </a:spcAft>
                        <a:buClr>
                          <a:srgbClr val="1F3A5F"/>
                        </a:buClr>
                        <a:buSzPts val="1500"/>
                        <a:buFont typeface="Courier New"/>
                        <a:buNone/>
                      </a:pPr>
                      <a:r>
                        <a:rPr lang="en-US" sz="1500" u="none" cap="none" strike="noStrike">
                          <a:solidFill>
                            <a:srgbClr val="1F3A5F"/>
                          </a:solidFill>
                          <a:latin typeface="Courier New"/>
                          <a:ea typeface="Courier New"/>
                          <a:cs typeface="Courier New"/>
                          <a:sym typeface="Courier New"/>
                        </a:rPr>
                        <a:t>df["Prix unitaire"].between(10, 50)</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7F9FB"/>
                    </a:solidFill>
                  </a:tcPr>
                </a:tc>
                <a:tc>
                  <a:txBody>
                    <a:bodyPr/>
                    <a:lstStyle/>
                    <a:p>
                      <a:pPr indent="0" lvl="0" marL="0" marR="0" rtl="0" algn="l">
                        <a:spcBef>
                          <a:spcPts val="0"/>
                        </a:spcBef>
                        <a:spcAft>
                          <a:spcPts val="0"/>
                        </a:spcAft>
                        <a:buClr>
                          <a:srgbClr val="1F2933"/>
                        </a:buClr>
                        <a:buSzPts val="1500"/>
                        <a:buFont typeface="Calibri"/>
                        <a:buNone/>
                      </a:pPr>
                      <a:r>
                        <a:rPr lang="en-US" sz="1500" u="none" cap="none" strike="noStrike">
                          <a:solidFill>
                            <a:srgbClr val="1F2933"/>
                          </a:solidFill>
                          <a:latin typeface="Calibri"/>
                          <a:ea typeface="Calibri"/>
                          <a:cs typeface="Calibri"/>
                          <a:sym typeface="Calibri"/>
                        </a:rPr>
                        <a:t>la valeur est dans l'intervalle, bornes incluses</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7F9FB"/>
                    </a:solidFill>
                  </a:tcPr>
                </a:tc>
              </a:tr>
              <a:tr h="365375">
                <a:tc>
                  <a:txBody>
                    <a:bodyPr/>
                    <a:lstStyle/>
                    <a:p>
                      <a:pPr indent="0" lvl="0" marL="0" marR="0" rtl="0" algn="l">
                        <a:spcBef>
                          <a:spcPts val="0"/>
                        </a:spcBef>
                        <a:spcAft>
                          <a:spcPts val="0"/>
                        </a:spcAft>
                        <a:buClr>
                          <a:srgbClr val="1F3A5F"/>
                        </a:buClr>
                        <a:buSzPts val="1500"/>
                        <a:buFont typeface="Courier New"/>
                        <a:buNone/>
                      </a:pPr>
                      <a:r>
                        <a:rPr lang="en-US" sz="1500" u="none" cap="none" strike="noStrike">
                          <a:solidFill>
                            <a:srgbClr val="1F3A5F"/>
                          </a:solidFill>
                          <a:latin typeface="Courier New"/>
                          <a:ea typeface="Courier New"/>
                          <a:cs typeface="Courier New"/>
                          <a:sym typeface="Courier New"/>
                        </a:rPr>
                        <a:t>isna</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F3A5F"/>
                        </a:buClr>
                        <a:buSzPts val="1500"/>
                        <a:buFont typeface="Courier New"/>
                        <a:buNone/>
                      </a:pPr>
                      <a:r>
                        <a:rPr lang="en-US" sz="1500" u="none" cap="none" strike="noStrike">
                          <a:solidFill>
                            <a:srgbClr val="1F3A5F"/>
                          </a:solidFill>
                          <a:latin typeface="Courier New"/>
                          <a:ea typeface="Courier New"/>
                          <a:cs typeface="Courier New"/>
                          <a:sym typeface="Courier New"/>
                        </a:rPr>
                        <a:t>df["region"].isna()</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F2933"/>
                        </a:buClr>
                        <a:buSzPts val="1500"/>
                        <a:buFont typeface="Calibri"/>
                        <a:buNone/>
                      </a:pPr>
                      <a:r>
                        <a:rPr lang="en-US" sz="1500" u="none" cap="none" strike="noStrike">
                          <a:solidFill>
                            <a:srgbClr val="1F2933"/>
                          </a:solidFill>
                          <a:latin typeface="Calibri"/>
                          <a:ea typeface="Calibri"/>
                          <a:cs typeface="Calibri"/>
                          <a:sym typeface="Calibri"/>
                        </a:rPr>
                        <a:t>la valeur est manquante</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FFFFF"/>
                    </a:solidFill>
                  </a:tcPr>
                </a:tc>
              </a:tr>
              <a:tr h="365375">
                <a:tc>
                  <a:txBody>
                    <a:bodyPr/>
                    <a:lstStyle/>
                    <a:p>
                      <a:pPr indent="0" lvl="0" marL="0" marR="0" rtl="0" algn="l">
                        <a:spcBef>
                          <a:spcPts val="0"/>
                        </a:spcBef>
                        <a:spcAft>
                          <a:spcPts val="0"/>
                        </a:spcAft>
                        <a:buClr>
                          <a:srgbClr val="1F3A5F"/>
                        </a:buClr>
                        <a:buSzPts val="1500"/>
                        <a:buFont typeface="Courier New"/>
                        <a:buNone/>
                      </a:pPr>
                      <a:r>
                        <a:rPr lang="en-US" sz="1500" u="none" cap="none" strike="noStrike">
                          <a:solidFill>
                            <a:srgbClr val="1F3A5F"/>
                          </a:solidFill>
                          <a:latin typeface="Courier New"/>
                          <a:ea typeface="Courier New"/>
                          <a:cs typeface="Courier New"/>
                          <a:sym typeface="Courier New"/>
                        </a:rPr>
                        <a:t>str.contains</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7F9FB"/>
                    </a:solidFill>
                  </a:tcPr>
                </a:tc>
                <a:tc>
                  <a:txBody>
                    <a:bodyPr/>
                    <a:lstStyle/>
                    <a:p>
                      <a:pPr indent="0" lvl="0" marL="0" marR="0" rtl="0" algn="l">
                        <a:spcBef>
                          <a:spcPts val="0"/>
                        </a:spcBef>
                        <a:spcAft>
                          <a:spcPts val="0"/>
                        </a:spcAft>
                        <a:buClr>
                          <a:srgbClr val="1F3A5F"/>
                        </a:buClr>
                        <a:buSzPts val="1500"/>
                        <a:buFont typeface="Courier New"/>
                        <a:buNone/>
                      </a:pPr>
                      <a:r>
                        <a:rPr lang="en-US" sz="1500" u="none" cap="none" strike="noStrike">
                          <a:solidFill>
                            <a:srgbClr val="1F3A5F"/>
                          </a:solidFill>
                          <a:latin typeface="Courier New"/>
                          <a:ea typeface="Courier New"/>
                          <a:cs typeface="Courier New"/>
                          <a:sym typeface="Courier New"/>
                        </a:rPr>
                        <a:t>df["produit"].str.contains("Écran")</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7F9FB"/>
                    </a:solidFill>
                  </a:tcPr>
                </a:tc>
                <a:tc>
                  <a:txBody>
                    <a:bodyPr/>
                    <a:lstStyle/>
                    <a:p>
                      <a:pPr indent="0" lvl="0" marL="0" marR="0" rtl="0" algn="l">
                        <a:spcBef>
                          <a:spcPts val="0"/>
                        </a:spcBef>
                        <a:spcAft>
                          <a:spcPts val="0"/>
                        </a:spcAft>
                        <a:buClr>
                          <a:srgbClr val="1F2933"/>
                        </a:buClr>
                        <a:buSzPts val="1500"/>
                        <a:buFont typeface="Calibri"/>
                        <a:buNone/>
                      </a:pPr>
                      <a:r>
                        <a:rPr lang="en-US" sz="1500" u="none" cap="none" strike="noStrike">
                          <a:solidFill>
                            <a:srgbClr val="1F2933"/>
                          </a:solidFill>
                          <a:latin typeface="Calibri"/>
                          <a:ea typeface="Calibri"/>
                          <a:cs typeface="Calibri"/>
                          <a:sym typeface="Calibri"/>
                        </a:rPr>
                        <a:t>le texte contient le pattern</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7F9FB"/>
                    </a:solidFill>
                  </a:tcPr>
                </a:tc>
              </a:tr>
            </a:tbl>
          </a:graphicData>
        </a:graphic>
      </p:graphicFrame>
      <p:sp>
        <p:nvSpPr>
          <p:cNvPr id="168" name="Google Shape;168;p9"/>
          <p:cNvSpPr txBox="1"/>
          <p:nvPr/>
        </p:nvSpPr>
        <p:spPr>
          <a:xfrm>
            <a:off x="548640" y="3783330"/>
            <a:ext cx="11094415"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B7280"/>
              </a:buClr>
              <a:buSzPts val="1200"/>
              <a:buFont typeface="Calibri"/>
              <a:buNone/>
            </a:pPr>
            <a:r>
              <a:rPr b="0" i="0" lang="en-US" sz="1200" u="none" cap="none" strike="noStrike">
                <a:solidFill>
                  <a:srgbClr val="6B7280"/>
                </a:solidFill>
                <a:latin typeface="Calibri"/>
                <a:ea typeface="Calibri"/>
                <a:cs typeface="Calibri"/>
                <a:sym typeface="Calibri"/>
              </a:rPr>
              <a:t>Sélection combinée, et query pour les filtres longs</a:t>
            </a:r>
            <a:endParaRPr b="0" i="0" sz="1200" u="none" cap="none" strike="noStrike">
              <a:solidFill>
                <a:schemeClr val="dk1"/>
              </a:solidFill>
              <a:latin typeface="Calibri"/>
              <a:ea typeface="Calibri"/>
              <a:cs typeface="Calibri"/>
              <a:sym typeface="Calibri"/>
            </a:endParaRPr>
          </a:p>
        </p:txBody>
      </p:sp>
      <p:sp>
        <p:nvSpPr>
          <p:cNvPr id="169" name="Google Shape;169;p9"/>
          <p:cNvSpPr/>
          <p:nvPr/>
        </p:nvSpPr>
        <p:spPr>
          <a:xfrm>
            <a:off x="548640" y="4075938"/>
            <a:ext cx="11094415" cy="1191768"/>
          </a:xfrm>
          <a:prstGeom prst="rect">
            <a:avLst/>
          </a:prstGeom>
          <a:solidFill>
            <a:srgbClr val="F3F4F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 name="Google Shape;170;p9"/>
          <p:cNvSpPr txBox="1"/>
          <p:nvPr/>
        </p:nvSpPr>
        <p:spPr>
          <a:xfrm>
            <a:off x="731520" y="4222242"/>
            <a:ext cx="10728655" cy="8991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F2933"/>
              </a:buClr>
              <a:buSzPts val="1500"/>
              <a:buFont typeface="Courier New"/>
              <a:buNone/>
            </a:pPr>
            <a:r>
              <a:rPr b="0" i="0" lang="en-US" sz="1500" u="none" cap="none" strike="noStrike">
                <a:solidFill>
                  <a:srgbClr val="1F2933"/>
                </a:solidFill>
                <a:latin typeface="Courier New"/>
                <a:ea typeface="Courier New"/>
                <a:cs typeface="Courier New"/>
                <a:sym typeface="Courier New"/>
              </a:rPr>
              <a:t>df.loc[df["quantite"] &gt; 10, ["date", "produit", "quantite"]]</a:t>
            </a:r>
            <a:endParaRPr b="0" i="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F2933"/>
              </a:buClr>
              <a:buSzPts val="1500"/>
              <a:buFont typeface="Courier New"/>
              <a:buNone/>
            </a:pPr>
            <a:r>
              <a:rPr b="0" i="0" lang="en-US" sz="1500" u="none" cap="none" strike="noStrike">
                <a:solidFill>
                  <a:srgbClr val="1F2933"/>
                </a:solidFill>
                <a:latin typeface="Courier New"/>
                <a:ea typeface="Courier New"/>
                <a:cs typeface="Courier New"/>
                <a:sym typeface="Courier New"/>
              </a:rPr>
              <a:t> </a:t>
            </a:r>
            <a:endParaRPr b="0" i="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F2933"/>
              </a:buClr>
              <a:buSzPts val="1500"/>
              <a:buFont typeface="Courier New"/>
              <a:buNone/>
            </a:pPr>
            <a:r>
              <a:rPr b="0" i="0" lang="en-US" sz="1500" u="none" cap="none" strike="noStrike">
                <a:solidFill>
                  <a:srgbClr val="1F2933"/>
                </a:solidFill>
                <a:latin typeface="Courier New"/>
                <a:ea typeface="Courier New"/>
                <a:cs typeface="Courier New"/>
                <a:sym typeface="Courier New"/>
              </a:rPr>
              <a:t>df.query("quantite &gt; 10 and categorie == 'Bureau'")</a:t>
            </a:r>
            <a:endParaRPr b="0" i="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F2933"/>
              </a:buClr>
              <a:buSzPts val="1500"/>
              <a:buFont typeface="Courier New"/>
              <a:buNone/>
            </a:pPr>
            <a:r>
              <a:rPr b="0" i="0" lang="en-US" sz="1500" u="none" cap="none" strike="noStrike">
                <a:solidFill>
                  <a:srgbClr val="1F2933"/>
                </a:solidFill>
                <a:latin typeface="Courier New"/>
                <a:ea typeface="Courier New"/>
                <a:cs typeface="Courier New"/>
                <a:sym typeface="Courier New"/>
              </a:rPr>
              <a:t>df.query("`Prix unitaire` &gt; 5000")     # espaces : accents graves</a:t>
            </a:r>
            <a:endParaRPr b="0" i="0" sz="1500" u="none" cap="none" strike="noStrike">
              <a:solidFill>
                <a:schemeClr val="dk1"/>
              </a:solidFill>
              <a:latin typeface="Calibri"/>
              <a:ea typeface="Calibri"/>
              <a:cs typeface="Calibri"/>
              <a:sym typeface="Calibri"/>
            </a:endParaRPr>
          </a:p>
        </p:txBody>
      </p:sp>
      <p:sp>
        <p:nvSpPr>
          <p:cNvPr id="171" name="Google Shape;171;p9"/>
          <p:cNvSpPr txBox="1"/>
          <p:nvPr/>
        </p:nvSpPr>
        <p:spPr>
          <a:xfrm>
            <a:off x="548640" y="6400800"/>
            <a:ext cx="73152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B7280"/>
              </a:buClr>
              <a:buSzPts val="1000"/>
              <a:buFont typeface="Calibri"/>
              <a:buNone/>
            </a:pPr>
            <a:r>
              <a:rPr b="0" i="0" lang="en-US" sz="1000" u="none" cap="none" strike="noStrike">
                <a:solidFill>
                  <a:srgbClr val="6B7280"/>
                </a:solidFill>
                <a:latin typeface="Calibri"/>
                <a:ea typeface="Calibri"/>
                <a:cs typeface="Calibri"/>
                <a:sym typeface="Calibri"/>
              </a:rPr>
              <a:t>Analyse de données avec Python   |   Jour 1, après-midi</a:t>
            </a:r>
            <a:endParaRPr b="0" i="0" sz="1000" u="none" cap="none" strike="noStrike">
              <a:solidFill>
                <a:schemeClr val="dk1"/>
              </a:solidFill>
              <a:latin typeface="Calibri"/>
              <a:ea typeface="Calibri"/>
              <a:cs typeface="Calibri"/>
              <a:sym typeface="Calibri"/>
            </a:endParaRPr>
          </a:p>
        </p:txBody>
      </p:sp>
      <p:sp>
        <p:nvSpPr>
          <p:cNvPr id="172" name="Google Shape;172;p9"/>
          <p:cNvSpPr txBox="1"/>
          <p:nvPr>
            <p:ph idx="4294967295" type="sldNum"/>
          </p:nvPr>
        </p:nvSpPr>
        <p:spPr>
          <a:xfrm>
            <a:off x="11094415" y="6400800"/>
            <a:ext cx="548640" cy="27432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000" u="none" cap="none" strike="noStrike">
                <a:solidFill>
                  <a:srgbClr val="6B7280"/>
                </a:solidFill>
                <a:latin typeface="Calibri"/>
                <a:ea typeface="Calibri"/>
                <a:cs typeface="Calibri"/>
                <a:sym typeface="Calibri"/>
              </a:rPr>
              <a:t>‹#›</a:t>
            </a:fld>
            <a:endParaRPr b="0" i="0" sz="1000" u="none" cap="none" strike="noStrike">
              <a:solidFill>
                <a:srgbClr val="6B7280"/>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7" name="Shape 177"/>
        <p:cNvGrpSpPr/>
        <p:nvPr/>
      </p:nvGrpSpPr>
      <p:grpSpPr>
        <a:xfrm>
          <a:off x="0" y="0"/>
          <a:ext cx="0" cy="0"/>
          <a:chOff x="0" y="0"/>
          <a:chExt cx="0" cy="0"/>
        </a:xfrm>
      </p:grpSpPr>
      <p:sp>
        <p:nvSpPr>
          <p:cNvPr id="178" name="Google Shape;178;p10"/>
          <p:cNvSpPr/>
          <p:nvPr/>
        </p:nvSpPr>
        <p:spPr>
          <a:xfrm>
            <a:off x="548640" y="566928"/>
            <a:ext cx="475488" cy="475488"/>
          </a:xfrm>
          <a:prstGeom prst="ellipse">
            <a:avLst/>
          </a:prstGeom>
          <a:solidFill>
            <a:srgbClr val="2F7D6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 name="Google Shape;179;p10"/>
          <p:cNvSpPr txBox="1"/>
          <p:nvPr/>
        </p:nvSpPr>
        <p:spPr>
          <a:xfrm>
            <a:off x="548640" y="566928"/>
            <a:ext cx="475488" cy="47548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1</a:t>
            </a:r>
            <a:endParaRPr b="0" i="0" sz="1600" u="none" cap="none" strike="noStrike">
              <a:solidFill>
                <a:schemeClr val="dk1"/>
              </a:solidFill>
              <a:latin typeface="Calibri"/>
              <a:ea typeface="Calibri"/>
              <a:cs typeface="Calibri"/>
              <a:sym typeface="Calibri"/>
            </a:endParaRPr>
          </a:p>
        </p:txBody>
      </p:sp>
      <p:sp>
        <p:nvSpPr>
          <p:cNvPr id="180" name="Google Shape;180;p10"/>
          <p:cNvSpPr txBox="1"/>
          <p:nvPr/>
        </p:nvSpPr>
        <p:spPr>
          <a:xfrm>
            <a:off x="1280160" y="164592"/>
            <a:ext cx="10362895"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F7D62"/>
              </a:buClr>
              <a:buSzPts val="1200"/>
              <a:buFont typeface="Calibri"/>
              <a:buNone/>
            </a:pPr>
            <a:r>
              <a:rPr b="1" i="0" lang="en-US" sz="1200" u="none" cap="none" strike="noStrike">
                <a:solidFill>
                  <a:srgbClr val="2F7D62"/>
                </a:solidFill>
                <a:latin typeface="Calibri"/>
                <a:ea typeface="Calibri"/>
                <a:cs typeface="Calibri"/>
                <a:sym typeface="Calibri"/>
              </a:rPr>
              <a:t>SÉLECTIONNER DES DONNÉES</a:t>
            </a:r>
            <a:endParaRPr b="0" i="0" sz="1200" u="none" cap="none" strike="noStrike">
              <a:solidFill>
                <a:schemeClr val="dk1"/>
              </a:solidFill>
              <a:latin typeface="Calibri"/>
              <a:ea typeface="Calibri"/>
              <a:cs typeface="Calibri"/>
              <a:sym typeface="Calibri"/>
            </a:endParaRPr>
          </a:p>
        </p:txBody>
      </p:sp>
      <p:sp>
        <p:nvSpPr>
          <p:cNvPr id="181" name="Google Shape;181;p10"/>
          <p:cNvSpPr txBox="1"/>
          <p:nvPr/>
        </p:nvSpPr>
        <p:spPr>
          <a:xfrm>
            <a:off x="1280160" y="457200"/>
            <a:ext cx="10362895" cy="6949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F3A5F"/>
              </a:buClr>
              <a:buSzPts val="3000"/>
              <a:buFont typeface="Cambria"/>
              <a:buNone/>
            </a:pPr>
            <a:r>
              <a:rPr b="1" i="0" lang="en-US" sz="3000" u="none" cap="none" strike="noStrike">
                <a:solidFill>
                  <a:srgbClr val="1F3A5F"/>
                </a:solidFill>
                <a:latin typeface="Cambria"/>
                <a:ea typeface="Cambria"/>
                <a:cs typeface="Cambria"/>
                <a:sym typeface="Cambria"/>
              </a:rPr>
              <a:t>Modifier une sélection</a:t>
            </a:r>
            <a:endParaRPr b="0" i="0" sz="3000" u="none" cap="none" strike="noStrike">
              <a:solidFill>
                <a:schemeClr val="dk1"/>
              </a:solidFill>
              <a:latin typeface="Calibri"/>
              <a:ea typeface="Calibri"/>
              <a:cs typeface="Calibri"/>
              <a:sym typeface="Calibri"/>
            </a:endParaRPr>
          </a:p>
        </p:txBody>
      </p:sp>
      <p:sp>
        <p:nvSpPr>
          <p:cNvPr id="182" name="Google Shape;182;p10"/>
          <p:cNvSpPr txBox="1"/>
          <p:nvPr/>
        </p:nvSpPr>
        <p:spPr>
          <a:xfrm>
            <a:off x="548640" y="1417320"/>
            <a:ext cx="5318608"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F3A5F"/>
              </a:buClr>
              <a:buSzPts val="1700"/>
              <a:buFont typeface="Calibri"/>
              <a:buNone/>
            </a:pPr>
            <a:r>
              <a:rPr b="1" i="0" lang="en-US" sz="1700" u="none" cap="none" strike="noStrike">
                <a:solidFill>
                  <a:srgbClr val="1F3A5F"/>
                </a:solidFill>
                <a:latin typeface="Calibri"/>
                <a:ea typeface="Calibri"/>
                <a:cs typeface="Calibri"/>
                <a:sym typeface="Calibri"/>
              </a:rPr>
              <a:t>Sans effet</a:t>
            </a:r>
            <a:endParaRPr b="0" i="0" sz="1700" u="none" cap="none" strike="noStrike">
              <a:solidFill>
                <a:schemeClr val="dk1"/>
              </a:solidFill>
              <a:latin typeface="Calibri"/>
              <a:ea typeface="Calibri"/>
              <a:cs typeface="Calibri"/>
              <a:sym typeface="Calibri"/>
            </a:endParaRPr>
          </a:p>
        </p:txBody>
      </p:sp>
      <p:sp>
        <p:nvSpPr>
          <p:cNvPr id="183" name="Google Shape;183;p10"/>
          <p:cNvSpPr/>
          <p:nvPr/>
        </p:nvSpPr>
        <p:spPr>
          <a:xfrm>
            <a:off x="548640" y="1828800"/>
            <a:ext cx="5318608" cy="742188"/>
          </a:xfrm>
          <a:prstGeom prst="rect">
            <a:avLst/>
          </a:prstGeom>
          <a:solidFill>
            <a:srgbClr val="F3F4F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 name="Google Shape;184;p10"/>
          <p:cNvSpPr txBox="1"/>
          <p:nvPr/>
        </p:nvSpPr>
        <p:spPr>
          <a:xfrm>
            <a:off x="731520" y="1975104"/>
            <a:ext cx="4952848" cy="4495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F2933"/>
              </a:buClr>
              <a:buSzPts val="1500"/>
              <a:buFont typeface="Courier New"/>
              <a:buNone/>
            </a:pPr>
            <a:r>
              <a:rPr b="0" i="0" lang="en-US" sz="1500" u="none" cap="none" strike="noStrike">
                <a:solidFill>
                  <a:srgbClr val="1F2933"/>
                </a:solidFill>
                <a:latin typeface="Courier New"/>
                <a:ea typeface="Courier New"/>
                <a:cs typeface="Courier New"/>
                <a:sym typeface="Courier New"/>
              </a:rPr>
              <a:t>df[df["quantite"] &gt; 100]["quantite"] = 0</a:t>
            </a:r>
            <a:endParaRPr b="0" i="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B7280"/>
              </a:buClr>
              <a:buSzPts val="1500"/>
              <a:buFont typeface="Courier New"/>
              <a:buNone/>
            </a:pPr>
            <a:r>
              <a:rPr b="0" i="0" lang="en-US" sz="1500" u="none" cap="none" strike="noStrike">
                <a:solidFill>
                  <a:srgbClr val="6B7280"/>
                </a:solidFill>
                <a:latin typeface="Courier New"/>
                <a:ea typeface="Courier New"/>
                <a:cs typeface="Courier New"/>
                <a:sym typeface="Courier New"/>
              </a:rPr>
              <a:t># ChainedAssignmentError</a:t>
            </a:r>
            <a:endParaRPr b="0" i="0" sz="1500" u="none" cap="none" strike="noStrike">
              <a:solidFill>
                <a:schemeClr val="dk1"/>
              </a:solidFill>
              <a:latin typeface="Calibri"/>
              <a:ea typeface="Calibri"/>
              <a:cs typeface="Calibri"/>
              <a:sym typeface="Calibri"/>
            </a:endParaRPr>
          </a:p>
        </p:txBody>
      </p:sp>
      <p:sp>
        <p:nvSpPr>
          <p:cNvPr id="185" name="Google Shape;185;p10"/>
          <p:cNvSpPr txBox="1"/>
          <p:nvPr/>
        </p:nvSpPr>
        <p:spPr>
          <a:xfrm>
            <a:off x="548640" y="2891028"/>
            <a:ext cx="5318608" cy="8686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B7280"/>
              </a:buClr>
              <a:buSzPts val="1600"/>
              <a:buFont typeface="Calibri"/>
              <a:buNone/>
            </a:pPr>
            <a:r>
              <a:rPr b="0" i="0" lang="en-US" sz="1600" u="none" cap="none" strike="noStrike">
                <a:solidFill>
                  <a:srgbClr val="6B7280"/>
                </a:solidFill>
                <a:latin typeface="Calibri"/>
                <a:ea typeface="Calibri"/>
                <a:cs typeface="Calibri"/>
                <a:sym typeface="Calibri"/>
              </a:rPr>
              <a:t>Deux étapes : la sélection crée une copie temporaire, c'est elle qui est modifiée, puis elle est perdue.</a:t>
            </a:r>
            <a:endParaRPr b="0" i="0" sz="1600" u="none" cap="none" strike="noStrike">
              <a:solidFill>
                <a:schemeClr val="dk1"/>
              </a:solidFill>
              <a:latin typeface="Calibri"/>
              <a:ea typeface="Calibri"/>
              <a:cs typeface="Calibri"/>
              <a:sym typeface="Calibri"/>
            </a:endParaRPr>
          </a:p>
        </p:txBody>
      </p:sp>
      <p:sp>
        <p:nvSpPr>
          <p:cNvPr id="186" name="Google Shape;186;p10"/>
          <p:cNvSpPr txBox="1"/>
          <p:nvPr/>
        </p:nvSpPr>
        <p:spPr>
          <a:xfrm>
            <a:off x="6324448" y="1417320"/>
            <a:ext cx="5318608"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F3A5F"/>
              </a:buClr>
              <a:buSzPts val="1700"/>
              <a:buFont typeface="Calibri"/>
              <a:buNone/>
            </a:pPr>
            <a:r>
              <a:rPr b="1" i="0" lang="en-US" sz="1700" u="none" cap="none" strike="noStrike">
                <a:solidFill>
                  <a:srgbClr val="1F3A5F"/>
                </a:solidFill>
                <a:latin typeface="Calibri"/>
                <a:ea typeface="Calibri"/>
                <a:cs typeface="Calibri"/>
                <a:sym typeface="Calibri"/>
              </a:rPr>
              <a:t>Correct</a:t>
            </a:r>
            <a:endParaRPr b="0" i="0" sz="1700" u="none" cap="none" strike="noStrike">
              <a:solidFill>
                <a:schemeClr val="dk1"/>
              </a:solidFill>
              <a:latin typeface="Calibri"/>
              <a:ea typeface="Calibri"/>
              <a:cs typeface="Calibri"/>
              <a:sym typeface="Calibri"/>
            </a:endParaRPr>
          </a:p>
        </p:txBody>
      </p:sp>
      <p:sp>
        <p:nvSpPr>
          <p:cNvPr id="187" name="Google Shape;187;p10"/>
          <p:cNvSpPr/>
          <p:nvPr/>
        </p:nvSpPr>
        <p:spPr>
          <a:xfrm>
            <a:off x="6324448" y="1828800"/>
            <a:ext cx="5318608" cy="1071880"/>
          </a:xfrm>
          <a:prstGeom prst="rect">
            <a:avLst/>
          </a:prstGeom>
          <a:solidFill>
            <a:srgbClr val="F3F4F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 name="Google Shape;188;p10"/>
          <p:cNvSpPr txBox="1"/>
          <p:nvPr/>
        </p:nvSpPr>
        <p:spPr>
          <a:xfrm>
            <a:off x="6507328" y="1975104"/>
            <a:ext cx="4952848" cy="779272"/>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F2933"/>
              </a:buClr>
              <a:buSzPts val="1300"/>
              <a:buFont typeface="Courier New"/>
              <a:buNone/>
            </a:pPr>
            <a:r>
              <a:rPr b="0" i="0" lang="en-US" sz="1300" u="none" cap="none" strike="noStrike">
                <a:solidFill>
                  <a:srgbClr val="1F2933"/>
                </a:solidFill>
                <a:latin typeface="Courier New"/>
                <a:ea typeface="Courier New"/>
                <a:cs typeface="Courier New"/>
                <a:sym typeface="Courier New"/>
              </a:rPr>
              <a:t>df.loc[df["quantite"] &gt; 100, "quantite"] = 0</a:t>
            </a:r>
            <a:endParaRPr b="0" i="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F2933"/>
              </a:buClr>
              <a:buSzPts val="1300"/>
              <a:buFont typeface="Courier New"/>
              <a:buNone/>
            </a:pPr>
            <a:r>
              <a:rPr b="0" i="0" lang="en-US" sz="1300" u="none" cap="none" strike="noStrike">
                <a:solidFill>
                  <a:srgbClr val="1F2933"/>
                </a:solidFill>
                <a:latin typeface="Courier New"/>
                <a:ea typeface="Courier New"/>
                <a:cs typeface="Courier New"/>
                <a:sym typeface="Courier New"/>
              </a:rPr>
              <a:t> </a:t>
            </a:r>
            <a:endParaRPr b="0" i="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B7280"/>
              </a:buClr>
              <a:buSzPts val="1300"/>
              <a:buFont typeface="Courier New"/>
              <a:buNone/>
            </a:pPr>
            <a:r>
              <a:rPr b="0" i="0" lang="en-US" sz="1300" u="none" cap="none" strike="noStrike">
                <a:solidFill>
                  <a:srgbClr val="6B7280"/>
                </a:solidFill>
                <a:latin typeface="Courier New"/>
                <a:ea typeface="Courier New"/>
                <a:cs typeface="Courier New"/>
                <a:sym typeface="Courier New"/>
              </a:rPr>
              <a:t># sous-ensemble à modifier ensuite</a:t>
            </a:r>
            <a:endParaRPr b="0" i="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F2933"/>
              </a:buClr>
              <a:buSzPts val="1300"/>
              <a:buFont typeface="Courier New"/>
              <a:buNone/>
            </a:pPr>
            <a:r>
              <a:rPr b="0" i="0" lang="en-US" sz="1300" u="none" cap="none" strike="noStrike">
                <a:solidFill>
                  <a:srgbClr val="1F2933"/>
                </a:solidFill>
                <a:latin typeface="Courier New"/>
                <a:ea typeface="Courier New"/>
                <a:cs typeface="Courier New"/>
                <a:sym typeface="Courier New"/>
              </a:rPr>
              <a:t>bureau = df[df["categorie"] == "Bureau"].copy()</a:t>
            </a:r>
            <a:endParaRPr b="0" i="0" sz="1300" u="none" cap="none" strike="noStrike">
              <a:solidFill>
                <a:schemeClr val="dk1"/>
              </a:solidFill>
              <a:latin typeface="Calibri"/>
              <a:ea typeface="Calibri"/>
              <a:cs typeface="Calibri"/>
              <a:sym typeface="Calibri"/>
            </a:endParaRPr>
          </a:p>
        </p:txBody>
      </p:sp>
      <p:sp>
        <p:nvSpPr>
          <p:cNvPr id="189" name="Google Shape;189;p10"/>
          <p:cNvSpPr txBox="1"/>
          <p:nvPr/>
        </p:nvSpPr>
        <p:spPr>
          <a:xfrm>
            <a:off x="6324448" y="3220720"/>
            <a:ext cx="5318608" cy="6248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B7280"/>
              </a:buClr>
              <a:buSzPts val="1600"/>
              <a:buFont typeface="Calibri"/>
              <a:buNone/>
            </a:pPr>
            <a:r>
              <a:rPr b="0" i="0" lang="en-US" sz="1600" u="none" cap="none" strike="noStrike">
                <a:solidFill>
                  <a:srgbClr val="6B7280"/>
                </a:solidFill>
                <a:latin typeface="Calibri"/>
                <a:ea typeface="Calibri"/>
                <a:cs typeface="Calibri"/>
                <a:sym typeface="Calibri"/>
              </a:rPr>
              <a:t>Une seule étape avec </a:t>
            </a:r>
            <a:r>
              <a:rPr b="0" i="0" lang="en-US" sz="1600" u="none" cap="none" strike="noStrike">
                <a:solidFill>
                  <a:srgbClr val="1F3A5F"/>
                </a:solidFill>
                <a:latin typeface="Courier New"/>
                <a:ea typeface="Courier New"/>
                <a:cs typeface="Courier New"/>
                <a:sym typeface="Courier New"/>
              </a:rPr>
              <a:t>loc</a:t>
            </a:r>
            <a:r>
              <a:rPr b="0" i="0" lang="en-US" sz="1600" u="none" cap="none" strike="noStrike">
                <a:solidFill>
                  <a:srgbClr val="6B7280"/>
                </a:solidFill>
                <a:latin typeface="Calibri"/>
                <a:ea typeface="Calibri"/>
                <a:cs typeface="Calibri"/>
                <a:sym typeface="Calibri"/>
              </a:rPr>
              <a:t> : sélection et affectation portent sur </a:t>
            </a:r>
            <a:r>
              <a:rPr b="0" i="0" lang="en-US" sz="1600" u="none" cap="none" strike="noStrike">
                <a:solidFill>
                  <a:srgbClr val="1F3A5F"/>
                </a:solidFill>
                <a:latin typeface="Courier New"/>
                <a:ea typeface="Courier New"/>
                <a:cs typeface="Courier New"/>
                <a:sym typeface="Courier New"/>
              </a:rPr>
              <a:t>df</a:t>
            </a:r>
            <a:r>
              <a:rPr b="0" i="0" lang="en-US" sz="1600" u="none" cap="none" strike="noStrike">
                <a:solidFill>
                  <a:srgbClr val="6B7280"/>
                </a:solidFill>
                <a:latin typeface="Calibri"/>
                <a:ea typeface="Calibri"/>
                <a:cs typeface="Calibri"/>
                <a:sym typeface="Calibri"/>
              </a:rPr>
              <a:t> lui-même.</a:t>
            </a:r>
            <a:endParaRPr b="0" i="0" sz="1600" u="none" cap="none" strike="noStrike">
              <a:solidFill>
                <a:schemeClr val="dk1"/>
              </a:solidFill>
              <a:latin typeface="Calibri"/>
              <a:ea typeface="Calibri"/>
              <a:cs typeface="Calibri"/>
              <a:sym typeface="Calibri"/>
            </a:endParaRPr>
          </a:p>
        </p:txBody>
      </p:sp>
      <p:sp>
        <p:nvSpPr>
          <p:cNvPr id="190" name="Google Shape;190;p10"/>
          <p:cNvSpPr/>
          <p:nvPr/>
        </p:nvSpPr>
        <p:spPr>
          <a:xfrm>
            <a:off x="548640" y="4165600"/>
            <a:ext cx="11094415" cy="883920"/>
          </a:xfrm>
          <a:prstGeom prst="roundRect">
            <a:avLst>
              <a:gd fmla="val 6207" name="adj"/>
            </a:avLst>
          </a:prstGeom>
          <a:solidFill>
            <a:srgbClr val="E8F3E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 name="Google Shape;191;p10"/>
          <p:cNvSpPr txBox="1"/>
          <p:nvPr/>
        </p:nvSpPr>
        <p:spPr>
          <a:xfrm>
            <a:off x="822960" y="4165600"/>
            <a:ext cx="10545775" cy="883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F3A5F"/>
              </a:buClr>
              <a:buSzPts val="1700"/>
              <a:buFont typeface="Calibri"/>
              <a:buNone/>
            </a:pPr>
            <a:r>
              <a:rPr b="0" i="0" lang="en-US" sz="1700" u="none" cap="none" strike="noStrike">
                <a:solidFill>
                  <a:srgbClr val="1F3A5F"/>
                </a:solidFill>
                <a:latin typeface="Calibri"/>
                <a:ea typeface="Calibri"/>
                <a:cs typeface="Calibri"/>
                <a:sym typeface="Calibri"/>
              </a:rPr>
              <a:t>Depuis pandas 3, le mode Copy-on-Write est actif par défaut : toute sélection se comporte comme une copie. Avec pandas 2, le même code affichait un </a:t>
            </a:r>
            <a:r>
              <a:rPr b="0" i="0" lang="en-US" sz="1700" u="none" cap="none" strike="noStrike">
                <a:solidFill>
                  <a:srgbClr val="2F7D62"/>
                </a:solidFill>
                <a:latin typeface="Courier New"/>
                <a:ea typeface="Courier New"/>
                <a:cs typeface="Courier New"/>
                <a:sym typeface="Courier New"/>
              </a:rPr>
              <a:t>SettingWithCopyWarning</a:t>
            </a:r>
            <a:r>
              <a:rPr b="0" i="0" lang="en-US" sz="1700" u="none" cap="none" strike="noStrike">
                <a:solidFill>
                  <a:srgbClr val="1F3A5F"/>
                </a:solidFill>
                <a:latin typeface="Calibri"/>
                <a:ea typeface="Calibri"/>
                <a:cs typeface="Calibri"/>
                <a:sym typeface="Calibri"/>
              </a:rPr>
              <a:t>.</a:t>
            </a:r>
            <a:endParaRPr b="0" i="0" sz="1700" u="none" cap="none" strike="noStrike">
              <a:solidFill>
                <a:schemeClr val="dk1"/>
              </a:solidFill>
              <a:latin typeface="Calibri"/>
              <a:ea typeface="Calibri"/>
              <a:cs typeface="Calibri"/>
              <a:sym typeface="Calibri"/>
            </a:endParaRPr>
          </a:p>
        </p:txBody>
      </p:sp>
      <p:sp>
        <p:nvSpPr>
          <p:cNvPr id="192" name="Google Shape;192;p10"/>
          <p:cNvSpPr txBox="1"/>
          <p:nvPr/>
        </p:nvSpPr>
        <p:spPr>
          <a:xfrm>
            <a:off x="548640" y="6400800"/>
            <a:ext cx="73152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B7280"/>
              </a:buClr>
              <a:buSzPts val="1000"/>
              <a:buFont typeface="Calibri"/>
              <a:buNone/>
            </a:pPr>
            <a:r>
              <a:rPr b="0" i="0" lang="en-US" sz="1000" u="none" cap="none" strike="noStrike">
                <a:solidFill>
                  <a:srgbClr val="6B7280"/>
                </a:solidFill>
                <a:latin typeface="Calibri"/>
                <a:ea typeface="Calibri"/>
                <a:cs typeface="Calibri"/>
                <a:sym typeface="Calibri"/>
              </a:rPr>
              <a:t>Analyse de données avec Python   |   Jour 1, après-midi</a:t>
            </a:r>
            <a:endParaRPr b="0" i="0" sz="1000" u="none" cap="none" strike="noStrike">
              <a:solidFill>
                <a:schemeClr val="dk1"/>
              </a:solidFill>
              <a:latin typeface="Calibri"/>
              <a:ea typeface="Calibri"/>
              <a:cs typeface="Calibri"/>
              <a:sym typeface="Calibri"/>
            </a:endParaRPr>
          </a:p>
        </p:txBody>
      </p:sp>
      <p:sp>
        <p:nvSpPr>
          <p:cNvPr id="193" name="Google Shape;193;p10"/>
          <p:cNvSpPr txBox="1"/>
          <p:nvPr>
            <p:ph idx="4294967295" type="sldNum"/>
          </p:nvPr>
        </p:nvSpPr>
        <p:spPr>
          <a:xfrm>
            <a:off x="11094415" y="6400800"/>
            <a:ext cx="548640" cy="27432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000" u="none" cap="none" strike="noStrike">
                <a:solidFill>
                  <a:srgbClr val="6B7280"/>
                </a:solidFill>
                <a:latin typeface="Calibri"/>
                <a:ea typeface="Calibri"/>
                <a:cs typeface="Calibri"/>
                <a:sym typeface="Calibri"/>
              </a:rPr>
              <a:t>‹#›</a:t>
            </a:fld>
            <a:endParaRPr b="0" i="0" sz="1000" u="none" cap="none" strike="noStrike">
              <a:solidFill>
                <a:srgbClr val="6B7280"/>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8" name="Shape 198"/>
        <p:cNvGrpSpPr/>
        <p:nvPr/>
      </p:nvGrpSpPr>
      <p:grpSpPr>
        <a:xfrm>
          <a:off x="0" y="0"/>
          <a:ext cx="0" cy="0"/>
          <a:chOff x="0" y="0"/>
          <a:chExt cx="0" cy="0"/>
        </a:xfrm>
      </p:grpSpPr>
      <p:sp>
        <p:nvSpPr>
          <p:cNvPr id="199" name="Google Shape;199;p11"/>
          <p:cNvSpPr/>
          <p:nvPr/>
        </p:nvSpPr>
        <p:spPr>
          <a:xfrm>
            <a:off x="548640" y="566928"/>
            <a:ext cx="475488" cy="475488"/>
          </a:xfrm>
          <a:prstGeom prst="ellipse">
            <a:avLst/>
          </a:prstGeom>
          <a:solidFill>
            <a:srgbClr val="2F7D6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 name="Google Shape;200;p11"/>
          <p:cNvSpPr txBox="1"/>
          <p:nvPr/>
        </p:nvSpPr>
        <p:spPr>
          <a:xfrm>
            <a:off x="548640" y="566928"/>
            <a:ext cx="475488" cy="47548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1</a:t>
            </a:r>
            <a:endParaRPr b="0" i="0" sz="1600" u="none" cap="none" strike="noStrike">
              <a:solidFill>
                <a:schemeClr val="dk1"/>
              </a:solidFill>
              <a:latin typeface="Calibri"/>
              <a:ea typeface="Calibri"/>
              <a:cs typeface="Calibri"/>
              <a:sym typeface="Calibri"/>
            </a:endParaRPr>
          </a:p>
        </p:txBody>
      </p:sp>
      <p:sp>
        <p:nvSpPr>
          <p:cNvPr id="201" name="Google Shape;201;p11"/>
          <p:cNvSpPr txBox="1"/>
          <p:nvPr/>
        </p:nvSpPr>
        <p:spPr>
          <a:xfrm>
            <a:off x="1280160" y="164592"/>
            <a:ext cx="10362895"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F7D62"/>
              </a:buClr>
              <a:buSzPts val="1200"/>
              <a:buFont typeface="Calibri"/>
              <a:buNone/>
            </a:pPr>
            <a:r>
              <a:rPr b="1" i="0" lang="en-US" sz="1200" u="none" cap="none" strike="noStrike">
                <a:solidFill>
                  <a:srgbClr val="2F7D62"/>
                </a:solidFill>
                <a:latin typeface="Calibri"/>
                <a:ea typeface="Calibri"/>
                <a:cs typeface="Calibri"/>
                <a:sym typeface="Calibri"/>
              </a:rPr>
              <a:t>SÉLECTIONNER DES DONNÉES</a:t>
            </a:r>
            <a:endParaRPr b="0" i="0" sz="1200" u="none" cap="none" strike="noStrike">
              <a:solidFill>
                <a:schemeClr val="dk1"/>
              </a:solidFill>
              <a:latin typeface="Calibri"/>
              <a:ea typeface="Calibri"/>
              <a:cs typeface="Calibri"/>
              <a:sym typeface="Calibri"/>
            </a:endParaRPr>
          </a:p>
        </p:txBody>
      </p:sp>
      <p:sp>
        <p:nvSpPr>
          <p:cNvPr id="202" name="Google Shape;202;p11"/>
          <p:cNvSpPr txBox="1"/>
          <p:nvPr/>
        </p:nvSpPr>
        <p:spPr>
          <a:xfrm>
            <a:off x="1280160" y="457200"/>
            <a:ext cx="10362895" cy="6949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F3A5F"/>
              </a:buClr>
              <a:buSzPts val="3000"/>
              <a:buFont typeface="Cambria"/>
              <a:buNone/>
            </a:pPr>
            <a:r>
              <a:rPr b="1" i="0" lang="en-US" sz="3000" u="none" cap="none" strike="noStrike">
                <a:solidFill>
                  <a:srgbClr val="1F3A5F"/>
                </a:solidFill>
                <a:latin typeface="Cambria"/>
                <a:ea typeface="Cambria"/>
                <a:cs typeface="Cambria"/>
                <a:sym typeface="Cambria"/>
              </a:rPr>
              <a:t>Pratique : TP2, partie 1</a:t>
            </a:r>
            <a:endParaRPr b="0" i="0" sz="3000" u="none" cap="none" strike="noStrike">
              <a:solidFill>
                <a:schemeClr val="dk1"/>
              </a:solidFill>
              <a:latin typeface="Calibri"/>
              <a:ea typeface="Calibri"/>
              <a:cs typeface="Calibri"/>
              <a:sym typeface="Calibri"/>
            </a:endParaRPr>
          </a:p>
        </p:txBody>
      </p:sp>
      <p:sp>
        <p:nvSpPr>
          <p:cNvPr id="203" name="Google Shape;203;p11"/>
          <p:cNvSpPr txBox="1"/>
          <p:nvPr/>
        </p:nvSpPr>
        <p:spPr>
          <a:xfrm>
            <a:off x="548640" y="1417320"/>
            <a:ext cx="11094415" cy="411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B7280"/>
              </a:buClr>
              <a:buSzPts val="1800"/>
              <a:buFont typeface="Calibri"/>
              <a:buNone/>
            </a:pPr>
            <a:r>
              <a:rPr b="0" i="0" lang="en-US" sz="1800" u="none" cap="none" strike="noStrike">
                <a:solidFill>
                  <a:srgbClr val="6B7280"/>
                </a:solidFill>
                <a:latin typeface="Calibri"/>
                <a:ea typeface="Calibri"/>
                <a:cs typeface="Calibri"/>
                <a:sym typeface="Calibri"/>
              </a:rPr>
              <a:t>Sélectionner des données, dans le notebook </a:t>
            </a:r>
            <a:r>
              <a:rPr b="0" i="0" lang="en-US" sz="1800" u="none" cap="none" strike="noStrike">
                <a:solidFill>
                  <a:srgbClr val="1F3A5F"/>
                </a:solidFill>
                <a:latin typeface="Courier New"/>
                <a:ea typeface="Courier New"/>
                <a:cs typeface="Courier New"/>
                <a:sym typeface="Courier New"/>
              </a:rPr>
              <a:t>exercices/tp02-nettoyage/tp02.ipynb</a:t>
            </a:r>
            <a:endParaRPr b="0" i="0" sz="1800" u="none" cap="none" strike="noStrike">
              <a:solidFill>
                <a:schemeClr val="dk1"/>
              </a:solidFill>
              <a:latin typeface="Calibri"/>
              <a:ea typeface="Calibri"/>
              <a:cs typeface="Calibri"/>
              <a:sym typeface="Calibri"/>
            </a:endParaRPr>
          </a:p>
        </p:txBody>
      </p:sp>
      <p:graphicFrame>
        <p:nvGraphicFramePr>
          <p:cNvPr id="204" name="Google Shape;204;p11"/>
          <p:cNvGraphicFramePr/>
          <p:nvPr/>
        </p:nvGraphicFramePr>
        <p:xfrm>
          <a:off x="548640" y="2011680"/>
          <a:ext cx="3000000" cy="3000000"/>
        </p:xfrm>
        <a:graphic>
          <a:graphicData uri="http://schemas.openxmlformats.org/drawingml/2006/table">
            <a:tbl>
              <a:tblPr>
                <a:noFill/>
                <a:tableStyleId>{5790C458-BB61-4800-A068-DD2F3961D878}</a:tableStyleId>
              </a:tblPr>
              <a:tblGrid>
                <a:gridCol w="2289325"/>
                <a:gridCol w="8805100"/>
              </a:tblGrid>
              <a:tr h="379975">
                <a:tc>
                  <a:txBody>
                    <a:bodyPr/>
                    <a:lstStyle/>
                    <a:p>
                      <a:pPr indent="0" lvl="0" marL="0" marR="0" rtl="0" algn="l">
                        <a:spcBef>
                          <a:spcPts val="0"/>
                        </a:spcBef>
                        <a:spcAft>
                          <a:spcPts val="0"/>
                        </a:spcAft>
                        <a:buClr>
                          <a:srgbClr val="FFFFFF"/>
                        </a:buClr>
                        <a:buSzPts val="1600"/>
                        <a:buFont typeface="Calibri"/>
                        <a:buNone/>
                      </a:pPr>
                      <a:r>
                        <a:rPr b="1" lang="en-US" sz="1600" u="none" cap="none" strike="noStrike">
                          <a:solidFill>
                            <a:srgbClr val="FFFFFF"/>
                          </a:solidFill>
                          <a:latin typeface="Calibri"/>
                          <a:ea typeface="Calibri"/>
                          <a:cs typeface="Calibri"/>
                          <a:sym typeface="Calibri"/>
                        </a:rPr>
                        <a:t>Questions</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1F3A5F"/>
                    </a:solidFill>
                  </a:tcPr>
                </a:tc>
                <a:tc>
                  <a:txBody>
                    <a:bodyPr/>
                    <a:lstStyle/>
                    <a:p>
                      <a:pPr indent="0" lvl="0" marL="0" marR="0" rtl="0" algn="l">
                        <a:spcBef>
                          <a:spcPts val="0"/>
                        </a:spcBef>
                        <a:spcAft>
                          <a:spcPts val="0"/>
                        </a:spcAft>
                        <a:buClr>
                          <a:srgbClr val="FFFFFF"/>
                        </a:buClr>
                        <a:buSzPts val="1600"/>
                        <a:buFont typeface="Calibri"/>
                        <a:buNone/>
                      </a:pPr>
                      <a:r>
                        <a:rPr b="1" lang="en-US" sz="1600" u="none" cap="none" strike="noStrike">
                          <a:solidFill>
                            <a:srgbClr val="FFFFFF"/>
                          </a:solidFill>
                          <a:latin typeface="Calibri"/>
                          <a:ea typeface="Calibri"/>
                          <a:cs typeface="Calibri"/>
                          <a:sym typeface="Calibri"/>
                        </a:rPr>
                        <a:t>Ce qu'on pratique</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1F3A5F"/>
                    </a:solidFill>
                  </a:tcPr>
                </a:tc>
              </a:tr>
              <a:tr h="379975">
                <a:tc>
                  <a:txBody>
                    <a:bodyPr/>
                    <a:lstStyle/>
                    <a:p>
                      <a:pPr indent="0" lvl="0" marL="0" marR="0" rtl="0" algn="l">
                        <a:spcBef>
                          <a:spcPts val="0"/>
                        </a:spcBef>
                        <a:spcAft>
                          <a:spcPts val="0"/>
                        </a:spcAft>
                        <a:buClr>
                          <a:srgbClr val="1F2933"/>
                        </a:buClr>
                        <a:buSzPts val="1600"/>
                        <a:buFont typeface="Calibri"/>
                        <a:buNone/>
                      </a:pPr>
                      <a:r>
                        <a:rPr b="1" lang="en-US" sz="1600" u="none" cap="none" strike="noStrike">
                          <a:solidFill>
                            <a:srgbClr val="1F2933"/>
                          </a:solidFill>
                          <a:latin typeface="Calibri"/>
                          <a:ea typeface="Calibri"/>
                          <a:cs typeface="Calibri"/>
                          <a:sym typeface="Calibri"/>
                        </a:rPr>
                        <a:t>1.1</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F2933"/>
                        </a:buClr>
                        <a:buSzPts val="1600"/>
                        <a:buFont typeface="Calibri"/>
                        <a:buNone/>
                      </a:pPr>
                      <a:r>
                        <a:rPr lang="en-US" sz="1600" u="none" cap="none" strike="noStrike">
                          <a:solidFill>
                            <a:srgbClr val="1F2933"/>
                          </a:solidFill>
                          <a:latin typeface="Calibri"/>
                          <a:ea typeface="Calibri"/>
                          <a:cs typeface="Calibri"/>
                          <a:sym typeface="Calibri"/>
                        </a:rPr>
                        <a:t>les mêmes lignes avec </a:t>
                      </a:r>
                      <a:r>
                        <a:rPr lang="en-US" sz="1600" u="none" cap="none" strike="noStrike">
                          <a:solidFill>
                            <a:srgbClr val="1F3A5F"/>
                          </a:solidFill>
                          <a:latin typeface="Courier New"/>
                          <a:ea typeface="Courier New"/>
                          <a:cs typeface="Courier New"/>
                          <a:sym typeface="Courier New"/>
                        </a:rPr>
                        <a:t>loc</a:t>
                      </a:r>
                      <a:r>
                        <a:rPr lang="en-US" sz="1600" u="none" cap="none" strike="noStrike">
                          <a:solidFill>
                            <a:srgbClr val="1F2933"/>
                          </a:solidFill>
                          <a:latin typeface="Calibri"/>
                          <a:ea typeface="Calibri"/>
                          <a:cs typeface="Calibri"/>
                          <a:sym typeface="Calibri"/>
                        </a:rPr>
                        <a:t> puis avec </a:t>
                      </a:r>
                      <a:r>
                        <a:rPr lang="en-US" sz="1600" u="none" cap="none" strike="noStrike">
                          <a:solidFill>
                            <a:srgbClr val="1F3A5F"/>
                          </a:solidFill>
                          <a:latin typeface="Courier New"/>
                          <a:ea typeface="Courier New"/>
                          <a:cs typeface="Courier New"/>
                          <a:sym typeface="Courier New"/>
                        </a:rPr>
                        <a:t>iloc</a:t>
                      </a:r>
                      <a:r>
                        <a:rPr lang="en-US" sz="1600" u="none" cap="none" strike="noStrike">
                          <a:solidFill>
                            <a:srgbClr val="1F2933"/>
                          </a:solidFill>
                          <a:latin typeface="Calibri"/>
                          <a:ea typeface="Calibri"/>
                          <a:cs typeface="Calibri"/>
                          <a:sym typeface="Calibri"/>
                        </a:rPr>
                        <a:t> : pourquoi les bornes diffèrent</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FFFFF"/>
                    </a:solidFill>
                  </a:tcPr>
                </a:tc>
              </a:tr>
              <a:tr h="379975">
                <a:tc>
                  <a:txBody>
                    <a:bodyPr/>
                    <a:lstStyle/>
                    <a:p>
                      <a:pPr indent="0" lvl="0" marL="0" marR="0" rtl="0" algn="l">
                        <a:spcBef>
                          <a:spcPts val="0"/>
                        </a:spcBef>
                        <a:spcAft>
                          <a:spcPts val="0"/>
                        </a:spcAft>
                        <a:buClr>
                          <a:srgbClr val="1F2933"/>
                        </a:buClr>
                        <a:buSzPts val="1600"/>
                        <a:buFont typeface="Calibri"/>
                        <a:buNone/>
                      </a:pPr>
                      <a:r>
                        <a:rPr b="1" lang="en-US" sz="1600" u="none" cap="none" strike="noStrike">
                          <a:solidFill>
                            <a:srgbClr val="1F2933"/>
                          </a:solidFill>
                          <a:latin typeface="Calibri"/>
                          <a:ea typeface="Calibri"/>
                          <a:cs typeface="Calibri"/>
                          <a:sym typeface="Calibri"/>
                        </a:rPr>
                        <a:t>1.2 et 1.3</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7F9FB"/>
                    </a:solidFill>
                  </a:tcPr>
                </a:tc>
                <a:tc>
                  <a:txBody>
                    <a:bodyPr/>
                    <a:lstStyle/>
                    <a:p>
                      <a:pPr indent="0" lvl="0" marL="0" marR="0" rtl="0" algn="l">
                        <a:spcBef>
                          <a:spcPts val="0"/>
                        </a:spcBef>
                        <a:spcAft>
                          <a:spcPts val="0"/>
                        </a:spcAft>
                        <a:buClr>
                          <a:srgbClr val="1F2933"/>
                        </a:buClr>
                        <a:buSzPts val="1600"/>
                        <a:buFont typeface="Calibri"/>
                        <a:buNone/>
                      </a:pPr>
                      <a:r>
                        <a:rPr lang="en-US" sz="1600" u="none" cap="none" strike="noStrike">
                          <a:solidFill>
                            <a:srgbClr val="1F2933"/>
                          </a:solidFill>
                          <a:latin typeface="Calibri"/>
                          <a:ea typeface="Calibri"/>
                          <a:cs typeface="Calibri"/>
                          <a:sym typeface="Calibri"/>
                        </a:rPr>
                        <a:t>combiner des conditions, </a:t>
                      </a:r>
                      <a:r>
                        <a:rPr lang="en-US" sz="1600" u="none" cap="none" strike="noStrike">
                          <a:solidFill>
                            <a:srgbClr val="1F3A5F"/>
                          </a:solidFill>
                          <a:latin typeface="Courier New"/>
                          <a:ea typeface="Courier New"/>
                          <a:cs typeface="Courier New"/>
                          <a:sym typeface="Courier New"/>
                        </a:rPr>
                        <a:t>isin</a:t>
                      </a:r>
                      <a:r>
                        <a:rPr lang="en-US" sz="1600" u="none" cap="none" strike="noStrike">
                          <a:solidFill>
                            <a:srgbClr val="1F2933"/>
                          </a:solidFill>
                          <a:latin typeface="Calibri"/>
                          <a:ea typeface="Calibri"/>
                          <a:cs typeface="Calibri"/>
                          <a:sym typeface="Calibri"/>
                        </a:rPr>
                        <a:t>, et ce que le filtre laisse échapper</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7F9FB"/>
                    </a:solidFill>
                  </a:tcPr>
                </a:tc>
              </a:tr>
              <a:tr h="379975">
                <a:tc>
                  <a:txBody>
                    <a:bodyPr/>
                    <a:lstStyle/>
                    <a:p>
                      <a:pPr indent="0" lvl="0" marL="0" marR="0" rtl="0" algn="l">
                        <a:spcBef>
                          <a:spcPts val="0"/>
                        </a:spcBef>
                        <a:spcAft>
                          <a:spcPts val="0"/>
                        </a:spcAft>
                        <a:buClr>
                          <a:srgbClr val="1F2933"/>
                        </a:buClr>
                        <a:buSzPts val="1600"/>
                        <a:buFont typeface="Calibri"/>
                        <a:buNone/>
                      </a:pPr>
                      <a:r>
                        <a:rPr b="1" lang="en-US" sz="1600" u="none" cap="none" strike="noStrike">
                          <a:solidFill>
                            <a:srgbClr val="1F2933"/>
                          </a:solidFill>
                          <a:latin typeface="Calibri"/>
                          <a:ea typeface="Calibri"/>
                          <a:cs typeface="Calibri"/>
                          <a:sym typeface="Calibri"/>
                        </a:rPr>
                        <a:t>1.4 à 1.6</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F3A5F"/>
                        </a:buClr>
                        <a:buSzPts val="1600"/>
                        <a:buFont typeface="Courier New"/>
                        <a:buNone/>
                      </a:pPr>
                      <a:r>
                        <a:rPr lang="en-US" sz="1600" u="none" cap="none" strike="noStrike">
                          <a:solidFill>
                            <a:srgbClr val="1F3A5F"/>
                          </a:solidFill>
                          <a:latin typeface="Courier New"/>
                          <a:ea typeface="Courier New"/>
                          <a:cs typeface="Courier New"/>
                          <a:sym typeface="Courier New"/>
                        </a:rPr>
                        <a:t>loc</a:t>
                      </a:r>
                      <a:r>
                        <a:rPr lang="en-US" sz="1600" u="none" cap="none" strike="noStrike">
                          <a:solidFill>
                            <a:srgbClr val="1F2933"/>
                          </a:solidFill>
                          <a:latin typeface="Calibri"/>
                          <a:ea typeface="Calibri"/>
                          <a:cs typeface="Calibri"/>
                          <a:sym typeface="Calibri"/>
                        </a:rPr>
                        <a:t> avec un masque et des colonnes, </a:t>
                      </a:r>
                      <a:r>
                        <a:rPr lang="en-US" sz="1600" u="none" cap="none" strike="noStrike">
                          <a:solidFill>
                            <a:srgbClr val="1F3A5F"/>
                          </a:solidFill>
                          <a:latin typeface="Courier New"/>
                          <a:ea typeface="Courier New"/>
                          <a:cs typeface="Courier New"/>
                          <a:sym typeface="Courier New"/>
                        </a:rPr>
                        <a:t>~</a:t>
                      </a:r>
                      <a:r>
                        <a:rPr lang="en-US" sz="1600" u="none" cap="none" strike="noStrike">
                          <a:solidFill>
                            <a:srgbClr val="1F2933"/>
                          </a:solidFill>
                          <a:latin typeface="Calibri"/>
                          <a:ea typeface="Calibri"/>
                          <a:cs typeface="Calibri"/>
                          <a:sym typeface="Calibri"/>
                        </a:rPr>
                        <a:t> et </a:t>
                      </a:r>
                      <a:r>
                        <a:rPr lang="en-US" sz="1600" u="none" cap="none" strike="noStrike">
                          <a:solidFill>
                            <a:srgbClr val="1F3A5F"/>
                          </a:solidFill>
                          <a:latin typeface="Courier New"/>
                          <a:ea typeface="Courier New"/>
                          <a:cs typeface="Courier New"/>
                          <a:sym typeface="Courier New"/>
                        </a:rPr>
                        <a:t>between</a:t>
                      </a:r>
                      <a:r>
                        <a:rPr lang="en-US" sz="1600" u="none" cap="none" strike="noStrike">
                          <a:solidFill>
                            <a:srgbClr val="1F2933"/>
                          </a:solidFill>
                          <a:latin typeface="Calibri"/>
                          <a:ea typeface="Calibri"/>
                          <a:cs typeface="Calibri"/>
                          <a:sym typeface="Calibri"/>
                        </a:rPr>
                        <a:t>, </a:t>
                      </a:r>
                      <a:r>
                        <a:rPr lang="en-US" sz="1600" u="none" cap="none" strike="noStrike">
                          <a:solidFill>
                            <a:srgbClr val="1F3A5F"/>
                          </a:solidFill>
                          <a:latin typeface="Courier New"/>
                          <a:ea typeface="Courier New"/>
                          <a:cs typeface="Courier New"/>
                          <a:sym typeface="Courier New"/>
                        </a:rPr>
                        <a:t>query</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FFFFF"/>
                    </a:solidFill>
                  </a:tcPr>
                </a:tc>
              </a:tr>
              <a:tr h="379975">
                <a:tc>
                  <a:txBody>
                    <a:bodyPr/>
                    <a:lstStyle/>
                    <a:p>
                      <a:pPr indent="0" lvl="0" marL="0" marR="0" rtl="0" algn="l">
                        <a:spcBef>
                          <a:spcPts val="0"/>
                        </a:spcBef>
                        <a:spcAft>
                          <a:spcPts val="0"/>
                        </a:spcAft>
                        <a:buClr>
                          <a:srgbClr val="1F2933"/>
                        </a:buClr>
                        <a:buSzPts val="1600"/>
                        <a:buFont typeface="Calibri"/>
                        <a:buNone/>
                      </a:pPr>
                      <a:r>
                        <a:rPr b="1" lang="en-US" sz="1600" u="none" cap="none" strike="noStrike">
                          <a:solidFill>
                            <a:srgbClr val="1F2933"/>
                          </a:solidFill>
                          <a:latin typeface="Calibri"/>
                          <a:ea typeface="Calibri"/>
                          <a:cs typeface="Calibri"/>
                          <a:sym typeface="Calibri"/>
                        </a:rPr>
                        <a:t>1.7</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7F9FB"/>
                    </a:solidFill>
                  </a:tcPr>
                </a:tc>
                <a:tc>
                  <a:txBody>
                    <a:bodyPr/>
                    <a:lstStyle/>
                    <a:p>
                      <a:pPr indent="0" lvl="0" marL="0" marR="0" rtl="0" algn="l">
                        <a:spcBef>
                          <a:spcPts val="0"/>
                        </a:spcBef>
                        <a:spcAft>
                          <a:spcPts val="0"/>
                        </a:spcAft>
                        <a:buClr>
                          <a:srgbClr val="1F2933"/>
                        </a:buClr>
                        <a:buSzPts val="1600"/>
                        <a:buFont typeface="Calibri"/>
                        <a:buNone/>
                      </a:pPr>
                      <a:r>
                        <a:rPr lang="en-US" sz="1600" u="none" cap="none" strike="noStrike">
                          <a:solidFill>
                            <a:srgbClr val="1F2933"/>
                          </a:solidFill>
                          <a:latin typeface="Calibri"/>
                          <a:ea typeface="Calibri"/>
                          <a:cs typeface="Calibri"/>
                          <a:sym typeface="Calibri"/>
                        </a:rPr>
                        <a:t>modifier une copie en une seule instruction avec </a:t>
                      </a:r>
                      <a:r>
                        <a:rPr lang="en-US" sz="1600" u="none" cap="none" strike="noStrike">
                          <a:solidFill>
                            <a:srgbClr val="1F3A5F"/>
                          </a:solidFill>
                          <a:latin typeface="Courier New"/>
                          <a:ea typeface="Courier New"/>
                          <a:cs typeface="Courier New"/>
                          <a:sym typeface="Courier New"/>
                        </a:rPr>
                        <a:t>loc</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7F9FB"/>
                    </a:solidFill>
                  </a:tcPr>
                </a:tc>
              </a:tr>
            </a:tbl>
          </a:graphicData>
        </a:graphic>
      </p:graphicFrame>
      <p:sp>
        <p:nvSpPr>
          <p:cNvPr id="205" name="Google Shape;205;p11"/>
          <p:cNvSpPr/>
          <p:nvPr/>
        </p:nvSpPr>
        <p:spPr>
          <a:xfrm>
            <a:off x="548640" y="4231640"/>
            <a:ext cx="11094415" cy="883920"/>
          </a:xfrm>
          <a:prstGeom prst="roundRect">
            <a:avLst>
              <a:gd fmla="val 6207" name="adj"/>
            </a:avLst>
          </a:prstGeom>
          <a:solidFill>
            <a:srgbClr val="E8F3E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 name="Google Shape;206;p11"/>
          <p:cNvSpPr txBox="1"/>
          <p:nvPr/>
        </p:nvSpPr>
        <p:spPr>
          <a:xfrm>
            <a:off x="822960" y="4231640"/>
            <a:ext cx="10545775" cy="883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F3A5F"/>
              </a:buClr>
              <a:buSzPts val="1700"/>
              <a:buFont typeface="Calibri"/>
              <a:buNone/>
            </a:pPr>
            <a:r>
              <a:rPr b="0" i="0" lang="en-US" sz="1700" u="none" cap="none" strike="noStrike">
                <a:solidFill>
                  <a:srgbClr val="1F3A5F"/>
                </a:solidFill>
                <a:latin typeface="Calibri"/>
                <a:ea typeface="Calibri"/>
                <a:cs typeface="Calibri"/>
                <a:sym typeface="Calibri"/>
              </a:rPr>
              <a:t>Comme au TP1 : </a:t>
            </a:r>
            <a:r>
              <a:rPr b="1" i="0" lang="en-US" sz="1700" u="none" cap="none" strike="noStrike">
                <a:solidFill>
                  <a:srgbClr val="1F3A5F"/>
                </a:solidFill>
                <a:latin typeface="Calibri"/>
                <a:ea typeface="Calibri"/>
                <a:cs typeface="Calibri"/>
                <a:sym typeface="Calibri"/>
              </a:rPr>
              <a:t>résultat attendu</a:t>
            </a:r>
            <a:r>
              <a:rPr b="0" i="0" lang="en-US" sz="1700" u="none" cap="none" strike="noStrike">
                <a:solidFill>
                  <a:srgbClr val="1F3A5F"/>
                </a:solidFill>
                <a:latin typeface="Calibri"/>
                <a:ea typeface="Calibri"/>
                <a:cs typeface="Calibri"/>
                <a:sym typeface="Calibri"/>
              </a:rPr>
              <a:t>, cellules de </a:t>
            </a:r>
            <a:r>
              <a:rPr b="1" i="0" lang="en-US" sz="1700" u="none" cap="none" strike="noStrike">
                <a:solidFill>
                  <a:srgbClr val="1F3A5F"/>
                </a:solidFill>
                <a:latin typeface="Calibri"/>
                <a:ea typeface="Calibri"/>
                <a:cs typeface="Calibri"/>
                <a:sym typeface="Calibri"/>
              </a:rPr>
              <a:t>vérification</a:t>
            </a:r>
            <a:r>
              <a:rPr b="0" i="0" lang="en-US" sz="1700" u="none" cap="none" strike="noStrike">
                <a:solidFill>
                  <a:srgbClr val="1F3A5F"/>
                </a:solidFill>
                <a:latin typeface="Calibri"/>
                <a:ea typeface="Calibri"/>
                <a:cs typeface="Calibri"/>
                <a:sym typeface="Calibri"/>
              </a:rPr>
              <a:t> avec </a:t>
            </a:r>
            <a:r>
              <a:rPr b="0" i="0" lang="en-US" sz="1700" u="none" cap="none" strike="noStrike">
                <a:solidFill>
                  <a:srgbClr val="2F7D62"/>
                </a:solidFill>
                <a:latin typeface="Courier New"/>
                <a:ea typeface="Courier New"/>
                <a:cs typeface="Courier New"/>
                <a:sym typeface="Courier New"/>
              </a:rPr>
              <a:t>assert</a:t>
            </a:r>
            <a:r>
              <a:rPr b="0" i="0" lang="en-US" sz="1700" u="none" cap="none" strike="noStrike">
                <a:solidFill>
                  <a:srgbClr val="1F3A5F"/>
                </a:solidFill>
                <a:latin typeface="Calibri"/>
                <a:ea typeface="Calibri"/>
                <a:cs typeface="Calibri"/>
                <a:sym typeface="Calibri"/>
              </a:rPr>
              <a:t>, questions </a:t>
            </a:r>
            <a:r>
              <a:rPr b="1" i="0" lang="en-US" sz="1700" u="none" cap="none" strike="noStrike">
                <a:solidFill>
                  <a:srgbClr val="1F3A5F"/>
                </a:solidFill>
                <a:latin typeface="Calibri"/>
                <a:ea typeface="Calibri"/>
                <a:cs typeface="Calibri"/>
                <a:sym typeface="Calibri"/>
              </a:rPr>
              <a:t>Pour aller plus loin</a:t>
            </a:r>
            <a:r>
              <a:rPr b="0" i="0" lang="en-US" sz="1700" u="none" cap="none" strike="noStrike">
                <a:solidFill>
                  <a:srgbClr val="1F3A5F"/>
                </a:solidFill>
                <a:latin typeface="Calibri"/>
                <a:ea typeface="Calibri"/>
                <a:cs typeface="Calibri"/>
                <a:sym typeface="Calibri"/>
              </a:rPr>
              <a:t> facultatives.</a:t>
            </a:r>
            <a:endParaRPr b="0" i="0" sz="1700" u="none" cap="none" strike="noStrike">
              <a:solidFill>
                <a:schemeClr val="dk1"/>
              </a:solidFill>
              <a:latin typeface="Calibri"/>
              <a:ea typeface="Calibri"/>
              <a:cs typeface="Calibri"/>
              <a:sym typeface="Calibri"/>
            </a:endParaRPr>
          </a:p>
        </p:txBody>
      </p:sp>
      <p:sp>
        <p:nvSpPr>
          <p:cNvPr id="207" name="Google Shape;207;p11"/>
          <p:cNvSpPr txBox="1"/>
          <p:nvPr/>
        </p:nvSpPr>
        <p:spPr>
          <a:xfrm>
            <a:off x="548640" y="6400800"/>
            <a:ext cx="73152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B7280"/>
              </a:buClr>
              <a:buSzPts val="1000"/>
              <a:buFont typeface="Calibri"/>
              <a:buNone/>
            </a:pPr>
            <a:r>
              <a:rPr b="0" i="0" lang="en-US" sz="1000" u="none" cap="none" strike="noStrike">
                <a:solidFill>
                  <a:srgbClr val="6B7280"/>
                </a:solidFill>
                <a:latin typeface="Calibri"/>
                <a:ea typeface="Calibri"/>
                <a:cs typeface="Calibri"/>
                <a:sym typeface="Calibri"/>
              </a:rPr>
              <a:t>Analyse de données avec Python   |   Jour 1, après-midi</a:t>
            </a:r>
            <a:endParaRPr b="0" i="0" sz="1000" u="none" cap="none" strike="noStrike">
              <a:solidFill>
                <a:schemeClr val="dk1"/>
              </a:solidFill>
              <a:latin typeface="Calibri"/>
              <a:ea typeface="Calibri"/>
              <a:cs typeface="Calibri"/>
              <a:sym typeface="Calibri"/>
            </a:endParaRPr>
          </a:p>
        </p:txBody>
      </p:sp>
      <p:sp>
        <p:nvSpPr>
          <p:cNvPr id="208" name="Google Shape;208;p11"/>
          <p:cNvSpPr txBox="1"/>
          <p:nvPr>
            <p:ph idx="4294967295" type="sldNum"/>
          </p:nvPr>
        </p:nvSpPr>
        <p:spPr>
          <a:xfrm>
            <a:off x="11094415" y="6400800"/>
            <a:ext cx="548640" cy="27432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000" u="none" cap="none" strike="noStrike">
                <a:solidFill>
                  <a:srgbClr val="6B7280"/>
                </a:solidFill>
                <a:latin typeface="Calibri"/>
                <a:ea typeface="Calibri"/>
                <a:cs typeface="Calibri"/>
                <a:sym typeface="Calibri"/>
              </a:rPr>
              <a:t>‹#›</a:t>
            </a:fld>
            <a:endParaRPr b="0" i="0" sz="1000" u="none" cap="none" strike="noStrike">
              <a:solidFill>
                <a:srgbClr val="6B7280"/>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F3A5F"/>
        </a:solidFill>
      </p:bgPr>
    </p:bg>
    <p:spTree>
      <p:nvGrpSpPr>
        <p:cNvPr id="213" name="Shape 213"/>
        <p:cNvGrpSpPr/>
        <p:nvPr/>
      </p:nvGrpSpPr>
      <p:grpSpPr>
        <a:xfrm>
          <a:off x="0" y="0"/>
          <a:ext cx="0" cy="0"/>
          <a:chOff x="0" y="0"/>
          <a:chExt cx="0" cy="0"/>
        </a:xfrm>
      </p:grpSpPr>
      <p:sp>
        <p:nvSpPr>
          <p:cNvPr id="214" name="Google Shape;214;p12"/>
          <p:cNvSpPr txBox="1"/>
          <p:nvPr/>
        </p:nvSpPr>
        <p:spPr>
          <a:xfrm>
            <a:off x="731520" y="1737360"/>
            <a:ext cx="2743200" cy="11887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FD1B5"/>
              </a:buClr>
              <a:buSzPts val="8000"/>
              <a:buFont typeface="Cambria"/>
              <a:buNone/>
            </a:pPr>
            <a:r>
              <a:rPr b="1" i="0" lang="en-US" sz="8000" u="none" cap="none" strike="noStrike">
                <a:solidFill>
                  <a:srgbClr val="8FD1B5"/>
                </a:solidFill>
                <a:latin typeface="Cambria"/>
                <a:ea typeface="Cambria"/>
                <a:cs typeface="Cambria"/>
                <a:sym typeface="Cambria"/>
              </a:rPr>
              <a:t>02</a:t>
            </a:r>
            <a:endParaRPr b="0" i="0" sz="8000" u="none" cap="none" strike="noStrike">
              <a:solidFill>
                <a:schemeClr val="dk1"/>
              </a:solidFill>
              <a:latin typeface="Calibri"/>
              <a:ea typeface="Calibri"/>
              <a:cs typeface="Calibri"/>
              <a:sym typeface="Calibri"/>
            </a:endParaRPr>
          </a:p>
        </p:txBody>
      </p:sp>
      <p:sp>
        <p:nvSpPr>
          <p:cNvPr id="215" name="Google Shape;215;p12"/>
          <p:cNvSpPr txBox="1"/>
          <p:nvPr/>
        </p:nvSpPr>
        <p:spPr>
          <a:xfrm>
            <a:off x="731520" y="3017520"/>
            <a:ext cx="10515600" cy="8229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FFFFFF"/>
              </a:buClr>
              <a:buSzPts val="4000"/>
              <a:buFont typeface="Cambria"/>
              <a:buNone/>
            </a:pPr>
            <a:r>
              <a:rPr b="1" i="0" lang="en-US" sz="4000" u="none" cap="none" strike="noStrike">
                <a:solidFill>
                  <a:srgbClr val="FFFFFF"/>
                </a:solidFill>
                <a:latin typeface="Cambria"/>
                <a:ea typeface="Cambria"/>
                <a:cs typeface="Cambria"/>
                <a:sym typeface="Cambria"/>
              </a:rPr>
              <a:t>Transformer les données</a:t>
            </a:r>
            <a:endParaRPr b="0" i="0" sz="4000" u="none" cap="none" strike="noStrike">
              <a:solidFill>
                <a:schemeClr val="dk1"/>
              </a:solidFill>
              <a:latin typeface="Calibri"/>
              <a:ea typeface="Calibri"/>
              <a:cs typeface="Calibri"/>
              <a:sym typeface="Calibri"/>
            </a:endParaRPr>
          </a:p>
        </p:txBody>
      </p:sp>
      <p:sp>
        <p:nvSpPr>
          <p:cNvPr id="216" name="Google Shape;216;p12"/>
          <p:cNvSpPr txBox="1"/>
          <p:nvPr/>
        </p:nvSpPr>
        <p:spPr>
          <a:xfrm>
            <a:off x="731520" y="3977640"/>
            <a:ext cx="10515600" cy="5486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C9D6E3"/>
              </a:buClr>
              <a:buSzPts val="2000"/>
              <a:buFont typeface="Calibri"/>
              <a:buNone/>
            </a:pPr>
            <a:r>
              <a:rPr b="0" i="0" lang="en-US" sz="2000" u="none" cap="none" strike="noStrike">
                <a:solidFill>
                  <a:srgbClr val="C9D6E3"/>
                </a:solidFill>
                <a:latin typeface="Calibri"/>
                <a:ea typeface="Calibri"/>
                <a:cs typeface="Calibri"/>
                <a:sym typeface="Calibri"/>
              </a:rPr>
              <a:t>Créer et supprimer   |   map et apply   |   pd.cut</a:t>
            </a:r>
            <a:endParaRPr b="0" i="0" sz="2000" u="none" cap="none" strike="noStrike">
              <a:solidFill>
                <a:schemeClr val="dk1"/>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1" name="Shape 221"/>
        <p:cNvGrpSpPr/>
        <p:nvPr/>
      </p:nvGrpSpPr>
      <p:grpSpPr>
        <a:xfrm>
          <a:off x="0" y="0"/>
          <a:ext cx="0" cy="0"/>
          <a:chOff x="0" y="0"/>
          <a:chExt cx="0" cy="0"/>
        </a:xfrm>
      </p:grpSpPr>
      <p:sp>
        <p:nvSpPr>
          <p:cNvPr id="222" name="Google Shape;222;p13"/>
          <p:cNvSpPr/>
          <p:nvPr/>
        </p:nvSpPr>
        <p:spPr>
          <a:xfrm>
            <a:off x="548640" y="566928"/>
            <a:ext cx="475488" cy="475488"/>
          </a:xfrm>
          <a:prstGeom prst="ellipse">
            <a:avLst/>
          </a:prstGeom>
          <a:solidFill>
            <a:srgbClr val="2F7D6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 name="Google Shape;223;p13"/>
          <p:cNvSpPr txBox="1"/>
          <p:nvPr/>
        </p:nvSpPr>
        <p:spPr>
          <a:xfrm>
            <a:off x="548640" y="566928"/>
            <a:ext cx="475488" cy="47548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2</a:t>
            </a:r>
            <a:endParaRPr b="0" i="0" sz="1600" u="none" cap="none" strike="noStrike">
              <a:solidFill>
                <a:schemeClr val="dk1"/>
              </a:solidFill>
              <a:latin typeface="Calibri"/>
              <a:ea typeface="Calibri"/>
              <a:cs typeface="Calibri"/>
              <a:sym typeface="Calibri"/>
            </a:endParaRPr>
          </a:p>
        </p:txBody>
      </p:sp>
      <p:sp>
        <p:nvSpPr>
          <p:cNvPr id="224" name="Google Shape;224;p13"/>
          <p:cNvSpPr txBox="1"/>
          <p:nvPr/>
        </p:nvSpPr>
        <p:spPr>
          <a:xfrm>
            <a:off x="1280160" y="164592"/>
            <a:ext cx="10362895"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F7D62"/>
              </a:buClr>
              <a:buSzPts val="1200"/>
              <a:buFont typeface="Calibri"/>
              <a:buNone/>
            </a:pPr>
            <a:r>
              <a:rPr b="1" i="0" lang="en-US" sz="1200" u="none" cap="none" strike="noStrike">
                <a:solidFill>
                  <a:srgbClr val="2F7D62"/>
                </a:solidFill>
                <a:latin typeface="Calibri"/>
                <a:ea typeface="Calibri"/>
                <a:cs typeface="Calibri"/>
                <a:sym typeface="Calibri"/>
              </a:rPr>
              <a:t>TRANSFORMER LES DONNÉES</a:t>
            </a:r>
            <a:endParaRPr b="0" i="0" sz="1200" u="none" cap="none" strike="noStrike">
              <a:solidFill>
                <a:schemeClr val="dk1"/>
              </a:solidFill>
              <a:latin typeface="Calibri"/>
              <a:ea typeface="Calibri"/>
              <a:cs typeface="Calibri"/>
              <a:sym typeface="Calibri"/>
            </a:endParaRPr>
          </a:p>
        </p:txBody>
      </p:sp>
      <p:sp>
        <p:nvSpPr>
          <p:cNvPr id="225" name="Google Shape;225;p13"/>
          <p:cNvSpPr txBox="1"/>
          <p:nvPr/>
        </p:nvSpPr>
        <p:spPr>
          <a:xfrm>
            <a:off x="1280160" y="457200"/>
            <a:ext cx="10362895" cy="6949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F3A5F"/>
              </a:buClr>
              <a:buSzPts val="3000"/>
              <a:buFont typeface="Cambria"/>
              <a:buNone/>
            </a:pPr>
            <a:r>
              <a:rPr b="1" i="0" lang="en-US" sz="3000" u="none" cap="none" strike="noStrike">
                <a:solidFill>
                  <a:srgbClr val="1F3A5F"/>
                </a:solidFill>
                <a:latin typeface="Cambria"/>
                <a:ea typeface="Cambria"/>
                <a:cs typeface="Cambria"/>
                <a:sym typeface="Cambria"/>
              </a:rPr>
              <a:t>Créer une colonne</a:t>
            </a:r>
            <a:endParaRPr b="0" i="0" sz="3000" u="none" cap="none" strike="noStrike">
              <a:solidFill>
                <a:schemeClr val="dk1"/>
              </a:solidFill>
              <a:latin typeface="Calibri"/>
              <a:ea typeface="Calibri"/>
              <a:cs typeface="Calibri"/>
              <a:sym typeface="Calibri"/>
            </a:endParaRPr>
          </a:p>
        </p:txBody>
      </p:sp>
      <p:sp>
        <p:nvSpPr>
          <p:cNvPr id="226" name="Google Shape;226;p13"/>
          <p:cNvSpPr/>
          <p:nvPr/>
        </p:nvSpPr>
        <p:spPr>
          <a:xfrm>
            <a:off x="548640" y="1417320"/>
            <a:ext cx="5802117" cy="1656334"/>
          </a:xfrm>
          <a:prstGeom prst="rect">
            <a:avLst/>
          </a:prstGeom>
          <a:solidFill>
            <a:srgbClr val="F3F4F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 name="Google Shape;227;p13"/>
          <p:cNvSpPr txBox="1"/>
          <p:nvPr/>
        </p:nvSpPr>
        <p:spPr>
          <a:xfrm>
            <a:off x="731520" y="1563624"/>
            <a:ext cx="5436357" cy="1363726"/>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F2933"/>
              </a:buClr>
              <a:buSzPts val="1300"/>
              <a:buFont typeface="Courier New"/>
              <a:buNone/>
            </a:pPr>
            <a:r>
              <a:rPr b="0" i="0" lang="en-US" sz="1300" u="none" cap="none" strike="noStrike">
                <a:solidFill>
                  <a:srgbClr val="1F2933"/>
                </a:solidFill>
                <a:latin typeface="Courier New"/>
                <a:ea typeface="Courier New"/>
                <a:cs typeface="Courier New"/>
                <a:sym typeface="Courier New"/>
              </a:rPr>
              <a:t>df["montant"] = df["Prix unitaire"] * df["quantite"]</a:t>
            </a:r>
            <a:endParaRPr b="0" i="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F2933"/>
              </a:buClr>
              <a:buSzPts val="1300"/>
              <a:buFont typeface="Courier New"/>
              <a:buNone/>
            </a:pPr>
            <a:r>
              <a:rPr b="0" i="0" lang="en-US" sz="1300" u="none" cap="none" strike="noStrike">
                <a:solidFill>
                  <a:srgbClr val="1F2933"/>
                </a:solidFill>
                <a:latin typeface="Courier New"/>
                <a:ea typeface="Courier New"/>
                <a:cs typeface="Courier New"/>
                <a:sym typeface="Courier New"/>
              </a:rPr>
              <a:t>df["montant_ttc"] = (df["montant"] * 1.2).round(2)</a:t>
            </a:r>
            <a:endParaRPr b="0" i="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F2933"/>
              </a:buClr>
              <a:buSzPts val="1300"/>
              <a:buFont typeface="Courier New"/>
              <a:buNone/>
            </a:pPr>
            <a:r>
              <a:rPr b="0" i="0" lang="en-US" sz="1300" u="none" cap="none" strike="noStrike">
                <a:solidFill>
                  <a:srgbClr val="1F2933"/>
                </a:solidFill>
                <a:latin typeface="Courier New"/>
                <a:ea typeface="Courier New"/>
                <a:cs typeface="Courier New"/>
                <a:sym typeface="Courier New"/>
              </a:rPr>
              <a:t>df["source"] = "boutique"</a:t>
            </a:r>
            <a:endParaRPr b="0" i="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F2933"/>
              </a:buClr>
              <a:buSzPts val="1300"/>
              <a:buFont typeface="Courier New"/>
              <a:buNone/>
            </a:pPr>
            <a:r>
              <a:rPr b="0" i="0" lang="en-US" sz="1300" u="none" cap="none" strike="noStrike">
                <a:solidFill>
                  <a:srgbClr val="1F2933"/>
                </a:solidFill>
                <a:latin typeface="Courier New"/>
                <a:ea typeface="Courier New"/>
                <a:cs typeface="Courier New"/>
                <a:sym typeface="Courier New"/>
              </a:rPr>
              <a:t> </a:t>
            </a:r>
            <a:endParaRPr b="0" i="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F2933"/>
              </a:buClr>
              <a:buSzPts val="1300"/>
              <a:buFont typeface="Courier New"/>
              <a:buNone/>
            </a:pPr>
            <a:r>
              <a:rPr b="0" i="0" lang="en-US" sz="1300" u="none" cap="none" strike="noStrike">
                <a:solidFill>
                  <a:srgbClr val="1F2933"/>
                </a:solidFill>
                <a:latin typeface="Courier New"/>
                <a:ea typeface="Courier New"/>
                <a:cs typeface="Courier New"/>
                <a:sym typeface="Courier New"/>
              </a:rPr>
              <a:t>df["taille_commande"] = np.where(</a:t>
            </a:r>
            <a:endParaRPr b="0" i="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F2933"/>
              </a:buClr>
              <a:buSzPts val="1300"/>
              <a:buFont typeface="Courier New"/>
              <a:buNone/>
            </a:pPr>
            <a:r>
              <a:rPr b="0" i="0" lang="en-US" sz="1300" u="none" cap="none" strike="noStrike">
                <a:solidFill>
                  <a:srgbClr val="1F2933"/>
                </a:solidFill>
                <a:latin typeface="Courier New"/>
                <a:ea typeface="Courier New"/>
                <a:cs typeface="Courier New"/>
                <a:sym typeface="Courier New"/>
              </a:rPr>
              <a:t>    df["quantite"] &gt;= 10, "grosse", "standard"</a:t>
            </a:r>
            <a:endParaRPr b="0" i="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F2933"/>
              </a:buClr>
              <a:buSzPts val="1300"/>
              <a:buFont typeface="Courier New"/>
              <a:buNone/>
            </a:pPr>
            <a:r>
              <a:rPr b="0" i="0" lang="en-US" sz="1300" u="none" cap="none" strike="noStrike">
                <a:solidFill>
                  <a:srgbClr val="1F2933"/>
                </a:solidFill>
                <a:latin typeface="Courier New"/>
                <a:ea typeface="Courier New"/>
                <a:cs typeface="Courier New"/>
                <a:sym typeface="Courier New"/>
              </a:rPr>
              <a:t>)</a:t>
            </a:r>
            <a:endParaRPr b="0" i="0" sz="1300" u="none" cap="none" strike="noStrike">
              <a:solidFill>
                <a:schemeClr val="dk1"/>
              </a:solidFill>
              <a:latin typeface="Calibri"/>
              <a:ea typeface="Calibri"/>
              <a:cs typeface="Calibri"/>
              <a:sym typeface="Calibri"/>
            </a:endParaRPr>
          </a:p>
        </p:txBody>
      </p:sp>
      <p:sp>
        <p:nvSpPr>
          <p:cNvPr id="228" name="Google Shape;228;p13"/>
          <p:cNvSpPr txBox="1"/>
          <p:nvPr/>
        </p:nvSpPr>
        <p:spPr>
          <a:xfrm>
            <a:off x="6807957" y="1417320"/>
            <a:ext cx="4835098" cy="1950720"/>
          </a:xfrm>
          <a:prstGeom prst="rect">
            <a:avLst/>
          </a:prstGeom>
          <a:noFill/>
          <a:ln>
            <a:noFill/>
          </a:ln>
        </p:spPr>
        <p:txBody>
          <a:bodyPr anchorCtr="0" anchor="t" bIns="0" lIns="0" spcFirstLastPara="1" rIns="0" wrap="square" tIns="0">
            <a:noAutofit/>
          </a:bodyPr>
          <a:lstStyle/>
          <a:p>
            <a:pPr indent="-254000" lvl="0" marL="254000" marR="0" rtl="0" algn="l">
              <a:spcBef>
                <a:spcPts val="0"/>
              </a:spcBef>
              <a:spcAft>
                <a:spcPts val="0"/>
              </a:spcAft>
              <a:buClr>
                <a:srgbClr val="1F2933"/>
              </a:buClr>
              <a:buSzPts val="1700"/>
              <a:buFont typeface="Calibri"/>
              <a:buChar char="•"/>
            </a:pPr>
            <a:r>
              <a:rPr b="0" i="0" lang="en-US" sz="1700" u="none" cap="none" strike="noStrike">
                <a:solidFill>
                  <a:srgbClr val="1F2933"/>
                </a:solidFill>
                <a:latin typeface="Calibri"/>
                <a:ea typeface="Calibri"/>
                <a:cs typeface="Calibri"/>
                <a:sym typeface="Calibri"/>
              </a:rPr>
              <a:t>On affecte un calcul vectorisé à un nouveau nom de colonne</a:t>
            </a:r>
            <a:endParaRPr b="0" i="0" sz="1700" u="none" cap="none" strike="noStrike">
              <a:solidFill>
                <a:schemeClr val="dk1"/>
              </a:solidFill>
              <a:latin typeface="Calibri"/>
              <a:ea typeface="Calibri"/>
              <a:cs typeface="Calibri"/>
              <a:sym typeface="Calibri"/>
            </a:endParaRPr>
          </a:p>
          <a:p>
            <a:pPr indent="-254000" lvl="0" marL="254000" marR="0" rtl="0" algn="l">
              <a:spcBef>
                <a:spcPts val="800"/>
              </a:spcBef>
              <a:spcAft>
                <a:spcPts val="0"/>
              </a:spcAft>
              <a:buClr>
                <a:srgbClr val="1F2933"/>
              </a:buClr>
              <a:buSzPts val="1700"/>
              <a:buFont typeface="Calibri"/>
              <a:buChar char="•"/>
            </a:pPr>
            <a:r>
              <a:rPr b="0" i="0" lang="en-US" sz="1700" u="none" cap="none" strike="noStrike">
                <a:solidFill>
                  <a:srgbClr val="1F2933"/>
                </a:solidFill>
                <a:latin typeface="Calibri"/>
                <a:ea typeface="Calibri"/>
                <a:cs typeface="Calibri"/>
                <a:sym typeface="Calibri"/>
              </a:rPr>
              <a:t>Une valeur seule est répétée sur toutes les lignes</a:t>
            </a:r>
            <a:endParaRPr b="0" i="0" sz="1700" u="none" cap="none" strike="noStrike">
              <a:solidFill>
                <a:schemeClr val="dk1"/>
              </a:solidFill>
              <a:latin typeface="Calibri"/>
              <a:ea typeface="Calibri"/>
              <a:cs typeface="Calibri"/>
              <a:sym typeface="Calibri"/>
            </a:endParaRPr>
          </a:p>
          <a:p>
            <a:pPr indent="0" lvl="0" marL="0" marR="0" rtl="0" algn="l">
              <a:spcBef>
                <a:spcPts val="800"/>
              </a:spcBef>
              <a:spcAft>
                <a:spcPts val="0"/>
              </a:spcAft>
              <a:buClr>
                <a:srgbClr val="1F3A5F"/>
              </a:buClr>
              <a:buSzPts val="1700"/>
              <a:buFont typeface="Courier New"/>
              <a:buNone/>
            </a:pPr>
            <a:r>
              <a:rPr b="0" i="0" lang="en-US" sz="1700" u="none" cap="none" strike="noStrike">
                <a:solidFill>
                  <a:srgbClr val="1F3A5F"/>
                </a:solidFill>
                <a:latin typeface="Courier New"/>
                <a:ea typeface="Courier New"/>
                <a:cs typeface="Courier New"/>
                <a:sym typeface="Courier New"/>
              </a:rPr>
              <a:t>np.where(condition, si_vrai, si_faux)</a:t>
            </a:r>
            <a:r>
              <a:rPr b="0" i="0" lang="en-US" sz="1700" u="none" cap="none" strike="noStrike">
                <a:solidFill>
                  <a:srgbClr val="1F2933"/>
                </a:solidFill>
                <a:latin typeface="Calibri"/>
                <a:ea typeface="Calibri"/>
                <a:cs typeface="Calibri"/>
                <a:sym typeface="Calibri"/>
              </a:rPr>
              <a:t> : le </a:t>
            </a:r>
            <a:r>
              <a:rPr b="0" i="0" lang="en-US" sz="1700" u="none" cap="none" strike="noStrike">
                <a:solidFill>
                  <a:srgbClr val="1F3A5F"/>
                </a:solidFill>
                <a:latin typeface="Courier New"/>
                <a:ea typeface="Courier New"/>
                <a:cs typeface="Courier New"/>
                <a:sym typeface="Courier New"/>
              </a:rPr>
              <a:t>if ... else</a:t>
            </a:r>
            <a:r>
              <a:rPr b="0" i="0" lang="en-US" sz="1700" u="none" cap="none" strike="noStrike">
                <a:solidFill>
                  <a:srgbClr val="1F2933"/>
                </a:solidFill>
                <a:latin typeface="Calibri"/>
                <a:ea typeface="Calibri"/>
                <a:cs typeface="Calibri"/>
                <a:sym typeface="Calibri"/>
              </a:rPr>
              <a:t> vectorisé</a:t>
            </a:r>
            <a:endParaRPr b="0" i="0" sz="1700" u="none" cap="none" strike="noStrike">
              <a:solidFill>
                <a:schemeClr val="dk1"/>
              </a:solidFill>
              <a:latin typeface="Calibri"/>
              <a:ea typeface="Calibri"/>
              <a:cs typeface="Calibri"/>
              <a:sym typeface="Calibri"/>
            </a:endParaRPr>
          </a:p>
        </p:txBody>
      </p:sp>
      <p:sp>
        <p:nvSpPr>
          <p:cNvPr id="229" name="Google Shape;229;p13"/>
          <p:cNvSpPr txBox="1"/>
          <p:nvPr/>
        </p:nvSpPr>
        <p:spPr>
          <a:xfrm>
            <a:off x="548640" y="6400800"/>
            <a:ext cx="73152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B7280"/>
              </a:buClr>
              <a:buSzPts val="1000"/>
              <a:buFont typeface="Calibri"/>
              <a:buNone/>
            </a:pPr>
            <a:r>
              <a:rPr b="0" i="0" lang="en-US" sz="1000" u="none" cap="none" strike="noStrike">
                <a:solidFill>
                  <a:srgbClr val="6B7280"/>
                </a:solidFill>
                <a:latin typeface="Calibri"/>
                <a:ea typeface="Calibri"/>
                <a:cs typeface="Calibri"/>
                <a:sym typeface="Calibri"/>
              </a:rPr>
              <a:t>Analyse de données avec Python   |   Jour 1, après-midi</a:t>
            </a:r>
            <a:endParaRPr b="0" i="0" sz="1000" u="none" cap="none" strike="noStrike">
              <a:solidFill>
                <a:schemeClr val="dk1"/>
              </a:solidFill>
              <a:latin typeface="Calibri"/>
              <a:ea typeface="Calibri"/>
              <a:cs typeface="Calibri"/>
              <a:sym typeface="Calibri"/>
            </a:endParaRPr>
          </a:p>
        </p:txBody>
      </p:sp>
      <p:sp>
        <p:nvSpPr>
          <p:cNvPr id="230" name="Google Shape;230;p13"/>
          <p:cNvSpPr txBox="1"/>
          <p:nvPr>
            <p:ph idx="4294967295" type="sldNum"/>
          </p:nvPr>
        </p:nvSpPr>
        <p:spPr>
          <a:xfrm>
            <a:off x="11094415" y="6400800"/>
            <a:ext cx="548640" cy="27432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000" u="none" cap="none" strike="noStrike">
                <a:solidFill>
                  <a:srgbClr val="6B7280"/>
                </a:solidFill>
                <a:latin typeface="Calibri"/>
                <a:ea typeface="Calibri"/>
                <a:cs typeface="Calibri"/>
                <a:sym typeface="Calibri"/>
              </a:rPr>
              <a:t>‹#›</a:t>
            </a:fld>
            <a:endParaRPr b="0" i="0" sz="1000" u="none" cap="none" strike="noStrike">
              <a:solidFill>
                <a:srgbClr val="6B7280"/>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5" name="Shape 235"/>
        <p:cNvGrpSpPr/>
        <p:nvPr/>
      </p:nvGrpSpPr>
      <p:grpSpPr>
        <a:xfrm>
          <a:off x="0" y="0"/>
          <a:ext cx="0" cy="0"/>
          <a:chOff x="0" y="0"/>
          <a:chExt cx="0" cy="0"/>
        </a:xfrm>
      </p:grpSpPr>
      <p:sp>
        <p:nvSpPr>
          <p:cNvPr id="236" name="Google Shape;236;p14"/>
          <p:cNvSpPr/>
          <p:nvPr/>
        </p:nvSpPr>
        <p:spPr>
          <a:xfrm>
            <a:off x="548640" y="566928"/>
            <a:ext cx="475488" cy="475488"/>
          </a:xfrm>
          <a:prstGeom prst="ellipse">
            <a:avLst/>
          </a:prstGeom>
          <a:solidFill>
            <a:srgbClr val="2F7D6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 name="Google Shape;237;p14"/>
          <p:cNvSpPr txBox="1"/>
          <p:nvPr/>
        </p:nvSpPr>
        <p:spPr>
          <a:xfrm>
            <a:off x="548640" y="566928"/>
            <a:ext cx="475488" cy="47548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2</a:t>
            </a:r>
            <a:endParaRPr b="0" i="0" sz="1600" u="none" cap="none" strike="noStrike">
              <a:solidFill>
                <a:schemeClr val="dk1"/>
              </a:solidFill>
              <a:latin typeface="Calibri"/>
              <a:ea typeface="Calibri"/>
              <a:cs typeface="Calibri"/>
              <a:sym typeface="Calibri"/>
            </a:endParaRPr>
          </a:p>
        </p:txBody>
      </p:sp>
      <p:sp>
        <p:nvSpPr>
          <p:cNvPr id="238" name="Google Shape;238;p14"/>
          <p:cNvSpPr txBox="1"/>
          <p:nvPr/>
        </p:nvSpPr>
        <p:spPr>
          <a:xfrm>
            <a:off x="1280160" y="164592"/>
            <a:ext cx="10362895"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F7D62"/>
              </a:buClr>
              <a:buSzPts val="1200"/>
              <a:buFont typeface="Calibri"/>
              <a:buNone/>
            </a:pPr>
            <a:r>
              <a:rPr b="1" i="0" lang="en-US" sz="1200" u="none" cap="none" strike="noStrike">
                <a:solidFill>
                  <a:srgbClr val="2F7D62"/>
                </a:solidFill>
                <a:latin typeface="Calibri"/>
                <a:ea typeface="Calibri"/>
                <a:cs typeface="Calibri"/>
                <a:sym typeface="Calibri"/>
              </a:rPr>
              <a:t>TRANSFORMER LES DONNÉES</a:t>
            </a:r>
            <a:endParaRPr b="0" i="0" sz="1200" u="none" cap="none" strike="noStrike">
              <a:solidFill>
                <a:schemeClr val="dk1"/>
              </a:solidFill>
              <a:latin typeface="Calibri"/>
              <a:ea typeface="Calibri"/>
              <a:cs typeface="Calibri"/>
              <a:sym typeface="Calibri"/>
            </a:endParaRPr>
          </a:p>
        </p:txBody>
      </p:sp>
      <p:sp>
        <p:nvSpPr>
          <p:cNvPr id="239" name="Google Shape;239;p14"/>
          <p:cNvSpPr txBox="1"/>
          <p:nvPr/>
        </p:nvSpPr>
        <p:spPr>
          <a:xfrm>
            <a:off x="1280160" y="457200"/>
            <a:ext cx="10362895" cy="6949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F3A5F"/>
              </a:buClr>
              <a:buSzPts val="3000"/>
              <a:buFont typeface="Cambria"/>
              <a:buNone/>
            </a:pPr>
            <a:r>
              <a:rPr b="1" i="0" lang="en-US" sz="3000" u="none" cap="none" strike="noStrike">
                <a:solidFill>
                  <a:srgbClr val="1F3A5F"/>
                </a:solidFill>
                <a:latin typeface="Cambria"/>
                <a:ea typeface="Cambria"/>
                <a:cs typeface="Cambria"/>
                <a:sym typeface="Cambria"/>
              </a:rPr>
              <a:t>assign : enrichir sans modifier l'original</a:t>
            </a:r>
            <a:endParaRPr b="0" i="0" sz="3000" u="none" cap="none" strike="noStrike">
              <a:solidFill>
                <a:schemeClr val="dk1"/>
              </a:solidFill>
              <a:latin typeface="Calibri"/>
              <a:ea typeface="Calibri"/>
              <a:cs typeface="Calibri"/>
              <a:sym typeface="Calibri"/>
            </a:endParaRPr>
          </a:p>
        </p:txBody>
      </p:sp>
      <p:sp>
        <p:nvSpPr>
          <p:cNvPr id="240" name="Google Shape;240;p14"/>
          <p:cNvSpPr txBox="1"/>
          <p:nvPr/>
        </p:nvSpPr>
        <p:spPr>
          <a:xfrm>
            <a:off x="548640" y="1417320"/>
            <a:ext cx="5318608"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F3A5F"/>
              </a:buClr>
              <a:buSzPts val="1700"/>
              <a:buFont typeface="Calibri"/>
              <a:buNone/>
            </a:pPr>
            <a:r>
              <a:rPr b="1" i="0" lang="en-US" sz="1700" u="none" cap="none" strike="noStrike">
                <a:solidFill>
                  <a:srgbClr val="1F3A5F"/>
                </a:solidFill>
                <a:latin typeface="Calibri"/>
                <a:ea typeface="Calibri"/>
                <a:cs typeface="Calibri"/>
                <a:sym typeface="Calibri"/>
              </a:rPr>
              <a:t>Avec assign</a:t>
            </a:r>
            <a:endParaRPr b="0" i="0" sz="1700" u="none" cap="none" strike="noStrike">
              <a:solidFill>
                <a:schemeClr val="dk1"/>
              </a:solidFill>
              <a:latin typeface="Calibri"/>
              <a:ea typeface="Calibri"/>
              <a:cs typeface="Calibri"/>
              <a:sym typeface="Calibri"/>
            </a:endParaRPr>
          </a:p>
        </p:txBody>
      </p:sp>
      <p:sp>
        <p:nvSpPr>
          <p:cNvPr id="241" name="Google Shape;241;p14"/>
          <p:cNvSpPr/>
          <p:nvPr/>
        </p:nvSpPr>
        <p:spPr>
          <a:xfrm>
            <a:off x="548640" y="1828800"/>
            <a:ext cx="5318608" cy="1656334"/>
          </a:xfrm>
          <a:prstGeom prst="rect">
            <a:avLst/>
          </a:prstGeom>
          <a:solidFill>
            <a:srgbClr val="F3F4F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 name="Google Shape;242;p14"/>
          <p:cNvSpPr txBox="1"/>
          <p:nvPr/>
        </p:nvSpPr>
        <p:spPr>
          <a:xfrm>
            <a:off x="731520" y="1975104"/>
            <a:ext cx="4952848" cy="1363726"/>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F2933"/>
              </a:buClr>
              <a:buSzPts val="1300"/>
              <a:buFont typeface="Courier New"/>
              <a:buNone/>
            </a:pPr>
            <a:r>
              <a:rPr b="0" i="0" lang="en-US" sz="1300" u="none" cap="none" strike="noStrike">
                <a:solidFill>
                  <a:srgbClr val="1F2933"/>
                </a:solidFill>
                <a:latin typeface="Courier New"/>
                <a:ea typeface="Courier New"/>
                <a:cs typeface="Courier New"/>
                <a:sym typeface="Courier New"/>
              </a:rPr>
              <a:t>df_enrichi = df.assign(</a:t>
            </a:r>
            <a:endParaRPr b="0" i="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F2933"/>
              </a:buClr>
              <a:buSzPts val="1300"/>
              <a:buFont typeface="Courier New"/>
              <a:buNone/>
            </a:pPr>
            <a:r>
              <a:rPr b="0" i="0" lang="en-US" sz="1300" u="none" cap="none" strike="noStrike">
                <a:solidFill>
                  <a:srgbClr val="1F2933"/>
                </a:solidFill>
                <a:latin typeface="Courier New"/>
                <a:ea typeface="Courier New"/>
                <a:cs typeface="Courier New"/>
                <a:sym typeface="Courier New"/>
              </a:rPr>
              <a:t>    montant=df["Prix unitaire"] * df["quantite"],</a:t>
            </a:r>
            <a:endParaRPr b="0" i="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F2933"/>
              </a:buClr>
              <a:buSzPts val="1300"/>
              <a:buFont typeface="Courier New"/>
              <a:buNone/>
            </a:pPr>
            <a:r>
              <a:rPr b="0" i="0" lang="en-US" sz="1300" u="none" cap="none" strike="noStrike">
                <a:solidFill>
                  <a:srgbClr val="1F2933"/>
                </a:solidFill>
                <a:latin typeface="Courier New"/>
                <a:ea typeface="Courier New"/>
                <a:cs typeface="Courier New"/>
                <a:sym typeface="Courier New"/>
              </a:rPr>
              <a:t>    annee=df["date"].dt.year,</a:t>
            </a:r>
            <a:endParaRPr b="0" i="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F2933"/>
              </a:buClr>
              <a:buSzPts val="1300"/>
              <a:buFont typeface="Courier New"/>
              <a:buNone/>
            </a:pPr>
            <a:r>
              <a:rPr b="0" i="0" lang="en-US" sz="1300" u="none" cap="none" strike="noStrike">
                <a:solidFill>
                  <a:srgbClr val="1F2933"/>
                </a:solidFill>
                <a:latin typeface="Courier New"/>
                <a:ea typeface="Courier New"/>
                <a:cs typeface="Courier New"/>
                <a:sym typeface="Courier New"/>
              </a:rPr>
              <a:t>)</a:t>
            </a:r>
            <a:endParaRPr b="0" i="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F2933"/>
              </a:buClr>
              <a:buSzPts val="1300"/>
              <a:buFont typeface="Courier New"/>
              <a:buNone/>
            </a:pPr>
            <a:r>
              <a:rPr b="0" i="0" lang="en-US" sz="1300" u="none" cap="none" strike="noStrike">
                <a:solidFill>
                  <a:srgbClr val="1F2933"/>
                </a:solidFill>
                <a:latin typeface="Courier New"/>
                <a:ea typeface="Courier New"/>
                <a:cs typeface="Courier New"/>
                <a:sym typeface="Courier New"/>
              </a:rPr>
              <a:t> </a:t>
            </a:r>
            <a:endParaRPr b="0" i="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F2933"/>
              </a:buClr>
              <a:buSzPts val="1300"/>
              <a:buFont typeface="Courier New"/>
              <a:buNone/>
            </a:pPr>
            <a:r>
              <a:rPr b="0" i="0" lang="en-US" sz="1300" u="none" cap="none" strike="noStrike">
                <a:solidFill>
                  <a:srgbClr val="1F2933"/>
                </a:solidFill>
                <a:latin typeface="Courier New"/>
                <a:ea typeface="Courier New"/>
                <a:cs typeface="Courier New"/>
                <a:sym typeface="Courier New"/>
              </a:rPr>
              <a:t>"montant" in df.columns           # False</a:t>
            </a:r>
            <a:endParaRPr b="0" i="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F2933"/>
              </a:buClr>
              <a:buSzPts val="1300"/>
              <a:buFont typeface="Courier New"/>
              <a:buNone/>
            </a:pPr>
            <a:r>
              <a:rPr b="0" i="0" lang="en-US" sz="1300" u="none" cap="none" strike="noStrike">
                <a:solidFill>
                  <a:srgbClr val="1F2933"/>
                </a:solidFill>
                <a:latin typeface="Courier New"/>
                <a:ea typeface="Courier New"/>
                <a:cs typeface="Courier New"/>
                <a:sym typeface="Courier New"/>
              </a:rPr>
              <a:t>"montant" in df_enrichi.columns   # True</a:t>
            </a:r>
            <a:endParaRPr b="0" i="0" sz="1300" u="none" cap="none" strike="noStrike">
              <a:solidFill>
                <a:schemeClr val="dk1"/>
              </a:solidFill>
              <a:latin typeface="Calibri"/>
              <a:ea typeface="Calibri"/>
              <a:cs typeface="Calibri"/>
              <a:sym typeface="Calibri"/>
            </a:endParaRPr>
          </a:p>
        </p:txBody>
      </p:sp>
      <p:sp>
        <p:nvSpPr>
          <p:cNvPr id="243" name="Google Shape;243;p14"/>
          <p:cNvSpPr txBox="1"/>
          <p:nvPr/>
        </p:nvSpPr>
        <p:spPr>
          <a:xfrm>
            <a:off x="548640" y="3805174"/>
            <a:ext cx="5318608" cy="6248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F3A5F"/>
              </a:buClr>
              <a:buSzPts val="1600"/>
              <a:buFont typeface="Courier New"/>
              <a:buNone/>
            </a:pPr>
            <a:r>
              <a:rPr b="0" i="0" lang="en-US" sz="1600" u="none" cap="none" strike="noStrike">
                <a:solidFill>
                  <a:srgbClr val="1F3A5F"/>
                </a:solidFill>
                <a:latin typeface="Courier New"/>
                <a:ea typeface="Courier New"/>
                <a:cs typeface="Courier New"/>
                <a:sym typeface="Courier New"/>
              </a:rPr>
              <a:t>assign</a:t>
            </a:r>
            <a:r>
              <a:rPr b="0" i="0" lang="en-US" sz="1600" u="none" cap="none" strike="noStrike">
                <a:solidFill>
                  <a:srgbClr val="6B7280"/>
                </a:solidFill>
                <a:latin typeface="Calibri"/>
                <a:ea typeface="Calibri"/>
                <a:cs typeface="Calibri"/>
                <a:sym typeface="Calibri"/>
              </a:rPr>
              <a:t> renvoie un </a:t>
            </a:r>
            <a:r>
              <a:rPr b="1" i="0" lang="en-US" sz="1600" u="none" cap="none" strike="noStrike">
                <a:solidFill>
                  <a:srgbClr val="6B7280"/>
                </a:solidFill>
                <a:latin typeface="Calibri"/>
                <a:ea typeface="Calibri"/>
                <a:cs typeface="Calibri"/>
                <a:sym typeface="Calibri"/>
              </a:rPr>
              <a:t>nouveau</a:t>
            </a:r>
            <a:r>
              <a:rPr b="0" i="0" lang="en-US" sz="1600" u="none" cap="none" strike="noStrike">
                <a:solidFill>
                  <a:srgbClr val="6B7280"/>
                </a:solidFill>
                <a:latin typeface="Calibri"/>
                <a:ea typeface="Calibri"/>
                <a:cs typeface="Calibri"/>
                <a:sym typeface="Calibri"/>
              </a:rPr>
              <a:t> DataFrame avec les colonnes ajoutées. </a:t>
            </a:r>
            <a:r>
              <a:rPr b="0" i="0" lang="en-US" sz="1600" u="none" cap="none" strike="noStrike">
                <a:solidFill>
                  <a:srgbClr val="1F3A5F"/>
                </a:solidFill>
                <a:latin typeface="Courier New"/>
                <a:ea typeface="Courier New"/>
                <a:cs typeface="Courier New"/>
                <a:sym typeface="Courier New"/>
              </a:rPr>
              <a:t>df</a:t>
            </a:r>
            <a:r>
              <a:rPr b="0" i="0" lang="en-US" sz="1600" u="none" cap="none" strike="noStrike">
                <a:solidFill>
                  <a:srgbClr val="6B7280"/>
                </a:solidFill>
                <a:latin typeface="Calibri"/>
                <a:ea typeface="Calibri"/>
                <a:cs typeface="Calibri"/>
                <a:sym typeface="Calibri"/>
              </a:rPr>
              <a:t> reste tel qu'il était.</a:t>
            </a:r>
            <a:endParaRPr b="0" i="0" sz="1600" u="none" cap="none" strike="noStrike">
              <a:solidFill>
                <a:schemeClr val="dk1"/>
              </a:solidFill>
              <a:latin typeface="Calibri"/>
              <a:ea typeface="Calibri"/>
              <a:cs typeface="Calibri"/>
              <a:sym typeface="Calibri"/>
            </a:endParaRPr>
          </a:p>
        </p:txBody>
      </p:sp>
      <p:sp>
        <p:nvSpPr>
          <p:cNvPr id="244" name="Google Shape;244;p14"/>
          <p:cNvSpPr txBox="1"/>
          <p:nvPr/>
        </p:nvSpPr>
        <p:spPr>
          <a:xfrm>
            <a:off x="6324448" y="1417320"/>
            <a:ext cx="5318608"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F3A5F"/>
              </a:buClr>
              <a:buSzPts val="1700"/>
              <a:buFont typeface="Calibri"/>
              <a:buNone/>
            </a:pPr>
            <a:r>
              <a:rPr b="1" i="0" lang="en-US" sz="1700" u="none" cap="none" strike="noStrike">
                <a:solidFill>
                  <a:srgbClr val="1F3A5F"/>
                </a:solidFill>
                <a:latin typeface="Calibri"/>
                <a:ea typeface="Calibri"/>
                <a:cs typeface="Calibri"/>
                <a:sym typeface="Calibri"/>
              </a:rPr>
              <a:t>L'équivalent sans assign</a:t>
            </a:r>
            <a:endParaRPr b="0" i="0" sz="1700" u="none" cap="none" strike="noStrike">
              <a:solidFill>
                <a:schemeClr val="dk1"/>
              </a:solidFill>
              <a:latin typeface="Calibri"/>
              <a:ea typeface="Calibri"/>
              <a:cs typeface="Calibri"/>
              <a:sym typeface="Calibri"/>
            </a:endParaRPr>
          </a:p>
        </p:txBody>
      </p:sp>
      <p:sp>
        <p:nvSpPr>
          <p:cNvPr id="245" name="Google Shape;245;p14"/>
          <p:cNvSpPr/>
          <p:nvPr/>
        </p:nvSpPr>
        <p:spPr>
          <a:xfrm>
            <a:off x="6324450" y="1828800"/>
            <a:ext cx="5764800" cy="1976400"/>
          </a:xfrm>
          <a:prstGeom prst="rect">
            <a:avLst/>
          </a:prstGeom>
          <a:solidFill>
            <a:srgbClr val="F3F4F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 name="Google Shape;246;p14"/>
          <p:cNvSpPr txBox="1"/>
          <p:nvPr/>
        </p:nvSpPr>
        <p:spPr>
          <a:xfrm>
            <a:off x="6507325" y="1975100"/>
            <a:ext cx="5581800" cy="1830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F2933"/>
              </a:buClr>
              <a:buSzPts val="1500"/>
              <a:buFont typeface="Courier New"/>
              <a:buNone/>
            </a:pPr>
            <a:r>
              <a:rPr b="0" i="0" lang="en-US" sz="1500" u="none" cap="none" strike="noStrike">
                <a:solidFill>
                  <a:srgbClr val="1F2933"/>
                </a:solidFill>
                <a:latin typeface="Courier New"/>
                <a:ea typeface="Courier New"/>
                <a:cs typeface="Courier New"/>
                <a:sym typeface="Courier New"/>
              </a:rPr>
              <a:t>df_enrichi = df.copy()</a:t>
            </a:r>
            <a:endParaRPr b="0" i="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F2933"/>
              </a:buClr>
              <a:buSzPts val="1500"/>
              <a:buFont typeface="Courier New"/>
              <a:buNone/>
            </a:pPr>
            <a:r>
              <a:rPr b="0" i="0" lang="en-US" sz="1500" u="none" cap="none" strike="noStrike">
                <a:solidFill>
                  <a:srgbClr val="1F2933"/>
                </a:solidFill>
                <a:latin typeface="Courier New"/>
                <a:ea typeface="Courier New"/>
                <a:cs typeface="Courier New"/>
                <a:sym typeface="Courier New"/>
              </a:rPr>
              <a:t>df_enrichi["montant"] = (</a:t>
            </a:r>
            <a:endParaRPr b="0" i="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F2933"/>
              </a:buClr>
              <a:buSzPts val="1500"/>
              <a:buFont typeface="Courier New"/>
              <a:buNone/>
            </a:pPr>
            <a:r>
              <a:rPr b="0" i="0" lang="en-US" sz="1500" u="none" cap="none" strike="noStrike">
                <a:solidFill>
                  <a:srgbClr val="1F2933"/>
                </a:solidFill>
                <a:latin typeface="Courier New"/>
                <a:ea typeface="Courier New"/>
                <a:cs typeface="Courier New"/>
                <a:sym typeface="Courier New"/>
              </a:rPr>
              <a:t>    </a:t>
            </a:r>
            <a:r>
              <a:rPr lang="en-US" sz="1500">
                <a:solidFill>
                  <a:srgbClr val="1F2933"/>
                </a:solidFill>
                <a:latin typeface="Courier New"/>
                <a:ea typeface="Courier New"/>
                <a:cs typeface="Courier New"/>
                <a:sym typeface="Courier New"/>
              </a:rPr>
              <a:t>df_enrichi</a:t>
            </a:r>
            <a:r>
              <a:rPr b="0" i="0" lang="en-US" sz="1500" u="none" cap="none" strike="noStrike">
                <a:solidFill>
                  <a:srgbClr val="1F2933"/>
                </a:solidFill>
                <a:latin typeface="Courier New"/>
                <a:ea typeface="Courier New"/>
                <a:cs typeface="Courier New"/>
                <a:sym typeface="Courier New"/>
              </a:rPr>
              <a:t>["Prix unitaire"] * </a:t>
            </a:r>
            <a:r>
              <a:rPr lang="en-US" sz="1500">
                <a:solidFill>
                  <a:srgbClr val="1F2933"/>
                </a:solidFill>
                <a:latin typeface="Courier New"/>
                <a:ea typeface="Courier New"/>
                <a:cs typeface="Courier New"/>
                <a:sym typeface="Courier New"/>
              </a:rPr>
              <a:t>df_enrichi</a:t>
            </a:r>
            <a:r>
              <a:rPr b="0" i="0" lang="en-US" sz="1500" u="none" cap="none" strike="noStrike">
                <a:solidFill>
                  <a:srgbClr val="1F2933"/>
                </a:solidFill>
                <a:latin typeface="Courier New"/>
                <a:ea typeface="Courier New"/>
                <a:cs typeface="Courier New"/>
                <a:sym typeface="Courier New"/>
              </a:rPr>
              <a:t>["quantite"]</a:t>
            </a:r>
            <a:endParaRPr b="0" i="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F2933"/>
              </a:buClr>
              <a:buSzPts val="1500"/>
              <a:buFont typeface="Courier New"/>
              <a:buNone/>
            </a:pPr>
            <a:r>
              <a:rPr b="0" i="0" lang="en-US" sz="1500" u="none" cap="none" strike="noStrike">
                <a:solidFill>
                  <a:srgbClr val="1F2933"/>
                </a:solidFill>
                <a:latin typeface="Courier New"/>
                <a:ea typeface="Courier New"/>
                <a:cs typeface="Courier New"/>
                <a:sym typeface="Courier New"/>
              </a:rPr>
              <a:t>)</a:t>
            </a:r>
            <a:endParaRPr b="0" i="0" sz="1500" u="none" cap="none" strike="noStrike">
              <a:solidFill>
                <a:srgbClr val="1F2933"/>
              </a:solidFill>
              <a:latin typeface="Courier New"/>
              <a:ea typeface="Courier New"/>
              <a:cs typeface="Courier New"/>
              <a:sym typeface="Courier New"/>
            </a:endParaRPr>
          </a:p>
          <a:p>
            <a:pPr indent="0" lvl="0" marL="0" marR="0" rtl="0" algn="l">
              <a:lnSpc>
                <a:spcPct val="100000"/>
              </a:lnSpc>
              <a:spcBef>
                <a:spcPts val="0"/>
              </a:spcBef>
              <a:spcAft>
                <a:spcPts val="0"/>
              </a:spcAft>
              <a:buClr>
                <a:srgbClr val="1F2933"/>
              </a:buClr>
              <a:buSzPts val="1500"/>
              <a:buFont typeface="Courier New"/>
              <a:buNone/>
            </a:pPr>
            <a:r>
              <a:t/>
            </a:r>
            <a:endParaRPr sz="1500">
              <a:solidFill>
                <a:srgbClr val="1F2933"/>
              </a:solidFill>
              <a:latin typeface="Courier New"/>
              <a:ea typeface="Courier New"/>
              <a:cs typeface="Courier New"/>
              <a:sym typeface="Courier New"/>
            </a:endParaRPr>
          </a:p>
          <a:p>
            <a:pPr indent="0" lvl="0" marL="0" marR="0" rtl="0" algn="l">
              <a:lnSpc>
                <a:spcPct val="100000"/>
              </a:lnSpc>
              <a:spcBef>
                <a:spcPts val="0"/>
              </a:spcBef>
              <a:spcAft>
                <a:spcPts val="0"/>
              </a:spcAft>
              <a:buClr>
                <a:srgbClr val="1F2933"/>
              </a:buClr>
              <a:buSzPts val="1500"/>
              <a:buFont typeface="Courier New"/>
              <a:buNone/>
            </a:pPr>
            <a:r>
              <a:rPr b="0" i="0" lang="en-US" sz="1500" u="none" cap="none" strike="noStrike">
                <a:solidFill>
                  <a:srgbClr val="1F2933"/>
                </a:solidFill>
                <a:latin typeface="Courier New"/>
                <a:ea typeface="Courier New"/>
                <a:cs typeface="Courier New"/>
                <a:sym typeface="Courier New"/>
              </a:rPr>
              <a:t>df_enrichi["annee"] = </a:t>
            </a:r>
            <a:r>
              <a:rPr lang="en-US" sz="1500">
                <a:solidFill>
                  <a:srgbClr val="1F2933"/>
                </a:solidFill>
                <a:latin typeface="Courier New"/>
                <a:ea typeface="Courier New"/>
                <a:cs typeface="Courier New"/>
                <a:sym typeface="Courier New"/>
              </a:rPr>
              <a:t>df_enrichi</a:t>
            </a:r>
            <a:r>
              <a:rPr b="0" i="0" lang="en-US" sz="1500" u="none" cap="none" strike="noStrike">
                <a:solidFill>
                  <a:srgbClr val="1F2933"/>
                </a:solidFill>
                <a:latin typeface="Courier New"/>
                <a:ea typeface="Courier New"/>
                <a:cs typeface="Courier New"/>
                <a:sym typeface="Courier New"/>
              </a:rPr>
              <a:t>["date"].dt.year</a:t>
            </a:r>
            <a:endParaRPr b="0" i="0" sz="1500" u="none" cap="none" strike="noStrike">
              <a:solidFill>
                <a:schemeClr val="dk1"/>
              </a:solidFill>
              <a:latin typeface="Calibri"/>
              <a:ea typeface="Calibri"/>
              <a:cs typeface="Calibri"/>
              <a:sym typeface="Calibri"/>
            </a:endParaRPr>
          </a:p>
        </p:txBody>
      </p:sp>
      <p:sp>
        <p:nvSpPr>
          <p:cNvPr id="247" name="Google Shape;247;p14"/>
          <p:cNvSpPr txBox="1"/>
          <p:nvPr/>
        </p:nvSpPr>
        <p:spPr>
          <a:xfrm>
            <a:off x="6324398" y="3954023"/>
            <a:ext cx="5318700" cy="8688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B7280"/>
              </a:buClr>
              <a:buSzPts val="1600"/>
              <a:buFont typeface="Calibri"/>
              <a:buNone/>
            </a:pPr>
            <a:r>
              <a:rPr b="0" i="0" lang="en-US" sz="1600" u="none" cap="none" strike="noStrike">
                <a:solidFill>
                  <a:srgbClr val="6B7280"/>
                </a:solidFill>
                <a:latin typeface="Calibri"/>
                <a:ea typeface="Calibri"/>
                <a:cs typeface="Calibri"/>
                <a:sym typeface="Calibri"/>
              </a:rPr>
              <a:t>On copie d'abord, puis on ajoute les colonnes sur la copie. Sans </a:t>
            </a:r>
            <a:r>
              <a:rPr b="0" i="0" lang="en-US" sz="1600" u="none" cap="none" strike="noStrike">
                <a:solidFill>
                  <a:srgbClr val="1F3A5F"/>
                </a:solidFill>
                <a:latin typeface="Courier New"/>
                <a:ea typeface="Courier New"/>
                <a:cs typeface="Courier New"/>
                <a:sym typeface="Courier New"/>
              </a:rPr>
              <a:t>copy()</a:t>
            </a:r>
            <a:r>
              <a:rPr b="0" i="0" lang="en-US" sz="1600" u="none" cap="none" strike="noStrike">
                <a:solidFill>
                  <a:srgbClr val="6B7280"/>
                </a:solidFill>
                <a:latin typeface="Calibri"/>
                <a:ea typeface="Calibri"/>
                <a:cs typeface="Calibri"/>
                <a:sym typeface="Calibri"/>
              </a:rPr>
              <a:t>, ces affectations écriraient dans </a:t>
            </a:r>
            <a:r>
              <a:rPr b="0" i="0" lang="en-US" sz="1600" u="none" cap="none" strike="noStrike">
                <a:solidFill>
                  <a:srgbClr val="1F3A5F"/>
                </a:solidFill>
                <a:latin typeface="Courier New"/>
                <a:ea typeface="Courier New"/>
                <a:cs typeface="Courier New"/>
                <a:sym typeface="Courier New"/>
              </a:rPr>
              <a:t>df</a:t>
            </a:r>
            <a:r>
              <a:rPr b="0" i="0" lang="en-US" sz="1600" u="none" cap="none" strike="noStrike">
                <a:solidFill>
                  <a:srgbClr val="6B7280"/>
                </a:solidFill>
                <a:latin typeface="Calibri"/>
                <a:ea typeface="Calibri"/>
                <a:cs typeface="Calibri"/>
                <a:sym typeface="Calibri"/>
              </a:rPr>
              <a:t>.</a:t>
            </a:r>
            <a:endParaRPr b="0" i="0" sz="1600" u="none" cap="none" strike="noStrike">
              <a:solidFill>
                <a:schemeClr val="dk1"/>
              </a:solidFill>
              <a:latin typeface="Calibri"/>
              <a:ea typeface="Calibri"/>
              <a:cs typeface="Calibri"/>
              <a:sym typeface="Calibri"/>
            </a:endParaRPr>
          </a:p>
        </p:txBody>
      </p:sp>
      <p:sp>
        <p:nvSpPr>
          <p:cNvPr id="248" name="Google Shape;248;p14"/>
          <p:cNvSpPr txBox="1"/>
          <p:nvPr/>
        </p:nvSpPr>
        <p:spPr>
          <a:xfrm>
            <a:off x="548640" y="6400800"/>
            <a:ext cx="73152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B7280"/>
              </a:buClr>
              <a:buSzPts val="1000"/>
              <a:buFont typeface="Calibri"/>
              <a:buNone/>
            </a:pPr>
            <a:r>
              <a:rPr b="0" i="0" lang="en-US" sz="1000" u="none" cap="none" strike="noStrike">
                <a:solidFill>
                  <a:srgbClr val="6B7280"/>
                </a:solidFill>
                <a:latin typeface="Calibri"/>
                <a:ea typeface="Calibri"/>
                <a:cs typeface="Calibri"/>
                <a:sym typeface="Calibri"/>
              </a:rPr>
              <a:t>Analyse de données avec Python   |   Jour 1, après-midi</a:t>
            </a:r>
            <a:endParaRPr b="0" i="0" sz="1000" u="none" cap="none" strike="noStrike">
              <a:solidFill>
                <a:schemeClr val="dk1"/>
              </a:solidFill>
              <a:latin typeface="Calibri"/>
              <a:ea typeface="Calibri"/>
              <a:cs typeface="Calibri"/>
              <a:sym typeface="Calibri"/>
            </a:endParaRPr>
          </a:p>
        </p:txBody>
      </p:sp>
      <p:sp>
        <p:nvSpPr>
          <p:cNvPr id="249" name="Google Shape;249;p14"/>
          <p:cNvSpPr txBox="1"/>
          <p:nvPr>
            <p:ph idx="4294967295" type="sldNum"/>
          </p:nvPr>
        </p:nvSpPr>
        <p:spPr>
          <a:xfrm>
            <a:off x="11094415" y="6400800"/>
            <a:ext cx="548640" cy="27432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000" u="none" cap="none" strike="noStrike">
                <a:solidFill>
                  <a:srgbClr val="6B7280"/>
                </a:solidFill>
                <a:latin typeface="Calibri"/>
                <a:ea typeface="Calibri"/>
                <a:cs typeface="Calibri"/>
                <a:sym typeface="Calibri"/>
              </a:rPr>
              <a:t>‹#›</a:t>
            </a:fld>
            <a:endParaRPr b="0" i="0" sz="1000" u="none" cap="none" strike="noStrike">
              <a:solidFill>
                <a:srgbClr val="6B7280"/>
              </a:solidFill>
              <a:latin typeface="Calibri"/>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4" name="Shape 254"/>
        <p:cNvGrpSpPr/>
        <p:nvPr/>
      </p:nvGrpSpPr>
      <p:grpSpPr>
        <a:xfrm>
          <a:off x="0" y="0"/>
          <a:ext cx="0" cy="0"/>
          <a:chOff x="0" y="0"/>
          <a:chExt cx="0" cy="0"/>
        </a:xfrm>
      </p:grpSpPr>
      <p:sp>
        <p:nvSpPr>
          <p:cNvPr id="255" name="Google Shape;255;p15"/>
          <p:cNvSpPr/>
          <p:nvPr/>
        </p:nvSpPr>
        <p:spPr>
          <a:xfrm>
            <a:off x="548640" y="566928"/>
            <a:ext cx="475488" cy="475488"/>
          </a:xfrm>
          <a:prstGeom prst="ellipse">
            <a:avLst/>
          </a:prstGeom>
          <a:solidFill>
            <a:srgbClr val="2F7D6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 name="Google Shape;256;p15"/>
          <p:cNvSpPr txBox="1"/>
          <p:nvPr/>
        </p:nvSpPr>
        <p:spPr>
          <a:xfrm>
            <a:off x="548640" y="566928"/>
            <a:ext cx="475488" cy="47548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2</a:t>
            </a:r>
            <a:endParaRPr b="0" i="0" sz="1600" u="none" cap="none" strike="noStrike">
              <a:solidFill>
                <a:schemeClr val="dk1"/>
              </a:solidFill>
              <a:latin typeface="Calibri"/>
              <a:ea typeface="Calibri"/>
              <a:cs typeface="Calibri"/>
              <a:sym typeface="Calibri"/>
            </a:endParaRPr>
          </a:p>
        </p:txBody>
      </p:sp>
      <p:sp>
        <p:nvSpPr>
          <p:cNvPr id="257" name="Google Shape;257;p15"/>
          <p:cNvSpPr txBox="1"/>
          <p:nvPr/>
        </p:nvSpPr>
        <p:spPr>
          <a:xfrm>
            <a:off x="1280160" y="164592"/>
            <a:ext cx="10362895"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F7D62"/>
              </a:buClr>
              <a:buSzPts val="1200"/>
              <a:buFont typeface="Calibri"/>
              <a:buNone/>
            </a:pPr>
            <a:r>
              <a:rPr b="1" i="0" lang="en-US" sz="1200" u="none" cap="none" strike="noStrike">
                <a:solidFill>
                  <a:srgbClr val="2F7D62"/>
                </a:solidFill>
                <a:latin typeface="Calibri"/>
                <a:ea typeface="Calibri"/>
                <a:cs typeface="Calibri"/>
                <a:sym typeface="Calibri"/>
              </a:rPr>
              <a:t>TRANSFORMER LES DONNÉES</a:t>
            </a:r>
            <a:endParaRPr b="0" i="0" sz="1200" u="none" cap="none" strike="noStrike">
              <a:solidFill>
                <a:schemeClr val="dk1"/>
              </a:solidFill>
              <a:latin typeface="Calibri"/>
              <a:ea typeface="Calibri"/>
              <a:cs typeface="Calibri"/>
              <a:sym typeface="Calibri"/>
            </a:endParaRPr>
          </a:p>
        </p:txBody>
      </p:sp>
      <p:sp>
        <p:nvSpPr>
          <p:cNvPr id="258" name="Google Shape;258;p15"/>
          <p:cNvSpPr txBox="1"/>
          <p:nvPr/>
        </p:nvSpPr>
        <p:spPr>
          <a:xfrm>
            <a:off x="1280160" y="457200"/>
            <a:ext cx="10362895" cy="6949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F3A5F"/>
              </a:buClr>
              <a:buSzPts val="3000"/>
              <a:buFont typeface="Cambria"/>
              <a:buNone/>
            </a:pPr>
            <a:r>
              <a:rPr b="1" i="0" lang="en-US" sz="3000" u="none" cap="none" strike="noStrike">
                <a:solidFill>
                  <a:srgbClr val="1F3A5F"/>
                </a:solidFill>
                <a:latin typeface="Cambria"/>
                <a:ea typeface="Cambria"/>
                <a:cs typeface="Cambria"/>
                <a:sym typeface="Cambria"/>
              </a:rPr>
              <a:t>Supprimer des colonnes ou des lignes</a:t>
            </a:r>
            <a:endParaRPr b="0" i="0" sz="3000" u="none" cap="none" strike="noStrike">
              <a:solidFill>
                <a:schemeClr val="dk1"/>
              </a:solidFill>
              <a:latin typeface="Calibri"/>
              <a:ea typeface="Calibri"/>
              <a:cs typeface="Calibri"/>
              <a:sym typeface="Calibri"/>
            </a:endParaRPr>
          </a:p>
        </p:txBody>
      </p:sp>
      <p:sp>
        <p:nvSpPr>
          <p:cNvPr id="259" name="Google Shape;259;p15"/>
          <p:cNvSpPr/>
          <p:nvPr/>
        </p:nvSpPr>
        <p:spPr>
          <a:xfrm>
            <a:off x="548640" y="1417320"/>
            <a:ext cx="5802117" cy="966978"/>
          </a:xfrm>
          <a:prstGeom prst="rect">
            <a:avLst/>
          </a:prstGeom>
          <a:solidFill>
            <a:srgbClr val="F3F4F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 name="Google Shape;260;p15"/>
          <p:cNvSpPr txBox="1"/>
          <p:nvPr/>
        </p:nvSpPr>
        <p:spPr>
          <a:xfrm>
            <a:off x="731520" y="1563624"/>
            <a:ext cx="5436357" cy="67437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F2933"/>
              </a:buClr>
              <a:buSzPts val="1500"/>
              <a:buFont typeface="Courier New"/>
              <a:buNone/>
            </a:pPr>
            <a:r>
              <a:rPr b="0" i="0" lang="en-US" sz="1500" u="none" cap="none" strike="noStrike">
                <a:solidFill>
                  <a:srgbClr val="1F2933"/>
                </a:solidFill>
                <a:latin typeface="Courier New"/>
                <a:ea typeface="Courier New"/>
                <a:cs typeface="Courier New"/>
                <a:sym typeface="Courier New"/>
              </a:rPr>
              <a:t>df = df.drop(columns=["source", "montant_ttc"])</a:t>
            </a:r>
            <a:endParaRPr b="0" i="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F2933"/>
              </a:buClr>
              <a:buSzPts val="1500"/>
              <a:buFont typeface="Courier New"/>
              <a:buNone/>
            </a:pPr>
            <a:r>
              <a:rPr b="0" i="0" lang="en-US" sz="1500" u="none" cap="none" strike="noStrike">
                <a:solidFill>
                  <a:srgbClr val="1F2933"/>
                </a:solidFill>
                <a:latin typeface="Courier New"/>
                <a:ea typeface="Courier New"/>
                <a:cs typeface="Courier New"/>
                <a:sym typeface="Courier New"/>
              </a:rPr>
              <a:t> </a:t>
            </a:r>
            <a:endParaRPr b="0" i="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F2933"/>
              </a:buClr>
              <a:buSzPts val="1500"/>
              <a:buFont typeface="Courier New"/>
              <a:buNone/>
            </a:pPr>
            <a:r>
              <a:rPr b="0" i="0" lang="en-US" sz="1500" u="none" cap="none" strike="noStrike">
                <a:solidFill>
                  <a:srgbClr val="1F2933"/>
                </a:solidFill>
                <a:latin typeface="Courier New"/>
                <a:ea typeface="Courier New"/>
                <a:cs typeface="Courier New"/>
                <a:sym typeface="Courier New"/>
              </a:rPr>
              <a:t>df = df.drop(index=[0, 1])    # par label</a:t>
            </a:r>
            <a:endParaRPr b="0" i="0" sz="1500" u="none" cap="none" strike="noStrike">
              <a:solidFill>
                <a:schemeClr val="dk1"/>
              </a:solidFill>
              <a:latin typeface="Calibri"/>
              <a:ea typeface="Calibri"/>
              <a:cs typeface="Calibri"/>
              <a:sym typeface="Calibri"/>
            </a:endParaRPr>
          </a:p>
        </p:txBody>
      </p:sp>
      <p:sp>
        <p:nvSpPr>
          <p:cNvPr id="261" name="Google Shape;261;p15"/>
          <p:cNvSpPr txBox="1"/>
          <p:nvPr/>
        </p:nvSpPr>
        <p:spPr>
          <a:xfrm>
            <a:off x="6807957" y="1417320"/>
            <a:ext cx="4835098" cy="19507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F3A5F"/>
              </a:buClr>
              <a:buSzPts val="1700"/>
              <a:buFont typeface="Courier New"/>
              <a:buNone/>
            </a:pPr>
            <a:r>
              <a:rPr b="0" i="0" lang="en-US" sz="1700" u="none" cap="none" strike="noStrike">
                <a:solidFill>
                  <a:srgbClr val="1F3A5F"/>
                </a:solidFill>
                <a:latin typeface="Courier New"/>
                <a:ea typeface="Courier New"/>
                <a:cs typeface="Courier New"/>
                <a:sym typeface="Courier New"/>
              </a:rPr>
              <a:t>drop</a:t>
            </a:r>
            <a:r>
              <a:rPr b="0" i="0" lang="en-US" sz="1700" u="none" cap="none" strike="noStrike">
                <a:solidFill>
                  <a:srgbClr val="1F2933"/>
                </a:solidFill>
                <a:latin typeface="Calibri"/>
                <a:ea typeface="Calibri"/>
                <a:cs typeface="Calibri"/>
                <a:sym typeface="Calibri"/>
              </a:rPr>
              <a:t> renvoie un </a:t>
            </a:r>
            <a:r>
              <a:rPr b="1" i="0" lang="en-US" sz="1700" u="none" cap="none" strike="noStrike">
                <a:solidFill>
                  <a:srgbClr val="1F2933"/>
                </a:solidFill>
                <a:latin typeface="Calibri"/>
                <a:ea typeface="Calibri"/>
                <a:cs typeface="Calibri"/>
                <a:sym typeface="Calibri"/>
              </a:rPr>
              <a:t>nouveau</a:t>
            </a:r>
            <a:r>
              <a:rPr b="0" i="0" lang="en-US" sz="1700" u="none" cap="none" strike="noStrike">
                <a:solidFill>
                  <a:srgbClr val="1F2933"/>
                </a:solidFill>
                <a:latin typeface="Calibri"/>
                <a:ea typeface="Calibri"/>
                <a:cs typeface="Calibri"/>
                <a:sym typeface="Calibri"/>
              </a:rPr>
              <a:t> DataFrame : il faut réaffecter le résultat</a:t>
            </a:r>
            <a:endParaRPr b="0" i="0" sz="1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1F3A5F"/>
              </a:buClr>
              <a:buSzPts val="1700"/>
              <a:buFont typeface="Courier New"/>
              <a:buNone/>
            </a:pPr>
            <a:r>
              <a:rPr b="0" i="0" lang="en-US" sz="1700" u="none" cap="none" strike="noStrike">
                <a:solidFill>
                  <a:srgbClr val="1F3A5F"/>
                </a:solidFill>
                <a:latin typeface="Courier New"/>
                <a:ea typeface="Courier New"/>
                <a:cs typeface="Courier New"/>
                <a:sym typeface="Courier New"/>
              </a:rPr>
              <a:t>inplace=True</a:t>
            </a:r>
            <a:r>
              <a:rPr b="0" i="0" lang="en-US" sz="1700" u="none" cap="none" strike="noStrike">
                <a:solidFill>
                  <a:srgbClr val="1F2933"/>
                </a:solidFill>
                <a:latin typeface="Calibri"/>
                <a:ea typeface="Calibri"/>
                <a:cs typeface="Calibri"/>
                <a:sym typeface="Calibri"/>
              </a:rPr>
              <a:t> existe encore, mais il est déconseillé</a:t>
            </a:r>
            <a:endParaRPr b="0" i="0" sz="1700" u="none" cap="none" strike="noStrike">
              <a:solidFill>
                <a:schemeClr val="dk1"/>
              </a:solidFill>
              <a:latin typeface="Calibri"/>
              <a:ea typeface="Calibri"/>
              <a:cs typeface="Calibri"/>
              <a:sym typeface="Calibri"/>
            </a:endParaRPr>
          </a:p>
          <a:p>
            <a:pPr indent="-254000" lvl="0" marL="254000" marR="0" rtl="0" algn="l">
              <a:spcBef>
                <a:spcPts val="0"/>
              </a:spcBef>
              <a:spcAft>
                <a:spcPts val="0"/>
              </a:spcAft>
              <a:buClr>
                <a:srgbClr val="1F2933"/>
              </a:buClr>
              <a:buSzPts val="1700"/>
              <a:buFont typeface="Calibri"/>
              <a:buChar char="•"/>
            </a:pPr>
            <a:r>
              <a:rPr b="0" i="0" lang="en-US" sz="1700" u="none" cap="none" strike="noStrike">
                <a:solidFill>
                  <a:srgbClr val="1F2933"/>
                </a:solidFill>
                <a:latin typeface="Calibri"/>
                <a:ea typeface="Calibri"/>
                <a:cs typeface="Calibri"/>
                <a:sym typeface="Calibri"/>
              </a:rPr>
              <a:t>Il n'apporte aucun gain et empêche d'enchaîner les opérations</a:t>
            </a:r>
            <a:endParaRPr b="0" i="0" sz="1700" u="none" cap="none" strike="noStrike">
              <a:solidFill>
                <a:schemeClr val="dk1"/>
              </a:solidFill>
              <a:latin typeface="Calibri"/>
              <a:ea typeface="Calibri"/>
              <a:cs typeface="Calibri"/>
              <a:sym typeface="Calibri"/>
            </a:endParaRPr>
          </a:p>
        </p:txBody>
      </p:sp>
      <p:sp>
        <p:nvSpPr>
          <p:cNvPr id="262" name="Google Shape;262;p15"/>
          <p:cNvSpPr txBox="1"/>
          <p:nvPr/>
        </p:nvSpPr>
        <p:spPr>
          <a:xfrm>
            <a:off x="548640" y="6400800"/>
            <a:ext cx="73152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B7280"/>
              </a:buClr>
              <a:buSzPts val="1000"/>
              <a:buFont typeface="Calibri"/>
              <a:buNone/>
            </a:pPr>
            <a:r>
              <a:rPr b="0" i="0" lang="en-US" sz="1000" u="none" cap="none" strike="noStrike">
                <a:solidFill>
                  <a:srgbClr val="6B7280"/>
                </a:solidFill>
                <a:latin typeface="Calibri"/>
                <a:ea typeface="Calibri"/>
                <a:cs typeface="Calibri"/>
                <a:sym typeface="Calibri"/>
              </a:rPr>
              <a:t>Analyse de données avec Python   |   Jour 1, après-midi</a:t>
            </a:r>
            <a:endParaRPr b="0" i="0" sz="1000" u="none" cap="none" strike="noStrike">
              <a:solidFill>
                <a:schemeClr val="dk1"/>
              </a:solidFill>
              <a:latin typeface="Calibri"/>
              <a:ea typeface="Calibri"/>
              <a:cs typeface="Calibri"/>
              <a:sym typeface="Calibri"/>
            </a:endParaRPr>
          </a:p>
        </p:txBody>
      </p:sp>
      <p:sp>
        <p:nvSpPr>
          <p:cNvPr id="263" name="Google Shape;263;p15"/>
          <p:cNvSpPr txBox="1"/>
          <p:nvPr>
            <p:ph idx="4294967295" type="sldNum"/>
          </p:nvPr>
        </p:nvSpPr>
        <p:spPr>
          <a:xfrm>
            <a:off x="11094415" y="6400800"/>
            <a:ext cx="548640" cy="27432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000" u="none" cap="none" strike="noStrike">
                <a:solidFill>
                  <a:srgbClr val="6B7280"/>
                </a:solidFill>
                <a:latin typeface="Calibri"/>
                <a:ea typeface="Calibri"/>
                <a:cs typeface="Calibri"/>
                <a:sym typeface="Calibri"/>
              </a:rPr>
              <a:t>‹#›</a:t>
            </a:fld>
            <a:endParaRPr b="0" i="0" sz="1000" u="none" cap="none" strike="noStrike">
              <a:solidFill>
                <a:srgbClr val="6B7280"/>
              </a:solidFill>
              <a:latin typeface="Calibri"/>
              <a:ea typeface="Calibri"/>
              <a:cs typeface="Calibri"/>
              <a:sym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8" name="Shape 268"/>
        <p:cNvGrpSpPr/>
        <p:nvPr/>
      </p:nvGrpSpPr>
      <p:grpSpPr>
        <a:xfrm>
          <a:off x="0" y="0"/>
          <a:ext cx="0" cy="0"/>
          <a:chOff x="0" y="0"/>
          <a:chExt cx="0" cy="0"/>
        </a:xfrm>
      </p:grpSpPr>
      <p:sp>
        <p:nvSpPr>
          <p:cNvPr id="269" name="Google Shape;269;p16"/>
          <p:cNvSpPr/>
          <p:nvPr/>
        </p:nvSpPr>
        <p:spPr>
          <a:xfrm>
            <a:off x="548640" y="566928"/>
            <a:ext cx="475488" cy="475488"/>
          </a:xfrm>
          <a:prstGeom prst="ellipse">
            <a:avLst/>
          </a:prstGeom>
          <a:solidFill>
            <a:srgbClr val="2F7D6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0" name="Google Shape;270;p16"/>
          <p:cNvSpPr txBox="1"/>
          <p:nvPr/>
        </p:nvSpPr>
        <p:spPr>
          <a:xfrm>
            <a:off x="548640" y="566928"/>
            <a:ext cx="475488" cy="47548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2</a:t>
            </a:r>
            <a:endParaRPr b="0" i="0" sz="1600" u="none" cap="none" strike="noStrike">
              <a:solidFill>
                <a:schemeClr val="dk1"/>
              </a:solidFill>
              <a:latin typeface="Calibri"/>
              <a:ea typeface="Calibri"/>
              <a:cs typeface="Calibri"/>
              <a:sym typeface="Calibri"/>
            </a:endParaRPr>
          </a:p>
        </p:txBody>
      </p:sp>
      <p:sp>
        <p:nvSpPr>
          <p:cNvPr id="271" name="Google Shape;271;p16"/>
          <p:cNvSpPr txBox="1"/>
          <p:nvPr/>
        </p:nvSpPr>
        <p:spPr>
          <a:xfrm>
            <a:off x="1280160" y="164592"/>
            <a:ext cx="10362895"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F7D62"/>
              </a:buClr>
              <a:buSzPts val="1200"/>
              <a:buFont typeface="Calibri"/>
              <a:buNone/>
            </a:pPr>
            <a:r>
              <a:rPr b="1" i="0" lang="en-US" sz="1200" u="none" cap="none" strike="noStrike">
                <a:solidFill>
                  <a:srgbClr val="2F7D62"/>
                </a:solidFill>
                <a:latin typeface="Calibri"/>
                <a:ea typeface="Calibri"/>
                <a:cs typeface="Calibri"/>
                <a:sym typeface="Calibri"/>
              </a:rPr>
              <a:t>TRANSFORMER LES DONNÉES</a:t>
            </a:r>
            <a:endParaRPr b="0" i="0" sz="1200" u="none" cap="none" strike="noStrike">
              <a:solidFill>
                <a:schemeClr val="dk1"/>
              </a:solidFill>
              <a:latin typeface="Calibri"/>
              <a:ea typeface="Calibri"/>
              <a:cs typeface="Calibri"/>
              <a:sym typeface="Calibri"/>
            </a:endParaRPr>
          </a:p>
        </p:txBody>
      </p:sp>
      <p:sp>
        <p:nvSpPr>
          <p:cNvPr id="272" name="Google Shape;272;p16"/>
          <p:cNvSpPr txBox="1"/>
          <p:nvPr/>
        </p:nvSpPr>
        <p:spPr>
          <a:xfrm>
            <a:off x="1280160" y="457200"/>
            <a:ext cx="10362895" cy="6949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F3A5F"/>
              </a:buClr>
              <a:buSzPts val="3000"/>
              <a:buFont typeface="Cambria"/>
              <a:buNone/>
            </a:pPr>
            <a:r>
              <a:rPr b="1" i="0" lang="en-US" sz="3000" u="none" cap="none" strike="noStrike">
                <a:solidFill>
                  <a:srgbClr val="1F3A5F"/>
                </a:solidFill>
                <a:latin typeface="Cambria"/>
                <a:ea typeface="Cambria"/>
                <a:cs typeface="Cambria"/>
                <a:sym typeface="Cambria"/>
              </a:rPr>
              <a:t>map : remplacer valeur par valeur</a:t>
            </a:r>
            <a:endParaRPr b="0" i="0" sz="3000" u="none" cap="none" strike="noStrike">
              <a:solidFill>
                <a:schemeClr val="dk1"/>
              </a:solidFill>
              <a:latin typeface="Calibri"/>
              <a:ea typeface="Calibri"/>
              <a:cs typeface="Calibri"/>
              <a:sym typeface="Calibri"/>
            </a:endParaRPr>
          </a:p>
        </p:txBody>
      </p:sp>
      <p:sp>
        <p:nvSpPr>
          <p:cNvPr id="273" name="Google Shape;273;p16"/>
          <p:cNvSpPr/>
          <p:nvPr/>
        </p:nvSpPr>
        <p:spPr>
          <a:xfrm>
            <a:off x="548640" y="1417320"/>
            <a:ext cx="5318608" cy="2630424"/>
          </a:xfrm>
          <a:prstGeom prst="rect">
            <a:avLst/>
          </a:prstGeom>
          <a:solidFill>
            <a:srgbClr val="F3F4F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4" name="Google Shape;274;p16"/>
          <p:cNvSpPr txBox="1"/>
          <p:nvPr/>
        </p:nvSpPr>
        <p:spPr>
          <a:xfrm>
            <a:off x="731520" y="1563624"/>
            <a:ext cx="4952848" cy="2337816"/>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F2933"/>
              </a:buClr>
              <a:buSzPts val="1300"/>
              <a:buFont typeface="Courier New"/>
              <a:buNone/>
            </a:pPr>
            <a:r>
              <a:rPr b="0" i="0" lang="en-US" sz="1300" u="none" cap="none" strike="noStrike">
                <a:solidFill>
                  <a:srgbClr val="1F2933"/>
                </a:solidFill>
                <a:latin typeface="Courier New"/>
                <a:ea typeface="Courier New"/>
                <a:cs typeface="Courier New"/>
                <a:sym typeface="Courier New"/>
              </a:rPr>
              <a:t>codes = {</a:t>
            </a:r>
            <a:endParaRPr b="0" i="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F2933"/>
              </a:buClr>
              <a:buSzPts val="1300"/>
              <a:buFont typeface="Courier New"/>
              <a:buNone/>
            </a:pPr>
            <a:r>
              <a:rPr b="0" i="0" lang="en-US" sz="1300" u="none" cap="none" strike="noStrike">
                <a:solidFill>
                  <a:srgbClr val="1F2933"/>
                </a:solidFill>
                <a:latin typeface="Courier New"/>
                <a:ea typeface="Courier New"/>
                <a:cs typeface="Courier New"/>
                <a:sym typeface="Courier New"/>
              </a:rPr>
              <a:t>    "Bureau": "BUR",</a:t>
            </a:r>
            <a:endParaRPr b="0" i="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F2933"/>
              </a:buClr>
              <a:buSzPts val="1300"/>
              <a:buFont typeface="Courier New"/>
              <a:buNone/>
            </a:pPr>
            <a:r>
              <a:rPr b="0" i="0" lang="en-US" sz="1300" u="none" cap="none" strike="noStrike">
                <a:solidFill>
                  <a:srgbClr val="1F2933"/>
                </a:solidFill>
                <a:latin typeface="Courier New"/>
                <a:ea typeface="Courier New"/>
                <a:cs typeface="Courier New"/>
                <a:sym typeface="Courier New"/>
              </a:rPr>
              <a:t>    "Papeterie": "PAP",</a:t>
            </a:r>
            <a:endParaRPr b="0" i="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F2933"/>
              </a:buClr>
              <a:buSzPts val="1300"/>
              <a:buFont typeface="Courier New"/>
              <a:buNone/>
            </a:pPr>
            <a:r>
              <a:rPr b="0" i="0" lang="en-US" sz="1300" u="none" cap="none" strike="noStrike">
                <a:solidFill>
                  <a:srgbClr val="1F2933"/>
                </a:solidFill>
                <a:latin typeface="Courier New"/>
                <a:ea typeface="Courier New"/>
                <a:cs typeface="Courier New"/>
                <a:sym typeface="Courier New"/>
              </a:rPr>
              <a:t>    "Informatique": "INF",</a:t>
            </a:r>
            <a:endParaRPr b="0" i="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F2933"/>
              </a:buClr>
              <a:buSzPts val="1300"/>
              <a:buFont typeface="Courier New"/>
              <a:buNone/>
            </a:pPr>
            <a:r>
              <a:rPr b="0" i="0" lang="en-US" sz="1300" u="none" cap="none" strike="noStrike">
                <a:solidFill>
                  <a:srgbClr val="1F2933"/>
                </a:solidFill>
                <a:latin typeface="Courier New"/>
                <a:ea typeface="Courier New"/>
                <a:cs typeface="Courier New"/>
                <a:sym typeface="Courier New"/>
              </a:rPr>
              <a:t>    "Électroménager": "ELM",</a:t>
            </a:r>
            <a:endParaRPr b="0" i="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F2933"/>
              </a:buClr>
              <a:buSzPts val="1300"/>
              <a:buFont typeface="Courier New"/>
              <a:buNone/>
            </a:pPr>
            <a:r>
              <a:rPr b="0" i="0" lang="en-US" sz="1300" u="none" cap="none" strike="noStrike">
                <a:solidFill>
                  <a:srgbClr val="1F2933"/>
                </a:solidFill>
                <a:latin typeface="Courier New"/>
                <a:ea typeface="Courier New"/>
                <a:cs typeface="Courier New"/>
                <a:sym typeface="Courier New"/>
              </a:rPr>
              <a:t>}</a:t>
            </a:r>
            <a:endParaRPr b="0" i="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F2933"/>
              </a:buClr>
              <a:buSzPts val="1300"/>
              <a:buFont typeface="Courier New"/>
              <a:buNone/>
            </a:pPr>
            <a:r>
              <a:rPr b="0" i="0" lang="en-US" sz="1300" u="none" cap="none" strike="noStrike">
                <a:solidFill>
                  <a:srgbClr val="1F2933"/>
                </a:solidFill>
                <a:latin typeface="Courier New"/>
                <a:ea typeface="Courier New"/>
                <a:cs typeface="Courier New"/>
                <a:sym typeface="Courier New"/>
              </a:rPr>
              <a:t>df["code_categorie"] = df["categorie"].map(codes)</a:t>
            </a:r>
            <a:endParaRPr b="0" i="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F2933"/>
              </a:buClr>
              <a:buSzPts val="1300"/>
              <a:buFont typeface="Courier New"/>
              <a:buNone/>
            </a:pPr>
            <a:r>
              <a:rPr b="0" i="0" lang="en-US" sz="1300" u="none" cap="none" strike="noStrike">
                <a:solidFill>
                  <a:srgbClr val="1F2933"/>
                </a:solidFill>
                <a:latin typeface="Courier New"/>
                <a:ea typeface="Courier New"/>
                <a:cs typeface="Courier New"/>
                <a:sym typeface="Courier New"/>
              </a:rPr>
              <a:t> </a:t>
            </a:r>
            <a:endParaRPr b="0" i="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B7280"/>
              </a:buClr>
              <a:buSzPts val="1300"/>
              <a:buFont typeface="Courier New"/>
              <a:buNone/>
            </a:pPr>
            <a:r>
              <a:rPr b="0" i="0" lang="en-US" sz="1300" u="none" cap="none" strike="noStrike">
                <a:solidFill>
                  <a:srgbClr val="6B7280"/>
                </a:solidFill>
                <a:latin typeface="Courier New"/>
                <a:ea typeface="Courier New"/>
                <a:cs typeface="Courier New"/>
                <a:sym typeface="Courier New"/>
              </a:rPr>
              <a:t># avec une fonction</a:t>
            </a:r>
            <a:endParaRPr b="0" i="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F2933"/>
              </a:buClr>
              <a:buSzPts val="1300"/>
              <a:buFont typeface="Courier New"/>
              <a:buNone/>
            </a:pPr>
            <a:r>
              <a:rPr b="0" i="0" lang="en-US" sz="1300" u="none" cap="none" strike="noStrike">
                <a:solidFill>
                  <a:srgbClr val="1F2933"/>
                </a:solidFill>
                <a:latin typeface="Courier New"/>
                <a:ea typeface="Courier New"/>
                <a:cs typeface="Courier New"/>
                <a:sym typeface="Courier New"/>
              </a:rPr>
              <a:t>df["premier_mot"] = df["produit"].map(</a:t>
            </a:r>
            <a:endParaRPr b="0" i="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F2933"/>
              </a:buClr>
              <a:buSzPts val="1300"/>
              <a:buFont typeface="Courier New"/>
              <a:buNone/>
            </a:pPr>
            <a:r>
              <a:rPr b="0" i="0" lang="en-US" sz="1300" u="none" cap="none" strike="noStrike">
                <a:solidFill>
                  <a:srgbClr val="1F2933"/>
                </a:solidFill>
                <a:latin typeface="Courier New"/>
                <a:ea typeface="Courier New"/>
                <a:cs typeface="Courier New"/>
                <a:sym typeface="Courier New"/>
              </a:rPr>
              <a:t>    lambda p: p.split()[0]</a:t>
            </a:r>
            <a:endParaRPr b="0" i="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F2933"/>
              </a:buClr>
              <a:buSzPts val="1300"/>
              <a:buFont typeface="Courier New"/>
              <a:buNone/>
            </a:pPr>
            <a:r>
              <a:rPr b="0" i="0" lang="en-US" sz="1300" u="none" cap="none" strike="noStrike">
                <a:solidFill>
                  <a:srgbClr val="1F2933"/>
                </a:solidFill>
                <a:latin typeface="Courier New"/>
                <a:ea typeface="Courier New"/>
                <a:cs typeface="Courier New"/>
                <a:sym typeface="Courier New"/>
              </a:rPr>
              <a:t>)</a:t>
            </a:r>
            <a:endParaRPr b="0" i="0" sz="1300" u="none" cap="none" strike="noStrike">
              <a:solidFill>
                <a:schemeClr val="dk1"/>
              </a:solidFill>
              <a:latin typeface="Calibri"/>
              <a:ea typeface="Calibri"/>
              <a:cs typeface="Calibri"/>
              <a:sym typeface="Calibri"/>
            </a:endParaRPr>
          </a:p>
        </p:txBody>
      </p:sp>
      <p:sp>
        <p:nvSpPr>
          <p:cNvPr id="275" name="Google Shape;275;p16"/>
          <p:cNvSpPr txBox="1"/>
          <p:nvPr/>
        </p:nvSpPr>
        <p:spPr>
          <a:xfrm>
            <a:off x="6324448" y="1417320"/>
            <a:ext cx="5318608" cy="16916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F2933"/>
              </a:buClr>
              <a:buSzPts val="1700"/>
              <a:buFont typeface="Calibri"/>
              <a:buNone/>
            </a:pPr>
            <a:r>
              <a:rPr b="0" i="0" lang="en-US" sz="1700" u="none" cap="none" strike="noStrike">
                <a:solidFill>
                  <a:srgbClr val="1F2933"/>
                </a:solidFill>
                <a:latin typeface="Calibri"/>
                <a:ea typeface="Calibri"/>
                <a:cs typeface="Calibri"/>
                <a:sym typeface="Calibri"/>
              </a:rPr>
              <a:t>S'applique à une </a:t>
            </a:r>
            <a:r>
              <a:rPr b="1" i="0" lang="en-US" sz="1700" u="none" cap="none" strike="noStrike">
                <a:solidFill>
                  <a:srgbClr val="1F2933"/>
                </a:solidFill>
                <a:latin typeface="Calibri"/>
                <a:ea typeface="Calibri"/>
                <a:cs typeface="Calibri"/>
                <a:sym typeface="Calibri"/>
              </a:rPr>
              <a:t>Series</a:t>
            </a:r>
            <a:endParaRPr b="0" i="0" sz="1700" u="none" cap="none" strike="noStrike">
              <a:solidFill>
                <a:schemeClr val="dk1"/>
              </a:solidFill>
              <a:latin typeface="Calibri"/>
              <a:ea typeface="Calibri"/>
              <a:cs typeface="Calibri"/>
              <a:sym typeface="Calibri"/>
            </a:endParaRPr>
          </a:p>
          <a:p>
            <a:pPr indent="-254000" lvl="0" marL="254000" marR="0" rtl="0" algn="l">
              <a:spcBef>
                <a:spcPts val="0"/>
              </a:spcBef>
              <a:spcAft>
                <a:spcPts val="0"/>
              </a:spcAft>
              <a:buClr>
                <a:srgbClr val="1F2933"/>
              </a:buClr>
              <a:buSzPts val="1700"/>
              <a:buFont typeface="Calibri"/>
              <a:buChar char="•"/>
            </a:pPr>
            <a:r>
              <a:rPr b="0" i="0" lang="en-US" sz="1700" u="none" cap="none" strike="noStrike">
                <a:solidFill>
                  <a:srgbClr val="1F2933"/>
                </a:solidFill>
                <a:latin typeface="Calibri"/>
                <a:ea typeface="Calibri"/>
                <a:cs typeface="Calibri"/>
                <a:sym typeface="Calibri"/>
              </a:rPr>
              <a:t>Avec un dictionnaire : chaque valeur est remplacée par sa correspondance</a:t>
            </a:r>
            <a:endParaRPr b="0" i="0" sz="1700" u="none" cap="none" strike="noStrike">
              <a:solidFill>
                <a:schemeClr val="dk1"/>
              </a:solidFill>
              <a:latin typeface="Calibri"/>
              <a:ea typeface="Calibri"/>
              <a:cs typeface="Calibri"/>
              <a:sym typeface="Calibri"/>
            </a:endParaRPr>
          </a:p>
          <a:p>
            <a:pPr indent="0" lvl="0" marL="0" marR="0" rtl="0" algn="l">
              <a:spcBef>
                <a:spcPts val="800"/>
              </a:spcBef>
              <a:spcAft>
                <a:spcPts val="0"/>
              </a:spcAft>
              <a:buClr>
                <a:srgbClr val="1F2933"/>
              </a:buClr>
              <a:buSzPts val="1700"/>
              <a:buFont typeface="Calibri"/>
              <a:buNone/>
            </a:pPr>
            <a:r>
              <a:rPr b="0" i="0" lang="en-US" sz="1700" u="none" cap="none" strike="noStrike">
                <a:solidFill>
                  <a:srgbClr val="1F2933"/>
                </a:solidFill>
                <a:latin typeface="Calibri"/>
                <a:ea typeface="Calibri"/>
                <a:cs typeface="Calibri"/>
                <a:sym typeface="Calibri"/>
              </a:rPr>
              <a:t>Les valeurs absentes du dictionnaire deviennent </a:t>
            </a:r>
            <a:r>
              <a:rPr b="0" i="0" lang="en-US" sz="1700" u="none" cap="none" strike="noStrike">
                <a:solidFill>
                  <a:srgbClr val="1F3A5F"/>
                </a:solidFill>
                <a:latin typeface="Courier New"/>
                <a:ea typeface="Courier New"/>
                <a:cs typeface="Courier New"/>
                <a:sym typeface="Courier New"/>
              </a:rPr>
              <a:t>NaN</a:t>
            </a:r>
            <a:endParaRPr b="0" i="0" sz="1700" u="none" cap="none" strike="noStrike">
              <a:solidFill>
                <a:schemeClr val="dk1"/>
              </a:solidFill>
              <a:latin typeface="Calibri"/>
              <a:ea typeface="Calibri"/>
              <a:cs typeface="Calibri"/>
              <a:sym typeface="Calibri"/>
            </a:endParaRPr>
          </a:p>
        </p:txBody>
      </p:sp>
      <p:sp>
        <p:nvSpPr>
          <p:cNvPr id="276" name="Google Shape;276;p16"/>
          <p:cNvSpPr/>
          <p:nvPr/>
        </p:nvSpPr>
        <p:spPr>
          <a:xfrm>
            <a:off x="6324448" y="3429000"/>
            <a:ext cx="5318608" cy="1143000"/>
          </a:xfrm>
          <a:prstGeom prst="roundRect">
            <a:avLst>
              <a:gd fmla="val 4800" name="adj"/>
            </a:avLst>
          </a:prstGeom>
          <a:solidFill>
            <a:srgbClr val="E8F3E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7" name="Google Shape;277;p16"/>
          <p:cNvSpPr txBox="1"/>
          <p:nvPr/>
        </p:nvSpPr>
        <p:spPr>
          <a:xfrm>
            <a:off x="6598768" y="3429000"/>
            <a:ext cx="4769968" cy="114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F3A5F"/>
              </a:buClr>
              <a:buSzPts val="1700"/>
              <a:buFont typeface="Calibri"/>
              <a:buNone/>
            </a:pPr>
            <a:r>
              <a:rPr b="0" i="0" lang="en-US" sz="1700" u="none" cap="none" strike="noStrike">
                <a:solidFill>
                  <a:srgbClr val="1F3A5F"/>
                </a:solidFill>
                <a:latin typeface="Calibri"/>
                <a:ea typeface="Calibri"/>
                <a:cs typeface="Calibri"/>
                <a:sym typeface="Calibri"/>
              </a:rPr>
              <a:t>Ici, </a:t>
            </a:r>
            <a:r>
              <a:rPr b="0" i="0" lang="en-US" sz="1700" u="none" cap="none" strike="noStrike">
                <a:solidFill>
                  <a:srgbClr val="2F7D62"/>
                </a:solidFill>
                <a:latin typeface="Courier New"/>
                <a:ea typeface="Courier New"/>
                <a:cs typeface="Courier New"/>
                <a:sym typeface="Courier New"/>
              </a:rPr>
              <a:t>INFORMATIQUE</a:t>
            </a:r>
            <a:r>
              <a:rPr b="0" i="0" lang="en-US" sz="1700" u="none" cap="none" strike="noStrike">
                <a:solidFill>
                  <a:srgbClr val="1F3A5F"/>
                </a:solidFill>
                <a:latin typeface="Calibri"/>
                <a:ea typeface="Calibri"/>
                <a:cs typeface="Calibri"/>
                <a:sym typeface="Calibri"/>
              </a:rPr>
              <a:t> en majuscules donne </a:t>
            </a:r>
            <a:r>
              <a:rPr b="0" i="0" lang="en-US" sz="1700" u="none" cap="none" strike="noStrike">
                <a:solidFill>
                  <a:srgbClr val="2F7D62"/>
                </a:solidFill>
                <a:latin typeface="Courier New"/>
                <a:ea typeface="Courier New"/>
                <a:cs typeface="Courier New"/>
                <a:sym typeface="Courier New"/>
              </a:rPr>
              <a:t>NaN</a:t>
            </a:r>
            <a:r>
              <a:rPr b="0" i="0" lang="en-US" sz="1700" u="none" cap="none" strike="noStrike">
                <a:solidFill>
                  <a:srgbClr val="1F3A5F"/>
                </a:solidFill>
                <a:latin typeface="Calibri"/>
                <a:ea typeface="Calibri"/>
                <a:cs typeface="Calibri"/>
                <a:sym typeface="Calibri"/>
              </a:rPr>
              <a:t> : un bon moyen de repérer les valeurs inattendues, à condition de vérifier le résultat.</a:t>
            </a:r>
            <a:endParaRPr b="0" i="0" sz="1700" u="none" cap="none" strike="noStrike">
              <a:solidFill>
                <a:schemeClr val="dk1"/>
              </a:solidFill>
              <a:latin typeface="Calibri"/>
              <a:ea typeface="Calibri"/>
              <a:cs typeface="Calibri"/>
              <a:sym typeface="Calibri"/>
            </a:endParaRPr>
          </a:p>
        </p:txBody>
      </p:sp>
      <p:sp>
        <p:nvSpPr>
          <p:cNvPr id="278" name="Google Shape;278;p16"/>
          <p:cNvSpPr txBox="1"/>
          <p:nvPr/>
        </p:nvSpPr>
        <p:spPr>
          <a:xfrm>
            <a:off x="548640" y="6400800"/>
            <a:ext cx="73152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B7280"/>
              </a:buClr>
              <a:buSzPts val="1000"/>
              <a:buFont typeface="Calibri"/>
              <a:buNone/>
            </a:pPr>
            <a:r>
              <a:rPr b="0" i="0" lang="en-US" sz="1000" u="none" cap="none" strike="noStrike">
                <a:solidFill>
                  <a:srgbClr val="6B7280"/>
                </a:solidFill>
                <a:latin typeface="Calibri"/>
                <a:ea typeface="Calibri"/>
                <a:cs typeface="Calibri"/>
                <a:sym typeface="Calibri"/>
              </a:rPr>
              <a:t>Analyse de données avec Python   |   Jour 1, après-midi</a:t>
            </a:r>
            <a:endParaRPr b="0" i="0" sz="1000" u="none" cap="none" strike="noStrike">
              <a:solidFill>
                <a:schemeClr val="dk1"/>
              </a:solidFill>
              <a:latin typeface="Calibri"/>
              <a:ea typeface="Calibri"/>
              <a:cs typeface="Calibri"/>
              <a:sym typeface="Calibri"/>
            </a:endParaRPr>
          </a:p>
        </p:txBody>
      </p:sp>
      <p:sp>
        <p:nvSpPr>
          <p:cNvPr id="279" name="Google Shape;279;p16"/>
          <p:cNvSpPr txBox="1"/>
          <p:nvPr>
            <p:ph idx="4294967295" type="sldNum"/>
          </p:nvPr>
        </p:nvSpPr>
        <p:spPr>
          <a:xfrm>
            <a:off x="11094415" y="6400800"/>
            <a:ext cx="548640" cy="27432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000" u="none" cap="none" strike="noStrike">
                <a:solidFill>
                  <a:srgbClr val="6B7280"/>
                </a:solidFill>
                <a:latin typeface="Calibri"/>
                <a:ea typeface="Calibri"/>
                <a:cs typeface="Calibri"/>
                <a:sym typeface="Calibri"/>
              </a:rPr>
              <a:t>‹#›</a:t>
            </a:fld>
            <a:endParaRPr b="0" i="0" sz="1000" u="none" cap="none" strike="noStrike">
              <a:solidFill>
                <a:srgbClr val="6B7280"/>
              </a:solidFill>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4" name="Shape 284"/>
        <p:cNvGrpSpPr/>
        <p:nvPr/>
      </p:nvGrpSpPr>
      <p:grpSpPr>
        <a:xfrm>
          <a:off x="0" y="0"/>
          <a:ext cx="0" cy="0"/>
          <a:chOff x="0" y="0"/>
          <a:chExt cx="0" cy="0"/>
        </a:xfrm>
      </p:grpSpPr>
      <p:sp>
        <p:nvSpPr>
          <p:cNvPr id="285" name="Google Shape;285;p17"/>
          <p:cNvSpPr/>
          <p:nvPr/>
        </p:nvSpPr>
        <p:spPr>
          <a:xfrm>
            <a:off x="548640" y="566928"/>
            <a:ext cx="475488" cy="475488"/>
          </a:xfrm>
          <a:prstGeom prst="ellipse">
            <a:avLst/>
          </a:prstGeom>
          <a:solidFill>
            <a:srgbClr val="2F7D6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6" name="Google Shape;286;p17"/>
          <p:cNvSpPr txBox="1"/>
          <p:nvPr/>
        </p:nvSpPr>
        <p:spPr>
          <a:xfrm>
            <a:off x="548640" y="566928"/>
            <a:ext cx="475488" cy="47548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2</a:t>
            </a:r>
            <a:endParaRPr b="0" i="0" sz="1600" u="none" cap="none" strike="noStrike">
              <a:solidFill>
                <a:schemeClr val="dk1"/>
              </a:solidFill>
              <a:latin typeface="Calibri"/>
              <a:ea typeface="Calibri"/>
              <a:cs typeface="Calibri"/>
              <a:sym typeface="Calibri"/>
            </a:endParaRPr>
          </a:p>
        </p:txBody>
      </p:sp>
      <p:sp>
        <p:nvSpPr>
          <p:cNvPr id="287" name="Google Shape;287;p17"/>
          <p:cNvSpPr txBox="1"/>
          <p:nvPr/>
        </p:nvSpPr>
        <p:spPr>
          <a:xfrm>
            <a:off x="1280160" y="164592"/>
            <a:ext cx="10362895"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F7D62"/>
              </a:buClr>
              <a:buSzPts val="1200"/>
              <a:buFont typeface="Calibri"/>
              <a:buNone/>
            </a:pPr>
            <a:r>
              <a:rPr b="1" i="0" lang="en-US" sz="1200" u="none" cap="none" strike="noStrike">
                <a:solidFill>
                  <a:srgbClr val="2F7D62"/>
                </a:solidFill>
                <a:latin typeface="Calibri"/>
                <a:ea typeface="Calibri"/>
                <a:cs typeface="Calibri"/>
                <a:sym typeface="Calibri"/>
              </a:rPr>
              <a:t>TRANSFORMER LES DONNÉES</a:t>
            </a:r>
            <a:endParaRPr b="0" i="0" sz="1200" u="none" cap="none" strike="noStrike">
              <a:solidFill>
                <a:schemeClr val="dk1"/>
              </a:solidFill>
              <a:latin typeface="Calibri"/>
              <a:ea typeface="Calibri"/>
              <a:cs typeface="Calibri"/>
              <a:sym typeface="Calibri"/>
            </a:endParaRPr>
          </a:p>
        </p:txBody>
      </p:sp>
      <p:sp>
        <p:nvSpPr>
          <p:cNvPr id="288" name="Google Shape;288;p17"/>
          <p:cNvSpPr txBox="1"/>
          <p:nvPr/>
        </p:nvSpPr>
        <p:spPr>
          <a:xfrm>
            <a:off x="1280160" y="457200"/>
            <a:ext cx="10362895" cy="6949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F3A5F"/>
              </a:buClr>
              <a:buSzPts val="3000"/>
              <a:buFont typeface="Cambria"/>
              <a:buNone/>
            </a:pPr>
            <a:r>
              <a:rPr b="1" i="0" lang="en-US" sz="3000" u="none" cap="none" strike="noStrike">
                <a:solidFill>
                  <a:srgbClr val="1F3A5F"/>
                </a:solidFill>
                <a:latin typeface="Cambria"/>
                <a:ea typeface="Cambria"/>
                <a:cs typeface="Cambria"/>
                <a:sym typeface="Cambria"/>
              </a:rPr>
              <a:t>apply : une fonction par ligne</a:t>
            </a:r>
            <a:endParaRPr b="0" i="0" sz="3000" u="none" cap="none" strike="noStrike">
              <a:solidFill>
                <a:schemeClr val="dk1"/>
              </a:solidFill>
              <a:latin typeface="Calibri"/>
              <a:ea typeface="Calibri"/>
              <a:cs typeface="Calibri"/>
              <a:sym typeface="Calibri"/>
            </a:endParaRPr>
          </a:p>
        </p:txBody>
      </p:sp>
      <p:sp>
        <p:nvSpPr>
          <p:cNvPr id="289" name="Google Shape;289;p17"/>
          <p:cNvSpPr/>
          <p:nvPr/>
        </p:nvSpPr>
        <p:spPr>
          <a:xfrm>
            <a:off x="548640" y="1417320"/>
            <a:ext cx="5802117" cy="1266698"/>
          </a:xfrm>
          <a:prstGeom prst="rect">
            <a:avLst/>
          </a:prstGeom>
          <a:solidFill>
            <a:srgbClr val="F3F4F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0" name="Google Shape;290;p17"/>
          <p:cNvSpPr txBox="1"/>
          <p:nvPr/>
        </p:nvSpPr>
        <p:spPr>
          <a:xfrm>
            <a:off x="731520" y="1563624"/>
            <a:ext cx="5436357" cy="97409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F2933"/>
              </a:buClr>
              <a:buSzPts val="1300"/>
              <a:buFont typeface="Courier New"/>
              <a:buNone/>
            </a:pPr>
            <a:r>
              <a:rPr b="0" i="0" lang="en-US" sz="1300" u="none" cap="none" strike="noStrike">
                <a:solidFill>
                  <a:srgbClr val="1F2933"/>
                </a:solidFill>
                <a:latin typeface="Courier New"/>
                <a:ea typeface="Courier New"/>
                <a:cs typeface="Courier New"/>
                <a:sym typeface="Courier New"/>
              </a:rPr>
              <a:t>def libelle(ligne):</a:t>
            </a:r>
            <a:endParaRPr b="0" i="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F2933"/>
              </a:buClr>
              <a:buSzPts val="1300"/>
              <a:buFont typeface="Courier New"/>
              <a:buNone/>
            </a:pPr>
            <a:r>
              <a:rPr b="0" i="0" lang="en-US" sz="1300" u="none" cap="none" strike="noStrike">
                <a:solidFill>
                  <a:srgbClr val="1F2933"/>
                </a:solidFill>
                <a:latin typeface="Courier New"/>
                <a:ea typeface="Courier New"/>
                <a:cs typeface="Courier New"/>
                <a:sym typeface="Courier New"/>
              </a:rPr>
              <a:t>    return f"{ligne['produit']} x{ligne['quantite']}"</a:t>
            </a:r>
            <a:endParaRPr b="0" i="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F2933"/>
              </a:buClr>
              <a:buSzPts val="1300"/>
              <a:buFont typeface="Courier New"/>
              <a:buNone/>
            </a:pPr>
            <a:r>
              <a:rPr b="0" i="0" lang="en-US" sz="1300" u="none" cap="none" strike="noStrike">
                <a:solidFill>
                  <a:srgbClr val="1F2933"/>
                </a:solidFill>
                <a:latin typeface="Courier New"/>
                <a:ea typeface="Courier New"/>
                <a:cs typeface="Courier New"/>
                <a:sym typeface="Courier New"/>
              </a:rPr>
              <a:t> </a:t>
            </a:r>
            <a:endParaRPr b="0" i="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F2933"/>
              </a:buClr>
              <a:buSzPts val="1300"/>
              <a:buFont typeface="Courier New"/>
              <a:buNone/>
            </a:pPr>
            <a:r>
              <a:rPr b="0" i="0" lang="en-US" sz="1300" u="none" cap="none" strike="noStrike">
                <a:solidFill>
                  <a:srgbClr val="1F2933"/>
                </a:solidFill>
                <a:latin typeface="Courier New"/>
                <a:ea typeface="Courier New"/>
                <a:cs typeface="Courier New"/>
                <a:sym typeface="Courier New"/>
              </a:rPr>
              <a:t>df["libelle"] = df.apply(libelle, axis=1)</a:t>
            </a:r>
            <a:endParaRPr b="0" i="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B7280"/>
              </a:buClr>
              <a:buSzPts val="1300"/>
              <a:buFont typeface="Courier New"/>
              <a:buNone/>
            </a:pPr>
            <a:r>
              <a:rPr b="0" i="0" lang="en-US" sz="1300" u="none" cap="none" strike="noStrike">
                <a:solidFill>
                  <a:srgbClr val="6B7280"/>
                </a:solidFill>
                <a:latin typeface="Courier New"/>
                <a:ea typeface="Courier New"/>
                <a:cs typeface="Courier New"/>
                <a:sym typeface="Courier New"/>
              </a:rPr>
              <a:t># "Lampe LED x9"</a:t>
            </a:r>
            <a:endParaRPr b="0" i="0" sz="1300" u="none" cap="none" strike="noStrike">
              <a:solidFill>
                <a:schemeClr val="dk1"/>
              </a:solidFill>
              <a:latin typeface="Calibri"/>
              <a:ea typeface="Calibri"/>
              <a:cs typeface="Calibri"/>
              <a:sym typeface="Calibri"/>
            </a:endParaRPr>
          </a:p>
        </p:txBody>
      </p:sp>
      <p:sp>
        <p:nvSpPr>
          <p:cNvPr id="291" name="Google Shape;291;p17"/>
          <p:cNvSpPr txBox="1"/>
          <p:nvPr/>
        </p:nvSpPr>
        <p:spPr>
          <a:xfrm>
            <a:off x="6807957" y="1417320"/>
            <a:ext cx="4835098" cy="2570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F2933"/>
              </a:buClr>
              <a:buSzPts val="1700"/>
              <a:buFont typeface="Calibri"/>
              <a:buNone/>
            </a:pPr>
            <a:r>
              <a:rPr b="0" i="0" lang="en-US" sz="1700" u="none" cap="none" strike="noStrike">
                <a:solidFill>
                  <a:srgbClr val="1F2933"/>
                </a:solidFill>
                <a:latin typeface="Calibri"/>
                <a:ea typeface="Calibri"/>
                <a:cs typeface="Calibri"/>
                <a:sym typeface="Calibri"/>
              </a:rPr>
              <a:t>Sur une Series : une fonction par valeur, comme </a:t>
            </a:r>
            <a:r>
              <a:rPr b="0" i="0" lang="en-US" sz="1700" u="none" cap="none" strike="noStrike">
                <a:solidFill>
                  <a:srgbClr val="1F3A5F"/>
                </a:solidFill>
                <a:latin typeface="Courier New"/>
                <a:ea typeface="Courier New"/>
                <a:cs typeface="Courier New"/>
                <a:sym typeface="Courier New"/>
              </a:rPr>
              <a:t>map</a:t>
            </a:r>
            <a:endParaRPr b="0" i="0" sz="1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1F2933"/>
              </a:buClr>
              <a:buSzPts val="1700"/>
              <a:buFont typeface="Calibri"/>
              <a:buNone/>
            </a:pPr>
            <a:r>
              <a:rPr b="0" i="0" lang="en-US" sz="1700" u="none" cap="none" strike="noStrike">
                <a:solidFill>
                  <a:srgbClr val="1F2933"/>
                </a:solidFill>
                <a:latin typeface="Calibri"/>
                <a:ea typeface="Calibri"/>
                <a:cs typeface="Calibri"/>
                <a:sym typeface="Calibri"/>
              </a:rPr>
              <a:t>Sur un DataFrame avec </a:t>
            </a:r>
            <a:r>
              <a:rPr b="0" i="0" lang="en-US" sz="1700" u="none" cap="none" strike="noStrike">
                <a:solidFill>
                  <a:srgbClr val="1F3A5F"/>
                </a:solidFill>
                <a:latin typeface="Courier New"/>
                <a:ea typeface="Courier New"/>
                <a:cs typeface="Courier New"/>
                <a:sym typeface="Courier New"/>
              </a:rPr>
              <a:t>axis=1</a:t>
            </a:r>
            <a:r>
              <a:rPr b="0" i="0" lang="en-US" sz="1700" u="none" cap="none" strike="noStrike">
                <a:solidFill>
                  <a:srgbClr val="1F2933"/>
                </a:solidFill>
                <a:latin typeface="Calibri"/>
                <a:ea typeface="Calibri"/>
                <a:cs typeface="Calibri"/>
                <a:sym typeface="Calibri"/>
              </a:rPr>
              <a:t> : une fonction par </a:t>
            </a:r>
            <a:r>
              <a:rPr b="1" i="0" lang="en-US" sz="1700" u="none" cap="none" strike="noStrike">
                <a:solidFill>
                  <a:srgbClr val="1F2933"/>
                </a:solidFill>
                <a:latin typeface="Calibri"/>
                <a:ea typeface="Calibri"/>
                <a:cs typeface="Calibri"/>
                <a:sym typeface="Calibri"/>
              </a:rPr>
              <a:t>ligne</a:t>
            </a:r>
            <a:endParaRPr b="0" i="0" sz="1700" u="none" cap="none" strike="noStrike">
              <a:solidFill>
                <a:schemeClr val="dk1"/>
              </a:solidFill>
              <a:latin typeface="Calibri"/>
              <a:ea typeface="Calibri"/>
              <a:cs typeface="Calibri"/>
              <a:sym typeface="Calibri"/>
            </a:endParaRPr>
          </a:p>
          <a:p>
            <a:pPr indent="-254000" lvl="0" marL="254000" marR="0" rtl="0" algn="l">
              <a:spcBef>
                <a:spcPts val="0"/>
              </a:spcBef>
              <a:spcAft>
                <a:spcPts val="0"/>
              </a:spcAft>
              <a:buClr>
                <a:srgbClr val="1F2933"/>
              </a:buClr>
              <a:buSzPts val="1700"/>
              <a:buFont typeface="Calibri"/>
              <a:buChar char="•"/>
            </a:pPr>
            <a:r>
              <a:rPr b="0" i="0" lang="en-US" sz="1700" u="none" cap="none" strike="noStrike">
                <a:solidFill>
                  <a:srgbClr val="1F2933"/>
                </a:solidFill>
                <a:latin typeface="Calibri"/>
                <a:ea typeface="Calibri"/>
                <a:cs typeface="Calibri"/>
                <a:sym typeface="Calibri"/>
              </a:rPr>
              <a:t>Pratique quand le calcul combine plusieurs colonnes</a:t>
            </a:r>
            <a:endParaRPr b="0" i="0" sz="1700" u="none" cap="none" strike="noStrike">
              <a:solidFill>
                <a:schemeClr val="dk1"/>
              </a:solidFill>
              <a:latin typeface="Calibri"/>
              <a:ea typeface="Calibri"/>
              <a:cs typeface="Calibri"/>
              <a:sym typeface="Calibri"/>
            </a:endParaRPr>
          </a:p>
          <a:p>
            <a:pPr indent="0" lvl="0" marL="0" marR="0" rtl="0" algn="l">
              <a:spcBef>
                <a:spcPts val="800"/>
              </a:spcBef>
              <a:spcAft>
                <a:spcPts val="0"/>
              </a:spcAft>
              <a:buClr>
                <a:srgbClr val="1F2933"/>
              </a:buClr>
              <a:buSzPts val="1700"/>
              <a:buFont typeface="Calibri"/>
              <a:buNone/>
            </a:pPr>
            <a:r>
              <a:rPr b="0" i="0" lang="en-US" sz="1700" u="none" cap="none" strike="noStrike">
                <a:solidFill>
                  <a:srgbClr val="1F2933"/>
                </a:solidFill>
                <a:latin typeface="Calibri"/>
                <a:ea typeface="Calibri"/>
                <a:cs typeface="Calibri"/>
                <a:sym typeface="Calibri"/>
              </a:rPr>
              <a:t>Mais c'est une boucle Python : </a:t>
            </a:r>
            <a:r>
              <a:rPr b="1" i="0" lang="en-US" sz="1700" u="none" cap="none" strike="noStrike">
                <a:solidFill>
                  <a:srgbClr val="1F2933"/>
                </a:solidFill>
                <a:latin typeface="Calibri"/>
                <a:ea typeface="Calibri"/>
                <a:cs typeface="Calibri"/>
                <a:sym typeface="Calibri"/>
              </a:rPr>
              <a:t>lent</a:t>
            </a:r>
            <a:r>
              <a:rPr b="0" i="0" lang="en-US" sz="1700" u="none" cap="none" strike="noStrike">
                <a:solidFill>
                  <a:srgbClr val="1F2933"/>
                </a:solidFill>
                <a:latin typeface="Calibri"/>
                <a:ea typeface="Calibri"/>
                <a:cs typeface="Calibri"/>
                <a:sym typeface="Calibri"/>
              </a:rPr>
              <a:t> sur de gros volumes</a:t>
            </a:r>
            <a:endParaRPr b="0" i="0" sz="1700" u="none" cap="none" strike="noStrike">
              <a:solidFill>
                <a:schemeClr val="dk1"/>
              </a:solidFill>
              <a:latin typeface="Calibri"/>
              <a:ea typeface="Calibri"/>
              <a:cs typeface="Calibri"/>
              <a:sym typeface="Calibri"/>
            </a:endParaRPr>
          </a:p>
        </p:txBody>
      </p:sp>
      <p:sp>
        <p:nvSpPr>
          <p:cNvPr id="292" name="Google Shape;292;p17"/>
          <p:cNvSpPr txBox="1"/>
          <p:nvPr/>
        </p:nvSpPr>
        <p:spPr>
          <a:xfrm>
            <a:off x="548640" y="6400800"/>
            <a:ext cx="73152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B7280"/>
              </a:buClr>
              <a:buSzPts val="1000"/>
              <a:buFont typeface="Calibri"/>
              <a:buNone/>
            </a:pPr>
            <a:r>
              <a:rPr b="0" i="0" lang="en-US" sz="1000" u="none" cap="none" strike="noStrike">
                <a:solidFill>
                  <a:srgbClr val="6B7280"/>
                </a:solidFill>
                <a:latin typeface="Calibri"/>
                <a:ea typeface="Calibri"/>
                <a:cs typeface="Calibri"/>
                <a:sym typeface="Calibri"/>
              </a:rPr>
              <a:t>Analyse de données avec Python   |   Jour 1, après-midi</a:t>
            </a:r>
            <a:endParaRPr b="0" i="0" sz="1000" u="none" cap="none" strike="noStrike">
              <a:solidFill>
                <a:schemeClr val="dk1"/>
              </a:solidFill>
              <a:latin typeface="Calibri"/>
              <a:ea typeface="Calibri"/>
              <a:cs typeface="Calibri"/>
              <a:sym typeface="Calibri"/>
            </a:endParaRPr>
          </a:p>
        </p:txBody>
      </p:sp>
      <p:sp>
        <p:nvSpPr>
          <p:cNvPr id="293" name="Google Shape;293;p17"/>
          <p:cNvSpPr txBox="1"/>
          <p:nvPr>
            <p:ph idx="4294967295" type="sldNum"/>
          </p:nvPr>
        </p:nvSpPr>
        <p:spPr>
          <a:xfrm>
            <a:off x="11094415" y="6400800"/>
            <a:ext cx="548640" cy="27432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000" u="none" cap="none" strike="noStrike">
                <a:solidFill>
                  <a:srgbClr val="6B7280"/>
                </a:solidFill>
                <a:latin typeface="Calibri"/>
                <a:ea typeface="Calibri"/>
                <a:cs typeface="Calibri"/>
                <a:sym typeface="Calibri"/>
              </a:rPr>
              <a:t>‹#›</a:t>
            </a:fld>
            <a:endParaRPr b="0" i="0" sz="1000" u="none" cap="none" strike="noStrike">
              <a:solidFill>
                <a:srgbClr val="6B7280"/>
              </a:solidFill>
              <a:latin typeface="Calibri"/>
              <a:ea typeface="Calibri"/>
              <a:cs typeface="Calibri"/>
              <a:sym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98" name="Shape 298"/>
        <p:cNvGrpSpPr/>
        <p:nvPr/>
      </p:nvGrpSpPr>
      <p:grpSpPr>
        <a:xfrm>
          <a:off x="0" y="0"/>
          <a:ext cx="0" cy="0"/>
          <a:chOff x="0" y="0"/>
          <a:chExt cx="0" cy="0"/>
        </a:xfrm>
      </p:grpSpPr>
      <p:sp>
        <p:nvSpPr>
          <p:cNvPr id="299" name="Google Shape;299;p18"/>
          <p:cNvSpPr/>
          <p:nvPr/>
        </p:nvSpPr>
        <p:spPr>
          <a:xfrm>
            <a:off x="548640" y="566928"/>
            <a:ext cx="475488" cy="475488"/>
          </a:xfrm>
          <a:prstGeom prst="ellipse">
            <a:avLst/>
          </a:prstGeom>
          <a:solidFill>
            <a:srgbClr val="2F7D6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0" name="Google Shape;300;p18"/>
          <p:cNvSpPr txBox="1"/>
          <p:nvPr/>
        </p:nvSpPr>
        <p:spPr>
          <a:xfrm>
            <a:off x="548640" y="566928"/>
            <a:ext cx="475488" cy="47548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2</a:t>
            </a:r>
            <a:endParaRPr b="0" i="0" sz="1600" u="none" cap="none" strike="noStrike">
              <a:solidFill>
                <a:schemeClr val="dk1"/>
              </a:solidFill>
              <a:latin typeface="Calibri"/>
              <a:ea typeface="Calibri"/>
              <a:cs typeface="Calibri"/>
              <a:sym typeface="Calibri"/>
            </a:endParaRPr>
          </a:p>
        </p:txBody>
      </p:sp>
      <p:sp>
        <p:nvSpPr>
          <p:cNvPr id="301" name="Google Shape;301;p18"/>
          <p:cNvSpPr txBox="1"/>
          <p:nvPr/>
        </p:nvSpPr>
        <p:spPr>
          <a:xfrm>
            <a:off x="1280160" y="164592"/>
            <a:ext cx="10362895"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F7D62"/>
              </a:buClr>
              <a:buSzPts val="1200"/>
              <a:buFont typeface="Calibri"/>
              <a:buNone/>
            </a:pPr>
            <a:r>
              <a:rPr b="1" i="0" lang="en-US" sz="1200" u="none" cap="none" strike="noStrike">
                <a:solidFill>
                  <a:srgbClr val="2F7D62"/>
                </a:solidFill>
                <a:latin typeface="Calibri"/>
                <a:ea typeface="Calibri"/>
                <a:cs typeface="Calibri"/>
                <a:sym typeface="Calibri"/>
              </a:rPr>
              <a:t>TRANSFORMER LES DONNÉES</a:t>
            </a:r>
            <a:endParaRPr b="0" i="0" sz="1200" u="none" cap="none" strike="noStrike">
              <a:solidFill>
                <a:schemeClr val="dk1"/>
              </a:solidFill>
              <a:latin typeface="Calibri"/>
              <a:ea typeface="Calibri"/>
              <a:cs typeface="Calibri"/>
              <a:sym typeface="Calibri"/>
            </a:endParaRPr>
          </a:p>
        </p:txBody>
      </p:sp>
      <p:sp>
        <p:nvSpPr>
          <p:cNvPr id="302" name="Google Shape;302;p18"/>
          <p:cNvSpPr txBox="1"/>
          <p:nvPr/>
        </p:nvSpPr>
        <p:spPr>
          <a:xfrm>
            <a:off x="1280160" y="457200"/>
            <a:ext cx="10362895" cy="6949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F3A5F"/>
              </a:buClr>
              <a:buSzPts val="3000"/>
              <a:buFont typeface="Cambria"/>
              <a:buNone/>
            </a:pPr>
            <a:r>
              <a:rPr b="1" i="0" lang="en-US" sz="3000" u="none" cap="none" strike="noStrike">
                <a:solidFill>
                  <a:srgbClr val="1F3A5F"/>
                </a:solidFill>
                <a:latin typeface="Cambria"/>
                <a:ea typeface="Cambria"/>
                <a:cs typeface="Cambria"/>
                <a:sym typeface="Cambria"/>
              </a:rPr>
              <a:t>Du plus rapide au plus lent</a:t>
            </a:r>
            <a:endParaRPr b="0" i="0" sz="3000" u="none" cap="none" strike="noStrike">
              <a:solidFill>
                <a:schemeClr val="dk1"/>
              </a:solidFill>
              <a:latin typeface="Calibri"/>
              <a:ea typeface="Calibri"/>
              <a:cs typeface="Calibri"/>
              <a:sym typeface="Calibri"/>
            </a:endParaRPr>
          </a:p>
        </p:txBody>
      </p:sp>
      <p:sp>
        <p:nvSpPr>
          <p:cNvPr id="303" name="Google Shape;303;p18"/>
          <p:cNvSpPr/>
          <p:nvPr/>
        </p:nvSpPr>
        <p:spPr>
          <a:xfrm>
            <a:off x="548640" y="1417320"/>
            <a:ext cx="3515258" cy="2148840"/>
          </a:xfrm>
          <a:prstGeom prst="roundRect">
            <a:avLst>
              <a:gd fmla="val 3404" name="adj"/>
            </a:avLst>
          </a:prstGeom>
          <a:solidFill>
            <a:srgbClr val="EEF3F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4" name="Google Shape;304;p18"/>
          <p:cNvSpPr/>
          <p:nvPr/>
        </p:nvSpPr>
        <p:spPr>
          <a:xfrm>
            <a:off x="777240" y="1691640"/>
            <a:ext cx="402336" cy="402336"/>
          </a:xfrm>
          <a:prstGeom prst="ellipse">
            <a:avLst/>
          </a:prstGeom>
          <a:solidFill>
            <a:srgbClr val="2F7D6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5" name="Google Shape;305;p18"/>
          <p:cNvSpPr txBox="1"/>
          <p:nvPr/>
        </p:nvSpPr>
        <p:spPr>
          <a:xfrm>
            <a:off x="777240" y="1691640"/>
            <a:ext cx="402336" cy="402336"/>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1</a:t>
            </a:r>
            <a:endParaRPr b="0" i="0" sz="1500" u="none" cap="none" strike="noStrike">
              <a:solidFill>
                <a:schemeClr val="dk1"/>
              </a:solidFill>
              <a:latin typeface="Calibri"/>
              <a:ea typeface="Calibri"/>
              <a:cs typeface="Calibri"/>
              <a:sym typeface="Calibri"/>
            </a:endParaRPr>
          </a:p>
        </p:txBody>
      </p:sp>
      <p:sp>
        <p:nvSpPr>
          <p:cNvPr id="306" name="Google Shape;306;p18"/>
          <p:cNvSpPr txBox="1"/>
          <p:nvPr/>
        </p:nvSpPr>
        <p:spPr>
          <a:xfrm>
            <a:off x="777240" y="2240280"/>
            <a:ext cx="3058058"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F3A5F"/>
              </a:buClr>
              <a:buSzPts val="1800"/>
              <a:buFont typeface="Calibri"/>
              <a:buNone/>
            </a:pPr>
            <a:r>
              <a:rPr b="1" i="0" lang="en-US" sz="1800" u="none" cap="none" strike="noStrike">
                <a:solidFill>
                  <a:srgbClr val="1F3A5F"/>
                </a:solidFill>
                <a:latin typeface="Calibri"/>
                <a:ea typeface="Calibri"/>
                <a:cs typeface="Calibri"/>
                <a:sym typeface="Calibri"/>
              </a:rPr>
              <a:t>Opérations vectorisées</a:t>
            </a:r>
            <a:endParaRPr b="0" i="0" sz="1800" u="none" cap="none" strike="noStrike">
              <a:solidFill>
                <a:schemeClr val="dk1"/>
              </a:solidFill>
              <a:latin typeface="Calibri"/>
              <a:ea typeface="Calibri"/>
              <a:cs typeface="Calibri"/>
              <a:sym typeface="Calibri"/>
            </a:endParaRPr>
          </a:p>
        </p:txBody>
      </p:sp>
      <p:sp>
        <p:nvSpPr>
          <p:cNvPr id="307" name="Google Shape;307;p18"/>
          <p:cNvSpPr txBox="1"/>
          <p:nvPr/>
        </p:nvSpPr>
        <p:spPr>
          <a:xfrm>
            <a:off x="777240" y="2606040"/>
            <a:ext cx="3058058" cy="7772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F2933"/>
              </a:buClr>
              <a:buSzPts val="1500"/>
              <a:buFont typeface="Calibri"/>
              <a:buNone/>
            </a:pPr>
            <a:r>
              <a:rPr b="0" i="0" lang="en-US" sz="1500" u="none" cap="none" strike="noStrike">
                <a:solidFill>
                  <a:srgbClr val="1F2933"/>
                </a:solidFill>
                <a:latin typeface="Calibri"/>
                <a:ea typeface="Calibri"/>
                <a:cs typeface="Calibri"/>
                <a:sym typeface="Calibri"/>
              </a:rPr>
              <a:t>Opérateurs, méthodes pandas, </a:t>
            </a:r>
            <a:r>
              <a:rPr b="0" i="0" lang="en-US" sz="1500" u="none" cap="none" strike="noStrike">
                <a:solidFill>
                  <a:srgbClr val="1F3A5F"/>
                </a:solidFill>
                <a:latin typeface="Courier New"/>
                <a:ea typeface="Courier New"/>
                <a:cs typeface="Courier New"/>
                <a:sym typeface="Courier New"/>
              </a:rPr>
              <a:t>np.where</a:t>
            </a:r>
            <a:r>
              <a:rPr b="0" i="0" lang="en-US" sz="1500" u="none" cap="none" strike="noStrike">
                <a:solidFill>
                  <a:srgbClr val="1F2933"/>
                </a:solidFill>
                <a:latin typeface="Calibri"/>
                <a:ea typeface="Calibri"/>
                <a:cs typeface="Calibri"/>
                <a:sym typeface="Calibri"/>
              </a:rPr>
              <a:t>, accesseurs </a:t>
            </a:r>
            <a:r>
              <a:rPr b="0" i="0" lang="en-US" sz="1500" u="none" cap="none" strike="noStrike">
                <a:solidFill>
                  <a:srgbClr val="1F3A5F"/>
                </a:solidFill>
                <a:latin typeface="Courier New"/>
                <a:ea typeface="Courier New"/>
                <a:cs typeface="Courier New"/>
                <a:sym typeface="Courier New"/>
              </a:rPr>
              <a:t>.str</a:t>
            </a:r>
            <a:r>
              <a:rPr b="0" i="0" lang="en-US" sz="1500" u="none" cap="none" strike="noStrike">
                <a:solidFill>
                  <a:srgbClr val="1F2933"/>
                </a:solidFill>
                <a:latin typeface="Calibri"/>
                <a:ea typeface="Calibri"/>
                <a:cs typeface="Calibri"/>
                <a:sym typeface="Calibri"/>
              </a:rPr>
              <a:t> et </a:t>
            </a:r>
            <a:r>
              <a:rPr b="0" i="0" lang="en-US" sz="1500" u="none" cap="none" strike="noStrike">
                <a:solidFill>
                  <a:srgbClr val="1F3A5F"/>
                </a:solidFill>
                <a:latin typeface="Courier New"/>
                <a:ea typeface="Courier New"/>
                <a:cs typeface="Courier New"/>
                <a:sym typeface="Courier New"/>
              </a:rPr>
              <a:t>.dt</a:t>
            </a:r>
            <a:r>
              <a:rPr b="0" i="0" lang="en-US" sz="1500" u="none" cap="none" strike="noStrike">
                <a:solidFill>
                  <a:srgbClr val="1F2933"/>
                </a:solidFill>
                <a:latin typeface="Calibri"/>
                <a:ea typeface="Calibri"/>
                <a:cs typeface="Calibri"/>
                <a:sym typeface="Calibri"/>
              </a:rPr>
              <a:t>.</a:t>
            </a:r>
            <a:endParaRPr b="0" i="0" sz="1500" u="none" cap="none" strike="noStrike">
              <a:solidFill>
                <a:schemeClr val="dk1"/>
              </a:solidFill>
              <a:latin typeface="Calibri"/>
              <a:ea typeface="Calibri"/>
              <a:cs typeface="Calibri"/>
              <a:sym typeface="Calibri"/>
            </a:endParaRPr>
          </a:p>
        </p:txBody>
      </p:sp>
      <p:sp>
        <p:nvSpPr>
          <p:cNvPr id="308" name="Google Shape;308;p18"/>
          <p:cNvSpPr/>
          <p:nvPr/>
        </p:nvSpPr>
        <p:spPr>
          <a:xfrm>
            <a:off x="4338218" y="1417320"/>
            <a:ext cx="3515258" cy="2148840"/>
          </a:xfrm>
          <a:prstGeom prst="roundRect">
            <a:avLst>
              <a:gd fmla="val 3404" name="adj"/>
            </a:avLst>
          </a:prstGeom>
          <a:solidFill>
            <a:srgbClr val="EEF3F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9" name="Google Shape;309;p18"/>
          <p:cNvSpPr/>
          <p:nvPr/>
        </p:nvSpPr>
        <p:spPr>
          <a:xfrm>
            <a:off x="4566818" y="1691640"/>
            <a:ext cx="402336" cy="402336"/>
          </a:xfrm>
          <a:prstGeom prst="ellipse">
            <a:avLst/>
          </a:prstGeom>
          <a:solidFill>
            <a:srgbClr val="2F7D6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0" name="Google Shape;310;p18"/>
          <p:cNvSpPr txBox="1"/>
          <p:nvPr/>
        </p:nvSpPr>
        <p:spPr>
          <a:xfrm>
            <a:off x="4566818" y="1691640"/>
            <a:ext cx="402336" cy="402336"/>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2</a:t>
            </a:r>
            <a:endParaRPr b="0" i="0" sz="1500" u="none" cap="none" strike="noStrike">
              <a:solidFill>
                <a:schemeClr val="dk1"/>
              </a:solidFill>
              <a:latin typeface="Calibri"/>
              <a:ea typeface="Calibri"/>
              <a:cs typeface="Calibri"/>
              <a:sym typeface="Calibri"/>
            </a:endParaRPr>
          </a:p>
        </p:txBody>
      </p:sp>
      <p:sp>
        <p:nvSpPr>
          <p:cNvPr id="311" name="Google Shape;311;p18"/>
          <p:cNvSpPr txBox="1"/>
          <p:nvPr/>
        </p:nvSpPr>
        <p:spPr>
          <a:xfrm>
            <a:off x="4566818" y="2240280"/>
            <a:ext cx="3058058"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F3A5F"/>
              </a:buClr>
              <a:buSzPts val="1800"/>
              <a:buFont typeface="Calibri"/>
              <a:buNone/>
            </a:pPr>
            <a:r>
              <a:rPr b="1" i="0" lang="en-US" sz="1800" u="none" cap="none" strike="noStrike">
                <a:solidFill>
                  <a:srgbClr val="1F3A5F"/>
                </a:solidFill>
                <a:latin typeface="Calibri"/>
                <a:ea typeface="Calibri"/>
                <a:cs typeface="Calibri"/>
                <a:sym typeface="Calibri"/>
              </a:rPr>
              <a:t>map avec un dictionnaire</a:t>
            </a:r>
            <a:endParaRPr b="0" i="0" sz="1800" u="none" cap="none" strike="noStrike">
              <a:solidFill>
                <a:schemeClr val="dk1"/>
              </a:solidFill>
              <a:latin typeface="Calibri"/>
              <a:ea typeface="Calibri"/>
              <a:cs typeface="Calibri"/>
              <a:sym typeface="Calibri"/>
            </a:endParaRPr>
          </a:p>
        </p:txBody>
      </p:sp>
      <p:sp>
        <p:nvSpPr>
          <p:cNvPr id="312" name="Google Shape;312;p18"/>
          <p:cNvSpPr txBox="1"/>
          <p:nvPr/>
        </p:nvSpPr>
        <p:spPr>
          <a:xfrm>
            <a:off x="4566818" y="2606040"/>
            <a:ext cx="3058058" cy="7772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F2933"/>
              </a:buClr>
              <a:buSzPts val="1500"/>
              <a:buFont typeface="Calibri"/>
              <a:buNone/>
            </a:pPr>
            <a:r>
              <a:rPr b="0" i="0" lang="en-US" sz="1500" u="none" cap="none" strike="noStrike">
                <a:solidFill>
                  <a:srgbClr val="1F2933"/>
                </a:solidFill>
                <a:latin typeface="Calibri"/>
                <a:ea typeface="Calibri"/>
                <a:cs typeface="Calibri"/>
                <a:sym typeface="Calibri"/>
              </a:rPr>
              <a:t>Pour remplacer des valeurs selon une table de correspondance.</a:t>
            </a:r>
            <a:endParaRPr b="0" i="0" sz="1500" u="none" cap="none" strike="noStrike">
              <a:solidFill>
                <a:schemeClr val="dk1"/>
              </a:solidFill>
              <a:latin typeface="Calibri"/>
              <a:ea typeface="Calibri"/>
              <a:cs typeface="Calibri"/>
              <a:sym typeface="Calibri"/>
            </a:endParaRPr>
          </a:p>
        </p:txBody>
      </p:sp>
      <p:sp>
        <p:nvSpPr>
          <p:cNvPr id="313" name="Google Shape;313;p18"/>
          <p:cNvSpPr/>
          <p:nvPr/>
        </p:nvSpPr>
        <p:spPr>
          <a:xfrm>
            <a:off x="8127797" y="1417320"/>
            <a:ext cx="3515258" cy="2148840"/>
          </a:xfrm>
          <a:prstGeom prst="roundRect">
            <a:avLst>
              <a:gd fmla="val 3404" name="adj"/>
            </a:avLst>
          </a:prstGeom>
          <a:solidFill>
            <a:srgbClr val="EEF3F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4" name="Google Shape;314;p18"/>
          <p:cNvSpPr/>
          <p:nvPr/>
        </p:nvSpPr>
        <p:spPr>
          <a:xfrm>
            <a:off x="8356397" y="1691640"/>
            <a:ext cx="402336" cy="402336"/>
          </a:xfrm>
          <a:prstGeom prst="ellipse">
            <a:avLst/>
          </a:prstGeom>
          <a:solidFill>
            <a:srgbClr val="2F7D6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5" name="Google Shape;315;p18"/>
          <p:cNvSpPr txBox="1"/>
          <p:nvPr/>
        </p:nvSpPr>
        <p:spPr>
          <a:xfrm>
            <a:off x="8356397" y="1691640"/>
            <a:ext cx="402336" cy="402336"/>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3</a:t>
            </a:r>
            <a:endParaRPr b="0" i="0" sz="1500" u="none" cap="none" strike="noStrike">
              <a:solidFill>
                <a:schemeClr val="dk1"/>
              </a:solidFill>
              <a:latin typeface="Calibri"/>
              <a:ea typeface="Calibri"/>
              <a:cs typeface="Calibri"/>
              <a:sym typeface="Calibri"/>
            </a:endParaRPr>
          </a:p>
        </p:txBody>
      </p:sp>
      <p:sp>
        <p:nvSpPr>
          <p:cNvPr id="316" name="Google Shape;316;p18"/>
          <p:cNvSpPr txBox="1"/>
          <p:nvPr/>
        </p:nvSpPr>
        <p:spPr>
          <a:xfrm>
            <a:off x="8356397" y="2240280"/>
            <a:ext cx="3058058" cy="5486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F3A5F"/>
              </a:buClr>
              <a:buSzPts val="1800"/>
              <a:buFont typeface="Calibri"/>
              <a:buNone/>
            </a:pPr>
            <a:r>
              <a:rPr b="1" i="0" lang="en-US" sz="1800" u="none" cap="none" strike="noStrike">
                <a:solidFill>
                  <a:srgbClr val="1F3A5F"/>
                </a:solidFill>
                <a:latin typeface="Calibri"/>
                <a:ea typeface="Calibri"/>
                <a:cs typeface="Calibri"/>
                <a:sym typeface="Calibri"/>
              </a:rPr>
              <a:t>map ou apply avec une fonction</a:t>
            </a:r>
            <a:endParaRPr b="0" i="0" sz="1800" u="none" cap="none" strike="noStrike">
              <a:solidFill>
                <a:schemeClr val="dk1"/>
              </a:solidFill>
              <a:latin typeface="Calibri"/>
              <a:ea typeface="Calibri"/>
              <a:cs typeface="Calibri"/>
              <a:sym typeface="Calibri"/>
            </a:endParaRPr>
          </a:p>
        </p:txBody>
      </p:sp>
      <p:sp>
        <p:nvSpPr>
          <p:cNvPr id="317" name="Google Shape;317;p18"/>
          <p:cNvSpPr txBox="1"/>
          <p:nvPr/>
        </p:nvSpPr>
        <p:spPr>
          <a:xfrm>
            <a:off x="8356397" y="2880360"/>
            <a:ext cx="3058058" cy="5029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F2933"/>
              </a:buClr>
              <a:buSzPts val="1500"/>
              <a:buFont typeface="Calibri"/>
              <a:buNone/>
            </a:pPr>
            <a:r>
              <a:rPr b="0" i="0" lang="en-US" sz="1500" u="none" cap="none" strike="noStrike">
                <a:solidFill>
                  <a:srgbClr val="1F2933"/>
                </a:solidFill>
                <a:latin typeface="Calibri"/>
                <a:ea typeface="Calibri"/>
                <a:cs typeface="Calibri"/>
                <a:sym typeface="Calibri"/>
              </a:rPr>
              <a:t>En dernier recours, quand rien d'autre ne convient.</a:t>
            </a:r>
            <a:endParaRPr b="0" i="0" sz="1500" u="none" cap="none" strike="noStrike">
              <a:solidFill>
                <a:schemeClr val="dk1"/>
              </a:solidFill>
              <a:latin typeface="Calibri"/>
              <a:ea typeface="Calibri"/>
              <a:cs typeface="Calibri"/>
              <a:sym typeface="Calibri"/>
            </a:endParaRPr>
          </a:p>
        </p:txBody>
      </p:sp>
      <p:sp>
        <p:nvSpPr>
          <p:cNvPr id="318" name="Google Shape;318;p18"/>
          <p:cNvSpPr txBox="1"/>
          <p:nvPr/>
        </p:nvSpPr>
        <p:spPr>
          <a:xfrm>
            <a:off x="548640" y="3886200"/>
            <a:ext cx="11094415"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B7280"/>
              </a:buClr>
              <a:buSzPts val="1200"/>
              <a:buFont typeface="Calibri"/>
              <a:buNone/>
            </a:pPr>
            <a:r>
              <a:rPr b="0" i="0" lang="en-US" sz="1200" u="none" cap="none" strike="noStrike">
                <a:solidFill>
                  <a:srgbClr val="6B7280"/>
                </a:solidFill>
                <a:latin typeface="Calibri"/>
                <a:ea typeface="Calibri"/>
                <a:cs typeface="Calibri"/>
                <a:sym typeface="Calibri"/>
              </a:rPr>
              <a:t>Le libellé précédent, sans apply</a:t>
            </a:r>
            <a:endParaRPr b="0" i="0" sz="1200" u="none" cap="none" strike="noStrike">
              <a:solidFill>
                <a:schemeClr val="dk1"/>
              </a:solidFill>
              <a:latin typeface="Calibri"/>
              <a:ea typeface="Calibri"/>
              <a:cs typeface="Calibri"/>
              <a:sym typeface="Calibri"/>
            </a:endParaRPr>
          </a:p>
        </p:txBody>
      </p:sp>
      <p:sp>
        <p:nvSpPr>
          <p:cNvPr id="319" name="Google Shape;319;p18"/>
          <p:cNvSpPr/>
          <p:nvPr/>
        </p:nvSpPr>
        <p:spPr>
          <a:xfrm>
            <a:off x="548640" y="4178808"/>
            <a:ext cx="11094415" cy="517398"/>
          </a:xfrm>
          <a:prstGeom prst="rect">
            <a:avLst/>
          </a:prstGeom>
          <a:solidFill>
            <a:srgbClr val="F3F4F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0" name="Google Shape;320;p18"/>
          <p:cNvSpPr txBox="1"/>
          <p:nvPr/>
        </p:nvSpPr>
        <p:spPr>
          <a:xfrm>
            <a:off x="731520" y="4325112"/>
            <a:ext cx="10728655" cy="22479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F2933"/>
              </a:buClr>
              <a:buSzPts val="1500"/>
              <a:buFont typeface="Courier New"/>
              <a:buNone/>
            </a:pPr>
            <a:r>
              <a:rPr b="0" i="0" lang="en-US" sz="1500" u="none" cap="none" strike="noStrike">
                <a:solidFill>
                  <a:srgbClr val="1F2933"/>
                </a:solidFill>
                <a:latin typeface="Courier New"/>
                <a:ea typeface="Courier New"/>
                <a:cs typeface="Courier New"/>
                <a:sym typeface="Courier New"/>
              </a:rPr>
              <a:t>df["libelle"] = df["produit"] + " x" + df["quantite"].astype(str)</a:t>
            </a:r>
            <a:endParaRPr b="0" i="0" sz="1500" u="none" cap="none" strike="noStrike">
              <a:solidFill>
                <a:schemeClr val="dk1"/>
              </a:solidFill>
              <a:latin typeface="Calibri"/>
              <a:ea typeface="Calibri"/>
              <a:cs typeface="Calibri"/>
              <a:sym typeface="Calibri"/>
            </a:endParaRPr>
          </a:p>
        </p:txBody>
      </p:sp>
      <p:sp>
        <p:nvSpPr>
          <p:cNvPr id="321" name="Google Shape;321;p18"/>
          <p:cNvSpPr txBox="1"/>
          <p:nvPr/>
        </p:nvSpPr>
        <p:spPr>
          <a:xfrm>
            <a:off x="548640" y="6400800"/>
            <a:ext cx="73152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B7280"/>
              </a:buClr>
              <a:buSzPts val="1000"/>
              <a:buFont typeface="Calibri"/>
              <a:buNone/>
            </a:pPr>
            <a:r>
              <a:rPr b="0" i="0" lang="en-US" sz="1000" u="none" cap="none" strike="noStrike">
                <a:solidFill>
                  <a:srgbClr val="6B7280"/>
                </a:solidFill>
                <a:latin typeface="Calibri"/>
                <a:ea typeface="Calibri"/>
                <a:cs typeface="Calibri"/>
                <a:sym typeface="Calibri"/>
              </a:rPr>
              <a:t>Analyse de données avec Python   |   Jour 1, après-midi</a:t>
            </a:r>
            <a:endParaRPr b="0" i="0" sz="1000" u="none" cap="none" strike="noStrike">
              <a:solidFill>
                <a:schemeClr val="dk1"/>
              </a:solidFill>
              <a:latin typeface="Calibri"/>
              <a:ea typeface="Calibri"/>
              <a:cs typeface="Calibri"/>
              <a:sym typeface="Calibri"/>
            </a:endParaRPr>
          </a:p>
        </p:txBody>
      </p:sp>
      <p:sp>
        <p:nvSpPr>
          <p:cNvPr id="322" name="Google Shape;322;p18"/>
          <p:cNvSpPr txBox="1"/>
          <p:nvPr>
            <p:ph idx="4294967295" type="sldNum"/>
          </p:nvPr>
        </p:nvSpPr>
        <p:spPr>
          <a:xfrm>
            <a:off x="11094415" y="6400800"/>
            <a:ext cx="548640" cy="27432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000" u="none" cap="none" strike="noStrike">
                <a:solidFill>
                  <a:srgbClr val="6B7280"/>
                </a:solidFill>
                <a:latin typeface="Calibri"/>
                <a:ea typeface="Calibri"/>
                <a:cs typeface="Calibri"/>
                <a:sym typeface="Calibri"/>
              </a:rPr>
              <a:t>‹#›</a:t>
            </a:fld>
            <a:endParaRPr b="0" i="0" sz="1000" u="none" cap="none" strike="noStrike">
              <a:solidFill>
                <a:srgbClr val="6B7280"/>
              </a:solidFill>
              <a:latin typeface="Calibri"/>
              <a:ea typeface="Calibri"/>
              <a:cs typeface="Calibri"/>
              <a:sym typeface="Calibri"/>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27" name="Shape 327"/>
        <p:cNvGrpSpPr/>
        <p:nvPr/>
      </p:nvGrpSpPr>
      <p:grpSpPr>
        <a:xfrm>
          <a:off x="0" y="0"/>
          <a:ext cx="0" cy="0"/>
          <a:chOff x="0" y="0"/>
          <a:chExt cx="0" cy="0"/>
        </a:xfrm>
      </p:grpSpPr>
      <p:sp>
        <p:nvSpPr>
          <p:cNvPr id="328" name="Google Shape;328;p19"/>
          <p:cNvSpPr/>
          <p:nvPr/>
        </p:nvSpPr>
        <p:spPr>
          <a:xfrm>
            <a:off x="548640" y="566928"/>
            <a:ext cx="475488" cy="475488"/>
          </a:xfrm>
          <a:prstGeom prst="ellipse">
            <a:avLst/>
          </a:prstGeom>
          <a:solidFill>
            <a:srgbClr val="2F7D6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9" name="Google Shape;329;p19"/>
          <p:cNvSpPr txBox="1"/>
          <p:nvPr/>
        </p:nvSpPr>
        <p:spPr>
          <a:xfrm>
            <a:off x="548640" y="566928"/>
            <a:ext cx="475488" cy="47548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2</a:t>
            </a:r>
            <a:endParaRPr b="0" i="0" sz="1600" u="none" cap="none" strike="noStrike">
              <a:solidFill>
                <a:schemeClr val="dk1"/>
              </a:solidFill>
              <a:latin typeface="Calibri"/>
              <a:ea typeface="Calibri"/>
              <a:cs typeface="Calibri"/>
              <a:sym typeface="Calibri"/>
            </a:endParaRPr>
          </a:p>
        </p:txBody>
      </p:sp>
      <p:sp>
        <p:nvSpPr>
          <p:cNvPr id="330" name="Google Shape;330;p19"/>
          <p:cNvSpPr txBox="1"/>
          <p:nvPr/>
        </p:nvSpPr>
        <p:spPr>
          <a:xfrm>
            <a:off x="1280160" y="164592"/>
            <a:ext cx="10362895"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F7D62"/>
              </a:buClr>
              <a:buSzPts val="1200"/>
              <a:buFont typeface="Calibri"/>
              <a:buNone/>
            </a:pPr>
            <a:r>
              <a:rPr b="1" i="0" lang="en-US" sz="1200" u="none" cap="none" strike="noStrike">
                <a:solidFill>
                  <a:srgbClr val="2F7D62"/>
                </a:solidFill>
                <a:latin typeface="Calibri"/>
                <a:ea typeface="Calibri"/>
                <a:cs typeface="Calibri"/>
                <a:sym typeface="Calibri"/>
              </a:rPr>
              <a:t>TRANSFORMER LES DONNÉES</a:t>
            </a:r>
            <a:endParaRPr b="0" i="0" sz="1200" u="none" cap="none" strike="noStrike">
              <a:solidFill>
                <a:schemeClr val="dk1"/>
              </a:solidFill>
              <a:latin typeface="Calibri"/>
              <a:ea typeface="Calibri"/>
              <a:cs typeface="Calibri"/>
              <a:sym typeface="Calibri"/>
            </a:endParaRPr>
          </a:p>
        </p:txBody>
      </p:sp>
      <p:sp>
        <p:nvSpPr>
          <p:cNvPr id="331" name="Google Shape;331;p19"/>
          <p:cNvSpPr txBox="1"/>
          <p:nvPr/>
        </p:nvSpPr>
        <p:spPr>
          <a:xfrm>
            <a:off x="1280160" y="457200"/>
            <a:ext cx="10362895" cy="6949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F3A5F"/>
              </a:buClr>
              <a:buSzPts val="3000"/>
              <a:buFont typeface="Cambria"/>
              <a:buNone/>
            </a:pPr>
            <a:r>
              <a:rPr b="1" i="0" lang="en-US" sz="3000" u="none" cap="none" strike="noStrike">
                <a:solidFill>
                  <a:srgbClr val="1F3A5F"/>
                </a:solidFill>
                <a:latin typeface="Cambria"/>
                <a:ea typeface="Cambria"/>
                <a:cs typeface="Cambria"/>
                <a:sym typeface="Cambria"/>
              </a:rPr>
              <a:t>Découper en tranches avec pd.cut</a:t>
            </a:r>
            <a:endParaRPr b="0" i="0" sz="3000" u="none" cap="none" strike="noStrike">
              <a:solidFill>
                <a:schemeClr val="dk1"/>
              </a:solidFill>
              <a:latin typeface="Calibri"/>
              <a:ea typeface="Calibri"/>
              <a:cs typeface="Calibri"/>
              <a:sym typeface="Calibri"/>
            </a:endParaRPr>
          </a:p>
        </p:txBody>
      </p:sp>
      <p:sp>
        <p:nvSpPr>
          <p:cNvPr id="332" name="Google Shape;332;p19"/>
          <p:cNvSpPr/>
          <p:nvPr/>
        </p:nvSpPr>
        <p:spPr>
          <a:xfrm>
            <a:off x="548640" y="1417320"/>
            <a:ext cx="6205042" cy="1266698"/>
          </a:xfrm>
          <a:prstGeom prst="rect">
            <a:avLst/>
          </a:prstGeom>
          <a:solidFill>
            <a:srgbClr val="F3F4F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3" name="Google Shape;333;p19"/>
          <p:cNvSpPr txBox="1"/>
          <p:nvPr/>
        </p:nvSpPr>
        <p:spPr>
          <a:xfrm>
            <a:off x="731520" y="1563624"/>
            <a:ext cx="5839282" cy="97409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F2933"/>
              </a:buClr>
              <a:buSzPts val="1300"/>
              <a:buFont typeface="Courier New"/>
              <a:buNone/>
            </a:pPr>
            <a:r>
              <a:rPr b="0" i="0" lang="en-US" sz="1300" u="none" cap="none" strike="noStrike">
                <a:solidFill>
                  <a:srgbClr val="1F2933"/>
                </a:solidFill>
                <a:latin typeface="Courier New"/>
                <a:ea typeface="Courier New"/>
                <a:cs typeface="Courier New"/>
                <a:sym typeface="Courier New"/>
              </a:rPr>
              <a:t>df["gamme"] = pd.cut(</a:t>
            </a:r>
            <a:endParaRPr b="0" i="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F2933"/>
              </a:buClr>
              <a:buSzPts val="1300"/>
              <a:buFont typeface="Courier New"/>
              <a:buNone/>
            </a:pPr>
            <a:r>
              <a:rPr b="0" i="0" lang="en-US" sz="1300" u="none" cap="none" strike="noStrike">
                <a:solidFill>
                  <a:srgbClr val="1F2933"/>
                </a:solidFill>
                <a:latin typeface="Courier New"/>
                <a:ea typeface="Courier New"/>
                <a:cs typeface="Courier New"/>
                <a:sym typeface="Courier New"/>
              </a:rPr>
              <a:t>    df["Prix unitaire"],</a:t>
            </a:r>
            <a:endParaRPr b="0" i="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F2933"/>
              </a:buClr>
              <a:buSzPts val="1300"/>
              <a:buFont typeface="Courier New"/>
              <a:buNone/>
            </a:pPr>
            <a:r>
              <a:rPr b="0" i="0" lang="en-US" sz="1300" u="none" cap="none" strike="noStrike">
                <a:solidFill>
                  <a:srgbClr val="1F2933"/>
                </a:solidFill>
                <a:latin typeface="Courier New"/>
                <a:ea typeface="Courier New"/>
                <a:cs typeface="Courier New"/>
                <a:sym typeface="Courier New"/>
              </a:rPr>
              <a:t>    bins=[0, 30, 100, 500],</a:t>
            </a:r>
            <a:endParaRPr b="0" i="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F2933"/>
              </a:buClr>
              <a:buSzPts val="1300"/>
              <a:buFont typeface="Courier New"/>
              <a:buNone/>
            </a:pPr>
            <a:r>
              <a:rPr b="0" i="0" lang="en-US" sz="1300" u="none" cap="none" strike="noStrike">
                <a:solidFill>
                  <a:srgbClr val="1F2933"/>
                </a:solidFill>
                <a:latin typeface="Courier New"/>
                <a:ea typeface="Courier New"/>
                <a:cs typeface="Courier New"/>
                <a:sym typeface="Courier New"/>
              </a:rPr>
              <a:t>    labels=["petit prix", "prix moyen", "haut de gamme"],</a:t>
            </a:r>
            <a:endParaRPr b="0" i="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F2933"/>
              </a:buClr>
              <a:buSzPts val="1300"/>
              <a:buFont typeface="Courier New"/>
              <a:buNone/>
            </a:pPr>
            <a:r>
              <a:rPr b="0" i="0" lang="en-US" sz="1300" u="none" cap="none" strike="noStrike">
                <a:solidFill>
                  <a:srgbClr val="1F2933"/>
                </a:solidFill>
                <a:latin typeface="Courier New"/>
                <a:ea typeface="Courier New"/>
                <a:cs typeface="Courier New"/>
                <a:sym typeface="Courier New"/>
              </a:rPr>
              <a:t>)</a:t>
            </a:r>
            <a:endParaRPr b="0" i="0" sz="1300" u="none" cap="none" strike="noStrike">
              <a:solidFill>
                <a:schemeClr val="dk1"/>
              </a:solidFill>
              <a:latin typeface="Calibri"/>
              <a:ea typeface="Calibri"/>
              <a:cs typeface="Calibri"/>
              <a:sym typeface="Calibri"/>
            </a:endParaRPr>
          </a:p>
        </p:txBody>
      </p:sp>
      <p:sp>
        <p:nvSpPr>
          <p:cNvPr id="334" name="Google Shape;334;p19"/>
          <p:cNvSpPr txBox="1"/>
          <p:nvPr/>
        </p:nvSpPr>
        <p:spPr>
          <a:xfrm>
            <a:off x="548640" y="3004058"/>
            <a:ext cx="6205042" cy="6248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F3A5F"/>
              </a:buClr>
              <a:buSzPts val="1600"/>
              <a:buFont typeface="Courier New"/>
              <a:buNone/>
            </a:pPr>
            <a:r>
              <a:rPr b="0" i="0" lang="en-US" sz="1600" u="none" cap="none" strike="noStrike">
                <a:solidFill>
                  <a:srgbClr val="1F3A5F"/>
                </a:solidFill>
                <a:latin typeface="Courier New"/>
                <a:ea typeface="Courier New"/>
                <a:cs typeface="Courier New"/>
                <a:sym typeface="Courier New"/>
              </a:rPr>
              <a:t>np.where</a:t>
            </a:r>
            <a:r>
              <a:rPr b="0" i="0" lang="en-US" sz="1600" u="none" cap="none" strike="noStrike">
                <a:solidFill>
                  <a:srgbClr val="6B7280"/>
                </a:solidFill>
                <a:latin typeface="Calibri"/>
                <a:ea typeface="Calibri"/>
                <a:cs typeface="Calibri"/>
                <a:sym typeface="Calibri"/>
              </a:rPr>
              <a:t> choisit entre deux valeurs. </a:t>
            </a:r>
            <a:r>
              <a:rPr b="0" i="0" lang="en-US" sz="1600" u="none" cap="none" strike="noStrike">
                <a:solidFill>
                  <a:srgbClr val="1F3A5F"/>
                </a:solidFill>
                <a:latin typeface="Courier New"/>
                <a:ea typeface="Courier New"/>
                <a:cs typeface="Courier New"/>
                <a:sym typeface="Courier New"/>
              </a:rPr>
              <a:t>pd.cut</a:t>
            </a:r>
            <a:r>
              <a:rPr b="0" i="0" lang="en-US" sz="1600" u="none" cap="none" strike="noStrike">
                <a:solidFill>
                  <a:srgbClr val="6B7280"/>
                </a:solidFill>
                <a:latin typeface="Calibri"/>
                <a:ea typeface="Calibri"/>
                <a:cs typeface="Calibri"/>
                <a:sym typeface="Calibri"/>
              </a:rPr>
              <a:t> range une valeur numérique dans plus de deux classes, selon des bornes.</a:t>
            </a:r>
            <a:endParaRPr b="0" i="0" sz="1600" u="none" cap="none" strike="noStrike">
              <a:solidFill>
                <a:schemeClr val="dk1"/>
              </a:solidFill>
              <a:latin typeface="Calibri"/>
              <a:ea typeface="Calibri"/>
              <a:cs typeface="Calibri"/>
              <a:sym typeface="Calibri"/>
            </a:endParaRPr>
          </a:p>
        </p:txBody>
      </p:sp>
      <p:graphicFrame>
        <p:nvGraphicFramePr>
          <p:cNvPr id="335" name="Google Shape;335;p19"/>
          <p:cNvGraphicFramePr/>
          <p:nvPr/>
        </p:nvGraphicFramePr>
        <p:xfrm>
          <a:off x="7210882" y="1417320"/>
          <a:ext cx="3000000" cy="3000000"/>
        </p:xfrm>
        <a:graphic>
          <a:graphicData uri="http://schemas.openxmlformats.org/drawingml/2006/table">
            <a:tbl>
              <a:tblPr>
                <a:noFill/>
                <a:tableStyleId>{5790C458-BB61-4800-A068-DD2F3961D878}</a:tableStyleId>
              </a:tblPr>
              <a:tblGrid>
                <a:gridCol w="1927025"/>
                <a:gridCol w="2505150"/>
              </a:tblGrid>
              <a:tr h="365375">
                <a:tc>
                  <a:txBody>
                    <a:bodyPr/>
                    <a:lstStyle/>
                    <a:p>
                      <a:pPr indent="0" lvl="0" marL="0" marR="0" rtl="0" algn="l">
                        <a:spcBef>
                          <a:spcPts val="0"/>
                        </a:spcBef>
                        <a:spcAft>
                          <a:spcPts val="0"/>
                        </a:spcAft>
                        <a:buClr>
                          <a:srgbClr val="FFFFFF"/>
                        </a:buClr>
                        <a:buSzPts val="1500"/>
                        <a:buFont typeface="Calibri"/>
                        <a:buNone/>
                      </a:pPr>
                      <a:r>
                        <a:rPr b="1" lang="en-US" sz="1500" u="none" cap="none" strike="noStrike">
                          <a:solidFill>
                            <a:srgbClr val="FFFFFF"/>
                          </a:solidFill>
                          <a:latin typeface="Calibri"/>
                          <a:ea typeface="Calibri"/>
                          <a:cs typeface="Calibri"/>
                          <a:sym typeface="Calibri"/>
                        </a:rPr>
                        <a:t>Prix unitaire</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1F3A5F"/>
                    </a:solidFill>
                  </a:tcPr>
                </a:tc>
                <a:tc>
                  <a:txBody>
                    <a:bodyPr/>
                    <a:lstStyle/>
                    <a:p>
                      <a:pPr indent="0" lvl="0" marL="0" marR="0" rtl="0" algn="l">
                        <a:spcBef>
                          <a:spcPts val="0"/>
                        </a:spcBef>
                        <a:spcAft>
                          <a:spcPts val="0"/>
                        </a:spcAft>
                        <a:buClr>
                          <a:srgbClr val="FFFFFF"/>
                        </a:buClr>
                        <a:buSzPts val="1500"/>
                        <a:buFont typeface="Calibri"/>
                        <a:buNone/>
                      </a:pPr>
                      <a:r>
                        <a:rPr b="1" lang="en-US" sz="1500" u="none" cap="none" strike="noStrike">
                          <a:solidFill>
                            <a:srgbClr val="FFFFFF"/>
                          </a:solidFill>
                          <a:latin typeface="Calibri"/>
                          <a:ea typeface="Calibri"/>
                          <a:cs typeface="Calibri"/>
                          <a:sym typeface="Calibri"/>
                        </a:rPr>
                        <a:t>gamme</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1F3A5F"/>
                    </a:solidFill>
                  </a:tcPr>
                </a:tc>
              </a:tr>
              <a:tr h="365375">
                <a:tc>
                  <a:txBody>
                    <a:bodyPr/>
                    <a:lstStyle/>
                    <a:p>
                      <a:pPr indent="0" lvl="0" marL="0" marR="0" rtl="0" algn="l">
                        <a:spcBef>
                          <a:spcPts val="0"/>
                        </a:spcBef>
                        <a:spcAft>
                          <a:spcPts val="0"/>
                        </a:spcAft>
                        <a:buClr>
                          <a:srgbClr val="1F2933"/>
                        </a:buClr>
                        <a:buSzPts val="1500"/>
                        <a:buFont typeface="Calibri"/>
                        <a:buNone/>
                      </a:pPr>
                      <a:r>
                        <a:rPr lang="en-US" sz="1500" u="none" cap="none" strike="noStrike">
                          <a:solidFill>
                            <a:srgbClr val="1F2933"/>
                          </a:solidFill>
                          <a:latin typeface="Calibri"/>
                          <a:ea typeface="Calibri"/>
                          <a:cs typeface="Calibri"/>
                          <a:sym typeface="Calibri"/>
                        </a:rPr>
                        <a:t>30</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F2933"/>
                        </a:buClr>
                        <a:buSzPts val="1500"/>
                        <a:buFont typeface="Calibri"/>
                        <a:buNone/>
                      </a:pPr>
                      <a:r>
                        <a:rPr lang="en-US" sz="1500" u="none" cap="none" strike="noStrike">
                          <a:solidFill>
                            <a:srgbClr val="1F2933"/>
                          </a:solidFill>
                          <a:latin typeface="Calibri"/>
                          <a:ea typeface="Calibri"/>
                          <a:cs typeface="Calibri"/>
                          <a:sym typeface="Calibri"/>
                        </a:rPr>
                        <a:t>petit prix</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FFFFF"/>
                    </a:solidFill>
                  </a:tcPr>
                </a:tc>
              </a:tr>
              <a:tr h="365375">
                <a:tc>
                  <a:txBody>
                    <a:bodyPr/>
                    <a:lstStyle/>
                    <a:p>
                      <a:pPr indent="0" lvl="0" marL="0" marR="0" rtl="0" algn="l">
                        <a:spcBef>
                          <a:spcPts val="0"/>
                        </a:spcBef>
                        <a:spcAft>
                          <a:spcPts val="0"/>
                        </a:spcAft>
                        <a:buClr>
                          <a:srgbClr val="1F2933"/>
                        </a:buClr>
                        <a:buSzPts val="1500"/>
                        <a:buFont typeface="Calibri"/>
                        <a:buNone/>
                      </a:pPr>
                      <a:r>
                        <a:rPr lang="en-US" sz="1500" u="none" cap="none" strike="noStrike">
                          <a:solidFill>
                            <a:srgbClr val="1F2933"/>
                          </a:solidFill>
                          <a:latin typeface="Calibri"/>
                          <a:ea typeface="Calibri"/>
                          <a:cs typeface="Calibri"/>
                          <a:sym typeface="Calibri"/>
                        </a:rPr>
                        <a:t>30,01</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7F9FB"/>
                    </a:solidFill>
                  </a:tcPr>
                </a:tc>
                <a:tc>
                  <a:txBody>
                    <a:bodyPr/>
                    <a:lstStyle/>
                    <a:p>
                      <a:pPr indent="0" lvl="0" marL="0" marR="0" rtl="0" algn="l">
                        <a:spcBef>
                          <a:spcPts val="0"/>
                        </a:spcBef>
                        <a:spcAft>
                          <a:spcPts val="0"/>
                        </a:spcAft>
                        <a:buClr>
                          <a:srgbClr val="1F2933"/>
                        </a:buClr>
                        <a:buSzPts val="1500"/>
                        <a:buFont typeface="Calibri"/>
                        <a:buNone/>
                      </a:pPr>
                      <a:r>
                        <a:rPr lang="en-US" sz="1500" u="none" cap="none" strike="noStrike">
                          <a:solidFill>
                            <a:srgbClr val="1F2933"/>
                          </a:solidFill>
                          <a:latin typeface="Calibri"/>
                          <a:ea typeface="Calibri"/>
                          <a:cs typeface="Calibri"/>
                          <a:sym typeface="Calibri"/>
                        </a:rPr>
                        <a:t>prix moyen</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7F9FB"/>
                    </a:solidFill>
                  </a:tcPr>
                </a:tc>
              </a:tr>
              <a:tr h="365375">
                <a:tc>
                  <a:txBody>
                    <a:bodyPr/>
                    <a:lstStyle/>
                    <a:p>
                      <a:pPr indent="0" lvl="0" marL="0" marR="0" rtl="0" algn="l">
                        <a:spcBef>
                          <a:spcPts val="0"/>
                        </a:spcBef>
                        <a:spcAft>
                          <a:spcPts val="0"/>
                        </a:spcAft>
                        <a:buClr>
                          <a:srgbClr val="1F2933"/>
                        </a:buClr>
                        <a:buSzPts val="1500"/>
                        <a:buFont typeface="Calibri"/>
                        <a:buNone/>
                      </a:pPr>
                      <a:r>
                        <a:rPr lang="en-US" sz="1500" u="none" cap="none" strike="noStrike">
                          <a:solidFill>
                            <a:srgbClr val="1F2933"/>
                          </a:solidFill>
                          <a:latin typeface="Calibri"/>
                          <a:ea typeface="Calibri"/>
                          <a:cs typeface="Calibri"/>
                          <a:sym typeface="Calibri"/>
                        </a:rPr>
                        <a:t>189</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F2933"/>
                        </a:buClr>
                        <a:buSzPts val="1500"/>
                        <a:buFont typeface="Calibri"/>
                        <a:buNone/>
                      </a:pPr>
                      <a:r>
                        <a:rPr lang="en-US" sz="1500" u="none" cap="none" strike="noStrike">
                          <a:solidFill>
                            <a:srgbClr val="1F2933"/>
                          </a:solidFill>
                          <a:latin typeface="Calibri"/>
                          <a:ea typeface="Calibri"/>
                          <a:cs typeface="Calibri"/>
                          <a:sym typeface="Calibri"/>
                        </a:rPr>
                        <a:t>haut de gamme</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FFFFF"/>
                    </a:solidFill>
                  </a:tcPr>
                </a:tc>
              </a:tr>
              <a:tr h="365375">
                <a:tc>
                  <a:txBody>
                    <a:bodyPr/>
                    <a:lstStyle/>
                    <a:p>
                      <a:pPr indent="0" lvl="0" marL="0" marR="0" rtl="0" algn="l">
                        <a:spcBef>
                          <a:spcPts val="0"/>
                        </a:spcBef>
                        <a:spcAft>
                          <a:spcPts val="0"/>
                        </a:spcAft>
                        <a:buClr>
                          <a:srgbClr val="1F2933"/>
                        </a:buClr>
                        <a:buSzPts val="1500"/>
                        <a:buFont typeface="Calibri"/>
                        <a:buNone/>
                      </a:pPr>
                      <a:r>
                        <a:rPr lang="en-US" sz="1500" u="none" cap="none" strike="noStrike">
                          <a:solidFill>
                            <a:srgbClr val="1F2933"/>
                          </a:solidFill>
                          <a:latin typeface="Calibri"/>
                          <a:ea typeface="Calibri"/>
                          <a:cs typeface="Calibri"/>
                          <a:sym typeface="Calibri"/>
                        </a:rPr>
                        <a:t>0 ou 12 999</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7F9FB"/>
                    </a:solidFill>
                  </a:tcPr>
                </a:tc>
                <a:tc>
                  <a:txBody>
                    <a:bodyPr/>
                    <a:lstStyle/>
                    <a:p>
                      <a:pPr indent="0" lvl="0" marL="0" marR="0" rtl="0" algn="l">
                        <a:spcBef>
                          <a:spcPts val="0"/>
                        </a:spcBef>
                        <a:spcAft>
                          <a:spcPts val="0"/>
                        </a:spcAft>
                        <a:buClr>
                          <a:srgbClr val="1F3A5F"/>
                        </a:buClr>
                        <a:buSzPts val="1500"/>
                        <a:buFont typeface="Courier New"/>
                        <a:buNone/>
                      </a:pPr>
                      <a:r>
                        <a:rPr lang="en-US" sz="1500" u="none" cap="none" strike="noStrike">
                          <a:solidFill>
                            <a:srgbClr val="1F3A5F"/>
                          </a:solidFill>
                          <a:latin typeface="Courier New"/>
                          <a:ea typeface="Courier New"/>
                          <a:cs typeface="Courier New"/>
                          <a:sym typeface="Courier New"/>
                        </a:rPr>
                        <a:t>NaN</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7F9FB"/>
                    </a:solidFill>
                  </a:tcPr>
                </a:tc>
              </a:tr>
            </a:tbl>
          </a:graphicData>
        </a:graphic>
      </p:graphicFrame>
      <p:sp>
        <p:nvSpPr>
          <p:cNvPr id="336" name="Google Shape;336;p19"/>
          <p:cNvSpPr txBox="1"/>
          <p:nvPr/>
        </p:nvSpPr>
        <p:spPr>
          <a:xfrm>
            <a:off x="7210882" y="3564255"/>
            <a:ext cx="4432173" cy="5943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B7280"/>
              </a:buClr>
              <a:buSzPts val="1500"/>
              <a:buFont typeface="Calibri"/>
              <a:buNone/>
            </a:pPr>
            <a:r>
              <a:rPr b="0" i="0" lang="en-US" sz="1500" u="none" cap="none" strike="noStrike">
                <a:solidFill>
                  <a:srgbClr val="6B7280"/>
                </a:solidFill>
                <a:latin typeface="Calibri"/>
                <a:ea typeface="Calibri"/>
                <a:cs typeface="Calibri"/>
                <a:sym typeface="Calibri"/>
              </a:rPr>
              <a:t>Borne de droite incluse, borne de gauche exclue. Le résultat est de type </a:t>
            </a:r>
            <a:r>
              <a:rPr b="0" i="0" lang="en-US" sz="1500" u="none" cap="none" strike="noStrike">
                <a:solidFill>
                  <a:srgbClr val="1F3A5F"/>
                </a:solidFill>
                <a:latin typeface="Courier New"/>
                <a:ea typeface="Courier New"/>
                <a:cs typeface="Courier New"/>
                <a:sym typeface="Courier New"/>
              </a:rPr>
              <a:t>category</a:t>
            </a:r>
            <a:r>
              <a:rPr b="0" i="0" lang="en-US" sz="1500" u="none" cap="none" strike="noStrike">
                <a:solidFill>
                  <a:srgbClr val="6B7280"/>
                </a:solidFill>
                <a:latin typeface="Calibri"/>
                <a:ea typeface="Calibri"/>
                <a:cs typeface="Calibri"/>
                <a:sym typeface="Calibri"/>
              </a:rPr>
              <a:t>.</a:t>
            </a:r>
            <a:endParaRPr b="0" i="0" sz="1500" u="none" cap="none" strike="noStrike">
              <a:solidFill>
                <a:schemeClr val="dk1"/>
              </a:solidFill>
              <a:latin typeface="Calibri"/>
              <a:ea typeface="Calibri"/>
              <a:cs typeface="Calibri"/>
              <a:sym typeface="Calibri"/>
            </a:endParaRPr>
          </a:p>
        </p:txBody>
      </p:sp>
      <p:sp>
        <p:nvSpPr>
          <p:cNvPr id="337" name="Google Shape;337;p19"/>
          <p:cNvSpPr txBox="1"/>
          <p:nvPr/>
        </p:nvSpPr>
        <p:spPr>
          <a:xfrm>
            <a:off x="548640" y="6400800"/>
            <a:ext cx="73152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B7280"/>
              </a:buClr>
              <a:buSzPts val="1000"/>
              <a:buFont typeface="Calibri"/>
              <a:buNone/>
            </a:pPr>
            <a:r>
              <a:rPr b="0" i="0" lang="en-US" sz="1000" u="none" cap="none" strike="noStrike">
                <a:solidFill>
                  <a:srgbClr val="6B7280"/>
                </a:solidFill>
                <a:latin typeface="Calibri"/>
                <a:ea typeface="Calibri"/>
                <a:cs typeface="Calibri"/>
                <a:sym typeface="Calibri"/>
              </a:rPr>
              <a:t>Analyse de données avec Python   |   Jour 1, après-midi</a:t>
            </a:r>
            <a:endParaRPr b="0" i="0" sz="1000" u="none" cap="none" strike="noStrike">
              <a:solidFill>
                <a:schemeClr val="dk1"/>
              </a:solidFill>
              <a:latin typeface="Calibri"/>
              <a:ea typeface="Calibri"/>
              <a:cs typeface="Calibri"/>
              <a:sym typeface="Calibri"/>
            </a:endParaRPr>
          </a:p>
        </p:txBody>
      </p:sp>
      <p:sp>
        <p:nvSpPr>
          <p:cNvPr id="338" name="Google Shape;338;p19"/>
          <p:cNvSpPr txBox="1"/>
          <p:nvPr>
            <p:ph idx="4294967295" type="sldNum"/>
          </p:nvPr>
        </p:nvSpPr>
        <p:spPr>
          <a:xfrm>
            <a:off x="11094415" y="6400800"/>
            <a:ext cx="548640" cy="27432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000" u="none" cap="none" strike="noStrike">
                <a:solidFill>
                  <a:srgbClr val="6B7280"/>
                </a:solidFill>
                <a:latin typeface="Calibri"/>
                <a:ea typeface="Calibri"/>
                <a:cs typeface="Calibri"/>
                <a:sym typeface="Calibri"/>
              </a:rPr>
              <a:t>‹#›</a:t>
            </a:fld>
            <a:endParaRPr b="0" i="0" sz="1000" u="none" cap="none" strike="noStrike">
              <a:solidFill>
                <a:srgbClr val="6B7280"/>
              </a:solidFill>
              <a:latin typeface="Calibri"/>
              <a:ea typeface="Calibri"/>
              <a:cs typeface="Calibri"/>
              <a:sym typeface="Calibri"/>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43" name="Shape 343"/>
        <p:cNvGrpSpPr/>
        <p:nvPr/>
      </p:nvGrpSpPr>
      <p:grpSpPr>
        <a:xfrm>
          <a:off x="0" y="0"/>
          <a:ext cx="0" cy="0"/>
          <a:chOff x="0" y="0"/>
          <a:chExt cx="0" cy="0"/>
        </a:xfrm>
      </p:grpSpPr>
      <p:sp>
        <p:nvSpPr>
          <p:cNvPr id="344" name="Google Shape;344;p20"/>
          <p:cNvSpPr/>
          <p:nvPr/>
        </p:nvSpPr>
        <p:spPr>
          <a:xfrm>
            <a:off x="548640" y="566928"/>
            <a:ext cx="475488" cy="475488"/>
          </a:xfrm>
          <a:prstGeom prst="ellipse">
            <a:avLst/>
          </a:prstGeom>
          <a:solidFill>
            <a:srgbClr val="2F7D6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5" name="Google Shape;345;p20"/>
          <p:cNvSpPr txBox="1"/>
          <p:nvPr/>
        </p:nvSpPr>
        <p:spPr>
          <a:xfrm>
            <a:off x="548640" y="566928"/>
            <a:ext cx="475488" cy="47548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2</a:t>
            </a:r>
            <a:endParaRPr b="0" i="0" sz="1600" u="none" cap="none" strike="noStrike">
              <a:solidFill>
                <a:schemeClr val="dk1"/>
              </a:solidFill>
              <a:latin typeface="Calibri"/>
              <a:ea typeface="Calibri"/>
              <a:cs typeface="Calibri"/>
              <a:sym typeface="Calibri"/>
            </a:endParaRPr>
          </a:p>
        </p:txBody>
      </p:sp>
      <p:sp>
        <p:nvSpPr>
          <p:cNvPr id="346" name="Google Shape;346;p20"/>
          <p:cNvSpPr txBox="1"/>
          <p:nvPr/>
        </p:nvSpPr>
        <p:spPr>
          <a:xfrm>
            <a:off x="1280160" y="164592"/>
            <a:ext cx="10362895"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F7D62"/>
              </a:buClr>
              <a:buSzPts val="1200"/>
              <a:buFont typeface="Calibri"/>
              <a:buNone/>
            </a:pPr>
            <a:r>
              <a:rPr b="1" i="0" lang="en-US" sz="1200" u="none" cap="none" strike="noStrike">
                <a:solidFill>
                  <a:srgbClr val="2F7D62"/>
                </a:solidFill>
                <a:latin typeface="Calibri"/>
                <a:ea typeface="Calibri"/>
                <a:cs typeface="Calibri"/>
                <a:sym typeface="Calibri"/>
              </a:rPr>
              <a:t>TRANSFORMER LES DONNÉES</a:t>
            </a:r>
            <a:endParaRPr b="0" i="0" sz="1200" u="none" cap="none" strike="noStrike">
              <a:solidFill>
                <a:schemeClr val="dk1"/>
              </a:solidFill>
              <a:latin typeface="Calibri"/>
              <a:ea typeface="Calibri"/>
              <a:cs typeface="Calibri"/>
              <a:sym typeface="Calibri"/>
            </a:endParaRPr>
          </a:p>
        </p:txBody>
      </p:sp>
      <p:sp>
        <p:nvSpPr>
          <p:cNvPr id="347" name="Google Shape;347;p20"/>
          <p:cNvSpPr txBox="1"/>
          <p:nvPr/>
        </p:nvSpPr>
        <p:spPr>
          <a:xfrm>
            <a:off x="1280160" y="457200"/>
            <a:ext cx="10362895" cy="6949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F3A5F"/>
              </a:buClr>
              <a:buSzPts val="3000"/>
              <a:buFont typeface="Cambria"/>
              <a:buNone/>
            </a:pPr>
            <a:r>
              <a:rPr b="1" i="0" lang="en-US" sz="3000" u="none" cap="none" strike="noStrike">
                <a:solidFill>
                  <a:srgbClr val="1F3A5F"/>
                </a:solidFill>
                <a:latin typeface="Cambria"/>
                <a:ea typeface="Cambria"/>
                <a:cs typeface="Cambria"/>
                <a:sym typeface="Cambria"/>
              </a:rPr>
              <a:t>Pratique : TP2, partie 2</a:t>
            </a:r>
            <a:endParaRPr b="0" i="0" sz="3000" u="none" cap="none" strike="noStrike">
              <a:solidFill>
                <a:schemeClr val="dk1"/>
              </a:solidFill>
              <a:latin typeface="Calibri"/>
              <a:ea typeface="Calibri"/>
              <a:cs typeface="Calibri"/>
              <a:sym typeface="Calibri"/>
            </a:endParaRPr>
          </a:p>
        </p:txBody>
      </p:sp>
      <p:sp>
        <p:nvSpPr>
          <p:cNvPr id="348" name="Google Shape;348;p20"/>
          <p:cNvSpPr txBox="1"/>
          <p:nvPr/>
        </p:nvSpPr>
        <p:spPr>
          <a:xfrm>
            <a:off x="548640" y="1417320"/>
            <a:ext cx="11094415" cy="411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B7280"/>
              </a:buClr>
              <a:buSzPts val="1800"/>
              <a:buFont typeface="Calibri"/>
              <a:buNone/>
            </a:pPr>
            <a:r>
              <a:rPr b="0" i="0" lang="en-US" sz="1800" u="none" cap="none" strike="noStrike">
                <a:solidFill>
                  <a:srgbClr val="6B7280"/>
                </a:solidFill>
                <a:latin typeface="Calibri"/>
                <a:ea typeface="Calibri"/>
                <a:cs typeface="Calibri"/>
                <a:sym typeface="Calibri"/>
              </a:rPr>
              <a:t>Transformer les données, sur un petit tableau de commandes propre</a:t>
            </a:r>
            <a:endParaRPr b="0" i="0" sz="1800" u="none" cap="none" strike="noStrike">
              <a:solidFill>
                <a:schemeClr val="dk1"/>
              </a:solidFill>
              <a:latin typeface="Calibri"/>
              <a:ea typeface="Calibri"/>
              <a:cs typeface="Calibri"/>
              <a:sym typeface="Calibri"/>
            </a:endParaRPr>
          </a:p>
        </p:txBody>
      </p:sp>
      <p:graphicFrame>
        <p:nvGraphicFramePr>
          <p:cNvPr id="349" name="Google Shape;349;p20"/>
          <p:cNvGraphicFramePr/>
          <p:nvPr/>
        </p:nvGraphicFramePr>
        <p:xfrm>
          <a:off x="548640" y="2011680"/>
          <a:ext cx="3000000" cy="3000000"/>
        </p:xfrm>
        <a:graphic>
          <a:graphicData uri="http://schemas.openxmlformats.org/drawingml/2006/table">
            <a:tbl>
              <a:tblPr>
                <a:noFill/>
                <a:tableStyleId>{5790C458-BB61-4800-A068-DD2F3961D878}</a:tableStyleId>
              </a:tblPr>
              <a:tblGrid>
                <a:gridCol w="2289325"/>
                <a:gridCol w="8805100"/>
              </a:tblGrid>
              <a:tr h="379975">
                <a:tc>
                  <a:txBody>
                    <a:bodyPr/>
                    <a:lstStyle/>
                    <a:p>
                      <a:pPr indent="0" lvl="0" marL="0" marR="0" rtl="0" algn="l">
                        <a:spcBef>
                          <a:spcPts val="0"/>
                        </a:spcBef>
                        <a:spcAft>
                          <a:spcPts val="0"/>
                        </a:spcAft>
                        <a:buClr>
                          <a:srgbClr val="FFFFFF"/>
                        </a:buClr>
                        <a:buSzPts val="1600"/>
                        <a:buFont typeface="Calibri"/>
                        <a:buNone/>
                      </a:pPr>
                      <a:r>
                        <a:rPr b="1" lang="en-US" sz="1600" u="none" cap="none" strike="noStrike">
                          <a:solidFill>
                            <a:srgbClr val="FFFFFF"/>
                          </a:solidFill>
                          <a:latin typeface="Calibri"/>
                          <a:ea typeface="Calibri"/>
                          <a:cs typeface="Calibri"/>
                          <a:sym typeface="Calibri"/>
                        </a:rPr>
                        <a:t>Questions</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1F3A5F"/>
                    </a:solidFill>
                  </a:tcPr>
                </a:tc>
                <a:tc>
                  <a:txBody>
                    <a:bodyPr/>
                    <a:lstStyle/>
                    <a:p>
                      <a:pPr indent="0" lvl="0" marL="0" marR="0" rtl="0" algn="l">
                        <a:spcBef>
                          <a:spcPts val="0"/>
                        </a:spcBef>
                        <a:spcAft>
                          <a:spcPts val="0"/>
                        </a:spcAft>
                        <a:buClr>
                          <a:srgbClr val="FFFFFF"/>
                        </a:buClr>
                        <a:buSzPts val="1600"/>
                        <a:buFont typeface="Calibri"/>
                        <a:buNone/>
                      </a:pPr>
                      <a:r>
                        <a:rPr b="1" lang="en-US" sz="1600" u="none" cap="none" strike="noStrike">
                          <a:solidFill>
                            <a:srgbClr val="FFFFFF"/>
                          </a:solidFill>
                          <a:latin typeface="Calibri"/>
                          <a:ea typeface="Calibri"/>
                          <a:cs typeface="Calibri"/>
                          <a:sym typeface="Calibri"/>
                        </a:rPr>
                        <a:t>Ce qu'on pratique</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1F3A5F"/>
                    </a:solidFill>
                  </a:tcPr>
                </a:tc>
              </a:tr>
              <a:tr h="379975">
                <a:tc>
                  <a:txBody>
                    <a:bodyPr/>
                    <a:lstStyle/>
                    <a:p>
                      <a:pPr indent="0" lvl="0" marL="0" marR="0" rtl="0" algn="l">
                        <a:spcBef>
                          <a:spcPts val="0"/>
                        </a:spcBef>
                        <a:spcAft>
                          <a:spcPts val="0"/>
                        </a:spcAft>
                        <a:buClr>
                          <a:srgbClr val="1F2933"/>
                        </a:buClr>
                        <a:buSzPts val="1600"/>
                        <a:buFont typeface="Calibri"/>
                        <a:buNone/>
                      </a:pPr>
                      <a:r>
                        <a:rPr b="1" lang="en-US" sz="1600" u="none" cap="none" strike="noStrike">
                          <a:solidFill>
                            <a:srgbClr val="1F2933"/>
                          </a:solidFill>
                          <a:latin typeface="Calibri"/>
                          <a:ea typeface="Calibri"/>
                          <a:cs typeface="Calibri"/>
                          <a:sym typeface="Calibri"/>
                        </a:rPr>
                        <a:t>2.1</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F2933"/>
                        </a:buClr>
                        <a:buSzPts val="1600"/>
                        <a:buFont typeface="Calibri"/>
                        <a:buNone/>
                      </a:pPr>
                      <a:r>
                        <a:rPr lang="en-US" sz="1600" u="none" cap="none" strike="noStrike">
                          <a:solidFill>
                            <a:srgbClr val="1F2933"/>
                          </a:solidFill>
                          <a:latin typeface="Calibri"/>
                          <a:ea typeface="Calibri"/>
                          <a:cs typeface="Calibri"/>
                          <a:sym typeface="Calibri"/>
                        </a:rPr>
                        <a:t>créer des colonnes par un calcul vectorisé et avec </a:t>
                      </a:r>
                      <a:r>
                        <a:rPr lang="en-US" sz="1600" u="none" cap="none" strike="noStrike">
                          <a:solidFill>
                            <a:srgbClr val="1F3A5F"/>
                          </a:solidFill>
                          <a:latin typeface="Courier New"/>
                          <a:ea typeface="Courier New"/>
                          <a:cs typeface="Courier New"/>
                          <a:sym typeface="Courier New"/>
                        </a:rPr>
                        <a:t>np.where</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FFFFF"/>
                    </a:solidFill>
                  </a:tcPr>
                </a:tc>
              </a:tr>
              <a:tr h="379975">
                <a:tc>
                  <a:txBody>
                    <a:bodyPr/>
                    <a:lstStyle/>
                    <a:p>
                      <a:pPr indent="0" lvl="0" marL="0" marR="0" rtl="0" algn="l">
                        <a:spcBef>
                          <a:spcPts val="0"/>
                        </a:spcBef>
                        <a:spcAft>
                          <a:spcPts val="0"/>
                        </a:spcAft>
                        <a:buClr>
                          <a:srgbClr val="1F2933"/>
                        </a:buClr>
                        <a:buSzPts val="1600"/>
                        <a:buFont typeface="Calibri"/>
                        <a:buNone/>
                      </a:pPr>
                      <a:r>
                        <a:rPr b="1" lang="en-US" sz="1600" u="none" cap="none" strike="noStrike">
                          <a:solidFill>
                            <a:srgbClr val="1F2933"/>
                          </a:solidFill>
                          <a:latin typeface="Calibri"/>
                          <a:ea typeface="Calibri"/>
                          <a:cs typeface="Calibri"/>
                          <a:sym typeface="Calibri"/>
                        </a:rPr>
                        <a:t>2.2</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7F9FB"/>
                    </a:solidFill>
                  </a:tcPr>
                </a:tc>
                <a:tc>
                  <a:txBody>
                    <a:bodyPr/>
                    <a:lstStyle/>
                    <a:p>
                      <a:pPr indent="0" lvl="0" marL="0" marR="0" rtl="0" algn="l">
                        <a:spcBef>
                          <a:spcPts val="0"/>
                        </a:spcBef>
                        <a:spcAft>
                          <a:spcPts val="0"/>
                        </a:spcAft>
                        <a:buClr>
                          <a:srgbClr val="1F3A5F"/>
                        </a:buClr>
                        <a:buSzPts val="1600"/>
                        <a:buFont typeface="Courier New"/>
                        <a:buNone/>
                      </a:pPr>
                      <a:r>
                        <a:rPr lang="en-US" sz="1600" u="none" cap="none" strike="noStrike">
                          <a:solidFill>
                            <a:srgbClr val="1F3A5F"/>
                          </a:solidFill>
                          <a:latin typeface="Courier New"/>
                          <a:ea typeface="Courier New"/>
                          <a:cs typeface="Courier New"/>
                          <a:sym typeface="Courier New"/>
                        </a:rPr>
                        <a:t>assign</a:t>
                      </a:r>
                      <a:r>
                        <a:rPr lang="en-US" sz="1600" u="none" cap="none" strike="noStrike">
                          <a:solidFill>
                            <a:srgbClr val="1F2933"/>
                          </a:solidFill>
                          <a:latin typeface="Calibri"/>
                          <a:ea typeface="Calibri"/>
                          <a:cs typeface="Calibri"/>
                          <a:sym typeface="Calibri"/>
                        </a:rPr>
                        <a:t> sans modifier l'original, puis </a:t>
                      </a:r>
                      <a:r>
                        <a:rPr lang="en-US" sz="1600" u="none" cap="none" strike="noStrike">
                          <a:solidFill>
                            <a:srgbClr val="1F3A5F"/>
                          </a:solidFill>
                          <a:latin typeface="Courier New"/>
                          <a:ea typeface="Courier New"/>
                          <a:cs typeface="Courier New"/>
                          <a:sym typeface="Courier New"/>
                        </a:rPr>
                        <a:t>drop</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7F9FB"/>
                    </a:solidFill>
                  </a:tcPr>
                </a:tc>
              </a:tr>
              <a:tr h="379975">
                <a:tc>
                  <a:txBody>
                    <a:bodyPr/>
                    <a:lstStyle/>
                    <a:p>
                      <a:pPr indent="0" lvl="0" marL="0" marR="0" rtl="0" algn="l">
                        <a:spcBef>
                          <a:spcPts val="0"/>
                        </a:spcBef>
                        <a:spcAft>
                          <a:spcPts val="0"/>
                        </a:spcAft>
                        <a:buClr>
                          <a:srgbClr val="1F2933"/>
                        </a:buClr>
                        <a:buSzPts val="1600"/>
                        <a:buFont typeface="Calibri"/>
                        <a:buNone/>
                      </a:pPr>
                      <a:r>
                        <a:rPr b="1" lang="en-US" sz="1600" u="none" cap="none" strike="noStrike">
                          <a:solidFill>
                            <a:srgbClr val="1F2933"/>
                          </a:solidFill>
                          <a:latin typeface="Calibri"/>
                          <a:ea typeface="Calibri"/>
                          <a:cs typeface="Calibri"/>
                          <a:sym typeface="Calibri"/>
                        </a:rPr>
                        <a:t>2.3</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F3A5F"/>
                        </a:buClr>
                        <a:buSzPts val="1600"/>
                        <a:buFont typeface="Courier New"/>
                        <a:buNone/>
                      </a:pPr>
                      <a:r>
                        <a:rPr lang="en-US" sz="1600" u="none" cap="none" strike="noStrike">
                          <a:solidFill>
                            <a:srgbClr val="1F3A5F"/>
                          </a:solidFill>
                          <a:latin typeface="Courier New"/>
                          <a:ea typeface="Courier New"/>
                          <a:cs typeface="Courier New"/>
                          <a:sym typeface="Courier New"/>
                        </a:rPr>
                        <a:t>map</a:t>
                      </a:r>
                      <a:r>
                        <a:rPr lang="en-US" sz="1600" u="none" cap="none" strike="noStrike">
                          <a:solidFill>
                            <a:srgbClr val="1F2933"/>
                          </a:solidFill>
                          <a:latin typeface="Calibri"/>
                          <a:ea typeface="Calibri"/>
                          <a:cs typeface="Calibri"/>
                          <a:sym typeface="Calibri"/>
                        </a:rPr>
                        <a:t> avec un dictionnaire, puis avec une </a:t>
                      </a:r>
                      <a:r>
                        <a:rPr lang="en-US" sz="1600" u="none" cap="none" strike="noStrike">
                          <a:solidFill>
                            <a:srgbClr val="1F3A5F"/>
                          </a:solidFill>
                          <a:latin typeface="Courier New"/>
                          <a:ea typeface="Courier New"/>
                          <a:cs typeface="Courier New"/>
                          <a:sym typeface="Courier New"/>
                        </a:rPr>
                        <a:t>lambda</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FFFFF"/>
                    </a:solidFill>
                  </a:tcPr>
                </a:tc>
              </a:tr>
              <a:tr h="379975">
                <a:tc>
                  <a:txBody>
                    <a:bodyPr/>
                    <a:lstStyle/>
                    <a:p>
                      <a:pPr indent="0" lvl="0" marL="0" marR="0" rtl="0" algn="l">
                        <a:spcBef>
                          <a:spcPts val="0"/>
                        </a:spcBef>
                        <a:spcAft>
                          <a:spcPts val="0"/>
                        </a:spcAft>
                        <a:buClr>
                          <a:srgbClr val="1F2933"/>
                        </a:buClr>
                        <a:buSzPts val="1600"/>
                        <a:buFont typeface="Calibri"/>
                        <a:buNone/>
                      </a:pPr>
                      <a:r>
                        <a:rPr b="1" lang="en-US" sz="1600" u="none" cap="none" strike="noStrike">
                          <a:solidFill>
                            <a:srgbClr val="1F2933"/>
                          </a:solidFill>
                          <a:latin typeface="Calibri"/>
                          <a:ea typeface="Calibri"/>
                          <a:cs typeface="Calibri"/>
                          <a:sym typeface="Calibri"/>
                        </a:rPr>
                        <a:t>2.4</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7F9FB"/>
                    </a:solidFill>
                  </a:tcPr>
                </a:tc>
                <a:tc>
                  <a:txBody>
                    <a:bodyPr/>
                    <a:lstStyle/>
                    <a:p>
                      <a:pPr indent="0" lvl="0" marL="0" marR="0" rtl="0" algn="l">
                        <a:spcBef>
                          <a:spcPts val="0"/>
                        </a:spcBef>
                        <a:spcAft>
                          <a:spcPts val="0"/>
                        </a:spcAft>
                        <a:buClr>
                          <a:srgbClr val="1F2933"/>
                        </a:buClr>
                        <a:buSzPts val="1600"/>
                        <a:buFont typeface="Calibri"/>
                        <a:buNone/>
                      </a:pPr>
                      <a:r>
                        <a:rPr lang="en-US" sz="1600" u="none" cap="none" strike="noStrike">
                          <a:solidFill>
                            <a:srgbClr val="1F2933"/>
                          </a:solidFill>
                          <a:latin typeface="Calibri"/>
                          <a:ea typeface="Calibri"/>
                          <a:cs typeface="Calibri"/>
                          <a:sym typeface="Calibri"/>
                        </a:rPr>
                        <a:t>un libellé avec </a:t>
                      </a:r>
                      <a:r>
                        <a:rPr lang="en-US" sz="1600" u="none" cap="none" strike="noStrike">
                          <a:solidFill>
                            <a:srgbClr val="1F3A5F"/>
                          </a:solidFill>
                          <a:latin typeface="Courier New"/>
                          <a:ea typeface="Courier New"/>
                          <a:cs typeface="Courier New"/>
                          <a:sym typeface="Courier New"/>
                        </a:rPr>
                        <a:t>apply</a:t>
                      </a:r>
                      <a:r>
                        <a:rPr lang="en-US" sz="1600" u="none" cap="none" strike="noStrike">
                          <a:solidFill>
                            <a:srgbClr val="1F2933"/>
                          </a:solidFill>
                          <a:latin typeface="Calibri"/>
                          <a:ea typeface="Calibri"/>
                          <a:cs typeface="Calibri"/>
                          <a:sym typeface="Calibri"/>
                        </a:rPr>
                        <a:t>, puis le même sans </a:t>
                      </a:r>
                      <a:r>
                        <a:rPr lang="en-US" sz="1600" u="none" cap="none" strike="noStrike">
                          <a:solidFill>
                            <a:srgbClr val="1F3A5F"/>
                          </a:solidFill>
                          <a:latin typeface="Courier New"/>
                          <a:ea typeface="Courier New"/>
                          <a:cs typeface="Courier New"/>
                          <a:sym typeface="Courier New"/>
                        </a:rPr>
                        <a:t>apply</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7F9FB"/>
                    </a:solidFill>
                  </a:tcPr>
                </a:tc>
              </a:tr>
            </a:tbl>
          </a:graphicData>
        </a:graphic>
      </p:graphicFrame>
      <p:sp>
        <p:nvSpPr>
          <p:cNvPr id="350" name="Google Shape;350;p20"/>
          <p:cNvSpPr txBox="1"/>
          <p:nvPr/>
        </p:nvSpPr>
        <p:spPr>
          <a:xfrm>
            <a:off x="548640" y="6400800"/>
            <a:ext cx="73152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B7280"/>
              </a:buClr>
              <a:buSzPts val="1000"/>
              <a:buFont typeface="Calibri"/>
              <a:buNone/>
            </a:pPr>
            <a:r>
              <a:rPr b="0" i="0" lang="en-US" sz="1000" u="none" cap="none" strike="noStrike">
                <a:solidFill>
                  <a:srgbClr val="6B7280"/>
                </a:solidFill>
                <a:latin typeface="Calibri"/>
                <a:ea typeface="Calibri"/>
                <a:cs typeface="Calibri"/>
                <a:sym typeface="Calibri"/>
              </a:rPr>
              <a:t>Analyse de données avec Python   |   Jour 1, après-midi</a:t>
            </a:r>
            <a:endParaRPr b="0" i="0" sz="1000" u="none" cap="none" strike="noStrike">
              <a:solidFill>
                <a:schemeClr val="dk1"/>
              </a:solidFill>
              <a:latin typeface="Calibri"/>
              <a:ea typeface="Calibri"/>
              <a:cs typeface="Calibri"/>
              <a:sym typeface="Calibri"/>
            </a:endParaRPr>
          </a:p>
        </p:txBody>
      </p:sp>
      <p:sp>
        <p:nvSpPr>
          <p:cNvPr id="351" name="Google Shape;351;p20"/>
          <p:cNvSpPr txBox="1"/>
          <p:nvPr>
            <p:ph idx="4294967295" type="sldNum"/>
          </p:nvPr>
        </p:nvSpPr>
        <p:spPr>
          <a:xfrm>
            <a:off x="11094415" y="6400800"/>
            <a:ext cx="548640" cy="27432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000" u="none" cap="none" strike="noStrike">
                <a:solidFill>
                  <a:srgbClr val="6B7280"/>
                </a:solidFill>
                <a:latin typeface="Calibri"/>
                <a:ea typeface="Calibri"/>
                <a:cs typeface="Calibri"/>
                <a:sym typeface="Calibri"/>
              </a:rPr>
              <a:t>‹#›</a:t>
            </a:fld>
            <a:endParaRPr b="0" i="0" sz="1000" u="none" cap="none" strike="noStrike">
              <a:solidFill>
                <a:srgbClr val="6B7280"/>
              </a:solidFill>
              <a:latin typeface="Calibri"/>
              <a:ea typeface="Calibri"/>
              <a:cs typeface="Calibri"/>
              <a:sym typeface="Calibri"/>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F3A5F"/>
        </a:solidFill>
      </p:bgPr>
    </p:bg>
    <p:spTree>
      <p:nvGrpSpPr>
        <p:cNvPr id="356" name="Shape 356"/>
        <p:cNvGrpSpPr/>
        <p:nvPr/>
      </p:nvGrpSpPr>
      <p:grpSpPr>
        <a:xfrm>
          <a:off x="0" y="0"/>
          <a:ext cx="0" cy="0"/>
          <a:chOff x="0" y="0"/>
          <a:chExt cx="0" cy="0"/>
        </a:xfrm>
      </p:grpSpPr>
      <p:sp>
        <p:nvSpPr>
          <p:cNvPr id="357" name="Google Shape;357;p21"/>
          <p:cNvSpPr txBox="1"/>
          <p:nvPr/>
        </p:nvSpPr>
        <p:spPr>
          <a:xfrm>
            <a:off x="731520" y="1737360"/>
            <a:ext cx="2743200" cy="11887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FD1B5"/>
              </a:buClr>
              <a:buSzPts val="8000"/>
              <a:buFont typeface="Cambria"/>
              <a:buNone/>
            </a:pPr>
            <a:r>
              <a:rPr b="1" i="0" lang="en-US" sz="8000" u="none" cap="none" strike="noStrike">
                <a:solidFill>
                  <a:srgbClr val="8FD1B5"/>
                </a:solidFill>
                <a:latin typeface="Cambria"/>
                <a:ea typeface="Cambria"/>
                <a:cs typeface="Cambria"/>
                <a:sym typeface="Cambria"/>
              </a:rPr>
              <a:t>03</a:t>
            </a:r>
            <a:endParaRPr b="0" i="0" sz="8000" u="none" cap="none" strike="noStrike">
              <a:solidFill>
                <a:schemeClr val="dk1"/>
              </a:solidFill>
              <a:latin typeface="Calibri"/>
              <a:ea typeface="Calibri"/>
              <a:cs typeface="Calibri"/>
              <a:sym typeface="Calibri"/>
            </a:endParaRPr>
          </a:p>
        </p:txBody>
      </p:sp>
      <p:sp>
        <p:nvSpPr>
          <p:cNvPr id="358" name="Google Shape;358;p21"/>
          <p:cNvSpPr txBox="1"/>
          <p:nvPr/>
        </p:nvSpPr>
        <p:spPr>
          <a:xfrm>
            <a:off x="731520" y="3017520"/>
            <a:ext cx="10515600" cy="8229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FFFFFF"/>
              </a:buClr>
              <a:buSzPts val="4000"/>
              <a:buFont typeface="Cambria"/>
              <a:buNone/>
            </a:pPr>
            <a:r>
              <a:rPr b="1" i="0" lang="en-US" sz="4000" u="none" cap="none" strike="noStrike">
                <a:solidFill>
                  <a:srgbClr val="FFFFFF"/>
                </a:solidFill>
                <a:latin typeface="Cambria"/>
                <a:ea typeface="Cambria"/>
                <a:cs typeface="Cambria"/>
                <a:sym typeface="Cambria"/>
              </a:rPr>
              <a:t>Nettoyer le texte</a:t>
            </a:r>
            <a:endParaRPr b="0" i="0" sz="4000" u="none" cap="none" strike="noStrike">
              <a:solidFill>
                <a:schemeClr val="dk1"/>
              </a:solidFill>
              <a:latin typeface="Calibri"/>
              <a:ea typeface="Calibri"/>
              <a:cs typeface="Calibri"/>
              <a:sym typeface="Calibri"/>
            </a:endParaRPr>
          </a:p>
        </p:txBody>
      </p:sp>
      <p:sp>
        <p:nvSpPr>
          <p:cNvPr id="359" name="Google Shape;359;p21"/>
          <p:cNvSpPr txBox="1"/>
          <p:nvPr/>
        </p:nvSpPr>
        <p:spPr>
          <a:xfrm>
            <a:off x="731520" y="3977640"/>
            <a:ext cx="10515600" cy="5486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C9D6E3"/>
              </a:buClr>
              <a:buSzPts val="2000"/>
              <a:buFont typeface="Calibri"/>
              <a:buNone/>
            </a:pPr>
            <a:r>
              <a:rPr b="0" i="0" lang="en-US" sz="2000" u="none" cap="none" strike="noStrike">
                <a:solidFill>
                  <a:srgbClr val="C9D6E3"/>
                </a:solidFill>
                <a:latin typeface="Calibri"/>
                <a:ea typeface="Calibri"/>
                <a:cs typeface="Calibri"/>
                <a:sym typeface="Calibri"/>
              </a:rPr>
              <a:t>Espaces et casse   |   Remplacer   |   Chercher et extraire</a:t>
            </a:r>
            <a:endParaRPr b="0" i="0" sz="2000" u="none" cap="none" strike="noStrike">
              <a:solidFill>
                <a:schemeClr val="dk1"/>
              </a:solidFill>
              <a:latin typeface="Calibri"/>
              <a:ea typeface="Calibri"/>
              <a:cs typeface="Calibri"/>
              <a:sym typeface="Calibri"/>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64" name="Shape 364"/>
        <p:cNvGrpSpPr/>
        <p:nvPr/>
      </p:nvGrpSpPr>
      <p:grpSpPr>
        <a:xfrm>
          <a:off x="0" y="0"/>
          <a:ext cx="0" cy="0"/>
          <a:chOff x="0" y="0"/>
          <a:chExt cx="0" cy="0"/>
        </a:xfrm>
      </p:grpSpPr>
      <p:sp>
        <p:nvSpPr>
          <p:cNvPr id="365" name="Google Shape;365;p22"/>
          <p:cNvSpPr/>
          <p:nvPr/>
        </p:nvSpPr>
        <p:spPr>
          <a:xfrm>
            <a:off x="548640" y="566928"/>
            <a:ext cx="475488" cy="475488"/>
          </a:xfrm>
          <a:prstGeom prst="ellipse">
            <a:avLst/>
          </a:prstGeom>
          <a:solidFill>
            <a:srgbClr val="2F7D6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6" name="Google Shape;366;p22"/>
          <p:cNvSpPr txBox="1"/>
          <p:nvPr/>
        </p:nvSpPr>
        <p:spPr>
          <a:xfrm>
            <a:off x="548640" y="566928"/>
            <a:ext cx="475488" cy="47548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3</a:t>
            </a:r>
            <a:endParaRPr b="0" i="0" sz="1600" u="none" cap="none" strike="noStrike">
              <a:solidFill>
                <a:schemeClr val="dk1"/>
              </a:solidFill>
              <a:latin typeface="Calibri"/>
              <a:ea typeface="Calibri"/>
              <a:cs typeface="Calibri"/>
              <a:sym typeface="Calibri"/>
            </a:endParaRPr>
          </a:p>
        </p:txBody>
      </p:sp>
      <p:sp>
        <p:nvSpPr>
          <p:cNvPr id="367" name="Google Shape;367;p22"/>
          <p:cNvSpPr txBox="1"/>
          <p:nvPr/>
        </p:nvSpPr>
        <p:spPr>
          <a:xfrm>
            <a:off x="1280160" y="164592"/>
            <a:ext cx="10362895"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F7D62"/>
              </a:buClr>
              <a:buSzPts val="1200"/>
              <a:buFont typeface="Calibri"/>
              <a:buNone/>
            </a:pPr>
            <a:r>
              <a:rPr b="1" i="0" lang="en-US" sz="1200" u="none" cap="none" strike="noStrike">
                <a:solidFill>
                  <a:srgbClr val="2F7D62"/>
                </a:solidFill>
                <a:latin typeface="Calibri"/>
                <a:ea typeface="Calibri"/>
                <a:cs typeface="Calibri"/>
                <a:sym typeface="Calibri"/>
              </a:rPr>
              <a:t>NETTOYER LE TEXTE</a:t>
            </a:r>
            <a:endParaRPr b="0" i="0" sz="1200" u="none" cap="none" strike="noStrike">
              <a:solidFill>
                <a:schemeClr val="dk1"/>
              </a:solidFill>
              <a:latin typeface="Calibri"/>
              <a:ea typeface="Calibri"/>
              <a:cs typeface="Calibri"/>
              <a:sym typeface="Calibri"/>
            </a:endParaRPr>
          </a:p>
        </p:txBody>
      </p:sp>
      <p:sp>
        <p:nvSpPr>
          <p:cNvPr id="368" name="Google Shape;368;p22"/>
          <p:cNvSpPr txBox="1"/>
          <p:nvPr/>
        </p:nvSpPr>
        <p:spPr>
          <a:xfrm>
            <a:off x="1280160" y="457200"/>
            <a:ext cx="10362895" cy="6949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F3A5F"/>
              </a:buClr>
              <a:buSzPts val="3000"/>
              <a:buFont typeface="Cambria"/>
              <a:buNone/>
            </a:pPr>
            <a:r>
              <a:rPr b="1" i="0" lang="en-US" sz="3000" u="none" cap="none" strike="noStrike">
                <a:solidFill>
                  <a:srgbClr val="1F3A5F"/>
                </a:solidFill>
                <a:latin typeface="Cambria"/>
                <a:ea typeface="Cambria"/>
                <a:cs typeface="Cambria"/>
                <a:sym typeface="Cambria"/>
              </a:rPr>
              <a:t>L'accesseur .str</a:t>
            </a:r>
            <a:endParaRPr b="0" i="0" sz="3000" u="none" cap="none" strike="noStrike">
              <a:solidFill>
                <a:schemeClr val="dk1"/>
              </a:solidFill>
              <a:latin typeface="Calibri"/>
              <a:ea typeface="Calibri"/>
              <a:cs typeface="Calibri"/>
              <a:sym typeface="Calibri"/>
            </a:endParaRPr>
          </a:p>
        </p:txBody>
      </p:sp>
      <p:graphicFrame>
        <p:nvGraphicFramePr>
          <p:cNvPr id="369" name="Google Shape;369;p22"/>
          <p:cNvGraphicFramePr/>
          <p:nvPr/>
        </p:nvGraphicFramePr>
        <p:xfrm>
          <a:off x="548640" y="1417320"/>
          <a:ext cx="3000000" cy="3000000"/>
        </p:xfrm>
        <a:graphic>
          <a:graphicData uri="http://schemas.openxmlformats.org/drawingml/2006/table">
            <a:tbl>
              <a:tblPr>
                <a:noFill/>
                <a:tableStyleId>{5790C458-BB61-4800-A068-DD2F3961D878}</a:tableStyleId>
              </a:tblPr>
              <a:tblGrid>
                <a:gridCol w="1934050"/>
                <a:gridCol w="2901050"/>
              </a:tblGrid>
              <a:tr h="350775">
                <a:tc>
                  <a:txBody>
                    <a:bodyPr/>
                    <a:lstStyle/>
                    <a:p>
                      <a:pPr indent="0" lvl="0" marL="0" marR="0" rtl="0" algn="l">
                        <a:spcBef>
                          <a:spcPts val="0"/>
                        </a:spcBef>
                        <a:spcAft>
                          <a:spcPts val="0"/>
                        </a:spcAft>
                        <a:buClr>
                          <a:srgbClr val="FFFFFF"/>
                        </a:buClr>
                        <a:buSzPts val="1400"/>
                        <a:buFont typeface="Calibri"/>
                        <a:buNone/>
                      </a:pPr>
                      <a:r>
                        <a:rPr b="1" lang="en-US" sz="1400" u="none" cap="none" strike="noStrike">
                          <a:solidFill>
                            <a:srgbClr val="FFFFFF"/>
                          </a:solidFill>
                          <a:latin typeface="Calibri"/>
                          <a:ea typeface="Calibri"/>
                          <a:cs typeface="Calibri"/>
                          <a:sym typeface="Calibri"/>
                        </a:rPr>
                        <a:t>Méthode</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1F3A5F"/>
                    </a:solidFill>
                  </a:tcPr>
                </a:tc>
                <a:tc>
                  <a:txBody>
                    <a:bodyPr/>
                    <a:lstStyle/>
                    <a:p>
                      <a:pPr indent="0" lvl="0" marL="0" marR="0" rtl="0" algn="l">
                        <a:spcBef>
                          <a:spcPts val="0"/>
                        </a:spcBef>
                        <a:spcAft>
                          <a:spcPts val="0"/>
                        </a:spcAft>
                        <a:buClr>
                          <a:srgbClr val="FFFFFF"/>
                        </a:buClr>
                        <a:buSzPts val="1400"/>
                        <a:buFont typeface="Calibri"/>
                        <a:buNone/>
                      </a:pPr>
                      <a:r>
                        <a:rPr b="1" lang="en-US" sz="1400" u="none" cap="none" strike="noStrike">
                          <a:solidFill>
                            <a:srgbClr val="FFFFFF"/>
                          </a:solidFill>
                          <a:latin typeface="Calibri"/>
                          <a:ea typeface="Calibri"/>
                          <a:cs typeface="Calibri"/>
                          <a:sym typeface="Calibri"/>
                        </a:rPr>
                        <a:t>Rôle</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1F3A5F"/>
                    </a:solidFill>
                  </a:tcPr>
                </a:tc>
              </a:tr>
              <a:tr h="555250">
                <a:tc>
                  <a:txBody>
                    <a:bodyPr/>
                    <a:lstStyle/>
                    <a:p>
                      <a:pPr indent="0" lvl="0" marL="0" marR="0" rtl="0" algn="l">
                        <a:spcBef>
                          <a:spcPts val="0"/>
                        </a:spcBef>
                        <a:spcAft>
                          <a:spcPts val="0"/>
                        </a:spcAft>
                        <a:buClr>
                          <a:srgbClr val="1F3A5F"/>
                        </a:buClr>
                        <a:buSzPts val="1400"/>
                        <a:buFont typeface="Courier New"/>
                        <a:buNone/>
                      </a:pPr>
                      <a:r>
                        <a:rPr lang="en-US" sz="1400" u="none" cap="none" strike="noStrike">
                          <a:solidFill>
                            <a:srgbClr val="1F3A5F"/>
                          </a:solidFill>
                          <a:latin typeface="Courier New"/>
                          <a:ea typeface="Courier New"/>
                          <a:cs typeface="Courier New"/>
                          <a:sym typeface="Courier New"/>
                        </a:rPr>
                        <a:t>.str.strip()</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F2933"/>
                        </a:buClr>
                        <a:buSzPts val="1400"/>
                        <a:buFont typeface="Calibri"/>
                        <a:buNone/>
                      </a:pPr>
                      <a:r>
                        <a:rPr lang="en-US" sz="1400" u="none" cap="none" strike="noStrike">
                          <a:solidFill>
                            <a:srgbClr val="1F2933"/>
                          </a:solidFill>
                          <a:latin typeface="Calibri"/>
                          <a:ea typeface="Calibri"/>
                          <a:cs typeface="Calibri"/>
                          <a:sym typeface="Calibri"/>
                        </a:rPr>
                        <a:t>retirer les espaces aux extrémités</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FFFFF"/>
                    </a:solidFill>
                  </a:tcPr>
                </a:tc>
              </a:tr>
              <a:tr h="555250">
                <a:tc>
                  <a:txBody>
                    <a:bodyPr/>
                    <a:lstStyle/>
                    <a:p>
                      <a:pPr indent="0" lvl="0" marL="0" marR="0" rtl="0" algn="l">
                        <a:spcBef>
                          <a:spcPts val="0"/>
                        </a:spcBef>
                        <a:spcAft>
                          <a:spcPts val="0"/>
                        </a:spcAft>
                        <a:buClr>
                          <a:srgbClr val="1F3A5F"/>
                        </a:buClr>
                        <a:buSzPts val="1400"/>
                        <a:buFont typeface="Courier New"/>
                        <a:buNone/>
                      </a:pPr>
                      <a:r>
                        <a:rPr lang="en-US" sz="1400" u="none" cap="none" strike="noStrike">
                          <a:solidFill>
                            <a:srgbClr val="1F3A5F"/>
                          </a:solidFill>
                          <a:latin typeface="Courier New"/>
                          <a:ea typeface="Courier New"/>
                          <a:cs typeface="Courier New"/>
                          <a:sym typeface="Courier New"/>
                        </a:rPr>
                        <a:t>.str.lower()</a:t>
                      </a:r>
                      <a:r>
                        <a:rPr lang="en-US" sz="1400" u="none" cap="none" strike="noStrike">
                          <a:solidFill>
                            <a:srgbClr val="1F2933"/>
                          </a:solidFill>
                          <a:latin typeface="Calibri"/>
                          <a:ea typeface="Calibri"/>
                          <a:cs typeface="Calibri"/>
                          <a:sym typeface="Calibri"/>
                        </a:rPr>
                        <a:t>, </a:t>
                      </a:r>
                      <a:r>
                        <a:rPr lang="en-US" sz="1400" u="none" cap="none" strike="noStrike">
                          <a:solidFill>
                            <a:srgbClr val="1F3A5F"/>
                          </a:solidFill>
                          <a:latin typeface="Courier New"/>
                          <a:ea typeface="Courier New"/>
                          <a:cs typeface="Courier New"/>
                          <a:sym typeface="Courier New"/>
                        </a:rPr>
                        <a:t>.str.upper()</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7F9FB"/>
                    </a:solidFill>
                  </a:tcPr>
                </a:tc>
                <a:tc>
                  <a:txBody>
                    <a:bodyPr/>
                    <a:lstStyle/>
                    <a:p>
                      <a:pPr indent="0" lvl="0" marL="0" marR="0" rtl="0" algn="l">
                        <a:spcBef>
                          <a:spcPts val="0"/>
                        </a:spcBef>
                        <a:spcAft>
                          <a:spcPts val="0"/>
                        </a:spcAft>
                        <a:buClr>
                          <a:srgbClr val="1F2933"/>
                        </a:buClr>
                        <a:buSzPts val="1400"/>
                        <a:buFont typeface="Calibri"/>
                        <a:buNone/>
                      </a:pPr>
                      <a:r>
                        <a:rPr lang="en-US" sz="1400" u="none" cap="none" strike="noStrike">
                          <a:solidFill>
                            <a:srgbClr val="1F2933"/>
                          </a:solidFill>
                          <a:latin typeface="Calibri"/>
                          <a:ea typeface="Calibri"/>
                          <a:cs typeface="Calibri"/>
                          <a:sym typeface="Calibri"/>
                        </a:rPr>
                        <a:t>changer la casse</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7F9FB"/>
                    </a:solidFill>
                  </a:tcPr>
                </a:tc>
              </a:tr>
              <a:tr h="350775">
                <a:tc>
                  <a:txBody>
                    <a:bodyPr/>
                    <a:lstStyle/>
                    <a:p>
                      <a:pPr indent="0" lvl="0" marL="0" marR="0" rtl="0" algn="l">
                        <a:spcBef>
                          <a:spcPts val="0"/>
                        </a:spcBef>
                        <a:spcAft>
                          <a:spcPts val="0"/>
                        </a:spcAft>
                        <a:buClr>
                          <a:srgbClr val="1F3A5F"/>
                        </a:buClr>
                        <a:buSzPts val="1400"/>
                        <a:buFont typeface="Courier New"/>
                        <a:buNone/>
                      </a:pPr>
                      <a:r>
                        <a:rPr lang="en-US" sz="1400" u="none" cap="none" strike="noStrike">
                          <a:solidFill>
                            <a:srgbClr val="1F3A5F"/>
                          </a:solidFill>
                          <a:latin typeface="Courier New"/>
                          <a:ea typeface="Courier New"/>
                          <a:cs typeface="Courier New"/>
                          <a:sym typeface="Courier New"/>
                        </a:rPr>
                        <a:t>.str.replace(a, b)</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F2933"/>
                        </a:buClr>
                        <a:buSzPts val="1400"/>
                        <a:buFont typeface="Calibri"/>
                        <a:buNone/>
                      </a:pPr>
                      <a:r>
                        <a:rPr lang="en-US" sz="1400" u="none" cap="none" strike="noStrike">
                          <a:solidFill>
                            <a:srgbClr val="1F2933"/>
                          </a:solidFill>
                          <a:latin typeface="Calibri"/>
                          <a:ea typeface="Calibri"/>
                          <a:cs typeface="Calibri"/>
                          <a:sym typeface="Calibri"/>
                        </a:rPr>
                        <a:t>remplacer un pattern</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FFFFF"/>
                    </a:solidFill>
                  </a:tcPr>
                </a:tc>
              </a:tr>
              <a:tr h="555250">
                <a:tc>
                  <a:txBody>
                    <a:bodyPr/>
                    <a:lstStyle/>
                    <a:p>
                      <a:pPr indent="0" lvl="0" marL="0" marR="0" rtl="0" algn="l">
                        <a:spcBef>
                          <a:spcPts val="0"/>
                        </a:spcBef>
                        <a:spcAft>
                          <a:spcPts val="0"/>
                        </a:spcAft>
                        <a:buClr>
                          <a:srgbClr val="1F3A5F"/>
                        </a:buClr>
                        <a:buSzPts val="1400"/>
                        <a:buFont typeface="Courier New"/>
                        <a:buNone/>
                      </a:pPr>
                      <a:r>
                        <a:rPr lang="en-US" sz="1400" u="none" cap="none" strike="noStrike">
                          <a:solidFill>
                            <a:srgbClr val="1F3A5F"/>
                          </a:solidFill>
                          <a:latin typeface="Courier New"/>
                          <a:ea typeface="Courier New"/>
                          <a:cs typeface="Courier New"/>
                          <a:sym typeface="Courier New"/>
                        </a:rPr>
                        <a:t>.str.contains(m)</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7F9FB"/>
                    </a:solidFill>
                  </a:tcPr>
                </a:tc>
                <a:tc>
                  <a:txBody>
                    <a:bodyPr/>
                    <a:lstStyle/>
                    <a:p>
                      <a:pPr indent="0" lvl="0" marL="0" marR="0" rtl="0" algn="l">
                        <a:spcBef>
                          <a:spcPts val="0"/>
                        </a:spcBef>
                        <a:spcAft>
                          <a:spcPts val="0"/>
                        </a:spcAft>
                        <a:buClr>
                          <a:srgbClr val="1F2933"/>
                        </a:buClr>
                        <a:buSzPts val="1400"/>
                        <a:buFont typeface="Calibri"/>
                        <a:buNone/>
                      </a:pPr>
                      <a:r>
                        <a:rPr lang="en-US" sz="1400" u="none" cap="none" strike="noStrike">
                          <a:solidFill>
                            <a:srgbClr val="1F2933"/>
                          </a:solidFill>
                          <a:latin typeface="Calibri"/>
                          <a:ea typeface="Calibri"/>
                          <a:cs typeface="Calibri"/>
                          <a:sym typeface="Calibri"/>
                        </a:rPr>
                        <a:t>tester la présence d'un pattern</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7F9FB"/>
                    </a:solidFill>
                  </a:tcPr>
                </a:tc>
              </a:tr>
              <a:tr h="350775">
                <a:tc>
                  <a:txBody>
                    <a:bodyPr/>
                    <a:lstStyle/>
                    <a:p>
                      <a:pPr indent="0" lvl="0" marL="0" marR="0" rtl="0" algn="l">
                        <a:spcBef>
                          <a:spcPts val="0"/>
                        </a:spcBef>
                        <a:spcAft>
                          <a:spcPts val="0"/>
                        </a:spcAft>
                        <a:buClr>
                          <a:srgbClr val="1F3A5F"/>
                        </a:buClr>
                        <a:buSzPts val="1400"/>
                        <a:buFont typeface="Courier New"/>
                        <a:buNone/>
                      </a:pPr>
                      <a:r>
                        <a:rPr lang="en-US" sz="1400" u="none" cap="none" strike="noStrike">
                          <a:solidFill>
                            <a:srgbClr val="1F3A5F"/>
                          </a:solidFill>
                          <a:latin typeface="Courier New"/>
                          <a:ea typeface="Courier New"/>
                          <a:cs typeface="Courier New"/>
                          <a:sym typeface="Courier New"/>
                        </a:rPr>
                        <a:t>.str.len()</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F2933"/>
                        </a:buClr>
                        <a:buSzPts val="1400"/>
                        <a:buFont typeface="Calibri"/>
                        <a:buNone/>
                      </a:pPr>
                      <a:r>
                        <a:rPr lang="en-US" sz="1400" u="none" cap="none" strike="noStrike">
                          <a:solidFill>
                            <a:srgbClr val="1F2933"/>
                          </a:solidFill>
                          <a:latin typeface="Calibri"/>
                          <a:ea typeface="Calibri"/>
                          <a:cs typeface="Calibri"/>
                          <a:sym typeface="Calibri"/>
                        </a:rPr>
                        <a:t>longueur</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FFFFF"/>
                    </a:solidFill>
                  </a:tcPr>
                </a:tc>
              </a:tr>
              <a:tr h="350775">
                <a:tc>
                  <a:txBody>
                    <a:bodyPr/>
                    <a:lstStyle/>
                    <a:p>
                      <a:pPr indent="0" lvl="0" marL="0" marR="0" rtl="0" algn="l">
                        <a:spcBef>
                          <a:spcPts val="0"/>
                        </a:spcBef>
                        <a:spcAft>
                          <a:spcPts val="0"/>
                        </a:spcAft>
                        <a:buClr>
                          <a:srgbClr val="1F3A5F"/>
                        </a:buClr>
                        <a:buSzPts val="1400"/>
                        <a:buFont typeface="Courier New"/>
                        <a:buNone/>
                      </a:pPr>
                      <a:r>
                        <a:rPr lang="en-US" sz="1400" u="none" cap="none" strike="noStrike">
                          <a:solidFill>
                            <a:srgbClr val="1F3A5F"/>
                          </a:solidFill>
                          <a:latin typeface="Courier New"/>
                          <a:ea typeface="Courier New"/>
                          <a:cs typeface="Courier New"/>
                          <a:sym typeface="Courier New"/>
                        </a:rPr>
                        <a:t>.str.split(sep)</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7F9FB"/>
                    </a:solidFill>
                  </a:tcPr>
                </a:tc>
                <a:tc>
                  <a:txBody>
                    <a:bodyPr/>
                    <a:lstStyle/>
                    <a:p>
                      <a:pPr indent="0" lvl="0" marL="0" marR="0" rtl="0" algn="l">
                        <a:spcBef>
                          <a:spcPts val="0"/>
                        </a:spcBef>
                        <a:spcAft>
                          <a:spcPts val="0"/>
                        </a:spcAft>
                        <a:buClr>
                          <a:srgbClr val="1F2933"/>
                        </a:buClr>
                        <a:buSzPts val="1400"/>
                        <a:buFont typeface="Calibri"/>
                        <a:buNone/>
                      </a:pPr>
                      <a:r>
                        <a:rPr lang="en-US" sz="1400" u="none" cap="none" strike="noStrike">
                          <a:solidFill>
                            <a:srgbClr val="1F2933"/>
                          </a:solidFill>
                          <a:latin typeface="Calibri"/>
                          <a:ea typeface="Calibri"/>
                          <a:cs typeface="Calibri"/>
                          <a:sym typeface="Calibri"/>
                        </a:rPr>
                        <a:t>découper</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7F9FB"/>
                    </a:solidFill>
                  </a:tcPr>
                </a:tc>
              </a:tr>
              <a:tr h="555250">
                <a:tc>
                  <a:txBody>
                    <a:bodyPr/>
                    <a:lstStyle/>
                    <a:p>
                      <a:pPr indent="0" lvl="0" marL="0" marR="0" rtl="0" algn="l">
                        <a:spcBef>
                          <a:spcPts val="0"/>
                        </a:spcBef>
                        <a:spcAft>
                          <a:spcPts val="0"/>
                        </a:spcAft>
                        <a:buClr>
                          <a:srgbClr val="1F3A5F"/>
                        </a:buClr>
                        <a:buSzPts val="1400"/>
                        <a:buFont typeface="Courier New"/>
                        <a:buNone/>
                      </a:pPr>
                      <a:r>
                        <a:rPr lang="en-US" sz="1400" u="none" cap="none" strike="noStrike">
                          <a:solidFill>
                            <a:srgbClr val="1F3A5F"/>
                          </a:solidFill>
                          <a:latin typeface="Courier New"/>
                          <a:ea typeface="Courier New"/>
                          <a:cs typeface="Courier New"/>
                          <a:sym typeface="Courier New"/>
                        </a:rPr>
                        <a:t>.str.extract(regex)</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F2933"/>
                        </a:buClr>
                        <a:buSzPts val="1400"/>
                        <a:buFont typeface="Calibri"/>
                        <a:buNone/>
                      </a:pPr>
                      <a:r>
                        <a:rPr lang="en-US" sz="1400" u="none" cap="none" strike="noStrike">
                          <a:solidFill>
                            <a:srgbClr val="1F2933"/>
                          </a:solidFill>
                          <a:latin typeface="Calibri"/>
                          <a:ea typeface="Calibri"/>
                          <a:cs typeface="Calibri"/>
                          <a:sym typeface="Calibri"/>
                        </a:rPr>
                        <a:t>extraire une partie</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FFFFF"/>
                    </a:solidFill>
                  </a:tcPr>
                </a:tc>
              </a:tr>
            </a:tbl>
          </a:graphicData>
        </a:graphic>
      </p:graphicFrame>
      <p:sp>
        <p:nvSpPr>
          <p:cNvPr id="370" name="Google Shape;370;p22"/>
          <p:cNvSpPr/>
          <p:nvPr/>
        </p:nvSpPr>
        <p:spPr>
          <a:xfrm>
            <a:off x="5840938" y="1417320"/>
            <a:ext cx="5802117" cy="1416558"/>
          </a:xfrm>
          <a:prstGeom prst="rect">
            <a:avLst/>
          </a:prstGeom>
          <a:solidFill>
            <a:srgbClr val="F3F4F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1" name="Google Shape;371;p22"/>
          <p:cNvSpPr txBox="1"/>
          <p:nvPr/>
        </p:nvSpPr>
        <p:spPr>
          <a:xfrm>
            <a:off x="6023818" y="1563624"/>
            <a:ext cx="5436357" cy="112395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F2933"/>
              </a:buClr>
              <a:buSzPts val="1500"/>
              <a:buFont typeface="Courier New"/>
              <a:buNone/>
            </a:pPr>
            <a:r>
              <a:rPr b="0" i="0" lang="en-US" sz="1500" u="none" cap="none" strike="noStrike">
                <a:solidFill>
                  <a:srgbClr val="1F2933"/>
                </a:solidFill>
                <a:latin typeface="Courier New"/>
                <a:ea typeface="Courier New"/>
                <a:cs typeface="Courier New"/>
                <a:sym typeface="Courier New"/>
              </a:rPr>
              <a:t>df["region"].str.strip()</a:t>
            </a:r>
            <a:endParaRPr b="0" i="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F2933"/>
              </a:buClr>
              <a:buSzPts val="1500"/>
              <a:buFont typeface="Courier New"/>
              <a:buNone/>
            </a:pPr>
            <a:r>
              <a:rPr b="0" i="0" lang="en-US" sz="1500" u="none" cap="none" strike="noStrike">
                <a:solidFill>
                  <a:srgbClr val="1F2933"/>
                </a:solidFill>
                <a:latin typeface="Courier New"/>
                <a:ea typeface="Courier New"/>
                <a:cs typeface="Courier New"/>
                <a:sym typeface="Courier New"/>
              </a:rPr>
              <a:t>df["categorie"].str.lower()</a:t>
            </a:r>
            <a:endParaRPr b="0" i="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F2933"/>
              </a:buClr>
              <a:buSzPts val="1500"/>
              <a:buFont typeface="Courier New"/>
              <a:buNone/>
            </a:pPr>
            <a:r>
              <a:rPr b="0" i="0" lang="en-US" sz="1500" u="none" cap="none" strike="noStrike">
                <a:solidFill>
                  <a:srgbClr val="1F2933"/>
                </a:solidFill>
                <a:latin typeface="Courier New"/>
                <a:ea typeface="Courier New"/>
                <a:cs typeface="Courier New"/>
                <a:sym typeface="Courier New"/>
              </a:rPr>
              <a:t> </a:t>
            </a:r>
            <a:endParaRPr b="0" i="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B7280"/>
              </a:buClr>
              <a:buSzPts val="1500"/>
              <a:buFont typeface="Courier New"/>
              <a:buNone/>
            </a:pPr>
            <a:r>
              <a:rPr b="0" i="0" lang="en-US" sz="1500" u="none" cap="none" strike="noStrike">
                <a:solidFill>
                  <a:srgbClr val="6B7280"/>
                </a:solidFill>
                <a:latin typeface="Courier New"/>
                <a:ea typeface="Courier New"/>
                <a:cs typeface="Courier New"/>
                <a:sym typeface="Courier New"/>
              </a:rPr>
              <a:t># les méthodes s'enchaînent</a:t>
            </a:r>
            <a:endParaRPr b="0" i="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F2933"/>
              </a:buClr>
              <a:buSzPts val="1500"/>
              <a:buFont typeface="Courier New"/>
              <a:buNone/>
            </a:pPr>
            <a:r>
              <a:rPr b="0" i="0" lang="en-US" sz="1500" u="none" cap="none" strike="noStrike">
                <a:solidFill>
                  <a:srgbClr val="1F2933"/>
                </a:solidFill>
                <a:latin typeface="Courier New"/>
                <a:ea typeface="Courier New"/>
                <a:cs typeface="Courier New"/>
                <a:sym typeface="Courier New"/>
              </a:rPr>
              <a:t>df["region"].str.strip().str.lower()</a:t>
            </a:r>
            <a:endParaRPr b="0" i="0" sz="1500" u="none" cap="none" strike="noStrike">
              <a:solidFill>
                <a:schemeClr val="dk1"/>
              </a:solidFill>
              <a:latin typeface="Calibri"/>
              <a:ea typeface="Calibri"/>
              <a:cs typeface="Calibri"/>
              <a:sym typeface="Calibri"/>
            </a:endParaRPr>
          </a:p>
        </p:txBody>
      </p:sp>
      <p:sp>
        <p:nvSpPr>
          <p:cNvPr id="372" name="Google Shape;372;p22"/>
          <p:cNvSpPr txBox="1"/>
          <p:nvPr/>
        </p:nvSpPr>
        <p:spPr>
          <a:xfrm>
            <a:off x="5840938" y="3153918"/>
            <a:ext cx="5802117" cy="1270000"/>
          </a:xfrm>
          <a:prstGeom prst="rect">
            <a:avLst/>
          </a:prstGeom>
          <a:noFill/>
          <a:ln>
            <a:noFill/>
          </a:ln>
        </p:spPr>
        <p:txBody>
          <a:bodyPr anchorCtr="0" anchor="t" bIns="0" lIns="0" spcFirstLastPara="1" rIns="0" wrap="square" tIns="0">
            <a:noAutofit/>
          </a:bodyPr>
          <a:lstStyle/>
          <a:p>
            <a:pPr indent="-254000" lvl="0" marL="254000" marR="0" rtl="0" algn="l">
              <a:spcBef>
                <a:spcPts val="0"/>
              </a:spcBef>
              <a:spcAft>
                <a:spcPts val="0"/>
              </a:spcAft>
              <a:buClr>
                <a:srgbClr val="1F2933"/>
              </a:buClr>
              <a:buSzPts val="1600"/>
              <a:buFont typeface="Calibri"/>
              <a:buChar char="•"/>
            </a:pPr>
            <a:r>
              <a:rPr b="0" i="0" lang="en-US" sz="1600" u="none" cap="none" strike="noStrike">
                <a:solidFill>
                  <a:srgbClr val="1F2933"/>
                </a:solidFill>
                <a:latin typeface="Calibri"/>
                <a:ea typeface="Calibri"/>
                <a:cs typeface="Calibri"/>
                <a:sym typeface="Calibri"/>
              </a:rPr>
              <a:t>Les méthodes de texte de Python, appliquées à toute une colonne</a:t>
            </a:r>
            <a:endParaRPr b="0" i="0" sz="1600" u="none" cap="none" strike="noStrike">
              <a:solidFill>
                <a:schemeClr val="dk1"/>
              </a:solidFill>
              <a:latin typeface="Calibri"/>
              <a:ea typeface="Calibri"/>
              <a:cs typeface="Calibri"/>
              <a:sym typeface="Calibri"/>
            </a:endParaRPr>
          </a:p>
          <a:p>
            <a:pPr indent="-254000" lvl="0" marL="254000" marR="0" rtl="0" algn="l">
              <a:spcBef>
                <a:spcPts val="800"/>
              </a:spcBef>
              <a:spcAft>
                <a:spcPts val="0"/>
              </a:spcAft>
              <a:buClr>
                <a:srgbClr val="1F2933"/>
              </a:buClr>
              <a:buSzPts val="1600"/>
              <a:buFont typeface="Calibri"/>
              <a:buChar char="•"/>
            </a:pPr>
            <a:r>
              <a:rPr b="0" i="0" lang="en-US" sz="1600" u="none" cap="none" strike="noStrike">
                <a:solidFill>
                  <a:srgbClr val="1F2933"/>
                </a:solidFill>
                <a:latin typeface="Calibri"/>
                <a:ea typeface="Calibri"/>
                <a:cs typeface="Calibri"/>
                <a:sym typeface="Calibri"/>
              </a:rPr>
              <a:t>Les valeurs manquantes restent manquantes, sans erreur</a:t>
            </a:r>
            <a:endParaRPr b="0" i="0" sz="1600" u="none" cap="none" strike="noStrike">
              <a:solidFill>
                <a:schemeClr val="dk1"/>
              </a:solidFill>
              <a:latin typeface="Calibri"/>
              <a:ea typeface="Calibri"/>
              <a:cs typeface="Calibri"/>
              <a:sym typeface="Calibri"/>
            </a:endParaRPr>
          </a:p>
        </p:txBody>
      </p:sp>
      <p:sp>
        <p:nvSpPr>
          <p:cNvPr id="373" name="Google Shape;373;p22"/>
          <p:cNvSpPr txBox="1"/>
          <p:nvPr/>
        </p:nvSpPr>
        <p:spPr>
          <a:xfrm>
            <a:off x="548640" y="6400800"/>
            <a:ext cx="73152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B7280"/>
              </a:buClr>
              <a:buSzPts val="1000"/>
              <a:buFont typeface="Calibri"/>
              <a:buNone/>
            </a:pPr>
            <a:r>
              <a:rPr b="0" i="0" lang="en-US" sz="1000" u="none" cap="none" strike="noStrike">
                <a:solidFill>
                  <a:srgbClr val="6B7280"/>
                </a:solidFill>
                <a:latin typeface="Calibri"/>
                <a:ea typeface="Calibri"/>
                <a:cs typeface="Calibri"/>
                <a:sym typeface="Calibri"/>
              </a:rPr>
              <a:t>Analyse de données avec Python   |   Jour 1, après-midi</a:t>
            </a:r>
            <a:endParaRPr b="0" i="0" sz="1000" u="none" cap="none" strike="noStrike">
              <a:solidFill>
                <a:schemeClr val="dk1"/>
              </a:solidFill>
              <a:latin typeface="Calibri"/>
              <a:ea typeface="Calibri"/>
              <a:cs typeface="Calibri"/>
              <a:sym typeface="Calibri"/>
            </a:endParaRPr>
          </a:p>
        </p:txBody>
      </p:sp>
      <p:sp>
        <p:nvSpPr>
          <p:cNvPr id="374" name="Google Shape;374;p22"/>
          <p:cNvSpPr txBox="1"/>
          <p:nvPr>
            <p:ph idx="4294967295" type="sldNum"/>
          </p:nvPr>
        </p:nvSpPr>
        <p:spPr>
          <a:xfrm>
            <a:off x="11094415" y="6400800"/>
            <a:ext cx="548640" cy="27432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000" u="none" cap="none" strike="noStrike">
                <a:solidFill>
                  <a:srgbClr val="6B7280"/>
                </a:solidFill>
                <a:latin typeface="Calibri"/>
                <a:ea typeface="Calibri"/>
                <a:cs typeface="Calibri"/>
                <a:sym typeface="Calibri"/>
              </a:rPr>
              <a:t>‹#›</a:t>
            </a:fld>
            <a:endParaRPr b="0" i="0" sz="1000" u="none" cap="none" strike="noStrike">
              <a:solidFill>
                <a:srgbClr val="6B7280"/>
              </a:solidFill>
              <a:latin typeface="Calibri"/>
              <a:ea typeface="Calibri"/>
              <a:cs typeface="Calibri"/>
              <a:sym typeface="Calibri"/>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79" name="Shape 379"/>
        <p:cNvGrpSpPr/>
        <p:nvPr/>
      </p:nvGrpSpPr>
      <p:grpSpPr>
        <a:xfrm>
          <a:off x="0" y="0"/>
          <a:ext cx="0" cy="0"/>
          <a:chOff x="0" y="0"/>
          <a:chExt cx="0" cy="0"/>
        </a:xfrm>
      </p:grpSpPr>
      <p:sp>
        <p:nvSpPr>
          <p:cNvPr id="380" name="Google Shape;380;p23"/>
          <p:cNvSpPr/>
          <p:nvPr/>
        </p:nvSpPr>
        <p:spPr>
          <a:xfrm>
            <a:off x="548640" y="566928"/>
            <a:ext cx="475488" cy="475488"/>
          </a:xfrm>
          <a:prstGeom prst="ellipse">
            <a:avLst/>
          </a:prstGeom>
          <a:solidFill>
            <a:srgbClr val="2F7D6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1" name="Google Shape;381;p23"/>
          <p:cNvSpPr txBox="1"/>
          <p:nvPr/>
        </p:nvSpPr>
        <p:spPr>
          <a:xfrm>
            <a:off x="548640" y="566928"/>
            <a:ext cx="475488" cy="47548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3</a:t>
            </a:r>
            <a:endParaRPr b="0" i="0" sz="1600" u="none" cap="none" strike="noStrike">
              <a:solidFill>
                <a:schemeClr val="dk1"/>
              </a:solidFill>
              <a:latin typeface="Calibri"/>
              <a:ea typeface="Calibri"/>
              <a:cs typeface="Calibri"/>
              <a:sym typeface="Calibri"/>
            </a:endParaRPr>
          </a:p>
        </p:txBody>
      </p:sp>
      <p:sp>
        <p:nvSpPr>
          <p:cNvPr id="382" name="Google Shape;382;p23"/>
          <p:cNvSpPr txBox="1"/>
          <p:nvPr/>
        </p:nvSpPr>
        <p:spPr>
          <a:xfrm>
            <a:off x="1280160" y="164592"/>
            <a:ext cx="10362895"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F7D62"/>
              </a:buClr>
              <a:buSzPts val="1200"/>
              <a:buFont typeface="Calibri"/>
              <a:buNone/>
            </a:pPr>
            <a:r>
              <a:rPr b="1" i="0" lang="en-US" sz="1200" u="none" cap="none" strike="noStrike">
                <a:solidFill>
                  <a:srgbClr val="2F7D62"/>
                </a:solidFill>
                <a:latin typeface="Calibri"/>
                <a:ea typeface="Calibri"/>
                <a:cs typeface="Calibri"/>
                <a:sym typeface="Calibri"/>
              </a:rPr>
              <a:t>NETTOYER LE TEXTE</a:t>
            </a:r>
            <a:endParaRPr b="0" i="0" sz="1200" u="none" cap="none" strike="noStrike">
              <a:solidFill>
                <a:schemeClr val="dk1"/>
              </a:solidFill>
              <a:latin typeface="Calibri"/>
              <a:ea typeface="Calibri"/>
              <a:cs typeface="Calibri"/>
              <a:sym typeface="Calibri"/>
            </a:endParaRPr>
          </a:p>
        </p:txBody>
      </p:sp>
      <p:sp>
        <p:nvSpPr>
          <p:cNvPr id="383" name="Google Shape;383;p23"/>
          <p:cNvSpPr txBox="1"/>
          <p:nvPr/>
        </p:nvSpPr>
        <p:spPr>
          <a:xfrm>
            <a:off x="1280160" y="457200"/>
            <a:ext cx="10362895" cy="6949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F3A5F"/>
              </a:buClr>
              <a:buSzPts val="3000"/>
              <a:buFont typeface="Cambria"/>
              <a:buNone/>
            </a:pPr>
            <a:r>
              <a:rPr b="1" i="0" lang="en-US" sz="3000" u="none" cap="none" strike="noStrike">
                <a:solidFill>
                  <a:srgbClr val="1F3A5F"/>
                </a:solidFill>
                <a:latin typeface="Cambria"/>
                <a:ea typeface="Cambria"/>
                <a:cs typeface="Cambria"/>
                <a:sym typeface="Cambria"/>
              </a:rPr>
              <a:t>Corriger des variantes d'écriture</a:t>
            </a:r>
            <a:endParaRPr b="0" i="0" sz="3000" u="none" cap="none" strike="noStrike">
              <a:solidFill>
                <a:schemeClr val="dk1"/>
              </a:solidFill>
              <a:latin typeface="Calibri"/>
              <a:ea typeface="Calibri"/>
              <a:cs typeface="Calibri"/>
              <a:sym typeface="Calibri"/>
            </a:endParaRPr>
          </a:p>
        </p:txBody>
      </p:sp>
      <p:sp>
        <p:nvSpPr>
          <p:cNvPr id="384" name="Google Shape;384;p23"/>
          <p:cNvSpPr txBox="1"/>
          <p:nvPr/>
        </p:nvSpPr>
        <p:spPr>
          <a:xfrm>
            <a:off x="548640" y="1417320"/>
            <a:ext cx="5318608"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F3A5F"/>
              </a:buClr>
              <a:buSzPts val="1700"/>
              <a:buFont typeface="Calibri"/>
              <a:buNone/>
            </a:pPr>
            <a:r>
              <a:rPr b="1" i="0" lang="en-US" sz="1700" u="none" cap="none" strike="noStrike">
                <a:solidFill>
                  <a:srgbClr val="1F3A5F"/>
                </a:solidFill>
                <a:latin typeface="Calibri"/>
                <a:ea typeface="Calibri"/>
                <a:cs typeface="Calibri"/>
                <a:sym typeface="Calibri"/>
              </a:rPr>
              <a:t>Le piège de title()</a:t>
            </a:r>
            <a:endParaRPr b="0" i="0" sz="1700" u="none" cap="none" strike="noStrike">
              <a:solidFill>
                <a:schemeClr val="dk1"/>
              </a:solidFill>
              <a:latin typeface="Calibri"/>
              <a:ea typeface="Calibri"/>
              <a:cs typeface="Calibri"/>
              <a:sym typeface="Calibri"/>
            </a:endParaRPr>
          </a:p>
        </p:txBody>
      </p:sp>
      <p:sp>
        <p:nvSpPr>
          <p:cNvPr id="385" name="Google Shape;385;p23"/>
          <p:cNvSpPr/>
          <p:nvPr/>
        </p:nvSpPr>
        <p:spPr>
          <a:xfrm>
            <a:off x="548640" y="1828800"/>
            <a:ext cx="5318608" cy="1191768"/>
          </a:xfrm>
          <a:prstGeom prst="rect">
            <a:avLst/>
          </a:prstGeom>
          <a:solidFill>
            <a:srgbClr val="F3F4F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6" name="Google Shape;386;p23"/>
          <p:cNvSpPr txBox="1"/>
          <p:nvPr/>
        </p:nvSpPr>
        <p:spPr>
          <a:xfrm>
            <a:off x="731520" y="1975104"/>
            <a:ext cx="4952848" cy="8991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F2933"/>
              </a:buClr>
              <a:buSzPts val="1500"/>
              <a:buFont typeface="Courier New"/>
              <a:buNone/>
            </a:pPr>
            <a:r>
              <a:rPr b="0" i="0" lang="en-US" sz="1500" u="none" cap="none" strike="noStrike">
                <a:solidFill>
                  <a:srgbClr val="1F2933"/>
                </a:solidFill>
                <a:latin typeface="Courier New"/>
                <a:ea typeface="Courier New"/>
                <a:cs typeface="Courier New"/>
                <a:sym typeface="Courier New"/>
              </a:rPr>
              <a:t>"Île-de-France".title()</a:t>
            </a:r>
            <a:endParaRPr b="0" i="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B7280"/>
              </a:buClr>
              <a:buSzPts val="1500"/>
              <a:buFont typeface="Courier New"/>
              <a:buNone/>
            </a:pPr>
            <a:r>
              <a:rPr b="0" i="0" lang="en-US" sz="1500" u="none" cap="none" strike="noStrike">
                <a:solidFill>
                  <a:srgbClr val="6B7280"/>
                </a:solidFill>
                <a:latin typeface="Courier New"/>
                <a:ea typeface="Courier New"/>
                <a:cs typeface="Courier New"/>
                <a:sym typeface="Courier New"/>
              </a:rPr>
              <a:t># 'Île-De-France'</a:t>
            </a:r>
            <a:endParaRPr b="0" i="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F2933"/>
              </a:buClr>
              <a:buSzPts val="1500"/>
              <a:buFont typeface="Courier New"/>
              <a:buNone/>
            </a:pPr>
            <a:r>
              <a:rPr b="0" i="0" lang="en-US" sz="1500" u="none" cap="none" strike="noStrike">
                <a:solidFill>
                  <a:srgbClr val="1F2933"/>
                </a:solidFill>
                <a:latin typeface="Courier New"/>
                <a:ea typeface="Courier New"/>
                <a:cs typeface="Courier New"/>
                <a:sym typeface="Courier New"/>
              </a:rPr>
              <a:t> </a:t>
            </a:r>
            <a:endParaRPr b="0" i="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B7280"/>
              </a:buClr>
              <a:buSzPts val="1500"/>
              <a:buFont typeface="Courier New"/>
              <a:buNone/>
            </a:pPr>
            <a:r>
              <a:rPr b="0" i="0" lang="en-US" sz="1500" u="none" cap="none" strike="noStrike">
                <a:solidFill>
                  <a:srgbClr val="6B7280"/>
                </a:solidFill>
                <a:latin typeface="Courier New"/>
                <a:ea typeface="Courier New"/>
                <a:cs typeface="Courier New"/>
                <a:sym typeface="Courier New"/>
              </a:rPr>
              <a:t># une majuscule après chaque tiret</a:t>
            </a:r>
            <a:endParaRPr b="0" i="0" sz="1500" u="none" cap="none" strike="noStrike">
              <a:solidFill>
                <a:schemeClr val="dk1"/>
              </a:solidFill>
              <a:latin typeface="Calibri"/>
              <a:ea typeface="Calibri"/>
              <a:cs typeface="Calibri"/>
              <a:sym typeface="Calibri"/>
            </a:endParaRPr>
          </a:p>
        </p:txBody>
      </p:sp>
      <p:sp>
        <p:nvSpPr>
          <p:cNvPr id="387" name="Google Shape;387;p23"/>
          <p:cNvSpPr txBox="1"/>
          <p:nvPr/>
        </p:nvSpPr>
        <p:spPr>
          <a:xfrm>
            <a:off x="548640" y="3340608"/>
            <a:ext cx="5318608" cy="8686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B7280"/>
              </a:buClr>
              <a:buSzPts val="1600"/>
              <a:buFont typeface="Calibri"/>
              <a:buNone/>
            </a:pPr>
            <a:r>
              <a:rPr b="0" i="0" lang="en-US" sz="1600" u="none" cap="none" strike="noStrike">
                <a:solidFill>
                  <a:srgbClr val="6B7280"/>
                </a:solidFill>
                <a:latin typeface="Calibri"/>
                <a:ea typeface="Calibri"/>
                <a:cs typeface="Calibri"/>
                <a:sym typeface="Calibri"/>
              </a:rPr>
              <a:t>Pour des libellés de référence, on corrige explicitement les variantes plutôt que de compter sur une règle générale.</a:t>
            </a:r>
            <a:endParaRPr b="0" i="0" sz="1600" u="none" cap="none" strike="noStrike">
              <a:solidFill>
                <a:schemeClr val="dk1"/>
              </a:solidFill>
              <a:latin typeface="Calibri"/>
              <a:ea typeface="Calibri"/>
              <a:cs typeface="Calibri"/>
              <a:sym typeface="Calibri"/>
            </a:endParaRPr>
          </a:p>
        </p:txBody>
      </p:sp>
      <p:sp>
        <p:nvSpPr>
          <p:cNvPr id="388" name="Google Shape;388;p23"/>
          <p:cNvSpPr txBox="1"/>
          <p:nvPr/>
        </p:nvSpPr>
        <p:spPr>
          <a:xfrm>
            <a:off x="6324448" y="1417320"/>
            <a:ext cx="5318608"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F3A5F"/>
              </a:buClr>
              <a:buSzPts val="1700"/>
              <a:buFont typeface="Calibri"/>
              <a:buNone/>
            </a:pPr>
            <a:r>
              <a:rPr b="1" i="0" lang="en-US" sz="1700" u="none" cap="none" strike="noStrike">
                <a:solidFill>
                  <a:srgbClr val="1F3A5F"/>
                </a:solidFill>
                <a:latin typeface="Calibri"/>
                <a:ea typeface="Calibri"/>
                <a:cs typeface="Calibri"/>
                <a:sym typeface="Calibri"/>
              </a:rPr>
              <a:t>Un dictionnaire de corrections</a:t>
            </a:r>
            <a:endParaRPr b="0" i="0" sz="1700" u="none" cap="none" strike="noStrike">
              <a:solidFill>
                <a:schemeClr val="dk1"/>
              </a:solidFill>
              <a:latin typeface="Calibri"/>
              <a:ea typeface="Calibri"/>
              <a:cs typeface="Calibri"/>
              <a:sym typeface="Calibri"/>
            </a:endParaRPr>
          </a:p>
        </p:txBody>
      </p:sp>
      <p:sp>
        <p:nvSpPr>
          <p:cNvPr id="389" name="Google Shape;389;p23"/>
          <p:cNvSpPr/>
          <p:nvPr/>
        </p:nvSpPr>
        <p:spPr>
          <a:xfrm>
            <a:off x="6324448" y="1828800"/>
            <a:ext cx="5318608" cy="2540508"/>
          </a:xfrm>
          <a:prstGeom prst="rect">
            <a:avLst/>
          </a:prstGeom>
          <a:solidFill>
            <a:srgbClr val="F3F4F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0" name="Google Shape;390;p23"/>
          <p:cNvSpPr txBox="1"/>
          <p:nvPr/>
        </p:nvSpPr>
        <p:spPr>
          <a:xfrm>
            <a:off x="6507328" y="1975104"/>
            <a:ext cx="4952848" cy="2247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F2933"/>
              </a:buClr>
              <a:buSzPts val="1500"/>
              <a:buFont typeface="Courier New"/>
              <a:buNone/>
            </a:pPr>
            <a:r>
              <a:rPr b="0" i="0" lang="en-US" sz="1500" u="none" cap="none" strike="noStrike">
                <a:solidFill>
                  <a:srgbClr val="1F2933"/>
                </a:solidFill>
                <a:latin typeface="Courier New"/>
                <a:ea typeface="Courier New"/>
                <a:cs typeface="Courier New"/>
                <a:sym typeface="Courier New"/>
              </a:rPr>
              <a:t>corrections = {</a:t>
            </a:r>
            <a:endParaRPr b="0" i="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F2933"/>
              </a:buClr>
              <a:buSzPts val="1500"/>
              <a:buFont typeface="Courier New"/>
              <a:buNone/>
            </a:pPr>
            <a:r>
              <a:rPr b="0" i="0" lang="en-US" sz="1500" u="none" cap="none" strike="noStrike">
                <a:solidFill>
                  <a:srgbClr val="1F2933"/>
                </a:solidFill>
                <a:latin typeface="Courier New"/>
                <a:ea typeface="Courier New"/>
                <a:cs typeface="Courier New"/>
                <a:sym typeface="Courier New"/>
              </a:rPr>
              <a:t>    "occitanie": "Occitanie",</a:t>
            </a:r>
            <a:endParaRPr b="0" i="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F2933"/>
              </a:buClr>
              <a:buSzPts val="1500"/>
              <a:buFont typeface="Courier New"/>
              <a:buNone/>
            </a:pPr>
            <a:r>
              <a:rPr b="0" i="0" lang="en-US" sz="1500" u="none" cap="none" strike="noStrike">
                <a:solidFill>
                  <a:srgbClr val="1F2933"/>
                </a:solidFill>
                <a:latin typeface="Courier New"/>
                <a:ea typeface="Courier New"/>
                <a:cs typeface="Courier New"/>
                <a:sym typeface="Courier New"/>
              </a:rPr>
              <a:t>    "Ile-de-France": "Île-de-France",</a:t>
            </a:r>
            <a:endParaRPr b="0" i="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F2933"/>
              </a:buClr>
              <a:buSzPts val="1500"/>
              <a:buFont typeface="Courier New"/>
              <a:buNone/>
            </a:pPr>
            <a:r>
              <a:rPr b="0" i="0" lang="en-US" sz="1500" u="none" cap="none" strike="noStrike">
                <a:solidFill>
                  <a:srgbClr val="1F2933"/>
                </a:solidFill>
                <a:latin typeface="Courier New"/>
                <a:ea typeface="Courier New"/>
                <a:cs typeface="Courier New"/>
                <a:sym typeface="Courier New"/>
              </a:rPr>
              <a:t>}</a:t>
            </a:r>
            <a:endParaRPr b="0" i="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F2933"/>
              </a:buClr>
              <a:buSzPts val="1500"/>
              <a:buFont typeface="Courier New"/>
              <a:buNone/>
            </a:pPr>
            <a:r>
              <a:rPr b="0" i="0" lang="en-US" sz="1500" u="none" cap="none" strike="noStrike">
                <a:solidFill>
                  <a:srgbClr val="1F2933"/>
                </a:solidFill>
                <a:latin typeface="Courier New"/>
                <a:ea typeface="Courier New"/>
                <a:cs typeface="Courier New"/>
                <a:sym typeface="Courier New"/>
              </a:rPr>
              <a:t> </a:t>
            </a:r>
            <a:endParaRPr b="0" i="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F2933"/>
              </a:buClr>
              <a:buSzPts val="1500"/>
              <a:buFont typeface="Courier New"/>
              <a:buNone/>
            </a:pPr>
            <a:r>
              <a:rPr b="0" i="0" lang="en-US" sz="1500" u="none" cap="none" strike="noStrike">
                <a:solidFill>
                  <a:srgbClr val="1F2933"/>
                </a:solidFill>
                <a:latin typeface="Courier New"/>
                <a:ea typeface="Courier New"/>
                <a:cs typeface="Courier New"/>
                <a:sym typeface="Courier New"/>
              </a:rPr>
              <a:t>df["region"] = (</a:t>
            </a:r>
            <a:endParaRPr b="0" i="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F2933"/>
              </a:buClr>
              <a:buSzPts val="1500"/>
              <a:buFont typeface="Courier New"/>
              <a:buNone/>
            </a:pPr>
            <a:r>
              <a:rPr b="0" i="0" lang="en-US" sz="1500" u="none" cap="none" strike="noStrike">
                <a:solidFill>
                  <a:srgbClr val="1F2933"/>
                </a:solidFill>
                <a:latin typeface="Courier New"/>
                <a:ea typeface="Courier New"/>
                <a:cs typeface="Courier New"/>
                <a:sym typeface="Courier New"/>
              </a:rPr>
              <a:t>    df["region"]</a:t>
            </a:r>
            <a:endParaRPr b="0" i="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F2933"/>
              </a:buClr>
              <a:buSzPts val="1500"/>
              <a:buFont typeface="Courier New"/>
              <a:buNone/>
            </a:pPr>
            <a:r>
              <a:rPr b="0" i="0" lang="en-US" sz="1500" u="none" cap="none" strike="noStrike">
                <a:solidFill>
                  <a:srgbClr val="1F2933"/>
                </a:solidFill>
                <a:latin typeface="Courier New"/>
                <a:ea typeface="Courier New"/>
                <a:cs typeface="Courier New"/>
                <a:sym typeface="Courier New"/>
              </a:rPr>
              <a:t>    .str.strip()</a:t>
            </a:r>
            <a:endParaRPr b="0" i="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F2933"/>
              </a:buClr>
              <a:buSzPts val="1500"/>
              <a:buFont typeface="Courier New"/>
              <a:buNone/>
            </a:pPr>
            <a:r>
              <a:rPr b="0" i="0" lang="en-US" sz="1500" u="none" cap="none" strike="noStrike">
                <a:solidFill>
                  <a:srgbClr val="1F2933"/>
                </a:solidFill>
                <a:latin typeface="Courier New"/>
                <a:ea typeface="Courier New"/>
                <a:cs typeface="Courier New"/>
                <a:sym typeface="Courier New"/>
              </a:rPr>
              <a:t>    .replace(corrections)</a:t>
            </a:r>
            <a:endParaRPr b="0" i="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F2933"/>
              </a:buClr>
              <a:buSzPts val="1500"/>
              <a:buFont typeface="Courier New"/>
              <a:buNone/>
            </a:pPr>
            <a:r>
              <a:rPr b="0" i="0" lang="en-US" sz="1500" u="none" cap="none" strike="noStrike">
                <a:solidFill>
                  <a:srgbClr val="1F2933"/>
                </a:solidFill>
                <a:latin typeface="Courier New"/>
                <a:ea typeface="Courier New"/>
                <a:cs typeface="Courier New"/>
                <a:sym typeface="Courier New"/>
              </a:rPr>
              <a:t>)</a:t>
            </a:r>
            <a:endParaRPr b="0" i="0" sz="1500" u="none" cap="none" strike="noStrike">
              <a:solidFill>
                <a:schemeClr val="dk1"/>
              </a:solidFill>
              <a:latin typeface="Calibri"/>
              <a:ea typeface="Calibri"/>
              <a:cs typeface="Calibri"/>
              <a:sym typeface="Calibri"/>
            </a:endParaRPr>
          </a:p>
        </p:txBody>
      </p:sp>
      <p:sp>
        <p:nvSpPr>
          <p:cNvPr id="391" name="Google Shape;391;p23"/>
          <p:cNvSpPr txBox="1"/>
          <p:nvPr/>
        </p:nvSpPr>
        <p:spPr>
          <a:xfrm>
            <a:off x="548640" y="6400800"/>
            <a:ext cx="73152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B7280"/>
              </a:buClr>
              <a:buSzPts val="1000"/>
              <a:buFont typeface="Calibri"/>
              <a:buNone/>
            </a:pPr>
            <a:r>
              <a:rPr b="0" i="0" lang="en-US" sz="1000" u="none" cap="none" strike="noStrike">
                <a:solidFill>
                  <a:srgbClr val="6B7280"/>
                </a:solidFill>
                <a:latin typeface="Calibri"/>
                <a:ea typeface="Calibri"/>
                <a:cs typeface="Calibri"/>
                <a:sym typeface="Calibri"/>
              </a:rPr>
              <a:t>Analyse de données avec Python   |   Jour 1, après-midi</a:t>
            </a:r>
            <a:endParaRPr b="0" i="0" sz="1000" u="none" cap="none" strike="noStrike">
              <a:solidFill>
                <a:schemeClr val="dk1"/>
              </a:solidFill>
              <a:latin typeface="Calibri"/>
              <a:ea typeface="Calibri"/>
              <a:cs typeface="Calibri"/>
              <a:sym typeface="Calibri"/>
            </a:endParaRPr>
          </a:p>
        </p:txBody>
      </p:sp>
      <p:sp>
        <p:nvSpPr>
          <p:cNvPr id="392" name="Google Shape;392;p23"/>
          <p:cNvSpPr txBox="1"/>
          <p:nvPr>
            <p:ph idx="4294967295" type="sldNum"/>
          </p:nvPr>
        </p:nvSpPr>
        <p:spPr>
          <a:xfrm>
            <a:off x="11094415" y="6400800"/>
            <a:ext cx="548640" cy="27432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000" u="none" cap="none" strike="noStrike">
                <a:solidFill>
                  <a:srgbClr val="6B7280"/>
                </a:solidFill>
                <a:latin typeface="Calibri"/>
                <a:ea typeface="Calibri"/>
                <a:cs typeface="Calibri"/>
                <a:sym typeface="Calibri"/>
              </a:rPr>
              <a:t>‹#›</a:t>
            </a:fld>
            <a:endParaRPr b="0" i="0" sz="1000" u="none" cap="none" strike="noStrike">
              <a:solidFill>
                <a:srgbClr val="6B7280"/>
              </a:solidFill>
              <a:latin typeface="Calibri"/>
              <a:ea typeface="Calibri"/>
              <a:cs typeface="Calibri"/>
              <a:sym typeface="Calibri"/>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97" name="Shape 397"/>
        <p:cNvGrpSpPr/>
        <p:nvPr/>
      </p:nvGrpSpPr>
      <p:grpSpPr>
        <a:xfrm>
          <a:off x="0" y="0"/>
          <a:ext cx="0" cy="0"/>
          <a:chOff x="0" y="0"/>
          <a:chExt cx="0" cy="0"/>
        </a:xfrm>
      </p:grpSpPr>
      <p:sp>
        <p:nvSpPr>
          <p:cNvPr id="398" name="Google Shape;398;p24"/>
          <p:cNvSpPr/>
          <p:nvPr/>
        </p:nvSpPr>
        <p:spPr>
          <a:xfrm>
            <a:off x="548640" y="566928"/>
            <a:ext cx="475488" cy="475488"/>
          </a:xfrm>
          <a:prstGeom prst="ellipse">
            <a:avLst/>
          </a:prstGeom>
          <a:solidFill>
            <a:srgbClr val="2F7D6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9" name="Google Shape;399;p24"/>
          <p:cNvSpPr txBox="1"/>
          <p:nvPr/>
        </p:nvSpPr>
        <p:spPr>
          <a:xfrm>
            <a:off x="548640" y="566928"/>
            <a:ext cx="475488" cy="47548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3</a:t>
            </a:r>
            <a:endParaRPr b="0" i="0" sz="1600" u="none" cap="none" strike="noStrike">
              <a:solidFill>
                <a:schemeClr val="dk1"/>
              </a:solidFill>
              <a:latin typeface="Calibri"/>
              <a:ea typeface="Calibri"/>
              <a:cs typeface="Calibri"/>
              <a:sym typeface="Calibri"/>
            </a:endParaRPr>
          </a:p>
        </p:txBody>
      </p:sp>
      <p:sp>
        <p:nvSpPr>
          <p:cNvPr id="400" name="Google Shape;400;p24"/>
          <p:cNvSpPr txBox="1"/>
          <p:nvPr/>
        </p:nvSpPr>
        <p:spPr>
          <a:xfrm>
            <a:off x="1280160" y="164592"/>
            <a:ext cx="10362895"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F7D62"/>
              </a:buClr>
              <a:buSzPts val="1200"/>
              <a:buFont typeface="Calibri"/>
              <a:buNone/>
            </a:pPr>
            <a:r>
              <a:rPr b="1" i="0" lang="en-US" sz="1200" u="none" cap="none" strike="noStrike">
                <a:solidFill>
                  <a:srgbClr val="2F7D62"/>
                </a:solidFill>
                <a:latin typeface="Calibri"/>
                <a:ea typeface="Calibri"/>
                <a:cs typeface="Calibri"/>
                <a:sym typeface="Calibri"/>
              </a:rPr>
              <a:t>NETTOYER LE TEXTE</a:t>
            </a:r>
            <a:endParaRPr b="0" i="0" sz="1200" u="none" cap="none" strike="noStrike">
              <a:solidFill>
                <a:schemeClr val="dk1"/>
              </a:solidFill>
              <a:latin typeface="Calibri"/>
              <a:ea typeface="Calibri"/>
              <a:cs typeface="Calibri"/>
              <a:sym typeface="Calibri"/>
            </a:endParaRPr>
          </a:p>
        </p:txBody>
      </p:sp>
      <p:sp>
        <p:nvSpPr>
          <p:cNvPr id="401" name="Google Shape;401;p24"/>
          <p:cNvSpPr txBox="1"/>
          <p:nvPr/>
        </p:nvSpPr>
        <p:spPr>
          <a:xfrm>
            <a:off x="1280160" y="457200"/>
            <a:ext cx="10362895" cy="6949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F3A5F"/>
              </a:buClr>
              <a:buSzPts val="3000"/>
              <a:buFont typeface="Cambria"/>
              <a:buNone/>
            </a:pPr>
            <a:r>
              <a:rPr b="1" i="0" lang="en-US" sz="3000" u="none" cap="none" strike="noStrike">
                <a:solidFill>
                  <a:srgbClr val="1F3A5F"/>
                </a:solidFill>
                <a:latin typeface="Cambria"/>
                <a:ea typeface="Cambria"/>
                <a:cs typeface="Cambria"/>
                <a:sym typeface="Cambria"/>
              </a:rPr>
              <a:t>replace ou str.replace ?</a:t>
            </a:r>
            <a:endParaRPr b="0" i="0" sz="3000" u="none" cap="none" strike="noStrike">
              <a:solidFill>
                <a:schemeClr val="dk1"/>
              </a:solidFill>
              <a:latin typeface="Calibri"/>
              <a:ea typeface="Calibri"/>
              <a:cs typeface="Calibri"/>
              <a:sym typeface="Calibri"/>
            </a:endParaRPr>
          </a:p>
        </p:txBody>
      </p:sp>
      <p:sp>
        <p:nvSpPr>
          <p:cNvPr id="402" name="Google Shape;402;p24"/>
          <p:cNvSpPr txBox="1"/>
          <p:nvPr/>
        </p:nvSpPr>
        <p:spPr>
          <a:xfrm>
            <a:off x="548640" y="1417320"/>
            <a:ext cx="5318608"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F3A5F"/>
              </a:buClr>
              <a:buSzPts val="1700"/>
              <a:buFont typeface="Courier New"/>
              <a:buNone/>
            </a:pPr>
            <a:r>
              <a:rPr b="1" i="0" lang="en-US" sz="1700" u="none" cap="none" strike="noStrike">
                <a:solidFill>
                  <a:srgbClr val="1F3A5F"/>
                </a:solidFill>
                <a:latin typeface="Courier New"/>
                <a:ea typeface="Courier New"/>
                <a:cs typeface="Courier New"/>
                <a:sym typeface="Courier New"/>
              </a:rPr>
              <a:t>Series.replace</a:t>
            </a:r>
            <a:r>
              <a:rPr b="1" i="0" lang="en-US" sz="1700" u="none" cap="none" strike="noStrike">
                <a:solidFill>
                  <a:srgbClr val="1F3A5F"/>
                </a:solidFill>
                <a:latin typeface="Calibri"/>
                <a:ea typeface="Calibri"/>
                <a:cs typeface="Calibri"/>
                <a:sym typeface="Calibri"/>
              </a:rPr>
              <a:t> : valeurs entières</a:t>
            </a:r>
            <a:endParaRPr b="0" i="0" sz="1700" u="none" cap="none" strike="noStrike">
              <a:solidFill>
                <a:schemeClr val="dk1"/>
              </a:solidFill>
              <a:latin typeface="Calibri"/>
              <a:ea typeface="Calibri"/>
              <a:cs typeface="Calibri"/>
              <a:sym typeface="Calibri"/>
            </a:endParaRPr>
          </a:p>
        </p:txBody>
      </p:sp>
      <p:sp>
        <p:nvSpPr>
          <p:cNvPr id="403" name="Google Shape;403;p24"/>
          <p:cNvSpPr/>
          <p:nvPr/>
        </p:nvSpPr>
        <p:spPr>
          <a:xfrm>
            <a:off x="548640" y="1828800"/>
            <a:ext cx="5318608" cy="1071880"/>
          </a:xfrm>
          <a:prstGeom prst="rect">
            <a:avLst/>
          </a:prstGeom>
          <a:solidFill>
            <a:srgbClr val="F3F4F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4" name="Google Shape;404;p24"/>
          <p:cNvSpPr txBox="1"/>
          <p:nvPr/>
        </p:nvSpPr>
        <p:spPr>
          <a:xfrm>
            <a:off x="731520" y="1975104"/>
            <a:ext cx="4952848" cy="779272"/>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F2933"/>
              </a:buClr>
              <a:buSzPts val="1300"/>
              <a:buFont typeface="Courier New"/>
              <a:buNone/>
            </a:pPr>
            <a:r>
              <a:rPr b="0" i="0" lang="en-US" sz="1300" u="none" cap="none" strike="noStrike">
                <a:solidFill>
                  <a:srgbClr val="1F2933"/>
                </a:solidFill>
                <a:latin typeface="Courier New"/>
                <a:ea typeface="Courier New"/>
                <a:cs typeface="Courier New"/>
                <a:sym typeface="Courier New"/>
              </a:rPr>
              <a:t>df["region"].replace({"occitanie": "Occitanie"})</a:t>
            </a:r>
            <a:endParaRPr b="0" i="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F2933"/>
              </a:buClr>
              <a:buSzPts val="1300"/>
              <a:buFont typeface="Courier New"/>
              <a:buNone/>
            </a:pPr>
            <a:r>
              <a:rPr b="0" i="0" lang="en-US" sz="1300" u="none" cap="none" strike="noStrike">
                <a:solidFill>
                  <a:srgbClr val="1F2933"/>
                </a:solidFill>
                <a:latin typeface="Courier New"/>
                <a:ea typeface="Courier New"/>
                <a:cs typeface="Courier New"/>
                <a:sym typeface="Courier New"/>
              </a:rPr>
              <a:t> </a:t>
            </a:r>
            <a:endParaRPr b="0" i="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B7280"/>
              </a:buClr>
              <a:buSzPts val="1300"/>
              <a:buFont typeface="Courier New"/>
              <a:buNone/>
            </a:pPr>
            <a:r>
              <a:rPr b="0" i="0" lang="en-US" sz="1300" u="none" cap="none" strike="noStrike">
                <a:solidFill>
                  <a:srgbClr val="6B7280"/>
                </a:solidFill>
                <a:latin typeface="Courier New"/>
                <a:ea typeface="Courier New"/>
                <a:cs typeface="Courier New"/>
                <a:sym typeface="Courier New"/>
              </a:rPr>
              <a:t># remplace uniquement les cellules</a:t>
            </a:r>
            <a:endParaRPr b="0" i="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B7280"/>
              </a:buClr>
              <a:buSzPts val="1300"/>
              <a:buFont typeface="Courier New"/>
              <a:buNone/>
            </a:pPr>
            <a:r>
              <a:rPr b="0" i="0" lang="en-US" sz="1300" u="none" cap="none" strike="noStrike">
                <a:solidFill>
                  <a:srgbClr val="6B7280"/>
                </a:solidFill>
                <a:latin typeface="Courier New"/>
                <a:ea typeface="Courier New"/>
                <a:cs typeface="Courier New"/>
                <a:sym typeface="Courier New"/>
              </a:rPr>
              <a:t># qui valent exactement "occitanie"</a:t>
            </a:r>
            <a:endParaRPr b="0" i="0" sz="1300" u="none" cap="none" strike="noStrike">
              <a:solidFill>
                <a:schemeClr val="dk1"/>
              </a:solidFill>
              <a:latin typeface="Calibri"/>
              <a:ea typeface="Calibri"/>
              <a:cs typeface="Calibri"/>
              <a:sym typeface="Calibri"/>
            </a:endParaRPr>
          </a:p>
        </p:txBody>
      </p:sp>
      <p:sp>
        <p:nvSpPr>
          <p:cNvPr id="405" name="Google Shape;405;p24"/>
          <p:cNvSpPr txBox="1"/>
          <p:nvPr/>
        </p:nvSpPr>
        <p:spPr>
          <a:xfrm>
            <a:off x="6324448" y="1417320"/>
            <a:ext cx="5318608"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F3A5F"/>
              </a:buClr>
              <a:buSzPts val="1700"/>
              <a:buFont typeface="Courier New"/>
              <a:buNone/>
            </a:pPr>
            <a:r>
              <a:rPr b="1" i="0" lang="en-US" sz="1700" u="none" cap="none" strike="noStrike">
                <a:solidFill>
                  <a:srgbClr val="1F3A5F"/>
                </a:solidFill>
                <a:latin typeface="Courier New"/>
                <a:ea typeface="Courier New"/>
                <a:cs typeface="Courier New"/>
                <a:sym typeface="Courier New"/>
              </a:rPr>
              <a:t>Series.str.replace</a:t>
            </a:r>
            <a:r>
              <a:rPr b="1" i="0" lang="en-US" sz="1700" u="none" cap="none" strike="noStrike">
                <a:solidFill>
                  <a:srgbClr val="1F3A5F"/>
                </a:solidFill>
                <a:latin typeface="Calibri"/>
                <a:ea typeface="Calibri"/>
                <a:cs typeface="Calibri"/>
                <a:sym typeface="Calibri"/>
              </a:rPr>
              <a:t> : morceaux de texte</a:t>
            </a:r>
            <a:endParaRPr b="0" i="0" sz="1700" u="none" cap="none" strike="noStrike">
              <a:solidFill>
                <a:schemeClr val="dk1"/>
              </a:solidFill>
              <a:latin typeface="Calibri"/>
              <a:ea typeface="Calibri"/>
              <a:cs typeface="Calibri"/>
              <a:sym typeface="Calibri"/>
            </a:endParaRPr>
          </a:p>
        </p:txBody>
      </p:sp>
      <p:sp>
        <p:nvSpPr>
          <p:cNvPr id="406" name="Google Shape;406;p24"/>
          <p:cNvSpPr/>
          <p:nvPr/>
        </p:nvSpPr>
        <p:spPr>
          <a:xfrm>
            <a:off x="6324448" y="1828800"/>
            <a:ext cx="5318608" cy="1191768"/>
          </a:xfrm>
          <a:prstGeom prst="rect">
            <a:avLst/>
          </a:prstGeom>
          <a:solidFill>
            <a:srgbClr val="F3F4F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7" name="Google Shape;407;p24"/>
          <p:cNvSpPr txBox="1"/>
          <p:nvPr/>
        </p:nvSpPr>
        <p:spPr>
          <a:xfrm>
            <a:off x="6507328" y="1975104"/>
            <a:ext cx="4952848" cy="8991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F2933"/>
              </a:buClr>
              <a:buSzPts val="1200"/>
              <a:buFont typeface="Courier New"/>
              <a:buNone/>
            </a:pPr>
            <a:r>
              <a:rPr b="0" i="0" lang="en-US" sz="1200" u="none" cap="none" strike="noStrike">
                <a:solidFill>
                  <a:srgbClr val="1F2933"/>
                </a:solidFill>
                <a:latin typeface="Courier New"/>
                <a:ea typeface="Courier New"/>
                <a:cs typeface="Courier New"/>
                <a:sym typeface="Courier New"/>
              </a:rPr>
              <a:t>df["produit"].str.replace(" ", "_")</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B7280"/>
              </a:buClr>
              <a:buSzPts val="1200"/>
              <a:buFont typeface="Courier New"/>
              <a:buNone/>
            </a:pPr>
            <a:r>
              <a:rPr b="0" i="0" lang="en-US" sz="1200" u="none" cap="none" strike="noStrike">
                <a:solidFill>
                  <a:srgbClr val="6B7280"/>
                </a:solidFill>
                <a:latin typeface="Courier New"/>
                <a:ea typeface="Courier New"/>
                <a:cs typeface="Courier New"/>
                <a:sym typeface="Courier New"/>
              </a:rPr>
              <a:t># "Lampe LED" devient "Lampe_LED"</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F2933"/>
              </a:buClr>
              <a:buSzPts val="1200"/>
              <a:buFont typeface="Courier New"/>
              <a:buNone/>
            </a:pPr>
            <a:r>
              <a:rPr b="0" i="0" lang="en-US" sz="1200" u="none" cap="none" strike="noStrike">
                <a:solidFill>
                  <a:srgbClr val="1F2933"/>
                </a:solidFill>
                <a:latin typeface="Courier New"/>
                <a:ea typeface="Courier New"/>
                <a:cs typeface="Courier New"/>
                <a:sym typeface="Courier New"/>
              </a:rPr>
              <a:t> </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B7280"/>
              </a:buClr>
              <a:buSzPts val="1200"/>
              <a:buFont typeface="Courier New"/>
              <a:buNone/>
            </a:pPr>
            <a:r>
              <a:rPr b="0" i="0" lang="en-US" sz="1200" u="none" cap="none" strike="noStrike">
                <a:solidFill>
                  <a:srgbClr val="6B7280"/>
                </a:solidFill>
                <a:latin typeface="Courier New"/>
                <a:ea typeface="Courier New"/>
                <a:cs typeface="Courier New"/>
                <a:sym typeface="Courier New"/>
              </a:rPr>
              <a:t># expression régulière</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F2933"/>
              </a:buClr>
              <a:buSzPts val="1200"/>
              <a:buFont typeface="Courier New"/>
              <a:buNone/>
            </a:pPr>
            <a:r>
              <a:rPr b="0" i="0" lang="en-US" sz="1200" u="none" cap="none" strike="noStrike">
                <a:solidFill>
                  <a:srgbClr val="1F2933"/>
                </a:solidFill>
                <a:latin typeface="Courier New"/>
                <a:ea typeface="Courier New"/>
                <a:cs typeface="Courier New"/>
                <a:sym typeface="Courier New"/>
              </a:rPr>
              <a:t>df["produit"].str.replace(r"\s+", " ", regex=True)</a:t>
            </a:r>
            <a:endParaRPr b="0" i="0" sz="1200" u="none" cap="none" strike="noStrike">
              <a:solidFill>
                <a:schemeClr val="dk1"/>
              </a:solidFill>
              <a:latin typeface="Calibri"/>
              <a:ea typeface="Calibri"/>
              <a:cs typeface="Calibri"/>
              <a:sym typeface="Calibri"/>
            </a:endParaRPr>
          </a:p>
        </p:txBody>
      </p:sp>
      <p:sp>
        <p:nvSpPr>
          <p:cNvPr id="408" name="Google Shape;408;p24"/>
          <p:cNvSpPr/>
          <p:nvPr/>
        </p:nvSpPr>
        <p:spPr>
          <a:xfrm>
            <a:off x="548640" y="3340608"/>
            <a:ext cx="11094415" cy="883920"/>
          </a:xfrm>
          <a:prstGeom prst="roundRect">
            <a:avLst>
              <a:gd fmla="val 6207" name="adj"/>
            </a:avLst>
          </a:prstGeom>
          <a:solidFill>
            <a:srgbClr val="E8F3E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9" name="Google Shape;409;p24"/>
          <p:cNvSpPr txBox="1"/>
          <p:nvPr/>
        </p:nvSpPr>
        <p:spPr>
          <a:xfrm>
            <a:off x="822960" y="3340608"/>
            <a:ext cx="10545775" cy="883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F3A5F"/>
              </a:buClr>
              <a:buSzPts val="1700"/>
              <a:buFont typeface="Calibri"/>
              <a:buNone/>
            </a:pPr>
            <a:r>
              <a:rPr b="0" i="0" lang="en-US" sz="1700" u="none" cap="none" strike="noStrike">
                <a:solidFill>
                  <a:srgbClr val="1F3A5F"/>
                </a:solidFill>
                <a:latin typeface="Calibri"/>
                <a:ea typeface="Calibri"/>
                <a:cs typeface="Calibri"/>
                <a:sym typeface="Calibri"/>
              </a:rPr>
              <a:t>Par défaut, </a:t>
            </a:r>
            <a:r>
              <a:rPr b="0" i="0" lang="en-US" sz="1700" u="none" cap="none" strike="noStrike">
                <a:solidFill>
                  <a:srgbClr val="2F7D62"/>
                </a:solidFill>
                <a:latin typeface="Courier New"/>
                <a:ea typeface="Courier New"/>
                <a:cs typeface="Courier New"/>
                <a:sym typeface="Courier New"/>
              </a:rPr>
              <a:t>.str.replace</a:t>
            </a:r>
            <a:r>
              <a:rPr b="0" i="0" lang="en-US" sz="1700" u="none" cap="none" strike="noStrike">
                <a:solidFill>
                  <a:srgbClr val="1F3A5F"/>
                </a:solidFill>
                <a:latin typeface="Calibri"/>
                <a:ea typeface="Calibri"/>
                <a:cs typeface="Calibri"/>
                <a:sym typeface="Calibri"/>
              </a:rPr>
              <a:t> cherche un texte littéral. Avec </a:t>
            </a:r>
            <a:r>
              <a:rPr b="0" i="0" lang="en-US" sz="1700" u="none" cap="none" strike="noStrike">
                <a:solidFill>
                  <a:srgbClr val="2F7D62"/>
                </a:solidFill>
                <a:latin typeface="Courier New"/>
                <a:ea typeface="Courier New"/>
                <a:cs typeface="Courier New"/>
                <a:sym typeface="Courier New"/>
              </a:rPr>
              <a:t>regex=True</a:t>
            </a:r>
            <a:r>
              <a:rPr b="0" i="0" lang="en-US" sz="1700" u="none" cap="none" strike="noStrike">
                <a:solidFill>
                  <a:srgbClr val="1F3A5F"/>
                </a:solidFill>
                <a:latin typeface="Calibri"/>
                <a:ea typeface="Calibri"/>
                <a:cs typeface="Calibri"/>
                <a:sym typeface="Calibri"/>
              </a:rPr>
              <a:t>, le pattern est une expression régulière.</a:t>
            </a:r>
            <a:endParaRPr b="0" i="0" sz="1700" u="none" cap="none" strike="noStrike">
              <a:solidFill>
                <a:schemeClr val="dk1"/>
              </a:solidFill>
              <a:latin typeface="Calibri"/>
              <a:ea typeface="Calibri"/>
              <a:cs typeface="Calibri"/>
              <a:sym typeface="Calibri"/>
            </a:endParaRPr>
          </a:p>
        </p:txBody>
      </p:sp>
      <p:sp>
        <p:nvSpPr>
          <p:cNvPr id="410" name="Google Shape;410;p24"/>
          <p:cNvSpPr txBox="1"/>
          <p:nvPr/>
        </p:nvSpPr>
        <p:spPr>
          <a:xfrm>
            <a:off x="548640" y="6400800"/>
            <a:ext cx="73152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B7280"/>
              </a:buClr>
              <a:buSzPts val="1000"/>
              <a:buFont typeface="Calibri"/>
              <a:buNone/>
            </a:pPr>
            <a:r>
              <a:rPr b="0" i="0" lang="en-US" sz="1000" u="none" cap="none" strike="noStrike">
                <a:solidFill>
                  <a:srgbClr val="6B7280"/>
                </a:solidFill>
                <a:latin typeface="Calibri"/>
                <a:ea typeface="Calibri"/>
                <a:cs typeface="Calibri"/>
                <a:sym typeface="Calibri"/>
              </a:rPr>
              <a:t>Analyse de données avec Python   |   Jour 1, après-midi</a:t>
            </a:r>
            <a:endParaRPr b="0" i="0" sz="1000" u="none" cap="none" strike="noStrike">
              <a:solidFill>
                <a:schemeClr val="dk1"/>
              </a:solidFill>
              <a:latin typeface="Calibri"/>
              <a:ea typeface="Calibri"/>
              <a:cs typeface="Calibri"/>
              <a:sym typeface="Calibri"/>
            </a:endParaRPr>
          </a:p>
        </p:txBody>
      </p:sp>
      <p:sp>
        <p:nvSpPr>
          <p:cNvPr id="411" name="Google Shape;411;p24"/>
          <p:cNvSpPr txBox="1"/>
          <p:nvPr>
            <p:ph idx="4294967295" type="sldNum"/>
          </p:nvPr>
        </p:nvSpPr>
        <p:spPr>
          <a:xfrm>
            <a:off x="11094415" y="6400800"/>
            <a:ext cx="548640" cy="27432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000" u="none" cap="none" strike="noStrike">
                <a:solidFill>
                  <a:srgbClr val="6B7280"/>
                </a:solidFill>
                <a:latin typeface="Calibri"/>
                <a:ea typeface="Calibri"/>
                <a:cs typeface="Calibri"/>
                <a:sym typeface="Calibri"/>
              </a:rPr>
              <a:t>‹#›</a:t>
            </a:fld>
            <a:endParaRPr b="0" i="0" sz="1000" u="none" cap="none" strike="noStrike">
              <a:solidFill>
                <a:srgbClr val="6B7280"/>
              </a:solidFill>
              <a:latin typeface="Calibri"/>
              <a:ea typeface="Calibri"/>
              <a:cs typeface="Calibri"/>
              <a:sym typeface="Calibri"/>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16" name="Shape 416"/>
        <p:cNvGrpSpPr/>
        <p:nvPr/>
      </p:nvGrpSpPr>
      <p:grpSpPr>
        <a:xfrm>
          <a:off x="0" y="0"/>
          <a:ext cx="0" cy="0"/>
          <a:chOff x="0" y="0"/>
          <a:chExt cx="0" cy="0"/>
        </a:xfrm>
      </p:grpSpPr>
      <p:sp>
        <p:nvSpPr>
          <p:cNvPr id="417" name="Google Shape;417;p25"/>
          <p:cNvSpPr/>
          <p:nvPr/>
        </p:nvSpPr>
        <p:spPr>
          <a:xfrm>
            <a:off x="548640" y="566928"/>
            <a:ext cx="475488" cy="475488"/>
          </a:xfrm>
          <a:prstGeom prst="ellipse">
            <a:avLst/>
          </a:prstGeom>
          <a:solidFill>
            <a:srgbClr val="2F7D6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8" name="Google Shape;418;p25"/>
          <p:cNvSpPr txBox="1"/>
          <p:nvPr/>
        </p:nvSpPr>
        <p:spPr>
          <a:xfrm>
            <a:off x="548640" y="566928"/>
            <a:ext cx="475488" cy="47548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3</a:t>
            </a:r>
            <a:endParaRPr b="0" i="0" sz="1600" u="none" cap="none" strike="noStrike">
              <a:solidFill>
                <a:schemeClr val="dk1"/>
              </a:solidFill>
              <a:latin typeface="Calibri"/>
              <a:ea typeface="Calibri"/>
              <a:cs typeface="Calibri"/>
              <a:sym typeface="Calibri"/>
            </a:endParaRPr>
          </a:p>
        </p:txBody>
      </p:sp>
      <p:sp>
        <p:nvSpPr>
          <p:cNvPr id="419" name="Google Shape;419;p25"/>
          <p:cNvSpPr txBox="1"/>
          <p:nvPr/>
        </p:nvSpPr>
        <p:spPr>
          <a:xfrm>
            <a:off x="1280160" y="164592"/>
            <a:ext cx="10362895"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F7D62"/>
              </a:buClr>
              <a:buSzPts val="1200"/>
              <a:buFont typeface="Calibri"/>
              <a:buNone/>
            </a:pPr>
            <a:r>
              <a:rPr b="1" i="0" lang="en-US" sz="1200" u="none" cap="none" strike="noStrike">
                <a:solidFill>
                  <a:srgbClr val="2F7D62"/>
                </a:solidFill>
                <a:latin typeface="Calibri"/>
                <a:ea typeface="Calibri"/>
                <a:cs typeface="Calibri"/>
                <a:sym typeface="Calibri"/>
              </a:rPr>
              <a:t>NETTOYER LE TEXTE</a:t>
            </a:r>
            <a:endParaRPr b="0" i="0" sz="1200" u="none" cap="none" strike="noStrike">
              <a:solidFill>
                <a:schemeClr val="dk1"/>
              </a:solidFill>
              <a:latin typeface="Calibri"/>
              <a:ea typeface="Calibri"/>
              <a:cs typeface="Calibri"/>
              <a:sym typeface="Calibri"/>
            </a:endParaRPr>
          </a:p>
        </p:txBody>
      </p:sp>
      <p:sp>
        <p:nvSpPr>
          <p:cNvPr id="420" name="Google Shape;420;p25"/>
          <p:cNvSpPr txBox="1"/>
          <p:nvPr/>
        </p:nvSpPr>
        <p:spPr>
          <a:xfrm>
            <a:off x="1280160" y="457200"/>
            <a:ext cx="10362895" cy="6949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F3A5F"/>
              </a:buClr>
              <a:buSzPts val="3000"/>
              <a:buFont typeface="Cambria"/>
              <a:buNone/>
            </a:pPr>
            <a:r>
              <a:rPr b="1" i="0" lang="en-US" sz="3000" u="none" cap="none" strike="noStrike">
                <a:solidFill>
                  <a:srgbClr val="1F3A5F"/>
                </a:solidFill>
                <a:latin typeface="Cambria"/>
                <a:ea typeface="Cambria"/>
                <a:cs typeface="Cambria"/>
                <a:sym typeface="Cambria"/>
              </a:rPr>
              <a:t>Chercher et extraire</a:t>
            </a:r>
            <a:endParaRPr b="0" i="0" sz="3000" u="none" cap="none" strike="noStrike">
              <a:solidFill>
                <a:schemeClr val="dk1"/>
              </a:solidFill>
              <a:latin typeface="Calibri"/>
              <a:ea typeface="Calibri"/>
              <a:cs typeface="Calibri"/>
              <a:sym typeface="Calibri"/>
            </a:endParaRPr>
          </a:p>
        </p:txBody>
      </p:sp>
      <p:sp>
        <p:nvSpPr>
          <p:cNvPr id="421" name="Google Shape;421;p25"/>
          <p:cNvSpPr/>
          <p:nvPr/>
        </p:nvSpPr>
        <p:spPr>
          <a:xfrm>
            <a:off x="548640" y="1417320"/>
            <a:ext cx="5802117" cy="1911096"/>
          </a:xfrm>
          <a:prstGeom prst="rect">
            <a:avLst/>
          </a:prstGeom>
          <a:solidFill>
            <a:srgbClr val="F3F4F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2" name="Google Shape;422;p25"/>
          <p:cNvSpPr txBox="1"/>
          <p:nvPr/>
        </p:nvSpPr>
        <p:spPr>
          <a:xfrm>
            <a:off x="731520" y="1563624"/>
            <a:ext cx="5436357" cy="16184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F2933"/>
              </a:buClr>
              <a:buSzPts val="1200"/>
              <a:buFont typeface="Courier New"/>
              <a:buNone/>
            </a:pPr>
            <a:r>
              <a:rPr b="0" i="0" lang="en-US" sz="1200" u="none" cap="none" strike="noStrike">
                <a:solidFill>
                  <a:srgbClr val="1F2933"/>
                </a:solidFill>
                <a:latin typeface="Courier New"/>
                <a:ea typeface="Courier New"/>
                <a:cs typeface="Courier New"/>
                <a:sym typeface="Courier New"/>
              </a:rPr>
              <a:t>df["produit"].str.contains("écran", case=False)</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F2933"/>
              </a:buClr>
              <a:buSzPts val="1200"/>
              <a:buFont typeface="Courier New"/>
              <a:buNone/>
            </a:pPr>
            <a:r>
              <a:rPr b="0" i="0" lang="en-US" sz="1200" u="none" cap="none" strike="noStrike">
                <a:solidFill>
                  <a:srgbClr val="1F2933"/>
                </a:solidFill>
                <a:latin typeface="Courier New"/>
                <a:ea typeface="Courier New"/>
                <a:cs typeface="Courier New"/>
                <a:sym typeface="Courier New"/>
              </a:rPr>
              <a:t> </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F2933"/>
              </a:buClr>
              <a:buSzPts val="1200"/>
              <a:buFont typeface="Courier New"/>
              <a:buNone/>
            </a:pPr>
            <a:r>
              <a:rPr b="0" i="0" lang="en-US" sz="1200" u="none" cap="none" strike="noStrike">
                <a:solidFill>
                  <a:srgbClr val="1F2933"/>
                </a:solidFill>
                <a:latin typeface="Courier New"/>
                <a:ea typeface="Courier New"/>
                <a:cs typeface="Courier New"/>
                <a:sym typeface="Courier New"/>
              </a:rPr>
              <a:t>df["pouces"] = df["produit"].str.extract(r"(\d+) pouces")</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B7280"/>
              </a:buClr>
              <a:buSzPts val="1200"/>
              <a:buFont typeface="Courier New"/>
              <a:buNone/>
            </a:pPr>
            <a:r>
              <a:rPr b="0" i="0" lang="en-US" sz="1200" u="none" cap="none" strike="noStrike">
                <a:solidFill>
                  <a:srgbClr val="6B7280"/>
                </a:solidFill>
                <a:latin typeface="Courier New"/>
                <a:ea typeface="Courier New"/>
                <a:cs typeface="Courier New"/>
                <a:sym typeface="Courier New"/>
              </a:rPr>
              <a:t># "Écran 24 pouces" donne "24", les autres NaN</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F2933"/>
              </a:buClr>
              <a:buSzPts val="1200"/>
              <a:buFont typeface="Courier New"/>
              <a:buNone/>
            </a:pPr>
            <a:r>
              <a:rPr b="0" i="0" lang="en-US" sz="1200" u="none" cap="none" strike="noStrike">
                <a:solidFill>
                  <a:srgbClr val="1F2933"/>
                </a:solidFill>
                <a:latin typeface="Courier New"/>
                <a:ea typeface="Courier New"/>
                <a:cs typeface="Courier New"/>
                <a:sym typeface="Courier New"/>
              </a:rPr>
              <a:t> </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F2933"/>
              </a:buClr>
              <a:buSzPts val="1200"/>
              <a:buFont typeface="Courier New"/>
              <a:buNone/>
            </a:pPr>
            <a:r>
              <a:rPr b="0" i="0" lang="en-US" sz="1200" u="none" cap="none" strike="noStrike">
                <a:solidFill>
                  <a:srgbClr val="1F2933"/>
                </a:solidFill>
                <a:latin typeface="Courier New"/>
                <a:ea typeface="Courier New"/>
                <a:cs typeface="Courier New"/>
                <a:sym typeface="Courier New"/>
              </a:rPr>
              <a:t>df[["type", "detail"]] = df["produit"].str.split(</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F2933"/>
              </a:buClr>
              <a:buSzPts val="1200"/>
              <a:buFont typeface="Courier New"/>
              <a:buNone/>
            </a:pPr>
            <a:r>
              <a:rPr b="0" i="0" lang="en-US" sz="1200" u="none" cap="none" strike="noStrike">
                <a:solidFill>
                  <a:srgbClr val="1F2933"/>
                </a:solidFill>
                <a:latin typeface="Courier New"/>
                <a:ea typeface="Courier New"/>
                <a:cs typeface="Courier New"/>
                <a:sym typeface="Courier New"/>
              </a:rPr>
              <a:t>    " ", n=1, expand=True</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F2933"/>
              </a:buClr>
              <a:buSzPts val="1200"/>
              <a:buFont typeface="Courier New"/>
              <a:buNone/>
            </a:pPr>
            <a:r>
              <a:rPr b="0" i="0" lang="en-US" sz="1200" u="none" cap="none" strike="noStrike">
                <a:solidFill>
                  <a:srgbClr val="1F2933"/>
                </a:solidFill>
                <a:latin typeface="Courier New"/>
                <a:ea typeface="Courier New"/>
                <a:cs typeface="Courier New"/>
                <a:sym typeface="Courier New"/>
              </a:rPr>
              <a:t>)</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B7280"/>
              </a:buClr>
              <a:buSzPts val="1200"/>
              <a:buFont typeface="Courier New"/>
              <a:buNone/>
            </a:pPr>
            <a:r>
              <a:rPr b="0" i="0" lang="en-US" sz="1200" u="none" cap="none" strike="noStrike">
                <a:solidFill>
                  <a:srgbClr val="6B7280"/>
                </a:solidFill>
                <a:latin typeface="Courier New"/>
                <a:ea typeface="Courier New"/>
                <a:cs typeface="Courier New"/>
                <a:sym typeface="Courier New"/>
              </a:rPr>
              <a:t># "Lampe LED" donne "Lampe" et "LED"</a:t>
            </a:r>
            <a:endParaRPr b="0" i="0" sz="1200" u="none" cap="none" strike="noStrike">
              <a:solidFill>
                <a:schemeClr val="dk1"/>
              </a:solidFill>
              <a:latin typeface="Calibri"/>
              <a:ea typeface="Calibri"/>
              <a:cs typeface="Calibri"/>
              <a:sym typeface="Calibri"/>
            </a:endParaRPr>
          </a:p>
        </p:txBody>
      </p:sp>
      <p:sp>
        <p:nvSpPr>
          <p:cNvPr id="423" name="Google Shape;423;p25"/>
          <p:cNvSpPr txBox="1"/>
          <p:nvPr/>
        </p:nvSpPr>
        <p:spPr>
          <a:xfrm>
            <a:off x="6807957" y="1417320"/>
            <a:ext cx="4835098" cy="18592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F3A5F"/>
              </a:buClr>
              <a:buSzPts val="1600"/>
              <a:buFont typeface="Courier New"/>
              <a:buNone/>
            </a:pPr>
            <a:r>
              <a:rPr b="0" i="0" lang="en-US" sz="1600" u="none" cap="none" strike="noStrike">
                <a:solidFill>
                  <a:srgbClr val="1F3A5F"/>
                </a:solidFill>
                <a:latin typeface="Courier New"/>
                <a:ea typeface="Courier New"/>
                <a:cs typeface="Courier New"/>
                <a:sym typeface="Courier New"/>
              </a:rPr>
              <a:t>extract</a:t>
            </a:r>
            <a:r>
              <a:rPr b="0" i="0" lang="en-US" sz="1600" u="none" cap="none" strike="noStrike">
                <a:solidFill>
                  <a:srgbClr val="1F2933"/>
                </a:solidFill>
                <a:latin typeface="Calibri"/>
                <a:ea typeface="Calibri"/>
                <a:cs typeface="Calibri"/>
                <a:sym typeface="Calibri"/>
              </a:rPr>
              <a:t> récupère la partie entre parenthèses</a:t>
            </a:r>
            <a:endParaRPr b="0" i="0" sz="1600" u="none" cap="none" strike="noStrike">
              <a:solidFill>
                <a:schemeClr val="dk1"/>
              </a:solidFill>
              <a:latin typeface="Calibri"/>
              <a:ea typeface="Calibri"/>
              <a:cs typeface="Calibri"/>
              <a:sym typeface="Calibri"/>
            </a:endParaRPr>
          </a:p>
          <a:p>
            <a:pPr indent="-254000" lvl="0" marL="254000" marR="0" rtl="0" algn="l">
              <a:spcBef>
                <a:spcPts val="0"/>
              </a:spcBef>
              <a:spcAft>
                <a:spcPts val="0"/>
              </a:spcAft>
              <a:buClr>
                <a:srgbClr val="1F2933"/>
              </a:buClr>
              <a:buSzPts val="1600"/>
              <a:buFont typeface="Calibri"/>
              <a:buChar char="•"/>
            </a:pPr>
            <a:r>
              <a:rPr b="0" i="0" lang="en-US" sz="1600" u="none" cap="none" strike="noStrike">
                <a:solidFill>
                  <a:srgbClr val="1F2933"/>
                </a:solidFill>
                <a:latin typeface="Calibri"/>
                <a:ea typeface="Calibri"/>
                <a:cs typeface="Calibri"/>
                <a:sym typeface="Calibri"/>
              </a:rPr>
              <a:t>Par défaut, il renvoie un DataFrame : une colonne par partie entre parenthèses</a:t>
            </a:r>
            <a:endParaRPr b="0" i="0" sz="1600" u="none" cap="none" strike="noStrike">
              <a:solidFill>
                <a:schemeClr val="dk1"/>
              </a:solidFill>
              <a:latin typeface="Calibri"/>
              <a:ea typeface="Calibri"/>
              <a:cs typeface="Calibri"/>
              <a:sym typeface="Calibri"/>
            </a:endParaRPr>
          </a:p>
          <a:p>
            <a:pPr indent="0" lvl="0" marL="0" marR="0" rtl="0" algn="l">
              <a:spcBef>
                <a:spcPts val="800"/>
              </a:spcBef>
              <a:spcAft>
                <a:spcPts val="0"/>
              </a:spcAft>
              <a:buClr>
                <a:srgbClr val="1F2933"/>
              </a:buClr>
              <a:buSzPts val="1600"/>
              <a:buFont typeface="Calibri"/>
              <a:buNone/>
            </a:pPr>
            <a:r>
              <a:rPr b="0" i="0" lang="en-US" sz="1600" u="none" cap="none" strike="noStrike">
                <a:solidFill>
                  <a:srgbClr val="1F2933"/>
                </a:solidFill>
                <a:latin typeface="Calibri"/>
                <a:ea typeface="Calibri"/>
                <a:cs typeface="Calibri"/>
                <a:sym typeface="Calibri"/>
              </a:rPr>
              <a:t>Une seule partie et </a:t>
            </a:r>
            <a:r>
              <a:rPr b="0" i="0" lang="en-US" sz="1600" u="none" cap="none" strike="noStrike">
                <a:solidFill>
                  <a:srgbClr val="1F3A5F"/>
                </a:solidFill>
                <a:latin typeface="Courier New"/>
                <a:ea typeface="Courier New"/>
                <a:cs typeface="Courier New"/>
                <a:sym typeface="Courier New"/>
              </a:rPr>
              <a:t>expand=False</a:t>
            </a:r>
            <a:r>
              <a:rPr b="0" i="0" lang="en-US" sz="1600" u="none" cap="none" strike="noStrike">
                <a:solidFill>
                  <a:srgbClr val="1F2933"/>
                </a:solidFill>
                <a:latin typeface="Calibri"/>
                <a:ea typeface="Calibri"/>
                <a:cs typeface="Calibri"/>
                <a:sym typeface="Calibri"/>
              </a:rPr>
              <a:t> : une Series, qu'on peut convertir</a:t>
            </a:r>
            <a:endParaRPr b="0" i="0" sz="1600" u="none" cap="none" strike="noStrike">
              <a:solidFill>
                <a:schemeClr val="dk1"/>
              </a:solidFill>
              <a:latin typeface="Calibri"/>
              <a:ea typeface="Calibri"/>
              <a:cs typeface="Calibri"/>
              <a:sym typeface="Calibri"/>
            </a:endParaRPr>
          </a:p>
        </p:txBody>
      </p:sp>
      <p:sp>
        <p:nvSpPr>
          <p:cNvPr id="424" name="Google Shape;424;p25"/>
          <p:cNvSpPr/>
          <p:nvPr/>
        </p:nvSpPr>
        <p:spPr>
          <a:xfrm>
            <a:off x="6807957" y="3596640"/>
            <a:ext cx="4835098" cy="1191768"/>
          </a:xfrm>
          <a:prstGeom prst="rect">
            <a:avLst/>
          </a:prstGeom>
          <a:solidFill>
            <a:srgbClr val="F3F4F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5" name="Google Shape;425;p25"/>
          <p:cNvSpPr txBox="1"/>
          <p:nvPr/>
        </p:nvSpPr>
        <p:spPr>
          <a:xfrm>
            <a:off x="6990837" y="3742944"/>
            <a:ext cx="4469338" cy="8991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F2933"/>
              </a:buClr>
              <a:buSzPts val="1200"/>
              <a:buFont typeface="Courier New"/>
              <a:buNone/>
            </a:pPr>
            <a:r>
              <a:rPr b="0" i="0" lang="en-US" sz="1200" u="none" cap="none" strike="noStrike">
                <a:solidFill>
                  <a:srgbClr val="1F2933"/>
                </a:solidFill>
                <a:latin typeface="Courier New"/>
                <a:ea typeface="Courier New"/>
                <a:cs typeface="Courier New"/>
                <a:sym typeface="Courier New"/>
              </a:rPr>
              <a:t>references = pd.Series(</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F2933"/>
              </a:buClr>
              <a:buSzPts val="1200"/>
              <a:buFont typeface="Courier New"/>
              <a:buNone/>
            </a:pPr>
            <a:r>
              <a:rPr b="0" i="0" lang="en-US" sz="1200" u="none" cap="none" strike="noStrike">
                <a:solidFill>
                  <a:srgbClr val="1F2933"/>
                </a:solidFill>
                <a:latin typeface="Courier New"/>
                <a:ea typeface="Courier New"/>
                <a:cs typeface="Courier New"/>
                <a:sym typeface="Courier New"/>
              </a:rPr>
              <a:t>    ["REF-001 / Clavier", "REF-042 / Souris"])</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F2933"/>
              </a:buClr>
              <a:buSzPts val="1200"/>
              <a:buFont typeface="Courier New"/>
              <a:buNone/>
            </a:pPr>
            <a:r>
              <a:rPr b="0" i="0" lang="en-US" sz="1200" u="none" cap="none" strike="noStrike">
                <a:solidFill>
                  <a:srgbClr val="1F2933"/>
                </a:solidFill>
                <a:latin typeface="Courier New"/>
                <a:ea typeface="Courier New"/>
                <a:cs typeface="Courier New"/>
                <a:sym typeface="Courier New"/>
              </a:rPr>
              <a:t>references.str.extract(</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F2933"/>
              </a:buClr>
              <a:buSzPts val="1200"/>
              <a:buFont typeface="Courier New"/>
              <a:buNone/>
            </a:pPr>
            <a:r>
              <a:rPr b="0" i="0" lang="en-US" sz="1200" u="none" cap="none" strike="noStrike">
                <a:solidFill>
                  <a:srgbClr val="1F2933"/>
                </a:solidFill>
                <a:latin typeface="Courier New"/>
                <a:ea typeface="Courier New"/>
                <a:cs typeface="Courier New"/>
                <a:sym typeface="Courier New"/>
              </a:rPr>
              <a:t>    r"REF-(\d+)", expand=False).astype(int)</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B7280"/>
              </a:buClr>
              <a:buSzPts val="1200"/>
              <a:buFont typeface="Courier New"/>
              <a:buNone/>
            </a:pPr>
            <a:r>
              <a:rPr b="0" i="0" lang="en-US" sz="1200" u="none" cap="none" strike="noStrike">
                <a:solidFill>
                  <a:srgbClr val="6B7280"/>
                </a:solidFill>
                <a:latin typeface="Courier New"/>
                <a:ea typeface="Courier New"/>
                <a:cs typeface="Courier New"/>
                <a:sym typeface="Courier New"/>
              </a:rPr>
              <a:t># 1, 42</a:t>
            </a:r>
            <a:endParaRPr b="0" i="0" sz="1200" u="none" cap="none" strike="noStrike">
              <a:solidFill>
                <a:schemeClr val="dk1"/>
              </a:solidFill>
              <a:latin typeface="Calibri"/>
              <a:ea typeface="Calibri"/>
              <a:cs typeface="Calibri"/>
              <a:sym typeface="Calibri"/>
            </a:endParaRPr>
          </a:p>
        </p:txBody>
      </p:sp>
      <p:sp>
        <p:nvSpPr>
          <p:cNvPr id="426" name="Google Shape;426;p25"/>
          <p:cNvSpPr txBox="1"/>
          <p:nvPr/>
        </p:nvSpPr>
        <p:spPr>
          <a:xfrm>
            <a:off x="548640" y="6400800"/>
            <a:ext cx="73152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B7280"/>
              </a:buClr>
              <a:buSzPts val="1000"/>
              <a:buFont typeface="Calibri"/>
              <a:buNone/>
            </a:pPr>
            <a:r>
              <a:rPr b="0" i="0" lang="en-US" sz="1000" u="none" cap="none" strike="noStrike">
                <a:solidFill>
                  <a:srgbClr val="6B7280"/>
                </a:solidFill>
                <a:latin typeface="Calibri"/>
                <a:ea typeface="Calibri"/>
                <a:cs typeface="Calibri"/>
                <a:sym typeface="Calibri"/>
              </a:rPr>
              <a:t>Analyse de données avec Python   |   Jour 1, après-midi</a:t>
            </a:r>
            <a:endParaRPr b="0" i="0" sz="1000" u="none" cap="none" strike="noStrike">
              <a:solidFill>
                <a:schemeClr val="dk1"/>
              </a:solidFill>
              <a:latin typeface="Calibri"/>
              <a:ea typeface="Calibri"/>
              <a:cs typeface="Calibri"/>
              <a:sym typeface="Calibri"/>
            </a:endParaRPr>
          </a:p>
        </p:txBody>
      </p:sp>
      <p:sp>
        <p:nvSpPr>
          <p:cNvPr id="427" name="Google Shape;427;p25"/>
          <p:cNvSpPr txBox="1"/>
          <p:nvPr>
            <p:ph idx="4294967295" type="sldNum"/>
          </p:nvPr>
        </p:nvSpPr>
        <p:spPr>
          <a:xfrm>
            <a:off x="11094415" y="6400800"/>
            <a:ext cx="548640" cy="27432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000" u="none" cap="none" strike="noStrike">
                <a:solidFill>
                  <a:srgbClr val="6B7280"/>
                </a:solidFill>
                <a:latin typeface="Calibri"/>
                <a:ea typeface="Calibri"/>
                <a:cs typeface="Calibri"/>
                <a:sym typeface="Calibri"/>
              </a:rPr>
              <a:t>‹#›</a:t>
            </a:fld>
            <a:endParaRPr b="0" i="0" sz="1000" u="none" cap="none" strike="noStrike">
              <a:solidFill>
                <a:srgbClr val="6B7280"/>
              </a:solidFill>
              <a:latin typeface="Calibri"/>
              <a:ea typeface="Calibri"/>
              <a:cs typeface="Calibri"/>
              <a:sym typeface="Calibri"/>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32" name="Shape 432"/>
        <p:cNvGrpSpPr/>
        <p:nvPr/>
      </p:nvGrpSpPr>
      <p:grpSpPr>
        <a:xfrm>
          <a:off x="0" y="0"/>
          <a:ext cx="0" cy="0"/>
          <a:chOff x="0" y="0"/>
          <a:chExt cx="0" cy="0"/>
        </a:xfrm>
      </p:grpSpPr>
      <p:sp>
        <p:nvSpPr>
          <p:cNvPr id="433" name="Google Shape;433;p26"/>
          <p:cNvSpPr/>
          <p:nvPr/>
        </p:nvSpPr>
        <p:spPr>
          <a:xfrm>
            <a:off x="548640" y="566928"/>
            <a:ext cx="475488" cy="475488"/>
          </a:xfrm>
          <a:prstGeom prst="ellipse">
            <a:avLst/>
          </a:prstGeom>
          <a:solidFill>
            <a:srgbClr val="2F7D6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4" name="Google Shape;434;p26"/>
          <p:cNvSpPr txBox="1"/>
          <p:nvPr/>
        </p:nvSpPr>
        <p:spPr>
          <a:xfrm>
            <a:off x="548640" y="566928"/>
            <a:ext cx="475488" cy="47548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3</a:t>
            </a:r>
            <a:endParaRPr b="0" i="0" sz="1600" u="none" cap="none" strike="noStrike">
              <a:solidFill>
                <a:schemeClr val="dk1"/>
              </a:solidFill>
              <a:latin typeface="Calibri"/>
              <a:ea typeface="Calibri"/>
              <a:cs typeface="Calibri"/>
              <a:sym typeface="Calibri"/>
            </a:endParaRPr>
          </a:p>
        </p:txBody>
      </p:sp>
      <p:sp>
        <p:nvSpPr>
          <p:cNvPr id="435" name="Google Shape;435;p26"/>
          <p:cNvSpPr txBox="1"/>
          <p:nvPr/>
        </p:nvSpPr>
        <p:spPr>
          <a:xfrm>
            <a:off x="1280160" y="164592"/>
            <a:ext cx="10362895"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F7D62"/>
              </a:buClr>
              <a:buSzPts val="1200"/>
              <a:buFont typeface="Calibri"/>
              <a:buNone/>
            </a:pPr>
            <a:r>
              <a:rPr b="1" i="0" lang="en-US" sz="1200" u="none" cap="none" strike="noStrike">
                <a:solidFill>
                  <a:srgbClr val="2F7D62"/>
                </a:solidFill>
                <a:latin typeface="Calibri"/>
                <a:ea typeface="Calibri"/>
                <a:cs typeface="Calibri"/>
                <a:sym typeface="Calibri"/>
              </a:rPr>
              <a:t>NETTOYER LE TEXTE</a:t>
            </a:r>
            <a:endParaRPr b="0" i="0" sz="1200" u="none" cap="none" strike="noStrike">
              <a:solidFill>
                <a:schemeClr val="dk1"/>
              </a:solidFill>
              <a:latin typeface="Calibri"/>
              <a:ea typeface="Calibri"/>
              <a:cs typeface="Calibri"/>
              <a:sym typeface="Calibri"/>
            </a:endParaRPr>
          </a:p>
        </p:txBody>
      </p:sp>
      <p:sp>
        <p:nvSpPr>
          <p:cNvPr id="436" name="Google Shape;436;p26"/>
          <p:cNvSpPr txBox="1"/>
          <p:nvPr/>
        </p:nvSpPr>
        <p:spPr>
          <a:xfrm>
            <a:off x="1280160" y="457200"/>
            <a:ext cx="10362895" cy="6949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F3A5F"/>
              </a:buClr>
              <a:buSzPts val="3000"/>
              <a:buFont typeface="Cambria"/>
              <a:buNone/>
            </a:pPr>
            <a:r>
              <a:rPr b="1" i="0" lang="en-US" sz="3000" u="none" cap="none" strike="noStrike">
                <a:solidFill>
                  <a:srgbClr val="1F3A5F"/>
                </a:solidFill>
                <a:latin typeface="Cambria"/>
                <a:ea typeface="Cambria"/>
                <a:cs typeface="Cambria"/>
                <a:sym typeface="Cambria"/>
              </a:rPr>
              <a:t>Quelques patterns d'expressions régulières</a:t>
            </a:r>
            <a:endParaRPr b="0" i="0" sz="3000" u="none" cap="none" strike="noStrike">
              <a:solidFill>
                <a:schemeClr val="dk1"/>
              </a:solidFill>
              <a:latin typeface="Calibri"/>
              <a:ea typeface="Calibri"/>
              <a:cs typeface="Calibri"/>
              <a:sym typeface="Calibri"/>
            </a:endParaRPr>
          </a:p>
        </p:txBody>
      </p:sp>
      <p:graphicFrame>
        <p:nvGraphicFramePr>
          <p:cNvPr id="437" name="Google Shape;437;p26"/>
          <p:cNvGraphicFramePr/>
          <p:nvPr/>
        </p:nvGraphicFramePr>
        <p:xfrm>
          <a:off x="548640" y="1417320"/>
          <a:ext cx="3000000" cy="3000000"/>
        </p:xfrm>
        <a:graphic>
          <a:graphicData uri="http://schemas.openxmlformats.org/drawingml/2006/table">
            <a:tbl>
              <a:tblPr>
                <a:noFill/>
                <a:tableStyleId>{5790C458-BB61-4800-A068-DD2F3961D878}</a:tableStyleId>
              </a:tblPr>
              <a:tblGrid>
                <a:gridCol w="1329650"/>
                <a:gridCol w="2925225"/>
              </a:tblGrid>
              <a:tr h="365375">
                <a:tc>
                  <a:txBody>
                    <a:bodyPr/>
                    <a:lstStyle/>
                    <a:p>
                      <a:pPr indent="0" lvl="0" marL="0" marR="0" rtl="0" algn="l">
                        <a:spcBef>
                          <a:spcPts val="0"/>
                        </a:spcBef>
                        <a:spcAft>
                          <a:spcPts val="0"/>
                        </a:spcAft>
                        <a:buClr>
                          <a:srgbClr val="FFFFFF"/>
                        </a:buClr>
                        <a:buSzPts val="1500"/>
                        <a:buFont typeface="Calibri"/>
                        <a:buNone/>
                      </a:pPr>
                      <a:r>
                        <a:rPr b="1" lang="en-US" sz="1500" u="none" cap="none" strike="noStrike">
                          <a:solidFill>
                            <a:srgbClr val="FFFFFF"/>
                          </a:solidFill>
                          <a:latin typeface="Calibri"/>
                          <a:ea typeface="Calibri"/>
                          <a:cs typeface="Calibri"/>
                          <a:sym typeface="Calibri"/>
                        </a:rPr>
                        <a:t>Pattern</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1F3A5F"/>
                    </a:solidFill>
                  </a:tcPr>
                </a:tc>
                <a:tc>
                  <a:txBody>
                    <a:bodyPr/>
                    <a:lstStyle/>
                    <a:p>
                      <a:pPr indent="0" lvl="0" marL="0" marR="0" rtl="0" algn="l">
                        <a:spcBef>
                          <a:spcPts val="0"/>
                        </a:spcBef>
                        <a:spcAft>
                          <a:spcPts val="0"/>
                        </a:spcAft>
                        <a:buClr>
                          <a:srgbClr val="FFFFFF"/>
                        </a:buClr>
                        <a:buSzPts val="1500"/>
                        <a:buFont typeface="Calibri"/>
                        <a:buNone/>
                      </a:pPr>
                      <a:r>
                        <a:rPr b="1" lang="en-US" sz="1500" u="none" cap="none" strike="noStrike">
                          <a:solidFill>
                            <a:srgbClr val="FFFFFF"/>
                          </a:solidFill>
                          <a:latin typeface="Calibri"/>
                          <a:ea typeface="Calibri"/>
                          <a:cs typeface="Calibri"/>
                          <a:sym typeface="Calibri"/>
                        </a:rPr>
                        <a:t>Signification</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1F3A5F"/>
                    </a:solidFill>
                  </a:tcPr>
                </a:tc>
              </a:tr>
              <a:tr h="365375">
                <a:tc>
                  <a:txBody>
                    <a:bodyPr/>
                    <a:lstStyle/>
                    <a:p>
                      <a:pPr indent="0" lvl="0" marL="0" marR="0" rtl="0" algn="l">
                        <a:spcBef>
                          <a:spcPts val="0"/>
                        </a:spcBef>
                        <a:spcAft>
                          <a:spcPts val="0"/>
                        </a:spcAft>
                        <a:buClr>
                          <a:srgbClr val="1F3A5F"/>
                        </a:buClr>
                        <a:buSzPts val="1500"/>
                        <a:buFont typeface="Courier New"/>
                        <a:buNone/>
                      </a:pPr>
                      <a:r>
                        <a:rPr lang="en-US" sz="1500" u="none" cap="none" strike="noStrike">
                          <a:solidFill>
                            <a:srgbClr val="1F3A5F"/>
                          </a:solidFill>
                          <a:latin typeface="Courier New"/>
                          <a:ea typeface="Courier New"/>
                          <a:cs typeface="Courier New"/>
                          <a:sym typeface="Courier New"/>
                        </a:rPr>
                        <a:t>\d</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F2933"/>
                        </a:buClr>
                        <a:buSzPts val="1500"/>
                        <a:buFont typeface="Calibri"/>
                        <a:buNone/>
                      </a:pPr>
                      <a:r>
                        <a:rPr lang="en-US" sz="1500" u="none" cap="none" strike="noStrike">
                          <a:solidFill>
                            <a:srgbClr val="1F2933"/>
                          </a:solidFill>
                          <a:latin typeface="Calibri"/>
                          <a:ea typeface="Calibri"/>
                          <a:cs typeface="Calibri"/>
                          <a:sym typeface="Calibri"/>
                        </a:rPr>
                        <a:t>un chiffre</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FFFFF"/>
                    </a:solidFill>
                  </a:tcPr>
                </a:tc>
              </a:tr>
              <a:tr h="584450">
                <a:tc>
                  <a:txBody>
                    <a:bodyPr/>
                    <a:lstStyle/>
                    <a:p>
                      <a:pPr indent="0" lvl="0" marL="0" marR="0" rtl="0" algn="l">
                        <a:spcBef>
                          <a:spcPts val="0"/>
                        </a:spcBef>
                        <a:spcAft>
                          <a:spcPts val="0"/>
                        </a:spcAft>
                        <a:buClr>
                          <a:srgbClr val="1F3A5F"/>
                        </a:buClr>
                        <a:buSzPts val="1500"/>
                        <a:buFont typeface="Courier New"/>
                        <a:buNone/>
                      </a:pPr>
                      <a:r>
                        <a:rPr lang="en-US" sz="1500" u="none" cap="none" strike="noStrike">
                          <a:solidFill>
                            <a:srgbClr val="1F3A5F"/>
                          </a:solidFill>
                          <a:latin typeface="Courier New"/>
                          <a:ea typeface="Courier New"/>
                          <a:cs typeface="Courier New"/>
                          <a:sym typeface="Courier New"/>
                        </a:rPr>
                        <a:t>\D</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7F9FB"/>
                    </a:solidFill>
                  </a:tcPr>
                </a:tc>
                <a:tc>
                  <a:txBody>
                    <a:bodyPr/>
                    <a:lstStyle/>
                    <a:p>
                      <a:pPr indent="0" lvl="0" marL="0" marR="0" rtl="0" algn="l">
                        <a:spcBef>
                          <a:spcPts val="0"/>
                        </a:spcBef>
                        <a:spcAft>
                          <a:spcPts val="0"/>
                        </a:spcAft>
                        <a:buClr>
                          <a:srgbClr val="1F2933"/>
                        </a:buClr>
                        <a:buSzPts val="1500"/>
                        <a:buFont typeface="Calibri"/>
                        <a:buNone/>
                      </a:pPr>
                      <a:r>
                        <a:rPr lang="en-US" sz="1500" u="none" cap="none" strike="noStrike">
                          <a:solidFill>
                            <a:srgbClr val="1F2933"/>
                          </a:solidFill>
                          <a:latin typeface="Calibri"/>
                          <a:ea typeface="Calibri"/>
                          <a:cs typeface="Calibri"/>
                          <a:sym typeface="Calibri"/>
                        </a:rPr>
                        <a:t>tout caractère qui n'est pas un chiffre</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7F9FB"/>
                    </a:solidFill>
                  </a:tcPr>
                </a:tc>
              </a:tr>
              <a:tr h="365375">
                <a:tc>
                  <a:txBody>
                    <a:bodyPr/>
                    <a:lstStyle/>
                    <a:p>
                      <a:pPr indent="0" lvl="0" marL="0" marR="0" rtl="0" algn="l">
                        <a:spcBef>
                          <a:spcPts val="0"/>
                        </a:spcBef>
                        <a:spcAft>
                          <a:spcPts val="0"/>
                        </a:spcAft>
                        <a:buClr>
                          <a:srgbClr val="1F3A5F"/>
                        </a:buClr>
                        <a:buSzPts val="1500"/>
                        <a:buFont typeface="Courier New"/>
                        <a:buNone/>
                      </a:pPr>
                      <a:r>
                        <a:rPr lang="en-US" sz="1500" u="none" cap="none" strike="noStrike">
                          <a:solidFill>
                            <a:srgbClr val="1F3A5F"/>
                          </a:solidFill>
                          <a:latin typeface="Courier New"/>
                          <a:ea typeface="Courier New"/>
                          <a:cs typeface="Courier New"/>
                          <a:sym typeface="Courier New"/>
                        </a:rPr>
                        <a:t>\s</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F2933"/>
                        </a:buClr>
                        <a:buSzPts val="1500"/>
                        <a:buFont typeface="Calibri"/>
                        <a:buNone/>
                      </a:pPr>
                      <a:r>
                        <a:rPr lang="en-US" sz="1500" u="none" cap="none" strike="noStrike">
                          <a:solidFill>
                            <a:srgbClr val="1F2933"/>
                          </a:solidFill>
                          <a:latin typeface="Calibri"/>
                          <a:ea typeface="Calibri"/>
                          <a:cs typeface="Calibri"/>
                          <a:sym typeface="Calibri"/>
                        </a:rPr>
                        <a:t>un espace</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FFFFF"/>
                    </a:solidFill>
                  </a:tcPr>
                </a:tc>
              </a:tr>
              <a:tr h="365375">
                <a:tc>
                  <a:txBody>
                    <a:bodyPr/>
                    <a:lstStyle/>
                    <a:p>
                      <a:pPr indent="0" lvl="0" marL="0" marR="0" rtl="0" algn="l">
                        <a:spcBef>
                          <a:spcPts val="0"/>
                        </a:spcBef>
                        <a:spcAft>
                          <a:spcPts val="0"/>
                        </a:spcAft>
                        <a:buClr>
                          <a:srgbClr val="1F3A5F"/>
                        </a:buClr>
                        <a:buSzPts val="1500"/>
                        <a:buFont typeface="Courier New"/>
                        <a:buNone/>
                      </a:pPr>
                      <a:r>
                        <a:rPr lang="en-US" sz="1500" u="none" cap="none" strike="noStrike">
                          <a:solidFill>
                            <a:srgbClr val="1F3A5F"/>
                          </a:solidFill>
                          <a:latin typeface="Courier New"/>
                          <a:ea typeface="Courier New"/>
                          <a:cs typeface="Courier New"/>
                          <a:sym typeface="Courier New"/>
                        </a:rPr>
                        <a:t>+</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7F9FB"/>
                    </a:solidFill>
                  </a:tcPr>
                </a:tc>
                <a:tc>
                  <a:txBody>
                    <a:bodyPr/>
                    <a:lstStyle/>
                    <a:p>
                      <a:pPr indent="0" lvl="0" marL="0" marR="0" rtl="0" algn="l">
                        <a:spcBef>
                          <a:spcPts val="0"/>
                        </a:spcBef>
                        <a:spcAft>
                          <a:spcPts val="0"/>
                        </a:spcAft>
                        <a:buClr>
                          <a:srgbClr val="1F2933"/>
                        </a:buClr>
                        <a:buSzPts val="1500"/>
                        <a:buFont typeface="Calibri"/>
                        <a:buNone/>
                      </a:pPr>
                      <a:r>
                        <a:rPr lang="en-US" sz="1500" u="none" cap="none" strike="noStrike">
                          <a:solidFill>
                            <a:srgbClr val="1F2933"/>
                          </a:solidFill>
                          <a:latin typeface="Calibri"/>
                          <a:ea typeface="Calibri"/>
                          <a:cs typeface="Calibri"/>
                          <a:sym typeface="Calibri"/>
                        </a:rPr>
                        <a:t>une ou plusieurs fois</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7F9FB"/>
                    </a:solidFill>
                  </a:tcPr>
                </a:tc>
              </a:tr>
              <a:tr h="365375">
                <a:tc>
                  <a:txBody>
                    <a:bodyPr/>
                    <a:lstStyle/>
                    <a:p>
                      <a:pPr indent="0" lvl="0" marL="0" marR="0" rtl="0" algn="l">
                        <a:spcBef>
                          <a:spcPts val="0"/>
                        </a:spcBef>
                        <a:spcAft>
                          <a:spcPts val="0"/>
                        </a:spcAft>
                        <a:buClr>
                          <a:srgbClr val="1F3A5F"/>
                        </a:buClr>
                        <a:buSzPts val="1500"/>
                        <a:buFont typeface="Courier New"/>
                        <a:buNone/>
                      </a:pPr>
                      <a:r>
                        <a:rPr lang="en-US" sz="1500" u="none" cap="none" strike="noStrike">
                          <a:solidFill>
                            <a:srgbClr val="1F3A5F"/>
                          </a:solidFill>
                          <a:latin typeface="Courier New"/>
                          <a:ea typeface="Courier New"/>
                          <a:cs typeface="Courier New"/>
                          <a:sym typeface="Courier New"/>
                        </a:rPr>
                        <a:t>^</a:t>
                      </a:r>
                      <a:r>
                        <a:rPr lang="en-US" sz="1500" u="none" cap="none" strike="noStrike">
                          <a:solidFill>
                            <a:srgbClr val="1F2933"/>
                          </a:solidFill>
                          <a:latin typeface="Calibri"/>
                          <a:ea typeface="Calibri"/>
                          <a:cs typeface="Calibri"/>
                          <a:sym typeface="Calibri"/>
                        </a:rPr>
                        <a:t>, </a:t>
                      </a:r>
                      <a:r>
                        <a:rPr lang="en-US" sz="1500" u="none" cap="none" strike="noStrike">
                          <a:solidFill>
                            <a:srgbClr val="1F3A5F"/>
                          </a:solidFill>
                          <a:latin typeface="Courier New"/>
                          <a:ea typeface="Courier New"/>
                          <a:cs typeface="Courier New"/>
                          <a:sym typeface="Courier New"/>
                        </a:rPr>
                        <a:t>$</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F2933"/>
                        </a:buClr>
                        <a:buSzPts val="1500"/>
                        <a:buFont typeface="Calibri"/>
                        <a:buNone/>
                      </a:pPr>
                      <a:r>
                        <a:rPr lang="en-US" sz="1500" u="none" cap="none" strike="noStrike">
                          <a:solidFill>
                            <a:srgbClr val="1F2933"/>
                          </a:solidFill>
                          <a:latin typeface="Calibri"/>
                          <a:ea typeface="Calibri"/>
                          <a:cs typeface="Calibri"/>
                          <a:sym typeface="Calibri"/>
                        </a:rPr>
                        <a:t>début, fin de la chaîne</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FFFFF"/>
                    </a:solidFill>
                  </a:tcPr>
                </a:tc>
              </a:tr>
              <a:tr h="365375">
                <a:tc>
                  <a:txBody>
                    <a:bodyPr/>
                    <a:lstStyle/>
                    <a:p>
                      <a:pPr indent="0" lvl="0" marL="0" marR="0" rtl="0" algn="l">
                        <a:spcBef>
                          <a:spcPts val="0"/>
                        </a:spcBef>
                        <a:spcAft>
                          <a:spcPts val="0"/>
                        </a:spcAft>
                        <a:buClr>
                          <a:srgbClr val="1F3A5F"/>
                        </a:buClr>
                        <a:buSzPts val="1500"/>
                        <a:buFont typeface="Courier New"/>
                        <a:buNone/>
                      </a:pPr>
                      <a:r>
                        <a:rPr lang="en-US" sz="1500" u="none" cap="none" strike="noStrike">
                          <a:solidFill>
                            <a:srgbClr val="1F3A5F"/>
                          </a:solidFill>
                          <a:latin typeface="Courier New"/>
                          <a:ea typeface="Courier New"/>
                          <a:cs typeface="Courier New"/>
                          <a:sym typeface="Courier New"/>
                        </a:rPr>
                        <a:t>[A-Z]</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7F9FB"/>
                    </a:solidFill>
                  </a:tcPr>
                </a:tc>
                <a:tc>
                  <a:txBody>
                    <a:bodyPr/>
                    <a:lstStyle/>
                    <a:p>
                      <a:pPr indent="0" lvl="0" marL="0" marR="0" rtl="0" algn="l">
                        <a:spcBef>
                          <a:spcPts val="0"/>
                        </a:spcBef>
                        <a:spcAft>
                          <a:spcPts val="0"/>
                        </a:spcAft>
                        <a:buClr>
                          <a:srgbClr val="1F2933"/>
                        </a:buClr>
                        <a:buSzPts val="1500"/>
                        <a:buFont typeface="Calibri"/>
                        <a:buNone/>
                      </a:pPr>
                      <a:r>
                        <a:rPr lang="en-US" sz="1500" u="none" cap="none" strike="noStrike">
                          <a:solidFill>
                            <a:srgbClr val="1F2933"/>
                          </a:solidFill>
                          <a:latin typeface="Calibri"/>
                          <a:ea typeface="Calibri"/>
                          <a:cs typeface="Calibri"/>
                          <a:sym typeface="Calibri"/>
                        </a:rPr>
                        <a:t>une lettre majuscule</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7F9FB"/>
                    </a:solidFill>
                  </a:tcPr>
                </a:tc>
              </a:tr>
              <a:tr h="365375">
                <a:tc>
                  <a:txBody>
                    <a:bodyPr/>
                    <a:lstStyle/>
                    <a:p>
                      <a:pPr indent="0" lvl="0" marL="0" marR="0" rtl="0" algn="l">
                        <a:spcBef>
                          <a:spcPts val="0"/>
                        </a:spcBef>
                        <a:spcAft>
                          <a:spcPts val="0"/>
                        </a:spcAft>
                        <a:buClr>
                          <a:srgbClr val="1F3A5F"/>
                        </a:buClr>
                        <a:buSzPts val="1500"/>
                        <a:buFont typeface="Courier New"/>
                        <a:buNone/>
                      </a:pPr>
                      <a:r>
                        <a:rPr lang="en-US" sz="1500" u="none" cap="none" strike="noStrike">
                          <a:solidFill>
                            <a:srgbClr val="1F3A5F"/>
                          </a:solidFill>
                          <a:latin typeface="Courier New"/>
                          <a:ea typeface="Courier New"/>
                          <a:cs typeface="Courier New"/>
                          <a:sym typeface="Courier New"/>
                        </a:rPr>
                        <a:t>( )</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F2933"/>
                        </a:buClr>
                        <a:buSzPts val="1500"/>
                        <a:buFont typeface="Calibri"/>
                        <a:buNone/>
                      </a:pPr>
                      <a:r>
                        <a:rPr lang="en-US" sz="1500" u="none" cap="none" strike="noStrike">
                          <a:solidFill>
                            <a:srgbClr val="1F2933"/>
                          </a:solidFill>
                          <a:latin typeface="Calibri"/>
                          <a:ea typeface="Calibri"/>
                          <a:cs typeface="Calibri"/>
                          <a:sym typeface="Calibri"/>
                        </a:rPr>
                        <a:t>la partie à extraire</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FFFFF"/>
                    </a:solidFill>
                  </a:tcPr>
                </a:tc>
              </a:tr>
            </a:tbl>
          </a:graphicData>
        </a:graphic>
      </p:graphicFrame>
      <p:sp>
        <p:nvSpPr>
          <p:cNvPr id="438" name="Google Shape;438;p26"/>
          <p:cNvSpPr txBox="1"/>
          <p:nvPr/>
        </p:nvSpPr>
        <p:spPr>
          <a:xfrm>
            <a:off x="5260726" y="1417320"/>
            <a:ext cx="6382329"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F3A5F"/>
              </a:buClr>
              <a:buSzPts val="1700"/>
              <a:buFont typeface="Calibri"/>
              <a:buNone/>
            </a:pPr>
            <a:r>
              <a:rPr b="1" i="0" lang="en-US" sz="1700" u="none" cap="none" strike="noStrike">
                <a:solidFill>
                  <a:srgbClr val="1F3A5F"/>
                </a:solidFill>
                <a:latin typeface="Calibri"/>
                <a:ea typeface="Calibri"/>
                <a:cs typeface="Calibri"/>
                <a:sym typeface="Calibri"/>
              </a:rPr>
              <a:t>Ne garder que les chiffres</a:t>
            </a:r>
            <a:endParaRPr b="0" i="0" sz="1700" u="none" cap="none" strike="noStrike">
              <a:solidFill>
                <a:schemeClr val="dk1"/>
              </a:solidFill>
              <a:latin typeface="Calibri"/>
              <a:ea typeface="Calibri"/>
              <a:cs typeface="Calibri"/>
              <a:sym typeface="Calibri"/>
            </a:endParaRPr>
          </a:p>
        </p:txBody>
      </p:sp>
      <p:sp>
        <p:nvSpPr>
          <p:cNvPr id="439" name="Google Shape;439;p26"/>
          <p:cNvSpPr/>
          <p:nvPr/>
        </p:nvSpPr>
        <p:spPr>
          <a:xfrm>
            <a:off x="5260726" y="1828800"/>
            <a:ext cx="6382329" cy="1641348"/>
          </a:xfrm>
          <a:prstGeom prst="rect">
            <a:avLst/>
          </a:prstGeom>
          <a:solidFill>
            <a:srgbClr val="F3F4F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0" name="Google Shape;440;p26"/>
          <p:cNvSpPr txBox="1"/>
          <p:nvPr/>
        </p:nvSpPr>
        <p:spPr>
          <a:xfrm>
            <a:off x="5443606" y="1975104"/>
            <a:ext cx="6016569" cy="13487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F2933"/>
              </a:buClr>
              <a:buSzPts val="1500"/>
              <a:buFont typeface="Courier New"/>
              <a:buNone/>
            </a:pPr>
            <a:r>
              <a:rPr b="0" i="0" lang="en-US" sz="1500" u="none" cap="none" strike="noStrike">
                <a:solidFill>
                  <a:srgbClr val="1F2933"/>
                </a:solidFill>
                <a:latin typeface="Courier New"/>
                <a:ea typeface="Courier New"/>
                <a:cs typeface="Courier New"/>
                <a:sym typeface="Courier New"/>
              </a:rPr>
              <a:t>telephones = pd.Series(["01 23 45 67 89",</a:t>
            </a:r>
            <a:endParaRPr b="0" i="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F2933"/>
              </a:buClr>
              <a:buSzPts val="1500"/>
              <a:buFont typeface="Courier New"/>
              <a:buNone/>
            </a:pPr>
            <a:r>
              <a:rPr b="0" i="0" lang="en-US" sz="1500" u="none" cap="none" strike="noStrike">
                <a:solidFill>
                  <a:srgbClr val="1F2933"/>
                </a:solidFill>
                <a:latin typeface="Courier New"/>
                <a:ea typeface="Courier New"/>
                <a:cs typeface="Courier New"/>
                <a:sym typeface="Courier New"/>
              </a:rPr>
              <a:t>                        "01.23.45.67.89",</a:t>
            </a:r>
            <a:endParaRPr b="0" i="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F2933"/>
              </a:buClr>
              <a:buSzPts val="1500"/>
              <a:buFont typeface="Courier New"/>
              <a:buNone/>
            </a:pPr>
            <a:r>
              <a:rPr b="0" i="0" lang="en-US" sz="1500" u="none" cap="none" strike="noStrike">
                <a:solidFill>
                  <a:srgbClr val="1F2933"/>
                </a:solidFill>
                <a:latin typeface="Courier New"/>
                <a:ea typeface="Courier New"/>
                <a:cs typeface="Courier New"/>
                <a:sym typeface="Courier New"/>
              </a:rPr>
              <a:t>                        "01-23-45-67-89"])</a:t>
            </a:r>
            <a:endParaRPr b="0" i="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F2933"/>
              </a:buClr>
              <a:buSzPts val="1500"/>
              <a:buFont typeface="Courier New"/>
              <a:buNone/>
            </a:pPr>
            <a:r>
              <a:rPr b="0" i="0" lang="en-US" sz="1500" u="none" cap="none" strike="noStrike">
                <a:solidFill>
                  <a:srgbClr val="1F2933"/>
                </a:solidFill>
                <a:latin typeface="Courier New"/>
                <a:ea typeface="Courier New"/>
                <a:cs typeface="Courier New"/>
                <a:sym typeface="Courier New"/>
              </a:rPr>
              <a:t> </a:t>
            </a:r>
            <a:endParaRPr b="0" i="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F2933"/>
              </a:buClr>
              <a:buSzPts val="1500"/>
              <a:buFont typeface="Courier New"/>
              <a:buNone/>
            </a:pPr>
            <a:r>
              <a:rPr b="0" i="0" lang="en-US" sz="1500" u="none" cap="none" strike="noStrike">
                <a:solidFill>
                  <a:srgbClr val="1F2933"/>
                </a:solidFill>
                <a:latin typeface="Courier New"/>
                <a:ea typeface="Courier New"/>
                <a:cs typeface="Courier New"/>
                <a:sym typeface="Courier New"/>
              </a:rPr>
              <a:t>telephones.str.replace(r"\D", "", regex=True)</a:t>
            </a:r>
            <a:endParaRPr b="0" i="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B7280"/>
              </a:buClr>
              <a:buSzPts val="1500"/>
              <a:buFont typeface="Courier New"/>
              <a:buNone/>
            </a:pPr>
            <a:r>
              <a:rPr b="0" i="0" lang="en-US" sz="1500" u="none" cap="none" strike="noStrike">
                <a:solidFill>
                  <a:srgbClr val="6B7280"/>
                </a:solidFill>
                <a:latin typeface="Courier New"/>
                <a:ea typeface="Courier New"/>
                <a:cs typeface="Courier New"/>
                <a:sym typeface="Courier New"/>
              </a:rPr>
              <a:t># "0123456789" pour les trois</a:t>
            </a:r>
            <a:endParaRPr b="0" i="0" sz="1500" u="none" cap="none" strike="noStrike">
              <a:solidFill>
                <a:schemeClr val="dk1"/>
              </a:solidFill>
              <a:latin typeface="Calibri"/>
              <a:ea typeface="Calibri"/>
              <a:cs typeface="Calibri"/>
              <a:sym typeface="Calibri"/>
            </a:endParaRPr>
          </a:p>
        </p:txBody>
      </p:sp>
      <p:sp>
        <p:nvSpPr>
          <p:cNvPr id="441" name="Google Shape;441;p26"/>
          <p:cNvSpPr txBox="1"/>
          <p:nvPr/>
        </p:nvSpPr>
        <p:spPr>
          <a:xfrm>
            <a:off x="5260726" y="3790188"/>
            <a:ext cx="6382329" cy="6248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F3A5F"/>
              </a:buClr>
              <a:buSzPts val="1600"/>
              <a:buFont typeface="Courier New"/>
              <a:buNone/>
            </a:pPr>
            <a:r>
              <a:rPr b="0" i="0" lang="en-US" sz="1600" u="none" cap="none" strike="noStrike">
                <a:solidFill>
                  <a:srgbClr val="1F3A5F"/>
                </a:solidFill>
                <a:latin typeface="Courier New"/>
                <a:ea typeface="Courier New"/>
                <a:cs typeface="Courier New"/>
                <a:sym typeface="Courier New"/>
              </a:rPr>
              <a:t>\D</a:t>
            </a:r>
            <a:r>
              <a:rPr b="0" i="0" lang="en-US" sz="1600" u="none" cap="none" strike="noStrike">
                <a:solidFill>
                  <a:srgbClr val="6B7280"/>
                </a:solidFill>
                <a:latin typeface="Calibri"/>
                <a:ea typeface="Calibri"/>
                <a:cs typeface="Calibri"/>
                <a:sym typeface="Calibri"/>
              </a:rPr>
              <a:t> désigne tout ce qui n'est pas un chiffre : espaces, points et tirets disparaissent.</a:t>
            </a:r>
            <a:endParaRPr b="0" i="0" sz="1600" u="none" cap="none" strike="noStrike">
              <a:solidFill>
                <a:schemeClr val="dk1"/>
              </a:solidFill>
              <a:latin typeface="Calibri"/>
              <a:ea typeface="Calibri"/>
              <a:cs typeface="Calibri"/>
              <a:sym typeface="Calibri"/>
            </a:endParaRPr>
          </a:p>
        </p:txBody>
      </p:sp>
      <p:sp>
        <p:nvSpPr>
          <p:cNvPr id="442" name="Google Shape;442;p26"/>
          <p:cNvSpPr txBox="1"/>
          <p:nvPr/>
        </p:nvSpPr>
        <p:spPr>
          <a:xfrm>
            <a:off x="548640" y="6400800"/>
            <a:ext cx="73152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B7280"/>
              </a:buClr>
              <a:buSzPts val="1000"/>
              <a:buFont typeface="Calibri"/>
              <a:buNone/>
            </a:pPr>
            <a:r>
              <a:rPr b="0" i="0" lang="en-US" sz="1000" u="none" cap="none" strike="noStrike">
                <a:solidFill>
                  <a:srgbClr val="6B7280"/>
                </a:solidFill>
                <a:latin typeface="Calibri"/>
                <a:ea typeface="Calibri"/>
                <a:cs typeface="Calibri"/>
                <a:sym typeface="Calibri"/>
              </a:rPr>
              <a:t>Analyse de données avec Python   |   Jour 1, après-midi</a:t>
            </a:r>
            <a:endParaRPr b="0" i="0" sz="1000" u="none" cap="none" strike="noStrike">
              <a:solidFill>
                <a:schemeClr val="dk1"/>
              </a:solidFill>
              <a:latin typeface="Calibri"/>
              <a:ea typeface="Calibri"/>
              <a:cs typeface="Calibri"/>
              <a:sym typeface="Calibri"/>
            </a:endParaRPr>
          </a:p>
        </p:txBody>
      </p:sp>
      <p:sp>
        <p:nvSpPr>
          <p:cNvPr id="443" name="Google Shape;443;p26"/>
          <p:cNvSpPr txBox="1"/>
          <p:nvPr>
            <p:ph idx="4294967295" type="sldNum"/>
          </p:nvPr>
        </p:nvSpPr>
        <p:spPr>
          <a:xfrm>
            <a:off x="11094415" y="6400800"/>
            <a:ext cx="548640" cy="27432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000" u="none" cap="none" strike="noStrike">
                <a:solidFill>
                  <a:srgbClr val="6B7280"/>
                </a:solidFill>
                <a:latin typeface="Calibri"/>
                <a:ea typeface="Calibri"/>
                <a:cs typeface="Calibri"/>
                <a:sym typeface="Calibri"/>
              </a:rPr>
              <a:t>‹#›</a:t>
            </a:fld>
            <a:endParaRPr b="0" i="0" sz="1000" u="none" cap="none" strike="noStrike">
              <a:solidFill>
                <a:srgbClr val="6B7280"/>
              </a:solidFill>
              <a:latin typeface="Calibri"/>
              <a:ea typeface="Calibri"/>
              <a:cs typeface="Calibri"/>
              <a:sym typeface="Calibri"/>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48" name="Shape 448"/>
        <p:cNvGrpSpPr/>
        <p:nvPr/>
      </p:nvGrpSpPr>
      <p:grpSpPr>
        <a:xfrm>
          <a:off x="0" y="0"/>
          <a:ext cx="0" cy="0"/>
          <a:chOff x="0" y="0"/>
          <a:chExt cx="0" cy="0"/>
        </a:xfrm>
      </p:grpSpPr>
      <p:sp>
        <p:nvSpPr>
          <p:cNvPr id="449" name="Google Shape;449;p27"/>
          <p:cNvSpPr/>
          <p:nvPr/>
        </p:nvSpPr>
        <p:spPr>
          <a:xfrm>
            <a:off x="548640" y="566928"/>
            <a:ext cx="475488" cy="475488"/>
          </a:xfrm>
          <a:prstGeom prst="ellipse">
            <a:avLst/>
          </a:prstGeom>
          <a:solidFill>
            <a:srgbClr val="2F7D6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0" name="Google Shape;450;p27"/>
          <p:cNvSpPr txBox="1"/>
          <p:nvPr/>
        </p:nvSpPr>
        <p:spPr>
          <a:xfrm>
            <a:off x="548640" y="566928"/>
            <a:ext cx="475488" cy="47548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3</a:t>
            </a:r>
            <a:endParaRPr b="0" i="0" sz="1600" u="none" cap="none" strike="noStrike">
              <a:solidFill>
                <a:schemeClr val="dk1"/>
              </a:solidFill>
              <a:latin typeface="Calibri"/>
              <a:ea typeface="Calibri"/>
              <a:cs typeface="Calibri"/>
              <a:sym typeface="Calibri"/>
            </a:endParaRPr>
          </a:p>
        </p:txBody>
      </p:sp>
      <p:sp>
        <p:nvSpPr>
          <p:cNvPr id="451" name="Google Shape;451;p27"/>
          <p:cNvSpPr txBox="1"/>
          <p:nvPr/>
        </p:nvSpPr>
        <p:spPr>
          <a:xfrm>
            <a:off x="1280160" y="164592"/>
            <a:ext cx="10362895"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F7D62"/>
              </a:buClr>
              <a:buSzPts val="1200"/>
              <a:buFont typeface="Calibri"/>
              <a:buNone/>
            </a:pPr>
            <a:r>
              <a:rPr b="1" i="0" lang="en-US" sz="1200" u="none" cap="none" strike="noStrike">
                <a:solidFill>
                  <a:srgbClr val="2F7D62"/>
                </a:solidFill>
                <a:latin typeface="Calibri"/>
                <a:ea typeface="Calibri"/>
                <a:cs typeface="Calibri"/>
                <a:sym typeface="Calibri"/>
              </a:rPr>
              <a:t>NETTOYER LE TEXTE</a:t>
            </a:r>
            <a:endParaRPr b="0" i="0" sz="1200" u="none" cap="none" strike="noStrike">
              <a:solidFill>
                <a:schemeClr val="dk1"/>
              </a:solidFill>
              <a:latin typeface="Calibri"/>
              <a:ea typeface="Calibri"/>
              <a:cs typeface="Calibri"/>
              <a:sym typeface="Calibri"/>
            </a:endParaRPr>
          </a:p>
        </p:txBody>
      </p:sp>
      <p:sp>
        <p:nvSpPr>
          <p:cNvPr id="452" name="Google Shape;452;p27"/>
          <p:cNvSpPr txBox="1"/>
          <p:nvPr/>
        </p:nvSpPr>
        <p:spPr>
          <a:xfrm>
            <a:off x="1280160" y="457200"/>
            <a:ext cx="10362895" cy="6949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F3A5F"/>
              </a:buClr>
              <a:buSzPts val="3000"/>
              <a:buFont typeface="Cambria"/>
              <a:buNone/>
            </a:pPr>
            <a:r>
              <a:rPr b="1" i="0" lang="en-US" sz="3000" u="none" cap="none" strike="noStrike">
                <a:solidFill>
                  <a:srgbClr val="1F3A5F"/>
                </a:solidFill>
                <a:latin typeface="Cambria"/>
                <a:ea typeface="Cambria"/>
                <a:cs typeface="Cambria"/>
                <a:sym typeface="Cambria"/>
              </a:rPr>
              <a:t>Pratique : TP2, partie 3</a:t>
            </a:r>
            <a:endParaRPr b="0" i="0" sz="3000" u="none" cap="none" strike="noStrike">
              <a:solidFill>
                <a:schemeClr val="dk1"/>
              </a:solidFill>
              <a:latin typeface="Calibri"/>
              <a:ea typeface="Calibri"/>
              <a:cs typeface="Calibri"/>
              <a:sym typeface="Calibri"/>
            </a:endParaRPr>
          </a:p>
        </p:txBody>
      </p:sp>
      <p:sp>
        <p:nvSpPr>
          <p:cNvPr id="453" name="Google Shape;453;p27"/>
          <p:cNvSpPr txBox="1"/>
          <p:nvPr/>
        </p:nvSpPr>
        <p:spPr>
          <a:xfrm>
            <a:off x="548640" y="1417320"/>
            <a:ext cx="11094415" cy="411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B7280"/>
              </a:buClr>
              <a:buSzPts val="1800"/>
              <a:buFont typeface="Calibri"/>
              <a:buNone/>
            </a:pPr>
            <a:r>
              <a:rPr b="0" i="0" lang="en-US" sz="1800" u="none" cap="none" strike="noStrike">
                <a:solidFill>
                  <a:srgbClr val="6B7280"/>
                </a:solidFill>
                <a:latin typeface="Calibri"/>
                <a:ea typeface="Calibri"/>
                <a:cs typeface="Calibri"/>
                <a:sym typeface="Calibri"/>
              </a:rPr>
              <a:t>Nettoyer le texte avec l'accesseur </a:t>
            </a:r>
            <a:r>
              <a:rPr b="0" i="0" lang="en-US" sz="1800" u="none" cap="none" strike="noStrike">
                <a:solidFill>
                  <a:srgbClr val="1F3A5F"/>
                </a:solidFill>
                <a:latin typeface="Courier New"/>
                <a:ea typeface="Courier New"/>
                <a:cs typeface="Courier New"/>
                <a:sym typeface="Courier New"/>
              </a:rPr>
              <a:t>.str</a:t>
            </a:r>
            <a:endParaRPr b="0" i="0" sz="1800" u="none" cap="none" strike="noStrike">
              <a:solidFill>
                <a:schemeClr val="dk1"/>
              </a:solidFill>
              <a:latin typeface="Calibri"/>
              <a:ea typeface="Calibri"/>
              <a:cs typeface="Calibri"/>
              <a:sym typeface="Calibri"/>
            </a:endParaRPr>
          </a:p>
        </p:txBody>
      </p:sp>
      <p:graphicFrame>
        <p:nvGraphicFramePr>
          <p:cNvPr id="454" name="Google Shape;454;p27"/>
          <p:cNvGraphicFramePr/>
          <p:nvPr/>
        </p:nvGraphicFramePr>
        <p:xfrm>
          <a:off x="548640" y="2011680"/>
          <a:ext cx="3000000" cy="3000000"/>
        </p:xfrm>
        <a:graphic>
          <a:graphicData uri="http://schemas.openxmlformats.org/drawingml/2006/table">
            <a:tbl>
              <a:tblPr>
                <a:noFill/>
                <a:tableStyleId>{5790C458-BB61-4800-A068-DD2F3961D878}</a:tableStyleId>
              </a:tblPr>
              <a:tblGrid>
                <a:gridCol w="2289325"/>
                <a:gridCol w="8805100"/>
              </a:tblGrid>
              <a:tr h="379975">
                <a:tc>
                  <a:txBody>
                    <a:bodyPr/>
                    <a:lstStyle/>
                    <a:p>
                      <a:pPr indent="0" lvl="0" marL="0" marR="0" rtl="0" algn="l">
                        <a:spcBef>
                          <a:spcPts val="0"/>
                        </a:spcBef>
                        <a:spcAft>
                          <a:spcPts val="0"/>
                        </a:spcAft>
                        <a:buClr>
                          <a:srgbClr val="FFFFFF"/>
                        </a:buClr>
                        <a:buSzPts val="1600"/>
                        <a:buFont typeface="Calibri"/>
                        <a:buNone/>
                      </a:pPr>
                      <a:r>
                        <a:rPr b="1" lang="en-US" sz="1600" u="none" cap="none" strike="noStrike">
                          <a:solidFill>
                            <a:srgbClr val="FFFFFF"/>
                          </a:solidFill>
                          <a:latin typeface="Calibri"/>
                          <a:ea typeface="Calibri"/>
                          <a:cs typeface="Calibri"/>
                          <a:sym typeface="Calibri"/>
                        </a:rPr>
                        <a:t>Questions</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1F3A5F"/>
                    </a:solidFill>
                  </a:tcPr>
                </a:tc>
                <a:tc>
                  <a:txBody>
                    <a:bodyPr/>
                    <a:lstStyle/>
                    <a:p>
                      <a:pPr indent="0" lvl="0" marL="0" marR="0" rtl="0" algn="l">
                        <a:spcBef>
                          <a:spcPts val="0"/>
                        </a:spcBef>
                        <a:spcAft>
                          <a:spcPts val="0"/>
                        </a:spcAft>
                        <a:buClr>
                          <a:srgbClr val="FFFFFF"/>
                        </a:buClr>
                        <a:buSzPts val="1600"/>
                        <a:buFont typeface="Calibri"/>
                        <a:buNone/>
                      </a:pPr>
                      <a:r>
                        <a:rPr b="1" lang="en-US" sz="1600" u="none" cap="none" strike="noStrike">
                          <a:solidFill>
                            <a:srgbClr val="FFFFFF"/>
                          </a:solidFill>
                          <a:latin typeface="Calibri"/>
                          <a:ea typeface="Calibri"/>
                          <a:cs typeface="Calibri"/>
                          <a:sym typeface="Calibri"/>
                        </a:rPr>
                        <a:t>Ce qu'on pratique</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1F3A5F"/>
                    </a:solidFill>
                  </a:tcPr>
                </a:tc>
              </a:tr>
              <a:tr h="379975">
                <a:tc>
                  <a:txBody>
                    <a:bodyPr/>
                    <a:lstStyle/>
                    <a:p>
                      <a:pPr indent="0" lvl="0" marL="0" marR="0" rtl="0" algn="l">
                        <a:spcBef>
                          <a:spcPts val="0"/>
                        </a:spcBef>
                        <a:spcAft>
                          <a:spcPts val="0"/>
                        </a:spcAft>
                        <a:buClr>
                          <a:srgbClr val="1F2933"/>
                        </a:buClr>
                        <a:buSzPts val="1600"/>
                        <a:buFont typeface="Calibri"/>
                        <a:buNone/>
                      </a:pPr>
                      <a:r>
                        <a:rPr b="1" lang="en-US" sz="1600" u="none" cap="none" strike="noStrike">
                          <a:solidFill>
                            <a:srgbClr val="1F2933"/>
                          </a:solidFill>
                          <a:latin typeface="Calibri"/>
                          <a:ea typeface="Calibri"/>
                          <a:cs typeface="Calibri"/>
                          <a:sym typeface="Calibri"/>
                        </a:rPr>
                        <a:t>3.1</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F2933"/>
                        </a:buClr>
                        <a:buSzPts val="1600"/>
                        <a:buFont typeface="Calibri"/>
                        <a:buNone/>
                      </a:pPr>
                      <a:r>
                        <a:rPr lang="en-US" sz="1600" u="none" cap="none" strike="noStrike">
                          <a:solidFill>
                            <a:srgbClr val="1F2933"/>
                          </a:solidFill>
                          <a:latin typeface="Calibri"/>
                          <a:ea typeface="Calibri"/>
                          <a:cs typeface="Calibri"/>
                          <a:sym typeface="Calibri"/>
                        </a:rPr>
                        <a:t>nettoyer des noms de villes : espaces, majuscules, valeur manquante</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FFFFF"/>
                    </a:solidFill>
                  </a:tcPr>
                </a:tc>
              </a:tr>
              <a:tr h="379975">
                <a:tc>
                  <a:txBody>
                    <a:bodyPr/>
                    <a:lstStyle/>
                    <a:p>
                      <a:pPr indent="0" lvl="0" marL="0" marR="0" rtl="0" algn="l">
                        <a:spcBef>
                          <a:spcPts val="0"/>
                        </a:spcBef>
                        <a:spcAft>
                          <a:spcPts val="0"/>
                        </a:spcAft>
                        <a:buClr>
                          <a:srgbClr val="1F2933"/>
                        </a:buClr>
                        <a:buSzPts val="1600"/>
                        <a:buFont typeface="Calibri"/>
                        <a:buNone/>
                      </a:pPr>
                      <a:r>
                        <a:rPr b="1" lang="en-US" sz="1600" u="none" cap="none" strike="noStrike">
                          <a:solidFill>
                            <a:srgbClr val="1F2933"/>
                          </a:solidFill>
                          <a:latin typeface="Calibri"/>
                          <a:ea typeface="Calibri"/>
                          <a:cs typeface="Calibri"/>
                          <a:sym typeface="Calibri"/>
                        </a:rPr>
                        <a:t>3.2</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7F9FB"/>
                    </a:solidFill>
                  </a:tcPr>
                </a:tc>
                <a:tc>
                  <a:txBody>
                    <a:bodyPr/>
                    <a:lstStyle/>
                    <a:p>
                      <a:pPr indent="0" lvl="0" marL="0" marR="0" rtl="0" algn="l">
                        <a:spcBef>
                          <a:spcPts val="0"/>
                        </a:spcBef>
                        <a:spcAft>
                          <a:spcPts val="0"/>
                        </a:spcAft>
                        <a:buClr>
                          <a:srgbClr val="1F2933"/>
                        </a:buClr>
                        <a:buSzPts val="1600"/>
                        <a:buFont typeface="Calibri"/>
                        <a:buNone/>
                      </a:pPr>
                      <a:r>
                        <a:rPr lang="en-US" sz="1600" u="none" cap="none" strike="noStrike">
                          <a:solidFill>
                            <a:srgbClr val="1F2933"/>
                          </a:solidFill>
                          <a:latin typeface="Calibri"/>
                          <a:ea typeface="Calibri"/>
                          <a:cs typeface="Calibri"/>
                          <a:sym typeface="Calibri"/>
                        </a:rPr>
                        <a:t>compter les produits qui contiennent un mot, sans tenir compte de la casse</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7F9FB"/>
                    </a:solidFill>
                  </a:tcPr>
                </a:tc>
              </a:tr>
              <a:tr h="379975">
                <a:tc>
                  <a:txBody>
                    <a:bodyPr/>
                    <a:lstStyle/>
                    <a:p>
                      <a:pPr indent="0" lvl="0" marL="0" marR="0" rtl="0" algn="l">
                        <a:spcBef>
                          <a:spcPts val="0"/>
                        </a:spcBef>
                        <a:spcAft>
                          <a:spcPts val="0"/>
                        </a:spcAft>
                        <a:buClr>
                          <a:srgbClr val="1F2933"/>
                        </a:buClr>
                        <a:buSzPts val="1600"/>
                        <a:buFont typeface="Calibri"/>
                        <a:buNone/>
                      </a:pPr>
                      <a:r>
                        <a:rPr b="1" lang="en-US" sz="1600" u="none" cap="none" strike="noStrike">
                          <a:solidFill>
                            <a:srgbClr val="1F2933"/>
                          </a:solidFill>
                          <a:latin typeface="Calibri"/>
                          <a:ea typeface="Calibri"/>
                          <a:cs typeface="Calibri"/>
                          <a:sym typeface="Calibri"/>
                        </a:rPr>
                        <a:t>3.3</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F2933"/>
                        </a:buClr>
                        <a:buSzPts val="1600"/>
                        <a:buFont typeface="Calibri"/>
                        <a:buNone/>
                      </a:pPr>
                      <a:r>
                        <a:rPr lang="en-US" sz="1600" u="none" cap="none" strike="noStrike">
                          <a:solidFill>
                            <a:srgbClr val="1F2933"/>
                          </a:solidFill>
                          <a:latin typeface="Calibri"/>
                          <a:ea typeface="Calibri"/>
                          <a:cs typeface="Calibri"/>
                          <a:sym typeface="Calibri"/>
                        </a:rPr>
                        <a:t>extraire un numéro avec </a:t>
                      </a:r>
                      <a:r>
                        <a:rPr lang="en-US" sz="1600" u="none" cap="none" strike="noStrike">
                          <a:solidFill>
                            <a:srgbClr val="1F3A5F"/>
                          </a:solidFill>
                          <a:latin typeface="Courier New"/>
                          <a:ea typeface="Courier New"/>
                          <a:cs typeface="Courier New"/>
                          <a:sym typeface="Courier New"/>
                        </a:rPr>
                        <a:t>str.extract</a:t>
                      </a:r>
                      <a:r>
                        <a:rPr lang="en-US" sz="1600" u="none" cap="none" strike="noStrike">
                          <a:solidFill>
                            <a:srgbClr val="1F2933"/>
                          </a:solidFill>
                          <a:latin typeface="Calibri"/>
                          <a:ea typeface="Calibri"/>
                          <a:cs typeface="Calibri"/>
                          <a:sym typeface="Calibri"/>
                        </a:rPr>
                        <a:t>, découper avec </a:t>
                      </a:r>
                      <a:r>
                        <a:rPr lang="en-US" sz="1600" u="none" cap="none" strike="noStrike">
                          <a:solidFill>
                            <a:srgbClr val="1F3A5F"/>
                          </a:solidFill>
                          <a:latin typeface="Courier New"/>
                          <a:ea typeface="Courier New"/>
                          <a:cs typeface="Courier New"/>
                          <a:sym typeface="Courier New"/>
                        </a:rPr>
                        <a:t>str.split</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FFFFF"/>
                    </a:solidFill>
                  </a:tcPr>
                </a:tc>
              </a:tr>
            </a:tbl>
          </a:graphicData>
        </a:graphic>
      </p:graphicFrame>
      <p:sp>
        <p:nvSpPr>
          <p:cNvPr id="455" name="Google Shape;455;p27"/>
          <p:cNvSpPr txBox="1"/>
          <p:nvPr/>
        </p:nvSpPr>
        <p:spPr>
          <a:xfrm>
            <a:off x="548640" y="6400800"/>
            <a:ext cx="73152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B7280"/>
              </a:buClr>
              <a:buSzPts val="1000"/>
              <a:buFont typeface="Calibri"/>
              <a:buNone/>
            </a:pPr>
            <a:r>
              <a:rPr b="0" i="0" lang="en-US" sz="1000" u="none" cap="none" strike="noStrike">
                <a:solidFill>
                  <a:srgbClr val="6B7280"/>
                </a:solidFill>
                <a:latin typeface="Calibri"/>
                <a:ea typeface="Calibri"/>
                <a:cs typeface="Calibri"/>
                <a:sym typeface="Calibri"/>
              </a:rPr>
              <a:t>Analyse de données avec Python   |   Jour 1, après-midi</a:t>
            </a:r>
            <a:endParaRPr b="0" i="0" sz="1000" u="none" cap="none" strike="noStrike">
              <a:solidFill>
                <a:schemeClr val="dk1"/>
              </a:solidFill>
              <a:latin typeface="Calibri"/>
              <a:ea typeface="Calibri"/>
              <a:cs typeface="Calibri"/>
              <a:sym typeface="Calibri"/>
            </a:endParaRPr>
          </a:p>
        </p:txBody>
      </p:sp>
      <p:sp>
        <p:nvSpPr>
          <p:cNvPr id="456" name="Google Shape;456;p27"/>
          <p:cNvSpPr txBox="1"/>
          <p:nvPr>
            <p:ph idx="4294967295" type="sldNum"/>
          </p:nvPr>
        </p:nvSpPr>
        <p:spPr>
          <a:xfrm>
            <a:off x="11094415" y="6400800"/>
            <a:ext cx="548640" cy="27432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000" u="none" cap="none" strike="noStrike">
                <a:solidFill>
                  <a:srgbClr val="6B7280"/>
                </a:solidFill>
                <a:latin typeface="Calibri"/>
                <a:ea typeface="Calibri"/>
                <a:cs typeface="Calibri"/>
                <a:sym typeface="Calibri"/>
              </a:rPr>
              <a:t>‹#›</a:t>
            </a:fld>
            <a:endParaRPr b="0" i="0" sz="1000" u="none" cap="none" strike="noStrike">
              <a:solidFill>
                <a:srgbClr val="6B7280"/>
              </a:solidFill>
              <a:latin typeface="Calibri"/>
              <a:ea typeface="Calibri"/>
              <a:cs typeface="Calibri"/>
              <a:sym typeface="Calibri"/>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F3A5F"/>
        </a:solidFill>
      </p:bgPr>
    </p:bg>
    <p:spTree>
      <p:nvGrpSpPr>
        <p:cNvPr id="461" name="Shape 461"/>
        <p:cNvGrpSpPr/>
        <p:nvPr/>
      </p:nvGrpSpPr>
      <p:grpSpPr>
        <a:xfrm>
          <a:off x="0" y="0"/>
          <a:ext cx="0" cy="0"/>
          <a:chOff x="0" y="0"/>
          <a:chExt cx="0" cy="0"/>
        </a:xfrm>
      </p:grpSpPr>
      <p:sp>
        <p:nvSpPr>
          <p:cNvPr id="462" name="Google Shape;462;p28"/>
          <p:cNvSpPr txBox="1"/>
          <p:nvPr/>
        </p:nvSpPr>
        <p:spPr>
          <a:xfrm>
            <a:off x="731520" y="1737360"/>
            <a:ext cx="2743200" cy="11887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FD1B5"/>
              </a:buClr>
              <a:buSzPts val="8000"/>
              <a:buFont typeface="Cambria"/>
              <a:buNone/>
            </a:pPr>
            <a:r>
              <a:rPr b="1" i="0" lang="en-US" sz="8000" u="none" cap="none" strike="noStrike">
                <a:solidFill>
                  <a:srgbClr val="8FD1B5"/>
                </a:solidFill>
                <a:latin typeface="Cambria"/>
                <a:ea typeface="Cambria"/>
                <a:cs typeface="Cambria"/>
                <a:sym typeface="Cambria"/>
              </a:rPr>
              <a:t>04</a:t>
            </a:r>
            <a:endParaRPr b="0" i="0" sz="8000" u="none" cap="none" strike="noStrike">
              <a:solidFill>
                <a:schemeClr val="dk1"/>
              </a:solidFill>
              <a:latin typeface="Calibri"/>
              <a:ea typeface="Calibri"/>
              <a:cs typeface="Calibri"/>
              <a:sym typeface="Calibri"/>
            </a:endParaRPr>
          </a:p>
        </p:txBody>
      </p:sp>
      <p:sp>
        <p:nvSpPr>
          <p:cNvPr id="463" name="Google Shape;463;p28"/>
          <p:cNvSpPr txBox="1"/>
          <p:nvPr/>
        </p:nvSpPr>
        <p:spPr>
          <a:xfrm>
            <a:off x="731520" y="3017520"/>
            <a:ext cx="10515600" cy="8229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FFFFFF"/>
              </a:buClr>
              <a:buSzPts val="4000"/>
              <a:buFont typeface="Cambria"/>
              <a:buNone/>
            </a:pPr>
            <a:r>
              <a:rPr b="1" i="0" lang="en-US" sz="4000" u="none" cap="none" strike="noStrike">
                <a:solidFill>
                  <a:srgbClr val="FFFFFF"/>
                </a:solidFill>
                <a:latin typeface="Cambria"/>
                <a:ea typeface="Cambria"/>
                <a:cs typeface="Cambria"/>
                <a:sym typeface="Cambria"/>
              </a:rPr>
              <a:t>Gérer les types</a:t>
            </a:r>
            <a:endParaRPr b="0" i="0" sz="4000" u="none" cap="none" strike="noStrike">
              <a:solidFill>
                <a:schemeClr val="dk1"/>
              </a:solidFill>
              <a:latin typeface="Calibri"/>
              <a:ea typeface="Calibri"/>
              <a:cs typeface="Calibri"/>
              <a:sym typeface="Calibri"/>
            </a:endParaRPr>
          </a:p>
        </p:txBody>
      </p:sp>
      <p:sp>
        <p:nvSpPr>
          <p:cNvPr id="464" name="Google Shape;464;p28"/>
          <p:cNvSpPr txBox="1"/>
          <p:nvPr/>
        </p:nvSpPr>
        <p:spPr>
          <a:xfrm>
            <a:off x="731520" y="3977640"/>
            <a:ext cx="10515600" cy="5486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C9D6E3"/>
              </a:buClr>
              <a:buSzPts val="2000"/>
              <a:buFont typeface="Calibri"/>
              <a:buNone/>
            </a:pPr>
            <a:r>
              <a:rPr b="0" i="0" lang="en-US" sz="2000" u="none" cap="none" strike="noStrike">
                <a:solidFill>
                  <a:srgbClr val="C9D6E3"/>
                </a:solidFill>
                <a:latin typeface="Calibri"/>
                <a:ea typeface="Calibri"/>
                <a:cs typeface="Calibri"/>
                <a:sym typeface="Calibri"/>
              </a:rPr>
              <a:t>astype   |   to_numeric et to_datetime   |   category</a:t>
            </a:r>
            <a:endParaRPr b="0" i="0" sz="2000" u="none" cap="none" strike="noStrike">
              <a:solidFill>
                <a:schemeClr val="dk1"/>
              </a:solidFill>
              <a:latin typeface="Calibri"/>
              <a:ea typeface="Calibri"/>
              <a:cs typeface="Calibri"/>
              <a:sym typeface="Calibri"/>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69" name="Shape 469"/>
        <p:cNvGrpSpPr/>
        <p:nvPr/>
      </p:nvGrpSpPr>
      <p:grpSpPr>
        <a:xfrm>
          <a:off x="0" y="0"/>
          <a:ext cx="0" cy="0"/>
          <a:chOff x="0" y="0"/>
          <a:chExt cx="0" cy="0"/>
        </a:xfrm>
      </p:grpSpPr>
      <p:sp>
        <p:nvSpPr>
          <p:cNvPr id="470" name="Google Shape;470;p29"/>
          <p:cNvSpPr/>
          <p:nvPr/>
        </p:nvSpPr>
        <p:spPr>
          <a:xfrm>
            <a:off x="548640" y="566928"/>
            <a:ext cx="475488" cy="475488"/>
          </a:xfrm>
          <a:prstGeom prst="ellipse">
            <a:avLst/>
          </a:prstGeom>
          <a:solidFill>
            <a:srgbClr val="2F7D6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1" name="Google Shape;471;p29"/>
          <p:cNvSpPr txBox="1"/>
          <p:nvPr/>
        </p:nvSpPr>
        <p:spPr>
          <a:xfrm>
            <a:off x="548640" y="566928"/>
            <a:ext cx="475488" cy="47548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4</a:t>
            </a:r>
            <a:endParaRPr b="0" i="0" sz="1600" u="none" cap="none" strike="noStrike">
              <a:solidFill>
                <a:schemeClr val="dk1"/>
              </a:solidFill>
              <a:latin typeface="Calibri"/>
              <a:ea typeface="Calibri"/>
              <a:cs typeface="Calibri"/>
              <a:sym typeface="Calibri"/>
            </a:endParaRPr>
          </a:p>
        </p:txBody>
      </p:sp>
      <p:sp>
        <p:nvSpPr>
          <p:cNvPr id="472" name="Google Shape;472;p29"/>
          <p:cNvSpPr txBox="1"/>
          <p:nvPr/>
        </p:nvSpPr>
        <p:spPr>
          <a:xfrm>
            <a:off x="1280160" y="164592"/>
            <a:ext cx="10362895"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F7D62"/>
              </a:buClr>
              <a:buSzPts val="1200"/>
              <a:buFont typeface="Calibri"/>
              <a:buNone/>
            </a:pPr>
            <a:r>
              <a:rPr b="1" i="0" lang="en-US" sz="1200" u="none" cap="none" strike="noStrike">
                <a:solidFill>
                  <a:srgbClr val="2F7D62"/>
                </a:solidFill>
                <a:latin typeface="Calibri"/>
                <a:ea typeface="Calibri"/>
                <a:cs typeface="Calibri"/>
                <a:sym typeface="Calibri"/>
              </a:rPr>
              <a:t>GÉRER LES TYPES</a:t>
            </a:r>
            <a:endParaRPr b="0" i="0" sz="1200" u="none" cap="none" strike="noStrike">
              <a:solidFill>
                <a:schemeClr val="dk1"/>
              </a:solidFill>
              <a:latin typeface="Calibri"/>
              <a:ea typeface="Calibri"/>
              <a:cs typeface="Calibri"/>
              <a:sym typeface="Calibri"/>
            </a:endParaRPr>
          </a:p>
        </p:txBody>
      </p:sp>
      <p:sp>
        <p:nvSpPr>
          <p:cNvPr id="473" name="Google Shape;473;p29"/>
          <p:cNvSpPr txBox="1"/>
          <p:nvPr/>
        </p:nvSpPr>
        <p:spPr>
          <a:xfrm>
            <a:off x="1280160" y="457200"/>
            <a:ext cx="10362895" cy="6949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F3A5F"/>
              </a:buClr>
              <a:buSzPts val="3000"/>
              <a:buFont typeface="Cambria"/>
              <a:buNone/>
            </a:pPr>
            <a:r>
              <a:rPr b="1" i="0" lang="en-US" sz="3000" u="none" cap="none" strike="noStrike">
                <a:solidFill>
                  <a:srgbClr val="1F3A5F"/>
                </a:solidFill>
                <a:latin typeface="Cambria"/>
                <a:ea typeface="Cambria"/>
                <a:cs typeface="Cambria"/>
                <a:sym typeface="Cambria"/>
              </a:rPr>
              <a:t>Pourquoi les types comptent</a:t>
            </a:r>
            <a:endParaRPr b="0" i="0" sz="3000" u="none" cap="none" strike="noStrike">
              <a:solidFill>
                <a:schemeClr val="dk1"/>
              </a:solidFill>
              <a:latin typeface="Calibri"/>
              <a:ea typeface="Calibri"/>
              <a:cs typeface="Calibri"/>
              <a:sym typeface="Calibri"/>
            </a:endParaRPr>
          </a:p>
        </p:txBody>
      </p:sp>
      <p:sp>
        <p:nvSpPr>
          <p:cNvPr id="474" name="Google Shape;474;p29"/>
          <p:cNvSpPr/>
          <p:nvPr/>
        </p:nvSpPr>
        <p:spPr>
          <a:xfrm>
            <a:off x="548640" y="1417320"/>
            <a:ext cx="3515258" cy="2331720"/>
          </a:xfrm>
          <a:prstGeom prst="roundRect">
            <a:avLst>
              <a:gd fmla="val 3137" name="adj"/>
            </a:avLst>
          </a:prstGeom>
          <a:solidFill>
            <a:srgbClr val="EEF3F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5" name="Google Shape;475;p29"/>
          <p:cNvSpPr/>
          <p:nvPr/>
        </p:nvSpPr>
        <p:spPr>
          <a:xfrm>
            <a:off x="777240" y="1691640"/>
            <a:ext cx="402336" cy="402336"/>
          </a:xfrm>
          <a:prstGeom prst="ellipse">
            <a:avLst/>
          </a:prstGeom>
          <a:solidFill>
            <a:srgbClr val="2F7D6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6" name="Google Shape;476;p29"/>
          <p:cNvSpPr txBox="1"/>
          <p:nvPr/>
        </p:nvSpPr>
        <p:spPr>
          <a:xfrm>
            <a:off x="777240" y="1691640"/>
            <a:ext cx="402336" cy="402336"/>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1</a:t>
            </a:r>
            <a:endParaRPr b="0" i="0" sz="1500" u="none" cap="none" strike="noStrike">
              <a:solidFill>
                <a:schemeClr val="dk1"/>
              </a:solidFill>
              <a:latin typeface="Calibri"/>
              <a:ea typeface="Calibri"/>
              <a:cs typeface="Calibri"/>
              <a:sym typeface="Calibri"/>
            </a:endParaRPr>
          </a:p>
        </p:txBody>
      </p:sp>
      <p:sp>
        <p:nvSpPr>
          <p:cNvPr id="477" name="Google Shape;477;p29"/>
          <p:cNvSpPr txBox="1"/>
          <p:nvPr/>
        </p:nvSpPr>
        <p:spPr>
          <a:xfrm>
            <a:off x="777240" y="2240280"/>
            <a:ext cx="3058058"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F3A5F"/>
              </a:buClr>
              <a:buSzPts val="1800"/>
              <a:buFont typeface="Calibri"/>
              <a:buNone/>
            </a:pPr>
            <a:r>
              <a:rPr b="1" i="0" lang="en-US" sz="1800" u="none" cap="none" strike="noStrike">
                <a:solidFill>
                  <a:srgbClr val="1F3A5F"/>
                </a:solidFill>
                <a:latin typeface="Calibri"/>
                <a:ea typeface="Calibri"/>
                <a:cs typeface="Calibri"/>
                <a:sym typeface="Calibri"/>
              </a:rPr>
              <a:t>Les calculs</a:t>
            </a:r>
            <a:endParaRPr b="0" i="0" sz="1800" u="none" cap="none" strike="noStrike">
              <a:solidFill>
                <a:schemeClr val="dk1"/>
              </a:solidFill>
              <a:latin typeface="Calibri"/>
              <a:ea typeface="Calibri"/>
              <a:cs typeface="Calibri"/>
              <a:sym typeface="Calibri"/>
            </a:endParaRPr>
          </a:p>
        </p:txBody>
      </p:sp>
      <p:sp>
        <p:nvSpPr>
          <p:cNvPr id="478" name="Google Shape;478;p29"/>
          <p:cNvSpPr txBox="1"/>
          <p:nvPr/>
        </p:nvSpPr>
        <p:spPr>
          <a:xfrm>
            <a:off x="777240" y="2606040"/>
            <a:ext cx="3058058" cy="9601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F2933"/>
              </a:buClr>
              <a:buSzPts val="1500"/>
              <a:buFont typeface="Calibri"/>
              <a:buNone/>
            </a:pPr>
            <a:r>
              <a:rPr b="0" i="0" lang="en-US" sz="1500" u="none" cap="none" strike="noStrike">
                <a:solidFill>
                  <a:srgbClr val="1F2933"/>
                </a:solidFill>
                <a:latin typeface="Calibri"/>
                <a:ea typeface="Calibri"/>
                <a:cs typeface="Calibri"/>
                <a:sym typeface="Calibri"/>
              </a:rPr>
              <a:t>Des nombres stockés en texte ne s'additionnent pas : </a:t>
            </a:r>
            <a:r>
              <a:rPr b="0" i="0" lang="en-US" sz="1500" u="none" cap="none" strike="noStrike">
                <a:solidFill>
                  <a:srgbClr val="1F3A5F"/>
                </a:solidFill>
                <a:latin typeface="Courier New"/>
                <a:ea typeface="Courier New"/>
                <a:cs typeface="Courier New"/>
                <a:sym typeface="Courier New"/>
              </a:rPr>
              <a:t>"3" + "2"</a:t>
            </a:r>
            <a:r>
              <a:rPr b="0" i="0" lang="en-US" sz="1500" u="none" cap="none" strike="noStrike">
                <a:solidFill>
                  <a:srgbClr val="1F2933"/>
                </a:solidFill>
                <a:latin typeface="Calibri"/>
                <a:ea typeface="Calibri"/>
                <a:cs typeface="Calibri"/>
                <a:sym typeface="Calibri"/>
              </a:rPr>
              <a:t> donne </a:t>
            </a:r>
            <a:r>
              <a:rPr b="0" i="0" lang="en-US" sz="1500" u="none" cap="none" strike="noStrike">
                <a:solidFill>
                  <a:srgbClr val="1F3A5F"/>
                </a:solidFill>
                <a:latin typeface="Courier New"/>
                <a:ea typeface="Courier New"/>
                <a:cs typeface="Courier New"/>
                <a:sym typeface="Courier New"/>
              </a:rPr>
              <a:t>"32"</a:t>
            </a:r>
            <a:r>
              <a:rPr b="0" i="0" lang="en-US" sz="1500" u="none" cap="none" strike="noStrike">
                <a:solidFill>
                  <a:srgbClr val="1F2933"/>
                </a:solidFill>
                <a:latin typeface="Calibri"/>
                <a:ea typeface="Calibri"/>
                <a:cs typeface="Calibri"/>
                <a:sym typeface="Calibri"/>
              </a:rPr>
              <a:t>.</a:t>
            </a:r>
            <a:endParaRPr b="0" i="0" sz="1500" u="none" cap="none" strike="noStrike">
              <a:solidFill>
                <a:schemeClr val="dk1"/>
              </a:solidFill>
              <a:latin typeface="Calibri"/>
              <a:ea typeface="Calibri"/>
              <a:cs typeface="Calibri"/>
              <a:sym typeface="Calibri"/>
            </a:endParaRPr>
          </a:p>
        </p:txBody>
      </p:sp>
      <p:sp>
        <p:nvSpPr>
          <p:cNvPr id="479" name="Google Shape;479;p29"/>
          <p:cNvSpPr/>
          <p:nvPr/>
        </p:nvSpPr>
        <p:spPr>
          <a:xfrm>
            <a:off x="4338218" y="1417320"/>
            <a:ext cx="3515258" cy="2331720"/>
          </a:xfrm>
          <a:prstGeom prst="roundRect">
            <a:avLst>
              <a:gd fmla="val 3137" name="adj"/>
            </a:avLst>
          </a:prstGeom>
          <a:solidFill>
            <a:srgbClr val="EEF3F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0" name="Google Shape;480;p29"/>
          <p:cNvSpPr/>
          <p:nvPr/>
        </p:nvSpPr>
        <p:spPr>
          <a:xfrm>
            <a:off x="4566818" y="1691640"/>
            <a:ext cx="402336" cy="402336"/>
          </a:xfrm>
          <a:prstGeom prst="ellipse">
            <a:avLst/>
          </a:prstGeom>
          <a:solidFill>
            <a:srgbClr val="2F7D6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1" name="Google Shape;481;p29"/>
          <p:cNvSpPr txBox="1"/>
          <p:nvPr/>
        </p:nvSpPr>
        <p:spPr>
          <a:xfrm>
            <a:off x="4566818" y="1691640"/>
            <a:ext cx="402336" cy="402336"/>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2</a:t>
            </a:r>
            <a:endParaRPr b="0" i="0" sz="1500" u="none" cap="none" strike="noStrike">
              <a:solidFill>
                <a:schemeClr val="dk1"/>
              </a:solidFill>
              <a:latin typeface="Calibri"/>
              <a:ea typeface="Calibri"/>
              <a:cs typeface="Calibri"/>
              <a:sym typeface="Calibri"/>
            </a:endParaRPr>
          </a:p>
        </p:txBody>
      </p:sp>
      <p:sp>
        <p:nvSpPr>
          <p:cNvPr id="482" name="Google Shape;482;p29"/>
          <p:cNvSpPr txBox="1"/>
          <p:nvPr/>
        </p:nvSpPr>
        <p:spPr>
          <a:xfrm>
            <a:off x="4566818" y="2240280"/>
            <a:ext cx="3058058"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F3A5F"/>
              </a:buClr>
              <a:buSzPts val="1800"/>
              <a:buFont typeface="Calibri"/>
              <a:buNone/>
            </a:pPr>
            <a:r>
              <a:rPr b="1" i="0" lang="en-US" sz="1800" u="none" cap="none" strike="noStrike">
                <a:solidFill>
                  <a:srgbClr val="1F3A5F"/>
                </a:solidFill>
                <a:latin typeface="Calibri"/>
                <a:ea typeface="Calibri"/>
                <a:cs typeface="Calibri"/>
                <a:sym typeface="Calibri"/>
              </a:rPr>
              <a:t>Les tris</a:t>
            </a:r>
            <a:endParaRPr b="0" i="0" sz="1800" u="none" cap="none" strike="noStrike">
              <a:solidFill>
                <a:schemeClr val="dk1"/>
              </a:solidFill>
              <a:latin typeface="Calibri"/>
              <a:ea typeface="Calibri"/>
              <a:cs typeface="Calibri"/>
              <a:sym typeface="Calibri"/>
            </a:endParaRPr>
          </a:p>
        </p:txBody>
      </p:sp>
      <p:sp>
        <p:nvSpPr>
          <p:cNvPr id="483" name="Google Shape;483;p29"/>
          <p:cNvSpPr txBox="1"/>
          <p:nvPr/>
        </p:nvSpPr>
        <p:spPr>
          <a:xfrm>
            <a:off x="4566818" y="2606040"/>
            <a:ext cx="3058058" cy="9601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F2933"/>
              </a:buClr>
              <a:buSzPts val="1500"/>
              <a:buFont typeface="Calibri"/>
              <a:buNone/>
            </a:pPr>
            <a:r>
              <a:rPr b="0" i="0" lang="en-US" sz="1500" u="none" cap="none" strike="noStrike">
                <a:solidFill>
                  <a:srgbClr val="1F2933"/>
                </a:solidFill>
                <a:latin typeface="Calibri"/>
                <a:ea typeface="Calibri"/>
                <a:cs typeface="Calibri"/>
                <a:sym typeface="Calibri"/>
              </a:rPr>
              <a:t>Des dates en texte au format jour/mois/année se trient mal : </a:t>
            </a:r>
            <a:r>
              <a:rPr b="0" i="0" lang="en-US" sz="1500" u="none" cap="none" strike="noStrike">
                <a:solidFill>
                  <a:srgbClr val="1F3A5F"/>
                </a:solidFill>
                <a:latin typeface="Courier New"/>
                <a:ea typeface="Courier New"/>
                <a:cs typeface="Courier New"/>
                <a:sym typeface="Courier New"/>
              </a:rPr>
              <a:t>"02/01/2026"</a:t>
            </a:r>
            <a:r>
              <a:rPr b="0" i="0" lang="en-US" sz="1500" u="none" cap="none" strike="noStrike">
                <a:solidFill>
                  <a:srgbClr val="1F2933"/>
                </a:solidFill>
                <a:latin typeface="Calibri"/>
                <a:ea typeface="Calibri"/>
                <a:cs typeface="Calibri"/>
                <a:sym typeface="Calibri"/>
              </a:rPr>
              <a:t> passe avant </a:t>
            </a:r>
            <a:r>
              <a:rPr b="0" i="0" lang="en-US" sz="1500" u="none" cap="none" strike="noStrike">
                <a:solidFill>
                  <a:srgbClr val="1F3A5F"/>
                </a:solidFill>
                <a:latin typeface="Courier New"/>
                <a:ea typeface="Courier New"/>
                <a:cs typeface="Courier New"/>
                <a:sym typeface="Courier New"/>
              </a:rPr>
              <a:t>"15/12/2025"</a:t>
            </a:r>
            <a:r>
              <a:rPr b="0" i="0" lang="en-US" sz="1500" u="none" cap="none" strike="noStrike">
                <a:solidFill>
                  <a:srgbClr val="1F2933"/>
                </a:solidFill>
                <a:latin typeface="Calibri"/>
                <a:ea typeface="Calibri"/>
                <a:cs typeface="Calibri"/>
                <a:sym typeface="Calibri"/>
              </a:rPr>
              <a:t>.</a:t>
            </a:r>
            <a:endParaRPr b="0" i="0" sz="1500" u="none" cap="none" strike="noStrike">
              <a:solidFill>
                <a:schemeClr val="dk1"/>
              </a:solidFill>
              <a:latin typeface="Calibri"/>
              <a:ea typeface="Calibri"/>
              <a:cs typeface="Calibri"/>
              <a:sym typeface="Calibri"/>
            </a:endParaRPr>
          </a:p>
        </p:txBody>
      </p:sp>
      <p:sp>
        <p:nvSpPr>
          <p:cNvPr id="484" name="Google Shape;484;p29"/>
          <p:cNvSpPr/>
          <p:nvPr/>
        </p:nvSpPr>
        <p:spPr>
          <a:xfrm>
            <a:off x="8127797" y="1417320"/>
            <a:ext cx="3515258" cy="2331720"/>
          </a:xfrm>
          <a:prstGeom prst="roundRect">
            <a:avLst>
              <a:gd fmla="val 3137" name="adj"/>
            </a:avLst>
          </a:prstGeom>
          <a:solidFill>
            <a:srgbClr val="EEF3F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5" name="Google Shape;485;p29"/>
          <p:cNvSpPr/>
          <p:nvPr/>
        </p:nvSpPr>
        <p:spPr>
          <a:xfrm>
            <a:off x="8356397" y="1691640"/>
            <a:ext cx="402336" cy="402336"/>
          </a:xfrm>
          <a:prstGeom prst="ellipse">
            <a:avLst/>
          </a:prstGeom>
          <a:solidFill>
            <a:srgbClr val="2F7D6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6" name="Google Shape;486;p29"/>
          <p:cNvSpPr txBox="1"/>
          <p:nvPr/>
        </p:nvSpPr>
        <p:spPr>
          <a:xfrm>
            <a:off x="8356397" y="1691640"/>
            <a:ext cx="402336" cy="402336"/>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3</a:t>
            </a:r>
            <a:endParaRPr b="0" i="0" sz="1500" u="none" cap="none" strike="noStrike">
              <a:solidFill>
                <a:schemeClr val="dk1"/>
              </a:solidFill>
              <a:latin typeface="Calibri"/>
              <a:ea typeface="Calibri"/>
              <a:cs typeface="Calibri"/>
              <a:sym typeface="Calibri"/>
            </a:endParaRPr>
          </a:p>
        </p:txBody>
      </p:sp>
      <p:sp>
        <p:nvSpPr>
          <p:cNvPr id="487" name="Google Shape;487;p29"/>
          <p:cNvSpPr txBox="1"/>
          <p:nvPr/>
        </p:nvSpPr>
        <p:spPr>
          <a:xfrm>
            <a:off x="8356397" y="2240280"/>
            <a:ext cx="3058058"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F3A5F"/>
              </a:buClr>
              <a:buSzPts val="1800"/>
              <a:buFont typeface="Calibri"/>
              <a:buNone/>
            </a:pPr>
            <a:r>
              <a:rPr b="1" i="0" lang="en-US" sz="1800" u="none" cap="none" strike="noStrike">
                <a:solidFill>
                  <a:srgbClr val="1F3A5F"/>
                </a:solidFill>
                <a:latin typeface="Calibri"/>
                <a:ea typeface="Calibri"/>
                <a:cs typeface="Calibri"/>
                <a:sym typeface="Calibri"/>
              </a:rPr>
              <a:t>La mémoire</a:t>
            </a:r>
            <a:endParaRPr b="0" i="0" sz="1800" u="none" cap="none" strike="noStrike">
              <a:solidFill>
                <a:schemeClr val="dk1"/>
              </a:solidFill>
              <a:latin typeface="Calibri"/>
              <a:ea typeface="Calibri"/>
              <a:cs typeface="Calibri"/>
              <a:sym typeface="Calibri"/>
            </a:endParaRPr>
          </a:p>
        </p:txBody>
      </p:sp>
      <p:sp>
        <p:nvSpPr>
          <p:cNvPr id="488" name="Google Shape;488;p29"/>
          <p:cNvSpPr txBox="1"/>
          <p:nvPr/>
        </p:nvSpPr>
        <p:spPr>
          <a:xfrm>
            <a:off x="8356397" y="2606040"/>
            <a:ext cx="3058058" cy="9601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F2933"/>
              </a:buClr>
              <a:buSzPts val="1500"/>
              <a:buFont typeface="Calibri"/>
              <a:buNone/>
            </a:pPr>
            <a:r>
              <a:rPr b="0" i="0" lang="en-US" sz="1500" u="none" cap="none" strike="noStrike">
                <a:solidFill>
                  <a:srgbClr val="1F2933"/>
                </a:solidFill>
                <a:latin typeface="Calibri"/>
                <a:ea typeface="Calibri"/>
                <a:cs typeface="Calibri"/>
                <a:sym typeface="Calibri"/>
              </a:rPr>
              <a:t>Une colonne texte qui répète quelques valeurs occupe bien plus de place qu'une </a:t>
            </a:r>
            <a:r>
              <a:rPr b="0" i="0" lang="en-US" sz="1500" u="none" cap="none" strike="noStrike">
                <a:solidFill>
                  <a:srgbClr val="1F3A5F"/>
                </a:solidFill>
                <a:latin typeface="Courier New"/>
                <a:ea typeface="Courier New"/>
                <a:cs typeface="Courier New"/>
                <a:sym typeface="Courier New"/>
              </a:rPr>
              <a:t>category</a:t>
            </a:r>
            <a:r>
              <a:rPr b="0" i="0" lang="en-US" sz="1500" u="none" cap="none" strike="noStrike">
                <a:solidFill>
                  <a:srgbClr val="1F2933"/>
                </a:solidFill>
                <a:latin typeface="Calibri"/>
                <a:ea typeface="Calibri"/>
                <a:cs typeface="Calibri"/>
                <a:sym typeface="Calibri"/>
              </a:rPr>
              <a:t>.</a:t>
            </a:r>
            <a:endParaRPr b="0" i="0" sz="1500" u="none" cap="none" strike="noStrike">
              <a:solidFill>
                <a:schemeClr val="dk1"/>
              </a:solidFill>
              <a:latin typeface="Calibri"/>
              <a:ea typeface="Calibri"/>
              <a:cs typeface="Calibri"/>
              <a:sym typeface="Calibri"/>
            </a:endParaRPr>
          </a:p>
        </p:txBody>
      </p:sp>
      <p:sp>
        <p:nvSpPr>
          <p:cNvPr id="489" name="Google Shape;489;p29"/>
          <p:cNvSpPr txBox="1"/>
          <p:nvPr/>
        </p:nvSpPr>
        <p:spPr>
          <a:xfrm>
            <a:off x="548640" y="4069080"/>
            <a:ext cx="11094415"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B7280"/>
              </a:buClr>
              <a:buSzPts val="1200"/>
              <a:buFont typeface="Calibri"/>
              <a:buNone/>
            </a:pPr>
            <a:r>
              <a:rPr b="0" i="0" lang="en-US" sz="1200" u="none" cap="none" strike="noStrike">
                <a:solidFill>
                  <a:srgbClr val="6B7280"/>
                </a:solidFill>
                <a:latin typeface="Calibri"/>
                <a:ea typeface="Calibri"/>
                <a:cs typeface="Calibri"/>
                <a:sym typeface="Calibri"/>
              </a:rPr>
              <a:t>Conversions simples</a:t>
            </a:r>
            <a:endParaRPr b="0" i="0" sz="1200" u="none" cap="none" strike="noStrike">
              <a:solidFill>
                <a:schemeClr val="dk1"/>
              </a:solidFill>
              <a:latin typeface="Calibri"/>
              <a:ea typeface="Calibri"/>
              <a:cs typeface="Calibri"/>
              <a:sym typeface="Calibri"/>
            </a:endParaRPr>
          </a:p>
        </p:txBody>
      </p:sp>
      <p:sp>
        <p:nvSpPr>
          <p:cNvPr id="490" name="Google Shape;490;p29"/>
          <p:cNvSpPr/>
          <p:nvPr/>
        </p:nvSpPr>
        <p:spPr>
          <a:xfrm>
            <a:off x="548640" y="4361688"/>
            <a:ext cx="11094415" cy="1191768"/>
          </a:xfrm>
          <a:prstGeom prst="rect">
            <a:avLst/>
          </a:prstGeom>
          <a:solidFill>
            <a:srgbClr val="F3F4F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1" name="Google Shape;491;p29"/>
          <p:cNvSpPr txBox="1"/>
          <p:nvPr/>
        </p:nvSpPr>
        <p:spPr>
          <a:xfrm>
            <a:off x="731520" y="4507992"/>
            <a:ext cx="10728655" cy="8991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F2933"/>
              </a:buClr>
              <a:buSzPts val="1500"/>
              <a:buFont typeface="Courier New"/>
              <a:buNone/>
            </a:pPr>
            <a:r>
              <a:rPr b="0" i="0" lang="en-US" sz="1500" u="none" cap="none" strike="noStrike">
                <a:solidFill>
                  <a:srgbClr val="1F2933"/>
                </a:solidFill>
                <a:latin typeface="Courier New"/>
                <a:ea typeface="Courier New"/>
                <a:cs typeface="Courier New"/>
                <a:sym typeface="Courier New"/>
              </a:rPr>
              <a:t>df["quantite"].astype("float64")</a:t>
            </a:r>
            <a:endParaRPr b="0" i="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F2933"/>
              </a:buClr>
              <a:buSzPts val="1500"/>
              <a:buFont typeface="Courier New"/>
              <a:buNone/>
            </a:pPr>
            <a:r>
              <a:rPr b="0" i="0" lang="en-US" sz="1500" u="none" cap="none" strike="noStrike">
                <a:solidFill>
                  <a:srgbClr val="1F2933"/>
                </a:solidFill>
                <a:latin typeface="Courier New"/>
                <a:ea typeface="Courier New"/>
                <a:cs typeface="Courier New"/>
                <a:sym typeface="Courier New"/>
              </a:rPr>
              <a:t>df["id_commande"].astype(str)</a:t>
            </a:r>
            <a:endParaRPr b="0" i="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F2933"/>
              </a:buClr>
              <a:buSzPts val="1500"/>
              <a:buFont typeface="Courier New"/>
              <a:buNone/>
            </a:pPr>
            <a:r>
              <a:rPr b="0" i="0" lang="en-US" sz="1500" u="none" cap="none" strike="noStrike">
                <a:solidFill>
                  <a:srgbClr val="1F2933"/>
                </a:solidFill>
                <a:latin typeface="Courier New"/>
                <a:ea typeface="Courier New"/>
                <a:cs typeface="Courier New"/>
                <a:sym typeface="Courier New"/>
              </a:rPr>
              <a:t> </a:t>
            </a:r>
            <a:endParaRPr b="0" i="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F2933"/>
              </a:buClr>
              <a:buSzPts val="1500"/>
              <a:buFont typeface="Courier New"/>
              <a:buNone/>
            </a:pPr>
            <a:r>
              <a:rPr b="0" i="0" lang="en-US" sz="1500" u="none" cap="none" strike="noStrike">
                <a:solidFill>
                  <a:srgbClr val="1F2933"/>
                </a:solidFill>
                <a:latin typeface="Courier New"/>
                <a:ea typeface="Courier New"/>
                <a:cs typeface="Courier New"/>
                <a:sym typeface="Courier New"/>
              </a:rPr>
              <a:t>pd.Series([1, None, 3], dtype="Int64")   # entier avec valeur manquante : 1, &lt;NA&gt;, 3</a:t>
            </a:r>
            <a:endParaRPr b="0" i="0" sz="1500" u="none" cap="none" strike="noStrike">
              <a:solidFill>
                <a:schemeClr val="dk1"/>
              </a:solidFill>
              <a:latin typeface="Calibri"/>
              <a:ea typeface="Calibri"/>
              <a:cs typeface="Calibri"/>
              <a:sym typeface="Calibri"/>
            </a:endParaRPr>
          </a:p>
        </p:txBody>
      </p:sp>
      <p:sp>
        <p:nvSpPr>
          <p:cNvPr id="492" name="Google Shape;492;p29"/>
          <p:cNvSpPr txBox="1"/>
          <p:nvPr/>
        </p:nvSpPr>
        <p:spPr>
          <a:xfrm>
            <a:off x="548640" y="6400800"/>
            <a:ext cx="73152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B7280"/>
              </a:buClr>
              <a:buSzPts val="1000"/>
              <a:buFont typeface="Calibri"/>
              <a:buNone/>
            </a:pPr>
            <a:r>
              <a:rPr b="0" i="0" lang="en-US" sz="1000" u="none" cap="none" strike="noStrike">
                <a:solidFill>
                  <a:srgbClr val="6B7280"/>
                </a:solidFill>
                <a:latin typeface="Calibri"/>
                <a:ea typeface="Calibri"/>
                <a:cs typeface="Calibri"/>
                <a:sym typeface="Calibri"/>
              </a:rPr>
              <a:t>Analyse de données avec Python   |   Jour 1, après-midi</a:t>
            </a:r>
            <a:endParaRPr b="0" i="0" sz="1000" u="none" cap="none" strike="noStrike">
              <a:solidFill>
                <a:schemeClr val="dk1"/>
              </a:solidFill>
              <a:latin typeface="Calibri"/>
              <a:ea typeface="Calibri"/>
              <a:cs typeface="Calibri"/>
              <a:sym typeface="Calibri"/>
            </a:endParaRPr>
          </a:p>
        </p:txBody>
      </p:sp>
      <p:sp>
        <p:nvSpPr>
          <p:cNvPr id="493" name="Google Shape;493;p29"/>
          <p:cNvSpPr txBox="1"/>
          <p:nvPr>
            <p:ph idx="4294967295" type="sldNum"/>
          </p:nvPr>
        </p:nvSpPr>
        <p:spPr>
          <a:xfrm>
            <a:off x="11094415" y="6400800"/>
            <a:ext cx="548640" cy="27432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000" u="none" cap="none" strike="noStrike">
                <a:solidFill>
                  <a:srgbClr val="6B7280"/>
                </a:solidFill>
                <a:latin typeface="Calibri"/>
                <a:ea typeface="Calibri"/>
                <a:cs typeface="Calibri"/>
                <a:sym typeface="Calibri"/>
              </a:rPr>
              <a:t>‹#›</a:t>
            </a:fld>
            <a:endParaRPr b="0" i="0" sz="1000" u="none" cap="none" strike="noStrike">
              <a:solidFill>
                <a:srgbClr val="6B7280"/>
              </a:solidFill>
              <a:latin typeface="Calibri"/>
              <a:ea typeface="Calibri"/>
              <a:cs typeface="Calibri"/>
              <a:sym typeface="Calibri"/>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98" name="Shape 498"/>
        <p:cNvGrpSpPr/>
        <p:nvPr/>
      </p:nvGrpSpPr>
      <p:grpSpPr>
        <a:xfrm>
          <a:off x="0" y="0"/>
          <a:ext cx="0" cy="0"/>
          <a:chOff x="0" y="0"/>
          <a:chExt cx="0" cy="0"/>
        </a:xfrm>
      </p:grpSpPr>
      <p:sp>
        <p:nvSpPr>
          <p:cNvPr id="499" name="Google Shape;499;p30"/>
          <p:cNvSpPr/>
          <p:nvPr/>
        </p:nvSpPr>
        <p:spPr>
          <a:xfrm>
            <a:off x="548640" y="566928"/>
            <a:ext cx="475488" cy="475488"/>
          </a:xfrm>
          <a:prstGeom prst="ellipse">
            <a:avLst/>
          </a:prstGeom>
          <a:solidFill>
            <a:srgbClr val="2F7D6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0" name="Google Shape;500;p30"/>
          <p:cNvSpPr txBox="1"/>
          <p:nvPr/>
        </p:nvSpPr>
        <p:spPr>
          <a:xfrm>
            <a:off x="548640" y="566928"/>
            <a:ext cx="475488" cy="47548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4</a:t>
            </a:r>
            <a:endParaRPr b="0" i="0" sz="1600" u="none" cap="none" strike="noStrike">
              <a:solidFill>
                <a:schemeClr val="dk1"/>
              </a:solidFill>
              <a:latin typeface="Calibri"/>
              <a:ea typeface="Calibri"/>
              <a:cs typeface="Calibri"/>
              <a:sym typeface="Calibri"/>
            </a:endParaRPr>
          </a:p>
        </p:txBody>
      </p:sp>
      <p:sp>
        <p:nvSpPr>
          <p:cNvPr id="501" name="Google Shape;501;p30"/>
          <p:cNvSpPr txBox="1"/>
          <p:nvPr/>
        </p:nvSpPr>
        <p:spPr>
          <a:xfrm>
            <a:off x="1280160" y="164592"/>
            <a:ext cx="10362895"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F7D62"/>
              </a:buClr>
              <a:buSzPts val="1200"/>
              <a:buFont typeface="Calibri"/>
              <a:buNone/>
            </a:pPr>
            <a:r>
              <a:rPr b="1" i="0" lang="en-US" sz="1200" u="none" cap="none" strike="noStrike">
                <a:solidFill>
                  <a:srgbClr val="2F7D62"/>
                </a:solidFill>
                <a:latin typeface="Calibri"/>
                <a:ea typeface="Calibri"/>
                <a:cs typeface="Calibri"/>
                <a:sym typeface="Calibri"/>
              </a:rPr>
              <a:t>GÉRER LES TYPES</a:t>
            </a:r>
            <a:endParaRPr b="0" i="0" sz="1200" u="none" cap="none" strike="noStrike">
              <a:solidFill>
                <a:schemeClr val="dk1"/>
              </a:solidFill>
              <a:latin typeface="Calibri"/>
              <a:ea typeface="Calibri"/>
              <a:cs typeface="Calibri"/>
              <a:sym typeface="Calibri"/>
            </a:endParaRPr>
          </a:p>
        </p:txBody>
      </p:sp>
      <p:sp>
        <p:nvSpPr>
          <p:cNvPr id="502" name="Google Shape;502;p30"/>
          <p:cNvSpPr txBox="1"/>
          <p:nvPr/>
        </p:nvSpPr>
        <p:spPr>
          <a:xfrm>
            <a:off x="1280160" y="457200"/>
            <a:ext cx="10362895" cy="6949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F3A5F"/>
              </a:buClr>
              <a:buSzPts val="3000"/>
              <a:buFont typeface="Cambria"/>
              <a:buNone/>
            </a:pPr>
            <a:r>
              <a:rPr b="1" i="0" lang="en-US" sz="3000" u="none" cap="none" strike="noStrike">
                <a:solidFill>
                  <a:srgbClr val="1F3A5F"/>
                </a:solidFill>
                <a:latin typeface="Cambria"/>
                <a:ea typeface="Cambria"/>
                <a:cs typeface="Cambria"/>
                <a:sym typeface="Cambria"/>
              </a:rPr>
              <a:t>Convertir sans planter : errors="coerce"</a:t>
            </a:r>
            <a:endParaRPr b="0" i="0" sz="3000" u="none" cap="none" strike="noStrike">
              <a:solidFill>
                <a:schemeClr val="dk1"/>
              </a:solidFill>
              <a:latin typeface="Calibri"/>
              <a:ea typeface="Calibri"/>
              <a:cs typeface="Calibri"/>
              <a:sym typeface="Calibri"/>
            </a:endParaRPr>
          </a:p>
        </p:txBody>
      </p:sp>
      <p:sp>
        <p:nvSpPr>
          <p:cNvPr id="503" name="Google Shape;503;p30"/>
          <p:cNvSpPr txBox="1"/>
          <p:nvPr/>
        </p:nvSpPr>
        <p:spPr>
          <a:xfrm>
            <a:off x="548640" y="1417320"/>
            <a:ext cx="5318608"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F3A5F"/>
              </a:buClr>
              <a:buSzPts val="1700"/>
              <a:buFont typeface="Calibri"/>
              <a:buNone/>
            </a:pPr>
            <a:r>
              <a:rPr b="1" i="0" lang="en-US" sz="1700" u="none" cap="none" strike="noStrike">
                <a:solidFill>
                  <a:srgbClr val="1F3A5F"/>
                </a:solidFill>
                <a:latin typeface="Calibri"/>
                <a:ea typeface="Calibri"/>
                <a:cs typeface="Calibri"/>
                <a:sym typeface="Calibri"/>
              </a:rPr>
              <a:t>Nombres</a:t>
            </a:r>
            <a:endParaRPr b="0" i="0" sz="1700" u="none" cap="none" strike="noStrike">
              <a:solidFill>
                <a:schemeClr val="dk1"/>
              </a:solidFill>
              <a:latin typeface="Calibri"/>
              <a:ea typeface="Calibri"/>
              <a:cs typeface="Calibri"/>
              <a:sym typeface="Calibri"/>
            </a:endParaRPr>
          </a:p>
        </p:txBody>
      </p:sp>
      <p:sp>
        <p:nvSpPr>
          <p:cNvPr id="504" name="Google Shape;504;p30"/>
          <p:cNvSpPr/>
          <p:nvPr/>
        </p:nvSpPr>
        <p:spPr>
          <a:xfrm>
            <a:off x="548640" y="1828800"/>
            <a:ext cx="5318608" cy="2090928"/>
          </a:xfrm>
          <a:prstGeom prst="rect">
            <a:avLst/>
          </a:prstGeom>
          <a:solidFill>
            <a:srgbClr val="F3F4F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5" name="Google Shape;505;p30"/>
          <p:cNvSpPr txBox="1"/>
          <p:nvPr/>
        </p:nvSpPr>
        <p:spPr>
          <a:xfrm>
            <a:off x="731520" y="1975104"/>
            <a:ext cx="4952848" cy="1798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F2933"/>
              </a:buClr>
              <a:buSzPts val="1500"/>
              <a:buFont typeface="Courier New"/>
              <a:buNone/>
            </a:pPr>
            <a:r>
              <a:rPr b="0" i="0" lang="en-US" sz="1500" u="none" cap="none" strike="noStrike">
                <a:solidFill>
                  <a:srgbClr val="1F2933"/>
                </a:solidFill>
                <a:latin typeface="Courier New"/>
                <a:ea typeface="Courier New"/>
                <a:cs typeface="Courier New"/>
                <a:sym typeface="Courier New"/>
              </a:rPr>
              <a:t>prix = pd.Series(["12.5", "12,5", "abc"])</a:t>
            </a:r>
            <a:endParaRPr b="0" i="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F2933"/>
              </a:buClr>
              <a:buSzPts val="1500"/>
              <a:buFont typeface="Courier New"/>
              <a:buNone/>
            </a:pPr>
            <a:r>
              <a:rPr b="0" i="0" lang="en-US" sz="1500" u="none" cap="none" strike="noStrike">
                <a:solidFill>
                  <a:srgbClr val="1F2933"/>
                </a:solidFill>
                <a:latin typeface="Courier New"/>
                <a:ea typeface="Courier New"/>
                <a:cs typeface="Courier New"/>
                <a:sym typeface="Courier New"/>
              </a:rPr>
              <a:t> </a:t>
            </a:r>
            <a:endParaRPr b="0" i="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F2933"/>
              </a:buClr>
              <a:buSzPts val="1500"/>
              <a:buFont typeface="Courier New"/>
              <a:buNone/>
            </a:pPr>
            <a:r>
              <a:rPr b="0" i="0" lang="en-US" sz="1500" u="none" cap="none" strike="noStrike">
                <a:solidFill>
                  <a:srgbClr val="1F2933"/>
                </a:solidFill>
                <a:latin typeface="Courier New"/>
                <a:ea typeface="Courier New"/>
                <a:cs typeface="Courier New"/>
                <a:sym typeface="Courier New"/>
              </a:rPr>
              <a:t>pd.to_numeric(prix, errors="coerce")</a:t>
            </a:r>
            <a:endParaRPr b="0" i="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B7280"/>
              </a:buClr>
              <a:buSzPts val="1500"/>
              <a:buFont typeface="Courier New"/>
              <a:buNone/>
            </a:pPr>
            <a:r>
              <a:rPr b="0" i="0" lang="en-US" sz="1500" u="none" cap="none" strike="noStrike">
                <a:solidFill>
                  <a:srgbClr val="6B7280"/>
                </a:solidFill>
                <a:latin typeface="Courier New"/>
                <a:ea typeface="Courier New"/>
                <a:cs typeface="Courier New"/>
                <a:sym typeface="Courier New"/>
              </a:rPr>
              <a:t># 12.5, NaN, NaN</a:t>
            </a:r>
            <a:endParaRPr b="0" i="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F2933"/>
              </a:buClr>
              <a:buSzPts val="1500"/>
              <a:buFont typeface="Courier New"/>
              <a:buNone/>
            </a:pPr>
            <a:r>
              <a:rPr b="0" i="0" lang="en-US" sz="1500" u="none" cap="none" strike="noStrike">
                <a:solidFill>
                  <a:srgbClr val="1F2933"/>
                </a:solidFill>
                <a:latin typeface="Courier New"/>
                <a:ea typeface="Courier New"/>
                <a:cs typeface="Courier New"/>
                <a:sym typeface="Courier New"/>
              </a:rPr>
              <a:t> </a:t>
            </a:r>
            <a:endParaRPr b="0" i="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F2933"/>
              </a:buClr>
              <a:buSzPts val="1500"/>
              <a:buFont typeface="Courier New"/>
              <a:buNone/>
            </a:pPr>
            <a:r>
              <a:rPr b="0" i="0" lang="en-US" sz="1500" u="none" cap="none" strike="noStrike">
                <a:solidFill>
                  <a:srgbClr val="1F2933"/>
                </a:solidFill>
                <a:latin typeface="Courier New"/>
                <a:ea typeface="Courier New"/>
                <a:cs typeface="Courier New"/>
                <a:sym typeface="Courier New"/>
              </a:rPr>
              <a:t>pd.to_numeric(prix.str.replace(",", "."),</a:t>
            </a:r>
            <a:endParaRPr b="0" i="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F2933"/>
              </a:buClr>
              <a:buSzPts val="1500"/>
              <a:buFont typeface="Courier New"/>
              <a:buNone/>
            </a:pPr>
            <a:r>
              <a:rPr b="0" i="0" lang="en-US" sz="1500" u="none" cap="none" strike="noStrike">
                <a:solidFill>
                  <a:srgbClr val="1F2933"/>
                </a:solidFill>
                <a:latin typeface="Courier New"/>
                <a:ea typeface="Courier New"/>
                <a:cs typeface="Courier New"/>
                <a:sym typeface="Courier New"/>
              </a:rPr>
              <a:t>              errors="coerce")</a:t>
            </a:r>
            <a:endParaRPr b="0" i="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B7280"/>
              </a:buClr>
              <a:buSzPts val="1500"/>
              <a:buFont typeface="Courier New"/>
              <a:buNone/>
            </a:pPr>
            <a:r>
              <a:rPr b="0" i="0" lang="en-US" sz="1500" u="none" cap="none" strike="noStrike">
                <a:solidFill>
                  <a:srgbClr val="6B7280"/>
                </a:solidFill>
                <a:latin typeface="Courier New"/>
                <a:ea typeface="Courier New"/>
                <a:cs typeface="Courier New"/>
                <a:sym typeface="Courier New"/>
              </a:rPr>
              <a:t># 12.5, 12.5, NaN</a:t>
            </a:r>
            <a:endParaRPr b="0" i="0" sz="1500" u="none" cap="none" strike="noStrike">
              <a:solidFill>
                <a:schemeClr val="dk1"/>
              </a:solidFill>
              <a:latin typeface="Calibri"/>
              <a:ea typeface="Calibri"/>
              <a:cs typeface="Calibri"/>
              <a:sym typeface="Calibri"/>
            </a:endParaRPr>
          </a:p>
        </p:txBody>
      </p:sp>
      <p:sp>
        <p:nvSpPr>
          <p:cNvPr id="506" name="Google Shape;506;p30"/>
          <p:cNvSpPr txBox="1"/>
          <p:nvPr/>
        </p:nvSpPr>
        <p:spPr>
          <a:xfrm>
            <a:off x="6324448" y="1417320"/>
            <a:ext cx="5318608"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F3A5F"/>
              </a:buClr>
              <a:buSzPts val="1700"/>
              <a:buFont typeface="Calibri"/>
              <a:buNone/>
            </a:pPr>
            <a:r>
              <a:rPr b="1" i="0" lang="en-US" sz="1700" u="none" cap="none" strike="noStrike">
                <a:solidFill>
                  <a:srgbClr val="1F3A5F"/>
                </a:solidFill>
                <a:latin typeface="Calibri"/>
                <a:ea typeface="Calibri"/>
                <a:cs typeface="Calibri"/>
                <a:sym typeface="Calibri"/>
              </a:rPr>
              <a:t>Dates</a:t>
            </a:r>
            <a:endParaRPr b="0" i="0" sz="1700" u="none" cap="none" strike="noStrike">
              <a:solidFill>
                <a:schemeClr val="dk1"/>
              </a:solidFill>
              <a:latin typeface="Calibri"/>
              <a:ea typeface="Calibri"/>
              <a:cs typeface="Calibri"/>
              <a:sym typeface="Calibri"/>
            </a:endParaRPr>
          </a:p>
        </p:txBody>
      </p:sp>
      <p:sp>
        <p:nvSpPr>
          <p:cNvPr id="507" name="Google Shape;507;p30"/>
          <p:cNvSpPr/>
          <p:nvPr/>
        </p:nvSpPr>
        <p:spPr>
          <a:xfrm>
            <a:off x="6324448" y="1828800"/>
            <a:ext cx="5318608" cy="1551432"/>
          </a:xfrm>
          <a:prstGeom prst="rect">
            <a:avLst/>
          </a:prstGeom>
          <a:solidFill>
            <a:srgbClr val="F3F4F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8" name="Google Shape;508;p30"/>
          <p:cNvSpPr txBox="1"/>
          <p:nvPr/>
        </p:nvSpPr>
        <p:spPr>
          <a:xfrm>
            <a:off x="6507328" y="1975104"/>
            <a:ext cx="4952848" cy="1258824"/>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F2933"/>
              </a:buClr>
              <a:buSzPts val="1400"/>
              <a:buFont typeface="Courier New"/>
              <a:buNone/>
            </a:pPr>
            <a:r>
              <a:rPr b="0" i="0" lang="en-US" sz="1400" u="none" cap="none" strike="noStrike">
                <a:solidFill>
                  <a:srgbClr val="1F2933"/>
                </a:solidFill>
                <a:latin typeface="Courier New"/>
                <a:ea typeface="Courier New"/>
                <a:cs typeface="Courier New"/>
                <a:sym typeface="Courier New"/>
              </a:rPr>
              <a:t>df["date"] = pd.to_datetime(df["date"],</a:t>
            </a:r>
            <a:endParaRPr b="0" i="0" sz="14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F2933"/>
              </a:buClr>
              <a:buSzPts val="1400"/>
              <a:buFont typeface="Courier New"/>
              <a:buNone/>
            </a:pPr>
            <a:r>
              <a:rPr b="0" i="0" lang="en-US" sz="1400" u="none" cap="none" strike="noStrike">
                <a:solidFill>
                  <a:srgbClr val="1F2933"/>
                </a:solidFill>
                <a:latin typeface="Courier New"/>
                <a:ea typeface="Courier New"/>
                <a:cs typeface="Courier New"/>
                <a:sym typeface="Courier New"/>
              </a:rPr>
              <a:t>                            format="%Y-%m-%d")</a:t>
            </a:r>
            <a:endParaRPr b="0" i="0" sz="14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F2933"/>
              </a:buClr>
              <a:buSzPts val="1400"/>
              <a:buFont typeface="Courier New"/>
              <a:buNone/>
            </a:pPr>
            <a:r>
              <a:rPr b="0" i="0" lang="en-US" sz="1400" u="none" cap="none" strike="noStrike">
                <a:solidFill>
                  <a:srgbClr val="1F2933"/>
                </a:solidFill>
                <a:latin typeface="Courier New"/>
                <a:ea typeface="Courier New"/>
                <a:cs typeface="Courier New"/>
                <a:sym typeface="Courier New"/>
              </a:rPr>
              <a:t> </a:t>
            </a:r>
            <a:endParaRPr b="0" i="0" sz="14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F2933"/>
              </a:buClr>
              <a:buSzPts val="1400"/>
              <a:buFont typeface="Courier New"/>
              <a:buNone/>
            </a:pPr>
            <a:r>
              <a:rPr b="0" i="0" lang="en-US" sz="1400" u="none" cap="none" strike="noStrike">
                <a:solidFill>
                  <a:srgbClr val="1F2933"/>
                </a:solidFill>
                <a:latin typeface="Courier New"/>
                <a:ea typeface="Courier New"/>
                <a:cs typeface="Courier New"/>
                <a:sym typeface="Courier New"/>
              </a:rPr>
              <a:t>pd.to_datetime(pd.Series(["03/02/2025"]),</a:t>
            </a:r>
            <a:endParaRPr b="0" i="0" sz="14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F2933"/>
              </a:buClr>
              <a:buSzPts val="1400"/>
              <a:buFont typeface="Courier New"/>
              <a:buNone/>
            </a:pPr>
            <a:r>
              <a:rPr b="0" i="0" lang="en-US" sz="1400" u="none" cap="none" strike="noStrike">
                <a:solidFill>
                  <a:srgbClr val="1F2933"/>
                </a:solidFill>
                <a:latin typeface="Courier New"/>
                <a:ea typeface="Courier New"/>
                <a:cs typeface="Courier New"/>
                <a:sym typeface="Courier New"/>
              </a:rPr>
              <a:t>               format="%d/%m/%Y")</a:t>
            </a:r>
            <a:endParaRPr b="0" i="0" sz="14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B7280"/>
              </a:buClr>
              <a:buSzPts val="1400"/>
              <a:buFont typeface="Courier New"/>
              <a:buNone/>
            </a:pPr>
            <a:r>
              <a:rPr b="0" i="0" lang="en-US" sz="1400" u="none" cap="none" strike="noStrike">
                <a:solidFill>
                  <a:srgbClr val="6B7280"/>
                </a:solidFill>
                <a:latin typeface="Courier New"/>
                <a:ea typeface="Courier New"/>
                <a:cs typeface="Courier New"/>
                <a:sym typeface="Courier New"/>
              </a:rPr>
              <a:t># 3 février 2025, pas 2 mars</a:t>
            </a:r>
            <a:endParaRPr b="0" i="0" sz="1400" u="none" cap="none" strike="noStrike">
              <a:solidFill>
                <a:schemeClr val="dk1"/>
              </a:solidFill>
              <a:latin typeface="Calibri"/>
              <a:ea typeface="Calibri"/>
              <a:cs typeface="Calibri"/>
              <a:sym typeface="Calibri"/>
            </a:endParaRPr>
          </a:p>
        </p:txBody>
      </p:sp>
      <p:sp>
        <p:nvSpPr>
          <p:cNvPr id="509" name="Google Shape;509;p30"/>
          <p:cNvSpPr/>
          <p:nvPr/>
        </p:nvSpPr>
        <p:spPr>
          <a:xfrm>
            <a:off x="548640" y="4239768"/>
            <a:ext cx="11094415" cy="883920"/>
          </a:xfrm>
          <a:prstGeom prst="roundRect">
            <a:avLst>
              <a:gd fmla="val 6207" name="adj"/>
            </a:avLst>
          </a:prstGeom>
          <a:solidFill>
            <a:srgbClr val="E8F3E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0" name="Google Shape;510;p30"/>
          <p:cNvSpPr txBox="1"/>
          <p:nvPr/>
        </p:nvSpPr>
        <p:spPr>
          <a:xfrm>
            <a:off x="822960" y="4239768"/>
            <a:ext cx="10545775" cy="883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F7D62"/>
              </a:buClr>
              <a:buSzPts val="1700"/>
              <a:buFont typeface="Courier New"/>
              <a:buNone/>
            </a:pPr>
            <a:r>
              <a:rPr b="0" i="0" lang="en-US" sz="1700" u="none" cap="none" strike="noStrike">
                <a:solidFill>
                  <a:srgbClr val="2F7D62"/>
                </a:solidFill>
                <a:latin typeface="Courier New"/>
                <a:ea typeface="Courier New"/>
                <a:cs typeface="Courier New"/>
                <a:sym typeface="Courier New"/>
              </a:rPr>
              <a:t>errors="coerce"</a:t>
            </a:r>
            <a:r>
              <a:rPr b="0" i="0" lang="en-US" sz="1700" u="none" cap="none" strike="noStrike">
                <a:solidFill>
                  <a:srgbClr val="1F3A5F"/>
                </a:solidFill>
                <a:latin typeface="Calibri"/>
                <a:ea typeface="Calibri"/>
                <a:cs typeface="Calibri"/>
                <a:sym typeface="Calibri"/>
              </a:rPr>
              <a:t> transforme les valeurs non convertibles en valeurs manquantes : on peut ensuite les compter et décider quoi en faire.</a:t>
            </a:r>
            <a:endParaRPr b="0" i="0" sz="1700" u="none" cap="none" strike="noStrike">
              <a:solidFill>
                <a:schemeClr val="dk1"/>
              </a:solidFill>
              <a:latin typeface="Calibri"/>
              <a:ea typeface="Calibri"/>
              <a:cs typeface="Calibri"/>
              <a:sym typeface="Calibri"/>
            </a:endParaRPr>
          </a:p>
        </p:txBody>
      </p:sp>
      <p:sp>
        <p:nvSpPr>
          <p:cNvPr id="511" name="Google Shape;511;p30"/>
          <p:cNvSpPr txBox="1"/>
          <p:nvPr/>
        </p:nvSpPr>
        <p:spPr>
          <a:xfrm>
            <a:off x="548640" y="6400800"/>
            <a:ext cx="73152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B7280"/>
              </a:buClr>
              <a:buSzPts val="1000"/>
              <a:buFont typeface="Calibri"/>
              <a:buNone/>
            </a:pPr>
            <a:r>
              <a:rPr b="0" i="0" lang="en-US" sz="1000" u="none" cap="none" strike="noStrike">
                <a:solidFill>
                  <a:srgbClr val="6B7280"/>
                </a:solidFill>
                <a:latin typeface="Calibri"/>
                <a:ea typeface="Calibri"/>
                <a:cs typeface="Calibri"/>
                <a:sym typeface="Calibri"/>
              </a:rPr>
              <a:t>Analyse de données avec Python   |   Jour 1, après-midi</a:t>
            </a:r>
            <a:endParaRPr b="0" i="0" sz="1000" u="none" cap="none" strike="noStrike">
              <a:solidFill>
                <a:schemeClr val="dk1"/>
              </a:solidFill>
              <a:latin typeface="Calibri"/>
              <a:ea typeface="Calibri"/>
              <a:cs typeface="Calibri"/>
              <a:sym typeface="Calibri"/>
            </a:endParaRPr>
          </a:p>
        </p:txBody>
      </p:sp>
      <p:sp>
        <p:nvSpPr>
          <p:cNvPr id="512" name="Google Shape;512;p30"/>
          <p:cNvSpPr txBox="1"/>
          <p:nvPr>
            <p:ph idx="4294967295" type="sldNum"/>
          </p:nvPr>
        </p:nvSpPr>
        <p:spPr>
          <a:xfrm>
            <a:off x="11094415" y="6400800"/>
            <a:ext cx="548640" cy="27432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000" u="none" cap="none" strike="noStrike">
                <a:solidFill>
                  <a:srgbClr val="6B7280"/>
                </a:solidFill>
                <a:latin typeface="Calibri"/>
                <a:ea typeface="Calibri"/>
                <a:cs typeface="Calibri"/>
                <a:sym typeface="Calibri"/>
              </a:rPr>
              <a:t>‹#›</a:t>
            </a:fld>
            <a:endParaRPr b="0" i="0" sz="1000" u="none" cap="none" strike="noStrike">
              <a:solidFill>
                <a:srgbClr val="6B7280"/>
              </a:solidFill>
              <a:latin typeface="Calibri"/>
              <a:ea typeface="Calibri"/>
              <a:cs typeface="Calibri"/>
              <a:sym typeface="Calibri"/>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17" name="Shape 517"/>
        <p:cNvGrpSpPr/>
        <p:nvPr/>
      </p:nvGrpSpPr>
      <p:grpSpPr>
        <a:xfrm>
          <a:off x="0" y="0"/>
          <a:ext cx="0" cy="0"/>
          <a:chOff x="0" y="0"/>
          <a:chExt cx="0" cy="0"/>
        </a:xfrm>
      </p:grpSpPr>
      <p:sp>
        <p:nvSpPr>
          <p:cNvPr id="518" name="Google Shape;518;p31"/>
          <p:cNvSpPr/>
          <p:nvPr/>
        </p:nvSpPr>
        <p:spPr>
          <a:xfrm>
            <a:off x="548640" y="566928"/>
            <a:ext cx="475488" cy="475488"/>
          </a:xfrm>
          <a:prstGeom prst="ellipse">
            <a:avLst/>
          </a:prstGeom>
          <a:solidFill>
            <a:srgbClr val="2F7D6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9" name="Google Shape;519;p31"/>
          <p:cNvSpPr txBox="1"/>
          <p:nvPr/>
        </p:nvSpPr>
        <p:spPr>
          <a:xfrm>
            <a:off x="548640" y="566928"/>
            <a:ext cx="475488" cy="47548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4</a:t>
            </a:r>
            <a:endParaRPr b="0" i="0" sz="1600" u="none" cap="none" strike="noStrike">
              <a:solidFill>
                <a:schemeClr val="dk1"/>
              </a:solidFill>
              <a:latin typeface="Calibri"/>
              <a:ea typeface="Calibri"/>
              <a:cs typeface="Calibri"/>
              <a:sym typeface="Calibri"/>
            </a:endParaRPr>
          </a:p>
        </p:txBody>
      </p:sp>
      <p:sp>
        <p:nvSpPr>
          <p:cNvPr id="520" name="Google Shape;520;p31"/>
          <p:cNvSpPr txBox="1"/>
          <p:nvPr/>
        </p:nvSpPr>
        <p:spPr>
          <a:xfrm>
            <a:off x="1280160" y="164592"/>
            <a:ext cx="10362895"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F7D62"/>
              </a:buClr>
              <a:buSzPts val="1200"/>
              <a:buFont typeface="Calibri"/>
              <a:buNone/>
            </a:pPr>
            <a:r>
              <a:rPr b="1" i="0" lang="en-US" sz="1200" u="none" cap="none" strike="noStrike">
                <a:solidFill>
                  <a:srgbClr val="2F7D62"/>
                </a:solidFill>
                <a:latin typeface="Calibri"/>
                <a:ea typeface="Calibri"/>
                <a:cs typeface="Calibri"/>
                <a:sym typeface="Calibri"/>
              </a:rPr>
              <a:t>GÉRER LES TYPES</a:t>
            </a:r>
            <a:endParaRPr b="0" i="0" sz="1200" u="none" cap="none" strike="noStrike">
              <a:solidFill>
                <a:schemeClr val="dk1"/>
              </a:solidFill>
              <a:latin typeface="Calibri"/>
              <a:ea typeface="Calibri"/>
              <a:cs typeface="Calibri"/>
              <a:sym typeface="Calibri"/>
            </a:endParaRPr>
          </a:p>
        </p:txBody>
      </p:sp>
      <p:sp>
        <p:nvSpPr>
          <p:cNvPr id="521" name="Google Shape;521;p31"/>
          <p:cNvSpPr txBox="1"/>
          <p:nvPr/>
        </p:nvSpPr>
        <p:spPr>
          <a:xfrm>
            <a:off x="1280160" y="457200"/>
            <a:ext cx="10362895" cy="6949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F3A5F"/>
              </a:buClr>
              <a:buSzPts val="3000"/>
              <a:buFont typeface="Cambria"/>
              <a:buNone/>
            </a:pPr>
            <a:r>
              <a:rPr b="1" i="0" lang="en-US" sz="3000" u="none" cap="none" strike="noStrike">
                <a:solidFill>
                  <a:srgbClr val="1F3A5F"/>
                </a:solidFill>
                <a:latin typeface="Cambria"/>
                <a:ea typeface="Cambria"/>
                <a:cs typeface="Cambria"/>
                <a:sym typeface="Cambria"/>
              </a:rPr>
              <a:t>Le type category</a:t>
            </a:r>
            <a:endParaRPr b="0" i="0" sz="3000" u="none" cap="none" strike="noStrike">
              <a:solidFill>
                <a:schemeClr val="dk1"/>
              </a:solidFill>
              <a:latin typeface="Calibri"/>
              <a:ea typeface="Calibri"/>
              <a:cs typeface="Calibri"/>
              <a:sym typeface="Calibri"/>
            </a:endParaRPr>
          </a:p>
        </p:txBody>
      </p:sp>
      <p:sp>
        <p:nvSpPr>
          <p:cNvPr id="522" name="Google Shape;522;p31"/>
          <p:cNvSpPr/>
          <p:nvPr/>
        </p:nvSpPr>
        <p:spPr>
          <a:xfrm>
            <a:off x="548640" y="1417320"/>
            <a:ext cx="5802117" cy="1461516"/>
          </a:xfrm>
          <a:prstGeom prst="rect">
            <a:avLst/>
          </a:prstGeom>
          <a:solidFill>
            <a:srgbClr val="F3F4F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3" name="Google Shape;523;p31"/>
          <p:cNvSpPr txBox="1"/>
          <p:nvPr/>
        </p:nvSpPr>
        <p:spPr>
          <a:xfrm>
            <a:off x="731520" y="1563624"/>
            <a:ext cx="5436357" cy="11689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F2933"/>
              </a:buClr>
              <a:buSzPts val="1300"/>
              <a:buFont typeface="Courier New"/>
              <a:buNone/>
            </a:pPr>
            <a:r>
              <a:rPr b="0" i="0" lang="en-US" sz="1300" u="none" cap="none" strike="noStrike">
                <a:solidFill>
                  <a:srgbClr val="1F2933"/>
                </a:solidFill>
                <a:latin typeface="Courier New"/>
                <a:ea typeface="Courier New"/>
                <a:cs typeface="Courier New"/>
                <a:sym typeface="Courier New"/>
              </a:rPr>
              <a:t>df["categorie"] = df["categorie"].astype("category")</a:t>
            </a:r>
            <a:endParaRPr b="0" i="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F2933"/>
              </a:buClr>
              <a:buSzPts val="1300"/>
              <a:buFont typeface="Courier New"/>
              <a:buNone/>
            </a:pPr>
            <a:r>
              <a:rPr b="0" i="0" lang="en-US" sz="1300" u="none" cap="none" strike="noStrike">
                <a:solidFill>
                  <a:srgbClr val="1F2933"/>
                </a:solidFill>
                <a:latin typeface="Courier New"/>
                <a:ea typeface="Courier New"/>
                <a:cs typeface="Courier New"/>
                <a:sym typeface="Courier New"/>
              </a:rPr>
              <a:t>df["categorie"].cat.categories</a:t>
            </a:r>
            <a:endParaRPr b="0" i="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F2933"/>
              </a:buClr>
              <a:buSzPts val="1300"/>
              <a:buFont typeface="Courier New"/>
              <a:buNone/>
            </a:pPr>
            <a:r>
              <a:rPr b="0" i="0" lang="en-US" sz="1300" u="none" cap="none" strike="noStrike">
                <a:solidFill>
                  <a:srgbClr val="1F2933"/>
                </a:solidFill>
                <a:latin typeface="Courier New"/>
                <a:ea typeface="Courier New"/>
                <a:cs typeface="Courier New"/>
                <a:sym typeface="Courier New"/>
              </a:rPr>
              <a:t> </a:t>
            </a:r>
            <a:endParaRPr b="0" i="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B7280"/>
              </a:buClr>
              <a:buSzPts val="1300"/>
              <a:buFont typeface="Courier New"/>
              <a:buNone/>
            </a:pPr>
            <a:r>
              <a:rPr b="0" i="0" lang="en-US" sz="1300" u="none" cap="none" strike="noStrike">
                <a:solidFill>
                  <a:srgbClr val="6B7280"/>
                </a:solidFill>
                <a:latin typeface="Courier New"/>
                <a:ea typeface="Courier New"/>
                <a:cs typeface="Courier New"/>
                <a:sym typeface="Courier New"/>
              </a:rPr>
              <a:t># mémoire réellement occupée, texte compris</a:t>
            </a:r>
            <a:endParaRPr b="0" i="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F2933"/>
              </a:buClr>
              <a:buSzPts val="1300"/>
              <a:buFont typeface="Courier New"/>
              <a:buNone/>
            </a:pPr>
            <a:r>
              <a:rPr b="0" i="0" lang="en-US" sz="1300" u="none" cap="none" strike="noStrike">
                <a:solidFill>
                  <a:srgbClr val="1F2933"/>
                </a:solidFill>
                <a:latin typeface="Courier New"/>
                <a:ea typeface="Courier New"/>
                <a:cs typeface="Courier New"/>
                <a:sym typeface="Courier New"/>
              </a:rPr>
              <a:t>df[["categorie", "region"]].memory_usage(</a:t>
            </a:r>
            <a:endParaRPr b="0" i="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F2933"/>
              </a:buClr>
              <a:buSzPts val="1300"/>
              <a:buFont typeface="Courier New"/>
              <a:buNone/>
            </a:pPr>
            <a:r>
              <a:rPr b="0" i="0" lang="en-US" sz="1300" u="none" cap="none" strike="noStrike">
                <a:solidFill>
                  <a:srgbClr val="1F2933"/>
                </a:solidFill>
                <a:latin typeface="Courier New"/>
                <a:ea typeface="Courier New"/>
                <a:cs typeface="Courier New"/>
                <a:sym typeface="Courier New"/>
              </a:rPr>
              <a:t>    deep=True, index=False)</a:t>
            </a:r>
            <a:endParaRPr b="0" i="0" sz="1300" u="none" cap="none" strike="noStrike">
              <a:solidFill>
                <a:schemeClr val="dk1"/>
              </a:solidFill>
              <a:latin typeface="Calibri"/>
              <a:ea typeface="Calibri"/>
              <a:cs typeface="Calibri"/>
              <a:sym typeface="Calibri"/>
            </a:endParaRPr>
          </a:p>
        </p:txBody>
      </p:sp>
      <p:sp>
        <p:nvSpPr>
          <p:cNvPr id="524" name="Google Shape;524;p31"/>
          <p:cNvSpPr txBox="1"/>
          <p:nvPr/>
        </p:nvSpPr>
        <p:spPr>
          <a:xfrm>
            <a:off x="548640" y="3198876"/>
            <a:ext cx="5802117" cy="1615440"/>
          </a:xfrm>
          <a:prstGeom prst="rect">
            <a:avLst/>
          </a:prstGeom>
          <a:noFill/>
          <a:ln>
            <a:noFill/>
          </a:ln>
        </p:spPr>
        <p:txBody>
          <a:bodyPr anchorCtr="0" anchor="t" bIns="0" lIns="0" spcFirstLastPara="1" rIns="0" wrap="square" tIns="0">
            <a:noAutofit/>
          </a:bodyPr>
          <a:lstStyle/>
          <a:p>
            <a:pPr indent="-254000" lvl="0" marL="254000" marR="0" rtl="0" algn="l">
              <a:spcBef>
                <a:spcPts val="0"/>
              </a:spcBef>
              <a:spcAft>
                <a:spcPts val="0"/>
              </a:spcAft>
              <a:buClr>
                <a:srgbClr val="1F2933"/>
              </a:buClr>
              <a:buSzPts val="1600"/>
              <a:buFont typeface="Calibri"/>
              <a:buChar char="•"/>
            </a:pPr>
            <a:r>
              <a:rPr b="0" i="0" lang="en-US" sz="1600" u="none" cap="none" strike="noStrike">
                <a:solidFill>
                  <a:srgbClr val="1F2933"/>
                </a:solidFill>
                <a:latin typeface="Calibri"/>
                <a:ea typeface="Calibri"/>
                <a:cs typeface="Calibri"/>
                <a:sym typeface="Calibri"/>
              </a:rPr>
              <a:t>Chaque valeur distincte stockée une seule fois, un code numérique par ligne</a:t>
            </a:r>
            <a:endParaRPr b="0" i="0" sz="1600" u="none" cap="none" strike="noStrike">
              <a:solidFill>
                <a:schemeClr val="dk1"/>
              </a:solidFill>
              <a:latin typeface="Calibri"/>
              <a:ea typeface="Calibri"/>
              <a:cs typeface="Calibri"/>
              <a:sym typeface="Calibri"/>
            </a:endParaRPr>
          </a:p>
          <a:p>
            <a:pPr indent="0" lvl="0" marL="0" marR="0" rtl="0" algn="l">
              <a:spcBef>
                <a:spcPts val="800"/>
              </a:spcBef>
              <a:spcAft>
                <a:spcPts val="0"/>
              </a:spcAft>
              <a:buClr>
                <a:srgbClr val="1F2933"/>
              </a:buClr>
              <a:buSzPts val="1600"/>
              <a:buFont typeface="Calibri"/>
              <a:buNone/>
            </a:pPr>
            <a:r>
              <a:rPr b="0" i="0" lang="en-US" sz="1600" u="none" cap="none" strike="noStrike">
                <a:solidFill>
                  <a:srgbClr val="1F2933"/>
                </a:solidFill>
                <a:latin typeface="Calibri"/>
                <a:ea typeface="Calibri"/>
                <a:cs typeface="Calibri"/>
                <a:sym typeface="Calibri"/>
              </a:rPr>
              <a:t>Pour les colonnes à </a:t>
            </a:r>
            <a:r>
              <a:rPr b="1" i="0" lang="en-US" sz="1600" u="none" cap="none" strike="noStrike">
                <a:solidFill>
                  <a:srgbClr val="1F2933"/>
                </a:solidFill>
                <a:latin typeface="Calibri"/>
                <a:ea typeface="Calibri"/>
                <a:cs typeface="Calibri"/>
                <a:sym typeface="Calibri"/>
              </a:rPr>
              <a:t>faible cardinalité</a:t>
            </a:r>
            <a:r>
              <a:rPr b="0" i="0" lang="en-US" sz="1600" u="none" cap="none" strike="noStrike">
                <a:solidFill>
                  <a:srgbClr val="1F2933"/>
                </a:solidFill>
                <a:latin typeface="Calibri"/>
                <a:ea typeface="Calibri"/>
                <a:cs typeface="Calibri"/>
                <a:sym typeface="Calibri"/>
              </a:rPr>
              <a:t> : catégorie, région, statut</a:t>
            </a:r>
            <a:endParaRPr b="0" i="0" sz="16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1F2933"/>
              </a:buClr>
              <a:buSzPts val="1600"/>
              <a:buFont typeface="Calibri"/>
              <a:buNone/>
            </a:pPr>
            <a:r>
              <a:rPr b="0" i="0" lang="en-US" sz="1600" u="none" cap="none" strike="noStrike">
                <a:solidFill>
                  <a:srgbClr val="1F2933"/>
                </a:solidFill>
                <a:latin typeface="Calibri"/>
                <a:ea typeface="Calibri"/>
                <a:cs typeface="Calibri"/>
                <a:sym typeface="Calibri"/>
              </a:rPr>
              <a:t>À convertir </a:t>
            </a:r>
            <a:r>
              <a:rPr b="1" i="0" lang="en-US" sz="1600" u="none" cap="none" strike="noStrike">
                <a:solidFill>
                  <a:srgbClr val="1F2933"/>
                </a:solidFill>
                <a:latin typeface="Calibri"/>
                <a:ea typeface="Calibri"/>
                <a:cs typeface="Calibri"/>
                <a:sym typeface="Calibri"/>
              </a:rPr>
              <a:t>après</a:t>
            </a:r>
            <a:r>
              <a:rPr b="0" i="0" lang="en-US" sz="1600" u="none" cap="none" strike="noStrike">
                <a:solidFill>
                  <a:srgbClr val="1F2933"/>
                </a:solidFill>
                <a:latin typeface="Calibri"/>
                <a:ea typeface="Calibri"/>
                <a:cs typeface="Calibri"/>
                <a:sym typeface="Calibri"/>
              </a:rPr>
              <a:t> le nettoyage du texte</a:t>
            </a:r>
            <a:endParaRPr b="0" i="0" sz="1600" u="none" cap="none" strike="noStrike">
              <a:solidFill>
                <a:schemeClr val="dk1"/>
              </a:solidFill>
              <a:latin typeface="Calibri"/>
              <a:ea typeface="Calibri"/>
              <a:cs typeface="Calibri"/>
              <a:sym typeface="Calibri"/>
            </a:endParaRPr>
          </a:p>
        </p:txBody>
      </p:sp>
      <p:sp>
        <p:nvSpPr>
          <p:cNvPr id="525" name="Google Shape;525;p31"/>
          <p:cNvSpPr txBox="1"/>
          <p:nvPr/>
        </p:nvSpPr>
        <p:spPr>
          <a:xfrm>
            <a:off x="6807957" y="1417320"/>
            <a:ext cx="4835098"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F3A5F"/>
              </a:buClr>
              <a:buSzPts val="1700"/>
              <a:buFont typeface="Calibri"/>
              <a:buNone/>
            </a:pPr>
            <a:r>
              <a:rPr b="1" i="0" lang="en-US" sz="1700" u="none" cap="none" strike="noStrike">
                <a:solidFill>
                  <a:srgbClr val="1F3A5F"/>
                </a:solidFill>
                <a:latin typeface="Calibri"/>
                <a:ea typeface="Calibri"/>
                <a:cs typeface="Calibri"/>
                <a:sym typeface="Calibri"/>
              </a:rPr>
              <a:t>Colonne </a:t>
            </a:r>
            <a:r>
              <a:rPr b="1" i="0" lang="en-US" sz="1700" u="none" cap="none" strike="noStrike">
                <a:solidFill>
                  <a:srgbClr val="1F3A5F"/>
                </a:solidFill>
                <a:latin typeface="Courier New"/>
                <a:ea typeface="Courier New"/>
                <a:cs typeface="Courier New"/>
                <a:sym typeface="Courier New"/>
              </a:rPr>
              <a:t>categorie</a:t>
            </a:r>
            <a:r>
              <a:rPr b="1" i="0" lang="en-US" sz="1700" u="none" cap="none" strike="noStrike">
                <a:solidFill>
                  <a:srgbClr val="1F3A5F"/>
                </a:solidFill>
                <a:latin typeface="Calibri"/>
                <a:ea typeface="Calibri"/>
                <a:cs typeface="Calibri"/>
                <a:sym typeface="Calibri"/>
              </a:rPr>
              <a:t> des ventes nettoyées</a:t>
            </a:r>
            <a:endParaRPr b="0" i="0" sz="1700" u="none" cap="none" strike="noStrike">
              <a:solidFill>
                <a:schemeClr val="dk1"/>
              </a:solidFill>
              <a:latin typeface="Calibri"/>
              <a:ea typeface="Calibri"/>
              <a:cs typeface="Calibri"/>
              <a:sym typeface="Calibri"/>
            </a:endParaRPr>
          </a:p>
        </p:txBody>
      </p:sp>
      <p:sp>
        <p:nvSpPr>
          <p:cNvPr id="526" name="Google Shape;526;p31"/>
          <p:cNvSpPr/>
          <p:nvPr/>
        </p:nvSpPr>
        <p:spPr>
          <a:xfrm>
            <a:off x="6807957" y="1828800"/>
            <a:ext cx="2280389" cy="1600200"/>
          </a:xfrm>
          <a:prstGeom prst="roundRect">
            <a:avLst>
              <a:gd fmla="val 4571" name="adj"/>
            </a:avLst>
          </a:prstGeom>
          <a:solidFill>
            <a:srgbClr val="EEF3F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7" name="Google Shape;527;p31"/>
          <p:cNvSpPr txBox="1"/>
          <p:nvPr/>
        </p:nvSpPr>
        <p:spPr>
          <a:xfrm>
            <a:off x="7036557" y="2011680"/>
            <a:ext cx="1823189" cy="7772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F3A5F"/>
              </a:buClr>
              <a:buSzPts val="4000"/>
              <a:buFont typeface="Cambria"/>
              <a:buNone/>
            </a:pPr>
            <a:r>
              <a:rPr b="1" i="0" lang="en-US" sz="4000" u="none" cap="none" strike="noStrike">
                <a:solidFill>
                  <a:srgbClr val="1F3A5F"/>
                </a:solidFill>
                <a:latin typeface="Cambria"/>
                <a:ea typeface="Cambria"/>
                <a:cs typeface="Cambria"/>
                <a:sym typeface="Cambria"/>
              </a:rPr>
              <a:t>1,1 Ko</a:t>
            </a:r>
            <a:endParaRPr b="0" i="0" sz="4000" u="none" cap="none" strike="noStrike">
              <a:solidFill>
                <a:schemeClr val="dk1"/>
              </a:solidFill>
              <a:latin typeface="Calibri"/>
              <a:ea typeface="Calibri"/>
              <a:cs typeface="Calibri"/>
              <a:sym typeface="Calibri"/>
            </a:endParaRPr>
          </a:p>
        </p:txBody>
      </p:sp>
      <p:sp>
        <p:nvSpPr>
          <p:cNvPr id="528" name="Google Shape;528;p31"/>
          <p:cNvSpPr txBox="1"/>
          <p:nvPr/>
        </p:nvSpPr>
        <p:spPr>
          <a:xfrm>
            <a:off x="7036557" y="2834640"/>
            <a:ext cx="1823189"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B7280"/>
              </a:buClr>
              <a:buSzPts val="1500"/>
              <a:buFont typeface="Calibri"/>
              <a:buNone/>
            </a:pPr>
            <a:r>
              <a:rPr b="0" i="0" lang="en-US" sz="1500" u="none" cap="none" strike="noStrike">
                <a:solidFill>
                  <a:srgbClr val="6B7280"/>
                </a:solidFill>
                <a:latin typeface="Calibri"/>
                <a:ea typeface="Calibri"/>
                <a:cs typeface="Calibri"/>
                <a:sym typeface="Calibri"/>
              </a:rPr>
              <a:t>en texte, type </a:t>
            </a:r>
            <a:r>
              <a:rPr b="0" i="0" lang="en-US" sz="1500" u="none" cap="none" strike="noStrike">
                <a:solidFill>
                  <a:srgbClr val="1F3A5F"/>
                </a:solidFill>
                <a:latin typeface="Courier New"/>
                <a:ea typeface="Courier New"/>
                <a:cs typeface="Courier New"/>
                <a:sym typeface="Courier New"/>
              </a:rPr>
              <a:t>str</a:t>
            </a:r>
            <a:endParaRPr b="0" i="0" sz="1500" u="none" cap="none" strike="noStrike">
              <a:solidFill>
                <a:schemeClr val="dk1"/>
              </a:solidFill>
              <a:latin typeface="Calibri"/>
              <a:ea typeface="Calibri"/>
              <a:cs typeface="Calibri"/>
              <a:sym typeface="Calibri"/>
            </a:endParaRPr>
          </a:p>
        </p:txBody>
      </p:sp>
      <p:sp>
        <p:nvSpPr>
          <p:cNvPr id="529" name="Google Shape;529;p31"/>
          <p:cNvSpPr/>
          <p:nvPr/>
        </p:nvSpPr>
        <p:spPr>
          <a:xfrm>
            <a:off x="9362666" y="1828800"/>
            <a:ext cx="2280389" cy="1600200"/>
          </a:xfrm>
          <a:prstGeom prst="roundRect">
            <a:avLst>
              <a:gd fmla="val 4571" name="adj"/>
            </a:avLst>
          </a:prstGeom>
          <a:solidFill>
            <a:srgbClr val="EEF3F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0" name="Google Shape;530;p31"/>
          <p:cNvSpPr txBox="1"/>
          <p:nvPr/>
        </p:nvSpPr>
        <p:spPr>
          <a:xfrm>
            <a:off x="9591266" y="2011680"/>
            <a:ext cx="1823189" cy="7772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F7D62"/>
              </a:buClr>
              <a:buSzPts val="4000"/>
              <a:buFont typeface="Cambria"/>
              <a:buNone/>
            </a:pPr>
            <a:r>
              <a:rPr b="1" i="0" lang="en-US" sz="4000" u="none" cap="none" strike="noStrike">
                <a:solidFill>
                  <a:srgbClr val="2F7D62"/>
                </a:solidFill>
                <a:latin typeface="Cambria"/>
                <a:ea typeface="Cambria"/>
                <a:cs typeface="Cambria"/>
                <a:sym typeface="Cambria"/>
              </a:rPr>
              <a:t>0,1 Ko</a:t>
            </a:r>
            <a:endParaRPr b="0" i="0" sz="4000" u="none" cap="none" strike="noStrike">
              <a:solidFill>
                <a:schemeClr val="dk1"/>
              </a:solidFill>
              <a:latin typeface="Calibri"/>
              <a:ea typeface="Calibri"/>
              <a:cs typeface="Calibri"/>
              <a:sym typeface="Calibri"/>
            </a:endParaRPr>
          </a:p>
        </p:txBody>
      </p:sp>
      <p:sp>
        <p:nvSpPr>
          <p:cNvPr id="531" name="Google Shape;531;p31"/>
          <p:cNvSpPr txBox="1"/>
          <p:nvPr/>
        </p:nvSpPr>
        <p:spPr>
          <a:xfrm>
            <a:off x="9591266" y="2834640"/>
            <a:ext cx="1823189"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B7280"/>
              </a:buClr>
              <a:buSzPts val="1500"/>
              <a:buFont typeface="Calibri"/>
              <a:buNone/>
            </a:pPr>
            <a:r>
              <a:rPr b="0" i="0" lang="en-US" sz="1500" u="none" cap="none" strike="noStrike">
                <a:solidFill>
                  <a:srgbClr val="6B7280"/>
                </a:solidFill>
                <a:latin typeface="Calibri"/>
                <a:ea typeface="Calibri"/>
                <a:cs typeface="Calibri"/>
                <a:sym typeface="Calibri"/>
              </a:rPr>
              <a:t>en </a:t>
            </a:r>
            <a:r>
              <a:rPr b="0" i="0" lang="en-US" sz="1500" u="none" cap="none" strike="noStrike">
                <a:solidFill>
                  <a:srgbClr val="1F3A5F"/>
                </a:solidFill>
                <a:latin typeface="Courier New"/>
                <a:ea typeface="Courier New"/>
                <a:cs typeface="Courier New"/>
                <a:sym typeface="Courier New"/>
              </a:rPr>
              <a:t>category</a:t>
            </a:r>
            <a:endParaRPr b="0" i="0" sz="1500" u="none" cap="none" strike="noStrike">
              <a:solidFill>
                <a:schemeClr val="dk1"/>
              </a:solidFill>
              <a:latin typeface="Calibri"/>
              <a:ea typeface="Calibri"/>
              <a:cs typeface="Calibri"/>
              <a:sym typeface="Calibri"/>
            </a:endParaRPr>
          </a:p>
        </p:txBody>
      </p:sp>
      <p:sp>
        <p:nvSpPr>
          <p:cNvPr id="532" name="Google Shape;532;p31"/>
          <p:cNvSpPr txBox="1"/>
          <p:nvPr/>
        </p:nvSpPr>
        <p:spPr>
          <a:xfrm>
            <a:off x="6807957" y="3749040"/>
            <a:ext cx="4835098" cy="6248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B7280"/>
              </a:buClr>
              <a:buSzPts val="1600"/>
              <a:buFont typeface="Calibri"/>
              <a:buNone/>
            </a:pPr>
            <a:r>
              <a:rPr b="0" i="0" lang="en-US" sz="1600" u="none" cap="none" strike="noStrike">
                <a:solidFill>
                  <a:srgbClr val="6B7280"/>
                </a:solidFill>
                <a:latin typeface="Calibri"/>
                <a:ea typeface="Calibri"/>
                <a:cs typeface="Calibri"/>
                <a:sym typeface="Calibri"/>
              </a:rPr>
              <a:t>L'écart devient considérable sur des millions de lignes.</a:t>
            </a:r>
            <a:endParaRPr b="0" i="0" sz="1600" u="none" cap="none" strike="noStrike">
              <a:solidFill>
                <a:schemeClr val="dk1"/>
              </a:solidFill>
              <a:latin typeface="Calibri"/>
              <a:ea typeface="Calibri"/>
              <a:cs typeface="Calibri"/>
              <a:sym typeface="Calibri"/>
            </a:endParaRPr>
          </a:p>
        </p:txBody>
      </p:sp>
      <p:sp>
        <p:nvSpPr>
          <p:cNvPr id="533" name="Google Shape;533;p31"/>
          <p:cNvSpPr txBox="1"/>
          <p:nvPr/>
        </p:nvSpPr>
        <p:spPr>
          <a:xfrm>
            <a:off x="548640" y="6400800"/>
            <a:ext cx="73152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B7280"/>
              </a:buClr>
              <a:buSzPts val="1000"/>
              <a:buFont typeface="Calibri"/>
              <a:buNone/>
            </a:pPr>
            <a:r>
              <a:rPr b="0" i="0" lang="en-US" sz="1000" u="none" cap="none" strike="noStrike">
                <a:solidFill>
                  <a:srgbClr val="6B7280"/>
                </a:solidFill>
                <a:latin typeface="Calibri"/>
                <a:ea typeface="Calibri"/>
                <a:cs typeface="Calibri"/>
                <a:sym typeface="Calibri"/>
              </a:rPr>
              <a:t>Analyse de données avec Python   |   Jour 1, après-midi</a:t>
            </a:r>
            <a:endParaRPr b="0" i="0" sz="1000" u="none" cap="none" strike="noStrike">
              <a:solidFill>
                <a:schemeClr val="dk1"/>
              </a:solidFill>
              <a:latin typeface="Calibri"/>
              <a:ea typeface="Calibri"/>
              <a:cs typeface="Calibri"/>
              <a:sym typeface="Calibri"/>
            </a:endParaRPr>
          </a:p>
        </p:txBody>
      </p:sp>
      <p:sp>
        <p:nvSpPr>
          <p:cNvPr id="534" name="Google Shape;534;p31"/>
          <p:cNvSpPr txBox="1"/>
          <p:nvPr>
            <p:ph idx="4294967295" type="sldNum"/>
          </p:nvPr>
        </p:nvSpPr>
        <p:spPr>
          <a:xfrm>
            <a:off x="11094415" y="6400800"/>
            <a:ext cx="548640" cy="27432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000" u="none" cap="none" strike="noStrike">
                <a:solidFill>
                  <a:srgbClr val="6B7280"/>
                </a:solidFill>
                <a:latin typeface="Calibri"/>
                <a:ea typeface="Calibri"/>
                <a:cs typeface="Calibri"/>
                <a:sym typeface="Calibri"/>
              </a:rPr>
              <a:t>‹#›</a:t>
            </a:fld>
            <a:endParaRPr b="0" i="0" sz="1000" u="none" cap="none" strike="noStrike">
              <a:solidFill>
                <a:srgbClr val="6B7280"/>
              </a:solidFill>
              <a:latin typeface="Calibri"/>
              <a:ea typeface="Calibri"/>
              <a:cs typeface="Calibri"/>
              <a:sym typeface="Calibri"/>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39" name="Shape 539"/>
        <p:cNvGrpSpPr/>
        <p:nvPr/>
      </p:nvGrpSpPr>
      <p:grpSpPr>
        <a:xfrm>
          <a:off x="0" y="0"/>
          <a:ext cx="0" cy="0"/>
          <a:chOff x="0" y="0"/>
          <a:chExt cx="0" cy="0"/>
        </a:xfrm>
      </p:grpSpPr>
      <p:sp>
        <p:nvSpPr>
          <p:cNvPr id="540" name="Google Shape;540;p32"/>
          <p:cNvSpPr/>
          <p:nvPr/>
        </p:nvSpPr>
        <p:spPr>
          <a:xfrm>
            <a:off x="548640" y="566928"/>
            <a:ext cx="475488" cy="475488"/>
          </a:xfrm>
          <a:prstGeom prst="ellipse">
            <a:avLst/>
          </a:prstGeom>
          <a:solidFill>
            <a:srgbClr val="2F7D6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1" name="Google Shape;541;p32"/>
          <p:cNvSpPr txBox="1"/>
          <p:nvPr/>
        </p:nvSpPr>
        <p:spPr>
          <a:xfrm>
            <a:off x="548640" y="566928"/>
            <a:ext cx="475488" cy="47548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4</a:t>
            </a:r>
            <a:endParaRPr b="0" i="0" sz="1600" u="none" cap="none" strike="noStrike">
              <a:solidFill>
                <a:schemeClr val="dk1"/>
              </a:solidFill>
              <a:latin typeface="Calibri"/>
              <a:ea typeface="Calibri"/>
              <a:cs typeface="Calibri"/>
              <a:sym typeface="Calibri"/>
            </a:endParaRPr>
          </a:p>
        </p:txBody>
      </p:sp>
      <p:sp>
        <p:nvSpPr>
          <p:cNvPr id="542" name="Google Shape;542;p32"/>
          <p:cNvSpPr txBox="1"/>
          <p:nvPr/>
        </p:nvSpPr>
        <p:spPr>
          <a:xfrm>
            <a:off x="1280160" y="164592"/>
            <a:ext cx="10362895"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F7D62"/>
              </a:buClr>
              <a:buSzPts val="1200"/>
              <a:buFont typeface="Calibri"/>
              <a:buNone/>
            </a:pPr>
            <a:r>
              <a:rPr b="1" i="0" lang="en-US" sz="1200" u="none" cap="none" strike="noStrike">
                <a:solidFill>
                  <a:srgbClr val="2F7D62"/>
                </a:solidFill>
                <a:latin typeface="Calibri"/>
                <a:ea typeface="Calibri"/>
                <a:cs typeface="Calibri"/>
                <a:sym typeface="Calibri"/>
              </a:rPr>
              <a:t>GÉRER LES TYPES</a:t>
            </a:r>
            <a:endParaRPr b="0" i="0" sz="1200" u="none" cap="none" strike="noStrike">
              <a:solidFill>
                <a:schemeClr val="dk1"/>
              </a:solidFill>
              <a:latin typeface="Calibri"/>
              <a:ea typeface="Calibri"/>
              <a:cs typeface="Calibri"/>
              <a:sym typeface="Calibri"/>
            </a:endParaRPr>
          </a:p>
        </p:txBody>
      </p:sp>
      <p:sp>
        <p:nvSpPr>
          <p:cNvPr id="543" name="Google Shape;543;p32"/>
          <p:cNvSpPr txBox="1"/>
          <p:nvPr/>
        </p:nvSpPr>
        <p:spPr>
          <a:xfrm>
            <a:off x="1280160" y="457200"/>
            <a:ext cx="10362895" cy="6949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F3A5F"/>
              </a:buClr>
              <a:buSzPts val="3000"/>
              <a:buFont typeface="Cambria"/>
              <a:buNone/>
            </a:pPr>
            <a:r>
              <a:rPr b="1" i="0" lang="en-US" sz="3000" u="none" cap="none" strike="noStrike">
                <a:solidFill>
                  <a:srgbClr val="1F3A5F"/>
                </a:solidFill>
                <a:latin typeface="Cambria"/>
                <a:ea typeface="Cambria"/>
                <a:cs typeface="Cambria"/>
                <a:sym typeface="Cambria"/>
              </a:rPr>
              <a:t>Ajouter une valeur à une category</a:t>
            </a:r>
            <a:endParaRPr b="0" i="0" sz="3000" u="none" cap="none" strike="noStrike">
              <a:solidFill>
                <a:schemeClr val="dk1"/>
              </a:solidFill>
              <a:latin typeface="Calibri"/>
              <a:ea typeface="Calibri"/>
              <a:cs typeface="Calibri"/>
              <a:sym typeface="Calibri"/>
            </a:endParaRPr>
          </a:p>
        </p:txBody>
      </p:sp>
      <p:sp>
        <p:nvSpPr>
          <p:cNvPr id="544" name="Google Shape;544;p32"/>
          <p:cNvSpPr txBox="1"/>
          <p:nvPr/>
        </p:nvSpPr>
        <p:spPr>
          <a:xfrm>
            <a:off x="548640" y="1417320"/>
            <a:ext cx="11094415" cy="411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B7280"/>
              </a:buClr>
              <a:buSzPts val="1800"/>
              <a:buFont typeface="Calibri"/>
              <a:buNone/>
            </a:pPr>
            <a:r>
              <a:rPr b="0" i="0" lang="en-US" sz="1800" u="none" cap="none" strike="noStrike">
                <a:solidFill>
                  <a:srgbClr val="6B7280"/>
                </a:solidFill>
                <a:latin typeface="Calibri"/>
                <a:ea typeface="Calibri"/>
                <a:cs typeface="Calibri"/>
                <a:sym typeface="Calibri"/>
              </a:rPr>
              <a:t>Une colonne </a:t>
            </a:r>
            <a:r>
              <a:rPr b="0" i="0" lang="en-US" sz="1800" u="none" cap="none" strike="noStrike">
                <a:solidFill>
                  <a:srgbClr val="1F3A5F"/>
                </a:solidFill>
                <a:latin typeface="Courier New"/>
                <a:ea typeface="Courier New"/>
                <a:cs typeface="Courier New"/>
                <a:sym typeface="Courier New"/>
              </a:rPr>
              <a:t>category</a:t>
            </a:r>
            <a:r>
              <a:rPr b="0" i="0" lang="en-US" sz="1800" u="none" cap="none" strike="noStrike">
                <a:solidFill>
                  <a:srgbClr val="6B7280"/>
                </a:solidFill>
                <a:latin typeface="Calibri"/>
                <a:ea typeface="Calibri"/>
                <a:cs typeface="Calibri"/>
                <a:sym typeface="Calibri"/>
              </a:rPr>
              <a:t> n'accepte que des valeurs qui font partie de ses catégories.</a:t>
            </a:r>
            <a:endParaRPr b="0" i="0" sz="1800" u="none" cap="none" strike="noStrike">
              <a:solidFill>
                <a:schemeClr val="dk1"/>
              </a:solidFill>
              <a:latin typeface="Calibri"/>
              <a:ea typeface="Calibri"/>
              <a:cs typeface="Calibri"/>
              <a:sym typeface="Calibri"/>
            </a:endParaRPr>
          </a:p>
        </p:txBody>
      </p:sp>
      <p:sp>
        <p:nvSpPr>
          <p:cNvPr id="545" name="Google Shape;545;p32"/>
          <p:cNvSpPr txBox="1"/>
          <p:nvPr/>
        </p:nvSpPr>
        <p:spPr>
          <a:xfrm>
            <a:off x="548640" y="2011680"/>
            <a:ext cx="5318608"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F3A5F"/>
              </a:buClr>
              <a:buSzPts val="1700"/>
              <a:buFont typeface="Calibri"/>
              <a:buNone/>
            </a:pPr>
            <a:r>
              <a:rPr b="1" i="0" lang="en-US" sz="1700" u="none" cap="none" strike="noStrike">
                <a:solidFill>
                  <a:srgbClr val="1F3A5F"/>
                </a:solidFill>
                <a:latin typeface="Calibri"/>
                <a:ea typeface="Calibri"/>
                <a:cs typeface="Calibri"/>
                <a:sym typeface="Calibri"/>
              </a:rPr>
              <a:t>Refusé</a:t>
            </a:r>
            <a:endParaRPr b="0" i="0" sz="1700" u="none" cap="none" strike="noStrike">
              <a:solidFill>
                <a:schemeClr val="dk1"/>
              </a:solidFill>
              <a:latin typeface="Calibri"/>
              <a:ea typeface="Calibri"/>
              <a:cs typeface="Calibri"/>
              <a:sym typeface="Calibri"/>
            </a:endParaRPr>
          </a:p>
        </p:txBody>
      </p:sp>
      <p:sp>
        <p:nvSpPr>
          <p:cNvPr id="546" name="Google Shape;546;p32"/>
          <p:cNvSpPr/>
          <p:nvPr/>
        </p:nvSpPr>
        <p:spPr>
          <a:xfrm>
            <a:off x="548640" y="2423160"/>
            <a:ext cx="5318608" cy="1131824"/>
          </a:xfrm>
          <a:prstGeom prst="rect">
            <a:avLst/>
          </a:prstGeom>
          <a:solidFill>
            <a:srgbClr val="F3F4F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7" name="Google Shape;547;p32"/>
          <p:cNvSpPr txBox="1"/>
          <p:nvPr/>
        </p:nvSpPr>
        <p:spPr>
          <a:xfrm>
            <a:off x="731520" y="2569464"/>
            <a:ext cx="4952848" cy="839216"/>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F2933"/>
              </a:buClr>
              <a:buSzPts val="1400"/>
              <a:buFont typeface="Courier New"/>
              <a:buNone/>
            </a:pPr>
            <a:r>
              <a:rPr b="0" i="0" lang="en-US" sz="1400" u="none" cap="none" strike="noStrike">
                <a:solidFill>
                  <a:srgbClr val="1F2933"/>
                </a:solidFill>
                <a:latin typeface="Courier New"/>
                <a:ea typeface="Courier New"/>
                <a:cs typeface="Courier New"/>
                <a:sym typeface="Courier New"/>
              </a:rPr>
              <a:t>df["region"].fillna("Inconnue")</a:t>
            </a:r>
            <a:endParaRPr b="0" i="0" sz="14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B7280"/>
              </a:buClr>
              <a:buSzPts val="1400"/>
              <a:buFont typeface="Courier New"/>
              <a:buNone/>
            </a:pPr>
            <a:r>
              <a:rPr b="0" i="0" lang="en-US" sz="1400" u="none" cap="none" strike="noStrike">
                <a:solidFill>
                  <a:srgbClr val="6B7280"/>
                </a:solidFill>
                <a:latin typeface="Courier New"/>
                <a:ea typeface="Courier New"/>
                <a:cs typeface="Courier New"/>
                <a:sym typeface="Courier New"/>
              </a:rPr>
              <a:t># TypeError: Cannot setitem on a Categorical</a:t>
            </a:r>
            <a:endParaRPr b="0" i="0" sz="14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B7280"/>
              </a:buClr>
              <a:buSzPts val="1400"/>
              <a:buFont typeface="Courier New"/>
              <a:buNone/>
            </a:pPr>
            <a:r>
              <a:rPr b="0" i="0" lang="en-US" sz="1400" u="none" cap="none" strike="noStrike">
                <a:solidFill>
                  <a:srgbClr val="6B7280"/>
                </a:solidFill>
                <a:latin typeface="Courier New"/>
                <a:ea typeface="Courier New"/>
                <a:cs typeface="Courier New"/>
                <a:sym typeface="Courier New"/>
              </a:rPr>
              <a:t># with a new category (Inconnue), set the</a:t>
            </a:r>
            <a:endParaRPr b="0" i="0" sz="14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B7280"/>
              </a:buClr>
              <a:buSzPts val="1400"/>
              <a:buFont typeface="Courier New"/>
              <a:buNone/>
            </a:pPr>
            <a:r>
              <a:rPr b="0" i="0" lang="en-US" sz="1400" u="none" cap="none" strike="noStrike">
                <a:solidFill>
                  <a:srgbClr val="6B7280"/>
                </a:solidFill>
                <a:latin typeface="Courier New"/>
                <a:ea typeface="Courier New"/>
                <a:cs typeface="Courier New"/>
                <a:sym typeface="Courier New"/>
              </a:rPr>
              <a:t># categories first</a:t>
            </a:r>
            <a:endParaRPr b="0" i="0" sz="1400" u="none" cap="none" strike="noStrike">
              <a:solidFill>
                <a:schemeClr val="dk1"/>
              </a:solidFill>
              <a:latin typeface="Calibri"/>
              <a:ea typeface="Calibri"/>
              <a:cs typeface="Calibri"/>
              <a:sym typeface="Calibri"/>
            </a:endParaRPr>
          </a:p>
        </p:txBody>
      </p:sp>
      <p:sp>
        <p:nvSpPr>
          <p:cNvPr id="548" name="Google Shape;548;p32"/>
          <p:cNvSpPr txBox="1"/>
          <p:nvPr/>
        </p:nvSpPr>
        <p:spPr>
          <a:xfrm>
            <a:off x="548640" y="3875024"/>
            <a:ext cx="5318608" cy="6248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B7280"/>
              </a:buClr>
              <a:buSzPts val="1600"/>
              <a:buFont typeface="Calibri"/>
              <a:buNone/>
            </a:pPr>
            <a:r>
              <a:rPr b="0" i="0" lang="en-US" sz="1600" u="none" cap="none" strike="noStrike">
                <a:solidFill>
                  <a:srgbClr val="6B7280"/>
                </a:solidFill>
                <a:latin typeface="Calibri"/>
                <a:ea typeface="Calibri"/>
                <a:cs typeface="Calibri"/>
                <a:sym typeface="Calibri"/>
              </a:rPr>
              <a:t>Avec </a:t>
            </a:r>
            <a:r>
              <a:rPr b="0" i="0" lang="en-US" sz="1600" u="none" cap="none" strike="noStrike">
                <a:solidFill>
                  <a:srgbClr val="1F3A5F"/>
                </a:solidFill>
                <a:latin typeface="Courier New"/>
                <a:ea typeface="Courier New"/>
                <a:cs typeface="Courier New"/>
                <a:sym typeface="Courier New"/>
              </a:rPr>
              <a:t>region</a:t>
            </a:r>
            <a:r>
              <a:rPr b="0" i="0" lang="en-US" sz="1600" u="none" cap="none" strike="noStrike">
                <a:solidFill>
                  <a:srgbClr val="6B7280"/>
                </a:solidFill>
                <a:latin typeface="Calibri"/>
                <a:ea typeface="Calibri"/>
                <a:cs typeface="Calibri"/>
                <a:sym typeface="Calibri"/>
              </a:rPr>
              <a:t> en </a:t>
            </a:r>
            <a:r>
              <a:rPr b="0" i="0" lang="en-US" sz="1600" u="none" cap="none" strike="noStrike">
                <a:solidFill>
                  <a:srgbClr val="1F3A5F"/>
                </a:solidFill>
                <a:latin typeface="Courier New"/>
                <a:ea typeface="Courier New"/>
                <a:cs typeface="Courier New"/>
                <a:sym typeface="Courier New"/>
              </a:rPr>
              <a:t>category</a:t>
            </a:r>
            <a:r>
              <a:rPr b="0" i="0" lang="en-US" sz="1600" u="none" cap="none" strike="noStrike">
                <a:solidFill>
                  <a:srgbClr val="6B7280"/>
                </a:solidFill>
                <a:latin typeface="Calibri"/>
                <a:ea typeface="Calibri"/>
                <a:cs typeface="Calibri"/>
                <a:sym typeface="Calibri"/>
              </a:rPr>
              <a:t>, </a:t>
            </a:r>
            <a:r>
              <a:rPr b="0" i="0" lang="en-US" sz="1600" u="none" cap="none" strike="noStrike">
                <a:solidFill>
                  <a:srgbClr val="1F3A5F"/>
                </a:solidFill>
                <a:latin typeface="Courier New"/>
                <a:ea typeface="Courier New"/>
                <a:cs typeface="Courier New"/>
                <a:sym typeface="Courier New"/>
              </a:rPr>
              <a:t>Inconnue</a:t>
            </a:r>
            <a:r>
              <a:rPr b="0" i="0" lang="en-US" sz="1600" u="none" cap="none" strike="noStrike">
                <a:solidFill>
                  <a:srgbClr val="6B7280"/>
                </a:solidFill>
                <a:latin typeface="Calibri"/>
                <a:ea typeface="Calibri"/>
                <a:cs typeface="Calibri"/>
                <a:sym typeface="Calibri"/>
              </a:rPr>
              <a:t> ne fait pas partie des catégories.</a:t>
            </a:r>
            <a:endParaRPr b="0" i="0" sz="1600" u="none" cap="none" strike="noStrike">
              <a:solidFill>
                <a:schemeClr val="dk1"/>
              </a:solidFill>
              <a:latin typeface="Calibri"/>
              <a:ea typeface="Calibri"/>
              <a:cs typeface="Calibri"/>
              <a:sym typeface="Calibri"/>
            </a:endParaRPr>
          </a:p>
        </p:txBody>
      </p:sp>
      <p:sp>
        <p:nvSpPr>
          <p:cNvPr id="549" name="Google Shape;549;p32"/>
          <p:cNvSpPr txBox="1"/>
          <p:nvPr/>
        </p:nvSpPr>
        <p:spPr>
          <a:xfrm>
            <a:off x="6324448" y="2011680"/>
            <a:ext cx="5318608"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F3A5F"/>
              </a:buClr>
              <a:buSzPts val="1700"/>
              <a:buFont typeface="Calibri"/>
              <a:buNone/>
            </a:pPr>
            <a:r>
              <a:rPr b="1" i="0" lang="en-US" sz="1700" u="none" cap="none" strike="noStrike">
                <a:solidFill>
                  <a:srgbClr val="1F3A5F"/>
                </a:solidFill>
                <a:latin typeface="Calibri"/>
                <a:ea typeface="Calibri"/>
                <a:cs typeface="Calibri"/>
                <a:sym typeface="Calibri"/>
              </a:rPr>
              <a:t>Déclarer d'abord la nouvelle valeur</a:t>
            </a:r>
            <a:endParaRPr b="0" i="0" sz="1700" u="none" cap="none" strike="noStrike">
              <a:solidFill>
                <a:schemeClr val="dk1"/>
              </a:solidFill>
              <a:latin typeface="Calibri"/>
              <a:ea typeface="Calibri"/>
              <a:cs typeface="Calibri"/>
              <a:sym typeface="Calibri"/>
            </a:endParaRPr>
          </a:p>
        </p:txBody>
      </p:sp>
      <p:sp>
        <p:nvSpPr>
          <p:cNvPr id="550" name="Google Shape;550;p32"/>
          <p:cNvSpPr/>
          <p:nvPr/>
        </p:nvSpPr>
        <p:spPr>
          <a:xfrm>
            <a:off x="6324448" y="2423160"/>
            <a:ext cx="5318608" cy="1416558"/>
          </a:xfrm>
          <a:prstGeom prst="rect">
            <a:avLst/>
          </a:prstGeom>
          <a:solidFill>
            <a:srgbClr val="F3F4F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1" name="Google Shape;551;p32"/>
          <p:cNvSpPr txBox="1"/>
          <p:nvPr/>
        </p:nvSpPr>
        <p:spPr>
          <a:xfrm>
            <a:off x="6507328" y="2569464"/>
            <a:ext cx="4952848" cy="112395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F2933"/>
              </a:buClr>
              <a:buSzPts val="1500"/>
              <a:buFont typeface="Courier New"/>
              <a:buNone/>
            </a:pPr>
            <a:r>
              <a:rPr b="0" i="0" lang="en-US" sz="1500" u="none" cap="none" strike="noStrike">
                <a:solidFill>
                  <a:srgbClr val="1F2933"/>
                </a:solidFill>
                <a:latin typeface="Courier New"/>
                <a:ea typeface="Courier New"/>
                <a:cs typeface="Courier New"/>
                <a:sym typeface="Courier New"/>
              </a:rPr>
              <a:t>df["region"] = (</a:t>
            </a:r>
            <a:endParaRPr b="0" i="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F2933"/>
              </a:buClr>
              <a:buSzPts val="1500"/>
              <a:buFont typeface="Courier New"/>
              <a:buNone/>
            </a:pPr>
            <a:r>
              <a:rPr b="0" i="0" lang="en-US" sz="1500" u="none" cap="none" strike="noStrike">
                <a:solidFill>
                  <a:srgbClr val="1F2933"/>
                </a:solidFill>
                <a:latin typeface="Courier New"/>
                <a:ea typeface="Courier New"/>
                <a:cs typeface="Courier New"/>
                <a:sym typeface="Courier New"/>
              </a:rPr>
              <a:t>    df["region"]</a:t>
            </a:r>
            <a:endParaRPr b="0" i="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F2933"/>
              </a:buClr>
              <a:buSzPts val="1500"/>
              <a:buFont typeface="Courier New"/>
              <a:buNone/>
            </a:pPr>
            <a:r>
              <a:rPr b="0" i="0" lang="en-US" sz="1500" u="none" cap="none" strike="noStrike">
                <a:solidFill>
                  <a:srgbClr val="1F2933"/>
                </a:solidFill>
                <a:latin typeface="Courier New"/>
                <a:ea typeface="Courier New"/>
                <a:cs typeface="Courier New"/>
                <a:sym typeface="Courier New"/>
              </a:rPr>
              <a:t>    .cat.add_categories("Inconnue")</a:t>
            </a:r>
            <a:endParaRPr b="0" i="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F2933"/>
              </a:buClr>
              <a:buSzPts val="1500"/>
              <a:buFont typeface="Courier New"/>
              <a:buNone/>
            </a:pPr>
            <a:r>
              <a:rPr b="0" i="0" lang="en-US" sz="1500" u="none" cap="none" strike="noStrike">
                <a:solidFill>
                  <a:srgbClr val="1F2933"/>
                </a:solidFill>
                <a:latin typeface="Courier New"/>
                <a:ea typeface="Courier New"/>
                <a:cs typeface="Courier New"/>
                <a:sym typeface="Courier New"/>
              </a:rPr>
              <a:t>    .fillna("Inconnue")</a:t>
            </a:r>
            <a:endParaRPr b="0" i="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F2933"/>
              </a:buClr>
              <a:buSzPts val="1500"/>
              <a:buFont typeface="Courier New"/>
              <a:buNone/>
            </a:pPr>
            <a:r>
              <a:rPr b="0" i="0" lang="en-US" sz="1500" u="none" cap="none" strike="noStrike">
                <a:solidFill>
                  <a:srgbClr val="1F2933"/>
                </a:solidFill>
                <a:latin typeface="Courier New"/>
                <a:ea typeface="Courier New"/>
                <a:cs typeface="Courier New"/>
                <a:sym typeface="Courier New"/>
              </a:rPr>
              <a:t>)</a:t>
            </a:r>
            <a:endParaRPr b="0" i="0" sz="1500" u="none" cap="none" strike="noStrike">
              <a:solidFill>
                <a:schemeClr val="dk1"/>
              </a:solidFill>
              <a:latin typeface="Calibri"/>
              <a:ea typeface="Calibri"/>
              <a:cs typeface="Calibri"/>
              <a:sym typeface="Calibri"/>
            </a:endParaRPr>
          </a:p>
        </p:txBody>
      </p:sp>
      <p:sp>
        <p:nvSpPr>
          <p:cNvPr id="552" name="Google Shape;552;p32"/>
          <p:cNvSpPr txBox="1"/>
          <p:nvPr/>
        </p:nvSpPr>
        <p:spPr>
          <a:xfrm>
            <a:off x="6324448" y="4159758"/>
            <a:ext cx="5318608" cy="6248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F3A5F"/>
              </a:buClr>
              <a:buSzPts val="1600"/>
              <a:buFont typeface="Courier New"/>
              <a:buNone/>
            </a:pPr>
            <a:r>
              <a:rPr b="0" i="0" lang="en-US" sz="1600" u="none" cap="none" strike="noStrike">
                <a:solidFill>
                  <a:srgbClr val="1F3A5F"/>
                </a:solidFill>
                <a:latin typeface="Courier New"/>
                <a:ea typeface="Courier New"/>
                <a:cs typeface="Courier New"/>
                <a:sym typeface="Courier New"/>
              </a:rPr>
              <a:t>cat.add_categories</a:t>
            </a:r>
            <a:r>
              <a:rPr b="0" i="0" lang="en-US" sz="1600" u="none" cap="none" strike="noStrike">
                <a:solidFill>
                  <a:srgbClr val="6B7280"/>
                </a:solidFill>
                <a:latin typeface="Calibri"/>
                <a:ea typeface="Calibri"/>
                <a:cs typeface="Calibri"/>
                <a:sym typeface="Calibri"/>
              </a:rPr>
              <a:t> ajoute la valeur aux catégories, puis </a:t>
            </a:r>
            <a:r>
              <a:rPr b="0" i="0" lang="en-US" sz="1600" u="none" cap="none" strike="noStrike">
                <a:solidFill>
                  <a:srgbClr val="1F3A5F"/>
                </a:solidFill>
                <a:latin typeface="Courier New"/>
                <a:ea typeface="Courier New"/>
                <a:cs typeface="Courier New"/>
                <a:sym typeface="Courier New"/>
              </a:rPr>
              <a:t>fillna</a:t>
            </a:r>
            <a:r>
              <a:rPr b="0" i="0" lang="en-US" sz="1600" u="none" cap="none" strike="noStrike">
                <a:solidFill>
                  <a:srgbClr val="6B7280"/>
                </a:solidFill>
                <a:latin typeface="Calibri"/>
                <a:ea typeface="Calibri"/>
                <a:cs typeface="Calibri"/>
                <a:sym typeface="Calibri"/>
              </a:rPr>
              <a:t> peut l'écrire.</a:t>
            </a:r>
            <a:endParaRPr b="0" i="0" sz="1600" u="none" cap="none" strike="noStrike">
              <a:solidFill>
                <a:schemeClr val="dk1"/>
              </a:solidFill>
              <a:latin typeface="Calibri"/>
              <a:ea typeface="Calibri"/>
              <a:cs typeface="Calibri"/>
              <a:sym typeface="Calibri"/>
            </a:endParaRPr>
          </a:p>
        </p:txBody>
      </p:sp>
      <p:sp>
        <p:nvSpPr>
          <p:cNvPr id="553" name="Google Shape;553;p32"/>
          <p:cNvSpPr txBox="1"/>
          <p:nvPr/>
        </p:nvSpPr>
        <p:spPr>
          <a:xfrm>
            <a:off x="548640" y="6400800"/>
            <a:ext cx="73152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B7280"/>
              </a:buClr>
              <a:buSzPts val="1000"/>
              <a:buFont typeface="Calibri"/>
              <a:buNone/>
            </a:pPr>
            <a:r>
              <a:rPr b="0" i="0" lang="en-US" sz="1000" u="none" cap="none" strike="noStrike">
                <a:solidFill>
                  <a:srgbClr val="6B7280"/>
                </a:solidFill>
                <a:latin typeface="Calibri"/>
                <a:ea typeface="Calibri"/>
                <a:cs typeface="Calibri"/>
                <a:sym typeface="Calibri"/>
              </a:rPr>
              <a:t>Analyse de données avec Python   |   Jour 1, après-midi</a:t>
            </a:r>
            <a:endParaRPr b="0" i="0" sz="1000" u="none" cap="none" strike="noStrike">
              <a:solidFill>
                <a:schemeClr val="dk1"/>
              </a:solidFill>
              <a:latin typeface="Calibri"/>
              <a:ea typeface="Calibri"/>
              <a:cs typeface="Calibri"/>
              <a:sym typeface="Calibri"/>
            </a:endParaRPr>
          </a:p>
        </p:txBody>
      </p:sp>
      <p:sp>
        <p:nvSpPr>
          <p:cNvPr id="554" name="Google Shape;554;p32"/>
          <p:cNvSpPr txBox="1"/>
          <p:nvPr>
            <p:ph idx="4294967295" type="sldNum"/>
          </p:nvPr>
        </p:nvSpPr>
        <p:spPr>
          <a:xfrm>
            <a:off x="11094415" y="6400800"/>
            <a:ext cx="548640" cy="27432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000" u="none" cap="none" strike="noStrike">
                <a:solidFill>
                  <a:srgbClr val="6B7280"/>
                </a:solidFill>
                <a:latin typeface="Calibri"/>
                <a:ea typeface="Calibri"/>
                <a:cs typeface="Calibri"/>
                <a:sym typeface="Calibri"/>
              </a:rPr>
              <a:t>‹#›</a:t>
            </a:fld>
            <a:endParaRPr b="0" i="0" sz="1000" u="none" cap="none" strike="noStrike">
              <a:solidFill>
                <a:srgbClr val="6B7280"/>
              </a:solidFill>
              <a:latin typeface="Calibri"/>
              <a:ea typeface="Calibri"/>
              <a:cs typeface="Calibri"/>
              <a:sym typeface="Calibri"/>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59" name="Shape 559"/>
        <p:cNvGrpSpPr/>
        <p:nvPr/>
      </p:nvGrpSpPr>
      <p:grpSpPr>
        <a:xfrm>
          <a:off x="0" y="0"/>
          <a:ext cx="0" cy="0"/>
          <a:chOff x="0" y="0"/>
          <a:chExt cx="0" cy="0"/>
        </a:xfrm>
      </p:grpSpPr>
      <p:sp>
        <p:nvSpPr>
          <p:cNvPr id="560" name="Google Shape;560;p33"/>
          <p:cNvSpPr/>
          <p:nvPr/>
        </p:nvSpPr>
        <p:spPr>
          <a:xfrm>
            <a:off x="548640" y="566928"/>
            <a:ext cx="475488" cy="475488"/>
          </a:xfrm>
          <a:prstGeom prst="ellipse">
            <a:avLst/>
          </a:prstGeom>
          <a:solidFill>
            <a:srgbClr val="2F7D6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1" name="Google Shape;561;p33"/>
          <p:cNvSpPr txBox="1"/>
          <p:nvPr/>
        </p:nvSpPr>
        <p:spPr>
          <a:xfrm>
            <a:off x="548640" y="566928"/>
            <a:ext cx="475488" cy="47548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4</a:t>
            </a:r>
            <a:endParaRPr b="0" i="0" sz="1600" u="none" cap="none" strike="noStrike">
              <a:solidFill>
                <a:schemeClr val="dk1"/>
              </a:solidFill>
              <a:latin typeface="Calibri"/>
              <a:ea typeface="Calibri"/>
              <a:cs typeface="Calibri"/>
              <a:sym typeface="Calibri"/>
            </a:endParaRPr>
          </a:p>
        </p:txBody>
      </p:sp>
      <p:sp>
        <p:nvSpPr>
          <p:cNvPr id="562" name="Google Shape;562;p33"/>
          <p:cNvSpPr txBox="1"/>
          <p:nvPr/>
        </p:nvSpPr>
        <p:spPr>
          <a:xfrm>
            <a:off x="1280160" y="164592"/>
            <a:ext cx="10362895"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F7D62"/>
              </a:buClr>
              <a:buSzPts val="1200"/>
              <a:buFont typeface="Calibri"/>
              <a:buNone/>
            </a:pPr>
            <a:r>
              <a:rPr b="1" i="0" lang="en-US" sz="1200" u="none" cap="none" strike="noStrike">
                <a:solidFill>
                  <a:srgbClr val="2F7D62"/>
                </a:solidFill>
                <a:latin typeface="Calibri"/>
                <a:ea typeface="Calibri"/>
                <a:cs typeface="Calibri"/>
                <a:sym typeface="Calibri"/>
              </a:rPr>
              <a:t>GÉRER LES TYPES</a:t>
            </a:r>
            <a:endParaRPr b="0" i="0" sz="1200" u="none" cap="none" strike="noStrike">
              <a:solidFill>
                <a:schemeClr val="dk1"/>
              </a:solidFill>
              <a:latin typeface="Calibri"/>
              <a:ea typeface="Calibri"/>
              <a:cs typeface="Calibri"/>
              <a:sym typeface="Calibri"/>
            </a:endParaRPr>
          </a:p>
        </p:txBody>
      </p:sp>
      <p:sp>
        <p:nvSpPr>
          <p:cNvPr id="563" name="Google Shape;563;p33"/>
          <p:cNvSpPr txBox="1"/>
          <p:nvPr/>
        </p:nvSpPr>
        <p:spPr>
          <a:xfrm>
            <a:off x="1280160" y="457200"/>
            <a:ext cx="10362895" cy="6949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F3A5F"/>
              </a:buClr>
              <a:buSzPts val="3000"/>
              <a:buFont typeface="Cambria"/>
              <a:buNone/>
            </a:pPr>
            <a:r>
              <a:rPr b="1" i="0" lang="en-US" sz="3000" u="none" cap="none" strike="noStrike">
                <a:solidFill>
                  <a:srgbClr val="1F3A5F"/>
                </a:solidFill>
                <a:latin typeface="Cambria"/>
                <a:ea typeface="Cambria"/>
                <a:cs typeface="Cambria"/>
                <a:sym typeface="Cambria"/>
              </a:rPr>
              <a:t>Pratique : TP2, partie 4</a:t>
            </a:r>
            <a:endParaRPr b="0" i="0" sz="3000" u="none" cap="none" strike="noStrike">
              <a:solidFill>
                <a:schemeClr val="dk1"/>
              </a:solidFill>
              <a:latin typeface="Calibri"/>
              <a:ea typeface="Calibri"/>
              <a:cs typeface="Calibri"/>
              <a:sym typeface="Calibri"/>
            </a:endParaRPr>
          </a:p>
        </p:txBody>
      </p:sp>
      <p:sp>
        <p:nvSpPr>
          <p:cNvPr id="564" name="Google Shape;564;p33"/>
          <p:cNvSpPr txBox="1"/>
          <p:nvPr/>
        </p:nvSpPr>
        <p:spPr>
          <a:xfrm>
            <a:off x="548640" y="1417320"/>
            <a:ext cx="11094415" cy="411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B7280"/>
              </a:buClr>
              <a:buSzPts val="1800"/>
              <a:buFont typeface="Calibri"/>
              <a:buNone/>
            </a:pPr>
            <a:r>
              <a:rPr b="0" i="0" lang="en-US" sz="1800" u="none" cap="none" strike="noStrike">
                <a:solidFill>
                  <a:srgbClr val="6B7280"/>
                </a:solidFill>
                <a:latin typeface="Calibri"/>
                <a:ea typeface="Calibri"/>
                <a:cs typeface="Calibri"/>
                <a:sym typeface="Calibri"/>
              </a:rPr>
              <a:t>Gérer les types, sur de petites Series</a:t>
            </a:r>
            <a:endParaRPr b="0" i="0" sz="1800" u="none" cap="none" strike="noStrike">
              <a:solidFill>
                <a:schemeClr val="dk1"/>
              </a:solidFill>
              <a:latin typeface="Calibri"/>
              <a:ea typeface="Calibri"/>
              <a:cs typeface="Calibri"/>
              <a:sym typeface="Calibri"/>
            </a:endParaRPr>
          </a:p>
        </p:txBody>
      </p:sp>
      <p:graphicFrame>
        <p:nvGraphicFramePr>
          <p:cNvPr id="565" name="Google Shape;565;p33"/>
          <p:cNvGraphicFramePr/>
          <p:nvPr/>
        </p:nvGraphicFramePr>
        <p:xfrm>
          <a:off x="548640" y="2011680"/>
          <a:ext cx="3000000" cy="3000000"/>
        </p:xfrm>
        <a:graphic>
          <a:graphicData uri="http://schemas.openxmlformats.org/drawingml/2006/table">
            <a:tbl>
              <a:tblPr>
                <a:noFill/>
                <a:tableStyleId>{5790C458-BB61-4800-A068-DD2F3961D878}</a:tableStyleId>
              </a:tblPr>
              <a:tblGrid>
                <a:gridCol w="2289325"/>
                <a:gridCol w="8805100"/>
              </a:tblGrid>
              <a:tr h="379975">
                <a:tc>
                  <a:txBody>
                    <a:bodyPr/>
                    <a:lstStyle/>
                    <a:p>
                      <a:pPr indent="0" lvl="0" marL="0" marR="0" rtl="0" algn="l">
                        <a:spcBef>
                          <a:spcPts val="0"/>
                        </a:spcBef>
                        <a:spcAft>
                          <a:spcPts val="0"/>
                        </a:spcAft>
                        <a:buClr>
                          <a:srgbClr val="FFFFFF"/>
                        </a:buClr>
                        <a:buSzPts val="1600"/>
                        <a:buFont typeface="Calibri"/>
                        <a:buNone/>
                      </a:pPr>
                      <a:r>
                        <a:rPr b="1" lang="en-US" sz="1600" u="none" cap="none" strike="noStrike">
                          <a:solidFill>
                            <a:srgbClr val="FFFFFF"/>
                          </a:solidFill>
                          <a:latin typeface="Calibri"/>
                          <a:ea typeface="Calibri"/>
                          <a:cs typeface="Calibri"/>
                          <a:sym typeface="Calibri"/>
                        </a:rPr>
                        <a:t>Questions</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1F3A5F"/>
                    </a:solidFill>
                  </a:tcPr>
                </a:tc>
                <a:tc>
                  <a:txBody>
                    <a:bodyPr/>
                    <a:lstStyle/>
                    <a:p>
                      <a:pPr indent="0" lvl="0" marL="0" marR="0" rtl="0" algn="l">
                        <a:spcBef>
                          <a:spcPts val="0"/>
                        </a:spcBef>
                        <a:spcAft>
                          <a:spcPts val="0"/>
                        </a:spcAft>
                        <a:buClr>
                          <a:srgbClr val="FFFFFF"/>
                        </a:buClr>
                        <a:buSzPts val="1600"/>
                        <a:buFont typeface="Calibri"/>
                        <a:buNone/>
                      </a:pPr>
                      <a:r>
                        <a:rPr b="1" lang="en-US" sz="1600" u="none" cap="none" strike="noStrike">
                          <a:solidFill>
                            <a:srgbClr val="FFFFFF"/>
                          </a:solidFill>
                          <a:latin typeface="Calibri"/>
                          <a:ea typeface="Calibri"/>
                          <a:cs typeface="Calibri"/>
                          <a:sym typeface="Calibri"/>
                        </a:rPr>
                        <a:t>Ce qu'on pratique</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1F3A5F"/>
                    </a:solidFill>
                  </a:tcPr>
                </a:tc>
              </a:tr>
              <a:tr h="379975">
                <a:tc>
                  <a:txBody>
                    <a:bodyPr/>
                    <a:lstStyle/>
                    <a:p>
                      <a:pPr indent="0" lvl="0" marL="0" marR="0" rtl="0" algn="l">
                        <a:spcBef>
                          <a:spcPts val="0"/>
                        </a:spcBef>
                        <a:spcAft>
                          <a:spcPts val="0"/>
                        </a:spcAft>
                        <a:buClr>
                          <a:srgbClr val="1F2933"/>
                        </a:buClr>
                        <a:buSzPts val="1600"/>
                        <a:buFont typeface="Calibri"/>
                        <a:buNone/>
                      </a:pPr>
                      <a:r>
                        <a:rPr b="1" lang="en-US" sz="1600" u="none" cap="none" strike="noStrike">
                          <a:solidFill>
                            <a:srgbClr val="1F2933"/>
                          </a:solidFill>
                          <a:latin typeface="Calibri"/>
                          <a:ea typeface="Calibri"/>
                          <a:cs typeface="Calibri"/>
                          <a:sym typeface="Calibri"/>
                        </a:rPr>
                        <a:t>4.1</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F2933"/>
                        </a:buClr>
                        <a:buSzPts val="1600"/>
                        <a:buFont typeface="Calibri"/>
                        <a:buNone/>
                      </a:pPr>
                      <a:r>
                        <a:rPr lang="en-US" sz="1600" u="none" cap="none" strike="noStrike">
                          <a:solidFill>
                            <a:srgbClr val="1F2933"/>
                          </a:solidFill>
                          <a:latin typeface="Calibri"/>
                          <a:ea typeface="Calibri"/>
                          <a:cs typeface="Calibri"/>
                          <a:sym typeface="Calibri"/>
                        </a:rPr>
                        <a:t>convertir des prix saisis en texte avec </a:t>
                      </a:r>
                      <a:r>
                        <a:rPr lang="en-US" sz="1600" u="none" cap="none" strike="noStrike">
                          <a:solidFill>
                            <a:srgbClr val="1F3A5F"/>
                          </a:solidFill>
                          <a:latin typeface="Courier New"/>
                          <a:ea typeface="Courier New"/>
                          <a:cs typeface="Courier New"/>
                          <a:sym typeface="Courier New"/>
                        </a:rPr>
                        <a:t>to_numeric</a:t>
                      </a:r>
                      <a:r>
                        <a:rPr lang="en-US" sz="1600" u="none" cap="none" strike="noStrike">
                          <a:solidFill>
                            <a:srgbClr val="1F2933"/>
                          </a:solidFill>
                          <a:latin typeface="Calibri"/>
                          <a:ea typeface="Calibri"/>
                          <a:cs typeface="Calibri"/>
                          <a:sym typeface="Calibri"/>
                        </a:rPr>
                        <a:t> et </a:t>
                      </a:r>
                      <a:r>
                        <a:rPr lang="en-US" sz="1600" u="none" cap="none" strike="noStrike">
                          <a:solidFill>
                            <a:srgbClr val="1F3A5F"/>
                          </a:solidFill>
                          <a:latin typeface="Courier New"/>
                          <a:ea typeface="Courier New"/>
                          <a:cs typeface="Courier New"/>
                          <a:sym typeface="Courier New"/>
                        </a:rPr>
                        <a:t>errors="coerce"</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FFFFF"/>
                    </a:solidFill>
                  </a:tcPr>
                </a:tc>
              </a:tr>
              <a:tr h="379975">
                <a:tc>
                  <a:txBody>
                    <a:bodyPr/>
                    <a:lstStyle/>
                    <a:p>
                      <a:pPr indent="0" lvl="0" marL="0" marR="0" rtl="0" algn="l">
                        <a:spcBef>
                          <a:spcPts val="0"/>
                        </a:spcBef>
                        <a:spcAft>
                          <a:spcPts val="0"/>
                        </a:spcAft>
                        <a:buClr>
                          <a:srgbClr val="1F2933"/>
                        </a:buClr>
                        <a:buSzPts val="1600"/>
                        <a:buFont typeface="Calibri"/>
                        <a:buNone/>
                      </a:pPr>
                      <a:r>
                        <a:rPr b="1" lang="en-US" sz="1600" u="none" cap="none" strike="noStrike">
                          <a:solidFill>
                            <a:srgbClr val="1F2933"/>
                          </a:solidFill>
                          <a:latin typeface="Calibri"/>
                          <a:ea typeface="Calibri"/>
                          <a:cs typeface="Calibri"/>
                          <a:sym typeface="Calibri"/>
                        </a:rPr>
                        <a:t>4.2</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7F9FB"/>
                    </a:solidFill>
                  </a:tcPr>
                </a:tc>
                <a:tc>
                  <a:txBody>
                    <a:bodyPr/>
                    <a:lstStyle/>
                    <a:p>
                      <a:pPr indent="0" lvl="0" marL="0" marR="0" rtl="0" algn="l">
                        <a:spcBef>
                          <a:spcPts val="0"/>
                        </a:spcBef>
                        <a:spcAft>
                          <a:spcPts val="0"/>
                        </a:spcAft>
                        <a:buClr>
                          <a:srgbClr val="1F2933"/>
                        </a:buClr>
                        <a:buSzPts val="1600"/>
                        <a:buFont typeface="Calibri"/>
                        <a:buNone/>
                      </a:pPr>
                      <a:r>
                        <a:rPr lang="en-US" sz="1600" u="none" cap="none" strike="noStrike">
                          <a:solidFill>
                            <a:srgbClr val="1F2933"/>
                          </a:solidFill>
                          <a:latin typeface="Calibri"/>
                          <a:ea typeface="Calibri"/>
                          <a:cs typeface="Calibri"/>
                          <a:sym typeface="Calibri"/>
                        </a:rPr>
                        <a:t>garder des entiers malgré une valeur manquante : le type </a:t>
                      </a:r>
                      <a:r>
                        <a:rPr lang="en-US" sz="1600" u="none" cap="none" strike="noStrike">
                          <a:solidFill>
                            <a:srgbClr val="1F3A5F"/>
                          </a:solidFill>
                          <a:latin typeface="Courier New"/>
                          <a:ea typeface="Courier New"/>
                          <a:cs typeface="Courier New"/>
                          <a:sym typeface="Courier New"/>
                        </a:rPr>
                        <a:t>Int64</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7F9FB"/>
                    </a:solidFill>
                  </a:tcPr>
                </a:tc>
              </a:tr>
              <a:tr h="379975">
                <a:tc>
                  <a:txBody>
                    <a:bodyPr/>
                    <a:lstStyle/>
                    <a:p>
                      <a:pPr indent="0" lvl="0" marL="0" marR="0" rtl="0" algn="l">
                        <a:spcBef>
                          <a:spcPts val="0"/>
                        </a:spcBef>
                        <a:spcAft>
                          <a:spcPts val="0"/>
                        </a:spcAft>
                        <a:buClr>
                          <a:srgbClr val="1F2933"/>
                        </a:buClr>
                        <a:buSzPts val="1600"/>
                        <a:buFont typeface="Calibri"/>
                        <a:buNone/>
                      </a:pPr>
                      <a:r>
                        <a:rPr b="1" lang="en-US" sz="1600" u="none" cap="none" strike="noStrike">
                          <a:solidFill>
                            <a:srgbClr val="1F2933"/>
                          </a:solidFill>
                          <a:latin typeface="Calibri"/>
                          <a:ea typeface="Calibri"/>
                          <a:cs typeface="Calibri"/>
                          <a:sym typeface="Calibri"/>
                        </a:rPr>
                        <a:t>4.3</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F2933"/>
                        </a:buClr>
                        <a:buSzPts val="1600"/>
                        <a:buFont typeface="Calibri"/>
                        <a:buNone/>
                      </a:pPr>
                      <a:r>
                        <a:rPr lang="en-US" sz="1600" u="none" cap="none" strike="noStrike">
                          <a:solidFill>
                            <a:srgbClr val="1F2933"/>
                          </a:solidFill>
                          <a:latin typeface="Calibri"/>
                          <a:ea typeface="Calibri"/>
                          <a:cs typeface="Calibri"/>
                          <a:sym typeface="Calibri"/>
                        </a:rPr>
                        <a:t>convertir des dates au format français, puis utiliser l'accesseur </a:t>
                      </a:r>
                      <a:r>
                        <a:rPr lang="en-US" sz="1600" u="none" cap="none" strike="noStrike">
                          <a:solidFill>
                            <a:srgbClr val="1F3A5F"/>
                          </a:solidFill>
                          <a:latin typeface="Courier New"/>
                          <a:ea typeface="Courier New"/>
                          <a:cs typeface="Courier New"/>
                          <a:sym typeface="Courier New"/>
                        </a:rPr>
                        <a:t>.dt</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FFFFF"/>
                    </a:solidFill>
                  </a:tcPr>
                </a:tc>
              </a:tr>
            </a:tbl>
          </a:graphicData>
        </a:graphic>
      </p:graphicFrame>
      <p:sp>
        <p:nvSpPr>
          <p:cNvPr id="566" name="Google Shape;566;p33"/>
          <p:cNvSpPr txBox="1"/>
          <p:nvPr/>
        </p:nvSpPr>
        <p:spPr>
          <a:xfrm>
            <a:off x="548640" y="6400800"/>
            <a:ext cx="73152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B7280"/>
              </a:buClr>
              <a:buSzPts val="1000"/>
              <a:buFont typeface="Calibri"/>
              <a:buNone/>
            </a:pPr>
            <a:r>
              <a:rPr b="0" i="0" lang="en-US" sz="1000" u="none" cap="none" strike="noStrike">
                <a:solidFill>
                  <a:srgbClr val="6B7280"/>
                </a:solidFill>
                <a:latin typeface="Calibri"/>
                <a:ea typeface="Calibri"/>
                <a:cs typeface="Calibri"/>
                <a:sym typeface="Calibri"/>
              </a:rPr>
              <a:t>Analyse de données avec Python   |   Jour 1, après-midi</a:t>
            </a:r>
            <a:endParaRPr b="0" i="0" sz="1000" u="none" cap="none" strike="noStrike">
              <a:solidFill>
                <a:schemeClr val="dk1"/>
              </a:solidFill>
              <a:latin typeface="Calibri"/>
              <a:ea typeface="Calibri"/>
              <a:cs typeface="Calibri"/>
              <a:sym typeface="Calibri"/>
            </a:endParaRPr>
          </a:p>
        </p:txBody>
      </p:sp>
      <p:sp>
        <p:nvSpPr>
          <p:cNvPr id="567" name="Google Shape;567;p33"/>
          <p:cNvSpPr txBox="1"/>
          <p:nvPr>
            <p:ph idx="4294967295" type="sldNum"/>
          </p:nvPr>
        </p:nvSpPr>
        <p:spPr>
          <a:xfrm>
            <a:off x="11094415" y="6400800"/>
            <a:ext cx="548640" cy="27432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000" u="none" cap="none" strike="noStrike">
                <a:solidFill>
                  <a:srgbClr val="6B7280"/>
                </a:solidFill>
                <a:latin typeface="Calibri"/>
                <a:ea typeface="Calibri"/>
                <a:cs typeface="Calibri"/>
                <a:sym typeface="Calibri"/>
              </a:rPr>
              <a:t>‹#›</a:t>
            </a:fld>
            <a:endParaRPr b="0" i="0" sz="1000" u="none" cap="none" strike="noStrike">
              <a:solidFill>
                <a:srgbClr val="6B7280"/>
              </a:solidFill>
              <a:latin typeface="Calibri"/>
              <a:ea typeface="Calibri"/>
              <a:cs typeface="Calibri"/>
              <a:sym typeface="Calibri"/>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F3A5F"/>
        </a:solidFill>
      </p:bgPr>
    </p:bg>
    <p:spTree>
      <p:nvGrpSpPr>
        <p:cNvPr id="572" name="Shape 572"/>
        <p:cNvGrpSpPr/>
        <p:nvPr/>
      </p:nvGrpSpPr>
      <p:grpSpPr>
        <a:xfrm>
          <a:off x="0" y="0"/>
          <a:ext cx="0" cy="0"/>
          <a:chOff x="0" y="0"/>
          <a:chExt cx="0" cy="0"/>
        </a:xfrm>
      </p:grpSpPr>
      <p:sp>
        <p:nvSpPr>
          <p:cNvPr id="573" name="Google Shape;573;p34"/>
          <p:cNvSpPr txBox="1"/>
          <p:nvPr/>
        </p:nvSpPr>
        <p:spPr>
          <a:xfrm>
            <a:off x="731520" y="1737360"/>
            <a:ext cx="2743200" cy="11887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FD1B5"/>
              </a:buClr>
              <a:buSzPts val="8000"/>
              <a:buFont typeface="Cambria"/>
              <a:buNone/>
            </a:pPr>
            <a:r>
              <a:rPr b="1" i="0" lang="en-US" sz="8000" u="none" cap="none" strike="noStrike">
                <a:solidFill>
                  <a:srgbClr val="8FD1B5"/>
                </a:solidFill>
                <a:latin typeface="Cambria"/>
                <a:ea typeface="Cambria"/>
                <a:cs typeface="Cambria"/>
                <a:sym typeface="Cambria"/>
              </a:rPr>
              <a:t>05</a:t>
            </a:r>
            <a:endParaRPr b="0" i="0" sz="8000" u="none" cap="none" strike="noStrike">
              <a:solidFill>
                <a:schemeClr val="dk1"/>
              </a:solidFill>
              <a:latin typeface="Calibri"/>
              <a:ea typeface="Calibri"/>
              <a:cs typeface="Calibri"/>
              <a:sym typeface="Calibri"/>
            </a:endParaRPr>
          </a:p>
        </p:txBody>
      </p:sp>
      <p:sp>
        <p:nvSpPr>
          <p:cNvPr id="574" name="Google Shape;574;p34"/>
          <p:cNvSpPr txBox="1"/>
          <p:nvPr/>
        </p:nvSpPr>
        <p:spPr>
          <a:xfrm>
            <a:off x="731520" y="3017520"/>
            <a:ext cx="10515600" cy="8229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FFFFFF"/>
              </a:buClr>
              <a:buSzPts val="4000"/>
              <a:buFont typeface="Cambria"/>
              <a:buNone/>
            </a:pPr>
            <a:r>
              <a:rPr b="1" i="0" lang="en-US" sz="4000" u="none" cap="none" strike="noStrike">
                <a:solidFill>
                  <a:srgbClr val="FFFFFF"/>
                </a:solidFill>
                <a:latin typeface="Cambria"/>
                <a:ea typeface="Cambria"/>
                <a:cs typeface="Cambria"/>
                <a:sym typeface="Cambria"/>
              </a:rPr>
              <a:t>Valeurs manquantes, aberrantes et doublons</a:t>
            </a:r>
            <a:endParaRPr b="0" i="0" sz="4000" u="none" cap="none" strike="noStrike">
              <a:solidFill>
                <a:schemeClr val="dk1"/>
              </a:solidFill>
              <a:latin typeface="Calibri"/>
              <a:ea typeface="Calibri"/>
              <a:cs typeface="Calibri"/>
              <a:sym typeface="Calibri"/>
            </a:endParaRPr>
          </a:p>
        </p:txBody>
      </p:sp>
      <p:sp>
        <p:nvSpPr>
          <p:cNvPr id="575" name="Google Shape;575;p34"/>
          <p:cNvSpPr txBox="1"/>
          <p:nvPr/>
        </p:nvSpPr>
        <p:spPr>
          <a:xfrm>
            <a:off x="731520" y="3977640"/>
            <a:ext cx="10515600" cy="5486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C9D6E3"/>
              </a:buClr>
              <a:buSzPts val="2000"/>
              <a:buFont typeface="Calibri"/>
              <a:buNone/>
            </a:pPr>
            <a:r>
              <a:rPr b="0" i="0" lang="en-US" sz="2000" u="none" cap="none" strike="noStrike">
                <a:solidFill>
                  <a:srgbClr val="C9D6E3"/>
                </a:solidFill>
                <a:latin typeface="Calibri"/>
                <a:ea typeface="Calibri"/>
                <a:cs typeface="Calibri"/>
                <a:sym typeface="Calibri"/>
              </a:rPr>
              <a:t>Détecter   |   Choisir une stratégie   |   Dédoublonner</a:t>
            </a:r>
            <a:endParaRPr b="0" i="0" sz="2000" u="none" cap="none" strike="noStrike">
              <a:solidFill>
                <a:schemeClr val="dk1"/>
              </a:solidFill>
              <a:latin typeface="Calibri"/>
              <a:ea typeface="Calibri"/>
              <a:cs typeface="Calibri"/>
              <a:sym typeface="Calibri"/>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80" name="Shape 580"/>
        <p:cNvGrpSpPr/>
        <p:nvPr/>
      </p:nvGrpSpPr>
      <p:grpSpPr>
        <a:xfrm>
          <a:off x="0" y="0"/>
          <a:ext cx="0" cy="0"/>
          <a:chOff x="0" y="0"/>
          <a:chExt cx="0" cy="0"/>
        </a:xfrm>
      </p:grpSpPr>
      <p:sp>
        <p:nvSpPr>
          <p:cNvPr id="581" name="Google Shape;581;p35"/>
          <p:cNvSpPr/>
          <p:nvPr/>
        </p:nvSpPr>
        <p:spPr>
          <a:xfrm>
            <a:off x="548640" y="566928"/>
            <a:ext cx="475488" cy="475488"/>
          </a:xfrm>
          <a:prstGeom prst="ellipse">
            <a:avLst/>
          </a:prstGeom>
          <a:solidFill>
            <a:srgbClr val="2F7D6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2" name="Google Shape;582;p35"/>
          <p:cNvSpPr txBox="1"/>
          <p:nvPr/>
        </p:nvSpPr>
        <p:spPr>
          <a:xfrm>
            <a:off x="548640" y="566928"/>
            <a:ext cx="475488" cy="47548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5</a:t>
            </a:r>
            <a:endParaRPr b="0" i="0" sz="1600" u="none" cap="none" strike="noStrike">
              <a:solidFill>
                <a:schemeClr val="dk1"/>
              </a:solidFill>
              <a:latin typeface="Calibri"/>
              <a:ea typeface="Calibri"/>
              <a:cs typeface="Calibri"/>
              <a:sym typeface="Calibri"/>
            </a:endParaRPr>
          </a:p>
        </p:txBody>
      </p:sp>
      <p:sp>
        <p:nvSpPr>
          <p:cNvPr id="583" name="Google Shape;583;p35"/>
          <p:cNvSpPr txBox="1"/>
          <p:nvPr/>
        </p:nvSpPr>
        <p:spPr>
          <a:xfrm>
            <a:off x="1280160" y="164592"/>
            <a:ext cx="10362895"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F7D62"/>
              </a:buClr>
              <a:buSzPts val="1200"/>
              <a:buFont typeface="Calibri"/>
              <a:buNone/>
            </a:pPr>
            <a:r>
              <a:rPr b="1" i="0" lang="en-US" sz="1200" u="none" cap="none" strike="noStrike">
                <a:solidFill>
                  <a:srgbClr val="2F7D62"/>
                </a:solidFill>
                <a:latin typeface="Calibri"/>
                <a:ea typeface="Calibri"/>
                <a:cs typeface="Calibri"/>
                <a:sym typeface="Calibri"/>
              </a:rPr>
              <a:t>VALEURS MANQUANTES, ABERRANTES ET DOUBLONS</a:t>
            </a:r>
            <a:endParaRPr b="0" i="0" sz="1200" u="none" cap="none" strike="noStrike">
              <a:solidFill>
                <a:schemeClr val="dk1"/>
              </a:solidFill>
              <a:latin typeface="Calibri"/>
              <a:ea typeface="Calibri"/>
              <a:cs typeface="Calibri"/>
              <a:sym typeface="Calibri"/>
            </a:endParaRPr>
          </a:p>
        </p:txBody>
      </p:sp>
      <p:sp>
        <p:nvSpPr>
          <p:cNvPr id="584" name="Google Shape;584;p35"/>
          <p:cNvSpPr txBox="1"/>
          <p:nvPr/>
        </p:nvSpPr>
        <p:spPr>
          <a:xfrm>
            <a:off x="1280160" y="457200"/>
            <a:ext cx="10362895" cy="6949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F3A5F"/>
              </a:buClr>
              <a:buSzPts val="3000"/>
              <a:buFont typeface="Cambria"/>
              <a:buNone/>
            </a:pPr>
            <a:r>
              <a:rPr b="1" i="0" lang="en-US" sz="3000" u="none" cap="none" strike="noStrike">
                <a:solidFill>
                  <a:srgbClr val="1F3A5F"/>
                </a:solidFill>
                <a:latin typeface="Cambria"/>
                <a:ea typeface="Cambria"/>
                <a:cs typeface="Cambria"/>
                <a:sym typeface="Cambria"/>
              </a:rPr>
              <a:t>Détecter les valeurs manquantes</a:t>
            </a:r>
            <a:endParaRPr b="0" i="0" sz="3000" u="none" cap="none" strike="noStrike">
              <a:solidFill>
                <a:schemeClr val="dk1"/>
              </a:solidFill>
              <a:latin typeface="Calibri"/>
              <a:ea typeface="Calibri"/>
              <a:cs typeface="Calibri"/>
              <a:sym typeface="Calibri"/>
            </a:endParaRPr>
          </a:p>
        </p:txBody>
      </p:sp>
      <p:sp>
        <p:nvSpPr>
          <p:cNvPr id="585" name="Google Shape;585;p35"/>
          <p:cNvSpPr/>
          <p:nvPr/>
        </p:nvSpPr>
        <p:spPr>
          <a:xfrm>
            <a:off x="548640" y="1417320"/>
            <a:ext cx="5802117" cy="1266698"/>
          </a:xfrm>
          <a:prstGeom prst="rect">
            <a:avLst/>
          </a:prstGeom>
          <a:solidFill>
            <a:srgbClr val="F3F4F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6" name="Google Shape;586;p35"/>
          <p:cNvSpPr txBox="1"/>
          <p:nvPr/>
        </p:nvSpPr>
        <p:spPr>
          <a:xfrm>
            <a:off x="731520" y="1563624"/>
            <a:ext cx="5436357" cy="97409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F2933"/>
              </a:buClr>
              <a:buSzPts val="1300"/>
              <a:buFont typeface="Courier New"/>
              <a:buNone/>
            </a:pPr>
            <a:r>
              <a:rPr b="0" i="0" lang="en-US" sz="1300" u="none" cap="none" strike="noStrike">
                <a:solidFill>
                  <a:srgbClr val="1F2933"/>
                </a:solidFill>
                <a:latin typeface="Courier New"/>
                <a:ea typeface="Courier New"/>
                <a:cs typeface="Courier New"/>
                <a:sym typeface="Courier New"/>
              </a:rPr>
              <a:t>df.isna().sum()                # nombre par colonne</a:t>
            </a:r>
            <a:endParaRPr b="0" i="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F2933"/>
              </a:buClr>
              <a:buSzPts val="1300"/>
              <a:buFont typeface="Courier New"/>
              <a:buNone/>
            </a:pPr>
            <a:r>
              <a:rPr b="0" i="0" lang="en-US" sz="1300" u="none" cap="none" strike="noStrike">
                <a:solidFill>
                  <a:srgbClr val="1F2933"/>
                </a:solidFill>
                <a:latin typeface="Courier New"/>
                <a:ea typeface="Courier New"/>
                <a:cs typeface="Courier New"/>
                <a:sym typeface="Courier New"/>
              </a:rPr>
              <a:t>df.isna().mean().round(3)      # proportion</a:t>
            </a:r>
            <a:endParaRPr b="0" i="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F2933"/>
              </a:buClr>
              <a:buSzPts val="1300"/>
              <a:buFont typeface="Courier New"/>
              <a:buNone/>
            </a:pPr>
            <a:r>
              <a:rPr b="0" i="0" lang="en-US" sz="1300" u="none" cap="none" strike="noStrike">
                <a:solidFill>
                  <a:srgbClr val="1F2933"/>
                </a:solidFill>
                <a:latin typeface="Courier New"/>
                <a:ea typeface="Courier New"/>
                <a:cs typeface="Courier New"/>
                <a:sym typeface="Courier New"/>
              </a:rPr>
              <a:t> </a:t>
            </a:r>
            <a:endParaRPr b="0" i="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F2933"/>
              </a:buClr>
              <a:buSzPts val="1300"/>
              <a:buFont typeface="Courier New"/>
              <a:buNone/>
            </a:pPr>
            <a:r>
              <a:rPr b="0" i="0" lang="en-US" sz="1300" u="none" cap="none" strike="noStrike">
                <a:solidFill>
                  <a:srgbClr val="1F2933"/>
                </a:solidFill>
                <a:latin typeface="Courier New"/>
                <a:ea typeface="Courier New"/>
                <a:cs typeface="Courier New"/>
                <a:sym typeface="Courier New"/>
              </a:rPr>
              <a:t>df[df["region"].isna()]        # lignes concernées</a:t>
            </a:r>
            <a:endParaRPr b="0" i="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F2933"/>
              </a:buClr>
              <a:buSzPts val="1300"/>
              <a:buFont typeface="Courier New"/>
              <a:buNone/>
            </a:pPr>
            <a:r>
              <a:rPr b="0" i="0" lang="en-US" sz="1300" u="none" cap="none" strike="noStrike">
                <a:solidFill>
                  <a:srgbClr val="1F2933"/>
                </a:solidFill>
                <a:latin typeface="Courier New"/>
                <a:ea typeface="Courier New"/>
                <a:cs typeface="Courier New"/>
                <a:sym typeface="Courier New"/>
              </a:rPr>
              <a:t>df[df.isna().any(axis=1)]      # au moins un manque</a:t>
            </a:r>
            <a:endParaRPr b="0" i="0" sz="1300" u="none" cap="none" strike="noStrike">
              <a:solidFill>
                <a:schemeClr val="dk1"/>
              </a:solidFill>
              <a:latin typeface="Calibri"/>
              <a:ea typeface="Calibri"/>
              <a:cs typeface="Calibri"/>
              <a:sym typeface="Calibri"/>
            </a:endParaRPr>
          </a:p>
        </p:txBody>
      </p:sp>
      <p:graphicFrame>
        <p:nvGraphicFramePr>
          <p:cNvPr id="587" name="Google Shape;587;p35"/>
          <p:cNvGraphicFramePr/>
          <p:nvPr/>
        </p:nvGraphicFramePr>
        <p:xfrm>
          <a:off x="6807957" y="1417320"/>
          <a:ext cx="3000000" cy="3000000"/>
        </p:xfrm>
        <a:graphic>
          <a:graphicData uri="http://schemas.openxmlformats.org/drawingml/2006/table">
            <a:tbl>
              <a:tblPr>
                <a:noFill/>
                <a:tableStyleId>{5790C458-BB61-4800-A068-DD2F3961D878}</a:tableStyleId>
              </a:tblPr>
              <a:tblGrid>
                <a:gridCol w="1611700"/>
                <a:gridCol w="3223400"/>
              </a:tblGrid>
              <a:tr h="365375">
                <a:tc>
                  <a:txBody>
                    <a:bodyPr/>
                    <a:lstStyle/>
                    <a:p>
                      <a:pPr indent="0" lvl="0" marL="0" marR="0" rtl="0" algn="l">
                        <a:spcBef>
                          <a:spcPts val="0"/>
                        </a:spcBef>
                        <a:spcAft>
                          <a:spcPts val="0"/>
                        </a:spcAft>
                        <a:buClr>
                          <a:srgbClr val="FFFFFF"/>
                        </a:buClr>
                        <a:buSzPts val="1500"/>
                        <a:buFont typeface="Calibri"/>
                        <a:buNone/>
                      </a:pPr>
                      <a:r>
                        <a:rPr b="1" lang="en-US" sz="1500" u="none" cap="none" strike="noStrike">
                          <a:solidFill>
                            <a:srgbClr val="FFFFFF"/>
                          </a:solidFill>
                          <a:latin typeface="Calibri"/>
                          <a:ea typeface="Calibri"/>
                          <a:cs typeface="Calibri"/>
                          <a:sym typeface="Calibri"/>
                        </a:rPr>
                        <a:t>Notation</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1F3A5F"/>
                    </a:solidFill>
                  </a:tcPr>
                </a:tc>
                <a:tc>
                  <a:txBody>
                    <a:bodyPr/>
                    <a:lstStyle/>
                    <a:p>
                      <a:pPr indent="0" lvl="0" marL="0" marR="0" rtl="0" algn="l">
                        <a:spcBef>
                          <a:spcPts val="0"/>
                        </a:spcBef>
                        <a:spcAft>
                          <a:spcPts val="0"/>
                        </a:spcAft>
                        <a:buClr>
                          <a:srgbClr val="FFFFFF"/>
                        </a:buClr>
                        <a:buSzPts val="1500"/>
                        <a:buFont typeface="Calibri"/>
                        <a:buNone/>
                      </a:pPr>
                      <a:r>
                        <a:rPr b="1" lang="en-US" sz="1500" u="none" cap="none" strike="noStrike">
                          <a:solidFill>
                            <a:srgbClr val="FFFFFF"/>
                          </a:solidFill>
                          <a:latin typeface="Calibri"/>
                          <a:ea typeface="Calibri"/>
                          <a:cs typeface="Calibri"/>
                          <a:sym typeface="Calibri"/>
                        </a:rPr>
                        <a:t>Pour</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1F3A5F"/>
                    </a:solidFill>
                  </a:tcPr>
                </a:tc>
              </a:tr>
              <a:tr h="365375">
                <a:tc>
                  <a:txBody>
                    <a:bodyPr/>
                    <a:lstStyle/>
                    <a:p>
                      <a:pPr indent="0" lvl="0" marL="0" marR="0" rtl="0" algn="l">
                        <a:spcBef>
                          <a:spcPts val="0"/>
                        </a:spcBef>
                        <a:spcAft>
                          <a:spcPts val="0"/>
                        </a:spcAft>
                        <a:buClr>
                          <a:srgbClr val="1F3A5F"/>
                        </a:buClr>
                        <a:buSzPts val="1500"/>
                        <a:buFont typeface="Courier New"/>
                        <a:buNone/>
                      </a:pPr>
                      <a:r>
                        <a:rPr lang="en-US" sz="1500" u="none" cap="none" strike="noStrike">
                          <a:solidFill>
                            <a:srgbClr val="1F3A5F"/>
                          </a:solidFill>
                          <a:latin typeface="Courier New"/>
                          <a:ea typeface="Courier New"/>
                          <a:cs typeface="Courier New"/>
                          <a:sym typeface="Courier New"/>
                        </a:rPr>
                        <a:t>NaN</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F2933"/>
                        </a:buClr>
                        <a:buSzPts val="1500"/>
                        <a:buFont typeface="Calibri"/>
                        <a:buNone/>
                      </a:pPr>
                      <a:r>
                        <a:rPr lang="en-US" sz="1500" u="none" cap="none" strike="noStrike">
                          <a:solidFill>
                            <a:srgbClr val="1F2933"/>
                          </a:solidFill>
                          <a:latin typeface="Calibri"/>
                          <a:ea typeface="Calibri"/>
                          <a:cs typeface="Calibri"/>
                          <a:sym typeface="Calibri"/>
                        </a:rPr>
                        <a:t>nombres et texte</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FFFFF"/>
                    </a:solidFill>
                  </a:tcPr>
                </a:tc>
              </a:tr>
              <a:tr h="365375">
                <a:tc>
                  <a:txBody>
                    <a:bodyPr/>
                    <a:lstStyle/>
                    <a:p>
                      <a:pPr indent="0" lvl="0" marL="0" marR="0" rtl="0" algn="l">
                        <a:spcBef>
                          <a:spcPts val="0"/>
                        </a:spcBef>
                        <a:spcAft>
                          <a:spcPts val="0"/>
                        </a:spcAft>
                        <a:buClr>
                          <a:srgbClr val="1F3A5F"/>
                        </a:buClr>
                        <a:buSzPts val="1500"/>
                        <a:buFont typeface="Courier New"/>
                        <a:buNone/>
                      </a:pPr>
                      <a:r>
                        <a:rPr lang="en-US" sz="1500" u="none" cap="none" strike="noStrike">
                          <a:solidFill>
                            <a:srgbClr val="1F3A5F"/>
                          </a:solidFill>
                          <a:latin typeface="Courier New"/>
                          <a:ea typeface="Courier New"/>
                          <a:cs typeface="Courier New"/>
                          <a:sym typeface="Courier New"/>
                        </a:rPr>
                        <a:t>NaT</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7F9FB"/>
                    </a:solidFill>
                  </a:tcPr>
                </a:tc>
                <a:tc>
                  <a:txBody>
                    <a:bodyPr/>
                    <a:lstStyle/>
                    <a:p>
                      <a:pPr indent="0" lvl="0" marL="0" marR="0" rtl="0" algn="l">
                        <a:spcBef>
                          <a:spcPts val="0"/>
                        </a:spcBef>
                        <a:spcAft>
                          <a:spcPts val="0"/>
                        </a:spcAft>
                        <a:buClr>
                          <a:srgbClr val="1F2933"/>
                        </a:buClr>
                        <a:buSzPts val="1500"/>
                        <a:buFont typeface="Calibri"/>
                        <a:buNone/>
                      </a:pPr>
                      <a:r>
                        <a:rPr lang="en-US" sz="1500" u="none" cap="none" strike="noStrike">
                          <a:solidFill>
                            <a:srgbClr val="1F2933"/>
                          </a:solidFill>
                          <a:latin typeface="Calibri"/>
                          <a:ea typeface="Calibri"/>
                          <a:cs typeface="Calibri"/>
                          <a:sym typeface="Calibri"/>
                        </a:rPr>
                        <a:t>dates</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7F9FB"/>
                    </a:solidFill>
                  </a:tcPr>
                </a:tc>
              </a:tr>
              <a:tr h="365375">
                <a:tc>
                  <a:txBody>
                    <a:bodyPr/>
                    <a:lstStyle/>
                    <a:p>
                      <a:pPr indent="0" lvl="0" marL="0" marR="0" rtl="0" algn="l">
                        <a:spcBef>
                          <a:spcPts val="0"/>
                        </a:spcBef>
                        <a:spcAft>
                          <a:spcPts val="0"/>
                        </a:spcAft>
                        <a:buClr>
                          <a:srgbClr val="1F3A5F"/>
                        </a:buClr>
                        <a:buSzPts val="1500"/>
                        <a:buFont typeface="Courier New"/>
                        <a:buNone/>
                      </a:pPr>
                      <a:r>
                        <a:rPr lang="en-US" sz="1500" u="none" cap="none" strike="noStrike">
                          <a:solidFill>
                            <a:srgbClr val="1F3A5F"/>
                          </a:solidFill>
                          <a:latin typeface="Courier New"/>
                          <a:ea typeface="Courier New"/>
                          <a:cs typeface="Courier New"/>
                          <a:sym typeface="Courier New"/>
                        </a:rPr>
                        <a:t>&lt;NA&gt;</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F2933"/>
                        </a:buClr>
                        <a:buSzPts val="1500"/>
                        <a:buFont typeface="Calibri"/>
                        <a:buNone/>
                      </a:pPr>
                      <a:r>
                        <a:rPr lang="en-US" sz="1500" u="none" cap="none" strike="noStrike">
                          <a:solidFill>
                            <a:srgbClr val="1F2933"/>
                          </a:solidFill>
                          <a:latin typeface="Calibri"/>
                          <a:ea typeface="Calibri"/>
                          <a:cs typeface="Calibri"/>
                          <a:sym typeface="Calibri"/>
                        </a:rPr>
                        <a:t>types nullables comme </a:t>
                      </a:r>
                      <a:r>
                        <a:rPr lang="en-US" sz="1500" u="none" cap="none" strike="noStrike">
                          <a:solidFill>
                            <a:srgbClr val="1F3A5F"/>
                          </a:solidFill>
                          <a:latin typeface="Courier New"/>
                          <a:ea typeface="Courier New"/>
                          <a:cs typeface="Courier New"/>
                          <a:sym typeface="Courier New"/>
                        </a:rPr>
                        <a:t>Int64</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FFFFF"/>
                    </a:solidFill>
                  </a:tcPr>
                </a:tc>
              </a:tr>
            </a:tbl>
          </a:graphicData>
        </a:graphic>
      </p:graphicFrame>
      <p:sp>
        <p:nvSpPr>
          <p:cNvPr id="588" name="Google Shape;588;p35"/>
          <p:cNvSpPr txBox="1"/>
          <p:nvPr/>
        </p:nvSpPr>
        <p:spPr>
          <a:xfrm>
            <a:off x="6807957" y="3198876"/>
            <a:ext cx="4835098" cy="381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F3A5F"/>
              </a:buClr>
              <a:buSzPts val="1600"/>
              <a:buFont typeface="Courier New"/>
              <a:buNone/>
            </a:pPr>
            <a:r>
              <a:rPr b="0" i="0" lang="en-US" sz="1600" u="none" cap="none" strike="noStrike">
                <a:solidFill>
                  <a:srgbClr val="1F3A5F"/>
                </a:solidFill>
                <a:latin typeface="Courier New"/>
                <a:ea typeface="Courier New"/>
                <a:cs typeface="Courier New"/>
                <a:sym typeface="Courier New"/>
              </a:rPr>
              <a:t>isna</a:t>
            </a:r>
            <a:r>
              <a:rPr b="0" i="0" lang="en-US" sz="1600" u="none" cap="none" strike="noStrike">
                <a:solidFill>
                  <a:srgbClr val="6B7280"/>
                </a:solidFill>
                <a:latin typeface="Calibri"/>
                <a:ea typeface="Calibri"/>
                <a:cs typeface="Calibri"/>
                <a:sym typeface="Calibri"/>
              </a:rPr>
              <a:t> les détecte toutes.</a:t>
            </a:r>
            <a:endParaRPr b="0" i="0" sz="1600" u="none" cap="none" strike="noStrike">
              <a:solidFill>
                <a:schemeClr val="dk1"/>
              </a:solidFill>
              <a:latin typeface="Calibri"/>
              <a:ea typeface="Calibri"/>
              <a:cs typeface="Calibri"/>
              <a:sym typeface="Calibri"/>
            </a:endParaRPr>
          </a:p>
        </p:txBody>
      </p:sp>
      <p:sp>
        <p:nvSpPr>
          <p:cNvPr id="589" name="Google Shape;589;p35"/>
          <p:cNvSpPr txBox="1"/>
          <p:nvPr/>
        </p:nvSpPr>
        <p:spPr>
          <a:xfrm>
            <a:off x="548640" y="6400800"/>
            <a:ext cx="73152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B7280"/>
              </a:buClr>
              <a:buSzPts val="1000"/>
              <a:buFont typeface="Calibri"/>
              <a:buNone/>
            </a:pPr>
            <a:r>
              <a:rPr b="0" i="0" lang="en-US" sz="1000" u="none" cap="none" strike="noStrike">
                <a:solidFill>
                  <a:srgbClr val="6B7280"/>
                </a:solidFill>
                <a:latin typeface="Calibri"/>
                <a:ea typeface="Calibri"/>
                <a:cs typeface="Calibri"/>
                <a:sym typeface="Calibri"/>
              </a:rPr>
              <a:t>Analyse de données avec Python   |   Jour 1, après-midi</a:t>
            </a:r>
            <a:endParaRPr b="0" i="0" sz="1000" u="none" cap="none" strike="noStrike">
              <a:solidFill>
                <a:schemeClr val="dk1"/>
              </a:solidFill>
              <a:latin typeface="Calibri"/>
              <a:ea typeface="Calibri"/>
              <a:cs typeface="Calibri"/>
              <a:sym typeface="Calibri"/>
            </a:endParaRPr>
          </a:p>
        </p:txBody>
      </p:sp>
      <p:sp>
        <p:nvSpPr>
          <p:cNvPr id="590" name="Google Shape;590;p35"/>
          <p:cNvSpPr txBox="1"/>
          <p:nvPr>
            <p:ph idx="4294967295" type="sldNum"/>
          </p:nvPr>
        </p:nvSpPr>
        <p:spPr>
          <a:xfrm>
            <a:off x="11094415" y="6400800"/>
            <a:ext cx="548640" cy="27432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000" u="none" cap="none" strike="noStrike">
                <a:solidFill>
                  <a:srgbClr val="6B7280"/>
                </a:solidFill>
                <a:latin typeface="Calibri"/>
                <a:ea typeface="Calibri"/>
                <a:cs typeface="Calibri"/>
                <a:sym typeface="Calibri"/>
              </a:rPr>
              <a:t>‹#›</a:t>
            </a:fld>
            <a:endParaRPr b="0" i="0" sz="1000" u="none" cap="none" strike="noStrike">
              <a:solidFill>
                <a:srgbClr val="6B7280"/>
              </a:solidFill>
              <a:latin typeface="Calibri"/>
              <a:ea typeface="Calibri"/>
              <a:cs typeface="Calibri"/>
              <a:sym typeface="Calibri"/>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95" name="Shape 595"/>
        <p:cNvGrpSpPr/>
        <p:nvPr/>
      </p:nvGrpSpPr>
      <p:grpSpPr>
        <a:xfrm>
          <a:off x="0" y="0"/>
          <a:ext cx="0" cy="0"/>
          <a:chOff x="0" y="0"/>
          <a:chExt cx="0" cy="0"/>
        </a:xfrm>
      </p:grpSpPr>
      <p:sp>
        <p:nvSpPr>
          <p:cNvPr id="596" name="Google Shape;596;p36"/>
          <p:cNvSpPr/>
          <p:nvPr/>
        </p:nvSpPr>
        <p:spPr>
          <a:xfrm>
            <a:off x="548640" y="566928"/>
            <a:ext cx="475488" cy="475488"/>
          </a:xfrm>
          <a:prstGeom prst="ellipse">
            <a:avLst/>
          </a:prstGeom>
          <a:solidFill>
            <a:srgbClr val="2F7D6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7" name="Google Shape;597;p36"/>
          <p:cNvSpPr txBox="1"/>
          <p:nvPr/>
        </p:nvSpPr>
        <p:spPr>
          <a:xfrm>
            <a:off x="548640" y="566928"/>
            <a:ext cx="475488" cy="47548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5</a:t>
            </a:r>
            <a:endParaRPr b="0" i="0" sz="1600" u="none" cap="none" strike="noStrike">
              <a:solidFill>
                <a:schemeClr val="dk1"/>
              </a:solidFill>
              <a:latin typeface="Calibri"/>
              <a:ea typeface="Calibri"/>
              <a:cs typeface="Calibri"/>
              <a:sym typeface="Calibri"/>
            </a:endParaRPr>
          </a:p>
        </p:txBody>
      </p:sp>
      <p:sp>
        <p:nvSpPr>
          <p:cNvPr id="598" name="Google Shape;598;p36"/>
          <p:cNvSpPr txBox="1"/>
          <p:nvPr/>
        </p:nvSpPr>
        <p:spPr>
          <a:xfrm>
            <a:off x="1280160" y="164592"/>
            <a:ext cx="10362895"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F7D62"/>
              </a:buClr>
              <a:buSzPts val="1200"/>
              <a:buFont typeface="Calibri"/>
              <a:buNone/>
            </a:pPr>
            <a:r>
              <a:rPr b="1" i="0" lang="en-US" sz="1200" u="none" cap="none" strike="noStrike">
                <a:solidFill>
                  <a:srgbClr val="2F7D62"/>
                </a:solidFill>
                <a:latin typeface="Calibri"/>
                <a:ea typeface="Calibri"/>
                <a:cs typeface="Calibri"/>
                <a:sym typeface="Calibri"/>
              </a:rPr>
              <a:t>VALEURS MANQUANTES, ABERRANTES ET DOUBLONS</a:t>
            </a:r>
            <a:endParaRPr b="0" i="0" sz="1200" u="none" cap="none" strike="noStrike">
              <a:solidFill>
                <a:schemeClr val="dk1"/>
              </a:solidFill>
              <a:latin typeface="Calibri"/>
              <a:ea typeface="Calibri"/>
              <a:cs typeface="Calibri"/>
              <a:sym typeface="Calibri"/>
            </a:endParaRPr>
          </a:p>
        </p:txBody>
      </p:sp>
      <p:sp>
        <p:nvSpPr>
          <p:cNvPr id="599" name="Google Shape;599;p36"/>
          <p:cNvSpPr txBox="1"/>
          <p:nvPr/>
        </p:nvSpPr>
        <p:spPr>
          <a:xfrm>
            <a:off x="1280160" y="457200"/>
            <a:ext cx="10362895" cy="6949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F3A5F"/>
              </a:buClr>
              <a:buSzPts val="3000"/>
              <a:buFont typeface="Cambria"/>
              <a:buNone/>
            </a:pPr>
            <a:r>
              <a:rPr b="1" i="0" lang="en-US" sz="3000" u="none" cap="none" strike="noStrike">
                <a:solidFill>
                  <a:srgbClr val="1F3A5F"/>
                </a:solidFill>
                <a:latin typeface="Cambria"/>
                <a:ea typeface="Cambria"/>
                <a:cs typeface="Cambria"/>
                <a:sym typeface="Cambria"/>
              </a:rPr>
              <a:t>Choisir une stratégie</a:t>
            </a:r>
            <a:endParaRPr b="0" i="0" sz="3000" u="none" cap="none" strike="noStrike">
              <a:solidFill>
                <a:schemeClr val="dk1"/>
              </a:solidFill>
              <a:latin typeface="Calibri"/>
              <a:ea typeface="Calibri"/>
              <a:cs typeface="Calibri"/>
              <a:sym typeface="Calibri"/>
            </a:endParaRPr>
          </a:p>
        </p:txBody>
      </p:sp>
      <p:graphicFrame>
        <p:nvGraphicFramePr>
          <p:cNvPr id="600" name="Google Shape;600;p36"/>
          <p:cNvGraphicFramePr/>
          <p:nvPr/>
        </p:nvGraphicFramePr>
        <p:xfrm>
          <a:off x="548640" y="1417320"/>
          <a:ext cx="3000000" cy="3000000"/>
        </p:xfrm>
        <a:graphic>
          <a:graphicData uri="http://schemas.openxmlformats.org/drawingml/2006/table">
            <a:tbl>
              <a:tblPr>
                <a:noFill/>
                <a:tableStyleId>{5790C458-BB61-4800-A068-DD2F3961D878}</a:tableStyleId>
              </a:tblPr>
              <a:tblGrid>
                <a:gridCol w="2050050"/>
                <a:gridCol w="4341300"/>
                <a:gridCol w="4703075"/>
              </a:tblGrid>
              <a:tr h="350775">
                <a:tc>
                  <a:txBody>
                    <a:bodyPr/>
                    <a:lstStyle/>
                    <a:p>
                      <a:pPr indent="0" lvl="0" marL="0" marR="0" rtl="0" algn="l">
                        <a:spcBef>
                          <a:spcPts val="0"/>
                        </a:spcBef>
                        <a:spcAft>
                          <a:spcPts val="0"/>
                        </a:spcAft>
                        <a:buClr>
                          <a:srgbClr val="FFFFFF"/>
                        </a:buClr>
                        <a:buSzPts val="1400"/>
                        <a:buFont typeface="Calibri"/>
                        <a:buNone/>
                      </a:pPr>
                      <a:r>
                        <a:rPr b="1" lang="en-US" sz="1400" u="none" cap="none" strike="noStrike">
                          <a:solidFill>
                            <a:srgbClr val="FFFFFF"/>
                          </a:solidFill>
                          <a:latin typeface="Calibri"/>
                          <a:ea typeface="Calibri"/>
                          <a:cs typeface="Calibri"/>
                          <a:sym typeface="Calibri"/>
                        </a:rPr>
                        <a:t>Stratégie</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1F3A5F"/>
                    </a:solidFill>
                  </a:tcPr>
                </a:tc>
                <a:tc>
                  <a:txBody>
                    <a:bodyPr/>
                    <a:lstStyle/>
                    <a:p>
                      <a:pPr indent="0" lvl="0" marL="0" marR="0" rtl="0" algn="l">
                        <a:spcBef>
                          <a:spcPts val="0"/>
                        </a:spcBef>
                        <a:spcAft>
                          <a:spcPts val="0"/>
                        </a:spcAft>
                        <a:buClr>
                          <a:srgbClr val="FFFFFF"/>
                        </a:buClr>
                        <a:buSzPts val="1400"/>
                        <a:buFont typeface="Calibri"/>
                        <a:buNone/>
                      </a:pPr>
                      <a:r>
                        <a:rPr b="1" lang="en-US" sz="1400" u="none" cap="none" strike="noStrike">
                          <a:solidFill>
                            <a:srgbClr val="FFFFFF"/>
                          </a:solidFill>
                          <a:latin typeface="Calibri"/>
                          <a:ea typeface="Calibri"/>
                          <a:cs typeface="Calibri"/>
                          <a:sym typeface="Calibri"/>
                        </a:rPr>
                        <a:t>Code</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1F3A5F"/>
                    </a:solidFill>
                  </a:tcPr>
                </a:tc>
                <a:tc>
                  <a:txBody>
                    <a:bodyPr/>
                    <a:lstStyle/>
                    <a:p>
                      <a:pPr indent="0" lvl="0" marL="0" marR="0" rtl="0" algn="l">
                        <a:spcBef>
                          <a:spcPts val="0"/>
                        </a:spcBef>
                        <a:spcAft>
                          <a:spcPts val="0"/>
                        </a:spcAft>
                        <a:buClr>
                          <a:srgbClr val="FFFFFF"/>
                        </a:buClr>
                        <a:buSzPts val="1400"/>
                        <a:buFont typeface="Calibri"/>
                        <a:buNone/>
                      </a:pPr>
                      <a:r>
                        <a:rPr b="1" lang="en-US" sz="1400" u="none" cap="none" strike="noStrike">
                          <a:solidFill>
                            <a:srgbClr val="FFFFFF"/>
                          </a:solidFill>
                          <a:latin typeface="Calibri"/>
                          <a:ea typeface="Calibri"/>
                          <a:cs typeface="Calibri"/>
                          <a:sym typeface="Calibri"/>
                        </a:rPr>
                        <a:t>Quand</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1F3A5F"/>
                    </a:solidFill>
                  </a:tcPr>
                </a:tc>
              </a:tr>
              <a:tr h="555250">
                <a:tc>
                  <a:txBody>
                    <a:bodyPr/>
                    <a:lstStyle/>
                    <a:p>
                      <a:pPr indent="0" lvl="0" marL="0" marR="0" rtl="0" algn="l">
                        <a:spcBef>
                          <a:spcPts val="0"/>
                        </a:spcBef>
                        <a:spcAft>
                          <a:spcPts val="0"/>
                        </a:spcAft>
                        <a:buClr>
                          <a:srgbClr val="1F2933"/>
                        </a:buClr>
                        <a:buSzPts val="1400"/>
                        <a:buFont typeface="Calibri"/>
                        <a:buNone/>
                      </a:pPr>
                      <a:r>
                        <a:rPr lang="en-US" sz="1400" u="none" cap="none" strike="noStrike">
                          <a:solidFill>
                            <a:srgbClr val="1F2933"/>
                          </a:solidFill>
                          <a:latin typeface="Calibri"/>
                          <a:ea typeface="Calibri"/>
                          <a:cs typeface="Calibri"/>
                          <a:sym typeface="Calibri"/>
                        </a:rPr>
                        <a:t>Supprimer les lignes</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F3A5F"/>
                        </a:buClr>
                        <a:buSzPts val="1400"/>
                        <a:buFont typeface="Courier New"/>
                        <a:buNone/>
                      </a:pPr>
                      <a:r>
                        <a:rPr lang="en-US" sz="1400" u="none" cap="none" strike="noStrike">
                          <a:solidFill>
                            <a:srgbClr val="1F3A5F"/>
                          </a:solidFill>
                          <a:latin typeface="Courier New"/>
                          <a:ea typeface="Courier New"/>
                          <a:cs typeface="Courier New"/>
                          <a:sym typeface="Courier New"/>
                        </a:rPr>
                        <a:t>df.dropna(subset=["region"])</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F2933"/>
                        </a:buClr>
                        <a:buSzPts val="1400"/>
                        <a:buFont typeface="Calibri"/>
                        <a:buNone/>
                      </a:pPr>
                      <a:r>
                        <a:rPr lang="en-US" sz="1400" u="none" cap="none" strike="noStrike">
                          <a:solidFill>
                            <a:srgbClr val="1F2933"/>
                          </a:solidFill>
                          <a:latin typeface="Calibri"/>
                          <a:ea typeface="Calibri"/>
                          <a:cs typeface="Calibri"/>
                          <a:sym typeface="Calibri"/>
                        </a:rPr>
                        <a:t>peu de lignes, colonne indispensable</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FFFFF"/>
                    </a:solidFill>
                  </a:tcPr>
                </a:tc>
              </a:tr>
              <a:tr h="555250">
                <a:tc>
                  <a:txBody>
                    <a:bodyPr/>
                    <a:lstStyle/>
                    <a:p>
                      <a:pPr indent="0" lvl="0" marL="0" marR="0" rtl="0" algn="l">
                        <a:spcBef>
                          <a:spcPts val="0"/>
                        </a:spcBef>
                        <a:spcAft>
                          <a:spcPts val="0"/>
                        </a:spcAft>
                        <a:buClr>
                          <a:srgbClr val="1F2933"/>
                        </a:buClr>
                        <a:buSzPts val="1400"/>
                        <a:buFont typeface="Calibri"/>
                        <a:buNone/>
                      </a:pPr>
                      <a:r>
                        <a:rPr lang="en-US" sz="1400" u="none" cap="none" strike="noStrike">
                          <a:solidFill>
                            <a:srgbClr val="1F2933"/>
                          </a:solidFill>
                          <a:latin typeface="Calibri"/>
                          <a:ea typeface="Calibri"/>
                          <a:cs typeface="Calibri"/>
                          <a:sym typeface="Calibri"/>
                        </a:rPr>
                        <a:t>Supprimer la colonne</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7F9FB"/>
                    </a:solidFill>
                  </a:tcPr>
                </a:tc>
                <a:tc>
                  <a:txBody>
                    <a:bodyPr/>
                    <a:lstStyle/>
                    <a:p>
                      <a:pPr indent="0" lvl="0" marL="0" marR="0" rtl="0" algn="l">
                        <a:spcBef>
                          <a:spcPts val="0"/>
                        </a:spcBef>
                        <a:spcAft>
                          <a:spcPts val="0"/>
                        </a:spcAft>
                        <a:buClr>
                          <a:srgbClr val="1F3A5F"/>
                        </a:buClr>
                        <a:buSzPts val="1400"/>
                        <a:buFont typeface="Courier New"/>
                        <a:buNone/>
                      </a:pPr>
                      <a:r>
                        <a:rPr lang="en-US" sz="1400" u="none" cap="none" strike="noStrike">
                          <a:solidFill>
                            <a:srgbClr val="1F3A5F"/>
                          </a:solidFill>
                          <a:latin typeface="Courier New"/>
                          <a:ea typeface="Courier New"/>
                          <a:cs typeface="Courier New"/>
                          <a:sym typeface="Courier New"/>
                        </a:rPr>
                        <a:t>df.drop(columns=["col"])</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7F9FB"/>
                    </a:solidFill>
                  </a:tcPr>
                </a:tc>
                <a:tc>
                  <a:txBody>
                    <a:bodyPr/>
                    <a:lstStyle/>
                    <a:p>
                      <a:pPr indent="0" lvl="0" marL="0" marR="0" rtl="0" algn="l">
                        <a:spcBef>
                          <a:spcPts val="0"/>
                        </a:spcBef>
                        <a:spcAft>
                          <a:spcPts val="0"/>
                        </a:spcAft>
                        <a:buClr>
                          <a:srgbClr val="1F2933"/>
                        </a:buClr>
                        <a:buSzPts val="1400"/>
                        <a:buFont typeface="Calibri"/>
                        <a:buNone/>
                      </a:pPr>
                      <a:r>
                        <a:rPr lang="en-US" sz="1400" u="none" cap="none" strike="noStrike">
                          <a:solidFill>
                            <a:srgbClr val="1F2933"/>
                          </a:solidFill>
                          <a:latin typeface="Calibri"/>
                          <a:ea typeface="Calibri"/>
                          <a:cs typeface="Calibri"/>
                          <a:sym typeface="Calibri"/>
                        </a:rPr>
                        <a:t>colonne très incomplète et peu utile</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7F9FB"/>
                    </a:solidFill>
                  </a:tcPr>
                </a:tc>
              </a:tr>
              <a:tr h="350775">
                <a:tc>
                  <a:txBody>
                    <a:bodyPr/>
                    <a:lstStyle/>
                    <a:p>
                      <a:pPr indent="0" lvl="0" marL="0" marR="0" rtl="0" algn="l">
                        <a:spcBef>
                          <a:spcPts val="0"/>
                        </a:spcBef>
                        <a:spcAft>
                          <a:spcPts val="0"/>
                        </a:spcAft>
                        <a:buClr>
                          <a:srgbClr val="1F2933"/>
                        </a:buClr>
                        <a:buSzPts val="1400"/>
                        <a:buFont typeface="Calibri"/>
                        <a:buNone/>
                      </a:pPr>
                      <a:r>
                        <a:rPr lang="en-US" sz="1400" u="none" cap="none" strike="noStrike">
                          <a:solidFill>
                            <a:srgbClr val="1F2933"/>
                          </a:solidFill>
                          <a:latin typeface="Calibri"/>
                          <a:ea typeface="Calibri"/>
                          <a:cs typeface="Calibri"/>
                          <a:sym typeface="Calibri"/>
                        </a:rPr>
                        <a:t>Valeur fixe</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F3A5F"/>
                        </a:buClr>
                        <a:buSzPts val="1400"/>
                        <a:buFont typeface="Courier New"/>
                        <a:buNone/>
                      </a:pPr>
                      <a:r>
                        <a:rPr lang="en-US" sz="1400" u="none" cap="none" strike="noStrike">
                          <a:solidFill>
                            <a:srgbClr val="1F3A5F"/>
                          </a:solidFill>
                          <a:latin typeface="Courier New"/>
                          <a:ea typeface="Courier New"/>
                          <a:cs typeface="Courier New"/>
                          <a:sym typeface="Courier New"/>
                        </a:rPr>
                        <a:t>df["region"].fillna("Inconnue")</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F2933"/>
                        </a:buClr>
                        <a:buSzPts val="1400"/>
                        <a:buFont typeface="Calibri"/>
                        <a:buNone/>
                      </a:pPr>
                      <a:r>
                        <a:rPr lang="en-US" sz="1400" u="none" cap="none" strike="noStrike">
                          <a:solidFill>
                            <a:srgbClr val="1F2933"/>
                          </a:solidFill>
                          <a:latin typeface="Calibri"/>
                          <a:ea typeface="Calibri"/>
                          <a:cs typeface="Calibri"/>
                          <a:sym typeface="Calibri"/>
                        </a:rPr>
                        <a:t>catégorie : l'absence est une information</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FFFFF"/>
                    </a:solidFill>
                  </a:tcPr>
                </a:tc>
              </a:tr>
              <a:tr h="350775">
                <a:tc>
                  <a:txBody>
                    <a:bodyPr/>
                    <a:lstStyle/>
                    <a:p>
                      <a:pPr indent="0" lvl="0" marL="0" marR="0" rtl="0" algn="l">
                        <a:spcBef>
                          <a:spcPts val="0"/>
                        </a:spcBef>
                        <a:spcAft>
                          <a:spcPts val="0"/>
                        </a:spcAft>
                        <a:buClr>
                          <a:srgbClr val="1F2933"/>
                        </a:buClr>
                        <a:buSzPts val="1400"/>
                        <a:buFont typeface="Calibri"/>
                        <a:buNone/>
                      </a:pPr>
                      <a:r>
                        <a:rPr lang="en-US" sz="1400" u="none" cap="none" strike="noStrike">
                          <a:solidFill>
                            <a:srgbClr val="1F2933"/>
                          </a:solidFill>
                          <a:latin typeface="Calibri"/>
                          <a:ea typeface="Calibri"/>
                          <a:cs typeface="Calibri"/>
                          <a:sym typeface="Calibri"/>
                        </a:rPr>
                        <a:t>Statistique</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7F9FB"/>
                    </a:solidFill>
                  </a:tcPr>
                </a:tc>
                <a:tc>
                  <a:txBody>
                    <a:bodyPr/>
                    <a:lstStyle/>
                    <a:p>
                      <a:pPr indent="0" lvl="0" marL="0" marR="0" rtl="0" algn="l">
                        <a:spcBef>
                          <a:spcPts val="0"/>
                        </a:spcBef>
                        <a:spcAft>
                          <a:spcPts val="0"/>
                        </a:spcAft>
                        <a:buClr>
                          <a:srgbClr val="1F3A5F"/>
                        </a:buClr>
                        <a:buSzPts val="1400"/>
                        <a:buFont typeface="Courier New"/>
                        <a:buNone/>
                      </a:pPr>
                      <a:r>
                        <a:rPr lang="en-US" sz="1400" u="none" cap="none" strike="noStrike">
                          <a:solidFill>
                            <a:srgbClr val="1F3A5F"/>
                          </a:solidFill>
                          <a:latin typeface="Courier New"/>
                          <a:ea typeface="Courier New"/>
                          <a:cs typeface="Courier New"/>
                          <a:sym typeface="Courier New"/>
                        </a:rPr>
                        <a:t>df["prix"].fillna(df["prix"].median())</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7F9FB"/>
                    </a:solidFill>
                  </a:tcPr>
                </a:tc>
                <a:tc>
                  <a:txBody>
                    <a:bodyPr/>
                    <a:lstStyle/>
                    <a:p>
                      <a:pPr indent="0" lvl="0" marL="0" marR="0" rtl="0" algn="l">
                        <a:spcBef>
                          <a:spcPts val="0"/>
                        </a:spcBef>
                        <a:spcAft>
                          <a:spcPts val="0"/>
                        </a:spcAft>
                        <a:buClr>
                          <a:srgbClr val="1F2933"/>
                        </a:buClr>
                        <a:buSzPts val="1400"/>
                        <a:buFont typeface="Calibri"/>
                        <a:buNone/>
                      </a:pPr>
                      <a:r>
                        <a:rPr lang="en-US" sz="1400" u="none" cap="none" strike="noStrike">
                          <a:solidFill>
                            <a:srgbClr val="1F2933"/>
                          </a:solidFill>
                          <a:latin typeface="Calibri"/>
                          <a:ea typeface="Calibri"/>
                          <a:cs typeface="Calibri"/>
                          <a:sym typeface="Calibri"/>
                        </a:rPr>
                        <a:t>nombre, peu de manques</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7F9FB"/>
                    </a:solidFill>
                  </a:tcPr>
                </a:tc>
              </a:tr>
              <a:tr h="350775">
                <a:tc>
                  <a:txBody>
                    <a:bodyPr/>
                    <a:lstStyle/>
                    <a:p>
                      <a:pPr indent="0" lvl="0" marL="0" marR="0" rtl="0" algn="l">
                        <a:spcBef>
                          <a:spcPts val="0"/>
                        </a:spcBef>
                        <a:spcAft>
                          <a:spcPts val="0"/>
                        </a:spcAft>
                        <a:buClr>
                          <a:srgbClr val="1F2933"/>
                        </a:buClr>
                        <a:buSzPts val="1400"/>
                        <a:buFont typeface="Calibri"/>
                        <a:buNone/>
                      </a:pPr>
                      <a:r>
                        <a:rPr lang="en-US" sz="1400" u="none" cap="none" strike="noStrike">
                          <a:solidFill>
                            <a:srgbClr val="1F2933"/>
                          </a:solidFill>
                          <a:latin typeface="Calibri"/>
                          <a:ea typeface="Calibri"/>
                          <a:cs typeface="Calibri"/>
                          <a:sym typeface="Calibri"/>
                        </a:rPr>
                        <a:t>Propagation</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F3A5F"/>
                        </a:buClr>
                        <a:buSzPts val="1400"/>
                        <a:buFont typeface="Courier New"/>
                        <a:buNone/>
                      </a:pPr>
                      <a:r>
                        <a:rPr lang="en-US" sz="1400" u="none" cap="none" strike="noStrike">
                          <a:solidFill>
                            <a:srgbClr val="1F3A5F"/>
                          </a:solidFill>
                          <a:latin typeface="Courier New"/>
                          <a:ea typeface="Courier New"/>
                          <a:cs typeface="Courier New"/>
                          <a:sym typeface="Courier New"/>
                        </a:rPr>
                        <a:t>df["stock"].ffill()</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F2933"/>
                        </a:buClr>
                        <a:buSzPts val="1400"/>
                        <a:buFont typeface="Calibri"/>
                        <a:buNone/>
                      </a:pPr>
                      <a:r>
                        <a:rPr lang="en-US" sz="1400" u="none" cap="none" strike="noStrike">
                          <a:solidFill>
                            <a:srgbClr val="1F2933"/>
                          </a:solidFill>
                          <a:latin typeface="Calibri"/>
                          <a:ea typeface="Calibri"/>
                          <a:cs typeface="Calibri"/>
                          <a:sym typeface="Calibri"/>
                        </a:rPr>
                        <a:t>la dernière valeur connue reste valable</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FFFFF"/>
                    </a:solidFill>
                  </a:tcPr>
                </a:tc>
              </a:tr>
              <a:tr h="350775">
                <a:tc>
                  <a:txBody>
                    <a:bodyPr/>
                    <a:lstStyle/>
                    <a:p>
                      <a:pPr indent="0" lvl="0" marL="0" marR="0" rtl="0" algn="l">
                        <a:spcBef>
                          <a:spcPts val="0"/>
                        </a:spcBef>
                        <a:spcAft>
                          <a:spcPts val="0"/>
                        </a:spcAft>
                        <a:buClr>
                          <a:srgbClr val="1F2933"/>
                        </a:buClr>
                        <a:buSzPts val="1400"/>
                        <a:buFont typeface="Calibri"/>
                        <a:buNone/>
                      </a:pPr>
                      <a:r>
                        <a:rPr lang="en-US" sz="1400" u="none" cap="none" strike="noStrike">
                          <a:solidFill>
                            <a:srgbClr val="1F2933"/>
                          </a:solidFill>
                          <a:latin typeface="Calibri"/>
                          <a:ea typeface="Calibri"/>
                          <a:cs typeface="Calibri"/>
                          <a:sym typeface="Calibri"/>
                        </a:rPr>
                        <a:t>Interpolation</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7F9FB"/>
                    </a:solidFill>
                  </a:tcPr>
                </a:tc>
                <a:tc>
                  <a:txBody>
                    <a:bodyPr/>
                    <a:lstStyle/>
                    <a:p>
                      <a:pPr indent="0" lvl="0" marL="0" marR="0" rtl="0" algn="l">
                        <a:spcBef>
                          <a:spcPts val="0"/>
                        </a:spcBef>
                        <a:spcAft>
                          <a:spcPts val="0"/>
                        </a:spcAft>
                        <a:buClr>
                          <a:srgbClr val="1F3A5F"/>
                        </a:buClr>
                        <a:buSzPts val="1400"/>
                        <a:buFont typeface="Courier New"/>
                        <a:buNone/>
                      </a:pPr>
                      <a:r>
                        <a:rPr lang="en-US" sz="1400" u="none" cap="none" strike="noStrike">
                          <a:solidFill>
                            <a:srgbClr val="1F3A5F"/>
                          </a:solidFill>
                          <a:latin typeface="Courier New"/>
                          <a:ea typeface="Courier New"/>
                          <a:cs typeface="Courier New"/>
                          <a:sym typeface="Courier New"/>
                        </a:rPr>
                        <a:t>df["temperature"].interpolate()</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7F9FB"/>
                    </a:solidFill>
                  </a:tcPr>
                </a:tc>
                <a:tc>
                  <a:txBody>
                    <a:bodyPr/>
                    <a:lstStyle/>
                    <a:p>
                      <a:pPr indent="0" lvl="0" marL="0" marR="0" rtl="0" algn="l">
                        <a:spcBef>
                          <a:spcPts val="0"/>
                        </a:spcBef>
                        <a:spcAft>
                          <a:spcPts val="0"/>
                        </a:spcAft>
                        <a:buClr>
                          <a:srgbClr val="1F2933"/>
                        </a:buClr>
                        <a:buSzPts val="1400"/>
                        <a:buFont typeface="Calibri"/>
                        <a:buNone/>
                      </a:pPr>
                      <a:r>
                        <a:rPr lang="en-US" sz="1400" u="none" cap="none" strike="noStrike">
                          <a:solidFill>
                            <a:srgbClr val="1F2933"/>
                          </a:solidFill>
                          <a:latin typeface="Calibri"/>
                          <a:ea typeface="Calibri"/>
                          <a:cs typeface="Calibri"/>
                          <a:sym typeface="Calibri"/>
                        </a:rPr>
                        <a:t>série temporelle qui évolue progressivement</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7F9FB"/>
                    </a:solidFill>
                  </a:tcPr>
                </a:tc>
              </a:tr>
            </a:tbl>
          </a:graphicData>
        </a:graphic>
      </p:graphicFrame>
      <p:sp>
        <p:nvSpPr>
          <p:cNvPr id="601" name="Google Shape;601;p36"/>
          <p:cNvSpPr/>
          <p:nvPr/>
        </p:nvSpPr>
        <p:spPr>
          <a:xfrm>
            <a:off x="548640" y="4601718"/>
            <a:ext cx="11094415" cy="883920"/>
          </a:xfrm>
          <a:prstGeom prst="roundRect">
            <a:avLst>
              <a:gd fmla="val 6207" name="adj"/>
            </a:avLst>
          </a:prstGeom>
          <a:solidFill>
            <a:srgbClr val="E8F3E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2" name="Google Shape;602;p36"/>
          <p:cNvSpPr txBox="1"/>
          <p:nvPr/>
        </p:nvSpPr>
        <p:spPr>
          <a:xfrm>
            <a:off x="822960" y="4601718"/>
            <a:ext cx="10545775" cy="883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F3A5F"/>
              </a:buClr>
              <a:buSzPts val="1700"/>
              <a:buFont typeface="Calibri"/>
              <a:buNone/>
            </a:pPr>
            <a:r>
              <a:rPr b="0" i="0" lang="en-US" sz="1700" u="none" cap="none" strike="noStrike">
                <a:solidFill>
                  <a:srgbClr val="1F3A5F"/>
                </a:solidFill>
                <a:latin typeface="Calibri"/>
                <a:ea typeface="Calibri"/>
                <a:cs typeface="Calibri"/>
                <a:sym typeface="Calibri"/>
              </a:rPr>
              <a:t>Pas de bonne stratégie universelle : on choisit selon l'usage des données, on justifie, et on note le nombre de lignes concernées.</a:t>
            </a:r>
            <a:endParaRPr b="0" i="0" sz="1700" u="none" cap="none" strike="noStrike">
              <a:solidFill>
                <a:schemeClr val="dk1"/>
              </a:solidFill>
              <a:latin typeface="Calibri"/>
              <a:ea typeface="Calibri"/>
              <a:cs typeface="Calibri"/>
              <a:sym typeface="Calibri"/>
            </a:endParaRPr>
          </a:p>
        </p:txBody>
      </p:sp>
      <p:sp>
        <p:nvSpPr>
          <p:cNvPr id="603" name="Google Shape;603;p36"/>
          <p:cNvSpPr txBox="1"/>
          <p:nvPr/>
        </p:nvSpPr>
        <p:spPr>
          <a:xfrm>
            <a:off x="548640" y="6400800"/>
            <a:ext cx="73152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B7280"/>
              </a:buClr>
              <a:buSzPts val="1000"/>
              <a:buFont typeface="Calibri"/>
              <a:buNone/>
            </a:pPr>
            <a:r>
              <a:rPr b="0" i="0" lang="en-US" sz="1000" u="none" cap="none" strike="noStrike">
                <a:solidFill>
                  <a:srgbClr val="6B7280"/>
                </a:solidFill>
                <a:latin typeface="Calibri"/>
                <a:ea typeface="Calibri"/>
                <a:cs typeface="Calibri"/>
                <a:sym typeface="Calibri"/>
              </a:rPr>
              <a:t>Analyse de données avec Python   |   Jour 1, après-midi</a:t>
            </a:r>
            <a:endParaRPr b="0" i="0" sz="1000" u="none" cap="none" strike="noStrike">
              <a:solidFill>
                <a:schemeClr val="dk1"/>
              </a:solidFill>
              <a:latin typeface="Calibri"/>
              <a:ea typeface="Calibri"/>
              <a:cs typeface="Calibri"/>
              <a:sym typeface="Calibri"/>
            </a:endParaRPr>
          </a:p>
        </p:txBody>
      </p:sp>
      <p:sp>
        <p:nvSpPr>
          <p:cNvPr id="604" name="Google Shape;604;p36"/>
          <p:cNvSpPr txBox="1"/>
          <p:nvPr>
            <p:ph idx="4294967295" type="sldNum"/>
          </p:nvPr>
        </p:nvSpPr>
        <p:spPr>
          <a:xfrm>
            <a:off x="11094415" y="6400800"/>
            <a:ext cx="548640" cy="27432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000" u="none" cap="none" strike="noStrike">
                <a:solidFill>
                  <a:srgbClr val="6B7280"/>
                </a:solidFill>
                <a:latin typeface="Calibri"/>
                <a:ea typeface="Calibri"/>
                <a:cs typeface="Calibri"/>
                <a:sym typeface="Calibri"/>
              </a:rPr>
              <a:t>‹#›</a:t>
            </a:fld>
            <a:endParaRPr b="0" i="0" sz="1000" u="none" cap="none" strike="noStrike">
              <a:solidFill>
                <a:srgbClr val="6B7280"/>
              </a:solidFill>
              <a:latin typeface="Calibri"/>
              <a:ea typeface="Calibri"/>
              <a:cs typeface="Calibri"/>
              <a:sym typeface="Calibri"/>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09" name="Shape 609"/>
        <p:cNvGrpSpPr/>
        <p:nvPr/>
      </p:nvGrpSpPr>
      <p:grpSpPr>
        <a:xfrm>
          <a:off x="0" y="0"/>
          <a:ext cx="0" cy="0"/>
          <a:chOff x="0" y="0"/>
          <a:chExt cx="0" cy="0"/>
        </a:xfrm>
      </p:grpSpPr>
      <p:sp>
        <p:nvSpPr>
          <p:cNvPr id="610" name="Google Shape;610;p37"/>
          <p:cNvSpPr/>
          <p:nvPr/>
        </p:nvSpPr>
        <p:spPr>
          <a:xfrm>
            <a:off x="548640" y="566928"/>
            <a:ext cx="475488" cy="475488"/>
          </a:xfrm>
          <a:prstGeom prst="ellipse">
            <a:avLst/>
          </a:prstGeom>
          <a:solidFill>
            <a:srgbClr val="2F7D6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1" name="Google Shape;611;p37"/>
          <p:cNvSpPr txBox="1"/>
          <p:nvPr/>
        </p:nvSpPr>
        <p:spPr>
          <a:xfrm>
            <a:off x="548640" y="566928"/>
            <a:ext cx="475488" cy="47548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5</a:t>
            </a:r>
            <a:endParaRPr b="0" i="0" sz="1600" u="none" cap="none" strike="noStrike">
              <a:solidFill>
                <a:schemeClr val="dk1"/>
              </a:solidFill>
              <a:latin typeface="Calibri"/>
              <a:ea typeface="Calibri"/>
              <a:cs typeface="Calibri"/>
              <a:sym typeface="Calibri"/>
            </a:endParaRPr>
          </a:p>
        </p:txBody>
      </p:sp>
      <p:sp>
        <p:nvSpPr>
          <p:cNvPr id="612" name="Google Shape;612;p37"/>
          <p:cNvSpPr txBox="1"/>
          <p:nvPr/>
        </p:nvSpPr>
        <p:spPr>
          <a:xfrm>
            <a:off x="1280160" y="164592"/>
            <a:ext cx="10362895"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F7D62"/>
              </a:buClr>
              <a:buSzPts val="1200"/>
              <a:buFont typeface="Calibri"/>
              <a:buNone/>
            </a:pPr>
            <a:r>
              <a:rPr b="1" i="0" lang="en-US" sz="1200" u="none" cap="none" strike="noStrike">
                <a:solidFill>
                  <a:srgbClr val="2F7D62"/>
                </a:solidFill>
                <a:latin typeface="Calibri"/>
                <a:ea typeface="Calibri"/>
                <a:cs typeface="Calibri"/>
                <a:sym typeface="Calibri"/>
              </a:rPr>
              <a:t>VALEURS MANQUANTES, ABERRANTES ET DOUBLONS</a:t>
            </a:r>
            <a:endParaRPr b="0" i="0" sz="1200" u="none" cap="none" strike="noStrike">
              <a:solidFill>
                <a:schemeClr val="dk1"/>
              </a:solidFill>
              <a:latin typeface="Calibri"/>
              <a:ea typeface="Calibri"/>
              <a:cs typeface="Calibri"/>
              <a:sym typeface="Calibri"/>
            </a:endParaRPr>
          </a:p>
        </p:txBody>
      </p:sp>
      <p:sp>
        <p:nvSpPr>
          <p:cNvPr id="613" name="Google Shape;613;p37"/>
          <p:cNvSpPr txBox="1"/>
          <p:nvPr/>
        </p:nvSpPr>
        <p:spPr>
          <a:xfrm>
            <a:off x="1280160" y="457200"/>
            <a:ext cx="10362895" cy="6949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F3A5F"/>
              </a:buClr>
              <a:buSzPts val="3000"/>
              <a:buFont typeface="Cambria"/>
              <a:buNone/>
            </a:pPr>
            <a:r>
              <a:rPr b="1" i="0" lang="en-US" sz="3000" u="none" cap="none" strike="noStrike">
                <a:solidFill>
                  <a:srgbClr val="1F3A5F"/>
                </a:solidFill>
                <a:latin typeface="Cambria"/>
                <a:ea typeface="Cambria"/>
                <a:cs typeface="Cambria"/>
                <a:sym typeface="Cambria"/>
              </a:rPr>
              <a:t>Deux pièges à éviter</a:t>
            </a:r>
            <a:endParaRPr b="0" i="0" sz="3000" u="none" cap="none" strike="noStrike">
              <a:solidFill>
                <a:schemeClr val="dk1"/>
              </a:solidFill>
              <a:latin typeface="Calibri"/>
              <a:ea typeface="Calibri"/>
              <a:cs typeface="Calibri"/>
              <a:sym typeface="Calibri"/>
            </a:endParaRPr>
          </a:p>
        </p:txBody>
      </p:sp>
      <p:sp>
        <p:nvSpPr>
          <p:cNvPr id="614" name="Google Shape;614;p37"/>
          <p:cNvSpPr txBox="1"/>
          <p:nvPr/>
        </p:nvSpPr>
        <p:spPr>
          <a:xfrm>
            <a:off x="548640" y="1417320"/>
            <a:ext cx="5318608"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F3A5F"/>
              </a:buClr>
              <a:buSzPts val="1700"/>
              <a:buFont typeface="Calibri"/>
              <a:buNone/>
            </a:pPr>
            <a:r>
              <a:rPr b="1" i="0" lang="en-US" sz="1700" u="none" cap="none" strike="noStrike">
                <a:solidFill>
                  <a:srgbClr val="1F3A5F"/>
                </a:solidFill>
                <a:latin typeface="Calibri"/>
                <a:ea typeface="Calibri"/>
                <a:cs typeface="Calibri"/>
                <a:sym typeface="Calibri"/>
              </a:rPr>
              <a:t>Moyenne ou médiane ?</a:t>
            </a:r>
            <a:endParaRPr b="0" i="0" sz="1700" u="none" cap="none" strike="noStrike">
              <a:solidFill>
                <a:schemeClr val="dk1"/>
              </a:solidFill>
              <a:latin typeface="Calibri"/>
              <a:ea typeface="Calibri"/>
              <a:cs typeface="Calibri"/>
              <a:sym typeface="Calibri"/>
            </a:endParaRPr>
          </a:p>
        </p:txBody>
      </p:sp>
      <p:sp>
        <p:nvSpPr>
          <p:cNvPr id="615" name="Google Shape;615;p37"/>
          <p:cNvSpPr/>
          <p:nvPr/>
        </p:nvSpPr>
        <p:spPr>
          <a:xfrm>
            <a:off x="548640" y="1828800"/>
            <a:ext cx="2522144" cy="1600200"/>
          </a:xfrm>
          <a:prstGeom prst="roundRect">
            <a:avLst>
              <a:gd fmla="val 4571" name="adj"/>
            </a:avLst>
          </a:prstGeom>
          <a:solidFill>
            <a:srgbClr val="EEF3F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6" name="Google Shape;616;p37"/>
          <p:cNvSpPr txBox="1"/>
          <p:nvPr/>
        </p:nvSpPr>
        <p:spPr>
          <a:xfrm>
            <a:off x="777240" y="2011680"/>
            <a:ext cx="2064944" cy="7772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F3A5F"/>
              </a:buClr>
              <a:buSzPts val="4000"/>
              <a:buFont typeface="Cambria"/>
              <a:buNone/>
            </a:pPr>
            <a:r>
              <a:rPr b="1" i="0" lang="en-US" sz="4000" u="none" cap="none" strike="noStrike">
                <a:solidFill>
                  <a:srgbClr val="1F3A5F"/>
                </a:solidFill>
                <a:latin typeface="Cambria"/>
                <a:ea typeface="Cambria"/>
                <a:cs typeface="Cambria"/>
                <a:sym typeface="Cambria"/>
              </a:rPr>
              <a:t>406,80</a:t>
            </a:r>
            <a:endParaRPr b="0" i="0" sz="4000" u="none" cap="none" strike="noStrike">
              <a:solidFill>
                <a:schemeClr val="dk1"/>
              </a:solidFill>
              <a:latin typeface="Calibri"/>
              <a:ea typeface="Calibri"/>
              <a:cs typeface="Calibri"/>
              <a:sym typeface="Calibri"/>
            </a:endParaRPr>
          </a:p>
        </p:txBody>
      </p:sp>
      <p:sp>
        <p:nvSpPr>
          <p:cNvPr id="617" name="Google Shape;617;p37"/>
          <p:cNvSpPr txBox="1"/>
          <p:nvPr/>
        </p:nvSpPr>
        <p:spPr>
          <a:xfrm>
            <a:off x="777240" y="2834640"/>
            <a:ext cx="2064944"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B7280"/>
              </a:buClr>
              <a:buSzPts val="1500"/>
              <a:buFont typeface="Calibri"/>
              <a:buNone/>
            </a:pPr>
            <a:r>
              <a:rPr b="0" i="0" lang="en-US" sz="1500" u="none" cap="none" strike="noStrike">
                <a:solidFill>
                  <a:srgbClr val="6B7280"/>
                </a:solidFill>
                <a:latin typeface="Calibri"/>
                <a:ea typeface="Calibri"/>
                <a:cs typeface="Calibri"/>
                <a:sym typeface="Calibri"/>
              </a:rPr>
              <a:t>prix unitaire moyen</a:t>
            </a:r>
            <a:endParaRPr b="0" i="0" sz="1500" u="none" cap="none" strike="noStrike">
              <a:solidFill>
                <a:schemeClr val="dk1"/>
              </a:solidFill>
              <a:latin typeface="Calibri"/>
              <a:ea typeface="Calibri"/>
              <a:cs typeface="Calibri"/>
              <a:sym typeface="Calibri"/>
            </a:endParaRPr>
          </a:p>
        </p:txBody>
      </p:sp>
      <p:sp>
        <p:nvSpPr>
          <p:cNvPr id="618" name="Google Shape;618;p37"/>
          <p:cNvSpPr/>
          <p:nvPr/>
        </p:nvSpPr>
        <p:spPr>
          <a:xfrm>
            <a:off x="3345104" y="1828800"/>
            <a:ext cx="2522144" cy="1600200"/>
          </a:xfrm>
          <a:prstGeom prst="roundRect">
            <a:avLst>
              <a:gd fmla="val 4571" name="adj"/>
            </a:avLst>
          </a:prstGeom>
          <a:solidFill>
            <a:srgbClr val="EEF3F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9" name="Google Shape;619;p37"/>
          <p:cNvSpPr txBox="1"/>
          <p:nvPr/>
        </p:nvSpPr>
        <p:spPr>
          <a:xfrm>
            <a:off x="3573704" y="2011680"/>
            <a:ext cx="2064944" cy="7772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F7D62"/>
              </a:buClr>
              <a:buSzPts val="4000"/>
              <a:buFont typeface="Cambria"/>
              <a:buNone/>
            </a:pPr>
            <a:r>
              <a:rPr b="1" i="0" lang="en-US" sz="4000" u="none" cap="none" strike="noStrike">
                <a:solidFill>
                  <a:srgbClr val="2F7D62"/>
                </a:solidFill>
                <a:latin typeface="Cambria"/>
                <a:ea typeface="Cambria"/>
                <a:cs typeface="Cambria"/>
                <a:sym typeface="Cambria"/>
              </a:rPr>
              <a:t>215,39</a:t>
            </a:r>
            <a:endParaRPr b="0" i="0" sz="4000" u="none" cap="none" strike="noStrike">
              <a:solidFill>
                <a:schemeClr val="dk1"/>
              </a:solidFill>
              <a:latin typeface="Calibri"/>
              <a:ea typeface="Calibri"/>
              <a:cs typeface="Calibri"/>
              <a:sym typeface="Calibri"/>
            </a:endParaRPr>
          </a:p>
        </p:txBody>
      </p:sp>
      <p:sp>
        <p:nvSpPr>
          <p:cNvPr id="620" name="Google Shape;620;p37"/>
          <p:cNvSpPr txBox="1"/>
          <p:nvPr/>
        </p:nvSpPr>
        <p:spPr>
          <a:xfrm>
            <a:off x="3573704" y="2834640"/>
            <a:ext cx="2064944"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B7280"/>
              </a:buClr>
              <a:buSzPts val="1500"/>
              <a:buFont typeface="Calibri"/>
              <a:buNone/>
            </a:pPr>
            <a:r>
              <a:rPr b="0" i="0" lang="en-US" sz="1500" u="none" cap="none" strike="noStrike">
                <a:solidFill>
                  <a:srgbClr val="6B7280"/>
                </a:solidFill>
                <a:latin typeface="Calibri"/>
                <a:ea typeface="Calibri"/>
                <a:cs typeface="Calibri"/>
                <a:sym typeface="Calibri"/>
              </a:rPr>
              <a:t>prix unitaire médian</a:t>
            </a:r>
            <a:endParaRPr b="0" i="0" sz="1500" u="none" cap="none" strike="noStrike">
              <a:solidFill>
                <a:schemeClr val="dk1"/>
              </a:solidFill>
              <a:latin typeface="Calibri"/>
              <a:ea typeface="Calibri"/>
              <a:cs typeface="Calibri"/>
              <a:sym typeface="Calibri"/>
            </a:endParaRPr>
          </a:p>
        </p:txBody>
      </p:sp>
      <p:sp>
        <p:nvSpPr>
          <p:cNvPr id="621" name="Google Shape;621;p37"/>
          <p:cNvSpPr txBox="1"/>
          <p:nvPr/>
        </p:nvSpPr>
        <p:spPr>
          <a:xfrm>
            <a:off x="548640" y="3749040"/>
            <a:ext cx="5318608" cy="8686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B7280"/>
              </a:buClr>
              <a:buSzPts val="1600"/>
              <a:buFont typeface="Calibri"/>
              <a:buNone/>
            </a:pPr>
            <a:r>
              <a:rPr b="0" i="0" lang="en-US" sz="1600" u="none" cap="none" strike="noStrike">
                <a:solidFill>
                  <a:srgbClr val="6B7280"/>
                </a:solidFill>
                <a:latin typeface="Calibri"/>
                <a:ea typeface="Calibri"/>
                <a:cs typeface="Calibri"/>
                <a:sym typeface="Calibri"/>
              </a:rPr>
              <a:t>La moyenne est tirée vers le haut par un seul prix à 12 999. La médiane, peu sensible aux extrêmes, est souvent préférable pour remplir.</a:t>
            </a:r>
            <a:endParaRPr b="0" i="0" sz="1600" u="none" cap="none" strike="noStrike">
              <a:solidFill>
                <a:schemeClr val="dk1"/>
              </a:solidFill>
              <a:latin typeface="Calibri"/>
              <a:ea typeface="Calibri"/>
              <a:cs typeface="Calibri"/>
              <a:sym typeface="Calibri"/>
            </a:endParaRPr>
          </a:p>
        </p:txBody>
      </p:sp>
      <p:sp>
        <p:nvSpPr>
          <p:cNvPr id="622" name="Google Shape;622;p37"/>
          <p:cNvSpPr txBox="1"/>
          <p:nvPr/>
        </p:nvSpPr>
        <p:spPr>
          <a:xfrm>
            <a:off x="6324448" y="1417320"/>
            <a:ext cx="5318608"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F3A5F"/>
              </a:buClr>
              <a:buSzPts val="1700"/>
              <a:buFont typeface="Calibri"/>
              <a:buNone/>
            </a:pPr>
            <a:r>
              <a:rPr b="1" i="0" lang="en-US" sz="1700" u="none" cap="none" strike="noStrike">
                <a:solidFill>
                  <a:srgbClr val="1F3A5F"/>
                </a:solidFill>
                <a:latin typeface="Calibri"/>
                <a:ea typeface="Calibri"/>
                <a:cs typeface="Calibri"/>
                <a:sym typeface="Calibri"/>
              </a:rPr>
              <a:t>dropna sans subset</a:t>
            </a:r>
            <a:endParaRPr b="0" i="0" sz="1700" u="none" cap="none" strike="noStrike">
              <a:solidFill>
                <a:schemeClr val="dk1"/>
              </a:solidFill>
              <a:latin typeface="Calibri"/>
              <a:ea typeface="Calibri"/>
              <a:cs typeface="Calibri"/>
              <a:sym typeface="Calibri"/>
            </a:endParaRPr>
          </a:p>
        </p:txBody>
      </p:sp>
      <p:sp>
        <p:nvSpPr>
          <p:cNvPr id="623" name="Google Shape;623;p37"/>
          <p:cNvSpPr/>
          <p:nvPr/>
        </p:nvSpPr>
        <p:spPr>
          <a:xfrm>
            <a:off x="6324448" y="1828800"/>
            <a:ext cx="5318608" cy="1641348"/>
          </a:xfrm>
          <a:prstGeom prst="rect">
            <a:avLst/>
          </a:prstGeom>
          <a:solidFill>
            <a:srgbClr val="F3F4F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4" name="Google Shape;624;p37"/>
          <p:cNvSpPr txBox="1"/>
          <p:nvPr/>
        </p:nvSpPr>
        <p:spPr>
          <a:xfrm>
            <a:off x="6507328" y="1975104"/>
            <a:ext cx="4952848" cy="13487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F2933"/>
              </a:buClr>
              <a:buSzPts val="1500"/>
              <a:buFont typeface="Courier New"/>
              <a:buNone/>
            </a:pPr>
            <a:r>
              <a:rPr b="0" i="0" lang="en-US" sz="1500" u="none" cap="none" strike="noStrike">
                <a:solidFill>
                  <a:srgbClr val="1F2933"/>
                </a:solidFill>
                <a:latin typeface="Courier New"/>
                <a:ea typeface="Courier New"/>
                <a:cs typeface="Courier New"/>
                <a:sym typeface="Courier New"/>
              </a:rPr>
              <a:t>df.dropna()</a:t>
            </a:r>
            <a:endParaRPr b="0" i="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B7280"/>
              </a:buClr>
              <a:buSzPts val="1500"/>
              <a:buFont typeface="Courier New"/>
              <a:buNone/>
            </a:pPr>
            <a:r>
              <a:rPr b="0" i="0" lang="en-US" sz="1500" u="none" cap="none" strike="noStrike">
                <a:solidFill>
                  <a:srgbClr val="6B7280"/>
                </a:solidFill>
                <a:latin typeface="Courier New"/>
                <a:ea typeface="Courier New"/>
                <a:cs typeface="Courier New"/>
                <a:sym typeface="Courier New"/>
              </a:rPr>
              <a:t># supprime toute ligne ayant un manque,</a:t>
            </a:r>
            <a:endParaRPr b="0" i="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B7280"/>
              </a:buClr>
              <a:buSzPts val="1500"/>
              <a:buFont typeface="Courier New"/>
              <a:buNone/>
            </a:pPr>
            <a:r>
              <a:rPr b="0" i="0" lang="en-US" sz="1500" u="none" cap="none" strike="noStrike">
                <a:solidFill>
                  <a:srgbClr val="6B7280"/>
                </a:solidFill>
                <a:latin typeface="Courier New"/>
                <a:ea typeface="Courier New"/>
                <a:cs typeface="Courier New"/>
                <a:sym typeface="Courier New"/>
              </a:rPr>
              <a:t># dans n'importe quelle colonne</a:t>
            </a:r>
            <a:endParaRPr b="0" i="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F2933"/>
              </a:buClr>
              <a:buSzPts val="1500"/>
              <a:buFont typeface="Courier New"/>
              <a:buNone/>
            </a:pPr>
            <a:r>
              <a:rPr b="0" i="0" lang="en-US" sz="1500" u="none" cap="none" strike="noStrike">
                <a:solidFill>
                  <a:srgbClr val="1F2933"/>
                </a:solidFill>
                <a:latin typeface="Courier New"/>
                <a:ea typeface="Courier New"/>
                <a:cs typeface="Courier New"/>
                <a:sym typeface="Courier New"/>
              </a:rPr>
              <a:t> </a:t>
            </a:r>
            <a:endParaRPr b="0" i="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F2933"/>
              </a:buClr>
              <a:buSzPts val="1500"/>
              <a:buFont typeface="Courier New"/>
              <a:buNone/>
            </a:pPr>
            <a:r>
              <a:rPr b="0" i="0" lang="en-US" sz="1500" u="none" cap="none" strike="noStrike">
                <a:solidFill>
                  <a:srgbClr val="1F2933"/>
                </a:solidFill>
                <a:latin typeface="Courier New"/>
                <a:ea typeface="Courier New"/>
                <a:cs typeface="Courier New"/>
                <a:sym typeface="Courier New"/>
              </a:rPr>
              <a:t>df.dropna(subset=["region"])</a:t>
            </a:r>
            <a:endParaRPr b="0" i="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B7280"/>
              </a:buClr>
              <a:buSzPts val="1500"/>
              <a:buFont typeface="Courier New"/>
              <a:buNone/>
            </a:pPr>
            <a:r>
              <a:rPr b="0" i="0" lang="en-US" sz="1500" u="none" cap="none" strike="noStrike">
                <a:solidFill>
                  <a:srgbClr val="6B7280"/>
                </a:solidFill>
                <a:latin typeface="Courier New"/>
                <a:ea typeface="Courier New"/>
                <a:cs typeface="Courier New"/>
                <a:sym typeface="Courier New"/>
              </a:rPr>
              <a:t># seulement si region est manquante</a:t>
            </a:r>
            <a:endParaRPr b="0" i="0" sz="1500" u="none" cap="none" strike="noStrike">
              <a:solidFill>
                <a:schemeClr val="dk1"/>
              </a:solidFill>
              <a:latin typeface="Calibri"/>
              <a:ea typeface="Calibri"/>
              <a:cs typeface="Calibri"/>
              <a:sym typeface="Calibri"/>
            </a:endParaRPr>
          </a:p>
        </p:txBody>
      </p:sp>
      <p:sp>
        <p:nvSpPr>
          <p:cNvPr id="625" name="Google Shape;625;p37"/>
          <p:cNvSpPr txBox="1"/>
          <p:nvPr/>
        </p:nvSpPr>
        <p:spPr>
          <a:xfrm>
            <a:off x="548640" y="6400800"/>
            <a:ext cx="73152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B7280"/>
              </a:buClr>
              <a:buSzPts val="1000"/>
              <a:buFont typeface="Calibri"/>
              <a:buNone/>
            </a:pPr>
            <a:r>
              <a:rPr b="0" i="0" lang="en-US" sz="1000" u="none" cap="none" strike="noStrike">
                <a:solidFill>
                  <a:srgbClr val="6B7280"/>
                </a:solidFill>
                <a:latin typeface="Calibri"/>
                <a:ea typeface="Calibri"/>
                <a:cs typeface="Calibri"/>
                <a:sym typeface="Calibri"/>
              </a:rPr>
              <a:t>Analyse de données avec Python   |   Jour 1, après-midi</a:t>
            </a:r>
            <a:endParaRPr b="0" i="0" sz="1000" u="none" cap="none" strike="noStrike">
              <a:solidFill>
                <a:schemeClr val="dk1"/>
              </a:solidFill>
              <a:latin typeface="Calibri"/>
              <a:ea typeface="Calibri"/>
              <a:cs typeface="Calibri"/>
              <a:sym typeface="Calibri"/>
            </a:endParaRPr>
          </a:p>
        </p:txBody>
      </p:sp>
      <p:sp>
        <p:nvSpPr>
          <p:cNvPr id="626" name="Google Shape;626;p37"/>
          <p:cNvSpPr txBox="1"/>
          <p:nvPr>
            <p:ph idx="4294967295" type="sldNum"/>
          </p:nvPr>
        </p:nvSpPr>
        <p:spPr>
          <a:xfrm>
            <a:off x="11094415" y="6400800"/>
            <a:ext cx="548640" cy="27432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000" u="none" cap="none" strike="noStrike">
                <a:solidFill>
                  <a:srgbClr val="6B7280"/>
                </a:solidFill>
                <a:latin typeface="Calibri"/>
                <a:ea typeface="Calibri"/>
                <a:cs typeface="Calibri"/>
                <a:sym typeface="Calibri"/>
              </a:rPr>
              <a:t>‹#›</a:t>
            </a:fld>
            <a:endParaRPr b="0" i="0" sz="1000" u="none" cap="none" strike="noStrike">
              <a:solidFill>
                <a:srgbClr val="6B7280"/>
              </a:solidFill>
              <a:latin typeface="Calibri"/>
              <a:ea typeface="Calibri"/>
              <a:cs typeface="Calibri"/>
              <a:sym typeface="Calibri"/>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31" name="Shape 631"/>
        <p:cNvGrpSpPr/>
        <p:nvPr/>
      </p:nvGrpSpPr>
      <p:grpSpPr>
        <a:xfrm>
          <a:off x="0" y="0"/>
          <a:ext cx="0" cy="0"/>
          <a:chOff x="0" y="0"/>
          <a:chExt cx="0" cy="0"/>
        </a:xfrm>
      </p:grpSpPr>
      <p:sp>
        <p:nvSpPr>
          <p:cNvPr id="632" name="Google Shape;632;p38"/>
          <p:cNvSpPr/>
          <p:nvPr/>
        </p:nvSpPr>
        <p:spPr>
          <a:xfrm>
            <a:off x="548640" y="566928"/>
            <a:ext cx="475488" cy="475488"/>
          </a:xfrm>
          <a:prstGeom prst="ellipse">
            <a:avLst/>
          </a:prstGeom>
          <a:solidFill>
            <a:srgbClr val="2F7D6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3" name="Google Shape;633;p38"/>
          <p:cNvSpPr txBox="1"/>
          <p:nvPr/>
        </p:nvSpPr>
        <p:spPr>
          <a:xfrm>
            <a:off x="548640" y="566928"/>
            <a:ext cx="475488" cy="47548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5</a:t>
            </a:r>
            <a:endParaRPr b="0" i="0" sz="1600" u="none" cap="none" strike="noStrike">
              <a:solidFill>
                <a:schemeClr val="dk1"/>
              </a:solidFill>
              <a:latin typeface="Calibri"/>
              <a:ea typeface="Calibri"/>
              <a:cs typeface="Calibri"/>
              <a:sym typeface="Calibri"/>
            </a:endParaRPr>
          </a:p>
        </p:txBody>
      </p:sp>
      <p:sp>
        <p:nvSpPr>
          <p:cNvPr id="634" name="Google Shape;634;p38"/>
          <p:cNvSpPr txBox="1"/>
          <p:nvPr/>
        </p:nvSpPr>
        <p:spPr>
          <a:xfrm>
            <a:off x="1280160" y="164592"/>
            <a:ext cx="10362895"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F7D62"/>
              </a:buClr>
              <a:buSzPts val="1200"/>
              <a:buFont typeface="Calibri"/>
              <a:buNone/>
            </a:pPr>
            <a:r>
              <a:rPr b="1" i="0" lang="en-US" sz="1200" u="none" cap="none" strike="noStrike">
                <a:solidFill>
                  <a:srgbClr val="2F7D62"/>
                </a:solidFill>
                <a:latin typeface="Calibri"/>
                <a:ea typeface="Calibri"/>
                <a:cs typeface="Calibri"/>
                <a:sym typeface="Calibri"/>
              </a:rPr>
              <a:t>VALEURS MANQUANTES, ABERRANTES ET DOUBLONS</a:t>
            </a:r>
            <a:endParaRPr b="0" i="0" sz="1200" u="none" cap="none" strike="noStrike">
              <a:solidFill>
                <a:schemeClr val="dk1"/>
              </a:solidFill>
              <a:latin typeface="Calibri"/>
              <a:ea typeface="Calibri"/>
              <a:cs typeface="Calibri"/>
              <a:sym typeface="Calibri"/>
            </a:endParaRPr>
          </a:p>
        </p:txBody>
      </p:sp>
      <p:sp>
        <p:nvSpPr>
          <p:cNvPr id="635" name="Google Shape;635;p38"/>
          <p:cNvSpPr txBox="1"/>
          <p:nvPr/>
        </p:nvSpPr>
        <p:spPr>
          <a:xfrm>
            <a:off x="1280160" y="457200"/>
            <a:ext cx="10362895" cy="6949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F3A5F"/>
              </a:buClr>
              <a:buSzPts val="3000"/>
              <a:buFont typeface="Cambria"/>
              <a:buNone/>
            </a:pPr>
            <a:r>
              <a:rPr b="1" i="0" lang="en-US" sz="3000" u="none" cap="none" strike="noStrike">
                <a:solidFill>
                  <a:srgbClr val="1F3A5F"/>
                </a:solidFill>
                <a:latin typeface="Cambria"/>
                <a:ea typeface="Cambria"/>
                <a:cs typeface="Cambria"/>
                <a:sym typeface="Cambria"/>
              </a:rPr>
              <a:t>Les valeurs aberrantes</a:t>
            </a:r>
            <a:endParaRPr b="0" i="0" sz="3000" u="none" cap="none" strike="noStrike">
              <a:solidFill>
                <a:schemeClr val="dk1"/>
              </a:solidFill>
              <a:latin typeface="Calibri"/>
              <a:ea typeface="Calibri"/>
              <a:cs typeface="Calibri"/>
              <a:sym typeface="Calibri"/>
            </a:endParaRPr>
          </a:p>
        </p:txBody>
      </p:sp>
      <p:sp>
        <p:nvSpPr>
          <p:cNvPr id="636" name="Google Shape;636;p38"/>
          <p:cNvSpPr/>
          <p:nvPr/>
        </p:nvSpPr>
        <p:spPr>
          <a:xfrm>
            <a:off x="548640" y="1417320"/>
            <a:ext cx="5802117" cy="2540508"/>
          </a:xfrm>
          <a:prstGeom prst="rect">
            <a:avLst/>
          </a:prstGeom>
          <a:solidFill>
            <a:srgbClr val="F3F4F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7" name="Google Shape;637;p38"/>
          <p:cNvSpPr txBox="1"/>
          <p:nvPr/>
        </p:nvSpPr>
        <p:spPr>
          <a:xfrm>
            <a:off x="731520" y="1563624"/>
            <a:ext cx="5436357" cy="2247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F2933"/>
              </a:buClr>
              <a:buSzPts val="1500"/>
              <a:buFont typeface="Courier New"/>
              <a:buNone/>
            </a:pPr>
            <a:r>
              <a:rPr b="0" i="0" lang="en-US" sz="1500" u="none" cap="none" strike="noStrike">
                <a:solidFill>
                  <a:srgbClr val="1F2933"/>
                </a:solidFill>
                <a:latin typeface="Courier New"/>
                <a:ea typeface="Courier New"/>
                <a:cs typeface="Courier New"/>
                <a:sym typeface="Courier New"/>
              </a:rPr>
              <a:t>anomalies = df[(df["quantite"] &lt;= 0)</a:t>
            </a:r>
            <a:endParaRPr b="0" i="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F2933"/>
              </a:buClr>
              <a:buSzPts val="1500"/>
              <a:buFont typeface="Courier New"/>
              <a:buNone/>
            </a:pPr>
            <a:r>
              <a:rPr b="0" i="0" lang="en-US" sz="1500" u="none" cap="none" strike="noStrike">
                <a:solidFill>
                  <a:srgbClr val="1F2933"/>
                </a:solidFill>
                <a:latin typeface="Courier New"/>
                <a:ea typeface="Courier New"/>
                <a:cs typeface="Courier New"/>
                <a:sym typeface="Courier New"/>
              </a:rPr>
              <a:t>               | (df["Prix unitaire"] &lt;= 0)]</a:t>
            </a:r>
            <a:endParaRPr b="0" i="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F2933"/>
              </a:buClr>
              <a:buSzPts val="1500"/>
              <a:buFont typeface="Courier New"/>
              <a:buNone/>
            </a:pPr>
            <a:r>
              <a:rPr b="0" i="0" lang="en-US" sz="1500" u="none" cap="none" strike="noStrike">
                <a:solidFill>
                  <a:srgbClr val="1F2933"/>
                </a:solidFill>
                <a:latin typeface="Courier New"/>
                <a:ea typeface="Courier New"/>
                <a:cs typeface="Courier New"/>
                <a:sym typeface="Courier New"/>
              </a:rPr>
              <a:t> </a:t>
            </a:r>
            <a:endParaRPr b="0" i="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B7280"/>
              </a:buClr>
              <a:buSzPts val="1500"/>
              <a:buFont typeface="Courier New"/>
              <a:buNone/>
            </a:pPr>
            <a:r>
              <a:rPr b="0" i="0" lang="en-US" sz="1500" u="none" cap="none" strike="noStrike">
                <a:solidFill>
                  <a:srgbClr val="6B7280"/>
                </a:solidFill>
                <a:latin typeface="Courier New"/>
                <a:ea typeface="Courier New"/>
                <a:cs typeface="Courier New"/>
                <a:sym typeface="Courier New"/>
              </a:rPr>
              <a:t># rendre manquant</a:t>
            </a:r>
            <a:endParaRPr b="0" i="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F2933"/>
              </a:buClr>
              <a:buSzPts val="1500"/>
              <a:buFont typeface="Courier New"/>
              <a:buNone/>
            </a:pPr>
            <a:r>
              <a:rPr b="0" i="0" lang="en-US" sz="1500" u="none" cap="none" strike="noStrike">
                <a:solidFill>
                  <a:srgbClr val="1F2933"/>
                </a:solidFill>
                <a:latin typeface="Courier New"/>
                <a:ea typeface="Courier New"/>
                <a:cs typeface="Courier New"/>
                <a:sym typeface="Courier New"/>
              </a:rPr>
              <a:t>df["quantite"] = df["quantite"].mask(</a:t>
            </a:r>
            <a:endParaRPr b="0" i="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F2933"/>
              </a:buClr>
              <a:buSzPts val="1500"/>
              <a:buFont typeface="Courier New"/>
              <a:buNone/>
            </a:pPr>
            <a:r>
              <a:rPr b="0" i="0" lang="en-US" sz="1500" u="none" cap="none" strike="noStrike">
                <a:solidFill>
                  <a:srgbClr val="1F2933"/>
                </a:solidFill>
                <a:latin typeface="Courier New"/>
                <a:ea typeface="Courier New"/>
                <a:cs typeface="Courier New"/>
                <a:sym typeface="Courier New"/>
              </a:rPr>
              <a:t>    df["quantite"] &lt;= 0</a:t>
            </a:r>
            <a:endParaRPr b="0" i="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F2933"/>
              </a:buClr>
              <a:buSzPts val="1500"/>
              <a:buFont typeface="Courier New"/>
              <a:buNone/>
            </a:pPr>
            <a:r>
              <a:rPr b="0" i="0" lang="en-US" sz="1500" u="none" cap="none" strike="noStrike">
                <a:solidFill>
                  <a:srgbClr val="1F2933"/>
                </a:solidFill>
                <a:latin typeface="Courier New"/>
                <a:ea typeface="Courier New"/>
                <a:cs typeface="Courier New"/>
                <a:sym typeface="Courier New"/>
              </a:rPr>
              <a:t>)</a:t>
            </a:r>
            <a:endParaRPr b="0" i="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F2933"/>
              </a:buClr>
              <a:buSzPts val="1500"/>
              <a:buFont typeface="Courier New"/>
              <a:buNone/>
            </a:pPr>
            <a:r>
              <a:rPr b="0" i="0" lang="en-US" sz="1500" u="none" cap="none" strike="noStrike">
                <a:solidFill>
                  <a:srgbClr val="1F2933"/>
                </a:solidFill>
                <a:latin typeface="Courier New"/>
                <a:ea typeface="Courier New"/>
                <a:cs typeface="Courier New"/>
                <a:sym typeface="Courier New"/>
              </a:rPr>
              <a:t> </a:t>
            </a:r>
            <a:endParaRPr b="0" i="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B7280"/>
              </a:buClr>
              <a:buSzPts val="1500"/>
              <a:buFont typeface="Courier New"/>
              <a:buNone/>
            </a:pPr>
            <a:r>
              <a:rPr b="0" i="0" lang="en-US" sz="1500" u="none" cap="none" strike="noStrike">
                <a:solidFill>
                  <a:srgbClr val="6B7280"/>
                </a:solidFill>
                <a:latin typeface="Courier New"/>
                <a:ea typeface="Courier New"/>
                <a:cs typeface="Courier New"/>
                <a:sym typeface="Courier New"/>
              </a:rPr>
              <a:t># signaler</a:t>
            </a:r>
            <a:endParaRPr b="0" i="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F2933"/>
              </a:buClr>
              <a:buSzPts val="1500"/>
              <a:buFont typeface="Courier New"/>
              <a:buNone/>
            </a:pPr>
            <a:r>
              <a:rPr b="0" i="0" lang="en-US" sz="1500" u="none" cap="none" strike="noStrike">
                <a:solidFill>
                  <a:srgbClr val="1F2933"/>
                </a:solidFill>
                <a:latin typeface="Courier New"/>
                <a:ea typeface="Courier New"/>
                <a:cs typeface="Courier New"/>
                <a:sym typeface="Courier New"/>
              </a:rPr>
              <a:t>df["prix_suspect"] = df["Prix unitaire"] &gt; 5000</a:t>
            </a:r>
            <a:endParaRPr b="0" i="0" sz="1500" u="none" cap="none" strike="noStrike">
              <a:solidFill>
                <a:schemeClr val="dk1"/>
              </a:solidFill>
              <a:latin typeface="Calibri"/>
              <a:ea typeface="Calibri"/>
              <a:cs typeface="Calibri"/>
              <a:sym typeface="Calibri"/>
            </a:endParaRPr>
          </a:p>
        </p:txBody>
      </p:sp>
      <p:sp>
        <p:nvSpPr>
          <p:cNvPr id="638" name="Google Shape;638;p38"/>
          <p:cNvSpPr txBox="1"/>
          <p:nvPr/>
        </p:nvSpPr>
        <p:spPr>
          <a:xfrm>
            <a:off x="548640" y="4277868"/>
            <a:ext cx="5802117" cy="5943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F3A5F"/>
              </a:buClr>
              <a:buSzPts val="1500"/>
              <a:buFont typeface="Courier New"/>
              <a:buNone/>
            </a:pPr>
            <a:r>
              <a:rPr b="0" i="0" lang="en-US" sz="1500" u="none" cap="none" strike="noStrike">
                <a:solidFill>
                  <a:srgbClr val="1F3A5F"/>
                </a:solidFill>
                <a:latin typeface="Courier New"/>
                <a:ea typeface="Courier New"/>
                <a:cs typeface="Courier New"/>
                <a:sym typeface="Courier New"/>
              </a:rPr>
              <a:t>mask</a:t>
            </a:r>
            <a:r>
              <a:rPr b="0" i="0" lang="en-US" sz="1500" u="none" cap="none" strike="noStrike">
                <a:solidFill>
                  <a:srgbClr val="6B7280"/>
                </a:solidFill>
                <a:latin typeface="Calibri"/>
                <a:ea typeface="Calibri"/>
                <a:cs typeface="Calibri"/>
                <a:sym typeface="Calibri"/>
              </a:rPr>
              <a:t> remplace par </a:t>
            </a:r>
            <a:r>
              <a:rPr b="0" i="0" lang="en-US" sz="1500" u="none" cap="none" strike="noStrike">
                <a:solidFill>
                  <a:srgbClr val="1F3A5F"/>
                </a:solidFill>
                <a:latin typeface="Courier New"/>
                <a:ea typeface="Courier New"/>
                <a:cs typeface="Courier New"/>
                <a:sym typeface="Courier New"/>
              </a:rPr>
              <a:t>NaN</a:t>
            </a:r>
            <a:r>
              <a:rPr b="0" i="0" lang="en-US" sz="1500" u="none" cap="none" strike="noStrike">
                <a:solidFill>
                  <a:srgbClr val="6B7280"/>
                </a:solidFill>
                <a:latin typeface="Calibri"/>
                <a:ea typeface="Calibri"/>
                <a:cs typeface="Calibri"/>
                <a:sym typeface="Calibri"/>
              </a:rPr>
              <a:t> là où la condition est vraie. Son inverse : </a:t>
            </a:r>
            <a:r>
              <a:rPr b="0" i="0" lang="en-US" sz="1500" u="none" cap="none" strike="noStrike">
                <a:solidFill>
                  <a:srgbClr val="1F3A5F"/>
                </a:solidFill>
                <a:latin typeface="Courier New"/>
                <a:ea typeface="Courier New"/>
                <a:cs typeface="Courier New"/>
                <a:sym typeface="Courier New"/>
              </a:rPr>
              <a:t>where</a:t>
            </a:r>
            <a:r>
              <a:rPr b="0" i="0" lang="en-US" sz="1500" u="none" cap="none" strike="noStrike">
                <a:solidFill>
                  <a:srgbClr val="6B7280"/>
                </a:solidFill>
                <a:latin typeface="Calibri"/>
                <a:ea typeface="Calibri"/>
                <a:cs typeface="Calibri"/>
                <a:sym typeface="Calibri"/>
              </a:rPr>
              <a:t>.</a:t>
            </a:r>
            <a:endParaRPr b="0" i="0" sz="1500" u="none" cap="none" strike="noStrike">
              <a:solidFill>
                <a:schemeClr val="dk1"/>
              </a:solidFill>
              <a:latin typeface="Calibri"/>
              <a:ea typeface="Calibri"/>
              <a:cs typeface="Calibri"/>
              <a:sym typeface="Calibri"/>
            </a:endParaRPr>
          </a:p>
        </p:txBody>
      </p:sp>
      <p:graphicFrame>
        <p:nvGraphicFramePr>
          <p:cNvPr id="639" name="Google Shape;639;p38"/>
          <p:cNvGraphicFramePr/>
          <p:nvPr/>
        </p:nvGraphicFramePr>
        <p:xfrm>
          <a:off x="6807957" y="1417320"/>
          <a:ext cx="3000000" cy="3000000"/>
        </p:xfrm>
        <a:graphic>
          <a:graphicData uri="http://schemas.openxmlformats.org/drawingml/2006/table">
            <a:tbl>
              <a:tblPr>
                <a:noFill/>
                <a:tableStyleId>{5790C458-BB61-4800-A068-DD2F3961D878}</a:tableStyleId>
              </a:tblPr>
              <a:tblGrid>
                <a:gridCol w="1934050"/>
                <a:gridCol w="2901050"/>
              </a:tblGrid>
              <a:tr h="365375">
                <a:tc>
                  <a:txBody>
                    <a:bodyPr/>
                    <a:lstStyle/>
                    <a:p>
                      <a:pPr indent="0" lvl="0" marL="0" marR="0" rtl="0" algn="l">
                        <a:spcBef>
                          <a:spcPts val="0"/>
                        </a:spcBef>
                        <a:spcAft>
                          <a:spcPts val="0"/>
                        </a:spcAft>
                        <a:buClr>
                          <a:srgbClr val="FFFFFF"/>
                        </a:buClr>
                        <a:buSzPts val="1500"/>
                        <a:buFont typeface="Calibri"/>
                        <a:buNone/>
                      </a:pPr>
                      <a:r>
                        <a:rPr b="1" lang="en-US" sz="1500" u="none" cap="none" strike="noStrike">
                          <a:solidFill>
                            <a:srgbClr val="FFFFFF"/>
                          </a:solidFill>
                          <a:latin typeface="Calibri"/>
                          <a:ea typeface="Calibri"/>
                          <a:cs typeface="Calibri"/>
                          <a:sym typeface="Calibri"/>
                        </a:rPr>
                        <a:t>Option</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1F3A5F"/>
                    </a:solidFill>
                  </a:tcPr>
                </a:tc>
                <a:tc>
                  <a:txBody>
                    <a:bodyPr/>
                    <a:lstStyle/>
                    <a:p>
                      <a:pPr indent="0" lvl="0" marL="0" marR="0" rtl="0" algn="l">
                        <a:spcBef>
                          <a:spcPts val="0"/>
                        </a:spcBef>
                        <a:spcAft>
                          <a:spcPts val="0"/>
                        </a:spcAft>
                        <a:buClr>
                          <a:srgbClr val="FFFFFF"/>
                        </a:buClr>
                        <a:buSzPts val="1500"/>
                        <a:buFont typeface="Calibri"/>
                        <a:buNone/>
                      </a:pPr>
                      <a:r>
                        <a:rPr b="1" lang="en-US" sz="1500" u="none" cap="none" strike="noStrike">
                          <a:solidFill>
                            <a:srgbClr val="FFFFFF"/>
                          </a:solidFill>
                          <a:latin typeface="Calibri"/>
                          <a:ea typeface="Calibri"/>
                          <a:cs typeface="Calibri"/>
                          <a:sym typeface="Calibri"/>
                        </a:rPr>
                        <a:t>Quand</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1F3A5F"/>
                    </a:solidFill>
                  </a:tcPr>
                </a:tc>
              </a:tr>
              <a:tr h="584450">
                <a:tc>
                  <a:txBody>
                    <a:bodyPr/>
                    <a:lstStyle/>
                    <a:p>
                      <a:pPr indent="0" lvl="0" marL="0" marR="0" rtl="0" algn="l">
                        <a:spcBef>
                          <a:spcPts val="0"/>
                        </a:spcBef>
                        <a:spcAft>
                          <a:spcPts val="0"/>
                        </a:spcAft>
                        <a:buClr>
                          <a:srgbClr val="1F2933"/>
                        </a:buClr>
                        <a:buSzPts val="1500"/>
                        <a:buFont typeface="Calibri"/>
                        <a:buNone/>
                      </a:pPr>
                      <a:r>
                        <a:rPr b="1" lang="en-US" sz="1500" u="none" cap="none" strike="noStrike">
                          <a:solidFill>
                            <a:srgbClr val="1F2933"/>
                          </a:solidFill>
                          <a:latin typeface="Calibri"/>
                          <a:ea typeface="Calibri"/>
                          <a:cs typeface="Calibri"/>
                          <a:sym typeface="Calibri"/>
                        </a:rPr>
                        <a:t>Supprimer</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F2933"/>
                        </a:buClr>
                        <a:buSzPts val="1500"/>
                        <a:buFont typeface="Calibri"/>
                        <a:buNone/>
                      </a:pPr>
                      <a:r>
                        <a:rPr lang="en-US" sz="1500" u="none" cap="none" strike="noStrike">
                          <a:solidFill>
                            <a:srgbClr val="1F2933"/>
                          </a:solidFill>
                          <a:latin typeface="Calibri"/>
                          <a:ea typeface="Calibri"/>
                          <a:cs typeface="Calibri"/>
                          <a:sym typeface="Calibri"/>
                        </a:rPr>
                        <a:t>peu nombreuses et manifestement erronées</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FFFFF"/>
                    </a:solidFill>
                  </a:tcPr>
                </a:tc>
              </a:tr>
              <a:tr h="584450">
                <a:tc>
                  <a:txBody>
                    <a:bodyPr/>
                    <a:lstStyle/>
                    <a:p>
                      <a:pPr indent="0" lvl="0" marL="0" marR="0" rtl="0" algn="l">
                        <a:spcBef>
                          <a:spcPts val="0"/>
                        </a:spcBef>
                        <a:spcAft>
                          <a:spcPts val="0"/>
                        </a:spcAft>
                        <a:buClr>
                          <a:srgbClr val="1F2933"/>
                        </a:buClr>
                        <a:buSzPts val="1500"/>
                        <a:buFont typeface="Calibri"/>
                        <a:buNone/>
                      </a:pPr>
                      <a:r>
                        <a:rPr b="1" lang="en-US" sz="1500" u="none" cap="none" strike="noStrike">
                          <a:solidFill>
                            <a:srgbClr val="1F2933"/>
                          </a:solidFill>
                          <a:latin typeface="Calibri"/>
                          <a:ea typeface="Calibri"/>
                          <a:cs typeface="Calibri"/>
                          <a:sym typeface="Calibri"/>
                        </a:rPr>
                        <a:t>Rendre manquantes</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7F9FB"/>
                    </a:solidFill>
                  </a:tcPr>
                </a:tc>
                <a:tc>
                  <a:txBody>
                    <a:bodyPr/>
                    <a:lstStyle/>
                    <a:p>
                      <a:pPr indent="0" lvl="0" marL="0" marR="0" rtl="0" algn="l">
                        <a:spcBef>
                          <a:spcPts val="0"/>
                        </a:spcBef>
                        <a:spcAft>
                          <a:spcPts val="0"/>
                        </a:spcAft>
                        <a:buClr>
                          <a:srgbClr val="1F2933"/>
                        </a:buClr>
                        <a:buSzPts val="1500"/>
                        <a:buFont typeface="Calibri"/>
                        <a:buNone/>
                      </a:pPr>
                      <a:r>
                        <a:rPr lang="en-US" sz="1500" u="none" cap="none" strike="noStrike">
                          <a:solidFill>
                            <a:srgbClr val="1F2933"/>
                          </a:solidFill>
                          <a:latin typeface="Calibri"/>
                          <a:ea typeface="Calibri"/>
                          <a:cs typeface="Calibri"/>
                          <a:sym typeface="Calibri"/>
                        </a:rPr>
                        <a:t>puis appliquer une stratégie de remplissage</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7F9FB"/>
                    </a:solidFill>
                  </a:tcPr>
                </a:tc>
              </a:tr>
              <a:tr h="803525">
                <a:tc>
                  <a:txBody>
                    <a:bodyPr/>
                    <a:lstStyle/>
                    <a:p>
                      <a:pPr indent="0" lvl="0" marL="0" marR="0" rtl="0" algn="l">
                        <a:spcBef>
                          <a:spcPts val="0"/>
                        </a:spcBef>
                        <a:spcAft>
                          <a:spcPts val="0"/>
                        </a:spcAft>
                        <a:buClr>
                          <a:srgbClr val="1F2933"/>
                        </a:buClr>
                        <a:buSzPts val="1500"/>
                        <a:buFont typeface="Calibri"/>
                        <a:buNone/>
                      </a:pPr>
                      <a:r>
                        <a:rPr b="1" lang="en-US" sz="1500" u="none" cap="none" strike="noStrike">
                          <a:solidFill>
                            <a:srgbClr val="1F2933"/>
                          </a:solidFill>
                          <a:latin typeface="Calibri"/>
                          <a:ea typeface="Calibri"/>
                          <a:cs typeface="Calibri"/>
                          <a:sym typeface="Calibri"/>
                        </a:rPr>
                        <a:t>Signaler</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F2933"/>
                        </a:buClr>
                        <a:buSzPts val="1500"/>
                        <a:buFont typeface="Calibri"/>
                        <a:buNone/>
                      </a:pPr>
                      <a:r>
                        <a:rPr lang="en-US" sz="1500" u="none" cap="none" strike="noStrike">
                          <a:solidFill>
                            <a:srgbClr val="1F2933"/>
                          </a:solidFill>
                          <a:latin typeface="Calibri"/>
                          <a:ea typeface="Calibri"/>
                          <a:cs typeface="Calibri"/>
                          <a:sym typeface="Calibri"/>
                        </a:rPr>
                        <a:t>quand on ne peut pas trancher : 480 unités peut être une vraie commande</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FFFFF"/>
                    </a:solidFill>
                  </a:tcPr>
                </a:tc>
              </a:tr>
            </a:tbl>
          </a:graphicData>
        </a:graphic>
      </p:graphicFrame>
      <p:sp>
        <p:nvSpPr>
          <p:cNvPr id="640" name="Google Shape;640;p38"/>
          <p:cNvSpPr txBox="1"/>
          <p:nvPr/>
        </p:nvSpPr>
        <p:spPr>
          <a:xfrm>
            <a:off x="548640" y="6400800"/>
            <a:ext cx="73152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B7280"/>
              </a:buClr>
              <a:buSzPts val="1000"/>
              <a:buFont typeface="Calibri"/>
              <a:buNone/>
            </a:pPr>
            <a:r>
              <a:rPr b="0" i="0" lang="en-US" sz="1000" u="none" cap="none" strike="noStrike">
                <a:solidFill>
                  <a:srgbClr val="6B7280"/>
                </a:solidFill>
                <a:latin typeface="Calibri"/>
                <a:ea typeface="Calibri"/>
                <a:cs typeface="Calibri"/>
                <a:sym typeface="Calibri"/>
              </a:rPr>
              <a:t>Analyse de données avec Python   |   Jour 1, après-midi</a:t>
            </a:r>
            <a:endParaRPr b="0" i="0" sz="1000" u="none" cap="none" strike="noStrike">
              <a:solidFill>
                <a:schemeClr val="dk1"/>
              </a:solidFill>
              <a:latin typeface="Calibri"/>
              <a:ea typeface="Calibri"/>
              <a:cs typeface="Calibri"/>
              <a:sym typeface="Calibri"/>
            </a:endParaRPr>
          </a:p>
        </p:txBody>
      </p:sp>
      <p:sp>
        <p:nvSpPr>
          <p:cNvPr id="641" name="Google Shape;641;p38"/>
          <p:cNvSpPr txBox="1"/>
          <p:nvPr>
            <p:ph idx="4294967295" type="sldNum"/>
          </p:nvPr>
        </p:nvSpPr>
        <p:spPr>
          <a:xfrm>
            <a:off x="11094415" y="6400800"/>
            <a:ext cx="548640" cy="27432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000" u="none" cap="none" strike="noStrike">
                <a:solidFill>
                  <a:srgbClr val="6B7280"/>
                </a:solidFill>
                <a:latin typeface="Calibri"/>
                <a:ea typeface="Calibri"/>
                <a:cs typeface="Calibri"/>
                <a:sym typeface="Calibri"/>
              </a:rPr>
              <a:t>‹#›</a:t>
            </a:fld>
            <a:endParaRPr b="0" i="0" sz="1000" u="none" cap="none" strike="noStrike">
              <a:solidFill>
                <a:srgbClr val="6B7280"/>
              </a:solidFill>
              <a:latin typeface="Calibri"/>
              <a:ea typeface="Calibri"/>
              <a:cs typeface="Calibri"/>
              <a:sym typeface="Calibri"/>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46" name="Shape 646"/>
        <p:cNvGrpSpPr/>
        <p:nvPr/>
      </p:nvGrpSpPr>
      <p:grpSpPr>
        <a:xfrm>
          <a:off x="0" y="0"/>
          <a:ext cx="0" cy="0"/>
          <a:chOff x="0" y="0"/>
          <a:chExt cx="0" cy="0"/>
        </a:xfrm>
      </p:grpSpPr>
      <p:sp>
        <p:nvSpPr>
          <p:cNvPr id="647" name="Google Shape;647;p39"/>
          <p:cNvSpPr/>
          <p:nvPr/>
        </p:nvSpPr>
        <p:spPr>
          <a:xfrm>
            <a:off x="548640" y="566928"/>
            <a:ext cx="475488" cy="475488"/>
          </a:xfrm>
          <a:prstGeom prst="ellipse">
            <a:avLst/>
          </a:prstGeom>
          <a:solidFill>
            <a:srgbClr val="2F7D6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8" name="Google Shape;648;p39"/>
          <p:cNvSpPr txBox="1"/>
          <p:nvPr/>
        </p:nvSpPr>
        <p:spPr>
          <a:xfrm>
            <a:off x="548640" y="566928"/>
            <a:ext cx="475488" cy="47548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5</a:t>
            </a:r>
            <a:endParaRPr b="0" i="0" sz="1600" u="none" cap="none" strike="noStrike">
              <a:solidFill>
                <a:schemeClr val="dk1"/>
              </a:solidFill>
              <a:latin typeface="Calibri"/>
              <a:ea typeface="Calibri"/>
              <a:cs typeface="Calibri"/>
              <a:sym typeface="Calibri"/>
            </a:endParaRPr>
          </a:p>
        </p:txBody>
      </p:sp>
      <p:sp>
        <p:nvSpPr>
          <p:cNvPr id="649" name="Google Shape;649;p39"/>
          <p:cNvSpPr txBox="1"/>
          <p:nvPr/>
        </p:nvSpPr>
        <p:spPr>
          <a:xfrm>
            <a:off x="1280160" y="164592"/>
            <a:ext cx="10362895"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F7D62"/>
              </a:buClr>
              <a:buSzPts val="1200"/>
              <a:buFont typeface="Calibri"/>
              <a:buNone/>
            </a:pPr>
            <a:r>
              <a:rPr b="1" i="0" lang="en-US" sz="1200" u="none" cap="none" strike="noStrike">
                <a:solidFill>
                  <a:srgbClr val="2F7D62"/>
                </a:solidFill>
                <a:latin typeface="Calibri"/>
                <a:ea typeface="Calibri"/>
                <a:cs typeface="Calibri"/>
                <a:sym typeface="Calibri"/>
              </a:rPr>
              <a:t>VALEURS MANQUANTES, ABERRANTES ET DOUBLONS</a:t>
            </a:r>
            <a:endParaRPr b="0" i="0" sz="1200" u="none" cap="none" strike="noStrike">
              <a:solidFill>
                <a:schemeClr val="dk1"/>
              </a:solidFill>
              <a:latin typeface="Calibri"/>
              <a:ea typeface="Calibri"/>
              <a:cs typeface="Calibri"/>
              <a:sym typeface="Calibri"/>
            </a:endParaRPr>
          </a:p>
        </p:txBody>
      </p:sp>
      <p:sp>
        <p:nvSpPr>
          <p:cNvPr id="650" name="Google Shape;650;p39"/>
          <p:cNvSpPr txBox="1"/>
          <p:nvPr/>
        </p:nvSpPr>
        <p:spPr>
          <a:xfrm>
            <a:off x="1280160" y="457200"/>
            <a:ext cx="10362895" cy="6949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F3A5F"/>
              </a:buClr>
              <a:buSzPts val="3000"/>
              <a:buFont typeface="Cambria"/>
              <a:buNone/>
            </a:pPr>
            <a:r>
              <a:rPr b="1" i="0" lang="en-US" sz="3000" u="none" cap="none" strike="noStrike">
                <a:solidFill>
                  <a:srgbClr val="1F3A5F"/>
                </a:solidFill>
                <a:latin typeface="Cambria"/>
                <a:ea typeface="Cambria"/>
                <a:cs typeface="Cambria"/>
                <a:sym typeface="Cambria"/>
              </a:rPr>
              <a:t>Les doublons</a:t>
            </a:r>
            <a:endParaRPr b="0" i="0" sz="3000" u="none" cap="none" strike="noStrike">
              <a:solidFill>
                <a:schemeClr val="dk1"/>
              </a:solidFill>
              <a:latin typeface="Calibri"/>
              <a:ea typeface="Calibri"/>
              <a:cs typeface="Calibri"/>
              <a:sym typeface="Calibri"/>
            </a:endParaRPr>
          </a:p>
        </p:txBody>
      </p:sp>
      <p:sp>
        <p:nvSpPr>
          <p:cNvPr id="651" name="Google Shape;651;p39"/>
          <p:cNvSpPr/>
          <p:nvPr/>
        </p:nvSpPr>
        <p:spPr>
          <a:xfrm>
            <a:off x="548640" y="1417320"/>
            <a:ext cx="5802117" cy="2090928"/>
          </a:xfrm>
          <a:prstGeom prst="rect">
            <a:avLst/>
          </a:prstGeom>
          <a:solidFill>
            <a:srgbClr val="F3F4F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2" name="Google Shape;652;p39"/>
          <p:cNvSpPr txBox="1"/>
          <p:nvPr/>
        </p:nvSpPr>
        <p:spPr>
          <a:xfrm>
            <a:off x="731520" y="1563624"/>
            <a:ext cx="5436357" cy="1798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F2933"/>
              </a:buClr>
              <a:buSzPts val="1200"/>
              <a:buFont typeface="Courier New"/>
              <a:buNone/>
            </a:pPr>
            <a:r>
              <a:rPr b="0" i="0" lang="en-US" sz="1200" u="none" cap="none" strike="noStrike">
                <a:solidFill>
                  <a:srgbClr val="1F2933"/>
                </a:solidFill>
                <a:latin typeface="Courier New"/>
                <a:ea typeface="Courier New"/>
                <a:cs typeface="Courier New"/>
                <a:sym typeface="Courier New"/>
              </a:rPr>
              <a:t>df.duplicated().sum()           # 2</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F2933"/>
              </a:buClr>
              <a:buSzPts val="1200"/>
              <a:buFont typeface="Courier New"/>
              <a:buNone/>
            </a:pPr>
            <a:r>
              <a:rPr b="0" i="0" lang="en-US" sz="1200" u="none" cap="none" strike="noStrike">
                <a:solidFill>
                  <a:srgbClr val="1F2933"/>
                </a:solidFill>
                <a:latin typeface="Courier New"/>
                <a:ea typeface="Courier New"/>
                <a:cs typeface="Courier New"/>
                <a:sym typeface="Courier New"/>
              </a:rPr>
              <a:t>df[df.duplicated(keep=False)]   # toutes les occurrences</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F2933"/>
              </a:buClr>
              <a:buSzPts val="1200"/>
              <a:buFont typeface="Courier New"/>
              <a:buNone/>
            </a:pPr>
            <a:r>
              <a:rPr b="0" i="0" lang="en-US" sz="1200" u="none" cap="none" strike="noStrike">
                <a:solidFill>
                  <a:srgbClr val="1F2933"/>
                </a:solidFill>
                <a:latin typeface="Courier New"/>
                <a:ea typeface="Courier New"/>
                <a:cs typeface="Courier New"/>
                <a:sym typeface="Courier New"/>
              </a:rPr>
              <a:t>df = df.drop_duplicates()</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F2933"/>
              </a:buClr>
              <a:buSzPts val="1200"/>
              <a:buFont typeface="Courier New"/>
              <a:buNone/>
            </a:pPr>
            <a:r>
              <a:rPr b="0" i="0" lang="en-US" sz="1200" u="none" cap="none" strike="noStrike">
                <a:solidFill>
                  <a:srgbClr val="1F2933"/>
                </a:solidFill>
                <a:latin typeface="Courier New"/>
                <a:ea typeface="Courier New"/>
                <a:cs typeface="Courier New"/>
                <a:sym typeface="Courier New"/>
              </a:rPr>
              <a:t> </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F2933"/>
              </a:buClr>
              <a:buSzPts val="1200"/>
              <a:buFont typeface="Courier New"/>
              <a:buNone/>
            </a:pPr>
            <a:r>
              <a:rPr b="0" i="0" lang="en-US" sz="1200" u="none" cap="none" strike="noStrike">
                <a:solidFill>
                  <a:srgbClr val="1F2933"/>
                </a:solidFill>
                <a:latin typeface="Courier New"/>
                <a:ea typeface="Courier New"/>
                <a:cs typeface="Courier New"/>
                <a:sym typeface="Courier New"/>
              </a:rPr>
              <a:t>df.duplicated(subset=["id_commande"]).sum()</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F2933"/>
              </a:buClr>
              <a:buSzPts val="1200"/>
              <a:buFont typeface="Courier New"/>
              <a:buNone/>
            </a:pPr>
            <a:r>
              <a:rPr b="0" i="0" lang="en-US" sz="1200" u="none" cap="none" strike="noStrike">
                <a:solidFill>
                  <a:srgbClr val="1F2933"/>
                </a:solidFill>
                <a:latin typeface="Courier New"/>
                <a:ea typeface="Courier New"/>
                <a:cs typeface="Courier New"/>
                <a:sym typeface="Courier New"/>
              </a:rPr>
              <a:t>df["id_commande"].is_unique</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F2933"/>
              </a:buClr>
              <a:buSzPts val="1200"/>
              <a:buFont typeface="Courier New"/>
              <a:buNone/>
            </a:pPr>
            <a:r>
              <a:rPr b="0" i="0" lang="en-US" sz="1200" u="none" cap="none" strike="noStrike">
                <a:solidFill>
                  <a:srgbClr val="1F2933"/>
                </a:solidFill>
                <a:latin typeface="Courier New"/>
                <a:ea typeface="Courier New"/>
                <a:cs typeface="Courier New"/>
                <a:sym typeface="Courier New"/>
              </a:rPr>
              <a:t> </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B7280"/>
              </a:buClr>
              <a:buSzPts val="1200"/>
              <a:buFont typeface="Courier New"/>
              <a:buNone/>
            </a:pPr>
            <a:r>
              <a:rPr b="0" i="0" lang="en-US" sz="1200" u="none" cap="none" strike="noStrike">
                <a:solidFill>
                  <a:srgbClr val="6B7280"/>
                </a:solidFill>
                <a:latin typeface="Courier New"/>
                <a:ea typeface="Courier New"/>
                <a:cs typeface="Courier New"/>
                <a:sym typeface="Courier New"/>
              </a:rPr>
              <a:t># même identifiant : garder la dernière ligne</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F2933"/>
              </a:buClr>
              <a:buSzPts val="1200"/>
              <a:buFont typeface="Courier New"/>
              <a:buNone/>
            </a:pPr>
            <a:r>
              <a:rPr b="0" i="0" lang="en-US" sz="1200" u="none" cap="none" strike="noStrike">
                <a:solidFill>
                  <a:srgbClr val="1F2933"/>
                </a:solidFill>
                <a:latin typeface="Courier New"/>
                <a:ea typeface="Courier New"/>
                <a:cs typeface="Courier New"/>
                <a:sym typeface="Courier New"/>
              </a:rPr>
              <a:t>df.drop_duplicates(subset=["id_commande"],</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F2933"/>
              </a:buClr>
              <a:buSzPts val="1200"/>
              <a:buFont typeface="Courier New"/>
              <a:buNone/>
            </a:pPr>
            <a:r>
              <a:rPr b="0" i="0" lang="en-US" sz="1200" u="none" cap="none" strike="noStrike">
                <a:solidFill>
                  <a:srgbClr val="1F2933"/>
                </a:solidFill>
                <a:latin typeface="Courier New"/>
                <a:ea typeface="Courier New"/>
                <a:cs typeface="Courier New"/>
                <a:sym typeface="Courier New"/>
              </a:rPr>
              <a:t>                   keep="last")</a:t>
            </a:r>
            <a:endParaRPr b="0" i="0" sz="1200" u="none" cap="none" strike="noStrike">
              <a:solidFill>
                <a:schemeClr val="dk1"/>
              </a:solidFill>
              <a:latin typeface="Calibri"/>
              <a:ea typeface="Calibri"/>
              <a:cs typeface="Calibri"/>
              <a:sym typeface="Calibri"/>
            </a:endParaRPr>
          </a:p>
        </p:txBody>
      </p:sp>
      <p:sp>
        <p:nvSpPr>
          <p:cNvPr id="653" name="Google Shape;653;p39"/>
          <p:cNvSpPr txBox="1"/>
          <p:nvPr/>
        </p:nvSpPr>
        <p:spPr>
          <a:xfrm>
            <a:off x="6807957" y="1417320"/>
            <a:ext cx="4835098" cy="2209800"/>
          </a:xfrm>
          <a:prstGeom prst="rect">
            <a:avLst/>
          </a:prstGeom>
          <a:noFill/>
          <a:ln>
            <a:noFill/>
          </a:ln>
        </p:spPr>
        <p:txBody>
          <a:bodyPr anchorCtr="0" anchor="t" bIns="0" lIns="0" spcFirstLastPara="1" rIns="0" wrap="square" tIns="0">
            <a:noAutofit/>
          </a:bodyPr>
          <a:lstStyle/>
          <a:p>
            <a:pPr indent="-254000" lvl="0" marL="254000" marR="0" rtl="0" algn="l">
              <a:spcBef>
                <a:spcPts val="0"/>
              </a:spcBef>
              <a:spcAft>
                <a:spcPts val="0"/>
              </a:spcAft>
              <a:buClr>
                <a:srgbClr val="1F2933"/>
              </a:buClr>
              <a:buSzPts val="1700"/>
              <a:buFont typeface="Calibri"/>
              <a:buChar char="•"/>
            </a:pPr>
            <a:r>
              <a:rPr b="0" i="0" lang="en-US" sz="1700" u="none" cap="none" strike="noStrike">
                <a:solidFill>
                  <a:srgbClr val="1F2933"/>
                </a:solidFill>
                <a:latin typeface="Calibri"/>
                <a:ea typeface="Calibri"/>
                <a:cs typeface="Calibri"/>
                <a:sym typeface="Calibri"/>
              </a:rPr>
              <a:t>Par défaut : toutes les colonnes comparées, la première occurrence conservée</a:t>
            </a:r>
            <a:endParaRPr b="0" i="0" sz="1700" u="none" cap="none" strike="noStrike">
              <a:solidFill>
                <a:schemeClr val="dk1"/>
              </a:solidFill>
              <a:latin typeface="Calibri"/>
              <a:ea typeface="Calibri"/>
              <a:cs typeface="Calibri"/>
              <a:sym typeface="Calibri"/>
            </a:endParaRPr>
          </a:p>
          <a:p>
            <a:pPr indent="0" lvl="0" marL="0" marR="0" rtl="0" algn="l">
              <a:spcBef>
                <a:spcPts val="800"/>
              </a:spcBef>
              <a:spcAft>
                <a:spcPts val="0"/>
              </a:spcAft>
              <a:buClr>
                <a:srgbClr val="1F3A5F"/>
              </a:buClr>
              <a:buSzPts val="1700"/>
              <a:buFont typeface="Courier New"/>
              <a:buNone/>
            </a:pPr>
            <a:r>
              <a:rPr b="0" i="0" lang="en-US" sz="1700" u="none" cap="none" strike="noStrike">
                <a:solidFill>
                  <a:srgbClr val="1F3A5F"/>
                </a:solidFill>
                <a:latin typeface="Courier New"/>
                <a:ea typeface="Courier New"/>
                <a:cs typeface="Courier New"/>
                <a:sym typeface="Courier New"/>
              </a:rPr>
              <a:t>subset</a:t>
            </a:r>
            <a:r>
              <a:rPr b="0" i="0" lang="en-US" sz="1700" u="none" cap="none" strike="noStrike">
                <a:solidFill>
                  <a:srgbClr val="1F2933"/>
                </a:solidFill>
                <a:latin typeface="Calibri"/>
                <a:ea typeface="Calibri"/>
                <a:cs typeface="Calibri"/>
                <a:sym typeface="Calibri"/>
              </a:rPr>
              <a:t> : vérifier qu'une </a:t>
            </a:r>
            <a:r>
              <a:rPr b="1" i="0" lang="en-US" sz="1700" u="none" cap="none" strike="noStrike">
                <a:solidFill>
                  <a:srgbClr val="1F2933"/>
                </a:solidFill>
                <a:latin typeface="Calibri"/>
                <a:ea typeface="Calibri"/>
                <a:cs typeface="Calibri"/>
                <a:sym typeface="Calibri"/>
              </a:rPr>
              <a:t>clé</a:t>
            </a:r>
            <a:r>
              <a:rPr b="0" i="0" lang="en-US" sz="1700" u="none" cap="none" strike="noStrike">
                <a:solidFill>
                  <a:srgbClr val="1F2933"/>
                </a:solidFill>
                <a:latin typeface="Calibri"/>
                <a:ea typeface="Calibri"/>
                <a:cs typeface="Calibri"/>
                <a:sym typeface="Calibri"/>
              </a:rPr>
              <a:t> est unique</a:t>
            </a:r>
            <a:endParaRPr b="0" i="0" sz="1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1F2933"/>
              </a:buClr>
              <a:buSzPts val="1700"/>
              <a:buFont typeface="Calibri"/>
              <a:buNone/>
            </a:pPr>
            <a:r>
              <a:rPr b="0" i="0" lang="en-US" sz="1700" u="none" cap="none" strike="noStrike">
                <a:solidFill>
                  <a:srgbClr val="1F2933"/>
                </a:solidFill>
                <a:latin typeface="Calibri"/>
                <a:ea typeface="Calibri"/>
                <a:cs typeface="Calibri"/>
                <a:sym typeface="Calibri"/>
              </a:rPr>
              <a:t>Même identifiant, lignes différentes : une commande corrigée ? Choisir laquelle garder, par exemple la plus récente avec </a:t>
            </a:r>
            <a:r>
              <a:rPr b="0" i="0" lang="en-US" sz="1700" u="none" cap="none" strike="noStrike">
                <a:solidFill>
                  <a:srgbClr val="1F3A5F"/>
                </a:solidFill>
                <a:latin typeface="Courier New"/>
                <a:ea typeface="Courier New"/>
                <a:cs typeface="Courier New"/>
                <a:sym typeface="Courier New"/>
              </a:rPr>
              <a:t>keep="last"</a:t>
            </a:r>
            <a:r>
              <a:rPr b="0" i="0" lang="en-US" sz="1700" u="none" cap="none" strike="noStrike">
                <a:solidFill>
                  <a:srgbClr val="1F2933"/>
                </a:solidFill>
                <a:latin typeface="Calibri"/>
                <a:ea typeface="Calibri"/>
                <a:cs typeface="Calibri"/>
                <a:sym typeface="Calibri"/>
              </a:rPr>
              <a:t> après un tri</a:t>
            </a:r>
            <a:endParaRPr b="0" i="0" sz="1700" u="none" cap="none" strike="noStrike">
              <a:solidFill>
                <a:schemeClr val="dk1"/>
              </a:solidFill>
              <a:latin typeface="Calibri"/>
              <a:ea typeface="Calibri"/>
              <a:cs typeface="Calibri"/>
              <a:sym typeface="Calibri"/>
            </a:endParaRPr>
          </a:p>
        </p:txBody>
      </p:sp>
      <p:sp>
        <p:nvSpPr>
          <p:cNvPr id="654" name="Google Shape;654;p39"/>
          <p:cNvSpPr txBox="1"/>
          <p:nvPr/>
        </p:nvSpPr>
        <p:spPr>
          <a:xfrm>
            <a:off x="548640" y="6400800"/>
            <a:ext cx="73152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B7280"/>
              </a:buClr>
              <a:buSzPts val="1000"/>
              <a:buFont typeface="Calibri"/>
              <a:buNone/>
            </a:pPr>
            <a:r>
              <a:rPr b="0" i="0" lang="en-US" sz="1000" u="none" cap="none" strike="noStrike">
                <a:solidFill>
                  <a:srgbClr val="6B7280"/>
                </a:solidFill>
                <a:latin typeface="Calibri"/>
                <a:ea typeface="Calibri"/>
                <a:cs typeface="Calibri"/>
                <a:sym typeface="Calibri"/>
              </a:rPr>
              <a:t>Analyse de données avec Python   |   Jour 1, après-midi</a:t>
            </a:r>
            <a:endParaRPr b="0" i="0" sz="1000" u="none" cap="none" strike="noStrike">
              <a:solidFill>
                <a:schemeClr val="dk1"/>
              </a:solidFill>
              <a:latin typeface="Calibri"/>
              <a:ea typeface="Calibri"/>
              <a:cs typeface="Calibri"/>
              <a:sym typeface="Calibri"/>
            </a:endParaRPr>
          </a:p>
        </p:txBody>
      </p:sp>
      <p:sp>
        <p:nvSpPr>
          <p:cNvPr id="655" name="Google Shape;655;p39"/>
          <p:cNvSpPr txBox="1"/>
          <p:nvPr>
            <p:ph idx="4294967295" type="sldNum"/>
          </p:nvPr>
        </p:nvSpPr>
        <p:spPr>
          <a:xfrm>
            <a:off x="11094415" y="6400800"/>
            <a:ext cx="548640" cy="27432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000" u="none" cap="none" strike="noStrike">
                <a:solidFill>
                  <a:srgbClr val="6B7280"/>
                </a:solidFill>
                <a:latin typeface="Calibri"/>
                <a:ea typeface="Calibri"/>
                <a:cs typeface="Calibri"/>
                <a:sym typeface="Calibri"/>
              </a:rPr>
              <a:t>‹#›</a:t>
            </a:fld>
            <a:endParaRPr b="0" i="0" sz="1000" u="none" cap="none" strike="noStrike">
              <a:solidFill>
                <a:srgbClr val="6B7280"/>
              </a:solidFill>
              <a:latin typeface="Calibri"/>
              <a:ea typeface="Calibri"/>
              <a:cs typeface="Calibri"/>
              <a:sym typeface="Calibri"/>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60" name="Shape 660"/>
        <p:cNvGrpSpPr/>
        <p:nvPr/>
      </p:nvGrpSpPr>
      <p:grpSpPr>
        <a:xfrm>
          <a:off x="0" y="0"/>
          <a:ext cx="0" cy="0"/>
          <a:chOff x="0" y="0"/>
          <a:chExt cx="0" cy="0"/>
        </a:xfrm>
      </p:grpSpPr>
      <p:sp>
        <p:nvSpPr>
          <p:cNvPr id="661" name="Google Shape;661;p40"/>
          <p:cNvSpPr/>
          <p:nvPr/>
        </p:nvSpPr>
        <p:spPr>
          <a:xfrm>
            <a:off x="548640" y="566928"/>
            <a:ext cx="475488" cy="475488"/>
          </a:xfrm>
          <a:prstGeom prst="ellipse">
            <a:avLst/>
          </a:prstGeom>
          <a:solidFill>
            <a:srgbClr val="2F7D6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2" name="Google Shape;662;p40"/>
          <p:cNvSpPr txBox="1"/>
          <p:nvPr/>
        </p:nvSpPr>
        <p:spPr>
          <a:xfrm>
            <a:off x="548640" y="566928"/>
            <a:ext cx="475488" cy="47548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5</a:t>
            </a:r>
            <a:endParaRPr b="0" i="0" sz="1600" u="none" cap="none" strike="noStrike">
              <a:solidFill>
                <a:schemeClr val="dk1"/>
              </a:solidFill>
              <a:latin typeface="Calibri"/>
              <a:ea typeface="Calibri"/>
              <a:cs typeface="Calibri"/>
              <a:sym typeface="Calibri"/>
            </a:endParaRPr>
          </a:p>
        </p:txBody>
      </p:sp>
      <p:sp>
        <p:nvSpPr>
          <p:cNvPr id="663" name="Google Shape;663;p40"/>
          <p:cNvSpPr txBox="1"/>
          <p:nvPr/>
        </p:nvSpPr>
        <p:spPr>
          <a:xfrm>
            <a:off x="1280160" y="164592"/>
            <a:ext cx="10362895"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F7D62"/>
              </a:buClr>
              <a:buSzPts val="1200"/>
              <a:buFont typeface="Calibri"/>
              <a:buNone/>
            </a:pPr>
            <a:r>
              <a:rPr b="1" i="0" lang="en-US" sz="1200" u="none" cap="none" strike="noStrike">
                <a:solidFill>
                  <a:srgbClr val="2F7D62"/>
                </a:solidFill>
                <a:latin typeface="Calibri"/>
                <a:ea typeface="Calibri"/>
                <a:cs typeface="Calibri"/>
                <a:sym typeface="Calibri"/>
              </a:rPr>
              <a:t>VALEURS MANQUANTES, ABERRANTES ET DOUBLONS</a:t>
            </a:r>
            <a:endParaRPr b="0" i="0" sz="1200" u="none" cap="none" strike="noStrike">
              <a:solidFill>
                <a:schemeClr val="dk1"/>
              </a:solidFill>
              <a:latin typeface="Calibri"/>
              <a:ea typeface="Calibri"/>
              <a:cs typeface="Calibri"/>
              <a:sym typeface="Calibri"/>
            </a:endParaRPr>
          </a:p>
        </p:txBody>
      </p:sp>
      <p:sp>
        <p:nvSpPr>
          <p:cNvPr id="664" name="Google Shape;664;p40"/>
          <p:cNvSpPr txBox="1"/>
          <p:nvPr/>
        </p:nvSpPr>
        <p:spPr>
          <a:xfrm>
            <a:off x="1280160" y="457200"/>
            <a:ext cx="10362895" cy="6949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F3A5F"/>
              </a:buClr>
              <a:buSzPts val="3000"/>
              <a:buFont typeface="Cambria"/>
              <a:buNone/>
            </a:pPr>
            <a:r>
              <a:rPr b="1" i="0" lang="en-US" sz="3000" u="none" cap="none" strike="noStrike">
                <a:solidFill>
                  <a:srgbClr val="1F3A5F"/>
                </a:solidFill>
                <a:latin typeface="Cambria"/>
                <a:ea typeface="Cambria"/>
                <a:cs typeface="Cambria"/>
                <a:sym typeface="Cambria"/>
              </a:rPr>
              <a:t>Pratique : TP2, partie 5</a:t>
            </a:r>
            <a:endParaRPr b="0" i="0" sz="3000" u="none" cap="none" strike="noStrike">
              <a:solidFill>
                <a:schemeClr val="dk1"/>
              </a:solidFill>
              <a:latin typeface="Calibri"/>
              <a:ea typeface="Calibri"/>
              <a:cs typeface="Calibri"/>
              <a:sym typeface="Calibri"/>
            </a:endParaRPr>
          </a:p>
        </p:txBody>
      </p:sp>
      <p:sp>
        <p:nvSpPr>
          <p:cNvPr id="665" name="Google Shape;665;p40"/>
          <p:cNvSpPr txBox="1"/>
          <p:nvPr/>
        </p:nvSpPr>
        <p:spPr>
          <a:xfrm>
            <a:off x="548640" y="1417320"/>
            <a:ext cx="11094415" cy="6858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B7280"/>
              </a:buClr>
              <a:buSzPts val="1800"/>
              <a:buFont typeface="Calibri"/>
              <a:buNone/>
            </a:pPr>
            <a:r>
              <a:rPr b="0" i="0" lang="en-US" sz="1800" u="none" cap="none" strike="noStrike">
                <a:solidFill>
                  <a:srgbClr val="6B7280"/>
                </a:solidFill>
                <a:latin typeface="Calibri"/>
                <a:ea typeface="Calibri"/>
                <a:cs typeface="Calibri"/>
                <a:sym typeface="Calibri"/>
              </a:rPr>
              <a:t>Des relevés de magasin avec des trous, un capteur en panne, un fichier clients avec des doublons</a:t>
            </a:r>
            <a:endParaRPr b="0" i="0" sz="1800" u="none" cap="none" strike="noStrike">
              <a:solidFill>
                <a:schemeClr val="dk1"/>
              </a:solidFill>
              <a:latin typeface="Calibri"/>
              <a:ea typeface="Calibri"/>
              <a:cs typeface="Calibri"/>
              <a:sym typeface="Calibri"/>
            </a:endParaRPr>
          </a:p>
        </p:txBody>
      </p:sp>
      <p:graphicFrame>
        <p:nvGraphicFramePr>
          <p:cNvPr id="666" name="Google Shape;666;p40"/>
          <p:cNvGraphicFramePr/>
          <p:nvPr/>
        </p:nvGraphicFramePr>
        <p:xfrm>
          <a:off x="548640" y="2286000"/>
          <a:ext cx="3000000" cy="3000000"/>
        </p:xfrm>
        <a:graphic>
          <a:graphicData uri="http://schemas.openxmlformats.org/drawingml/2006/table">
            <a:tbl>
              <a:tblPr>
                <a:noFill/>
                <a:tableStyleId>{5790C458-BB61-4800-A068-DD2F3961D878}</a:tableStyleId>
              </a:tblPr>
              <a:tblGrid>
                <a:gridCol w="2289325"/>
                <a:gridCol w="8805100"/>
              </a:tblGrid>
              <a:tr h="379975">
                <a:tc>
                  <a:txBody>
                    <a:bodyPr/>
                    <a:lstStyle/>
                    <a:p>
                      <a:pPr indent="0" lvl="0" marL="0" marR="0" rtl="0" algn="l">
                        <a:spcBef>
                          <a:spcPts val="0"/>
                        </a:spcBef>
                        <a:spcAft>
                          <a:spcPts val="0"/>
                        </a:spcAft>
                        <a:buClr>
                          <a:srgbClr val="FFFFFF"/>
                        </a:buClr>
                        <a:buSzPts val="1600"/>
                        <a:buFont typeface="Calibri"/>
                        <a:buNone/>
                      </a:pPr>
                      <a:r>
                        <a:rPr b="1" lang="en-US" sz="1600" u="none" cap="none" strike="noStrike">
                          <a:solidFill>
                            <a:srgbClr val="FFFFFF"/>
                          </a:solidFill>
                          <a:latin typeface="Calibri"/>
                          <a:ea typeface="Calibri"/>
                          <a:cs typeface="Calibri"/>
                          <a:sym typeface="Calibri"/>
                        </a:rPr>
                        <a:t>Questions</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1F3A5F"/>
                    </a:solidFill>
                  </a:tcPr>
                </a:tc>
                <a:tc>
                  <a:txBody>
                    <a:bodyPr/>
                    <a:lstStyle/>
                    <a:p>
                      <a:pPr indent="0" lvl="0" marL="0" marR="0" rtl="0" algn="l">
                        <a:spcBef>
                          <a:spcPts val="0"/>
                        </a:spcBef>
                        <a:spcAft>
                          <a:spcPts val="0"/>
                        </a:spcAft>
                        <a:buClr>
                          <a:srgbClr val="FFFFFF"/>
                        </a:buClr>
                        <a:buSzPts val="1600"/>
                        <a:buFont typeface="Calibri"/>
                        <a:buNone/>
                      </a:pPr>
                      <a:r>
                        <a:rPr b="1" lang="en-US" sz="1600" u="none" cap="none" strike="noStrike">
                          <a:solidFill>
                            <a:srgbClr val="FFFFFF"/>
                          </a:solidFill>
                          <a:latin typeface="Calibri"/>
                          <a:ea typeface="Calibri"/>
                          <a:cs typeface="Calibri"/>
                          <a:sym typeface="Calibri"/>
                        </a:rPr>
                        <a:t>Ce qu'on pratique</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1F3A5F"/>
                    </a:solidFill>
                  </a:tcPr>
                </a:tc>
              </a:tr>
              <a:tr h="379975">
                <a:tc>
                  <a:txBody>
                    <a:bodyPr/>
                    <a:lstStyle/>
                    <a:p>
                      <a:pPr indent="0" lvl="0" marL="0" marR="0" rtl="0" algn="l">
                        <a:spcBef>
                          <a:spcPts val="0"/>
                        </a:spcBef>
                        <a:spcAft>
                          <a:spcPts val="0"/>
                        </a:spcAft>
                        <a:buClr>
                          <a:srgbClr val="1F2933"/>
                        </a:buClr>
                        <a:buSzPts val="1600"/>
                        <a:buFont typeface="Calibri"/>
                        <a:buNone/>
                      </a:pPr>
                      <a:r>
                        <a:rPr b="1" lang="en-US" sz="1600" u="none" cap="none" strike="noStrike">
                          <a:solidFill>
                            <a:srgbClr val="1F2933"/>
                          </a:solidFill>
                          <a:latin typeface="Calibri"/>
                          <a:ea typeface="Calibri"/>
                          <a:cs typeface="Calibri"/>
                          <a:sym typeface="Calibri"/>
                        </a:rPr>
                        <a:t>5.1</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F2933"/>
                        </a:buClr>
                        <a:buSzPts val="1600"/>
                        <a:buFont typeface="Calibri"/>
                        <a:buNone/>
                      </a:pPr>
                      <a:r>
                        <a:rPr lang="en-US" sz="1600" u="none" cap="none" strike="noStrike">
                          <a:solidFill>
                            <a:srgbClr val="1F2933"/>
                          </a:solidFill>
                          <a:latin typeface="Calibri"/>
                          <a:ea typeface="Calibri"/>
                          <a:cs typeface="Calibri"/>
                          <a:sym typeface="Calibri"/>
                        </a:rPr>
                        <a:t>compter les valeurs manquantes et leur proportion par colonne</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FFFFF"/>
                    </a:solidFill>
                  </a:tcPr>
                </a:tc>
              </a:tr>
              <a:tr h="379975">
                <a:tc>
                  <a:txBody>
                    <a:bodyPr/>
                    <a:lstStyle/>
                    <a:p>
                      <a:pPr indent="0" lvl="0" marL="0" marR="0" rtl="0" algn="l">
                        <a:spcBef>
                          <a:spcPts val="0"/>
                        </a:spcBef>
                        <a:spcAft>
                          <a:spcPts val="0"/>
                        </a:spcAft>
                        <a:buClr>
                          <a:srgbClr val="1F2933"/>
                        </a:buClr>
                        <a:buSzPts val="1600"/>
                        <a:buFont typeface="Calibri"/>
                        <a:buNone/>
                      </a:pPr>
                      <a:r>
                        <a:rPr b="1" lang="en-US" sz="1600" u="none" cap="none" strike="noStrike">
                          <a:solidFill>
                            <a:srgbClr val="1F2933"/>
                          </a:solidFill>
                          <a:latin typeface="Calibri"/>
                          <a:ea typeface="Calibri"/>
                          <a:cs typeface="Calibri"/>
                          <a:sym typeface="Calibri"/>
                        </a:rPr>
                        <a:t>5.2 et 5.3</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7F9FB"/>
                    </a:solidFill>
                  </a:tcPr>
                </a:tc>
                <a:tc>
                  <a:txBody>
                    <a:bodyPr/>
                    <a:lstStyle/>
                    <a:p>
                      <a:pPr indent="0" lvl="0" marL="0" marR="0" rtl="0" algn="l">
                        <a:spcBef>
                          <a:spcPts val="0"/>
                        </a:spcBef>
                        <a:spcAft>
                          <a:spcPts val="0"/>
                        </a:spcAft>
                        <a:buClr>
                          <a:srgbClr val="1F2933"/>
                        </a:buClr>
                        <a:buSzPts val="1600"/>
                        <a:buFont typeface="Calibri"/>
                        <a:buNone/>
                      </a:pPr>
                      <a:r>
                        <a:rPr lang="en-US" sz="1600" u="none" cap="none" strike="noStrike">
                          <a:solidFill>
                            <a:srgbClr val="1F2933"/>
                          </a:solidFill>
                          <a:latin typeface="Calibri"/>
                          <a:ea typeface="Calibri"/>
                          <a:cs typeface="Calibri"/>
                          <a:sym typeface="Calibri"/>
                        </a:rPr>
                        <a:t>interpolation, propagation, valeur fixe ; </a:t>
                      </a:r>
                      <a:r>
                        <a:rPr lang="en-US" sz="1600" u="none" cap="none" strike="noStrike">
                          <a:solidFill>
                            <a:srgbClr val="1F3A5F"/>
                          </a:solidFill>
                          <a:latin typeface="Courier New"/>
                          <a:ea typeface="Courier New"/>
                          <a:cs typeface="Courier New"/>
                          <a:sym typeface="Courier New"/>
                        </a:rPr>
                        <a:t>dropna</a:t>
                      </a:r>
                      <a:r>
                        <a:rPr lang="en-US" sz="1600" u="none" cap="none" strike="noStrike">
                          <a:solidFill>
                            <a:srgbClr val="1F2933"/>
                          </a:solidFill>
                          <a:latin typeface="Calibri"/>
                          <a:ea typeface="Calibri"/>
                          <a:cs typeface="Calibri"/>
                          <a:sym typeface="Calibri"/>
                        </a:rPr>
                        <a:t> avec ou sans </a:t>
                      </a:r>
                      <a:r>
                        <a:rPr lang="en-US" sz="1600" u="none" cap="none" strike="noStrike">
                          <a:solidFill>
                            <a:srgbClr val="1F3A5F"/>
                          </a:solidFill>
                          <a:latin typeface="Courier New"/>
                          <a:ea typeface="Courier New"/>
                          <a:cs typeface="Courier New"/>
                          <a:sym typeface="Courier New"/>
                        </a:rPr>
                        <a:t>subset</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7F9FB"/>
                    </a:solidFill>
                  </a:tcPr>
                </a:tc>
              </a:tr>
              <a:tr h="379975">
                <a:tc>
                  <a:txBody>
                    <a:bodyPr/>
                    <a:lstStyle/>
                    <a:p>
                      <a:pPr indent="0" lvl="0" marL="0" marR="0" rtl="0" algn="l">
                        <a:spcBef>
                          <a:spcPts val="0"/>
                        </a:spcBef>
                        <a:spcAft>
                          <a:spcPts val="0"/>
                        </a:spcAft>
                        <a:buClr>
                          <a:srgbClr val="1F2933"/>
                        </a:buClr>
                        <a:buSzPts val="1600"/>
                        <a:buFont typeface="Calibri"/>
                        <a:buNone/>
                      </a:pPr>
                      <a:r>
                        <a:rPr b="1" lang="en-US" sz="1600" u="none" cap="none" strike="noStrike">
                          <a:solidFill>
                            <a:srgbClr val="1F2933"/>
                          </a:solidFill>
                          <a:latin typeface="Calibri"/>
                          <a:ea typeface="Calibri"/>
                          <a:cs typeface="Calibri"/>
                          <a:sym typeface="Calibri"/>
                        </a:rPr>
                        <a:t>5.4</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F2933"/>
                        </a:buClr>
                        <a:buSzPts val="1600"/>
                        <a:buFont typeface="Calibri"/>
                        <a:buNone/>
                      </a:pPr>
                      <a:r>
                        <a:rPr lang="en-US" sz="1600" u="none" cap="none" strike="noStrike">
                          <a:solidFill>
                            <a:srgbClr val="1F2933"/>
                          </a:solidFill>
                          <a:latin typeface="Calibri"/>
                          <a:ea typeface="Calibri"/>
                          <a:cs typeface="Calibri"/>
                          <a:sym typeface="Calibri"/>
                        </a:rPr>
                        <a:t>rendre manquantes des mesures impossibles avec </a:t>
                      </a:r>
                      <a:r>
                        <a:rPr lang="en-US" sz="1600" u="none" cap="none" strike="noStrike">
                          <a:solidFill>
                            <a:srgbClr val="1F3A5F"/>
                          </a:solidFill>
                          <a:latin typeface="Courier New"/>
                          <a:ea typeface="Courier New"/>
                          <a:cs typeface="Courier New"/>
                          <a:sym typeface="Courier New"/>
                        </a:rPr>
                        <a:t>mask</a:t>
                      </a:r>
                      <a:r>
                        <a:rPr lang="en-US" sz="1600" u="none" cap="none" strike="noStrike">
                          <a:solidFill>
                            <a:srgbClr val="1F2933"/>
                          </a:solidFill>
                          <a:latin typeface="Calibri"/>
                          <a:ea typeface="Calibri"/>
                          <a:cs typeface="Calibri"/>
                          <a:sym typeface="Calibri"/>
                        </a:rPr>
                        <a:t>, remplir avec la médiane</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FFFFF"/>
                    </a:solidFill>
                  </a:tcPr>
                </a:tc>
              </a:tr>
              <a:tr h="379975">
                <a:tc>
                  <a:txBody>
                    <a:bodyPr/>
                    <a:lstStyle/>
                    <a:p>
                      <a:pPr indent="0" lvl="0" marL="0" marR="0" rtl="0" algn="l">
                        <a:spcBef>
                          <a:spcPts val="0"/>
                        </a:spcBef>
                        <a:spcAft>
                          <a:spcPts val="0"/>
                        </a:spcAft>
                        <a:buClr>
                          <a:srgbClr val="1F2933"/>
                        </a:buClr>
                        <a:buSzPts val="1600"/>
                        <a:buFont typeface="Calibri"/>
                        <a:buNone/>
                      </a:pPr>
                      <a:r>
                        <a:rPr b="1" lang="en-US" sz="1600" u="none" cap="none" strike="noStrike">
                          <a:solidFill>
                            <a:srgbClr val="1F2933"/>
                          </a:solidFill>
                          <a:latin typeface="Calibri"/>
                          <a:ea typeface="Calibri"/>
                          <a:cs typeface="Calibri"/>
                          <a:sym typeface="Calibri"/>
                        </a:rPr>
                        <a:t>5.5</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7F9FB"/>
                    </a:solidFill>
                  </a:tcPr>
                </a:tc>
                <a:tc>
                  <a:txBody>
                    <a:bodyPr/>
                    <a:lstStyle/>
                    <a:p>
                      <a:pPr indent="0" lvl="0" marL="0" marR="0" rtl="0" algn="l">
                        <a:spcBef>
                          <a:spcPts val="0"/>
                        </a:spcBef>
                        <a:spcAft>
                          <a:spcPts val="0"/>
                        </a:spcAft>
                        <a:buClr>
                          <a:srgbClr val="1F2933"/>
                        </a:buClr>
                        <a:buSzPts val="1600"/>
                        <a:buFont typeface="Calibri"/>
                        <a:buNone/>
                      </a:pPr>
                      <a:r>
                        <a:rPr lang="en-US" sz="1600" u="none" cap="none" strike="noStrike">
                          <a:solidFill>
                            <a:srgbClr val="1F2933"/>
                          </a:solidFill>
                          <a:latin typeface="Calibri"/>
                          <a:ea typeface="Calibri"/>
                          <a:cs typeface="Calibri"/>
                          <a:sym typeface="Calibri"/>
                        </a:rPr>
                        <a:t>doublons exacts, doublons d'identifiant, garder la dernière ligne</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7F9FB"/>
                    </a:solidFill>
                  </a:tcPr>
                </a:tc>
              </a:tr>
            </a:tbl>
          </a:graphicData>
        </a:graphic>
      </p:graphicFrame>
      <p:sp>
        <p:nvSpPr>
          <p:cNvPr id="667" name="Google Shape;667;p40"/>
          <p:cNvSpPr txBox="1"/>
          <p:nvPr/>
        </p:nvSpPr>
        <p:spPr>
          <a:xfrm>
            <a:off x="548640" y="6400800"/>
            <a:ext cx="73152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B7280"/>
              </a:buClr>
              <a:buSzPts val="1000"/>
              <a:buFont typeface="Calibri"/>
              <a:buNone/>
            </a:pPr>
            <a:r>
              <a:rPr b="0" i="0" lang="en-US" sz="1000" u="none" cap="none" strike="noStrike">
                <a:solidFill>
                  <a:srgbClr val="6B7280"/>
                </a:solidFill>
                <a:latin typeface="Calibri"/>
                <a:ea typeface="Calibri"/>
                <a:cs typeface="Calibri"/>
                <a:sym typeface="Calibri"/>
              </a:rPr>
              <a:t>Analyse de données avec Python   |   Jour 1, après-midi</a:t>
            </a:r>
            <a:endParaRPr b="0" i="0" sz="1000" u="none" cap="none" strike="noStrike">
              <a:solidFill>
                <a:schemeClr val="dk1"/>
              </a:solidFill>
              <a:latin typeface="Calibri"/>
              <a:ea typeface="Calibri"/>
              <a:cs typeface="Calibri"/>
              <a:sym typeface="Calibri"/>
            </a:endParaRPr>
          </a:p>
        </p:txBody>
      </p:sp>
      <p:sp>
        <p:nvSpPr>
          <p:cNvPr id="668" name="Google Shape;668;p40"/>
          <p:cNvSpPr txBox="1"/>
          <p:nvPr>
            <p:ph idx="4294967295" type="sldNum"/>
          </p:nvPr>
        </p:nvSpPr>
        <p:spPr>
          <a:xfrm>
            <a:off x="11094415" y="6400800"/>
            <a:ext cx="548640" cy="27432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000" u="none" cap="none" strike="noStrike">
                <a:solidFill>
                  <a:srgbClr val="6B7280"/>
                </a:solidFill>
                <a:latin typeface="Calibri"/>
                <a:ea typeface="Calibri"/>
                <a:cs typeface="Calibri"/>
                <a:sym typeface="Calibri"/>
              </a:rPr>
              <a:t>‹#›</a:t>
            </a:fld>
            <a:endParaRPr b="0" i="0" sz="1000" u="none" cap="none" strike="noStrike">
              <a:solidFill>
                <a:srgbClr val="6B7280"/>
              </a:solidFill>
              <a:latin typeface="Calibri"/>
              <a:ea typeface="Calibri"/>
              <a:cs typeface="Calibri"/>
              <a:sym typeface="Calibri"/>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F3A5F"/>
        </a:solidFill>
      </p:bgPr>
    </p:bg>
    <p:spTree>
      <p:nvGrpSpPr>
        <p:cNvPr id="673" name="Shape 673"/>
        <p:cNvGrpSpPr/>
        <p:nvPr/>
      </p:nvGrpSpPr>
      <p:grpSpPr>
        <a:xfrm>
          <a:off x="0" y="0"/>
          <a:ext cx="0" cy="0"/>
          <a:chOff x="0" y="0"/>
          <a:chExt cx="0" cy="0"/>
        </a:xfrm>
      </p:grpSpPr>
      <p:sp>
        <p:nvSpPr>
          <p:cNvPr id="674" name="Google Shape;674;p41"/>
          <p:cNvSpPr txBox="1"/>
          <p:nvPr/>
        </p:nvSpPr>
        <p:spPr>
          <a:xfrm>
            <a:off x="731520" y="1737360"/>
            <a:ext cx="2743200" cy="11887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FD1B5"/>
              </a:buClr>
              <a:buSzPts val="8000"/>
              <a:buFont typeface="Cambria"/>
              <a:buNone/>
            </a:pPr>
            <a:r>
              <a:rPr b="1" i="0" lang="en-US" sz="8000" u="none" cap="none" strike="noStrike">
                <a:solidFill>
                  <a:srgbClr val="8FD1B5"/>
                </a:solidFill>
                <a:latin typeface="Cambria"/>
                <a:ea typeface="Cambria"/>
                <a:cs typeface="Cambria"/>
                <a:sym typeface="Cambria"/>
              </a:rPr>
              <a:t>06</a:t>
            </a:r>
            <a:endParaRPr b="0" i="0" sz="8000" u="none" cap="none" strike="noStrike">
              <a:solidFill>
                <a:schemeClr val="dk1"/>
              </a:solidFill>
              <a:latin typeface="Calibri"/>
              <a:ea typeface="Calibri"/>
              <a:cs typeface="Calibri"/>
              <a:sym typeface="Calibri"/>
            </a:endParaRPr>
          </a:p>
        </p:txBody>
      </p:sp>
      <p:sp>
        <p:nvSpPr>
          <p:cNvPr id="675" name="Google Shape;675;p41"/>
          <p:cNvSpPr txBox="1"/>
          <p:nvPr/>
        </p:nvSpPr>
        <p:spPr>
          <a:xfrm>
            <a:off x="731520" y="3017520"/>
            <a:ext cx="10515600" cy="8229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FFFFFF"/>
              </a:buClr>
              <a:buSzPts val="4000"/>
              <a:buFont typeface="Cambria"/>
              <a:buNone/>
            </a:pPr>
            <a:r>
              <a:rPr b="1" i="0" lang="en-US" sz="4000" u="none" cap="none" strike="noStrike">
                <a:solidFill>
                  <a:srgbClr val="FFFFFF"/>
                </a:solidFill>
                <a:latin typeface="Cambria"/>
                <a:ea typeface="Cambria"/>
                <a:cs typeface="Cambria"/>
                <a:sym typeface="Cambria"/>
              </a:rPr>
              <a:t>Trier, renommer, gérer l'index</a:t>
            </a:r>
            <a:endParaRPr b="0" i="0" sz="4000" u="none" cap="none" strike="noStrike">
              <a:solidFill>
                <a:schemeClr val="dk1"/>
              </a:solidFill>
              <a:latin typeface="Calibri"/>
              <a:ea typeface="Calibri"/>
              <a:cs typeface="Calibri"/>
              <a:sym typeface="Calibri"/>
            </a:endParaRPr>
          </a:p>
        </p:txBody>
      </p:sp>
      <p:sp>
        <p:nvSpPr>
          <p:cNvPr id="676" name="Google Shape;676;p41"/>
          <p:cNvSpPr txBox="1"/>
          <p:nvPr/>
        </p:nvSpPr>
        <p:spPr>
          <a:xfrm>
            <a:off x="731520" y="3977640"/>
            <a:ext cx="10515600" cy="5486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C9D6E3"/>
              </a:buClr>
              <a:buSzPts val="2000"/>
              <a:buFont typeface="Calibri"/>
              <a:buNone/>
            </a:pPr>
            <a:r>
              <a:rPr b="0" i="0" lang="en-US" sz="2000" u="none" cap="none" strike="noStrike">
                <a:solidFill>
                  <a:srgbClr val="C9D6E3"/>
                </a:solidFill>
                <a:latin typeface="Calibri"/>
                <a:ea typeface="Calibri"/>
                <a:cs typeface="Calibri"/>
                <a:sym typeface="Calibri"/>
              </a:rPr>
              <a:t>sort_values   |   rename   |   set_index et reset_index</a:t>
            </a:r>
            <a:endParaRPr b="0" i="0" sz="2000" u="none" cap="none" strike="noStrike">
              <a:solidFill>
                <a:schemeClr val="dk1"/>
              </a:solidFill>
              <a:latin typeface="Calibri"/>
              <a:ea typeface="Calibri"/>
              <a:cs typeface="Calibri"/>
              <a:sym typeface="Calibri"/>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81" name="Shape 681"/>
        <p:cNvGrpSpPr/>
        <p:nvPr/>
      </p:nvGrpSpPr>
      <p:grpSpPr>
        <a:xfrm>
          <a:off x="0" y="0"/>
          <a:ext cx="0" cy="0"/>
          <a:chOff x="0" y="0"/>
          <a:chExt cx="0" cy="0"/>
        </a:xfrm>
      </p:grpSpPr>
      <p:sp>
        <p:nvSpPr>
          <p:cNvPr id="682" name="Google Shape;682;p42"/>
          <p:cNvSpPr/>
          <p:nvPr/>
        </p:nvSpPr>
        <p:spPr>
          <a:xfrm>
            <a:off x="548640" y="566928"/>
            <a:ext cx="475488" cy="475488"/>
          </a:xfrm>
          <a:prstGeom prst="ellipse">
            <a:avLst/>
          </a:prstGeom>
          <a:solidFill>
            <a:srgbClr val="2F7D6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3" name="Google Shape;683;p42"/>
          <p:cNvSpPr txBox="1"/>
          <p:nvPr/>
        </p:nvSpPr>
        <p:spPr>
          <a:xfrm>
            <a:off x="548640" y="566928"/>
            <a:ext cx="475488" cy="47548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6</a:t>
            </a:r>
            <a:endParaRPr b="0" i="0" sz="1600" u="none" cap="none" strike="noStrike">
              <a:solidFill>
                <a:schemeClr val="dk1"/>
              </a:solidFill>
              <a:latin typeface="Calibri"/>
              <a:ea typeface="Calibri"/>
              <a:cs typeface="Calibri"/>
              <a:sym typeface="Calibri"/>
            </a:endParaRPr>
          </a:p>
        </p:txBody>
      </p:sp>
      <p:sp>
        <p:nvSpPr>
          <p:cNvPr id="684" name="Google Shape;684;p42"/>
          <p:cNvSpPr txBox="1"/>
          <p:nvPr/>
        </p:nvSpPr>
        <p:spPr>
          <a:xfrm>
            <a:off x="1280160" y="164592"/>
            <a:ext cx="10362895"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F7D62"/>
              </a:buClr>
              <a:buSzPts val="1200"/>
              <a:buFont typeface="Calibri"/>
              <a:buNone/>
            </a:pPr>
            <a:r>
              <a:rPr b="1" i="0" lang="en-US" sz="1200" u="none" cap="none" strike="noStrike">
                <a:solidFill>
                  <a:srgbClr val="2F7D62"/>
                </a:solidFill>
                <a:latin typeface="Calibri"/>
                <a:ea typeface="Calibri"/>
                <a:cs typeface="Calibri"/>
                <a:sym typeface="Calibri"/>
              </a:rPr>
              <a:t>TRIER, RENOMMER, GÉRER L'INDEX</a:t>
            </a:r>
            <a:endParaRPr b="0" i="0" sz="1200" u="none" cap="none" strike="noStrike">
              <a:solidFill>
                <a:schemeClr val="dk1"/>
              </a:solidFill>
              <a:latin typeface="Calibri"/>
              <a:ea typeface="Calibri"/>
              <a:cs typeface="Calibri"/>
              <a:sym typeface="Calibri"/>
            </a:endParaRPr>
          </a:p>
        </p:txBody>
      </p:sp>
      <p:sp>
        <p:nvSpPr>
          <p:cNvPr id="685" name="Google Shape;685;p42"/>
          <p:cNvSpPr txBox="1"/>
          <p:nvPr/>
        </p:nvSpPr>
        <p:spPr>
          <a:xfrm>
            <a:off x="1280160" y="457200"/>
            <a:ext cx="10362895" cy="6949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F3A5F"/>
              </a:buClr>
              <a:buSzPts val="3000"/>
              <a:buFont typeface="Cambria"/>
              <a:buNone/>
            </a:pPr>
            <a:r>
              <a:rPr b="1" i="0" lang="en-US" sz="3000" u="none" cap="none" strike="noStrike">
                <a:solidFill>
                  <a:srgbClr val="1F3A5F"/>
                </a:solidFill>
                <a:latin typeface="Cambria"/>
                <a:ea typeface="Cambria"/>
                <a:cs typeface="Cambria"/>
                <a:sym typeface="Cambria"/>
              </a:rPr>
              <a:t>Trier</a:t>
            </a:r>
            <a:endParaRPr b="0" i="0" sz="3000" u="none" cap="none" strike="noStrike">
              <a:solidFill>
                <a:schemeClr val="dk1"/>
              </a:solidFill>
              <a:latin typeface="Calibri"/>
              <a:ea typeface="Calibri"/>
              <a:cs typeface="Calibri"/>
              <a:sym typeface="Calibri"/>
            </a:endParaRPr>
          </a:p>
        </p:txBody>
      </p:sp>
      <p:sp>
        <p:nvSpPr>
          <p:cNvPr id="686" name="Google Shape;686;p42"/>
          <p:cNvSpPr/>
          <p:nvPr/>
        </p:nvSpPr>
        <p:spPr>
          <a:xfrm>
            <a:off x="548640" y="1417320"/>
            <a:ext cx="5802117" cy="2090928"/>
          </a:xfrm>
          <a:prstGeom prst="rect">
            <a:avLst/>
          </a:prstGeom>
          <a:solidFill>
            <a:srgbClr val="F3F4F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7" name="Google Shape;687;p42"/>
          <p:cNvSpPr txBox="1"/>
          <p:nvPr/>
        </p:nvSpPr>
        <p:spPr>
          <a:xfrm>
            <a:off x="731520" y="1563624"/>
            <a:ext cx="5436357" cy="1798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F2933"/>
              </a:buClr>
              <a:buSzPts val="1500"/>
              <a:buFont typeface="Courier New"/>
              <a:buNone/>
            </a:pPr>
            <a:r>
              <a:rPr b="0" i="0" lang="en-US" sz="1500" u="none" cap="none" strike="noStrike">
                <a:solidFill>
                  <a:srgbClr val="1F2933"/>
                </a:solidFill>
                <a:latin typeface="Courier New"/>
                <a:ea typeface="Courier New"/>
                <a:cs typeface="Courier New"/>
                <a:sym typeface="Courier New"/>
              </a:rPr>
              <a:t>df.sort_values("quantite", ascending=False)</a:t>
            </a:r>
            <a:endParaRPr b="0" i="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F2933"/>
              </a:buClr>
              <a:buSzPts val="1500"/>
              <a:buFont typeface="Courier New"/>
              <a:buNone/>
            </a:pPr>
            <a:r>
              <a:rPr b="0" i="0" lang="en-US" sz="1500" u="none" cap="none" strike="noStrike">
                <a:solidFill>
                  <a:srgbClr val="1F2933"/>
                </a:solidFill>
                <a:latin typeface="Courier New"/>
                <a:ea typeface="Courier New"/>
                <a:cs typeface="Courier New"/>
                <a:sym typeface="Courier New"/>
              </a:rPr>
              <a:t> </a:t>
            </a:r>
            <a:endParaRPr b="0" i="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F2933"/>
              </a:buClr>
              <a:buSzPts val="1500"/>
              <a:buFont typeface="Courier New"/>
              <a:buNone/>
            </a:pPr>
            <a:r>
              <a:rPr b="0" i="0" lang="en-US" sz="1500" u="none" cap="none" strike="noStrike">
                <a:solidFill>
                  <a:srgbClr val="1F2933"/>
                </a:solidFill>
                <a:latin typeface="Courier New"/>
                <a:ea typeface="Courier New"/>
                <a:cs typeface="Courier New"/>
                <a:sym typeface="Courier New"/>
              </a:rPr>
              <a:t>df.sort_values(["categorie", "quantite"],</a:t>
            </a:r>
            <a:endParaRPr b="0" i="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F2933"/>
              </a:buClr>
              <a:buSzPts val="1500"/>
              <a:buFont typeface="Courier New"/>
              <a:buNone/>
            </a:pPr>
            <a:r>
              <a:rPr b="0" i="0" lang="en-US" sz="1500" u="none" cap="none" strike="noStrike">
                <a:solidFill>
                  <a:srgbClr val="1F2933"/>
                </a:solidFill>
                <a:latin typeface="Courier New"/>
                <a:ea typeface="Courier New"/>
                <a:cs typeface="Courier New"/>
                <a:sym typeface="Courier New"/>
              </a:rPr>
              <a:t>               ascending=[True, False])</a:t>
            </a:r>
            <a:endParaRPr b="0" i="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F2933"/>
              </a:buClr>
              <a:buSzPts val="1500"/>
              <a:buFont typeface="Courier New"/>
              <a:buNone/>
            </a:pPr>
            <a:r>
              <a:rPr b="0" i="0" lang="en-US" sz="1500" u="none" cap="none" strike="noStrike">
                <a:solidFill>
                  <a:srgbClr val="1F2933"/>
                </a:solidFill>
                <a:latin typeface="Courier New"/>
                <a:ea typeface="Courier New"/>
                <a:cs typeface="Courier New"/>
                <a:sym typeface="Courier New"/>
              </a:rPr>
              <a:t> </a:t>
            </a:r>
            <a:endParaRPr b="0" i="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F2933"/>
              </a:buClr>
              <a:buSzPts val="1500"/>
              <a:buFont typeface="Courier New"/>
              <a:buNone/>
            </a:pPr>
            <a:r>
              <a:rPr b="0" i="0" lang="en-US" sz="1500" u="none" cap="none" strike="noStrike">
                <a:solidFill>
                  <a:srgbClr val="1F2933"/>
                </a:solidFill>
                <a:latin typeface="Courier New"/>
                <a:ea typeface="Courier New"/>
                <a:cs typeface="Courier New"/>
                <a:sym typeface="Courier New"/>
              </a:rPr>
              <a:t>df.sort_index()</a:t>
            </a:r>
            <a:endParaRPr b="0" i="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F2933"/>
              </a:buClr>
              <a:buSzPts val="1500"/>
              <a:buFont typeface="Courier New"/>
              <a:buNone/>
            </a:pPr>
            <a:r>
              <a:rPr b="0" i="0" lang="en-US" sz="1500" u="none" cap="none" strike="noStrike">
                <a:solidFill>
                  <a:srgbClr val="1F2933"/>
                </a:solidFill>
                <a:latin typeface="Courier New"/>
                <a:ea typeface="Courier New"/>
                <a:cs typeface="Courier New"/>
                <a:sym typeface="Courier New"/>
              </a:rPr>
              <a:t> </a:t>
            </a:r>
            <a:endParaRPr b="0" i="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F2933"/>
              </a:buClr>
              <a:buSzPts val="1500"/>
              <a:buFont typeface="Courier New"/>
              <a:buNone/>
            </a:pPr>
            <a:r>
              <a:rPr b="0" i="0" lang="en-US" sz="1500" u="none" cap="none" strike="noStrike">
                <a:solidFill>
                  <a:srgbClr val="1F2933"/>
                </a:solidFill>
                <a:latin typeface="Courier New"/>
                <a:ea typeface="Courier New"/>
                <a:cs typeface="Courier New"/>
                <a:sym typeface="Courier New"/>
              </a:rPr>
              <a:t>df.nlargest(5, "quantite")</a:t>
            </a:r>
            <a:endParaRPr b="0" i="0" sz="1500" u="none" cap="none" strike="noStrike">
              <a:solidFill>
                <a:schemeClr val="dk1"/>
              </a:solidFill>
              <a:latin typeface="Calibri"/>
              <a:ea typeface="Calibri"/>
              <a:cs typeface="Calibri"/>
              <a:sym typeface="Calibri"/>
            </a:endParaRPr>
          </a:p>
        </p:txBody>
      </p:sp>
      <p:sp>
        <p:nvSpPr>
          <p:cNvPr id="688" name="Google Shape;688;p42"/>
          <p:cNvSpPr txBox="1"/>
          <p:nvPr/>
        </p:nvSpPr>
        <p:spPr>
          <a:xfrm>
            <a:off x="6807957" y="1417320"/>
            <a:ext cx="4835098" cy="1691640"/>
          </a:xfrm>
          <a:prstGeom prst="rect">
            <a:avLst/>
          </a:prstGeom>
          <a:noFill/>
          <a:ln>
            <a:noFill/>
          </a:ln>
        </p:spPr>
        <p:txBody>
          <a:bodyPr anchorCtr="0" anchor="t" bIns="0" lIns="0" spcFirstLastPara="1" rIns="0" wrap="square" tIns="0">
            <a:noAutofit/>
          </a:bodyPr>
          <a:lstStyle/>
          <a:p>
            <a:pPr indent="-254000" lvl="0" marL="254000" marR="0" rtl="0" algn="l">
              <a:spcBef>
                <a:spcPts val="0"/>
              </a:spcBef>
              <a:spcAft>
                <a:spcPts val="0"/>
              </a:spcAft>
              <a:buClr>
                <a:srgbClr val="1F2933"/>
              </a:buClr>
              <a:buSzPts val="1700"/>
              <a:buFont typeface="Calibri"/>
              <a:buChar char="•"/>
            </a:pPr>
            <a:r>
              <a:rPr b="0" i="0" lang="en-US" sz="1700" u="none" cap="none" strike="noStrike">
                <a:solidFill>
                  <a:srgbClr val="1F2933"/>
                </a:solidFill>
                <a:latin typeface="Calibri"/>
                <a:ea typeface="Calibri"/>
                <a:cs typeface="Calibri"/>
                <a:sym typeface="Calibri"/>
              </a:rPr>
              <a:t>Plusieurs colonnes : une liste de colonnes, une liste de sens</a:t>
            </a:r>
            <a:endParaRPr b="0" i="0" sz="1700" u="none" cap="none" strike="noStrike">
              <a:solidFill>
                <a:schemeClr val="dk1"/>
              </a:solidFill>
              <a:latin typeface="Calibri"/>
              <a:ea typeface="Calibri"/>
              <a:cs typeface="Calibri"/>
              <a:sym typeface="Calibri"/>
            </a:endParaRPr>
          </a:p>
          <a:p>
            <a:pPr indent="0" lvl="0" marL="0" marR="0" rtl="0" algn="l">
              <a:spcBef>
                <a:spcPts val="800"/>
              </a:spcBef>
              <a:spcAft>
                <a:spcPts val="0"/>
              </a:spcAft>
              <a:buClr>
                <a:srgbClr val="1F3A5F"/>
              </a:buClr>
              <a:buSzPts val="1700"/>
              <a:buFont typeface="Courier New"/>
              <a:buNone/>
            </a:pPr>
            <a:r>
              <a:rPr b="0" i="0" lang="en-US" sz="1700" u="none" cap="none" strike="noStrike">
                <a:solidFill>
                  <a:srgbClr val="1F3A5F"/>
                </a:solidFill>
                <a:latin typeface="Courier New"/>
                <a:ea typeface="Courier New"/>
                <a:cs typeface="Courier New"/>
                <a:sym typeface="Courier New"/>
              </a:rPr>
              <a:t>sort_index</a:t>
            </a:r>
            <a:r>
              <a:rPr b="0" i="0" lang="en-US" sz="1700" u="none" cap="none" strike="noStrike">
                <a:solidFill>
                  <a:srgbClr val="1F2933"/>
                </a:solidFill>
                <a:latin typeface="Calibri"/>
                <a:ea typeface="Calibri"/>
                <a:cs typeface="Calibri"/>
                <a:sym typeface="Calibri"/>
              </a:rPr>
              <a:t> rétablit l'ordre des labels</a:t>
            </a:r>
            <a:endParaRPr b="0" i="0" sz="1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1F3A5F"/>
              </a:buClr>
              <a:buSzPts val="1700"/>
              <a:buFont typeface="Courier New"/>
              <a:buNone/>
            </a:pPr>
            <a:r>
              <a:rPr b="0" i="0" lang="en-US" sz="1700" u="none" cap="none" strike="noStrike">
                <a:solidFill>
                  <a:srgbClr val="1F3A5F"/>
                </a:solidFill>
                <a:latin typeface="Courier New"/>
                <a:ea typeface="Courier New"/>
                <a:cs typeface="Courier New"/>
                <a:sym typeface="Courier New"/>
              </a:rPr>
              <a:t>nlargest</a:t>
            </a:r>
            <a:r>
              <a:rPr b="0" i="0" lang="en-US" sz="1700" u="none" cap="none" strike="noStrike">
                <a:solidFill>
                  <a:srgbClr val="1F2933"/>
                </a:solidFill>
                <a:latin typeface="Calibri"/>
                <a:ea typeface="Calibri"/>
                <a:cs typeface="Calibri"/>
                <a:sym typeface="Calibri"/>
              </a:rPr>
              <a:t> et </a:t>
            </a:r>
            <a:r>
              <a:rPr b="0" i="0" lang="en-US" sz="1700" u="none" cap="none" strike="noStrike">
                <a:solidFill>
                  <a:srgbClr val="1F3A5F"/>
                </a:solidFill>
                <a:latin typeface="Courier New"/>
                <a:ea typeface="Courier New"/>
                <a:cs typeface="Courier New"/>
                <a:sym typeface="Courier New"/>
              </a:rPr>
              <a:t>nsmallest</a:t>
            </a:r>
            <a:r>
              <a:rPr b="0" i="0" lang="en-US" sz="1700" u="none" cap="none" strike="noStrike">
                <a:solidFill>
                  <a:srgbClr val="1F2933"/>
                </a:solidFill>
                <a:latin typeface="Calibri"/>
                <a:ea typeface="Calibri"/>
                <a:cs typeface="Calibri"/>
                <a:sym typeface="Calibri"/>
              </a:rPr>
              <a:t> : les extrêmes en une ligne</a:t>
            </a:r>
            <a:endParaRPr b="0" i="0" sz="1700" u="none" cap="none" strike="noStrike">
              <a:solidFill>
                <a:schemeClr val="dk1"/>
              </a:solidFill>
              <a:latin typeface="Calibri"/>
              <a:ea typeface="Calibri"/>
              <a:cs typeface="Calibri"/>
              <a:sym typeface="Calibri"/>
            </a:endParaRPr>
          </a:p>
        </p:txBody>
      </p:sp>
      <p:sp>
        <p:nvSpPr>
          <p:cNvPr id="689" name="Google Shape;689;p42"/>
          <p:cNvSpPr txBox="1"/>
          <p:nvPr/>
        </p:nvSpPr>
        <p:spPr>
          <a:xfrm>
            <a:off x="548640" y="6400800"/>
            <a:ext cx="73152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B7280"/>
              </a:buClr>
              <a:buSzPts val="1000"/>
              <a:buFont typeface="Calibri"/>
              <a:buNone/>
            </a:pPr>
            <a:r>
              <a:rPr b="0" i="0" lang="en-US" sz="1000" u="none" cap="none" strike="noStrike">
                <a:solidFill>
                  <a:srgbClr val="6B7280"/>
                </a:solidFill>
                <a:latin typeface="Calibri"/>
                <a:ea typeface="Calibri"/>
                <a:cs typeface="Calibri"/>
                <a:sym typeface="Calibri"/>
              </a:rPr>
              <a:t>Analyse de données avec Python   |   Jour 1, après-midi</a:t>
            </a:r>
            <a:endParaRPr b="0" i="0" sz="1000" u="none" cap="none" strike="noStrike">
              <a:solidFill>
                <a:schemeClr val="dk1"/>
              </a:solidFill>
              <a:latin typeface="Calibri"/>
              <a:ea typeface="Calibri"/>
              <a:cs typeface="Calibri"/>
              <a:sym typeface="Calibri"/>
            </a:endParaRPr>
          </a:p>
        </p:txBody>
      </p:sp>
      <p:sp>
        <p:nvSpPr>
          <p:cNvPr id="690" name="Google Shape;690;p42"/>
          <p:cNvSpPr txBox="1"/>
          <p:nvPr>
            <p:ph idx="4294967295" type="sldNum"/>
          </p:nvPr>
        </p:nvSpPr>
        <p:spPr>
          <a:xfrm>
            <a:off x="11094415" y="6400800"/>
            <a:ext cx="548640" cy="27432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000" u="none" cap="none" strike="noStrike">
                <a:solidFill>
                  <a:srgbClr val="6B7280"/>
                </a:solidFill>
                <a:latin typeface="Calibri"/>
                <a:ea typeface="Calibri"/>
                <a:cs typeface="Calibri"/>
                <a:sym typeface="Calibri"/>
              </a:rPr>
              <a:t>‹#›</a:t>
            </a:fld>
            <a:endParaRPr b="0" i="0" sz="1000" u="none" cap="none" strike="noStrike">
              <a:solidFill>
                <a:srgbClr val="6B7280"/>
              </a:solidFill>
              <a:latin typeface="Calibri"/>
              <a:ea typeface="Calibri"/>
              <a:cs typeface="Calibri"/>
              <a:sym typeface="Calibri"/>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95" name="Shape 695"/>
        <p:cNvGrpSpPr/>
        <p:nvPr/>
      </p:nvGrpSpPr>
      <p:grpSpPr>
        <a:xfrm>
          <a:off x="0" y="0"/>
          <a:ext cx="0" cy="0"/>
          <a:chOff x="0" y="0"/>
          <a:chExt cx="0" cy="0"/>
        </a:xfrm>
      </p:grpSpPr>
      <p:sp>
        <p:nvSpPr>
          <p:cNvPr id="696" name="Google Shape;696;p43"/>
          <p:cNvSpPr/>
          <p:nvPr/>
        </p:nvSpPr>
        <p:spPr>
          <a:xfrm>
            <a:off x="548640" y="566928"/>
            <a:ext cx="475488" cy="475488"/>
          </a:xfrm>
          <a:prstGeom prst="ellipse">
            <a:avLst/>
          </a:prstGeom>
          <a:solidFill>
            <a:srgbClr val="2F7D6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7" name="Google Shape;697;p43"/>
          <p:cNvSpPr txBox="1"/>
          <p:nvPr/>
        </p:nvSpPr>
        <p:spPr>
          <a:xfrm>
            <a:off x="548640" y="566928"/>
            <a:ext cx="475488" cy="47548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6</a:t>
            </a:r>
            <a:endParaRPr b="0" i="0" sz="1600" u="none" cap="none" strike="noStrike">
              <a:solidFill>
                <a:schemeClr val="dk1"/>
              </a:solidFill>
              <a:latin typeface="Calibri"/>
              <a:ea typeface="Calibri"/>
              <a:cs typeface="Calibri"/>
              <a:sym typeface="Calibri"/>
            </a:endParaRPr>
          </a:p>
        </p:txBody>
      </p:sp>
      <p:sp>
        <p:nvSpPr>
          <p:cNvPr id="698" name="Google Shape;698;p43"/>
          <p:cNvSpPr txBox="1"/>
          <p:nvPr/>
        </p:nvSpPr>
        <p:spPr>
          <a:xfrm>
            <a:off x="1280160" y="164592"/>
            <a:ext cx="10362895"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F7D62"/>
              </a:buClr>
              <a:buSzPts val="1200"/>
              <a:buFont typeface="Calibri"/>
              <a:buNone/>
            </a:pPr>
            <a:r>
              <a:rPr b="1" i="0" lang="en-US" sz="1200" u="none" cap="none" strike="noStrike">
                <a:solidFill>
                  <a:srgbClr val="2F7D62"/>
                </a:solidFill>
                <a:latin typeface="Calibri"/>
                <a:ea typeface="Calibri"/>
                <a:cs typeface="Calibri"/>
                <a:sym typeface="Calibri"/>
              </a:rPr>
              <a:t>TRIER, RENOMMER, GÉRER L'INDEX</a:t>
            </a:r>
            <a:endParaRPr b="0" i="0" sz="1200" u="none" cap="none" strike="noStrike">
              <a:solidFill>
                <a:schemeClr val="dk1"/>
              </a:solidFill>
              <a:latin typeface="Calibri"/>
              <a:ea typeface="Calibri"/>
              <a:cs typeface="Calibri"/>
              <a:sym typeface="Calibri"/>
            </a:endParaRPr>
          </a:p>
        </p:txBody>
      </p:sp>
      <p:sp>
        <p:nvSpPr>
          <p:cNvPr id="699" name="Google Shape;699;p43"/>
          <p:cNvSpPr txBox="1"/>
          <p:nvPr/>
        </p:nvSpPr>
        <p:spPr>
          <a:xfrm>
            <a:off x="1280160" y="457200"/>
            <a:ext cx="10362895" cy="6949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F3A5F"/>
              </a:buClr>
              <a:buSzPts val="3000"/>
              <a:buFont typeface="Cambria"/>
              <a:buNone/>
            </a:pPr>
            <a:r>
              <a:rPr b="1" i="0" lang="en-US" sz="3000" u="none" cap="none" strike="noStrike">
                <a:solidFill>
                  <a:srgbClr val="1F3A5F"/>
                </a:solidFill>
                <a:latin typeface="Cambria"/>
                <a:ea typeface="Cambria"/>
                <a:cs typeface="Cambria"/>
                <a:sym typeface="Cambria"/>
              </a:rPr>
              <a:t>Harmoniser les noms de colonnes</a:t>
            </a:r>
            <a:endParaRPr b="0" i="0" sz="3000" u="none" cap="none" strike="noStrike">
              <a:solidFill>
                <a:schemeClr val="dk1"/>
              </a:solidFill>
              <a:latin typeface="Calibri"/>
              <a:ea typeface="Calibri"/>
              <a:cs typeface="Calibri"/>
              <a:sym typeface="Calibri"/>
            </a:endParaRPr>
          </a:p>
        </p:txBody>
      </p:sp>
      <p:sp>
        <p:nvSpPr>
          <p:cNvPr id="700" name="Google Shape;700;p43"/>
          <p:cNvSpPr/>
          <p:nvPr/>
        </p:nvSpPr>
        <p:spPr>
          <a:xfrm>
            <a:off x="548640" y="1417320"/>
            <a:ext cx="5802117" cy="2315718"/>
          </a:xfrm>
          <a:prstGeom prst="rect">
            <a:avLst/>
          </a:prstGeom>
          <a:solidFill>
            <a:srgbClr val="F3F4F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1" name="Google Shape;701;p43"/>
          <p:cNvSpPr txBox="1"/>
          <p:nvPr/>
        </p:nvSpPr>
        <p:spPr>
          <a:xfrm>
            <a:off x="731520" y="1563624"/>
            <a:ext cx="5436357" cy="202311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F2933"/>
              </a:buClr>
              <a:buSzPts val="1500"/>
              <a:buFont typeface="Courier New"/>
              <a:buNone/>
            </a:pPr>
            <a:r>
              <a:rPr b="0" i="0" lang="en-US" sz="1500" u="none" cap="none" strike="noStrike">
                <a:solidFill>
                  <a:srgbClr val="1F2933"/>
                </a:solidFill>
                <a:latin typeface="Courier New"/>
                <a:ea typeface="Courier New"/>
                <a:cs typeface="Courier New"/>
                <a:sym typeface="Courier New"/>
              </a:rPr>
              <a:t>df.columns = (</a:t>
            </a:r>
            <a:endParaRPr b="0" i="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F2933"/>
              </a:buClr>
              <a:buSzPts val="1500"/>
              <a:buFont typeface="Courier New"/>
              <a:buNone/>
            </a:pPr>
            <a:r>
              <a:rPr b="0" i="0" lang="en-US" sz="1500" u="none" cap="none" strike="noStrike">
                <a:solidFill>
                  <a:srgbClr val="1F2933"/>
                </a:solidFill>
                <a:latin typeface="Courier New"/>
                <a:ea typeface="Courier New"/>
                <a:cs typeface="Courier New"/>
                <a:sym typeface="Courier New"/>
              </a:rPr>
              <a:t>    df.columns</a:t>
            </a:r>
            <a:endParaRPr b="0" i="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F2933"/>
              </a:buClr>
              <a:buSzPts val="1500"/>
              <a:buFont typeface="Courier New"/>
              <a:buNone/>
            </a:pPr>
            <a:r>
              <a:rPr b="0" i="0" lang="en-US" sz="1500" u="none" cap="none" strike="noStrike">
                <a:solidFill>
                  <a:srgbClr val="1F2933"/>
                </a:solidFill>
                <a:latin typeface="Courier New"/>
                <a:ea typeface="Courier New"/>
                <a:cs typeface="Courier New"/>
                <a:sym typeface="Courier New"/>
              </a:rPr>
              <a:t>    .str.strip()</a:t>
            </a:r>
            <a:endParaRPr b="0" i="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F2933"/>
              </a:buClr>
              <a:buSzPts val="1500"/>
              <a:buFont typeface="Courier New"/>
              <a:buNone/>
            </a:pPr>
            <a:r>
              <a:rPr b="0" i="0" lang="en-US" sz="1500" u="none" cap="none" strike="noStrike">
                <a:solidFill>
                  <a:srgbClr val="1F2933"/>
                </a:solidFill>
                <a:latin typeface="Courier New"/>
                <a:ea typeface="Courier New"/>
                <a:cs typeface="Courier New"/>
                <a:sym typeface="Courier New"/>
              </a:rPr>
              <a:t>    .str.lower()</a:t>
            </a:r>
            <a:endParaRPr b="0" i="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F2933"/>
              </a:buClr>
              <a:buSzPts val="1500"/>
              <a:buFont typeface="Courier New"/>
              <a:buNone/>
            </a:pPr>
            <a:r>
              <a:rPr b="0" i="0" lang="en-US" sz="1500" u="none" cap="none" strike="noStrike">
                <a:solidFill>
                  <a:srgbClr val="1F2933"/>
                </a:solidFill>
                <a:latin typeface="Courier New"/>
                <a:ea typeface="Courier New"/>
                <a:cs typeface="Courier New"/>
                <a:sym typeface="Courier New"/>
              </a:rPr>
              <a:t>    .str.replace(" ", "_")</a:t>
            </a:r>
            <a:endParaRPr b="0" i="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F2933"/>
              </a:buClr>
              <a:buSzPts val="1500"/>
              <a:buFont typeface="Courier New"/>
              <a:buNone/>
            </a:pPr>
            <a:r>
              <a:rPr b="0" i="0" lang="en-US" sz="1500" u="none" cap="none" strike="noStrike">
                <a:solidFill>
                  <a:srgbClr val="1F2933"/>
                </a:solidFill>
                <a:latin typeface="Courier New"/>
                <a:ea typeface="Courier New"/>
                <a:cs typeface="Courier New"/>
                <a:sym typeface="Courier New"/>
              </a:rPr>
              <a:t>    .str.normalize("NFKD")</a:t>
            </a:r>
            <a:endParaRPr b="0" i="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F2933"/>
              </a:buClr>
              <a:buSzPts val="1500"/>
              <a:buFont typeface="Courier New"/>
              <a:buNone/>
            </a:pPr>
            <a:r>
              <a:rPr b="0" i="0" lang="en-US" sz="1500" u="none" cap="none" strike="noStrike">
                <a:solidFill>
                  <a:srgbClr val="1F2933"/>
                </a:solidFill>
                <a:latin typeface="Courier New"/>
                <a:ea typeface="Courier New"/>
                <a:cs typeface="Courier New"/>
                <a:sym typeface="Courier New"/>
              </a:rPr>
              <a:t>    .str.encode("ascii", errors="ignore")</a:t>
            </a:r>
            <a:endParaRPr b="0" i="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F2933"/>
              </a:buClr>
              <a:buSzPts val="1500"/>
              <a:buFont typeface="Courier New"/>
              <a:buNone/>
            </a:pPr>
            <a:r>
              <a:rPr b="0" i="0" lang="en-US" sz="1500" u="none" cap="none" strike="noStrike">
                <a:solidFill>
                  <a:srgbClr val="1F2933"/>
                </a:solidFill>
                <a:latin typeface="Courier New"/>
                <a:ea typeface="Courier New"/>
                <a:cs typeface="Courier New"/>
                <a:sym typeface="Courier New"/>
              </a:rPr>
              <a:t>    .str.decode("ascii")</a:t>
            </a:r>
            <a:endParaRPr b="0" i="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F2933"/>
              </a:buClr>
              <a:buSzPts val="1500"/>
              <a:buFont typeface="Courier New"/>
              <a:buNone/>
            </a:pPr>
            <a:r>
              <a:rPr b="0" i="0" lang="en-US" sz="1500" u="none" cap="none" strike="noStrike">
                <a:solidFill>
                  <a:srgbClr val="1F2933"/>
                </a:solidFill>
                <a:latin typeface="Courier New"/>
                <a:ea typeface="Courier New"/>
                <a:cs typeface="Courier New"/>
                <a:sym typeface="Courier New"/>
              </a:rPr>
              <a:t>)</a:t>
            </a:r>
            <a:endParaRPr b="0" i="0" sz="1500" u="none" cap="none" strike="noStrike">
              <a:solidFill>
                <a:schemeClr val="dk1"/>
              </a:solidFill>
              <a:latin typeface="Calibri"/>
              <a:ea typeface="Calibri"/>
              <a:cs typeface="Calibri"/>
              <a:sym typeface="Calibri"/>
            </a:endParaRPr>
          </a:p>
        </p:txBody>
      </p:sp>
      <p:sp>
        <p:nvSpPr>
          <p:cNvPr id="702" name="Google Shape;702;p43"/>
          <p:cNvSpPr txBox="1"/>
          <p:nvPr/>
        </p:nvSpPr>
        <p:spPr>
          <a:xfrm>
            <a:off x="548640" y="4053078"/>
            <a:ext cx="5802117"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B7280"/>
              </a:buClr>
              <a:buSzPts val="1200"/>
              <a:buFont typeface="Calibri"/>
              <a:buNone/>
            </a:pPr>
            <a:r>
              <a:rPr b="0" i="0" lang="en-US" sz="1200" u="none" cap="none" strike="noStrike">
                <a:solidFill>
                  <a:srgbClr val="6B7280"/>
                </a:solidFill>
                <a:latin typeface="Calibri"/>
                <a:ea typeface="Calibri"/>
                <a:cs typeface="Calibri"/>
                <a:sym typeface="Calibri"/>
              </a:rPr>
              <a:t>Ou colonne par colonne</a:t>
            </a:r>
            <a:endParaRPr b="0" i="0" sz="1200" u="none" cap="none" strike="noStrike">
              <a:solidFill>
                <a:schemeClr val="dk1"/>
              </a:solidFill>
              <a:latin typeface="Calibri"/>
              <a:ea typeface="Calibri"/>
              <a:cs typeface="Calibri"/>
              <a:sym typeface="Calibri"/>
            </a:endParaRPr>
          </a:p>
        </p:txBody>
      </p:sp>
      <p:sp>
        <p:nvSpPr>
          <p:cNvPr id="703" name="Google Shape;703;p43"/>
          <p:cNvSpPr/>
          <p:nvPr/>
        </p:nvSpPr>
        <p:spPr>
          <a:xfrm>
            <a:off x="548640" y="4345686"/>
            <a:ext cx="5802117" cy="487426"/>
          </a:xfrm>
          <a:prstGeom prst="rect">
            <a:avLst/>
          </a:prstGeom>
          <a:solidFill>
            <a:srgbClr val="F3F4F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4" name="Google Shape;704;p43"/>
          <p:cNvSpPr txBox="1"/>
          <p:nvPr/>
        </p:nvSpPr>
        <p:spPr>
          <a:xfrm>
            <a:off x="731520" y="4491990"/>
            <a:ext cx="5436357" cy="19481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F2933"/>
              </a:buClr>
              <a:buSzPts val="1300"/>
              <a:buFont typeface="Courier New"/>
              <a:buNone/>
            </a:pPr>
            <a:r>
              <a:rPr b="0" i="0" lang="en-US" sz="1300" u="none" cap="none" strike="noStrike">
                <a:solidFill>
                  <a:srgbClr val="1F2933"/>
                </a:solidFill>
                <a:latin typeface="Courier New"/>
                <a:ea typeface="Courier New"/>
                <a:cs typeface="Courier New"/>
                <a:sym typeface="Courier New"/>
              </a:rPr>
              <a:t>df.rename(columns={"Prix unitaire": "prix_unitaire"})</a:t>
            </a:r>
            <a:endParaRPr b="0" i="0" sz="1300" u="none" cap="none" strike="noStrike">
              <a:solidFill>
                <a:schemeClr val="dk1"/>
              </a:solidFill>
              <a:latin typeface="Calibri"/>
              <a:ea typeface="Calibri"/>
              <a:cs typeface="Calibri"/>
              <a:sym typeface="Calibri"/>
            </a:endParaRPr>
          </a:p>
        </p:txBody>
      </p:sp>
      <p:graphicFrame>
        <p:nvGraphicFramePr>
          <p:cNvPr id="705" name="Google Shape;705;p43"/>
          <p:cNvGraphicFramePr/>
          <p:nvPr/>
        </p:nvGraphicFramePr>
        <p:xfrm>
          <a:off x="6807957" y="1417320"/>
          <a:ext cx="3000000" cy="3000000"/>
        </p:xfrm>
        <a:graphic>
          <a:graphicData uri="http://schemas.openxmlformats.org/drawingml/2006/table">
            <a:tbl>
              <a:tblPr>
                <a:noFill/>
                <a:tableStyleId>{5790C458-BB61-4800-A068-DD2F3961D878}</a:tableStyleId>
              </a:tblPr>
              <a:tblGrid>
                <a:gridCol w="2417550"/>
                <a:gridCol w="2417550"/>
              </a:tblGrid>
              <a:tr h="365375">
                <a:tc>
                  <a:txBody>
                    <a:bodyPr/>
                    <a:lstStyle/>
                    <a:p>
                      <a:pPr indent="0" lvl="0" marL="0" marR="0" rtl="0" algn="l">
                        <a:spcBef>
                          <a:spcPts val="0"/>
                        </a:spcBef>
                        <a:spcAft>
                          <a:spcPts val="0"/>
                        </a:spcAft>
                        <a:buClr>
                          <a:srgbClr val="FFFFFF"/>
                        </a:buClr>
                        <a:buSzPts val="1500"/>
                        <a:buFont typeface="Calibri"/>
                        <a:buNone/>
                      </a:pPr>
                      <a:r>
                        <a:rPr b="1" lang="en-US" sz="1500" u="none" cap="none" strike="noStrike">
                          <a:solidFill>
                            <a:srgbClr val="FFFFFF"/>
                          </a:solidFill>
                          <a:latin typeface="Calibri"/>
                          <a:ea typeface="Calibri"/>
                          <a:cs typeface="Calibri"/>
                          <a:sym typeface="Calibri"/>
                        </a:rPr>
                        <a:t>Avant</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1F3A5F"/>
                    </a:solidFill>
                  </a:tcPr>
                </a:tc>
                <a:tc>
                  <a:txBody>
                    <a:bodyPr/>
                    <a:lstStyle/>
                    <a:p>
                      <a:pPr indent="0" lvl="0" marL="0" marR="0" rtl="0" algn="l">
                        <a:spcBef>
                          <a:spcPts val="0"/>
                        </a:spcBef>
                        <a:spcAft>
                          <a:spcPts val="0"/>
                        </a:spcAft>
                        <a:buClr>
                          <a:srgbClr val="FFFFFF"/>
                        </a:buClr>
                        <a:buSzPts val="1500"/>
                        <a:buFont typeface="Calibri"/>
                        <a:buNone/>
                      </a:pPr>
                      <a:r>
                        <a:rPr b="1" lang="en-US" sz="1500" u="none" cap="none" strike="noStrike">
                          <a:solidFill>
                            <a:srgbClr val="FFFFFF"/>
                          </a:solidFill>
                          <a:latin typeface="Calibri"/>
                          <a:ea typeface="Calibri"/>
                          <a:cs typeface="Calibri"/>
                          <a:sym typeface="Calibri"/>
                        </a:rPr>
                        <a:t>Après</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1F3A5F"/>
                    </a:solidFill>
                  </a:tcPr>
                </a:tc>
              </a:tr>
              <a:tr h="365375">
                <a:tc>
                  <a:txBody>
                    <a:bodyPr/>
                    <a:lstStyle/>
                    <a:p>
                      <a:pPr indent="0" lvl="0" marL="0" marR="0" rtl="0" algn="l">
                        <a:spcBef>
                          <a:spcPts val="0"/>
                        </a:spcBef>
                        <a:spcAft>
                          <a:spcPts val="0"/>
                        </a:spcAft>
                        <a:buClr>
                          <a:srgbClr val="1F3A5F"/>
                        </a:buClr>
                        <a:buSzPts val="1500"/>
                        <a:buFont typeface="Courier New"/>
                        <a:buNone/>
                      </a:pPr>
                      <a:r>
                        <a:rPr lang="en-US" sz="1500" u="none" cap="none" strike="noStrike">
                          <a:solidFill>
                            <a:srgbClr val="1F3A5F"/>
                          </a:solidFill>
                          <a:latin typeface="Courier New"/>
                          <a:ea typeface="Courier New"/>
                          <a:cs typeface="Courier New"/>
                          <a:sym typeface="Courier New"/>
                        </a:rPr>
                        <a:t>Prix unitaire</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F3A5F"/>
                        </a:buClr>
                        <a:buSzPts val="1500"/>
                        <a:buFont typeface="Courier New"/>
                        <a:buNone/>
                      </a:pPr>
                      <a:r>
                        <a:rPr lang="en-US" sz="1500" u="none" cap="none" strike="noStrike">
                          <a:solidFill>
                            <a:srgbClr val="1F3A5F"/>
                          </a:solidFill>
                          <a:latin typeface="Courier New"/>
                          <a:ea typeface="Courier New"/>
                          <a:cs typeface="Courier New"/>
                          <a:sym typeface="Courier New"/>
                        </a:rPr>
                        <a:t>prix_unitaire</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FFFFF"/>
                    </a:solidFill>
                  </a:tcPr>
                </a:tc>
              </a:tr>
              <a:tr h="365375">
                <a:tc>
                  <a:txBody>
                    <a:bodyPr/>
                    <a:lstStyle/>
                    <a:p>
                      <a:pPr indent="0" lvl="0" marL="0" marR="0" rtl="0" algn="l">
                        <a:spcBef>
                          <a:spcPts val="0"/>
                        </a:spcBef>
                        <a:spcAft>
                          <a:spcPts val="0"/>
                        </a:spcAft>
                        <a:buClr>
                          <a:srgbClr val="1F3A5F"/>
                        </a:buClr>
                        <a:buSzPts val="1500"/>
                        <a:buFont typeface="Courier New"/>
                        <a:buNone/>
                      </a:pPr>
                      <a:r>
                        <a:rPr lang="en-US" sz="1500" u="none" cap="none" strike="noStrike">
                          <a:solidFill>
                            <a:srgbClr val="1F3A5F"/>
                          </a:solidFill>
                          <a:latin typeface="Courier New"/>
                          <a:ea typeface="Courier New"/>
                          <a:cs typeface="Courier New"/>
                          <a:sym typeface="Courier New"/>
                        </a:rPr>
                        <a:t>Client fidèle</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7F9FB"/>
                    </a:solidFill>
                  </a:tcPr>
                </a:tc>
                <a:tc>
                  <a:txBody>
                    <a:bodyPr/>
                    <a:lstStyle/>
                    <a:p>
                      <a:pPr indent="0" lvl="0" marL="0" marR="0" rtl="0" algn="l">
                        <a:spcBef>
                          <a:spcPts val="0"/>
                        </a:spcBef>
                        <a:spcAft>
                          <a:spcPts val="0"/>
                        </a:spcAft>
                        <a:buClr>
                          <a:srgbClr val="1F3A5F"/>
                        </a:buClr>
                        <a:buSzPts val="1500"/>
                        <a:buFont typeface="Courier New"/>
                        <a:buNone/>
                      </a:pPr>
                      <a:r>
                        <a:rPr lang="en-US" sz="1500" u="none" cap="none" strike="noStrike">
                          <a:solidFill>
                            <a:srgbClr val="1F3A5F"/>
                          </a:solidFill>
                          <a:latin typeface="Courier New"/>
                          <a:ea typeface="Courier New"/>
                          <a:cs typeface="Courier New"/>
                          <a:sym typeface="Courier New"/>
                        </a:rPr>
                        <a:t>client_fidele</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7F9FB"/>
                    </a:solidFill>
                  </a:tcPr>
                </a:tc>
              </a:tr>
              <a:tr h="365375">
                <a:tc>
                  <a:txBody>
                    <a:bodyPr/>
                    <a:lstStyle/>
                    <a:p>
                      <a:pPr indent="0" lvl="0" marL="0" marR="0" rtl="0" algn="l">
                        <a:spcBef>
                          <a:spcPts val="0"/>
                        </a:spcBef>
                        <a:spcAft>
                          <a:spcPts val="0"/>
                        </a:spcAft>
                        <a:buClr>
                          <a:srgbClr val="1F3A5F"/>
                        </a:buClr>
                        <a:buSzPts val="1500"/>
                        <a:buFont typeface="Courier New"/>
                        <a:buNone/>
                      </a:pPr>
                      <a:r>
                        <a:rPr lang="en-US" sz="1500" u="none" cap="none" strike="noStrike">
                          <a:solidFill>
                            <a:srgbClr val="1F3A5F"/>
                          </a:solidFill>
                          <a:latin typeface="Courier New"/>
                          <a:ea typeface="Courier New"/>
                          <a:cs typeface="Courier New"/>
                          <a:sym typeface="Courier New"/>
                        </a:rPr>
                        <a:t>quantite</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F3A5F"/>
                        </a:buClr>
                        <a:buSzPts val="1500"/>
                        <a:buFont typeface="Courier New"/>
                        <a:buNone/>
                      </a:pPr>
                      <a:r>
                        <a:rPr lang="en-US" sz="1500" u="none" cap="none" strike="noStrike">
                          <a:solidFill>
                            <a:srgbClr val="1F3A5F"/>
                          </a:solidFill>
                          <a:latin typeface="Courier New"/>
                          <a:ea typeface="Courier New"/>
                          <a:cs typeface="Courier New"/>
                          <a:sym typeface="Courier New"/>
                        </a:rPr>
                        <a:t>quantite</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FFFFF"/>
                    </a:solidFill>
                  </a:tcPr>
                </a:tc>
              </a:tr>
            </a:tbl>
          </a:graphicData>
        </a:graphic>
      </p:graphicFrame>
      <p:sp>
        <p:nvSpPr>
          <p:cNvPr id="706" name="Google Shape;706;p43"/>
          <p:cNvSpPr txBox="1"/>
          <p:nvPr/>
        </p:nvSpPr>
        <p:spPr>
          <a:xfrm>
            <a:off x="6807957" y="3198876"/>
            <a:ext cx="4835098" cy="11125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B7280"/>
              </a:buClr>
              <a:buSzPts val="1600"/>
              <a:buFont typeface="Calibri"/>
              <a:buNone/>
            </a:pPr>
            <a:r>
              <a:rPr b="0" i="0" lang="en-US" sz="1600" u="none" cap="none" strike="noStrike">
                <a:solidFill>
                  <a:srgbClr val="6B7280"/>
                </a:solidFill>
                <a:latin typeface="Calibri"/>
                <a:ea typeface="Calibri"/>
                <a:cs typeface="Calibri"/>
                <a:sym typeface="Calibri"/>
              </a:rPr>
              <a:t>Le *snake_case* : minuscules, sans accents ni espaces, mots séparés par des tirets bas. Les noms deviennent utilisables partout, y compris dans </a:t>
            </a:r>
            <a:r>
              <a:rPr b="0" i="0" lang="en-US" sz="1600" u="none" cap="none" strike="noStrike">
                <a:solidFill>
                  <a:srgbClr val="1F3A5F"/>
                </a:solidFill>
                <a:latin typeface="Courier New"/>
                <a:ea typeface="Courier New"/>
                <a:cs typeface="Courier New"/>
                <a:sym typeface="Courier New"/>
              </a:rPr>
              <a:t>query</a:t>
            </a:r>
            <a:r>
              <a:rPr b="0" i="0" lang="en-US" sz="1600" u="none" cap="none" strike="noStrike">
                <a:solidFill>
                  <a:srgbClr val="6B7280"/>
                </a:solidFill>
                <a:latin typeface="Calibri"/>
                <a:ea typeface="Calibri"/>
                <a:cs typeface="Calibri"/>
                <a:sym typeface="Calibri"/>
              </a:rPr>
              <a:t>.</a:t>
            </a:r>
            <a:endParaRPr b="0" i="0" sz="1600" u="none" cap="none" strike="noStrike">
              <a:solidFill>
                <a:schemeClr val="dk1"/>
              </a:solidFill>
              <a:latin typeface="Calibri"/>
              <a:ea typeface="Calibri"/>
              <a:cs typeface="Calibri"/>
              <a:sym typeface="Calibri"/>
            </a:endParaRPr>
          </a:p>
        </p:txBody>
      </p:sp>
      <p:sp>
        <p:nvSpPr>
          <p:cNvPr id="707" name="Google Shape;707;p43"/>
          <p:cNvSpPr/>
          <p:nvPr/>
        </p:nvSpPr>
        <p:spPr>
          <a:xfrm>
            <a:off x="548640" y="5153152"/>
            <a:ext cx="11094415" cy="883920"/>
          </a:xfrm>
          <a:prstGeom prst="roundRect">
            <a:avLst>
              <a:gd fmla="val 6207" name="adj"/>
            </a:avLst>
          </a:prstGeom>
          <a:solidFill>
            <a:srgbClr val="E8F3E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8" name="Google Shape;708;p43"/>
          <p:cNvSpPr txBox="1"/>
          <p:nvPr/>
        </p:nvSpPr>
        <p:spPr>
          <a:xfrm>
            <a:off x="822960" y="5153152"/>
            <a:ext cx="10545775" cy="883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F3A5F"/>
              </a:buClr>
              <a:buSzPts val="1700"/>
              <a:buFont typeface="Calibri"/>
              <a:buNone/>
            </a:pPr>
            <a:r>
              <a:rPr b="0" i="0" lang="en-US" sz="1700" u="none" cap="none" strike="noStrike">
                <a:solidFill>
                  <a:srgbClr val="1F3A5F"/>
                </a:solidFill>
                <a:latin typeface="Calibri"/>
                <a:ea typeface="Calibri"/>
                <a:cs typeface="Calibri"/>
                <a:sym typeface="Calibri"/>
              </a:rPr>
              <a:t>Ce traitement resservira pour chaque nouveau fichier : on l'écrit une fois pour toutes dans une fonction, qui reçoit un DataFrame et en renvoie une copie aux colonnes harmonisées.</a:t>
            </a:r>
            <a:endParaRPr b="0" i="0" sz="1700" u="none" cap="none" strike="noStrike">
              <a:solidFill>
                <a:schemeClr val="dk1"/>
              </a:solidFill>
              <a:latin typeface="Calibri"/>
              <a:ea typeface="Calibri"/>
              <a:cs typeface="Calibri"/>
              <a:sym typeface="Calibri"/>
            </a:endParaRPr>
          </a:p>
        </p:txBody>
      </p:sp>
      <p:sp>
        <p:nvSpPr>
          <p:cNvPr id="709" name="Google Shape;709;p43"/>
          <p:cNvSpPr txBox="1"/>
          <p:nvPr/>
        </p:nvSpPr>
        <p:spPr>
          <a:xfrm>
            <a:off x="548640" y="6400800"/>
            <a:ext cx="73152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B7280"/>
              </a:buClr>
              <a:buSzPts val="1000"/>
              <a:buFont typeface="Calibri"/>
              <a:buNone/>
            </a:pPr>
            <a:r>
              <a:rPr b="0" i="0" lang="en-US" sz="1000" u="none" cap="none" strike="noStrike">
                <a:solidFill>
                  <a:srgbClr val="6B7280"/>
                </a:solidFill>
                <a:latin typeface="Calibri"/>
                <a:ea typeface="Calibri"/>
                <a:cs typeface="Calibri"/>
                <a:sym typeface="Calibri"/>
              </a:rPr>
              <a:t>Analyse de données avec Python   |   Jour 1, après-midi</a:t>
            </a:r>
            <a:endParaRPr b="0" i="0" sz="1000" u="none" cap="none" strike="noStrike">
              <a:solidFill>
                <a:schemeClr val="dk1"/>
              </a:solidFill>
              <a:latin typeface="Calibri"/>
              <a:ea typeface="Calibri"/>
              <a:cs typeface="Calibri"/>
              <a:sym typeface="Calibri"/>
            </a:endParaRPr>
          </a:p>
        </p:txBody>
      </p:sp>
      <p:sp>
        <p:nvSpPr>
          <p:cNvPr id="710" name="Google Shape;710;p43"/>
          <p:cNvSpPr txBox="1"/>
          <p:nvPr>
            <p:ph idx="4294967295" type="sldNum"/>
          </p:nvPr>
        </p:nvSpPr>
        <p:spPr>
          <a:xfrm>
            <a:off x="11094415" y="6400800"/>
            <a:ext cx="548640" cy="27432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000" u="none" cap="none" strike="noStrike">
                <a:solidFill>
                  <a:srgbClr val="6B7280"/>
                </a:solidFill>
                <a:latin typeface="Calibri"/>
                <a:ea typeface="Calibri"/>
                <a:cs typeface="Calibri"/>
                <a:sym typeface="Calibri"/>
              </a:rPr>
              <a:t>‹#›</a:t>
            </a:fld>
            <a:endParaRPr b="0" i="0" sz="1000" u="none" cap="none" strike="noStrike">
              <a:solidFill>
                <a:srgbClr val="6B7280"/>
              </a:solidFill>
              <a:latin typeface="Calibri"/>
              <a:ea typeface="Calibri"/>
              <a:cs typeface="Calibri"/>
              <a:sym typeface="Calibri"/>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15" name="Shape 715"/>
        <p:cNvGrpSpPr/>
        <p:nvPr/>
      </p:nvGrpSpPr>
      <p:grpSpPr>
        <a:xfrm>
          <a:off x="0" y="0"/>
          <a:ext cx="0" cy="0"/>
          <a:chOff x="0" y="0"/>
          <a:chExt cx="0" cy="0"/>
        </a:xfrm>
      </p:grpSpPr>
      <p:sp>
        <p:nvSpPr>
          <p:cNvPr id="716" name="Google Shape;716;p44"/>
          <p:cNvSpPr/>
          <p:nvPr/>
        </p:nvSpPr>
        <p:spPr>
          <a:xfrm>
            <a:off x="548640" y="566928"/>
            <a:ext cx="475488" cy="475488"/>
          </a:xfrm>
          <a:prstGeom prst="ellipse">
            <a:avLst/>
          </a:prstGeom>
          <a:solidFill>
            <a:srgbClr val="2F7D6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7" name="Google Shape;717;p44"/>
          <p:cNvSpPr txBox="1"/>
          <p:nvPr/>
        </p:nvSpPr>
        <p:spPr>
          <a:xfrm>
            <a:off x="548640" y="566928"/>
            <a:ext cx="475488" cy="47548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6</a:t>
            </a:r>
            <a:endParaRPr b="0" i="0" sz="1600" u="none" cap="none" strike="noStrike">
              <a:solidFill>
                <a:schemeClr val="dk1"/>
              </a:solidFill>
              <a:latin typeface="Calibri"/>
              <a:ea typeface="Calibri"/>
              <a:cs typeface="Calibri"/>
              <a:sym typeface="Calibri"/>
            </a:endParaRPr>
          </a:p>
        </p:txBody>
      </p:sp>
      <p:sp>
        <p:nvSpPr>
          <p:cNvPr id="718" name="Google Shape;718;p44"/>
          <p:cNvSpPr txBox="1"/>
          <p:nvPr/>
        </p:nvSpPr>
        <p:spPr>
          <a:xfrm>
            <a:off x="1280160" y="164592"/>
            <a:ext cx="10362895"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F7D62"/>
              </a:buClr>
              <a:buSzPts val="1200"/>
              <a:buFont typeface="Calibri"/>
              <a:buNone/>
            </a:pPr>
            <a:r>
              <a:rPr b="1" i="0" lang="en-US" sz="1200" u="none" cap="none" strike="noStrike">
                <a:solidFill>
                  <a:srgbClr val="2F7D62"/>
                </a:solidFill>
                <a:latin typeface="Calibri"/>
                <a:ea typeface="Calibri"/>
                <a:cs typeface="Calibri"/>
                <a:sym typeface="Calibri"/>
              </a:rPr>
              <a:t>TRIER, RENOMMER, GÉRER L'INDEX</a:t>
            </a:r>
            <a:endParaRPr b="0" i="0" sz="1200" u="none" cap="none" strike="noStrike">
              <a:solidFill>
                <a:schemeClr val="dk1"/>
              </a:solidFill>
              <a:latin typeface="Calibri"/>
              <a:ea typeface="Calibri"/>
              <a:cs typeface="Calibri"/>
              <a:sym typeface="Calibri"/>
            </a:endParaRPr>
          </a:p>
        </p:txBody>
      </p:sp>
      <p:sp>
        <p:nvSpPr>
          <p:cNvPr id="719" name="Google Shape;719;p44"/>
          <p:cNvSpPr txBox="1"/>
          <p:nvPr/>
        </p:nvSpPr>
        <p:spPr>
          <a:xfrm>
            <a:off x="1280160" y="457200"/>
            <a:ext cx="10362895" cy="6949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F3A5F"/>
              </a:buClr>
              <a:buSzPts val="3000"/>
              <a:buFont typeface="Cambria"/>
              <a:buNone/>
            </a:pPr>
            <a:r>
              <a:rPr b="1" i="0" lang="en-US" sz="3000" u="none" cap="none" strike="noStrike">
                <a:solidFill>
                  <a:srgbClr val="1F3A5F"/>
                </a:solidFill>
                <a:latin typeface="Cambria"/>
                <a:ea typeface="Cambria"/>
                <a:cs typeface="Cambria"/>
                <a:sym typeface="Cambria"/>
              </a:rPr>
              <a:t>set_index, reset_index, reindex</a:t>
            </a:r>
            <a:endParaRPr b="0" i="0" sz="3000" u="none" cap="none" strike="noStrike">
              <a:solidFill>
                <a:schemeClr val="dk1"/>
              </a:solidFill>
              <a:latin typeface="Calibri"/>
              <a:ea typeface="Calibri"/>
              <a:cs typeface="Calibri"/>
              <a:sym typeface="Calibri"/>
            </a:endParaRPr>
          </a:p>
        </p:txBody>
      </p:sp>
      <p:sp>
        <p:nvSpPr>
          <p:cNvPr id="720" name="Google Shape;720;p44"/>
          <p:cNvSpPr/>
          <p:nvPr/>
        </p:nvSpPr>
        <p:spPr>
          <a:xfrm>
            <a:off x="548640" y="1417320"/>
            <a:ext cx="5802117" cy="2240788"/>
          </a:xfrm>
          <a:prstGeom prst="rect">
            <a:avLst/>
          </a:prstGeom>
          <a:solidFill>
            <a:srgbClr val="F3F4F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1" name="Google Shape;721;p44"/>
          <p:cNvSpPr txBox="1"/>
          <p:nvPr/>
        </p:nvSpPr>
        <p:spPr>
          <a:xfrm>
            <a:off x="731520" y="1563624"/>
            <a:ext cx="5436357" cy="19481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F2933"/>
              </a:buClr>
              <a:buSzPts val="1300"/>
              <a:buFont typeface="Courier New"/>
              <a:buNone/>
            </a:pPr>
            <a:r>
              <a:rPr b="0" i="0" lang="en-US" sz="1300" u="none" cap="none" strike="noStrike">
                <a:solidFill>
                  <a:srgbClr val="1F2933"/>
                </a:solidFill>
                <a:latin typeface="Courier New"/>
                <a:ea typeface="Courier New"/>
                <a:cs typeface="Courier New"/>
                <a:sym typeface="Courier New"/>
              </a:rPr>
              <a:t>df["id_commande"].is_unique       # à vérifier avant</a:t>
            </a:r>
            <a:endParaRPr b="0" i="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F2933"/>
              </a:buClr>
              <a:buSzPts val="1300"/>
              <a:buFont typeface="Courier New"/>
              <a:buNone/>
            </a:pPr>
            <a:r>
              <a:rPr b="0" i="0" lang="en-US" sz="1300" u="none" cap="none" strike="noStrike">
                <a:solidFill>
                  <a:srgbClr val="1F2933"/>
                </a:solidFill>
                <a:latin typeface="Courier New"/>
                <a:ea typeface="Courier New"/>
                <a:cs typeface="Courier New"/>
                <a:sym typeface="Courier New"/>
              </a:rPr>
              <a:t> </a:t>
            </a:r>
            <a:endParaRPr b="0" i="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F2933"/>
              </a:buClr>
              <a:buSzPts val="1300"/>
              <a:buFont typeface="Courier New"/>
              <a:buNone/>
            </a:pPr>
            <a:r>
              <a:rPr b="0" i="0" lang="en-US" sz="1300" u="none" cap="none" strike="noStrike">
                <a:solidFill>
                  <a:srgbClr val="1F2933"/>
                </a:solidFill>
                <a:latin typeface="Courier New"/>
                <a:ea typeface="Courier New"/>
                <a:cs typeface="Courier New"/>
                <a:sym typeface="Courier New"/>
              </a:rPr>
              <a:t>df = df.set_index("id_commande")</a:t>
            </a:r>
            <a:endParaRPr b="0" i="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F2933"/>
              </a:buClr>
              <a:buSzPts val="1300"/>
              <a:buFont typeface="Courier New"/>
              <a:buNone/>
            </a:pPr>
            <a:r>
              <a:rPr b="0" i="0" lang="en-US" sz="1300" u="none" cap="none" strike="noStrike">
                <a:solidFill>
                  <a:srgbClr val="1F2933"/>
                </a:solidFill>
                <a:latin typeface="Courier New"/>
                <a:ea typeface="Courier New"/>
                <a:cs typeface="Courier New"/>
                <a:sym typeface="Courier New"/>
              </a:rPr>
              <a:t>df.loc[1042]                      # accès direct</a:t>
            </a:r>
            <a:endParaRPr b="0" i="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F2933"/>
              </a:buClr>
              <a:buSzPts val="1300"/>
              <a:buFont typeface="Courier New"/>
              <a:buNone/>
            </a:pPr>
            <a:r>
              <a:rPr b="0" i="0" lang="en-US" sz="1300" u="none" cap="none" strike="noStrike">
                <a:solidFill>
                  <a:srgbClr val="1F2933"/>
                </a:solidFill>
                <a:latin typeface="Courier New"/>
                <a:ea typeface="Courier New"/>
                <a:cs typeface="Courier New"/>
                <a:sym typeface="Courier New"/>
              </a:rPr>
              <a:t> </a:t>
            </a:r>
            <a:endParaRPr b="0" i="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F2933"/>
              </a:buClr>
              <a:buSzPts val="1300"/>
              <a:buFont typeface="Courier New"/>
              <a:buNone/>
            </a:pPr>
            <a:r>
              <a:rPr b="0" i="0" lang="en-US" sz="1300" u="none" cap="none" strike="noStrike">
                <a:solidFill>
                  <a:srgbClr val="1F2933"/>
                </a:solidFill>
                <a:latin typeface="Courier New"/>
                <a:ea typeface="Courier New"/>
                <a:cs typeface="Courier New"/>
                <a:sym typeface="Courier New"/>
              </a:rPr>
              <a:t>df = df.reset_index()</a:t>
            </a:r>
            <a:endParaRPr b="0" i="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F2933"/>
              </a:buClr>
              <a:buSzPts val="1300"/>
              <a:buFont typeface="Courier New"/>
              <a:buNone/>
            </a:pPr>
            <a:r>
              <a:rPr b="0" i="0" lang="en-US" sz="1300" u="none" cap="none" strike="noStrike">
                <a:solidFill>
                  <a:srgbClr val="1F2933"/>
                </a:solidFill>
                <a:latin typeface="Courier New"/>
                <a:ea typeface="Courier New"/>
                <a:cs typeface="Courier New"/>
                <a:sym typeface="Courier New"/>
              </a:rPr>
              <a:t> </a:t>
            </a:r>
            <a:endParaRPr b="0" i="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F2933"/>
              </a:buClr>
              <a:buSzPts val="1300"/>
              <a:buFont typeface="Courier New"/>
              <a:buNone/>
            </a:pPr>
            <a:r>
              <a:rPr b="0" i="0" lang="en-US" sz="1300" u="none" cap="none" strike="noStrike">
                <a:solidFill>
                  <a:srgbClr val="1F2933"/>
                </a:solidFill>
                <a:latin typeface="Courier New"/>
                <a:ea typeface="Courier New"/>
                <a:cs typeface="Courier New"/>
                <a:sym typeface="Courier New"/>
              </a:rPr>
              <a:t>df = df.drop_duplicates().reset_index(drop=True)</a:t>
            </a:r>
            <a:endParaRPr b="0" i="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F2933"/>
              </a:buClr>
              <a:buSzPts val="1300"/>
              <a:buFont typeface="Courier New"/>
              <a:buNone/>
            </a:pPr>
            <a:r>
              <a:rPr b="0" i="0" lang="en-US" sz="1300" u="none" cap="none" strike="noStrike">
                <a:solidFill>
                  <a:srgbClr val="1F2933"/>
                </a:solidFill>
                <a:latin typeface="Courier New"/>
                <a:ea typeface="Courier New"/>
                <a:cs typeface="Courier New"/>
                <a:sym typeface="Courier New"/>
              </a:rPr>
              <a:t> </a:t>
            </a:r>
            <a:endParaRPr b="0" i="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F2933"/>
              </a:buClr>
              <a:buSzPts val="1300"/>
              <a:buFont typeface="Courier New"/>
              <a:buNone/>
            </a:pPr>
            <a:r>
              <a:rPr b="0" i="0" lang="en-US" sz="1300" u="none" cap="none" strike="noStrike">
                <a:solidFill>
                  <a:srgbClr val="1F2933"/>
                </a:solidFill>
                <a:latin typeface="Courier New"/>
                <a:ea typeface="Courier New"/>
                <a:cs typeface="Courier New"/>
                <a:sym typeface="Courier New"/>
              </a:rPr>
              <a:t>df.reindex(columns=["date", "produit", "quantite"])</a:t>
            </a:r>
            <a:endParaRPr b="0" i="0" sz="1300" u="none" cap="none" strike="noStrike">
              <a:solidFill>
                <a:schemeClr val="dk1"/>
              </a:solidFill>
              <a:latin typeface="Calibri"/>
              <a:ea typeface="Calibri"/>
              <a:cs typeface="Calibri"/>
              <a:sym typeface="Calibri"/>
            </a:endParaRPr>
          </a:p>
        </p:txBody>
      </p:sp>
      <p:sp>
        <p:nvSpPr>
          <p:cNvPr id="722" name="Google Shape;722;p44"/>
          <p:cNvSpPr txBox="1"/>
          <p:nvPr/>
        </p:nvSpPr>
        <p:spPr>
          <a:xfrm>
            <a:off x="6807957" y="1417320"/>
            <a:ext cx="4835098" cy="22047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F3A5F"/>
              </a:buClr>
              <a:buSzPts val="1600"/>
              <a:buFont typeface="Courier New"/>
              <a:buNone/>
            </a:pPr>
            <a:r>
              <a:rPr b="0" i="0" lang="en-US" sz="1600" u="none" cap="none" strike="noStrike">
                <a:solidFill>
                  <a:srgbClr val="1F3A5F"/>
                </a:solidFill>
                <a:latin typeface="Courier New"/>
                <a:ea typeface="Courier New"/>
                <a:cs typeface="Courier New"/>
                <a:sym typeface="Courier New"/>
              </a:rPr>
              <a:t>set_index</a:t>
            </a:r>
            <a:r>
              <a:rPr b="0" i="0" lang="en-US" sz="1600" u="none" cap="none" strike="noStrike">
                <a:solidFill>
                  <a:srgbClr val="1F2933"/>
                </a:solidFill>
                <a:latin typeface="Calibri"/>
                <a:ea typeface="Calibri"/>
                <a:cs typeface="Calibri"/>
                <a:sym typeface="Calibri"/>
              </a:rPr>
              <a:t> : une colonne devient l'index</a:t>
            </a:r>
            <a:endParaRPr b="0" i="0" sz="16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1F3A5F"/>
              </a:buClr>
              <a:buSzPts val="1600"/>
              <a:buFont typeface="Courier New"/>
              <a:buNone/>
            </a:pPr>
            <a:r>
              <a:rPr b="0" i="0" lang="en-US" sz="1600" u="none" cap="none" strike="noStrike">
                <a:solidFill>
                  <a:srgbClr val="1F3A5F"/>
                </a:solidFill>
                <a:latin typeface="Courier New"/>
                <a:ea typeface="Courier New"/>
                <a:cs typeface="Courier New"/>
                <a:sym typeface="Courier New"/>
              </a:rPr>
              <a:t>reset_index</a:t>
            </a:r>
            <a:r>
              <a:rPr b="0" i="0" lang="en-US" sz="1600" u="none" cap="none" strike="noStrike">
                <a:solidFill>
                  <a:srgbClr val="1F2933"/>
                </a:solidFill>
                <a:latin typeface="Calibri"/>
                <a:ea typeface="Calibri"/>
                <a:cs typeface="Calibri"/>
                <a:sym typeface="Calibri"/>
              </a:rPr>
              <a:t> : l'index redevient une colonne</a:t>
            </a:r>
            <a:endParaRPr b="0" i="0" sz="16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1F3A5F"/>
              </a:buClr>
              <a:buSzPts val="1600"/>
              <a:buFont typeface="Courier New"/>
              <a:buNone/>
            </a:pPr>
            <a:r>
              <a:rPr b="0" i="0" lang="en-US" sz="1600" u="none" cap="none" strike="noStrike">
                <a:solidFill>
                  <a:srgbClr val="1F3A5F"/>
                </a:solidFill>
                <a:latin typeface="Courier New"/>
                <a:ea typeface="Courier New"/>
                <a:cs typeface="Courier New"/>
                <a:sym typeface="Courier New"/>
              </a:rPr>
              <a:t>drop=True</a:t>
            </a:r>
            <a:r>
              <a:rPr b="0" i="0" lang="en-US" sz="1600" u="none" cap="none" strike="noStrike">
                <a:solidFill>
                  <a:srgbClr val="1F2933"/>
                </a:solidFill>
                <a:latin typeface="Calibri"/>
                <a:ea typeface="Calibri"/>
                <a:cs typeface="Calibri"/>
                <a:sym typeface="Calibri"/>
              </a:rPr>
              <a:t> : renuméroter sans garder l'ancien index, après un filtre ou un dédoublonnage</a:t>
            </a:r>
            <a:endParaRPr b="0" i="0" sz="16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1F3A5F"/>
              </a:buClr>
              <a:buSzPts val="1600"/>
              <a:buFont typeface="Courier New"/>
              <a:buNone/>
            </a:pPr>
            <a:r>
              <a:rPr b="0" i="0" lang="en-US" sz="1600" u="none" cap="none" strike="noStrike">
                <a:solidFill>
                  <a:srgbClr val="1F3A5F"/>
                </a:solidFill>
                <a:latin typeface="Courier New"/>
                <a:ea typeface="Courier New"/>
                <a:cs typeface="Courier New"/>
                <a:sym typeface="Courier New"/>
              </a:rPr>
              <a:t>reindex</a:t>
            </a:r>
            <a:r>
              <a:rPr b="0" i="0" lang="en-US" sz="1600" u="none" cap="none" strike="noStrike">
                <a:solidFill>
                  <a:srgbClr val="1F2933"/>
                </a:solidFill>
                <a:latin typeface="Calibri"/>
                <a:ea typeface="Calibri"/>
                <a:cs typeface="Calibri"/>
                <a:sym typeface="Calibri"/>
              </a:rPr>
              <a:t> : réorganiser selon une liste ; les labels absents sont remplis de </a:t>
            </a:r>
            <a:r>
              <a:rPr b="0" i="0" lang="en-US" sz="1600" u="none" cap="none" strike="noStrike">
                <a:solidFill>
                  <a:srgbClr val="1F3A5F"/>
                </a:solidFill>
                <a:latin typeface="Courier New"/>
                <a:ea typeface="Courier New"/>
                <a:cs typeface="Courier New"/>
                <a:sym typeface="Courier New"/>
              </a:rPr>
              <a:t>NaN</a:t>
            </a:r>
            <a:endParaRPr b="0" i="0" sz="1600" u="none" cap="none" strike="noStrike">
              <a:solidFill>
                <a:schemeClr val="dk1"/>
              </a:solidFill>
              <a:latin typeface="Calibri"/>
              <a:ea typeface="Calibri"/>
              <a:cs typeface="Calibri"/>
              <a:sym typeface="Calibri"/>
            </a:endParaRPr>
          </a:p>
        </p:txBody>
      </p:sp>
      <p:sp>
        <p:nvSpPr>
          <p:cNvPr id="723" name="Google Shape;723;p44"/>
          <p:cNvSpPr txBox="1"/>
          <p:nvPr/>
        </p:nvSpPr>
        <p:spPr>
          <a:xfrm>
            <a:off x="548640" y="6400800"/>
            <a:ext cx="73152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B7280"/>
              </a:buClr>
              <a:buSzPts val="1000"/>
              <a:buFont typeface="Calibri"/>
              <a:buNone/>
            </a:pPr>
            <a:r>
              <a:rPr b="0" i="0" lang="en-US" sz="1000" u="none" cap="none" strike="noStrike">
                <a:solidFill>
                  <a:srgbClr val="6B7280"/>
                </a:solidFill>
                <a:latin typeface="Calibri"/>
                <a:ea typeface="Calibri"/>
                <a:cs typeface="Calibri"/>
                <a:sym typeface="Calibri"/>
              </a:rPr>
              <a:t>Analyse de données avec Python   |   Jour 1, après-midi</a:t>
            </a:r>
            <a:endParaRPr b="0" i="0" sz="1000" u="none" cap="none" strike="noStrike">
              <a:solidFill>
                <a:schemeClr val="dk1"/>
              </a:solidFill>
              <a:latin typeface="Calibri"/>
              <a:ea typeface="Calibri"/>
              <a:cs typeface="Calibri"/>
              <a:sym typeface="Calibri"/>
            </a:endParaRPr>
          </a:p>
        </p:txBody>
      </p:sp>
      <p:sp>
        <p:nvSpPr>
          <p:cNvPr id="724" name="Google Shape;724;p44"/>
          <p:cNvSpPr txBox="1"/>
          <p:nvPr>
            <p:ph idx="4294967295" type="sldNum"/>
          </p:nvPr>
        </p:nvSpPr>
        <p:spPr>
          <a:xfrm>
            <a:off x="11094415" y="6400800"/>
            <a:ext cx="548640" cy="27432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000" u="none" cap="none" strike="noStrike">
                <a:solidFill>
                  <a:srgbClr val="6B7280"/>
                </a:solidFill>
                <a:latin typeface="Calibri"/>
                <a:ea typeface="Calibri"/>
                <a:cs typeface="Calibri"/>
                <a:sym typeface="Calibri"/>
              </a:rPr>
              <a:t>‹#›</a:t>
            </a:fld>
            <a:endParaRPr b="0" i="0" sz="1000" u="none" cap="none" strike="noStrike">
              <a:solidFill>
                <a:srgbClr val="6B7280"/>
              </a:solidFill>
              <a:latin typeface="Calibri"/>
              <a:ea typeface="Calibri"/>
              <a:cs typeface="Calibri"/>
              <a:sym typeface="Calibri"/>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29" name="Shape 729"/>
        <p:cNvGrpSpPr/>
        <p:nvPr/>
      </p:nvGrpSpPr>
      <p:grpSpPr>
        <a:xfrm>
          <a:off x="0" y="0"/>
          <a:ext cx="0" cy="0"/>
          <a:chOff x="0" y="0"/>
          <a:chExt cx="0" cy="0"/>
        </a:xfrm>
      </p:grpSpPr>
      <p:sp>
        <p:nvSpPr>
          <p:cNvPr id="730" name="Google Shape;730;p45"/>
          <p:cNvSpPr/>
          <p:nvPr/>
        </p:nvSpPr>
        <p:spPr>
          <a:xfrm>
            <a:off x="548640" y="566928"/>
            <a:ext cx="475488" cy="475488"/>
          </a:xfrm>
          <a:prstGeom prst="ellipse">
            <a:avLst/>
          </a:prstGeom>
          <a:solidFill>
            <a:srgbClr val="2F7D6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1" name="Google Shape;731;p45"/>
          <p:cNvSpPr txBox="1"/>
          <p:nvPr/>
        </p:nvSpPr>
        <p:spPr>
          <a:xfrm>
            <a:off x="548640" y="566928"/>
            <a:ext cx="475488" cy="47548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6</a:t>
            </a:r>
            <a:endParaRPr b="0" i="0" sz="1600" u="none" cap="none" strike="noStrike">
              <a:solidFill>
                <a:schemeClr val="dk1"/>
              </a:solidFill>
              <a:latin typeface="Calibri"/>
              <a:ea typeface="Calibri"/>
              <a:cs typeface="Calibri"/>
              <a:sym typeface="Calibri"/>
            </a:endParaRPr>
          </a:p>
        </p:txBody>
      </p:sp>
      <p:sp>
        <p:nvSpPr>
          <p:cNvPr id="732" name="Google Shape;732;p45"/>
          <p:cNvSpPr txBox="1"/>
          <p:nvPr/>
        </p:nvSpPr>
        <p:spPr>
          <a:xfrm>
            <a:off x="1280160" y="164592"/>
            <a:ext cx="10362895"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F7D62"/>
              </a:buClr>
              <a:buSzPts val="1200"/>
              <a:buFont typeface="Calibri"/>
              <a:buNone/>
            </a:pPr>
            <a:r>
              <a:rPr b="1" i="0" lang="en-US" sz="1200" u="none" cap="none" strike="noStrike">
                <a:solidFill>
                  <a:srgbClr val="2F7D62"/>
                </a:solidFill>
                <a:latin typeface="Calibri"/>
                <a:ea typeface="Calibri"/>
                <a:cs typeface="Calibri"/>
                <a:sym typeface="Calibri"/>
              </a:rPr>
              <a:t>TRIER, RENOMMER, GÉRER L'INDEX</a:t>
            </a:r>
            <a:endParaRPr b="0" i="0" sz="1200" u="none" cap="none" strike="noStrike">
              <a:solidFill>
                <a:schemeClr val="dk1"/>
              </a:solidFill>
              <a:latin typeface="Calibri"/>
              <a:ea typeface="Calibri"/>
              <a:cs typeface="Calibri"/>
              <a:sym typeface="Calibri"/>
            </a:endParaRPr>
          </a:p>
        </p:txBody>
      </p:sp>
      <p:sp>
        <p:nvSpPr>
          <p:cNvPr id="733" name="Google Shape;733;p45"/>
          <p:cNvSpPr txBox="1"/>
          <p:nvPr/>
        </p:nvSpPr>
        <p:spPr>
          <a:xfrm>
            <a:off x="1280160" y="457200"/>
            <a:ext cx="10362895" cy="6949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F3A5F"/>
              </a:buClr>
              <a:buSzPts val="3000"/>
              <a:buFont typeface="Cambria"/>
              <a:buNone/>
            </a:pPr>
            <a:r>
              <a:rPr b="1" i="0" lang="en-US" sz="3000" u="none" cap="none" strike="noStrike">
                <a:solidFill>
                  <a:srgbClr val="1F3A5F"/>
                </a:solidFill>
                <a:latin typeface="Cambria"/>
                <a:ea typeface="Cambria"/>
                <a:cs typeface="Cambria"/>
                <a:sym typeface="Cambria"/>
              </a:rPr>
              <a:t>Pratique : TP2, partie 6</a:t>
            </a:r>
            <a:endParaRPr b="0" i="0" sz="3000" u="none" cap="none" strike="noStrike">
              <a:solidFill>
                <a:schemeClr val="dk1"/>
              </a:solidFill>
              <a:latin typeface="Calibri"/>
              <a:ea typeface="Calibri"/>
              <a:cs typeface="Calibri"/>
              <a:sym typeface="Calibri"/>
            </a:endParaRPr>
          </a:p>
        </p:txBody>
      </p:sp>
      <p:sp>
        <p:nvSpPr>
          <p:cNvPr id="734" name="Google Shape;734;p45"/>
          <p:cNvSpPr txBox="1"/>
          <p:nvPr/>
        </p:nvSpPr>
        <p:spPr>
          <a:xfrm>
            <a:off x="548640" y="1417320"/>
            <a:ext cx="11094415" cy="411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B7280"/>
              </a:buClr>
              <a:buSzPts val="1800"/>
              <a:buFont typeface="Calibri"/>
              <a:buNone/>
            </a:pPr>
            <a:r>
              <a:rPr b="0" i="0" lang="en-US" sz="1800" u="none" cap="none" strike="noStrike">
                <a:solidFill>
                  <a:srgbClr val="6B7280"/>
                </a:solidFill>
                <a:latin typeface="Calibri"/>
                <a:ea typeface="Calibri"/>
                <a:cs typeface="Calibri"/>
                <a:sym typeface="Calibri"/>
              </a:rPr>
              <a:t>Trier, renommer, gérer l'index</a:t>
            </a:r>
            <a:endParaRPr b="0" i="0" sz="1800" u="none" cap="none" strike="noStrike">
              <a:solidFill>
                <a:schemeClr val="dk1"/>
              </a:solidFill>
              <a:latin typeface="Calibri"/>
              <a:ea typeface="Calibri"/>
              <a:cs typeface="Calibri"/>
              <a:sym typeface="Calibri"/>
            </a:endParaRPr>
          </a:p>
        </p:txBody>
      </p:sp>
      <p:graphicFrame>
        <p:nvGraphicFramePr>
          <p:cNvPr id="735" name="Google Shape;735;p45"/>
          <p:cNvGraphicFramePr/>
          <p:nvPr/>
        </p:nvGraphicFramePr>
        <p:xfrm>
          <a:off x="548640" y="2011680"/>
          <a:ext cx="3000000" cy="3000000"/>
        </p:xfrm>
        <a:graphic>
          <a:graphicData uri="http://schemas.openxmlformats.org/drawingml/2006/table">
            <a:tbl>
              <a:tblPr>
                <a:noFill/>
                <a:tableStyleId>{5790C458-BB61-4800-A068-DD2F3961D878}</a:tableStyleId>
              </a:tblPr>
              <a:tblGrid>
                <a:gridCol w="2289325"/>
                <a:gridCol w="8805100"/>
              </a:tblGrid>
              <a:tr h="379975">
                <a:tc>
                  <a:txBody>
                    <a:bodyPr/>
                    <a:lstStyle/>
                    <a:p>
                      <a:pPr indent="0" lvl="0" marL="0" marR="0" rtl="0" algn="l">
                        <a:spcBef>
                          <a:spcPts val="0"/>
                        </a:spcBef>
                        <a:spcAft>
                          <a:spcPts val="0"/>
                        </a:spcAft>
                        <a:buClr>
                          <a:srgbClr val="FFFFFF"/>
                        </a:buClr>
                        <a:buSzPts val="1600"/>
                        <a:buFont typeface="Calibri"/>
                        <a:buNone/>
                      </a:pPr>
                      <a:r>
                        <a:rPr b="1" lang="en-US" sz="1600" u="none" cap="none" strike="noStrike">
                          <a:solidFill>
                            <a:srgbClr val="FFFFFF"/>
                          </a:solidFill>
                          <a:latin typeface="Calibri"/>
                          <a:ea typeface="Calibri"/>
                          <a:cs typeface="Calibri"/>
                          <a:sym typeface="Calibri"/>
                        </a:rPr>
                        <a:t>Questions</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1F3A5F"/>
                    </a:solidFill>
                  </a:tcPr>
                </a:tc>
                <a:tc>
                  <a:txBody>
                    <a:bodyPr/>
                    <a:lstStyle/>
                    <a:p>
                      <a:pPr indent="0" lvl="0" marL="0" marR="0" rtl="0" algn="l">
                        <a:spcBef>
                          <a:spcPts val="0"/>
                        </a:spcBef>
                        <a:spcAft>
                          <a:spcPts val="0"/>
                        </a:spcAft>
                        <a:buClr>
                          <a:srgbClr val="FFFFFF"/>
                        </a:buClr>
                        <a:buSzPts val="1600"/>
                        <a:buFont typeface="Calibri"/>
                        <a:buNone/>
                      </a:pPr>
                      <a:r>
                        <a:rPr b="1" lang="en-US" sz="1600" u="none" cap="none" strike="noStrike">
                          <a:solidFill>
                            <a:srgbClr val="FFFFFF"/>
                          </a:solidFill>
                          <a:latin typeface="Calibri"/>
                          <a:ea typeface="Calibri"/>
                          <a:cs typeface="Calibri"/>
                          <a:sym typeface="Calibri"/>
                        </a:rPr>
                        <a:t>Ce qu'on pratique</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1F3A5F"/>
                    </a:solidFill>
                  </a:tcPr>
                </a:tc>
              </a:tr>
              <a:tr h="379975">
                <a:tc>
                  <a:txBody>
                    <a:bodyPr/>
                    <a:lstStyle/>
                    <a:p>
                      <a:pPr indent="0" lvl="0" marL="0" marR="0" rtl="0" algn="l">
                        <a:spcBef>
                          <a:spcPts val="0"/>
                        </a:spcBef>
                        <a:spcAft>
                          <a:spcPts val="0"/>
                        </a:spcAft>
                        <a:buClr>
                          <a:srgbClr val="1F2933"/>
                        </a:buClr>
                        <a:buSzPts val="1600"/>
                        <a:buFont typeface="Calibri"/>
                        <a:buNone/>
                      </a:pPr>
                      <a:r>
                        <a:rPr b="1" lang="en-US" sz="1600" u="none" cap="none" strike="noStrike">
                          <a:solidFill>
                            <a:srgbClr val="1F2933"/>
                          </a:solidFill>
                          <a:latin typeface="Calibri"/>
                          <a:ea typeface="Calibri"/>
                          <a:cs typeface="Calibri"/>
                          <a:sym typeface="Calibri"/>
                        </a:rPr>
                        <a:t>6.1</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F2933"/>
                        </a:buClr>
                        <a:buSzPts val="1600"/>
                        <a:buFont typeface="Calibri"/>
                        <a:buNone/>
                      </a:pPr>
                      <a:r>
                        <a:rPr lang="en-US" sz="1600" u="none" cap="none" strike="noStrike">
                          <a:solidFill>
                            <a:srgbClr val="1F2933"/>
                          </a:solidFill>
                          <a:latin typeface="Calibri"/>
                          <a:ea typeface="Calibri"/>
                          <a:cs typeface="Calibri"/>
                          <a:sym typeface="Calibri"/>
                        </a:rPr>
                        <a:t>trier sur deux colonnes, puis </a:t>
                      </a:r>
                      <a:r>
                        <a:rPr lang="en-US" sz="1600" u="none" cap="none" strike="noStrike">
                          <a:solidFill>
                            <a:srgbClr val="1F3A5F"/>
                          </a:solidFill>
                          <a:latin typeface="Courier New"/>
                          <a:ea typeface="Courier New"/>
                          <a:cs typeface="Courier New"/>
                          <a:sym typeface="Courier New"/>
                        </a:rPr>
                        <a:t>nlargest</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FFFFF"/>
                    </a:solidFill>
                  </a:tcPr>
                </a:tc>
              </a:tr>
              <a:tr h="379975">
                <a:tc>
                  <a:txBody>
                    <a:bodyPr/>
                    <a:lstStyle/>
                    <a:p>
                      <a:pPr indent="0" lvl="0" marL="0" marR="0" rtl="0" algn="l">
                        <a:spcBef>
                          <a:spcPts val="0"/>
                        </a:spcBef>
                        <a:spcAft>
                          <a:spcPts val="0"/>
                        </a:spcAft>
                        <a:buClr>
                          <a:srgbClr val="1F2933"/>
                        </a:buClr>
                        <a:buSzPts val="1600"/>
                        <a:buFont typeface="Calibri"/>
                        <a:buNone/>
                      </a:pPr>
                      <a:r>
                        <a:rPr b="1" lang="en-US" sz="1600" u="none" cap="none" strike="noStrike">
                          <a:solidFill>
                            <a:srgbClr val="1F2933"/>
                          </a:solidFill>
                          <a:latin typeface="Calibri"/>
                          <a:ea typeface="Calibri"/>
                          <a:cs typeface="Calibri"/>
                          <a:sym typeface="Calibri"/>
                        </a:rPr>
                        <a:t>6.2</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7F9FB"/>
                    </a:solidFill>
                  </a:tcPr>
                </a:tc>
                <a:tc>
                  <a:txBody>
                    <a:bodyPr/>
                    <a:lstStyle/>
                    <a:p>
                      <a:pPr indent="0" lvl="0" marL="0" marR="0" rtl="0" algn="l">
                        <a:spcBef>
                          <a:spcPts val="0"/>
                        </a:spcBef>
                        <a:spcAft>
                          <a:spcPts val="0"/>
                        </a:spcAft>
                        <a:buClr>
                          <a:srgbClr val="1F2933"/>
                        </a:buClr>
                        <a:buSzPts val="1600"/>
                        <a:buFont typeface="Calibri"/>
                        <a:buNone/>
                      </a:pPr>
                      <a:r>
                        <a:rPr lang="en-US" sz="1600" u="none" cap="none" strike="noStrike">
                          <a:solidFill>
                            <a:srgbClr val="1F2933"/>
                          </a:solidFill>
                          <a:latin typeface="Calibri"/>
                          <a:ea typeface="Calibri"/>
                          <a:cs typeface="Calibri"/>
                          <a:sym typeface="Calibri"/>
                        </a:rPr>
                        <a:t>écrire la fonction </a:t>
                      </a:r>
                      <a:r>
                        <a:rPr lang="en-US" sz="1600" u="none" cap="none" strike="noStrike">
                          <a:solidFill>
                            <a:srgbClr val="1F3A5F"/>
                          </a:solidFill>
                          <a:latin typeface="Courier New"/>
                          <a:ea typeface="Courier New"/>
                          <a:cs typeface="Courier New"/>
                          <a:sym typeface="Courier New"/>
                        </a:rPr>
                        <a:t>harmoniser_colonnes</a:t>
                      </a:r>
                      <a:r>
                        <a:rPr lang="en-US" sz="1600" u="none" cap="none" strike="noStrike">
                          <a:solidFill>
                            <a:srgbClr val="1F2933"/>
                          </a:solidFill>
                          <a:latin typeface="Calibri"/>
                          <a:ea typeface="Calibri"/>
                          <a:cs typeface="Calibri"/>
                          <a:sym typeface="Calibri"/>
                        </a:rPr>
                        <a:t> et la tester sur deux tableaux</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7F9FB"/>
                    </a:solidFill>
                  </a:tcPr>
                </a:tc>
              </a:tr>
              <a:tr h="379975">
                <a:tc>
                  <a:txBody>
                    <a:bodyPr/>
                    <a:lstStyle/>
                    <a:p>
                      <a:pPr indent="0" lvl="0" marL="0" marR="0" rtl="0" algn="l">
                        <a:spcBef>
                          <a:spcPts val="0"/>
                        </a:spcBef>
                        <a:spcAft>
                          <a:spcPts val="0"/>
                        </a:spcAft>
                        <a:buClr>
                          <a:srgbClr val="1F2933"/>
                        </a:buClr>
                        <a:buSzPts val="1600"/>
                        <a:buFont typeface="Calibri"/>
                        <a:buNone/>
                      </a:pPr>
                      <a:r>
                        <a:rPr b="1" lang="en-US" sz="1600" u="none" cap="none" strike="noStrike">
                          <a:solidFill>
                            <a:srgbClr val="1F2933"/>
                          </a:solidFill>
                          <a:latin typeface="Calibri"/>
                          <a:ea typeface="Calibri"/>
                          <a:cs typeface="Calibri"/>
                          <a:sym typeface="Calibri"/>
                        </a:rPr>
                        <a:t>6.3</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F2933"/>
                        </a:buClr>
                        <a:buSzPts val="1600"/>
                        <a:buFont typeface="Calibri"/>
                        <a:buNone/>
                      </a:pPr>
                      <a:r>
                        <a:rPr lang="en-US" sz="1600" u="none" cap="none" strike="noStrike">
                          <a:solidFill>
                            <a:srgbClr val="1F2933"/>
                          </a:solidFill>
                          <a:latin typeface="Calibri"/>
                          <a:ea typeface="Calibri"/>
                          <a:cs typeface="Calibri"/>
                          <a:sym typeface="Calibri"/>
                        </a:rPr>
                        <a:t>vérifier l'unicité, puis </a:t>
                      </a:r>
                      <a:r>
                        <a:rPr lang="en-US" sz="1600" u="none" cap="none" strike="noStrike">
                          <a:solidFill>
                            <a:srgbClr val="1F3A5F"/>
                          </a:solidFill>
                          <a:latin typeface="Courier New"/>
                          <a:ea typeface="Courier New"/>
                          <a:cs typeface="Courier New"/>
                          <a:sym typeface="Courier New"/>
                        </a:rPr>
                        <a:t>set_index</a:t>
                      </a:r>
                      <a:r>
                        <a:rPr lang="en-US" sz="1600" u="none" cap="none" strike="noStrike">
                          <a:solidFill>
                            <a:srgbClr val="1F2933"/>
                          </a:solidFill>
                          <a:latin typeface="Calibri"/>
                          <a:ea typeface="Calibri"/>
                          <a:cs typeface="Calibri"/>
                          <a:sym typeface="Calibri"/>
                        </a:rPr>
                        <a:t>, </a:t>
                      </a:r>
                      <a:r>
                        <a:rPr lang="en-US" sz="1600" u="none" cap="none" strike="noStrike">
                          <a:solidFill>
                            <a:srgbClr val="1F3A5F"/>
                          </a:solidFill>
                          <a:latin typeface="Courier New"/>
                          <a:ea typeface="Courier New"/>
                          <a:cs typeface="Courier New"/>
                          <a:sym typeface="Courier New"/>
                        </a:rPr>
                        <a:t>loc</a:t>
                      </a:r>
                      <a:r>
                        <a:rPr lang="en-US" sz="1600" u="none" cap="none" strike="noStrike">
                          <a:solidFill>
                            <a:srgbClr val="1F2933"/>
                          </a:solidFill>
                          <a:latin typeface="Calibri"/>
                          <a:ea typeface="Calibri"/>
                          <a:cs typeface="Calibri"/>
                          <a:sym typeface="Calibri"/>
                        </a:rPr>
                        <a:t> et </a:t>
                      </a:r>
                      <a:r>
                        <a:rPr lang="en-US" sz="1600" u="none" cap="none" strike="noStrike">
                          <a:solidFill>
                            <a:srgbClr val="1F3A5F"/>
                          </a:solidFill>
                          <a:latin typeface="Courier New"/>
                          <a:ea typeface="Courier New"/>
                          <a:cs typeface="Courier New"/>
                          <a:sym typeface="Courier New"/>
                        </a:rPr>
                        <a:t>reset_index</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FFFFF"/>
                    </a:solidFill>
                  </a:tcPr>
                </a:tc>
              </a:tr>
            </a:tbl>
          </a:graphicData>
        </a:graphic>
      </p:graphicFrame>
      <p:sp>
        <p:nvSpPr>
          <p:cNvPr id="736" name="Google Shape;736;p45"/>
          <p:cNvSpPr txBox="1"/>
          <p:nvPr/>
        </p:nvSpPr>
        <p:spPr>
          <a:xfrm>
            <a:off x="548640" y="6400800"/>
            <a:ext cx="73152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B7280"/>
              </a:buClr>
              <a:buSzPts val="1000"/>
              <a:buFont typeface="Calibri"/>
              <a:buNone/>
            </a:pPr>
            <a:r>
              <a:rPr b="0" i="0" lang="en-US" sz="1000" u="none" cap="none" strike="noStrike">
                <a:solidFill>
                  <a:srgbClr val="6B7280"/>
                </a:solidFill>
                <a:latin typeface="Calibri"/>
                <a:ea typeface="Calibri"/>
                <a:cs typeface="Calibri"/>
                <a:sym typeface="Calibri"/>
              </a:rPr>
              <a:t>Analyse de données avec Python   |   Jour 1, après-midi</a:t>
            </a:r>
            <a:endParaRPr b="0" i="0" sz="1000" u="none" cap="none" strike="noStrike">
              <a:solidFill>
                <a:schemeClr val="dk1"/>
              </a:solidFill>
              <a:latin typeface="Calibri"/>
              <a:ea typeface="Calibri"/>
              <a:cs typeface="Calibri"/>
              <a:sym typeface="Calibri"/>
            </a:endParaRPr>
          </a:p>
        </p:txBody>
      </p:sp>
      <p:sp>
        <p:nvSpPr>
          <p:cNvPr id="737" name="Google Shape;737;p45"/>
          <p:cNvSpPr txBox="1"/>
          <p:nvPr>
            <p:ph idx="4294967295" type="sldNum"/>
          </p:nvPr>
        </p:nvSpPr>
        <p:spPr>
          <a:xfrm>
            <a:off x="11094415" y="6400800"/>
            <a:ext cx="548640" cy="27432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000" u="none" cap="none" strike="noStrike">
                <a:solidFill>
                  <a:srgbClr val="6B7280"/>
                </a:solidFill>
                <a:latin typeface="Calibri"/>
                <a:ea typeface="Calibri"/>
                <a:cs typeface="Calibri"/>
                <a:sym typeface="Calibri"/>
              </a:rPr>
              <a:t>‹#›</a:t>
            </a:fld>
            <a:endParaRPr b="0" i="0" sz="1000" u="none" cap="none" strike="noStrike">
              <a:solidFill>
                <a:srgbClr val="6B7280"/>
              </a:solidFill>
              <a:latin typeface="Calibri"/>
              <a:ea typeface="Calibri"/>
              <a:cs typeface="Calibri"/>
              <a:sym typeface="Calibri"/>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F3A5F"/>
        </a:solidFill>
      </p:bgPr>
    </p:bg>
    <p:spTree>
      <p:nvGrpSpPr>
        <p:cNvPr id="742" name="Shape 742"/>
        <p:cNvGrpSpPr/>
        <p:nvPr/>
      </p:nvGrpSpPr>
      <p:grpSpPr>
        <a:xfrm>
          <a:off x="0" y="0"/>
          <a:ext cx="0" cy="0"/>
          <a:chOff x="0" y="0"/>
          <a:chExt cx="0" cy="0"/>
        </a:xfrm>
      </p:grpSpPr>
      <p:sp>
        <p:nvSpPr>
          <p:cNvPr id="743" name="Google Shape;743;p46"/>
          <p:cNvSpPr txBox="1"/>
          <p:nvPr/>
        </p:nvSpPr>
        <p:spPr>
          <a:xfrm>
            <a:off x="731520" y="1737360"/>
            <a:ext cx="2743200" cy="11887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FD1B5"/>
              </a:buClr>
              <a:buSzPts val="8000"/>
              <a:buFont typeface="Cambria"/>
              <a:buNone/>
            </a:pPr>
            <a:r>
              <a:rPr b="1" i="0" lang="en-US" sz="8000" u="none" cap="none" strike="noStrike">
                <a:solidFill>
                  <a:srgbClr val="8FD1B5"/>
                </a:solidFill>
                <a:latin typeface="Cambria"/>
                <a:ea typeface="Cambria"/>
                <a:cs typeface="Cambria"/>
                <a:sym typeface="Cambria"/>
              </a:rPr>
              <a:t>07</a:t>
            </a:r>
            <a:endParaRPr b="0" i="0" sz="8000" u="none" cap="none" strike="noStrike">
              <a:solidFill>
                <a:schemeClr val="dk1"/>
              </a:solidFill>
              <a:latin typeface="Calibri"/>
              <a:ea typeface="Calibri"/>
              <a:cs typeface="Calibri"/>
              <a:sym typeface="Calibri"/>
            </a:endParaRPr>
          </a:p>
        </p:txBody>
      </p:sp>
      <p:sp>
        <p:nvSpPr>
          <p:cNvPr id="744" name="Google Shape;744;p46"/>
          <p:cNvSpPr txBox="1"/>
          <p:nvPr/>
        </p:nvSpPr>
        <p:spPr>
          <a:xfrm>
            <a:off x="731520" y="3017520"/>
            <a:ext cx="10515600" cy="8229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FFFFFF"/>
              </a:buClr>
              <a:buSzPts val="4000"/>
              <a:buFont typeface="Cambria"/>
              <a:buNone/>
            </a:pPr>
            <a:r>
              <a:rPr b="1" i="0" lang="en-US" sz="4000" u="none" cap="none" strike="noStrike">
                <a:solidFill>
                  <a:srgbClr val="FFFFFF"/>
                </a:solidFill>
                <a:latin typeface="Cambria"/>
                <a:ea typeface="Cambria"/>
                <a:cs typeface="Cambria"/>
                <a:sym typeface="Cambria"/>
              </a:rPr>
              <a:t>Une démarche de nettoyage</a:t>
            </a:r>
            <a:endParaRPr b="0" i="0" sz="4000" u="none" cap="none" strike="noStrike">
              <a:solidFill>
                <a:schemeClr val="dk1"/>
              </a:solidFill>
              <a:latin typeface="Calibri"/>
              <a:ea typeface="Calibri"/>
              <a:cs typeface="Calibri"/>
              <a:sym typeface="Calibri"/>
            </a:endParaRPr>
          </a:p>
        </p:txBody>
      </p:sp>
      <p:sp>
        <p:nvSpPr>
          <p:cNvPr id="745" name="Google Shape;745;p46"/>
          <p:cNvSpPr txBox="1"/>
          <p:nvPr/>
        </p:nvSpPr>
        <p:spPr>
          <a:xfrm>
            <a:off x="731520" y="3977640"/>
            <a:ext cx="10515600" cy="5486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C9D6E3"/>
              </a:buClr>
              <a:buSzPts val="2000"/>
              <a:buFont typeface="Calibri"/>
              <a:buNone/>
            </a:pPr>
            <a:r>
              <a:rPr b="0" i="0" lang="en-US" sz="2000" u="none" cap="none" strike="noStrike">
                <a:solidFill>
                  <a:srgbClr val="C9D6E3"/>
                </a:solidFill>
                <a:latin typeface="Calibri"/>
                <a:ea typeface="Calibri"/>
                <a:cs typeface="Calibri"/>
                <a:sym typeface="Calibri"/>
              </a:rPr>
              <a:t>Un ordre   |   Des choix notés   |   Le cas pratique</a:t>
            </a:r>
            <a:endParaRPr b="0" i="0" sz="2000" u="none" cap="none" strike="noStrike">
              <a:solidFill>
                <a:schemeClr val="dk1"/>
              </a:solidFill>
              <a:latin typeface="Calibri"/>
              <a:ea typeface="Calibri"/>
              <a:cs typeface="Calibri"/>
              <a:sym typeface="Calibri"/>
            </a:endParaRP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50" name="Shape 750"/>
        <p:cNvGrpSpPr/>
        <p:nvPr/>
      </p:nvGrpSpPr>
      <p:grpSpPr>
        <a:xfrm>
          <a:off x="0" y="0"/>
          <a:ext cx="0" cy="0"/>
          <a:chOff x="0" y="0"/>
          <a:chExt cx="0" cy="0"/>
        </a:xfrm>
      </p:grpSpPr>
      <p:sp>
        <p:nvSpPr>
          <p:cNvPr id="751" name="Google Shape;751;p47"/>
          <p:cNvSpPr/>
          <p:nvPr/>
        </p:nvSpPr>
        <p:spPr>
          <a:xfrm>
            <a:off x="548640" y="566928"/>
            <a:ext cx="475488" cy="475488"/>
          </a:xfrm>
          <a:prstGeom prst="ellipse">
            <a:avLst/>
          </a:prstGeom>
          <a:solidFill>
            <a:srgbClr val="2F7D6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2" name="Google Shape;752;p47"/>
          <p:cNvSpPr txBox="1"/>
          <p:nvPr/>
        </p:nvSpPr>
        <p:spPr>
          <a:xfrm>
            <a:off x="548640" y="566928"/>
            <a:ext cx="475488" cy="47548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7</a:t>
            </a:r>
            <a:endParaRPr b="0" i="0" sz="1600" u="none" cap="none" strike="noStrike">
              <a:solidFill>
                <a:schemeClr val="dk1"/>
              </a:solidFill>
              <a:latin typeface="Calibri"/>
              <a:ea typeface="Calibri"/>
              <a:cs typeface="Calibri"/>
              <a:sym typeface="Calibri"/>
            </a:endParaRPr>
          </a:p>
        </p:txBody>
      </p:sp>
      <p:sp>
        <p:nvSpPr>
          <p:cNvPr id="753" name="Google Shape;753;p47"/>
          <p:cNvSpPr txBox="1"/>
          <p:nvPr/>
        </p:nvSpPr>
        <p:spPr>
          <a:xfrm>
            <a:off x="1280160" y="164592"/>
            <a:ext cx="10362895"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F7D62"/>
              </a:buClr>
              <a:buSzPts val="1200"/>
              <a:buFont typeface="Calibri"/>
              <a:buNone/>
            </a:pPr>
            <a:r>
              <a:rPr b="1" i="0" lang="en-US" sz="1200" u="none" cap="none" strike="noStrike">
                <a:solidFill>
                  <a:srgbClr val="2F7D62"/>
                </a:solidFill>
                <a:latin typeface="Calibri"/>
                <a:ea typeface="Calibri"/>
                <a:cs typeface="Calibri"/>
                <a:sym typeface="Calibri"/>
              </a:rPr>
              <a:t>UNE DÉMARCHE DE NETTOYAGE</a:t>
            </a:r>
            <a:endParaRPr b="0" i="0" sz="1200" u="none" cap="none" strike="noStrike">
              <a:solidFill>
                <a:schemeClr val="dk1"/>
              </a:solidFill>
              <a:latin typeface="Calibri"/>
              <a:ea typeface="Calibri"/>
              <a:cs typeface="Calibri"/>
              <a:sym typeface="Calibri"/>
            </a:endParaRPr>
          </a:p>
        </p:txBody>
      </p:sp>
      <p:sp>
        <p:nvSpPr>
          <p:cNvPr id="754" name="Google Shape;754;p47"/>
          <p:cNvSpPr txBox="1"/>
          <p:nvPr/>
        </p:nvSpPr>
        <p:spPr>
          <a:xfrm>
            <a:off x="1280160" y="457200"/>
            <a:ext cx="10362895" cy="6949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F3A5F"/>
              </a:buClr>
              <a:buSzPts val="3000"/>
              <a:buFont typeface="Cambria"/>
              <a:buNone/>
            </a:pPr>
            <a:r>
              <a:rPr b="1" i="0" lang="en-US" sz="3000" u="none" cap="none" strike="noStrike">
                <a:solidFill>
                  <a:srgbClr val="1F3A5F"/>
                </a:solidFill>
                <a:latin typeface="Cambria"/>
                <a:ea typeface="Cambria"/>
                <a:cs typeface="Cambria"/>
                <a:sym typeface="Cambria"/>
              </a:rPr>
              <a:t>Une démarche de nettoyage</a:t>
            </a:r>
            <a:endParaRPr b="0" i="0" sz="3000" u="none" cap="none" strike="noStrike">
              <a:solidFill>
                <a:schemeClr val="dk1"/>
              </a:solidFill>
              <a:latin typeface="Calibri"/>
              <a:ea typeface="Calibri"/>
              <a:cs typeface="Calibri"/>
              <a:sym typeface="Calibri"/>
            </a:endParaRPr>
          </a:p>
        </p:txBody>
      </p:sp>
      <p:cxnSp>
        <p:nvCxnSpPr>
          <p:cNvPr id="755" name="Google Shape;755;p47"/>
          <p:cNvCxnSpPr/>
          <p:nvPr/>
        </p:nvCxnSpPr>
        <p:spPr>
          <a:xfrm>
            <a:off x="1164996" y="2057400"/>
            <a:ext cx="9861702" cy="0"/>
          </a:xfrm>
          <a:prstGeom prst="straightConnector1">
            <a:avLst/>
          </a:prstGeom>
          <a:noFill/>
          <a:ln cap="flat" cmpd="sng" w="25400">
            <a:solidFill>
              <a:srgbClr val="D5DCE3"/>
            </a:solidFill>
            <a:prstDash val="solid"/>
            <a:round/>
            <a:headEnd len="sm" w="sm" type="none"/>
            <a:tailEnd len="sm" w="sm" type="none"/>
          </a:ln>
        </p:spPr>
      </p:cxnSp>
      <p:sp>
        <p:nvSpPr>
          <p:cNvPr id="756" name="Google Shape;756;p47"/>
          <p:cNvSpPr/>
          <p:nvPr/>
        </p:nvSpPr>
        <p:spPr>
          <a:xfrm>
            <a:off x="936396" y="1828800"/>
            <a:ext cx="457200" cy="457200"/>
          </a:xfrm>
          <a:prstGeom prst="ellipse">
            <a:avLst/>
          </a:prstGeom>
          <a:solidFill>
            <a:srgbClr val="2F7D6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7" name="Google Shape;757;p47"/>
          <p:cNvSpPr txBox="1"/>
          <p:nvPr/>
        </p:nvSpPr>
        <p:spPr>
          <a:xfrm>
            <a:off x="936396" y="1828800"/>
            <a:ext cx="4572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1</a:t>
            </a:r>
            <a:endParaRPr b="0" i="0" sz="1500" u="none" cap="none" strike="noStrike">
              <a:solidFill>
                <a:schemeClr val="dk1"/>
              </a:solidFill>
              <a:latin typeface="Calibri"/>
              <a:ea typeface="Calibri"/>
              <a:cs typeface="Calibri"/>
              <a:sym typeface="Calibri"/>
            </a:endParaRPr>
          </a:p>
        </p:txBody>
      </p:sp>
      <p:sp>
        <p:nvSpPr>
          <p:cNvPr id="758" name="Google Shape;758;p47"/>
          <p:cNvSpPr txBox="1"/>
          <p:nvPr/>
        </p:nvSpPr>
        <p:spPr>
          <a:xfrm>
            <a:off x="594360" y="2423160"/>
            <a:ext cx="1141273" cy="50292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1F3A5F"/>
              </a:buClr>
              <a:buSzPts val="1400"/>
              <a:buFont typeface="Calibri"/>
              <a:buNone/>
            </a:pPr>
            <a:r>
              <a:rPr b="1" i="0" lang="en-US" sz="1400" u="none" cap="none" strike="noStrike">
                <a:solidFill>
                  <a:srgbClr val="1F3A5F"/>
                </a:solidFill>
                <a:latin typeface="Calibri"/>
                <a:ea typeface="Calibri"/>
                <a:cs typeface="Calibri"/>
                <a:sym typeface="Calibri"/>
              </a:rPr>
              <a:t>Charger</a:t>
            </a:r>
            <a:endParaRPr b="0" i="0" sz="1400" u="none" cap="none" strike="noStrike">
              <a:solidFill>
                <a:schemeClr val="dk1"/>
              </a:solidFill>
              <a:latin typeface="Calibri"/>
              <a:ea typeface="Calibri"/>
              <a:cs typeface="Calibri"/>
              <a:sym typeface="Calibri"/>
            </a:endParaRPr>
          </a:p>
        </p:txBody>
      </p:sp>
      <p:sp>
        <p:nvSpPr>
          <p:cNvPr id="759" name="Google Shape;759;p47"/>
          <p:cNvSpPr txBox="1"/>
          <p:nvPr/>
        </p:nvSpPr>
        <p:spPr>
          <a:xfrm>
            <a:off x="594360" y="2926080"/>
            <a:ext cx="1141273" cy="6858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6B7280"/>
              </a:buClr>
              <a:buSzPts val="1200"/>
              <a:buFont typeface="Calibri"/>
              <a:buNone/>
            </a:pPr>
            <a:r>
              <a:rPr b="0" i="0" lang="en-US" sz="1200" u="none" cap="none" strike="noStrike">
                <a:solidFill>
                  <a:srgbClr val="6B7280"/>
                </a:solidFill>
                <a:latin typeface="Calibri"/>
                <a:ea typeface="Calibri"/>
                <a:cs typeface="Calibri"/>
                <a:sym typeface="Calibri"/>
              </a:rPr>
              <a:t>le brut</a:t>
            </a:r>
            <a:endParaRPr b="0" i="0" sz="1200" u="none" cap="none" strike="noStrike">
              <a:solidFill>
                <a:schemeClr val="dk1"/>
              </a:solidFill>
              <a:latin typeface="Calibri"/>
              <a:ea typeface="Calibri"/>
              <a:cs typeface="Calibri"/>
              <a:sym typeface="Calibri"/>
            </a:endParaRPr>
          </a:p>
        </p:txBody>
      </p:sp>
      <p:sp>
        <p:nvSpPr>
          <p:cNvPr id="760" name="Google Shape;760;p47"/>
          <p:cNvSpPr/>
          <p:nvPr/>
        </p:nvSpPr>
        <p:spPr>
          <a:xfrm>
            <a:off x="2169109" y="1828800"/>
            <a:ext cx="457200" cy="457200"/>
          </a:xfrm>
          <a:prstGeom prst="ellipse">
            <a:avLst/>
          </a:prstGeom>
          <a:solidFill>
            <a:srgbClr val="2F7D6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1" name="Google Shape;761;p47"/>
          <p:cNvSpPr txBox="1"/>
          <p:nvPr/>
        </p:nvSpPr>
        <p:spPr>
          <a:xfrm>
            <a:off x="2169109" y="1828800"/>
            <a:ext cx="4572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2</a:t>
            </a:r>
            <a:endParaRPr b="0" i="0" sz="1500" u="none" cap="none" strike="noStrike">
              <a:solidFill>
                <a:schemeClr val="dk1"/>
              </a:solidFill>
              <a:latin typeface="Calibri"/>
              <a:ea typeface="Calibri"/>
              <a:cs typeface="Calibri"/>
              <a:sym typeface="Calibri"/>
            </a:endParaRPr>
          </a:p>
        </p:txBody>
      </p:sp>
      <p:sp>
        <p:nvSpPr>
          <p:cNvPr id="762" name="Google Shape;762;p47"/>
          <p:cNvSpPr txBox="1"/>
          <p:nvPr/>
        </p:nvSpPr>
        <p:spPr>
          <a:xfrm>
            <a:off x="1827073" y="2423160"/>
            <a:ext cx="1141273" cy="50292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1F3A5F"/>
              </a:buClr>
              <a:buSzPts val="1400"/>
              <a:buFont typeface="Calibri"/>
              <a:buNone/>
            </a:pPr>
            <a:r>
              <a:rPr b="1" i="0" lang="en-US" sz="1400" u="none" cap="none" strike="noStrike">
                <a:solidFill>
                  <a:srgbClr val="1F3A5F"/>
                </a:solidFill>
                <a:latin typeface="Calibri"/>
                <a:ea typeface="Calibri"/>
                <a:cs typeface="Calibri"/>
                <a:sym typeface="Calibri"/>
              </a:rPr>
              <a:t>Noms de colonnes</a:t>
            </a:r>
            <a:endParaRPr b="0" i="0" sz="1400" u="none" cap="none" strike="noStrike">
              <a:solidFill>
                <a:schemeClr val="dk1"/>
              </a:solidFill>
              <a:latin typeface="Calibri"/>
              <a:ea typeface="Calibri"/>
              <a:cs typeface="Calibri"/>
              <a:sym typeface="Calibri"/>
            </a:endParaRPr>
          </a:p>
        </p:txBody>
      </p:sp>
      <p:sp>
        <p:nvSpPr>
          <p:cNvPr id="763" name="Google Shape;763;p47"/>
          <p:cNvSpPr txBox="1"/>
          <p:nvPr/>
        </p:nvSpPr>
        <p:spPr>
          <a:xfrm>
            <a:off x="1827073" y="2926080"/>
            <a:ext cx="1141273" cy="6858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6B7280"/>
              </a:buClr>
              <a:buSzPts val="1200"/>
              <a:buFont typeface="Calibri"/>
              <a:buNone/>
            </a:pPr>
            <a:r>
              <a:rPr b="0" i="0" lang="en-US" sz="1200" u="none" cap="none" strike="noStrike">
                <a:solidFill>
                  <a:srgbClr val="6B7280"/>
                </a:solidFill>
                <a:latin typeface="Calibri"/>
                <a:ea typeface="Calibri"/>
                <a:cs typeface="Calibri"/>
                <a:sym typeface="Calibri"/>
              </a:rPr>
              <a:t>snake_case</a:t>
            </a:r>
            <a:endParaRPr b="0" i="0" sz="1200" u="none" cap="none" strike="noStrike">
              <a:solidFill>
                <a:schemeClr val="dk1"/>
              </a:solidFill>
              <a:latin typeface="Calibri"/>
              <a:ea typeface="Calibri"/>
              <a:cs typeface="Calibri"/>
              <a:sym typeface="Calibri"/>
            </a:endParaRPr>
          </a:p>
        </p:txBody>
      </p:sp>
      <p:sp>
        <p:nvSpPr>
          <p:cNvPr id="764" name="Google Shape;764;p47"/>
          <p:cNvSpPr/>
          <p:nvPr/>
        </p:nvSpPr>
        <p:spPr>
          <a:xfrm>
            <a:off x="3401822" y="1828800"/>
            <a:ext cx="457200" cy="457200"/>
          </a:xfrm>
          <a:prstGeom prst="ellipse">
            <a:avLst/>
          </a:prstGeom>
          <a:solidFill>
            <a:srgbClr val="2F7D6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5" name="Google Shape;765;p47"/>
          <p:cNvSpPr txBox="1"/>
          <p:nvPr/>
        </p:nvSpPr>
        <p:spPr>
          <a:xfrm>
            <a:off x="3401822" y="1828800"/>
            <a:ext cx="4572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3</a:t>
            </a:r>
            <a:endParaRPr b="0" i="0" sz="1500" u="none" cap="none" strike="noStrike">
              <a:solidFill>
                <a:schemeClr val="dk1"/>
              </a:solidFill>
              <a:latin typeface="Calibri"/>
              <a:ea typeface="Calibri"/>
              <a:cs typeface="Calibri"/>
              <a:sym typeface="Calibri"/>
            </a:endParaRPr>
          </a:p>
        </p:txBody>
      </p:sp>
      <p:sp>
        <p:nvSpPr>
          <p:cNvPr id="766" name="Google Shape;766;p47"/>
          <p:cNvSpPr txBox="1"/>
          <p:nvPr/>
        </p:nvSpPr>
        <p:spPr>
          <a:xfrm>
            <a:off x="3059786" y="2423160"/>
            <a:ext cx="1141273" cy="50292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1F3A5F"/>
              </a:buClr>
              <a:buSzPts val="1400"/>
              <a:buFont typeface="Calibri"/>
              <a:buNone/>
            </a:pPr>
            <a:r>
              <a:rPr b="1" i="0" lang="en-US" sz="1400" u="none" cap="none" strike="noStrike">
                <a:solidFill>
                  <a:srgbClr val="1F3A5F"/>
                </a:solidFill>
                <a:latin typeface="Calibri"/>
                <a:ea typeface="Calibri"/>
                <a:cs typeface="Calibri"/>
                <a:sym typeface="Calibri"/>
              </a:rPr>
              <a:t>Doublons</a:t>
            </a:r>
            <a:endParaRPr b="0" i="0" sz="1400" u="none" cap="none" strike="noStrike">
              <a:solidFill>
                <a:schemeClr val="dk1"/>
              </a:solidFill>
              <a:latin typeface="Calibri"/>
              <a:ea typeface="Calibri"/>
              <a:cs typeface="Calibri"/>
              <a:sym typeface="Calibri"/>
            </a:endParaRPr>
          </a:p>
        </p:txBody>
      </p:sp>
      <p:sp>
        <p:nvSpPr>
          <p:cNvPr id="767" name="Google Shape;767;p47"/>
          <p:cNvSpPr txBox="1"/>
          <p:nvPr/>
        </p:nvSpPr>
        <p:spPr>
          <a:xfrm>
            <a:off x="3059786" y="2926080"/>
            <a:ext cx="1141273" cy="6858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6B7280"/>
              </a:buClr>
              <a:buSzPts val="1200"/>
              <a:buFont typeface="Calibri"/>
              <a:buNone/>
            </a:pPr>
            <a:r>
              <a:rPr b="0" i="0" lang="en-US" sz="1200" u="none" cap="none" strike="noStrike">
                <a:solidFill>
                  <a:srgbClr val="6B7280"/>
                </a:solidFill>
                <a:latin typeface="Calibri"/>
                <a:ea typeface="Calibri"/>
                <a:cs typeface="Calibri"/>
                <a:sym typeface="Calibri"/>
              </a:rPr>
              <a:t>exacts</a:t>
            </a:r>
            <a:endParaRPr b="0" i="0" sz="1200" u="none" cap="none" strike="noStrike">
              <a:solidFill>
                <a:schemeClr val="dk1"/>
              </a:solidFill>
              <a:latin typeface="Calibri"/>
              <a:ea typeface="Calibri"/>
              <a:cs typeface="Calibri"/>
              <a:sym typeface="Calibri"/>
            </a:endParaRPr>
          </a:p>
        </p:txBody>
      </p:sp>
      <p:sp>
        <p:nvSpPr>
          <p:cNvPr id="768" name="Google Shape;768;p47"/>
          <p:cNvSpPr/>
          <p:nvPr/>
        </p:nvSpPr>
        <p:spPr>
          <a:xfrm>
            <a:off x="4634535" y="1828800"/>
            <a:ext cx="457200" cy="457200"/>
          </a:xfrm>
          <a:prstGeom prst="ellipse">
            <a:avLst/>
          </a:prstGeom>
          <a:solidFill>
            <a:srgbClr val="2F7D6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9" name="Google Shape;769;p47"/>
          <p:cNvSpPr txBox="1"/>
          <p:nvPr/>
        </p:nvSpPr>
        <p:spPr>
          <a:xfrm>
            <a:off x="4634535" y="1828800"/>
            <a:ext cx="4572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4</a:t>
            </a:r>
            <a:endParaRPr b="0" i="0" sz="1500" u="none" cap="none" strike="noStrike">
              <a:solidFill>
                <a:schemeClr val="dk1"/>
              </a:solidFill>
              <a:latin typeface="Calibri"/>
              <a:ea typeface="Calibri"/>
              <a:cs typeface="Calibri"/>
              <a:sym typeface="Calibri"/>
            </a:endParaRPr>
          </a:p>
        </p:txBody>
      </p:sp>
      <p:sp>
        <p:nvSpPr>
          <p:cNvPr id="770" name="Google Shape;770;p47"/>
          <p:cNvSpPr txBox="1"/>
          <p:nvPr/>
        </p:nvSpPr>
        <p:spPr>
          <a:xfrm>
            <a:off x="4292498" y="2423160"/>
            <a:ext cx="1141273" cy="50292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1F3A5F"/>
              </a:buClr>
              <a:buSzPts val="1400"/>
              <a:buFont typeface="Calibri"/>
              <a:buNone/>
            </a:pPr>
            <a:r>
              <a:rPr b="1" i="0" lang="en-US" sz="1400" u="none" cap="none" strike="noStrike">
                <a:solidFill>
                  <a:srgbClr val="1F3A5F"/>
                </a:solidFill>
                <a:latin typeface="Calibri"/>
                <a:ea typeface="Calibri"/>
                <a:cs typeface="Calibri"/>
                <a:sym typeface="Calibri"/>
              </a:rPr>
              <a:t>Texte</a:t>
            </a:r>
            <a:endParaRPr b="0" i="0" sz="1400" u="none" cap="none" strike="noStrike">
              <a:solidFill>
                <a:schemeClr val="dk1"/>
              </a:solidFill>
              <a:latin typeface="Calibri"/>
              <a:ea typeface="Calibri"/>
              <a:cs typeface="Calibri"/>
              <a:sym typeface="Calibri"/>
            </a:endParaRPr>
          </a:p>
        </p:txBody>
      </p:sp>
      <p:sp>
        <p:nvSpPr>
          <p:cNvPr id="771" name="Google Shape;771;p47"/>
          <p:cNvSpPr txBox="1"/>
          <p:nvPr/>
        </p:nvSpPr>
        <p:spPr>
          <a:xfrm>
            <a:off x="4292498" y="2926080"/>
            <a:ext cx="1141273" cy="6858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6B7280"/>
              </a:buClr>
              <a:buSzPts val="1200"/>
              <a:buFont typeface="Calibri"/>
              <a:buNone/>
            </a:pPr>
            <a:r>
              <a:rPr b="0" i="0" lang="en-US" sz="1200" u="none" cap="none" strike="noStrike">
                <a:solidFill>
                  <a:srgbClr val="6B7280"/>
                </a:solidFill>
                <a:latin typeface="Calibri"/>
                <a:ea typeface="Calibri"/>
                <a:cs typeface="Calibri"/>
                <a:sym typeface="Calibri"/>
              </a:rPr>
              <a:t>espaces, casse, variantes</a:t>
            </a:r>
            <a:endParaRPr b="0" i="0" sz="1200" u="none" cap="none" strike="noStrike">
              <a:solidFill>
                <a:schemeClr val="dk1"/>
              </a:solidFill>
              <a:latin typeface="Calibri"/>
              <a:ea typeface="Calibri"/>
              <a:cs typeface="Calibri"/>
              <a:sym typeface="Calibri"/>
            </a:endParaRPr>
          </a:p>
        </p:txBody>
      </p:sp>
      <p:sp>
        <p:nvSpPr>
          <p:cNvPr id="772" name="Google Shape;772;p47"/>
          <p:cNvSpPr/>
          <p:nvPr/>
        </p:nvSpPr>
        <p:spPr>
          <a:xfrm>
            <a:off x="5867248" y="1828800"/>
            <a:ext cx="457200" cy="457200"/>
          </a:xfrm>
          <a:prstGeom prst="ellipse">
            <a:avLst/>
          </a:prstGeom>
          <a:solidFill>
            <a:srgbClr val="2F7D6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3" name="Google Shape;773;p47"/>
          <p:cNvSpPr txBox="1"/>
          <p:nvPr/>
        </p:nvSpPr>
        <p:spPr>
          <a:xfrm>
            <a:off x="5867248" y="1828800"/>
            <a:ext cx="4572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5</a:t>
            </a:r>
            <a:endParaRPr b="0" i="0" sz="1500" u="none" cap="none" strike="noStrike">
              <a:solidFill>
                <a:schemeClr val="dk1"/>
              </a:solidFill>
              <a:latin typeface="Calibri"/>
              <a:ea typeface="Calibri"/>
              <a:cs typeface="Calibri"/>
              <a:sym typeface="Calibri"/>
            </a:endParaRPr>
          </a:p>
        </p:txBody>
      </p:sp>
      <p:sp>
        <p:nvSpPr>
          <p:cNvPr id="774" name="Google Shape;774;p47"/>
          <p:cNvSpPr txBox="1"/>
          <p:nvPr/>
        </p:nvSpPr>
        <p:spPr>
          <a:xfrm>
            <a:off x="5525211" y="2423160"/>
            <a:ext cx="1141273" cy="50292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1F3A5F"/>
              </a:buClr>
              <a:buSzPts val="1400"/>
              <a:buFont typeface="Calibri"/>
              <a:buNone/>
            </a:pPr>
            <a:r>
              <a:rPr b="1" i="0" lang="en-US" sz="1400" u="none" cap="none" strike="noStrike">
                <a:solidFill>
                  <a:srgbClr val="1F3A5F"/>
                </a:solidFill>
                <a:latin typeface="Calibri"/>
                <a:ea typeface="Calibri"/>
                <a:cs typeface="Calibri"/>
                <a:sym typeface="Calibri"/>
              </a:rPr>
              <a:t>Types</a:t>
            </a:r>
            <a:endParaRPr b="0" i="0" sz="1400" u="none" cap="none" strike="noStrike">
              <a:solidFill>
                <a:schemeClr val="dk1"/>
              </a:solidFill>
              <a:latin typeface="Calibri"/>
              <a:ea typeface="Calibri"/>
              <a:cs typeface="Calibri"/>
              <a:sym typeface="Calibri"/>
            </a:endParaRPr>
          </a:p>
        </p:txBody>
      </p:sp>
      <p:sp>
        <p:nvSpPr>
          <p:cNvPr id="775" name="Google Shape;775;p47"/>
          <p:cNvSpPr txBox="1"/>
          <p:nvPr/>
        </p:nvSpPr>
        <p:spPr>
          <a:xfrm>
            <a:off x="5525211" y="2926080"/>
            <a:ext cx="1141273" cy="6858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6B7280"/>
              </a:buClr>
              <a:buSzPts val="1200"/>
              <a:buFont typeface="Calibri"/>
              <a:buNone/>
            </a:pPr>
            <a:r>
              <a:rPr b="0" i="0" lang="en-US" sz="1200" u="none" cap="none" strike="noStrike">
                <a:solidFill>
                  <a:srgbClr val="6B7280"/>
                </a:solidFill>
                <a:latin typeface="Calibri"/>
                <a:ea typeface="Calibri"/>
                <a:cs typeface="Calibri"/>
                <a:sym typeface="Calibri"/>
              </a:rPr>
              <a:t>nombres, dates, catégories</a:t>
            </a:r>
            <a:endParaRPr b="0" i="0" sz="1200" u="none" cap="none" strike="noStrike">
              <a:solidFill>
                <a:schemeClr val="dk1"/>
              </a:solidFill>
              <a:latin typeface="Calibri"/>
              <a:ea typeface="Calibri"/>
              <a:cs typeface="Calibri"/>
              <a:sym typeface="Calibri"/>
            </a:endParaRPr>
          </a:p>
        </p:txBody>
      </p:sp>
      <p:sp>
        <p:nvSpPr>
          <p:cNvPr id="776" name="Google Shape;776;p47"/>
          <p:cNvSpPr/>
          <p:nvPr/>
        </p:nvSpPr>
        <p:spPr>
          <a:xfrm>
            <a:off x="7099960" y="1828800"/>
            <a:ext cx="457200" cy="457200"/>
          </a:xfrm>
          <a:prstGeom prst="ellipse">
            <a:avLst/>
          </a:prstGeom>
          <a:solidFill>
            <a:srgbClr val="2F7D6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7" name="Google Shape;777;p47"/>
          <p:cNvSpPr txBox="1"/>
          <p:nvPr/>
        </p:nvSpPr>
        <p:spPr>
          <a:xfrm>
            <a:off x="7099960" y="1828800"/>
            <a:ext cx="4572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6</a:t>
            </a:r>
            <a:endParaRPr b="0" i="0" sz="1500" u="none" cap="none" strike="noStrike">
              <a:solidFill>
                <a:schemeClr val="dk1"/>
              </a:solidFill>
              <a:latin typeface="Calibri"/>
              <a:ea typeface="Calibri"/>
              <a:cs typeface="Calibri"/>
              <a:sym typeface="Calibri"/>
            </a:endParaRPr>
          </a:p>
        </p:txBody>
      </p:sp>
      <p:sp>
        <p:nvSpPr>
          <p:cNvPr id="778" name="Google Shape;778;p47"/>
          <p:cNvSpPr txBox="1"/>
          <p:nvPr/>
        </p:nvSpPr>
        <p:spPr>
          <a:xfrm>
            <a:off x="6757924" y="2423160"/>
            <a:ext cx="1141273" cy="50292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1F3A5F"/>
              </a:buClr>
              <a:buSzPts val="1400"/>
              <a:buFont typeface="Calibri"/>
              <a:buNone/>
            </a:pPr>
            <a:r>
              <a:rPr b="1" i="0" lang="en-US" sz="1400" u="none" cap="none" strike="noStrike">
                <a:solidFill>
                  <a:srgbClr val="1F3A5F"/>
                </a:solidFill>
                <a:latin typeface="Calibri"/>
                <a:ea typeface="Calibri"/>
                <a:cs typeface="Calibri"/>
                <a:sym typeface="Calibri"/>
              </a:rPr>
              <a:t>Aberrantes</a:t>
            </a:r>
            <a:endParaRPr b="0" i="0" sz="1400" u="none" cap="none" strike="noStrike">
              <a:solidFill>
                <a:schemeClr val="dk1"/>
              </a:solidFill>
              <a:latin typeface="Calibri"/>
              <a:ea typeface="Calibri"/>
              <a:cs typeface="Calibri"/>
              <a:sym typeface="Calibri"/>
            </a:endParaRPr>
          </a:p>
        </p:txBody>
      </p:sp>
      <p:sp>
        <p:nvSpPr>
          <p:cNvPr id="779" name="Google Shape;779;p47"/>
          <p:cNvSpPr txBox="1"/>
          <p:nvPr/>
        </p:nvSpPr>
        <p:spPr>
          <a:xfrm>
            <a:off x="6757924" y="2926080"/>
            <a:ext cx="1141273" cy="6858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6B7280"/>
              </a:buClr>
              <a:buSzPts val="1200"/>
              <a:buFont typeface="Calibri"/>
              <a:buNone/>
            </a:pPr>
            <a:r>
              <a:rPr b="0" i="0" lang="en-US" sz="1200" u="none" cap="none" strike="noStrike">
                <a:solidFill>
                  <a:srgbClr val="6B7280"/>
                </a:solidFill>
                <a:latin typeface="Calibri"/>
                <a:ea typeface="Calibri"/>
                <a:cs typeface="Calibri"/>
                <a:sym typeface="Calibri"/>
              </a:rPr>
              <a:t>règles métier</a:t>
            </a:r>
            <a:endParaRPr b="0" i="0" sz="1200" u="none" cap="none" strike="noStrike">
              <a:solidFill>
                <a:schemeClr val="dk1"/>
              </a:solidFill>
              <a:latin typeface="Calibri"/>
              <a:ea typeface="Calibri"/>
              <a:cs typeface="Calibri"/>
              <a:sym typeface="Calibri"/>
            </a:endParaRPr>
          </a:p>
        </p:txBody>
      </p:sp>
      <p:sp>
        <p:nvSpPr>
          <p:cNvPr id="780" name="Google Shape;780;p47"/>
          <p:cNvSpPr/>
          <p:nvPr/>
        </p:nvSpPr>
        <p:spPr>
          <a:xfrm>
            <a:off x="8332673" y="1828800"/>
            <a:ext cx="457200" cy="457200"/>
          </a:xfrm>
          <a:prstGeom prst="ellipse">
            <a:avLst/>
          </a:prstGeom>
          <a:solidFill>
            <a:srgbClr val="2F7D6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1" name="Google Shape;781;p47"/>
          <p:cNvSpPr txBox="1"/>
          <p:nvPr/>
        </p:nvSpPr>
        <p:spPr>
          <a:xfrm>
            <a:off x="8332673" y="1828800"/>
            <a:ext cx="4572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7</a:t>
            </a:r>
            <a:endParaRPr b="0" i="0" sz="1500" u="none" cap="none" strike="noStrike">
              <a:solidFill>
                <a:schemeClr val="dk1"/>
              </a:solidFill>
              <a:latin typeface="Calibri"/>
              <a:ea typeface="Calibri"/>
              <a:cs typeface="Calibri"/>
              <a:sym typeface="Calibri"/>
            </a:endParaRPr>
          </a:p>
        </p:txBody>
      </p:sp>
      <p:sp>
        <p:nvSpPr>
          <p:cNvPr id="782" name="Google Shape;782;p47"/>
          <p:cNvSpPr txBox="1"/>
          <p:nvPr/>
        </p:nvSpPr>
        <p:spPr>
          <a:xfrm>
            <a:off x="7990637" y="2423160"/>
            <a:ext cx="1141273" cy="50292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1F3A5F"/>
              </a:buClr>
              <a:buSzPts val="1400"/>
              <a:buFont typeface="Calibri"/>
              <a:buNone/>
            </a:pPr>
            <a:r>
              <a:rPr b="1" i="0" lang="en-US" sz="1400" u="none" cap="none" strike="noStrike">
                <a:solidFill>
                  <a:srgbClr val="1F3A5F"/>
                </a:solidFill>
                <a:latin typeface="Calibri"/>
                <a:ea typeface="Calibri"/>
                <a:cs typeface="Calibri"/>
                <a:sym typeface="Calibri"/>
              </a:rPr>
              <a:t>Manquants</a:t>
            </a:r>
            <a:endParaRPr b="0" i="0" sz="1400" u="none" cap="none" strike="noStrike">
              <a:solidFill>
                <a:schemeClr val="dk1"/>
              </a:solidFill>
              <a:latin typeface="Calibri"/>
              <a:ea typeface="Calibri"/>
              <a:cs typeface="Calibri"/>
              <a:sym typeface="Calibri"/>
            </a:endParaRPr>
          </a:p>
        </p:txBody>
      </p:sp>
      <p:sp>
        <p:nvSpPr>
          <p:cNvPr id="783" name="Google Shape;783;p47"/>
          <p:cNvSpPr txBox="1"/>
          <p:nvPr/>
        </p:nvSpPr>
        <p:spPr>
          <a:xfrm>
            <a:off x="7990637" y="2926080"/>
            <a:ext cx="1141273" cy="6858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6B7280"/>
              </a:buClr>
              <a:buSzPts val="1200"/>
              <a:buFont typeface="Calibri"/>
              <a:buNone/>
            </a:pPr>
            <a:r>
              <a:rPr b="0" i="0" lang="en-US" sz="1200" u="none" cap="none" strike="noStrike">
                <a:solidFill>
                  <a:srgbClr val="6B7280"/>
                </a:solidFill>
                <a:latin typeface="Calibri"/>
                <a:ea typeface="Calibri"/>
                <a:cs typeface="Calibri"/>
                <a:sym typeface="Calibri"/>
              </a:rPr>
              <a:t>stratégie</a:t>
            </a:r>
            <a:endParaRPr b="0" i="0" sz="1200" u="none" cap="none" strike="noStrike">
              <a:solidFill>
                <a:schemeClr val="dk1"/>
              </a:solidFill>
              <a:latin typeface="Calibri"/>
              <a:ea typeface="Calibri"/>
              <a:cs typeface="Calibri"/>
              <a:sym typeface="Calibri"/>
            </a:endParaRPr>
          </a:p>
        </p:txBody>
      </p:sp>
      <p:sp>
        <p:nvSpPr>
          <p:cNvPr id="784" name="Google Shape;784;p47"/>
          <p:cNvSpPr/>
          <p:nvPr/>
        </p:nvSpPr>
        <p:spPr>
          <a:xfrm>
            <a:off x="9565386" y="1828800"/>
            <a:ext cx="457200" cy="457200"/>
          </a:xfrm>
          <a:prstGeom prst="ellipse">
            <a:avLst/>
          </a:prstGeom>
          <a:solidFill>
            <a:srgbClr val="2F7D6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5" name="Google Shape;785;p47"/>
          <p:cNvSpPr txBox="1"/>
          <p:nvPr/>
        </p:nvSpPr>
        <p:spPr>
          <a:xfrm>
            <a:off x="9565386" y="1828800"/>
            <a:ext cx="4572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8</a:t>
            </a:r>
            <a:endParaRPr b="0" i="0" sz="1500" u="none" cap="none" strike="noStrike">
              <a:solidFill>
                <a:schemeClr val="dk1"/>
              </a:solidFill>
              <a:latin typeface="Calibri"/>
              <a:ea typeface="Calibri"/>
              <a:cs typeface="Calibri"/>
              <a:sym typeface="Calibri"/>
            </a:endParaRPr>
          </a:p>
        </p:txBody>
      </p:sp>
      <p:sp>
        <p:nvSpPr>
          <p:cNvPr id="786" name="Google Shape;786;p47"/>
          <p:cNvSpPr txBox="1"/>
          <p:nvPr/>
        </p:nvSpPr>
        <p:spPr>
          <a:xfrm>
            <a:off x="9223350" y="2423160"/>
            <a:ext cx="1141273" cy="50292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1F3A5F"/>
              </a:buClr>
              <a:buSzPts val="1400"/>
              <a:buFont typeface="Calibri"/>
              <a:buNone/>
            </a:pPr>
            <a:r>
              <a:rPr b="1" i="0" lang="en-US" sz="1400" u="none" cap="none" strike="noStrike">
                <a:solidFill>
                  <a:srgbClr val="1F3A5F"/>
                </a:solidFill>
                <a:latin typeface="Calibri"/>
                <a:ea typeface="Calibri"/>
                <a:cs typeface="Calibri"/>
                <a:sym typeface="Calibri"/>
              </a:rPr>
              <a:t>Vérifier</a:t>
            </a:r>
            <a:endParaRPr b="0" i="0" sz="1400" u="none" cap="none" strike="noStrike">
              <a:solidFill>
                <a:schemeClr val="dk1"/>
              </a:solidFill>
              <a:latin typeface="Calibri"/>
              <a:ea typeface="Calibri"/>
              <a:cs typeface="Calibri"/>
              <a:sym typeface="Calibri"/>
            </a:endParaRPr>
          </a:p>
        </p:txBody>
      </p:sp>
      <p:sp>
        <p:nvSpPr>
          <p:cNvPr id="787" name="Google Shape;787;p47"/>
          <p:cNvSpPr txBox="1"/>
          <p:nvPr/>
        </p:nvSpPr>
        <p:spPr>
          <a:xfrm>
            <a:off x="9223350" y="2926080"/>
            <a:ext cx="1141273" cy="6858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6B7280"/>
              </a:buClr>
              <a:buSzPts val="1200"/>
              <a:buFont typeface="Calibri"/>
              <a:buNone/>
            </a:pPr>
            <a:r>
              <a:rPr b="0" i="0" lang="en-US" sz="1200" u="none" cap="none" strike="noStrike">
                <a:solidFill>
                  <a:srgbClr val="6B7280"/>
                </a:solidFill>
                <a:latin typeface="Calibri"/>
                <a:ea typeface="Calibri"/>
                <a:cs typeface="Calibri"/>
                <a:sym typeface="Calibri"/>
              </a:rPr>
              <a:t>comme au TP1</a:t>
            </a:r>
            <a:endParaRPr b="0" i="0" sz="1200" u="none" cap="none" strike="noStrike">
              <a:solidFill>
                <a:schemeClr val="dk1"/>
              </a:solidFill>
              <a:latin typeface="Calibri"/>
              <a:ea typeface="Calibri"/>
              <a:cs typeface="Calibri"/>
              <a:sym typeface="Calibri"/>
            </a:endParaRPr>
          </a:p>
        </p:txBody>
      </p:sp>
      <p:sp>
        <p:nvSpPr>
          <p:cNvPr id="788" name="Google Shape;788;p47"/>
          <p:cNvSpPr/>
          <p:nvPr/>
        </p:nvSpPr>
        <p:spPr>
          <a:xfrm>
            <a:off x="10798099" y="1828800"/>
            <a:ext cx="457200" cy="457200"/>
          </a:xfrm>
          <a:prstGeom prst="ellipse">
            <a:avLst/>
          </a:prstGeom>
          <a:solidFill>
            <a:srgbClr val="2F7D6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9" name="Google Shape;789;p47"/>
          <p:cNvSpPr txBox="1"/>
          <p:nvPr/>
        </p:nvSpPr>
        <p:spPr>
          <a:xfrm>
            <a:off x="10798099" y="1828800"/>
            <a:ext cx="4572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9</a:t>
            </a:r>
            <a:endParaRPr b="0" i="0" sz="1500" u="none" cap="none" strike="noStrike">
              <a:solidFill>
                <a:schemeClr val="dk1"/>
              </a:solidFill>
              <a:latin typeface="Calibri"/>
              <a:ea typeface="Calibri"/>
              <a:cs typeface="Calibri"/>
              <a:sym typeface="Calibri"/>
            </a:endParaRPr>
          </a:p>
        </p:txBody>
      </p:sp>
      <p:sp>
        <p:nvSpPr>
          <p:cNvPr id="790" name="Google Shape;790;p47"/>
          <p:cNvSpPr txBox="1"/>
          <p:nvPr/>
        </p:nvSpPr>
        <p:spPr>
          <a:xfrm>
            <a:off x="10456062" y="2423160"/>
            <a:ext cx="1141273" cy="50292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1F3A5F"/>
              </a:buClr>
              <a:buSzPts val="1400"/>
              <a:buFont typeface="Calibri"/>
              <a:buNone/>
            </a:pPr>
            <a:r>
              <a:rPr b="1" i="0" lang="en-US" sz="1400" u="none" cap="none" strike="noStrike">
                <a:solidFill>
                  <a:srgbClr val="1F3A5F"/>
                </a:solidFill>
                <a:latin typeface="Calibri"/>
                <a:ea typeface="Calibri"/>
                <a:cs typeface="Calibri"/>
                <a:sym typeface="Calibri"/>
              </a:rPr>
              <a:t>Exporter</a:t>
            </a:r>
            <a:endParaRPr b="0" i="0" sz="1400" u="none" cap="none" strike="noStrike">
              <a:solidFill>
                <a:schemeClr val="dk1"/>
              </a:solidFill>
              <a:latin typeface="Calibri"/>
              <a:ea typeface="Calibri"/>
              <a:cs typeface="Calibri"/>
              <a:sym typeface="Calibri"/>
            </a:endParaRPr>
          </a:p>
        </p:txBody>
      </p:sp>
      <p:sp>
        <p:nvSpPr>
          <p:cNvPr id="791" name="Google Shape;791;p47"/>
          <p:cNvSpPr txBox="1"/>
          <p:nvPr/>
        </p:nvSpPr>
        <p:spPr>
          <a:xfrm>
            <a:off x="10456062" y="2926080"/>
            <a:ext cx="1141273" cy="6858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6B7280"/>
              </a:buClr>
              <a:buSzPts val="1200"/>
              <a:buFont typeface="Calibri"/>
              <a:buNone/>
            </a:pPr>
            <a:r>
              <a:rPr b="0" i="0" lang="en-US" sz="1200" u="none" cap="none" strike="noStrike">
                <a:solidFill>
                  <a:srgbClr val="6B7280"/>
                </a:solidFill>
                <a:latin typeface="Calibri"/>
                <a:ea typeface="Calibri"/>
                <a:cs typeface="Calibri"/>
                <a:sym typeface="Calibri"/>
              </a:rPr>
              <a:t>Parquet</a:t>
            </a:r>
            <a:endParaRPr b="0" i="0" sz="1200" u="none" cap="none" strike="noStrike">
              <a:solidFill>
                <a:schemeClr val="dk1"/>
              </a:solidFill>
              <a:latin typeface="Calibri"/>
              <a:ea typeface="Calibri"/>
              <a:cs typeface="Calibri"/>
              <a:sym typeface="Calibri"/>
            </a:endParaRPr>
          </a:p>
        </p:txBody>
      </p:sp>
      <p:sp>
        <p:nvSpPr>
          <p:cNvPr id="792" name="Google Shape;792;p47"/>
          <p:cNvSpPr/>
          <p:nvPr/>
        </p:nvSpPr>
        <p:spPr>
          <a:xfrm>
            <a:off x="548640" y="3657600"/>
            <a:ext cx="11094415" cy="883920"/>
          </a:xfrm>
          <a:prstGeom prst="roundRect">
            <a:avLst>
              <a:gd fmla="val 6207" name="adj"/>
            </a:avLst>
          </a:prstGeom>
          <a:solidFill>
            <a:srgbClr val="E8F3E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3" name="Google Shape;793;p47"/>
          <p:cNvSpPr txBox="1"/>
          <p:nvPr/>
        </p:nvSpPr>
        <p:spPr>
          <a:xfrm>
            <a:off x="822960" y="3657600"/>
            <a:ext cx="10545775" cy="883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F3A5F"/>
              </a:buClr>
              <a:buSzPts val="1700"/>
              <a:buFont typeface="Calibri"/>
              <a:buNone/>
            </a:pPr>
            <a:r>
              <a:rPr b="0" i="0" lang="en-US" sz="1700" u="none" cap="none" strike="noStrike">
                <a:solidFill>
                  <a:srgbClr val="1F3A5F"/>
                </a:solidFill>
                <a:latin typeface="Calibri"/>
                <a:ea typeface="Calibri"/>
                <a:cs typeface="Calibri"/>
                <a:sym typeface="Calibri"/>
              </a:rPr>
              <a:t>Le texte avant les catégories et les clés, les aberrantes avant les manquants : on évite les catégories en trop, les doublons manqués et les moyennes faussées.</a:t>
            </a:r>
            <a:endParaRPr b="0" i="0" sz="1700" u="none" cap="none" strike="noStrike">
              <a:solidFill>
                <a:schemeClr val="dk1"/>
              </a:solidFill>
              <a:latin typeface="Calibri"/>
              <a:ea typeface="Calibri"/>
              <a:cs typeface="Calibri"/>
              <a:sym typeface="Calibri"/>
            </a:endParaRPr>
          </a:p>
        </p:txBody>
      </p:sp>
      <p:sp>
        <p:nvSpPr>
          <p:cNvPr id="794" name="Google Shape;794;p47"/>
          <p:cNvSpPr txBox="1"/>
          <p:nvPr/>
        </p:nvSpPr>
        <p:spPr>
          <a:xfrm>
            <a:off x="548640" y="4861560"/>
            <a:ext cx="11094415" cy="655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B7280"/>
              </a:buClr>
              <a:buSzPts val="1700"/>
              <a:buFont typeface="Calibri"/>
              <a:buNone/>
            </a:pPr>
            <a:r>
              <a:rPr b="0" i="0" lang="en-US" sz="1700" u="none" cap="none" strike="noStrike">
                <a:solidFill>
                  <a:srgbClr val="6B7280"/>
                </a:solidFill>
                <a:latin typeface="Calibri"/>
                <a:ea typeface="Calibri"/>
                <a:cs typeface="Calibri"/>
                <a:sym typeface="Calibri"/>
              </a:rPr>
              <a:t>À chaque étape, on note le choix fait et le nombre de lignes concernées. Cette note fait partie du livrable.</a:t>
            </a:r>
            <a:endParaRPr b="0" i="0" sz="1700" u="none" cap="none" strike="noStrike">
              <a:solidFill>
                <a:schemeClr val="dk1"/>
              </a:solidFill>
              <a:latin typeface="Calibri"/>
              <a:ea typeface="Calibri"/>
              <a:cs typeface="Calibri"/>
              <a:sym typeface="Calibri"/>
            </a:endParaRPr>
          </a:p>
        </p:txBody>
      </p:sp>
      <p:sp>
        <p:nvSpPr>
          <p:cNvPr id="795" name="Google Shape;795;p47"/>
          <p:cNvSpPr txBox="1"/>
          <p:nvPr/>
        </p:nvSpPr>
        <p:spPr>
          <a:xfrm>
            <a:off x="548640" y="6400800"/>
            <a:ext cx="73152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B7280"/>
              </a:buClr>
              <a:buSzPts val="1000"/>
              <a:buFont typeface="Calibri"/>
              <a:buNone/>
            </a:pPr>
            <a:r>
              <a:rPr b="0" i="0" lang="en-US" sz="1000" u="none" cap="none" strike="noStrike">
                <a:solidFill>
                  <a:srgbClr val="6B7280"/>
                </a:solidFill>
                <a:latin typeface="Calibri"/>
                <a:ea typeface="Calibri"/>
                <a:cs typeface="Calibri"/>
                <a:sym typeface="Calibri"/>
              </a:rPr>
              <a:t>Analyse de données avec Python   |   Jour 1, après-midi</a:t>
            </a:r>
            <a:endParaRPr b="0" i="0" sz="1000" u="none" cap="none" strike="noStrike">
              <a:solidFill>
                <a:schemeClr val="dk1"/>
              </a:solidFill>
              <a:latin typeface="Calibri"/>
              <a:ea typeface="Calibri"/>
              <a:cs typeface="Calibri"/>
              <a:sym typeface="Calibri"/>
            </a:endParaRPr>
          </a:p>
        </p:txBody>
      </p:sp>
      <p:sp>
        <p:nvSpPr>
          <p:cNvPr id="796" name="Google Shape;796;p47"/>
          <p:cNvSpPr txBox="1"/>
          <p:nvPr>
            <p:ph idx="4294967295" type="sldNum"/>
          </p:nvPr>
        </p:nvSpPr>
        <p:spPr>
          <a:xfrm>
            <a:off x="11094415" y="6400800"/>
            <a:ext cx="548640" cy="27432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000" u="none" cap="none" strike="noStrike">
                <a:solidFill>
                  <a:srgbClr val="6B7280"/>
                </a:solidFill>
                <a:latin typeface="Calibri"/>
                <a:ea typeface="Calibri"/>
                <a:cs typeface="Calibri"/>
                <a:sym typeface="Calibri"/>
              </a:rPr>
              <a:t>‹#›</a:t>
            </a:fld>
            <a:endParaRPr b="0" i="0" sz="1000" u="none" cap="none" strike="noStrike">
              <a:solidFill>
                <a:srgbClr val="6B7280"/>
              </a:solidFill>
              <a:latin typeface="Calibri"/>
              <a:ea typeface="Calibri"/>
              <a:cs typeface="Calibri"/>
              <a:sym typeface="Calibri"/>
            </a:endParaRPr>
          </a:p>
        </p:txBody>
      </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01" name="Shape 801"/>
        <p:cNvGrpSpPr/>
        <p:nvPr/>
      </p:nvGrpSpPr>
      <p:grpSpPr>
        <a:xfrm>
          <a:off x="0" y="0"/>
          <a:ext cx="0" cy="0"/>
          <a:chOff x="0" y="0"/>
          <a:chExt cx="0" cy="0"/>
        </a:xfrm>
      </p:grpSpPr>
      <p:sp>
        <p:nvSpPr>
          <p:cNvPr id="802" name="Google Shape;802;p48"/>
          <p:cNvSpPr/>
          <p:nvPr/>
        </p:nvSpPr>
        <p:spPr>
          <a:xfrm>
            <a:off x="548640" y="566928"/>
            <a:ext cx="475488" cy="475488"/>
          </a:xfrm>
          <a:prstGeom prst="ellipse">
            <a:avLst/>
          </a:prstGeom>
          <a:solidFill>
            <a:srgbClr val="2F7D6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3" name="Google Shape;803;p48"/>
          <p:cNvSpPr txBox="1"/>
          <p:nvPr/>
        </p:nvSpPr>
        <p:spPr>
          <a:xfrm>
            <a:off x="548640" y="566928"/>
            <a:ext cx="475488" cy="47548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7</a:t>
            </a:r>
            <a:endParaRPr b="0" i="0" sz="1600" u="none" cap="none" strike="noStrike">
              <a:solidFill>
                <a:schemeClr val="dk1"/>
              </a:solidFill>
              <a:latin typeface="Calibri"/>
              <a:ea typeface="Calibri"/>
              <a:cs typeface="Calibri"/>
              <a:sym typeface="Calibri"/>
            </a:endParaRPr>
          </a:p>
        </p:txBody>
      </p:sp>
      <p:sp>
        <p:nvSpPr>
          <p:cNvPr id="804" name="Google Shape;804;p48"/>
          <p:cNvSpPr txBox="1"/>
          <p:nvPr/>
        </p:nvSpPr>
        <p:spPr>
          <a:xfrm>
            <a:off x="1280160" y="164592"/>
            <a:ext cx="10362895"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F7D62"/>
              </a:buClr>
              <a:buSzPts val="1200"/>
              <a:buFont typeface="Calibri"/>
              <a:buNone/>
            </a:pPr>
            <a:r>
              <a:rPr b="1" i="0" lang="en-US" sz="1200" u="none" cap="none" strike="noStrike">
                <a:solidFill>
                  <a:srgbClr val="2F7D62"/>
                </a:solidFill>
                <a:latin typeface="Calibri"/>
                <a:ea typeface="Calibri"/>
                <a:cs typeface="Calibri"/>
                <a:sym typeface="Calibri"/>
              </a:rPr>
              <a:t>UNE DÉMARCHE DE NETTOYAGE</a:t>
            </a:r>
            <a:endParaRPr b="0" i="0" sz="1200" u="none" cap="none" strike="noStrike">
              <a:solidFill>
                <a:schemeClr val="dk1"/>
              </a:solidFill>
              <a:latin typeface="Calibri"/>
              <a:ea typeface="Calibri"/>
              <a:cs typeface="Calibri"/>
              <a:sym typeface="Calibri"/>
            </a:endParaRPr>
          </a:p>
        </p:txBody>
      </p:sp>
      <p:sp>
        <p:nvSpPr>
          <p:cNvPr id="805" name="Google Shape;805;p48"/>
          <p:cNvSpPr txBox="1"/>
          <p:nvPr/>
        </p:nvSpPr>
        <p:spPr>
          <a:xfrm>
            <a:off x="1280160" y="457200"/>
            <a:ext cx="10362895" cy="6949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F3A5F"/>
              </a:buClr>
              <a:buSzPts val="3000"/>
              <a:buFont typeface="Cambria"/>
              <a:buNone/>
            </a:pPr>
            <a:r>
              <a:rPr b="1" i="0" lang="en-US" sz="3000" u="none" cap="none" strike="noStrike">
                <a:solidFill>
                  <a:srgbClr val="1F3A5F"/>
                </a:solidFill>
                <a:latin typeface="Cambria"/>
                <a:ea typeface="Cambria"/>
                <a:cs typeface="Cambria"/>
                <a:sym typeface="Cambria"/>
              </a:rPr>
              <a:t>Pratique : TP2, partie 7, le cas pratique</a:t>
            </a:r>
            <a:endParaRPr b="0" i="0" sz="3000" u="none" cap="none" strike="noStrike">
              <a:solidFill>
                <a:schemeClr val="dk1"/>
              </a:solidFill>
              <a:latin typeface="Calibri"/>
              <a:ea typeface="Calibri"/>
              <a:cs typeface="Calibri"/>
              <a:sym typeface="Calibri"/>
            </a:endParaRPr>
          </a:p>
        </p:txBody>
      </p:sp>
      <p:sp>
        <p:nvSpPr>
          <p:cNvPr id="806" name="Google Shape;806;p48"/>
          <p:cNvSpPr txBox="1"/>
          <p:nvPr/>
        </p:nvSpPr>
        <p:spPr>
          <a:xfrm>
            <a:off x="548640" y="1417320"/>
            <a:ext cx="11094415" cy="411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B7280"/>
              </a:buClr>
              <a:buSzPts val="1800"/>
              <a:buFont typeface="Calibri"/>
              <a:buNone/>
            </a:pPr>
            <a:r>
              <a:rPr b="0" i="0" lang="en-US" sz="1800" u="none" cap="none" strike="noStrike">
                <a:solidFill>
                  <a:srgbClr val="6B7280"/>
                </a:solidFill>
                <a:latin typeface="Calibri"/>
                <a:ea typeface="Calibri"/>
                <a:cs typeface="Calibri"/>
                <a:sym typeface="Calibri"/>
              </a:rPr>
              <a:t>Le nettoyage complet des ventes, à partir du fichier brut et de la synthèse du TP1</a:t>
            </a:r>
            <a:endParaRPr b="0" i="0" sz="1800" u="none" cap="none" strike="noStrike">
              <a:solidFill>
                <a:schemeClr val="dk1"/>
              </a:solidFill>
              <a:latin typeface="Calibri"/>
              <a:ea typeface="Calibri"/>
              <a:cs typeface="Calibri"/>
              <a:sym typeface="Calibri"/>
            </a:endParaRPr>
          </a:p>
        </p:txBody>
      </p:sp>
      <p:graphicFrame>
        <p:nvGraphicFramePr>
          <p:cNvPr id="807" name="Google Shape;807;p48"/>
          <p:cNvGraphicFramePr/>
          <p:nvPr/>
        </p:nvGraphicFramePr>
        <p:xfrm>
          <a:off x="548640" y="2011680"/>
          <a:ext cx="3000000" cy="3000000"/>
        </p:xfrm>
        <a:graphic>
          <a:graphicData uri="http://schemas.openxmlformats.org/drawingml/2006/table">
            <a:tbl>
              <a:tblPr>
                <a:noFill/>
                <a:tableStyleId>{5790C458-BB61-4800-A068-DD2F3961D878}</a:tableStyleId>
              </a:tblPr>
              <a:tblGrid>
                <a:gridCol w="2289325"/>
                <a:gridCol w="8805100"/>
              </a:tblGrid>
              <a:tr h="365375">
                <a:tc>
                  <a:txBody>
                    <a:bodyPr/>
                    <a:lstStyle/>
                    <a:p>
                      <a:pPr indent="0" lvl="0" marL="0" marR="0" rtl="0" algn="l">
                        <a:spcBef>
                          <a:spcPts val="0"/>
                        </a:spcBef>
                        <a:spcAft>
                          <a:spcPts val="0"/>
                        </a:spcAft>
                        <a:buClr>
                          <a:srgbClr val="FFFFFF"/>
                        </a:buClr>
                        <a:buSzPts val="1500"/>
                        <a:buFont typeface="Calibri"/>
                        <a:buNone/>
                      </a:pPr>
                      <a:r>
                        <a:rPr b="1" lang="en-US" sz="1500" u="none" cap="none" strike="noStrike">
                          <a:solidFill>
                            <a:srgbClr val="FFFFFF"/>
                          </a:solidFill>
                          <a:latin typeface="Calibri"/>
                          <a:ea typeface="Calibri"/>
                          <a:cs typeface="Calibri"/>
                          <a:sym typeface="Calibri"/>
                        </a:rPr>
                        <a:t>Questions</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1F3A5F"/>
                    </a:solidFill>
                  </a:tcPr>
                </a:tc>
                <a:tc>
                  <a:txBody>
                    <a:bodyPr/>
                    <a:lstStyle/>
                    <a:p>
                      <a:pPr indent="0" lvl="0" marL="0" marR="0" rtl="0" algn="l">
                        <a:spcBef>
                          <a:spcPts val="0"/>
                        </a:spcBef>
                        <a:spcAft>
                          <a:spcPts val="0"/>
                        </a:spcAft>
                        <a:buClr>
                          <a:srgbClr val="FFFFFF"/>
                        </a:buClr>
                        <a:buSzPts val="1500"/>
                        <a:buFont typeface="Calibri"/>
                        <a:buNone/>
                      </a:pPr>
                      <a:r>
                        <a:rPr b="1" lang="en-US" sz="1500" u="none" cap="none" strike="noStrike">
                          <a:solidFill>
                            <a:srgbClr val="FFFFFF"/>
                          </a:solidFill>
                          <a:latin typeface="Calibri"/>
                          <a:ea typeface="Calibri"/>
                          <a:cs typeface="Calibri"/>
                          <a:sym typeface="Calibri"/>
                        </a:rPr>
                        <a:t>Étape de la démarche</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1F3A5F"/>
                    </a:solidFill>
                  </a:tcPr>
                </a:tc>
              </a:tr>
              <a:tr h="365375">
                <a:tc>
                  <a:txBody>
                    <a:bodyPr/>
                    <a:lstStyle/>
                    <a:p>
                      <a:pPr indent="0" lvl="0" marL="0" marR="0" rtl="0" algn="l">
                        <a:spcBef>
                          <a:spcPts val="0"/>
                        </a:spcBef>
                        <a:spcAft>
                          <a:spcPts val="0"/>
                        </a:spcAft>
                        <a:buClr>
                          <a:srgbClr val="1F2933"/>
                        </a:buClr>
                        <a:buSzPts val="1500"/>
                        <a:buFont typeface="Calibri"/>
                        <a:buNone/>
                      </a:pPr>
                      <a:r>
                        <a:rPr b="1" lang="en-US" sz="1500" u="none" cap="none" strike="noStrike">
                          <a:solidFill>
                            <a:srgbClr val="1F2933"/>
                          </a:solidFill>
                          <a:latin typeface="Calibri"/>
                          <a:ea typeface="Calibri"/>
                          <a:cs typeface="Calibri"/>
                          <a:sym typeface="Calibri"/>
                        </a:rPr>
                        <a:t>7.1 et 7.2</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F2933"/>
                        </a:buClr>
                        <a:buSzPts val="1500"/>
                        <a:buFont typeface="Calibri"/>
                        <a:buNone/>
                      </a:pPr>
                      <a:r>
                        <a:rPr lang="en-US" sz="1500" u="none" cap="none" strike="noStrike">
                          <a:solidFill>
                            <a:srgbClr val="1F2933"/>
                          </a:solidFill>
                          <a:latin typeface="Calibri"/>
                          <a:ea typeface="Calibri"/>
                          <a:cs typeface="Calibri"/>
                          <a:sym typeface="Calibri"/>
                        </a:rPr>
                        <a:t>harmoniser les noms de colonnes, supprimer les doublons exacts</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FFFFF"/>
                    </a:solidFill>
                  </a:tcPr>
                </a:tc>
              </a:tr>
              <a:tr h="365375">
                <a:tc>
                  <a:txBody>
                    <a:bodyPr/>
                    <a:lstStyle/>
                    <a:p>
                      <a:pPr indent="0" lvl="0" marL="0" marR="0" rtl="0" algn="l">
                        <a:spcBef>
                          <a:spcPts val="0"/>
                        </a:spcBef>
                        <a:spcAft>
                          <a:spcPts val="0"/>
                        </a:spcAft>
                        <a:buClr>
                          <a:srgbClr val="1F2933"/>
                        </a:buClr>
                        <a:buSzPts val="1500"/>
                        <a:buFont typeface="Calibri"/>
                        <a:buNone/>
                      </a:pPr>
                      <a:r>
                        <a:rPr b="1" lang="en-US" sz="1500" u="none" cap="none" strike="noStrike">
                          <a:solidFill>
                            <a:srgbClr val="1F2933"/>
                          </a:solidFill>
                          <a:latin typeface="Calibri"/>
                          <a:ea typeface="Calibri"/>
                          <a:cs typeface="Calibri"/>
                          <a:sym typeface="Calibri"/>
                        </a:rPr>
                        <a:t>7.3 et 7.4</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7F9FB"/>
                    </a:solidFill>
                  </a:tcPr>
                </a:tc>
                <a:tc>
                  <a:txBody>
                    <a:bodyPr/>
                    <a:lstStyle/>
                    <a:p>
                      <a:pPr indent="0" lvl="0" marL="0" marR="0" rtl="0" algn="l">
                        <a:spcBef>
                          <a:spcPts val="0"/>
                        </a:spcBef>
                        <a:spcAft>
                          <a:spcPts val="0"/>
                        </a:spcAft>
                        <a:buClr>
                          <a:srgbClr val="1F2933"/>
                        </a:buClr>
                        <a:buSzPts val="1500"/>
                        <a:buFont typeface="Calibri"/>
                        <a:buNone/>
                      </a:pPr>
                      <a:r>
                        <a:rPr lang="en-US" sz="1500" u="none" cap="none" strike="noStrike">
                          <a:solidFill>
                            <a:srgbClr val="1F2933"/>
                          </a:solidFill>
                          <a:latin typeface="Calibri"/>
                          <a:ea typeface="Calibri"/>
                          <a:cs typeface="Calibri"/>
                          <a:sym typeface="Calibri"/>
                        </a:rPr>
                        <a:t>corriger les variantes d'écriture, convertir les dates et les catégories</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7F9FB"/>
                    </a:solidFill>
                  </a:tcPr>
                </a:tc>
              </a:tr>
              <a:tr h="365375">
                <a:tc>
                  <a:txBody>
                    <a:bodyPr/>
                    <a:lstStyle/>
                    <a:p>
                      <a:pPr indent="0" lvl="0" marL="0" marR="0" rtl="0" algn="l">
                        <a:spcBef>
                          <a:spcPts val="0"/>
                        </a:spcBef>
                        <a:spcAft>
                          <a:spcPts val="0"/>
                        </a:spcAft>
                        <a:buClr>
                          <a:srgbClr val="1F2933"/>
                        </a:buClr>
                        <a:buSzPts val="1500"/>
                        <a:buFont typeface="Calibri"/>
                        <a:buNone/>
                      </a:pPr>
                      <a:r>
                        <a:rPr b="1" lang="en-US" sz="1500" u="none" cap="none" strike="noStrike">
                          <a:solidFill>
                            <a:srgbClr val="1F2933"/>
                          </a:solidFill>
                          <a:latin typeface="Calibri"/>
                          <a:ea typeface="Calibri"/>
                          <a:cs typeface="Calibri"/>
                          <a:sym typeface="Calibri"/>
                        </a:rPr>
                        <a:t>7.5 et 7.6</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F2933"/>
                        </a:buClr>
                        <a:buSzPts val="1500"/>
                        <a:buFont typeface="Calibri"/>
                        <a:buNone/>
                      </a:pPr>
                      <a:r>
                        <a:rPr lang="en-US" sz="1500" u="none" cap="none" strike="noStrike">
                          <a:solidFill>
                            <a:srgbClr val="1F2933"/>
                          </a:solidFill>
                          <a:latin typeface="Calibri"/>
                          <a:ea typeface="Calibri"/>
                          <a:cs typeface="Calibri"/>
                          <a:sym typeface="Calibri"/>
                        </a:rPr>
                        <a:t>repérer les valeurs aberrantes, puis supprimer, rendre manquant ou signaler</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FFFFF"/>
                    </a:solidFill>
                  </a:tcPr>
                </a:tc>
              </a:tr>
              <a:tr h="365375">
                <a:tc>
                  <a:txBody>
                    <a:bodyPr/>
                    <a:lstStyle/>
                    <a:p>
                      <a:pPr indent="0" lvl="0" marL="0" marR="0" rtl="0" algn="l">
                        <a:spcBef>
                          <a:spcPts val="0"/>
                        </a:spcBef>
                        <a:spcAft>
                          <a:spcPts val="0"/>
                        </a:spcAft>
                        <a:buClr>
                          <a:srgbClr val="1F2933"/>
                        </a:buClr>
                        <a:buSzPts val="1500"/>
                        <a:buFont typeface="Calibri"/>
                        <a:buNone/>
                      </a:pPr>
                      <a:r>
                        <a:rPr b="1" lang="en-US" sz="1500" u="none" cap="none" strike="noStrike">
                          <a:solidFill>
                            <a:srgbClr val="1F2933"/>
                          </a:solidFill>
                          <a:latin typeface="Calibri"/>
                          <a:ea typeface="Calibri"/>
                          <a:cs typeface="Calibri"/>
                          <a:sym typeface="Calibri"/>
                        </a:rPr>
                        <a:t>7.7</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7F9FB"/>
                    </a:solidFill>
                  </a:tcPr>
                </a:tc>
                <a:tc>
                  <a:txBody>
                    <a:bodyPr/>
                    <a:lstStyle/>
                    <a:p>
                      <a:pPr indent="0" lvl="0" marL="0" marR="0" rtl="0" algn="l">
                        <a:spcBef>
                          <a:spcPts val="0"/>
                        </a:spcBef>
                        <a:spcAft>
                          <a:spcPts val="0"/>
                        </a:spcAft>
                        <a:buClr>
                          <a:srgbClr val="1F2933"/>
                        </a:buClr>
                        <a:buSzPts val="1500"/>
                        <a:buFont typeface="Calibri"/>
                        <a:buNone/>
                      </a:pPr>
                      <a:r>
                        <a:rPr lang="en-US" sz="1500" u="none" cap="none" strike="noStrike">
                          <a:solidFill>
                            <a:srgbClr val="1F2933"/>
                          </a:solidFill>
                          <a:latin typeface="Calibri"/>
                          <a:ea typeface="Calibri"/>
                          <a:cs typeface="Calibri"/>
                          <a:sym typeface="Calibri"/>
                        </a:rPr>
                        <a:t>traiter les valeurs manquantes, en justifiant chaque choix</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7F9FB"/>
                    </a:solidFill>
                  </a:tcPr>
                </a:tc>
              </a:tr>
              <a:tr h="365375">
                <a:tc>
                  <a:txBody>
                    <a:bodyPr/>
                    <a:lstStyle/>
                    <a:p>
                      <a:pPr indent="0" lvl="0" marL="0" marR="0" rtl="0" algn="l">
                        <a:spcBef>
                          <a:spcPts val="0"/>
                        </a:spcBef>
                        <a:spcAft>
                          <a:spcPts val="0"/>
                        </a:spcAft>
                        <a:buClr>
                          <a:srgbClr val="1F2933"/>
                        </a:buClr>
                        <a:buSzPts val="1500"/>
                        <a:buFont typeface="Calibri"/>
                        <a:buNone/>
                      </a:pPr>
                      <a:r>
                        <a:rPr b="1" lang="en-US" sz="1500" u="none" cap="none" strike="noStrike">
                          <a:solidFill>
                            <a:srgbClr val="1F2933"/>
                          </a:solidFill>
                          <a:latin typeface="Calibri"/>
                          <a:ea typeface="Calibri"/>
                          <a:cs typeface="Calibri"/>
                          <a:sym typeface="Calibri"/>
                        </a:rPr>
                        <a:t>7.8 et 7.9</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F2933"/>
                        </a:buClr>
                        <a:buSzPts val="1500"/>
                        <a:buFont typeface="Calibri"/>
                        <a:buNone/>
                      </a:pPr>
                      <a:r>
                        <a:rPr lang="en-US" sz="1500" u="none" cap="none" strike="noStrike">
                          <a:solidFill>
                            <a:srgbClr val="1F2933"/>
                          </a:solidFill>
                          <a:latin typeface="Calibri"/>
                          <a:ea typeface="Calibri"/>
                          <a:cs typeface="Calibri"/>
                          <a:sym typeface="Calibri"/>
                        </a:rPr>
                        <a:t>ajouter les colonnes calculées, refaire les vérifications du TP1</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FFFFF"/>
                    </a:solidFill>
                  </a:tcPr>
                </a:tc>
              </a:tr>
            </a:tbl>
          </a:graphicData>
        </a:graphic>
      </p:graphicFrame>
      <p:sp>
        <p:nvSpPr>
          <p:cNvPr id="808" name="Google Shape;808;p48"/>
          <p:cNvSpPr/>
          <p:nvPr/>
        </p:nvSpPr>
        <p:spPr>
          <a:xfrm>
            <a:off x="548640" y="4523994"/>
            <a:ext cx="11094415" cy="883920"/>
          </a:xfrm>
          <a:prstGeom prst="roundRect">
            <a:avLst>
              <a:gd fmla="val 6207" name="adj"/>
            </a:avLst>
          </a:prstGeom>
          <a:solidFill>
            <a:srgbClr val="E8F3E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9" name="Google Shape;809;p48"/>
          <p:cNvSpPr txBox="1"/>
          <p:nvPr/>
        </p:nvSpPr>
        <p:spPr>
          <a:xfrm>
            <a:off x="822960" y="4523994"/>
            <a:ext cx="10545775" cy="883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F3A5F"/>
              </a:buClr>
              <a:buSzPts val="1700"/>
              <a:buFont typeface="Calibri"/>
              <a:buNone/>
            </a:pPr>
            <a:r>
              <a:rPr b="0" i="0" lang="en-US" sz="1700" u="none" cap="none" strike="noStrike">
                <a:solidFill>
                  <a:srgbClr val="1F3A5F"/>
                </a:solidFill>
                <a:latin typeface="Calibri"/>
                <a:ea typeface="Calibri"/>
                <a:cs typeface="Calibri"/>
                <a:sym typeface="Calibri"/>
              </a:rPr>
              <a:t>Noter au fur et à mesure chaque choix et le nombre de lignes concernées : la note de fin de notebook fait partie du livrable.</a:t>
            </a:r>
            <a:endParaRPr b="0" i="0" sz="1700" u="none" cap="none" strike="noStrike">
              <a:solidFill>
                <a:schemeClr val="dk1"/>
              </a:solidFill>
              <a:latin typeface="Calibri"/>
              <a:ea typeface="Calibri"/>
              <a:cs typeface="Calibri"/>
              <a:sym typeface="Calibri"/>
            </a:endParaRPr>
          </a:p>
        </p:txBody>
      </p:sp>
      <p:sp>
        <p:nvSpPr>
          <p:cNvPr id="810" name="Google Shape;810;p48"/>
          <p:cNvSpPr txBox="1"/>
          <p:nvPr/>
        </p:nvSpPr>
        <p:spPr>
          <a:xfrm>
            <a:off x="548640" y="6400800"/>
            <a:ext cx="73152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B7280"/>
              </a:buClr>
              <a:buSzPts val="1000"/>
              <a:buFont typeface="Calibri"/>
              <a:buNone/>
            </a:pPr>
            <a:r>
              <a:rPr b="0" i="0" lang="en-US" sz="1000" u="none" cap="none" strike="noStrike">
                <a:solidFill>
                  <a:srgbClr val="6B7280"/>
                </a:solidFill>
                <a:latin typeface="Calibri"/>
                <a:ea typeface="Calibri"/>
                <a:cs typeface="Calibri"/>
                <a:sym typeface="Calibri"/>
              </a:rPr>
              <a:t>Analyse de données avec Python   |   Jour 1, après-midi</a:t>
            </a:r>
            <a:endParaRPr b="0" i="0" sz="1000" u="none" cap="none" strike="noStrike">
              <a:solidFill>
                <a:schemeClr val="dk1"/>
              </a:solidFill>
              <a:latin typeface="Calibri"/>
              <a:ea typeface="Calibri"/>
              <a:cs typeface="Calibri"/>
              <a:sym typeface="Calibri"/>
            </a:endParaRPr>
          </a:p>
        </p:txBody>
      </p:sp>
      <p:sp>
        <p:nvSpPr>
          <p:cNvPr id="811" name="Google Shape;811;p48"/>
          <p:cNvSpPr txBox="1"/>
          <p:nvPr>
            <p:ph idx="4294967295" type="sldNum"/>
          </p:nvPr>
        </p:nvSpPr>
        <p:spPr>
          <a:xfrm>
            <a:off x="11094415" y="6400800"/>
            <a:ext cx="548640" cy="27432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000" u="none" cap="none" strike="noStrike">
                <a:solidFill>
                  <a:srgbClr val="6B7280"/>
                </a:solidFill>
                <a:latin typeface="Calibri"/>
                <a:ea typeface="Calibri"/>
                <a:cs typeface="Calibri"/>
                <a:sym typeface="Calibri"/>
              </a:rPr>
              <a:t>‹#›</a:t>
            </a:fld>
            <a:endParaRPr b="0" i="0" sz="1000" u="none" cap="none" strike="noStrike">
              <a:solidFill>
                <a:srgbClr val="6B7280"/>
              </a:solidFill>
              <a:latin typeface="Calibri"/>
              <a:ea typeface="Calibri"/>
              <a:cs typeface="Calibri"/>
              <a:sym typeface="Calibri"/>
            </a:endParaRPr>
          </a:p>
        </p:txBody>
      </p:sp>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F3A5F"/>
        </a:solidFill>
      </p:bgPr>
    </p:bg>
    <p:spTree>
      <p:nvGrpSpPr>
        <p:cNvPr id="816" name="Shape 816"/>
        <p:cNvGrpSpPr/>
        <p:nvPr/>
      </p:nvGrpSpPr>
      <p:grpSpPr>
        <a:xfrm>
          <a:off x="0" y="0"/>
          <a:ext cx="0" cy="0"/>
          <a:chOff x="0" y="0"/>
          <a:chExt cx="0" cy="0"/>
        </a:xfrm>
      </p:grpSpPr>
      <p:sp>
        <p:nvSpPr>
          <p:cNvPr id="817" name="Google Shape;817;p49"/>
          <p:cNvSpPr txBox="1"/>
          <p:nvPr/>
        </p:nvSpPr>
        <p:spPr>
          <a:xfrm>
            <a:off x="731520" y="1737360"/>
            <a:ext cx="2743200" cy="11887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FD1B5"/>
              </a:buClr>
              <a:buSzPts val="8000"/>
              <a:buFont typeface="Cambria"/>
              <a:buNone/>
            </a:pPr>
            <a:r>
              <a:rPr b="1" i="0" lang="en-US" sz="8000" u="none" cap="none" strike="noStrike">
                <a:solidFill>
                  <a:srgbClr val="8FD1B5"/>
                </a:solidFill>
                <a:latin typeface="Cambria"/>
                <a:ea typeface="Cambria"/>
                <a:cs typeface="Cambria"/>
                <a:sym typeface="Cambria"/>
              </a:rPr>
              <a:t>08</a:t>
            </a:r>
            <a:endParaRPr b="0" i="0" sz="8000" u="none" cap="none" strike="noStrike">
              <a:solidFill>
                <a:schemeClr val="dk1"/>
              </a:solidFill>
              <a:latin typeface="Calibri"/>
              <a:ea typeface="Calibri"/>
              <a:cs typeface="Calibri"/>
              <a:sym typeface="Calibri"/>
            </a:endParaRPr>
          </a:p>
        </p:txBody>
      </p:sp>
      <p:sp>
        <p:nvSpPr>
          <p:cNvPr id="818" name="Google Shape;818;p49"/>
          <p:cNvSpPr txBox="1"/>
          <p:nvPr/>
        </p:nvSpPr>
        <p:spPr>
          <a:xfrm>
            <a:off x="731520" y="3017520"/>
            <a:ext cx="10515600" cy="8229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FFFFFF"/>
              </a:buClr>
              <a:buSzPts val="4000"/>
              <a:buFont typeface="Cambria"/>
              <a:buNone/>
            </a:pPr>
            <a:r>
              <a:rPr b="1" i="0" lang="en-US" sz="4000" u="none" cap="none" strike="noStrike">
                <a:solidFill>
                  <a:srgbClr val="FFFFFF"/>
                </a:solidFill>
                <a:latin typeface="Cambria"/>
                <a:ea typeface="Cambria"/>
                <a:cs typeface="Cambria"/>
                <a:sym typeface="Cambria"/>
              </a:rPr>
              <a:t>Exporter en Parquet</a:t>
            </a:r>
            <a:endParaRPr b="0" i="0" sz="4000" u="none" cap="none" strike="noStrike">
              <a:solidFill>
                <a:schemeClr val="dk1"/>
              </a:solidFill>
              <a:latin typeface="Calibri"/>
              <a:ea typeface="Calibri"/>
              <a:cs typeface="Calibri"/>
              <a:sym typeface="Calibri"/>
            </a:endParaRPr>
          </a:p>
        </p:txBody>
      </p:sp>
      <p:sp>
        <p:nvSpPr>
          <p:cNvPr id="819" name="Google Shape;819;p49"/>
          <p:cNvSpPr txBox="1"/>
          <p:nvPr/>
        </p:nvSpPr>
        <p:spPr>
          <a:xfrm>
            <a:off x="731520" y="3977640"/>
            <a:ext cx="10515600" cy="5486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C9D6E3"/>
              </a:buClr>
              <a:buSzPts val="2000"/>
              <a:buFont typeface="Calibri"/>
              <a:buNone/>
            </a:pPr>
            <a:r>
              <a:rPr b="0" i="0" lang="en-US" sz="2000" u="none" cap="none" strike="noStrike">
                <a:solidFill>
                  <a:srgbClr val="C9D6E3"/>
                </a:solidFill>
                <a:latin typeface="Calibri"/>
                <a:ea typeface="Calibri"/>
                <a:cs typeface="Calibri"/>
                <a:sym typeface="Calibri"/>
              </a:rPr>
              <a:t>Pourquoi plus compact   |   Pourquoi plus rapide   |   Mesurer</a:t>
            </a:r>
            <a:endParaRPr b="0" i="0" sz="2000" u="none" cap="none" strike="noStrike">
              <a:solidFill>
                <a:schemeClr val="dk1"/>
              </a:solidFill>
              <a:latin typeface="Calibri"/>
              <a:ea typeface="Calibri"/>
              <a:cs typeface="Calibri"/>
              <a:sym typeface="Calibri"/>
            </a:endParaRPr>
          </a:p>
        </p:txBody>
      </p:sp>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24" name="Shape 824"/>
        <p:cNvGrpSpPr/>
        <p:nvPr/>
      </p:nvGrpSpPr>
      <p:grpSpPr>
        <a:xfrm>
          <a:off x="0" y="0"/>
          <a:ext cx="0" cy="0"/>
          <a:chOff x="0" y="0"/>
          <a:chExt cx="0" cy="0"/>
        </a:xfrm>
      </p:grpSpPr>
      <p:sp>
        <p:nvSpPr>
          <p:cNvPr id="825" name="Google Shape;825;p50"/>
          <p:cNvSpPr/>
          <p:nvPr/>
        </p:nvSpPr>
        <p:spPr>
          <a:xfrm>
            <a:off x="548640" y="566928"/>
            <a:ext cx="475488" cy="475488"/>
          </a:xfrm>
          <a:prstGeom prst="ellipse">
            <a:avLst/>
          </a:prstGeom>
          <a:solidFill>
            <a:srgbClr val="2F7D6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6" name="Google Shape;826;p50"/>
          <p:cNvSpPr txBox="1"/>
          <p:nvPr/>
        </p:nvSpPr>
        <p:spPr>
          <a:xfrm>
            <a:off x="548640" y="566928"/>
            <a:ext cx="475488" cy="47548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8</a:t>
            </a:r>
            <a:endParaRPr b="0" i="0" sz="1600" u="none" cap="none" strike="noStrike">
              <a:solidFill>
                <a:schemeClr val="dk1"/>
              </a:solidFill>
              <a:latin typeface="Calibri"/>
              <a:ea typeface="Calibri"/>
              <a:cs typeface="Calibri"/>
              <a:sym typeface="Calibri"/>
            </a:endParaRPr>
          </a:p>
        </p:txBody>
      </p:sp>
      <p:sp>
        <p:nvSpPr>
          <p:cNvPr id="827" name="Google Shape;827;p50"/>
          <p:cNvSpPr txBox="1"/>
          <p:nvPr/>
        </p:nvSpPr>
        <p:spPr>
          <a:xfrm>
            <a:off x="1280160" y="164592"/>
            <a:ext cx="10362895"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F7D62"/>
              </a:buClr>
              <a:buSzPts val="1200"/>
              <a:buFont typeface="Calibri"/>
              <a:buNone/>
            </a:pPr>
            <a:r>
              <a:rPr b="1" i="0" lang="en-US" sz="1200" u="none" cap="none" strike="noStrike">
                <a:solidFill>
                  <a:srgbClr val="2F7D62"/>
                </a:solidFill>
                <a:latin typeface="Calibri"/>
                <a:ea typeface="Calibri"/>
                <a:cs typeface="Calibri"/>
                <a:sym typeface="Calibri"/>
              </a:rPr>
              <a:t>EXPORTER EN PARQUET</a:t>
            </a:r>
            <a:endParaRPr b="0" i="0" sz="1200" u="none" cap="none" strike="noStrike">
              <a:solidFill>
                <a:schemeClr val="dk1"/>
              </a:solidFill>
              <a:latin typeface="Calibri"/>
              <a:ea typeface="Calibri"/>
              <a:cs typeface="Calibri"/>
              <a:sym typeface="Calibri"/>
            </a:endParaRPr>
          </a:p>
        </p:txBody>
      </p:sp>
      <p:sp>
        <p:nvSpPr>
          <p:cNvPr id="828" name="Google Shape;828;p50"/>
          <p:cNvSpPr txBox="1"/>
          <p:nvPr/>
        </p:nvSpPr>
        <p:spPr>
          <a:xfrm>
            <a:off x="1280160" y="457200"/>
            <a:ext cx="10362895" cy="6949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F3A5F"/>
              </a:buClr>
              <a:buSzPts val="3000"/>
              <a:buFont typeface="Cambria"/>
              <a:buNone/>
            </a:pPr>
            <a:r>
              <a:rPr b="1" i="0" lang="en-US" sz="3000" u="none" cap="none" strike="noStrike">
                <a:solidFill>
                  <a:srgbClr val="1F3A5F"/>
                </a:solidFill>
                <a:latin typeface="Cambria"/>
                <a:ea typeface="Cambria"/>
                <a:cs typeface="Cambria"/>
                <a:sym typeface="Cambria"/>
              </a:rPr>
              <a:t>Pourquoi Parquet est plus compact et plus rapide</a:t>
            </a:r>
            <a:endParaRPr b="0" i="0" sz="3000" u="none" cap="none" strike="noStrike">
              <a:solidFill>
                <a:schemeClr val="dk1"/>
              </a:solidFill>
              <a:latin typeface="Calibri"/>
              <a:ea typeface="Calibri"/>
              <a:cs typeface="Calibri"/>
              <a:sym typeface="Calibri"/>
            </a:endParaRPr>
          </a:p>
        </p:txBody>
      </p:sp>
      <p:sp>
        <p:nvSpPr>
          <p:cNvPr id="829" name="Google Shape;829;p50"/>
          <p:cNvSpPr/>
          <p:nvPr/>
        </p:nvSpPr>
        <p:spPr>
          <a:xfrm>
            <a:off x="548640" y="1417320"/>
            <a:ext cx="3515258" cy="2331720"/>
          </a:xfrm>
          <a:prstGeom prst="roundRect">
            <a:avLst>
              <a:gd fmla="val 3137" name="adj"/>
            </a:avLst>
          </a:prstGeom>
          <a:solidFill>
            <a:srgbClr val="EEF3F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0" name="Google Shape;830;p50"/>
          <p:cNvSpPr/>
          <p:nvPr/>
        </p:nvSpPr>
        <p:spPr>
          <a:xfrm>
            <a:off x="777240" y="1691640"/>
            <a:ext cx="402336" cy="402336"/>
          </a:xfrm>
          <a:prstGeom prst="ellipse">
            <a:avLst/>
          </a:prstGeom>
          <a:solidFill>
            <a:srgbClr val="2F7D6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1" name="Google Shape;831;p50"/>
          <p:cNvSpPr txBox="1"/>
          <p:nvPr/>
        </p:nvSpPr>
        <p:spPr>
          <a:xfrm>
            <a:off x="777240" y="1691640"/>
            <a:ext cx="402336" cy="402336"/>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1</a:t>
            </a:r>
            <a:endParaRPr b="0" i="0" sz="1500" u="none" cap="none" strike="noStrike">
              <a:solidFill>
                <a:schemeClr val="dk1"/>
              </a:solidFill>
              <a:latin typeface="Calibri"/>
              <a:ea typeface="Calibri"/>
              <a:cs typeface="Calibri"/>
              <a:sym typeface="Calibri"/>
            </a:endParaRPr>
          </a:p>
        </p:txBody>
      </p:sp>
      <p:sp>
        <p:nvSpPr>
          <p:cNvPr id="832" name="Google Shape;832;p50"/>
          <p:cNvSpPr txBox="1"/>
          <p:nvPr/>
        </p:nvSpPr>
        <p:spPr>
          <a:xfrm>
            <a:off x="777240" y="2240280"/>
            <a:ext cx="3058058"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F3A5F"/>
              </a:buClr>
              <a:buSzPts val="1800"/>
              <a:buFont typeface="Calibri"/>
              <a:buNone/>
            </a:pPr>
            <a:r>
              <a:rPr b="1" i="0" lang="en-US" sz="1800" u="none" cap="none" strike="noStrike">
                <a:solidFill>
                  <a:srgbClr val="1F3A5F"/>
                </a:solidFill>
                <a:latin typeface="Calibri"/>
                <a:ea typeface="Calibri"/>
                <a:cs typeface="Calibri"/>
                <a:sym typeface="Calibri"/>
              </a:rPr>
              <a:t>Stockage par colonne</a:t>
            </a:r>
            <a:endParaRPr b="0" i="0" sz="1800" u="none" cap="none" strike="noStrike">
              <a:solidFill>
                <a:schemeClr val="dk1"/>
              </a:solidFill>
              <a:latin typeface="Calibri"/>
              <a:ea typeface="Calibri"/>
              <a:cs typeface="Calibri"/>
              <a:sym typeface="Calibri"/>
            </a:endParaRPr>
          </a:p>
        </p:txBody>
      </p:sp>
      <p:sp>
        <p:nvSpPr>
          <p:cNvPr id="833" name="Google Shape;833;p50"/>
          <p:cNvSpPr txBox="1"/>
          <p:nvPr/>
        </p:nvSpPr>
        <p:spPr>
          <a:xfrm>
            <a:off x="777240" y="2606040"/>
            <a:ext cx="3058058" cy="9601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F2933"/>
              </a:buClr>
              <a:buSzPts val="1500"/>
              <a:buFont typeface="Calibri"/>
              <a:buNone/>
            </a:pPr>
            <a:r>
              <a:rPr b="0" i="0" lang="en-US" sz="1500" u="none" cap="none" strike="noStrike">
                <a:solidFill>
                  <a:srgbClr val="1F2933"/>
                </a:solidFill>
                <a:latin typeface="Calibri"/>
                <a:ea typeface="Calibri"/>
                <a:cs typeface="Calibri"/>
                <a:sym typeface="Calibri"/>
              </a:rPr>
              <a:t>Les valeurs d'une colonne se ressemblent : elles se compressent bien mieux que des lignes qui mélangent tout.</a:t>
            </a:r>
            <a:endParaRPr b="0" i="0" sz="1500" u="none" cap="none" strike="noStrike">
              <a:solidFill>
                <a:schemeClr val="dk1"/>
              </a:solidFill>
              <a:latin typeface="Calibri"/>
              <a:ea typeface="Calibri"/>
              <a:cs typeface="Calibri"/>
              <a:sym typeface="Calibri"/>
            </a:endParaRPr>
          </a:p>
        </p:txBody>
      </p:sp>
      <p:sp>
        <p:nvSpPr>
          <p:cNvPr id="834" name="Google Shape;834;p50"/>
          <p:cNvSpPr/>
          <p:nvPr/>
        </p:nvSpPr>
        <p:spPr>
          <a:xfrm>
            <a:off x="4338218" y="1417320"/>
            <a:ext cx="3515258" cy="2331720"/>
          </a:xfrm>
          <a:prstGeom prst="roundRect">
            <a:avLst>
              <a:gd fmla="val 3137" name="adj"/>
            </a:avLst>
          </a:prstGeom>
          <a:solidFill>
            <a:srgbClr val="EEF3F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5" name="Google Shape;835;p50"/>
          <p:cNvSpPr/>
          <p:nvPr/>
        </p:nvSpPr>
        <p:spPr>
          <a:xfrm>
            <a:off x="4566818" y="1691640"/>
            <a:ext cx="402336" cy="402336"/>
          </a:xfrm>
          <a:prstGeom prst="ellipse">
            <a:avLst/>
          </a:prstGeom>
          <a:solidFill>
            <a:srgbClr val="2F7D6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6" name="Google Shape;836;p50"/>
          <p:cNvSpPr txBox="1"/>
          <p:nvPr/>
        </p:nvSpPr>
        <p:spPr>
          <a:xfrm>
            <a:off x="4566818" y="1691640"/>
            <a:ext cx="402336" cy="402336"/>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2</a:t>
            </a:r>
            <a:endParaRPr b="0" i="0" sz="1500" u="none" cap="none" strike="noStrike">
              <a:solidFill>
                <a:schemeClr val="dk1"/>
              </a:solidFill>
              <a:latin typeface="Calibri"/>
              <a:ea typeface="Calibri"/>
              <a:cs typeface="Calibri"/>
              <a:sym typeface="Calibri"/>
            </a:endParaRPr>
          </a:p>
        </p:txBody>
      </p:sp>
      <p:sp>
        <p:nvSpPr>
          <p:cNvPr id="837" name="Google Shape;837;p50"/>
          <p:cNvSpPr txBox="1"/>
          <p:nvPr/>
        </p:nvSpPr>
        <p:spPr>
          <a:xfrm>
            <a:off x="4566818" y="2240280"/>
            <a:ext cx="3058058"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F3A5F"/>
              </a:buClr>
              <a:buSzPts val="1800"/>
              <a:buFont typeface="Calibri"/>
              <a:buNone/>
            </a:pPr>
            <a:r>
              <a:rPr b="1" i="0" lang="en-US" sz="1800" u="none" cap="none" strike="noStrike">
                <a:solidFill>
                  <a:srgbClr val="1F3A5F"/>
                </a:solidFill>
                <a:latin typeface="Calibri"/>
                <a:ea typeface="Calibri"/>
                <a:cs typeface="Calibri"/>
                <a:sym typeface="Calibri"/>
              </a:rPr>
              <a:t>Valeurs répétées encodées</a:t>
            </a:r>
            <a:endParaRPr b="0" i="0" sz="1800" u="none" cap="none" strike="noStrike">
              <a:solidFill>
                <a:schemeClr val="dk1"/>
              </a:solidFill>
              <a:latin typeface="Calibri"/>
              <a:ea typeface="Calibri"/>
              <a:cs typeface="Calibri"/>
              <a:sym typeface="Calibri"/>
            </a:endParaRPr>
          </a:p>
        </p:txBody>
      </p:sp>
      <p:sp>
        <p:nvSpPr>
          <p:cNvPr id="838" name="Google Shape;838;p50"/>
          <p:cNvSpPr txBox="1"/>
          <p:nvPr/>
        </p:nvSpPr>
        <p:spPr>
          <a:xfrm>
            <a:off x="4566818" y="2606040"/>
            <a:ext cx="3058058" cy="9601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F2933"/>
              </a:buClr>
              <a:buSzPts val="1500"/>
              <a:buFont typeface="Calibri"/>
              <a:buNone/>
            </a:pPr>
            <a:r>
              <a:rPr b="0" i="0" lang="en-US" sz="1500" u="none" cap="none" strike="noStrike">
                <a:solidFill>
                  <a:srgbClr val="1F2933"/>
                </a:solidFill>
                <a:latin typeface="Calibri"/>
                <a:ea typeface="Calibri"/>
                <a:cs typeface="Calibri"/>
                <a:sym typeface="Calibri"/>
              </a:rPr>
              <a:t>Une colonne comme </a:t>
            </a:r>
            <a:r>
              <a:rPr b="0" i="0" lang="en-US" sz="1500" u="none" cap="none" strike="noStrike">
                <a:solidFill>
                  <a:srgbClr val="1F3A5F"/>
                </a:solidFill>
                <a:latin typeface="Courier New"/>
                <a:ea typeface="Courier New"/>
                <a:cs typeface="Courier New"/>
                <a:sym typeface="Courier New"/>
              </a:rPr>
              <a:t>region</a:t>
            </a:r>
            <a:r>
              <a:rPr b="0" i="0" lang="en-US" sz="1500" u="none" cap="none" strike="noStrike">
                <a:solidFill>
                  <a:srgbClr val="1F2933"/>
                </a:solidFill>
                <a:latin typeface="Calibri"/>
                <a:ea typeface="Calibri"/>
                <a:cs typeface="Calibri"/>
                <a:sym typeface="Calibri"/>
              </a:rPr>
              <a:t> est stockée sous forme d'un dictionnaire et de codes, comme </a:t>
            </a:r>
            <a:r>
              <a:rPr b="0" i="0" lang="en-US" sz="1500" u="none" cap="none" strike="noStrike">
                <a:solidFill>
                  <a:srgbClr val="1F3A5F"/>
                </a:solidFill>
                <a:latin typeface="Courier New"/>
                <a:ea typeface="Courier New"/>
                <a:cs typeface="Courier New"/>
                <a:sym typeface="Courier New"/>
              </a:rPr>
              <a:t>category</a:t>
            </a:r>
            <a:r>
              <a:rPr b="0" i="0" lang="en-US" sz="1500" u="none" cap="none" strike="noStrike">
                <a:solidFill>
                  <a:srgbClr val="1F2933"/>
                </a:solidFill>
                <a:latin typeface="Calibri"/>
                <a:ea typeface="Calibri"/>
                <a:cs typeface="Calibri"/>
                <a:sym typeface="Calibri"/>
              </a:rPr>
              <a:t>.</a:t>
            </a:r>
            <a:endParaRPr b="0" i="0" sz="1500" u="none" cap="none" strike="noStrike">
              <a:solidFill>
                <a:schemeClr val="dk1"/>
              </a:solidFill>
              <a:latin typeface="Calibri"/>
              <a:ea typeface="Calibri"/>
              <a:cs typeface="Calibri"/>
              <a:sym typeface="Calibri"/>
            </a:endParaRPr>
          </a:p>
        </p:txBody>
      </p:sp>
      <p:sp>
        <p:nvSpPr>
          <p:cNvPr id="839" name="Google Shape;839;p50"/>
          <p:cNvSpPr/>
          <p:nvPr/>
        </p:nvSpPr>
        <p:spPr>
          <a:xfrm>
            <a:off x="8127797" y="1417320"/>
            <a:ext cx="3515258" cy="2331720"/>
          </a:xfrm>
          <a:prstGeom prst="roundRect">
            <a:avLst>
              <a:gd fmla="val 3137" name="adj"/>
            </a:avLst>
          </a:prstGeom>
          <a:solidFill>
            <a:srgbClr val="EEF3F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0" name="Google Shape;840;p50"/>
          <p:cNvSpPr/>
          <p:nvPr/>
        </p:nvSpPr>
        <p:spPr>
          <a:xfrm>
            <a:off x="8356397" y="1691640"/>
            <a:ext cx="402336" cy="402336"/>
          </a:xfrm>
          <a:prstGeom prst="ellipse">
            <a:avLst/>
          </a:prstGeom>
          <a:solidFill>
            <a:srgbClr val="2F7D6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1" name="Google Shape;841;p50"/>
          <p:cNvSpPr txBox="1"/>
          <p:nvPr/>
        </p:nvSpPr>
        <p:spPr>
          <a:xfrm>
            <a:off x="8356397" y="1691640"/>
            <a:ext cx="402336" cy="402336"/>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3</a:t>
            </a:r>
            <a:endParaRPr b="0" i="0" sz="1500" u="none" cap="none" strike="noStrike">
              <a:solidFill>
                <a:schemeClr val="dk1"/>
              </a:solidFill>
              <a:latin typeface="Calibri"/>
              <a:ea typeface="Calibri"/>
              <a:cs typeface="Calibri"/>
              <a:sym typeface="Calibri"/>
            </a:endParaRPr>
          </a:p>
        </p:txBody>
      </p:sp>
      <p:sp>
        <p:nvSpPr>
          <p:cNvPr id="842" name="Google Shape;842;p50"/>
          <p:cNvSpPr txBox="1"/>
          <p:nvPr/>
        </p:nvSpPr>
        <p:spPr>
          <a:xfrm>
            <a:off x="8356397" y="2240280"/>
            <a:ext cx="3058058"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F3A5F"/>
              </a:buClr>
              <a:buSzPts val="1800"/>
              <a:buFont typeface="Calibri"/>
              <a:buNone/>
            </a:pPr>
            <a:r>
              <a:rPr b="1" i="0" lang="en-US" sz="1800" u="none" cap="none" strike="noStrike">
                <a:solidFill>
                  <a:srgbClr val="1F3A5F"/>
                </a:solidFill>
                <a:latin typeface="Calibri"/>
                <a:ea typeface="Calibri"/>
                <a:cs typeface="Calibri"/>
                <a:sym typeface="Calibri"/>
              </a:rPr>
              <a:t>Binaire et typé</a:t>
            </a:r>
            <a:endParaRPr b="0" i="0" sz="1800" u="none" cap="none" strike="noStrike">
              <a:solidFill>
                <a:schemeClr val="dk1"/>
              </a:solidFill>
              <a:latin typeface="Calibri"/>
              <a:ea typeface="Calibri"/>
              <a:cs typeface="Calibri"/>
              <a:sym typeface="Calibri"/>
            </a:endParaRPr>
          </a:p>
        </p:txBody>
      </p:sp>
      <p:sp>
        <p:nvSpPr>
          <p:cNvPr id="843" name="Google Shape;843;p50"/>
          <p:cNvSpPr txBox="1"/>
          <p:nvPr/>
        </p:nvSpPr>
        <p:spPr>
          <a:xfrm>
            <a:off x="8356397" y="2606040"/>
            <a:ext cx="3058058" cy="9601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F2933"/>
              </a:buClr>
              <a:buSzPts val="1500"/>
              <a:buFont typeface="Calibri"/>
              <a:buNone/>
            </a:pPr>
            <a:r>
              <a:rPr b="0" i="0" lang="en-US" sz="1500" u="none" cap="none" strike="noStrike">
                <a:solidFill>
                  <a:srgbClr val="1F2933"/>
                </a:solidFill>
                <a:latin typeface="Calibri"/>
                <a:ea typeface="Calibri"/>
                <a:cs typeface="Calibri"/>
                <a:sym typeface="Calibri"/>
              </a:rPr>
              <a:t>Pas de texte à analyser à la lecture, les types sont décrits dans le fichier.</a:t>
            </a:r>
            <a:endParaRPr b="0" i="0" sz="1500" u="none" cap="none" strike="noStrike">
              <a:solidFill>
                <a:schemeClr val="dk1"/>
              </a:solidFill>
              <a:latin typeface="Calibri"/>
              <a:ea typeface="Calibri"/>
              <a:cs typeface="Calibri"/>
              <a:sym typeface="Calibri"/>
            </a:endParaRPr>
          </a:p>
        </p:txBody>
      </p:sp>
      <p:sp>
        <p:nvSpPr>
          <p:cNvPr id="844" name="Google Shape;844;p50"/>
          <p:cNvSpPr txBox="1"/>
          <p:nvPr/>
        </p:nvSpPr>
        <p:spPr>
          <a:xfrm>
            <a:off x="548640" y="4069080"/>
            <a:ext cx="11094415"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B7280"/>
              </a:buClr>
              <a:buSzPts val="1200"/>
              <a:buFont typeface="Calibri"/>
              <a:buNone/>
            </a:pPr>
            <a:r>
              <a:rPr b="0" i="0" lang="en-US" sz="1200" u="none" cap="none" strike="noStrike">
                <a:solidFill>
                  <a:srgbClr val="6B7280"/>
                </a:solidFill>
                <a:latin typeface="Calibri"/>
                <a:ea typeface="Calibri"/>
                <a:cs typeface="Calibri"/>
                <a:sym typeface="Calibri"/>
              </a:rPr>
              <a:t>On peut ne lire que les colonnes utiles</a:t>
            </a:r>
            <a:endParaRPr b="0" i="0" sz="1200" u="none" cap="none" strike="noStrike">
              <a:solidFill>
                <a:schemeClr val="dk1"/>
              </a:solidFill>
              <a:latin typeface="Calibri"/>
              <a:ea typeface="Calibri"/>
              <a:cs typeface="Calibri"/>
              <a:sym typeface="Calibri"/>
            </a:endParaRPr>
          </a:p>
        </p:txBody>
      </p:sp>
      <p:sp>
        <p:nvSpPr>
          <p:cNvPr id="845" name="Google Shape;845;p50"/>
          <p:cNvSpPr/>
          <p:nvPr/>
        </p:nvSpPr>
        <p:spPr>
          <a:xfrm>
            <a:off x="548640" y="4361688"/>
            <a:ext cx="11094415" cy="517398"/>
          </a:xfrm>
          <a:prstGeom prst="rect">
            <a:avLst/>
          </a:prstGeom>
          <a:solidFill>
            <a:srgbClr val="F3F4F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6" name="Google Shape;846;p50"/>
          <p:cNvSpPr txBox="1"/>
          <p:nvPr/>
        </p:nvSpPr>
        <p:spPr>
          <a:xfrm>
            <a:off x="731520" y="4507992"/>
            <a:ext cx="10728655" cy="22479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F2933"/>
              </a:buClr>
              <a:buSzPts val="1500"/>
              <a:buFont typeface="Courier New"/>
              <a:buNone/>
            </a:pPr>
            <a:r>
              <a:rPr b="0" i="0" lang="en-US" sz="1500" u="none" cap="none" strike="noStrike">
                <a:solidFill>
                  <a:srgbClr val="1F2933"/>
                </a:solidFill>
                <a:latin typeface="Courier New"/>
                <a:ea typeface="Courier New"/>
                <a:cs typeface="Courier New"/>
                <a:sym typeface="Courier New"/>
              </a:rPr>
              <a:t>pd.read_parquet("ventes_propres.parquet", columns=["date", "montant"])</a:t>
            </a:r>
            <a:endParaRPr b="0" i="0" sz="1500" u="none" cap="none" strike="noStrike">
              <a:solidFill>
                <a:schemeClr val="dk1"/>
              </a:solidFill>
              <a:latin typeface="Calibri"/>
              <a:ea typeface="Calibri"/>
              <a:cs typeface="Calibri"/>
              <a:sym typeface="Calibri"/>
            </a:endParaRPr>
          </a:p>
        </p:txBody>
      </p:sp>
      <p:sp>
        <p:nvSpPr>
          <p:cNvPr id="847" name="Google Shape;847;p50"/>
          <p:cNvSpPr txBox="1"/>
          <p:nvPr/>
        </p:nvSpPr>
        <p:spPr>
          <a:xfrm>
            <a:off x="548640" y="6400800"/>
            <a:ext cx="73152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B7280"/>
              </a:buClr>
              <a:buSzPts val="1000"/>
              <a:buFont typeface="Calibri"/>
              <a:buNone/>
            </a:pPr>
            <a:r>
              <a:rPr b="0" i="0" lang="en-US" sz="1000" u="none" cap="none" strike="noStrike">
                <a:solidFill>
                  <a:srgbClr val="6B7280"/>
                </a:solidFill>
                <a:latin typeface="Calibri"/>
                <a:ea typeface="Calibri"/>
                <a:cs typeface="Calibri"/>
                <a:sym typeface="Calibri"/>
              </a:rPr>
              <a:t>Analyse de données avec Python   |   Jour 1, après-midi</a:t>
            </a:r>
            <a:endParaRPr b="0" i="0" sz="1000" u="none" cap="none" strike="noStrike">
              <a:solidFill>
                <a:schemeClr val="dk1"/>
              </a:solidFill>
              <a:latin typeface="Calibri"/>
              <a:ea typeface="Calibri"/>
              <a:cs typeface="Calibri"/>
              <a:sym typeface="Calibri"/>
            </a:endParaRPr>
          </a:p>
        </p:txBody>
      </p:sp>
      <p:sp>
        <p:nvSpPr>
          <p:cNvPr id="848" name="Google Shape;848;p50"/>
          <p:cNvSpPr txBox="1"/>
          <p:nvPr>
            <p:ph idx="4294967295" type="sldNum"/>
          </p:nvPr>
        </p:nvSpPr>
        <p:spPr>
          <a:xfrm>
            <a:off x="11094415" y="6400800"/>
            <a:ext cx="548640" cy="27432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000" u="none" cap="none" strike="noStrike">
                <a:solidFill>
                  <a:srgbClr val="6B7280"/>
                </a:solidFill>
                <a:latin typeface="Calibri"/>
                <a:ea typeface="Calibri"/>
                <a:cs typeface="Calibri"/>
                <a:sym typeface="Calibri"/>
              </a:rPr>
              <a:t>‹#›</a:t>
            </a:fld>
            <a:endParaRPr b="0" i="0" sz="1000" u="none" cap="none" strike="noStrike">
              <a:solidFill>
                <a:srgbClr val="6B7280"/>
              </a:solidFill>
              <a:latin typeface="Calibri"/>
              <a:ea typeface="Calibri"/>
              <a:cs typeface="Calibri"/>
              <a:sym typeface="Calibri"/>
            </a:endParaRPr>
          </a:p>
        </p:txBody>
      </p:sp>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53" name="Shape 853"/>
        <p:cNvGrpSpPr/>
        <p:nvPr/>
      </p:nvGrpSpPr>
      <p:grpSpPr>
        <a:xfrm>
          <a:off x="0" y="0"/>
          <a:ext cx="0" cy="0"/>
          <a:chOff x="0" y="0"/>
          <a:chExt cx="0" cy="0"/>
        </a:xfrm>
      </p:grpSpPr>
      <p:sp>
        <p:nvSpPr>
          <p:cNvPr id="854" name="Google Shape;854;p51"/>
          <p:cNvSpPr/>
          <p:nvPr/>
        </p:nvSpPr>
        <p:spPr>
          <a:xfrm>
            <a:off x="548640" y="566928"/>
            <a:ext cx="475488" cy="475488"/>
          </a:xfrm>
          <a:prstGeom prst="ellipse">
            <a:avLst/>
          </a:prstGeom>
          <a:solidFill>
            <a:srgbClr val="2F7D6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5" name="Google Shape;855;p51"/>
          <p:cNvSpPr txBox="1"/>
          <p:nvPr/>
        </p:nvSpPr>
        <p:spPr>
          <a:xfrm>
            <a:off x="548640" y="566928"/>
            <a:ext cx="475488" cy="47548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8</a:t>
            </a:r>
            <a:endParaRPr b="0" i="0" sz="1600" u="none" cap="none" strike="noStrike">
              <a:solidFill>
                <a:schemeClr val="dk1"/>
              </a:solidFill>
              <a:latin typeface="Calibri"/>
              <a:ea typeface="Calibri"/>
              <a:cs typeface="Calibri"/>
              <a:sym typeface="Calibri"/>
            </a:endParaRPr>
          </a:p>
        </p:txBody>
      </p:sp>
      <p:sp>
        <p:nvSpPr>
          <p:cNvPr id="856" name="Google Shape;856;p51"/>
          <p:cNvSpPr txBox="1"/>
          <p:nvPr/>
        </p:nvSpPr>
        <p:spPr>
          <a:xfrm>
            <a:off x="1280160" y="164592"/>
            <a:ext cx="10362895"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F7D62"/>
              </a:buClr>
              <a:buSzPts val="1200"/>
              <a:buFont typeface="Calibri"/>
              <a:buNone/>
            </a:pPr>
            <a:r>
              <a:rPr b="1" i="0" lang="en-US" sz="1200" u="none" cap="none" strike="noStrike">
                <a:solidFill>
                  <a:srgbClr val="2F7D62"/>
                </a:solidFill>
                <a:latin typeface="Calibri"/>
                <a:ea typeface="Calibri"/>
                <a:cs typeface="Calibri"/>
                <a:sym typeface="Calibri"/>
              </a:rPr>
              <a:t>EXPORTER EN PARQUET</a:t>
            </a:r>
            <a:endParaRPr b="0" i="0" sz="1200" u="none" cap="none" strike="noStrike">
              <a:solidFill>
                <a:schemeClr val="dk1"/>
              </a:solidFill>
              <a:latin typeface="Calibri"/>
              <a:ea typeface="Calibri"/>
              <a:cs typeface="Calibri"/>
              <a:sym typeface="Calibri"/>
            </a:endParaRPr>
          </a:p>
        </p:txBody>
      </p:sp>
      <p:sp>
        <p:nvSpPr>
          <p:cNvPr id="857" name="Google Shape;857;p51"/>
          <p:cNvSpPr txBox="1"/>
          <p:nvPr/>
        </p:nvSpPr>
        <p:spPr>
          <a:xfrm>
            <a:off x="1280160" y="457200"/>
            <a:ext cx="10362895" cy="6949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F3A5F"/>
              </a:buClr>
              <a:buSzPts val="3000"/>
              <a:buFont typeface="Cambria"/>
              <a:buNone/>
            </a:pPr>
            <a:r>
              <a:rPr b="1" i="0" lang="en-US" sz="3000" u="none" cap="none" strike="noStrike">
                <a:solidFill>
                  <a:srgbClr val="1F3A5F"/>
                </a:solidFill>
                <a:latin typeface="Cambria"/>
                <a:ea typeface="Cambria"/>
                <a:cs typeface="Cambria"/>
                <a:sym typeface="Cambria"/>
              </a:rPr>
              <a:t>Mesurer : attention aux petits fichiers</a:t>
            </a:r>
            <a:endParaRPr b="0" i="0" sz="3000" u="none" cap="none" strike="noStrike">
              <a:solidFill>
                <a:schemeClr val="dk1"/>
              </a:solidFill>
              <a:latin typeface="Calibri"/>
              <a:ea typeface="Calibri"/>
              <a:cs typeface="Calibri"/>
              <a:sym typeface="Calibri"/>
            </a:endParaRPr>
          </a:p>
        </p:txBody>
      </p:sp>
      <p:sp>
        <p:nvSpPr>
          <p:cNvPr id="858" name="Google Shape;858;p51"/>
          <p:cNvSpPr/>
          <p:nvPr/>
        </p:nvSpPr>
        <p:spPr>
          <a:xfrm>
            <a:off x="548640" y="1417320"/>
            <a:ext cx="4835098" cy="2435606"/>
          </a:xfrm>
          <a:prstGeom prst="rect">
            <a:avLst/>
          </a:prstGeom>
          <a:solidFill>
            <a:srgbClr val="F3F4F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9" name="Google Shape;859;p51"/>
          <p:cNvSpPr txBox="1"/>
          <p:nvPr/>
        </p:nvSpPr>
        <p:spPr>
          <a:xfrm>
            <a:off x="731520" y="1563624"/>
            <a:ext cx="4469338" cy="214299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F2933"/>
              </a:buClr>
              <a:buSzPts val="1300"/>
              <a:buFont typeface="Courier New"/>
              <a:buNone/>
            </a:pPr>
            <a:r>
              <a:rPr b="0" i="0" lang="en-US" sz="1300" u="none" cap="none" strike="noStrike">
                <a:solidFill>
                  <a:srgbClr val="1F2933"/>
                </a:solidFill>
                <a:latin typeface="Courier New"/>
                <a:ea typeface="Courier New"/>
                <a:cs typeface="Courier New"/>
                <a:sym typeface="Courier New"/>
              </a:rPr>
              <a:t>from pathlib import Path</a:t>
            </a:r>
            <a:endParaRPr b="0" i="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F2933"/>
              </a:buClr>
              <a:buSzPts val="1300"/>
              <a:buFont typeface="Courier New"/>
              <a:buNone/>
            </a:pPr>
            <a:r>
              <a:rPr b="0" i="0" lang="en-US" sz="1300" u="none" cap="none" strike="noStrike">
                <a:solidFill>
                  <a:srgbClr val="1F2933"/>
                </a:solidFill>
                <a:latin typeface="Courier New"/>
                <a:ea typeface="Courier New"/>
                <a:cs typeface="Courier New"/>
                <a:sym typeface="Courier New"/>
              </a:rPr>
              <a:t> </a:t>
            </a:r>
            <a:endParaRPr b="0" i="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F2933"/>
              </a:buClr>
              <a:buSzPts val="1300"/>
              <a:buFont typeface="Courier New"/>
              <a:buNone/>
            </a:pPr>
            <a:r>
              <a:rPr b="0" i="0" lang="en-US" sz="1300" u="none" cap="none" strike="noStrike">
                <a:solidFill>
                  <a:srgbClr val="1F2933"/>
                </a:solidFill>
                <a:latin typeface="Courier New"/>
                <a:ea typeface="Courier New"/>
                <a:cs typeface="Courier New"/>
                <a:sym typeface="Courier New"/>
              </a:rPr>
              <a:t>df.to_csv("ventes_propres.csv", index=False)</a:t>
            </a:r>
            <a:endParaRPr b="0" i="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F2933"/>
              </a:buClr>
              <a:buSzPts val="1300"/>
              <a:buFont typeface="Courier New"/>
              <a:buNone/>
            </a:pPr>
            <a:r>
              <a:rPr b="0" i="0" lang="en-US" sz="1300" u="none" cap="none" strike="noStrike">
                <a:solidFill>
                  <a:srgbClr val="1F2933"/>
                </a:solidFill>
                <a:latin typeface="Courier New"/>
                <a:ea typeface="Courier New"/>
                <a:cs typeface="Courier New"/>
                <a:sym typeface="Courier New"/>
              </a:rPr>
              <a:t>df.to_parquet("ventes_propres.parquet",</a:t>
            </a:r>
            <a:endParaRPr b="0" i="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F2933"/>
              </a:buClr>
              <a:buSzPts val="1300"/>
              <a:buFont typeface="Courier New"/>
              <a:buNone/>
            </a:pPr>
            <a:r>
              <a:rPr b="0" i="0" lang="en-US" sz="1300" u="none" cap="none" strike="noStrike">
                <a:solidFill>
                  <a:srgbClr val="1F2933"/>
                </a:solidFill>
                <a:latin typeface="Courier New"/>
                <a:ea typeface="Courier New"/>
                <a:cs typeface="Courier New"/>
                <a:sym typeface="Courier New"/>
              </a:rPr>
              <a:t>              index=False)</a:t>
            </a:r>
            <a:endParaRPr b="0" i="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F2933"/>
              </a:buClr>
              <a:buSzPts val="1300"/>
              <a:buFont typeface="Courier New"/>
              <a:buNone/>
            </a:pPr>
            <a:r>
              <a:rPr b="0" i="0" lang="en-US" sz="1300" u="none" cap="none" strike="noStrike">
                <a:solidFill>
                  <a:srgbClr val="1F2933"/>
                </a:solidFill>
                <a:latin typeface="Courier New"/>
                <a:ea typeface="Courier New"/>
                <a:cs typeface="Courier New"/>
                <a:sym typeface="Courier New"/>
              </a:rPr>
              <a:t> </a:t>
            </a:r>
            <a:endParaRPr b="0" i="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F2933"/>
              </a:buClr>
              <a:buSzPts val="1300"/>
              <a:buFont typeface="Courier New"/>
              <a:buNone/>
            </a:pPr>
            <a:r>
              <a:rPr b="0" i="0" lang="en-US" sz="1300" u="none" cap="none" strike="noStrike">
                <a:solidFill>
                  <a:srgbClr val="1F2933"/>
                </a:solidFill>
                <a:latin typeface="Courier New"/>
                <a:ea typeface="Courier New"/>
                <a:cs typeface="Courier New"/>
                <a:sym typeface="Courier New"/>
              </a:rPr>
              <a:t>Path("ventes_propres.csv").stat().st_size</a:t>
            </a:r>
            <a:endParaRPr b="0" i="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F2933"/>
              </a:buClr>
              <a:buSzPts val="1300"/>
              <a:buFont typeface="Courier New"/>
              <a:buNone/>
            </a:pPr>
            <a:r>
              <a:rPr b="0" i="0" lang="en-US" sz="1300" u="none" cap="none" strike="noStrike">
                <a:solidFill>
                  <a:srgbClr val="1F2933"/>
                </a:solidFill>
                <a:latin typeface="Courier New"/>
                <a:ea typeface="Courier New"/>
                <a:cs typeface="Courier New"/>
                <a:sym typeface="Courier New"/>
              </a:rPr>
              <a:t> </a:t>
            </a:r>
            <a:endParaRPr b="0" i="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B7280"/>
              </a:buClr>
              <a:buSzPts val="1300"/>
              <a:buFont typeface="Courier New"/>
              <a:buNone/>
            </a:pPr>
            <a:r>
              <a:rPr b="0" i="0" lang="en-US" sz="1300" u="none" cap="none" strike="noStrike">
                <a:solidFill>
                  <a:srgbClr val="6B7280"/>
                </a:solidFill>
                <a:latin typeface="Courier New"/>
                <a:ea typeface="Courier New"/>
                <a:cs typeface="Courier New"/>
                <a:sym typeface="Courier New"/>
              </a:rPr>
              <a:t># les types sont conservés</a:t>
            </a:r>
            <a:endParaRPr b="0" i="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F2933"/>
              </a:buClr>
              <a:buSzPts val="1300"/>
              <a:buFont typeface="Courier New"/>
              <a:buNone/>
            </a:pPr>
            <a:r>
              <a:rPr b="0" i="0" lang="en-US" sz="1300" u="none" cap="none" strike="noStrike">
                <a:solidFill>
                  <a:srgbClr val="1F2933"/>
                </a:solidFill>
                <a:latin typeface="Courier New"/>
                <a:ea typeface="Courier New"/>
                <a:cs typeface="Courier New"/>
                <a:sym typeface="Courier New"/>
              </a:rPr>
              <a:t>pd.read_parquet(</a:t>
            </a:r>
            <a:endParaRPr b="0" i="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F2933"/>
              </a:buClr>
              <a:buSzPts val="1300"/>
              <a:buFont typeface="Courier New"/>
              <a:buNone/>
            </a:pPr>
            <a:r>
              <a:rPr b="0" i="0" lang="en-US" sz="1300" u="none" cap="none" strike="noStrike">
                <a:solidFill>
                  <a:srgbClr val="1F2933"/>
                </a:solidFill>
                <a:latin typeface="Courier New"/>
                <a:ea typeface="Courier New"/>
                <a:cs typeface="Courier New"/>
                <a:sym typeface="Courier New"/>
              </a:rPr>
              <a:t>    "ventes_propres.parquet").dtypes</a:t>
            </a:r>
            <a:endParaRPr b="0" i="0" sz="1300" u="none" cap="none" strike="noStrike">
              <a:solidFill>
                <a:schemeClr val="dk1"/>
              </a:solidFill>
              <a:latin typeface="Calibri"/>
              <a:ea typeface="Calibri"/>
              <a:cs typeface="Calibri"/>
              <a:sym typeface="Calibri"/>
            </a:endParaRPr>
          </a:p>
        </p:txBody>
      </p:sp>
      <p:graphicFrame>
        <p:nvGraphicFramePr>
          <p:cNvPr id="860" name="Google Shape;860;p51"/>
          <p:cNvGraphicFramePr/>
          <p:nvPr/>
        </p:nvGraphicFramePr>
        <p:xfrm>
          <a:off x="5840938" y="1417320"/>
          <a:ext cx="3000000" cy="3000000"/>
        </p:xfrm>
        <a:graphic>
          <a:graphicData uri="http://schemas.openxmlformats.org/drawingml/2006/table">
            <a:tbl>
              <a:tblPr>
                <a:noFill/>
                <a:tableStyleId>{5790C458-BB61-4800-A068-DD2F3961D878}</a:tableStyleId>
              </a:tblPr>
              <a:tblGrid>
                <a:gridCol w="1934050"/>
                <a:gridCol w="1934050"/>
                <a:gridCol w="1934050"/>
              </a:tblGrid>
              <a:tr h="379975">
                <a:tc>
                  <a:txBody>
                    <a:bodyPr/>
                    <a:lstStyle/>
                    <a:p>
                      <a:pPr indent="0" lvl="0" marL="0" marR="0" rtl="0" algn="l">
                        <a:spcBef>
                          <a:spcPts val="0"/>
                        </a:spcBef>
                        <a:spcAft>
                          <a:spcPts val="0"/>
                        </a:spcAft>
                        <a:buClr>
                          <a:srgbClr val="FFFFFF"/>
                        </a:buClr>
                        <a:buSzPts val="1600"/>
                        <a:buFont typeface="Calibri"/>
                        <a:buNone/>
                      </a:pPr>
                      <a:r>
                        <a:rPr b="1" lang="en-US" sz="1600" u="none" cap="none" strike="noStrike">
                          <a:solidFill>
                            <a:srgbClr val="FFFFFF"/>
                          </a:solidFill>
                          <a:latin typeface="Calibri"/>
                          <a:ea typeface="Calibri"/>
                          <a:cs typeface="Calibri"/>
                          <a:sym typeface="Calibri"/>
                        </a:rPr>
                        <a:t>Lignes</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1F3A5F"/>
                    </a:solidFill>
                  </a:tcPr>
                </a:tc>
                <a:tc>
                  <a:txBody>
                    <a:bodyPr/>
                    <a:lstStyle/>
                    <a:p>
                      <a:pPr indent="0" lvl="0" marL="0" marR="0" rtl="0" algn="l">
                        <a:spcBef>
                          <a:spcPts val="0"/>
                        </a:spcBef>
                        <a:spcAft>
                          <a:spcPts val="0"/>
                        </a:spcAft>
                        <a:buClr>
                          <a:srgbClr val="FFFFFF"/>
                        </a:buClr>
                        <a:buSzPts val="1600"/>
                        <a:buFont typeface="Calibri"/>
                        <a:buNone/>
                      </a:pPr>
                      <a:r>
                        <a:rPr b="1" lang="en-US" sz="1600" u="none" cap="none" strike="noStrike">
                          <a:solidFill>
                            <a:srgbClr val="FFFFFF"/>
                          </a:solidFill>
                          <a:latin typeface="Calibri"/>
                          <a:ea typeface="Calibri"/>
                          <a:cs typeface="Calibri"/>
                          <a:sym typeface="Calibri"/>
                        </a:rPr>
                        <a:t>CSV</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1F3A5F"/>
                    </a:solidFill>
                  </a:tcPr>
                </a:tc>
                <a:tc>
                  <a:txBody>
                    <a:bodyPr/>
                    <a:lstStyle/>
                    <a:p>
                      <a:pPr indent="0" lvl="0" marL="0" marR="0" rtl="0" algn="l">
                        <a:spcBef>
                          <a:spcPts val="0"/>
                        </a:spcBef>
                        <a:spcAft>
                          <a:spcPts val="0"/>
                        </a:spcAft>
                        <a:buClr>
                          <a:srgbClr val="FFFFFF"/>
                        </a:buClr>
                        <a:buSzPts val="1600"/>
                        <a:buFont typeface="Calibri"/>
                        <a:buNone/>
                      </a:pPr>
                      <a:r>
                        <a:rPr b="1" lang="en-US" sz="1600" u="none" cap="none" strike="noStrike">
                          <a:solidFill>
                            <a:srgbClr val="FFFFFF"/>
                          </a:solidFill>
                          <a:latin typeface="Calibri"/>
                          <a:ea typeface="Calibri"/>
                          <a:cs typeface="Calibri"/>
                          <a:sym typeface="Calibri"/>
                        </a:rPr>
                        <a:t>Parquet</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1F3A5F"/>
                    </a:solidFill>
                  </a:tcPr>
                </a:tc>
              </a:tr>
              <a:tr h="379975">
                <a:tc>
                  <a:txBody>
                    <a:bodyPr/>
                    <a:lstStyle/>
                    <a:p>
                      <a:pPr indent="0" lvl="0" marL="0" marR="0" rtl="0" algn="l">
                        <a:spcBef>
                          <a:spcPts val="0"/>
                        </a:spcBef>
                        <a:spcAft>
                          <a:spcPts val="0"/>
                        </a:spcAft>
                        <a:buClr>
                          <a:srgbClr val="1F2933"/>
                        </a:buClr>
                        <a:buSzPts val="1600"/>
                        <a:buFont typeface="Calibri"/>
                        <a:buNone/>
                      </a:pPr>
                      <a:r>
                        <a:rPr lang="en-US" sz="1600" u="none" cap="none" strike="noStrike">
                          <a:solidFill>
                            <a:srgbClr val="1F2933"/>
                          </a:solidFill>
                          <a:latin typeface="Calibri"/>
                          <a:ea typeface="Calibri"/>
                          <a:cs typeface="Calibri"/>
                          <a:sym typeface="Calibri"/>
                        </a:rPr>
                        <a:t>59</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F2933"/>
                        </a:buClr>
                        <a:buSzPts val="1600"/>
                        <a:buFont typeface="Calibri"/>
                        <a:buNone/>
                      </a:pPr>
                      <a:r>
                        <a:rPr lang="en-US" sz="1600" u="none" cap="none" strike="noStrike">
                          <a:solidFill>
                            <a:srgbClr val="1F2933"/>
                          </a:solidFill>
                          <a:latin typeface="Calibri"/>
                          <a:ea typeface="Calibri"/>
                          <a:cs typeface="Calibri"/>
                          <a:sym typeface="Calibri"/>
                        </a:rPr>
                        <a:t>6,0 Ko</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F2933"/>
                        </a:buClr>
                        <a:buSzPts val="1600"/>
                        <a:buFont typeface="Calibri"/>
                        <a:buNone/>
                      </a:pPr>
                      <a:r>
                        <a:rPr lang="en-US" sz="1600" u="none" cap="none" strike="noStrike">
                          <a:solidFill>
                            <a:srgbClr val="1F2933"/>
                          </a:solidFill>
                          <a:latin typeface="Calibri"/>
                          <a:ea typeface="Calibri"/>
                          <a:cs typeface="Calibri"/>
                          <a:sym typeface="Calibri"/>
                        </a:rPr>
                        <a:t>9,9 Ko</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FFFFF"/>
                    </a:solidFill>
                  </a:tcPr>
                </a:tc>
              </a:tr>
              <a:tr h="379975">
                <a:tc>
                  <a:txBody>
                    <a:bodyPr/>
                    <a:lstStyle/>
                    <a:p>
                      <a:pPr indent="0" lvl="0" marL="0" marR="0" rtl="0" algn="l">
                        <a:spcBef>
                          <a:spcPts val="0"/>
                        </a:spcBef>
                        <a:spcAft>
                          <a:spcPts val="0"/>
                        </a:spcAft>
                        <a:buClr>
                          <a:srgbClr val="1F2933"/>
                        </a:buClr>
                        <a:buSzPts val="1600"/>
                        <a:buFont typeface="Calibri"/>
                        <a:buNone/>
                      </a:pPr>
                      <a:r>
                        <a:rPr lang="en-US" sz="1600" u="none" cap="none" strike="noStrike">
                          <a:solidFill>
                            <a:srgbClr val="1F2933"/>
                          </a:solidFill>
                          <a:latin typeface="Calibri"/>
                          <a:ea typeface="Calibri"/>
                          <a:cs typeface="Calibri"/>
                          <a:sym typeface="Calibri"/>
                        </a:rPr>
                        <a:t>295 000</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7F9FB"/>
                    </a:solidFill>
                  </a:tcPr>
                </a:tc>
                <a:tc>
                  <a:txBody>
                    <a:bodyPr/>
                    <a:lstStyle/>
                    <a:p>
                      <a:pPr indent="0" lvl="0" marL="0" marR="0" rtl="0" algn="l">
                        <a:spcBef>
                          <a:spcPts val="0"/>
                        </a:spcBef>
                        <a:spcAft>
                          <a:spcPts val="0"/>
                        </a:spcAft>
                        <a:buClr>
                          <a:srgbClr val="1F2933"/>
                        </a:buClr>
                        <a:buSzPts val="1600"/>
                        <a:buFont typeface="Calibri"/>
                        <a:buNone/>
                      </a:pPr>
                      <a:r>
                        <a:rPr lang="en-US" sz="1600" u="none" cap="none" strike="noStrike">
                          <a:solidFill>
                            <a:srgbClr val="1F2933"/>
                          </a:solidFill>
                          <a:latin typeface="Calibri"/>
                          <a:ea typeface="Calibri"/>
                          <a:cs typeface="Calibri"/>
                          <a:sym typeface="Calibri"/>
                        </a:rPr>
                        <a:t>29,5 Mo</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7F9FB"/>
                    </a:solidFill>
                  </a:tcPr>
                </a:tc>
                <a:tc>
                  <a:txBody>
                    <a:bodyPr/>
                    <a:lstStyle/>
                    <a:p>
                      <a:pPr indent="0" lvl="0" marL="0" marR="0" rtl="0" algn="l">
                        <a:spcBef>
                          <a:spcPts val="0"/>
                        </a:spcBef>
                        <a:spcAft>
                          <a:spcPts val="0"/>
                        </a:spcAft>
                        <a:buClr>
                          <a:srgbClr val="1F2933"/>
                        </a:buClr>
                        <a:buSzPts val="1600"/>
                        <a:buFont typeface="Calibri"/>
                        <a:buNone/>
                      </a:pPr>
                      <a:r>
                        <a:rPr lang="en-US" sz="1600" u="none" cap="none" strike="noStrike">
                          <a:solidFill>
                            <a:srgbClr val="1F2933"/>
                          </a:solidFill>
                          <a:latin typeface="Calibri"/>
                          <a:ea typeface="Calibri"/>
                          <a:cs typeface="Calibri"/>
                          <a:sym typeface="Calibri"/>
                        </a:rPr>
                        <a:t>0,15 Mo</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7F9FB"/>
                    </a:solidFill>
                  </a:tcPr>
                </a:tc>
              </a:tr>
            </a:tbl>
          </a:graphicData>
        </a:graphic>
      </p:graphicFrame>
      <p:sp>
        <p:nvSpPr>
          <p:cNvPr id="861" name="Google Shape;861;p51"/>
          <p:cNvSpPr txBox="1"/>
          <p:nvPr/>
        </p:nvSpPr>
        <p:spPr>
          <a:xfrm>
            <a:off x="5840938" y="2877312"/>
            <a:ext cx="5802117" cy="12801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B7280"/>
              </a:buClr>
              <a:buSzPts val="1500"/>
              <a:buFont typeface="Calibri"/>
              <a:buNone/>
            </a:pPr>
            <a:r>
              <a:rPr b="0" i="0" lang="en-US" sz="1500" u="none" cap="none" strike="noStrike">
                <a:solidFill>
                  <a:srgbClr val="6B7280"/>
                </a:solidFill>
                <a:latin typeface="Calibri"/>
                <a:ea typeface="Calibri"/>
                <a:cs typeface="Calibri"/>
                <a:sym typeface="Calibri"/>
              </a:rPr>
              <a:t>Sur 59 lignes, les métadonnées du Parquet (schéma, statistiques) pèsent plus que les données. Le gain apparaît avec le volume. Le second cas, les mêmes ventes répétées 5 000 fois, est extrême ; sur des données réelles, le fichier est couramment plusieurs fois plus petit.</a:t>
            </a:r>
            <a:endParaRPr b="0" i="0" sz="1500" u="none" cap="none" strike="noStrike">
              <a:solidFill>
                <a:schemeClr val="dk1"/>
              </a:solidFill>
              <a:latin typeface="Calibri"/>
              <a:ea typeface="Calibri"/>
              <a:cs typeface="Calibri"/>
              <a:sym typeface="Calibri"/>
            </a:endParaRPr>
          </a:p>
        </p:txBody>
      </p:sp>
      <p:sp>
        <p:nvSpPr>
          <p:cNvPr id="862" name="Google Shape;862;p51"/>
          <p:cNvSpPr txBox="1"/>
          <p:nvPr/>
        </p:nvSpPr>
        <p:spPr>
          <a:xfrm>
            <a:off x="548640" y="6400800"/>
            <a:ext cx="73152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B7280"/>
              </a:buClr>
              <a:buSzPts val="1000"/>
              <a:buFont typeface="Calibri"/>
              <a:buNone/>
            </a:pPr>
            <a:r>
              <a:rPr b="0" i="0" lang="en-US" sz="1000" u="none" cap="none" strike="noStrike">
                <a:solidFill>
                  <a:srgbClr val="6B7280"/>
                </a:solidFill>
                <a:latin typeface="Calibri"/>
                <a:ea typeface="Calibri"/>
                <a:cs typeface="Calibri"/>
                <a:sym typeface="Calibri"/>
              </a:rPr>
              <a:t>Analyse de données avec Python   |   Jour 1, après-midi</a:t>
            </a:r>
            <a:endParaRPr b="0" i="0" sz="1000" u="none" cap="none" strike="noStrike">
              <a:solidFill>
                <a:schemeClr val="dk1"/>
              </a:solidFill>
              <a:latin typeface="Calibri"/>
              <a:ea typeface="Calibri"/>
              <a:cs typeface="Calibri"/>
              <a:sym typeface="Calibri"/>
            </a:endParaRPr>
          </a:p>
        </p:txBody>
      </p:sp>
      <p:sp>
        <p:nvSpPr>
          <p:cNvPr id="863" name="Google Shape;863;p51"/>
          <p:cNvSpPr txBox="1"/>
          <p:nvPr>
            <p:ph idx="4294967295" type="sldNum"/>
          </p:nvPr>
        </p:nvSpPr>
        <p:spPr>
          <a:xfrm>
            <a:off x="11094415" y="6400800"/>
            <a:ext cx="548640" cy="27432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000" u="none" cap="none" strike="noStrike">
                <a:solidFill>
                  <a:srgbClr val="6B7280"/>
                </a:solidFill>
                <a:latin typeface="Calibri"/>
                <a:ea typeface="Calibri"/>
                <a:cs typeface="Calibri"/>
                <a:sym typeface="Calibri"/>
              </a:rPr>
              <a:t>‹#›</a:t>
            </a:fld>
            <a:endParaRPr b="0" i="0" sz="1000" u="none" cap="none" strike="noStrike">
              <a:solidFill>
                <a:srgbClr val="6B7280"/>
              </a:solidFill>
              <a:latin typeface="Calibri"/>
              <a:ea typeface="Calibri"/>
              <a:cs typeface="Calibri"/>
              <a:sym typeface="Calibri"/>
            </a:endParaRPr>
          </a:p>
        </p:txBody>
      </p:sp>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68" name="Shape 868"/>
        <p:cNvGrpSpPr/>
        <p:nvPr/>
      </p:nvGrpSpPr>
      <p:grpSpPr>
        <a:xfrm>
          <a:off x="0" y="0"/>
          <a:ext cx="0" cy="0"/>
          <a:chOff x="0" y="0"/>
          <a:chExt cx="0" cy="0"/>
        </a:xfrm>
      </p:grpSpPr>
      <p:sp>
        <p:nvSpPr>
          <p:cNvPr id="869" name="Google Shape;869;p52"/>
          <p:cNvSpPr/>
          <p:nvPr/>
        </p:nvSpPr>
        <p:spPr>
          <a:xfrm>
            <a:off x="548640" y="566928"/>
            <a:ext cx="475488" cy="475488"/>
          </a:xfrm>
          <a:prstGeom prst="ellipse">
            <a:avLst/>
          </a:prstGeom>
          <a:solidFill>
            <a:srgbClr val="2F7D6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0" name="Google Shape;870;p52"/>
          <p:cNvSpPr txBox="1"/>
          <p:nvPr/>
        </p:nvSpPr>
        <p:spPr>
          <a:xfrm>
            <a:off x="548640" y="566928"/>
            <a:ext cx="475488" cy="47548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8</a:t>
            </a:r>
            <a:endParaRPr b="0" i="0" sz="1600" u="none" cap="none" strike="noStrike">
              <a:solidFill>
                <a:schemeClr val="dk1"/>
              </a:solidFill>
              <a:latin typeface="Calibri"/>
              <a:ea typeface="Calibri"/>
              <a:cs typeface="Calibri"/>
              <a:sym typeface="Calibri"/>
            </a:endParaRPr>
          </a:p>
        </p:txBody>
      </p:sp>
      <p:sp>
        <p:nvSpPr>
          <p:cNvPr id="871" name="Google Shape;871;p52"/>
          <p:cNvSpPr txBox="1"/>
          <p:nvPr/>
        </p:nvSpPr>
        <p:spPr>
          <a:xfrm>
            <a:off x="1280160" y="164592"/>
            <a:ext cx="10362895"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F7D62"/>
              </a:buClr>
              <a:buSzPts val="1200"/>
              <a:buFont typeface="Calibri"/>
              <a:buNone/>
            </a:pPr>
            <a:r>
              <a:rPr b="1" i="0" lang="en-US" sz="1200" u="none" cap="none" strike="noStrike">
                <a:solidFill>
                  <a:srgbClr val="2F7D62"/>
                </a:solidFill>
                <a:latin typeface="Calibri"/>
                <a:ea typeface="Calibri"/>
                <a:cs typeface="Calibri"/>
                <a:sym typeface="Calibri"/>
              </a:rPr>
              <a:t>EXPORTER EN PARQUET</a:t>
            </a:r>
            <a:endParaRPr b="0" i="0" sz="1200" u="none" cap="none" strike="noStrike">
              <a:solidFill>
                <a:schemeClr val="dk1"/>
              </a:solidFill>
              <a:latin typeface="Calibri"/>
              <a:ea typeface="Calibri"/>
              <a:cs typeface="Calibri"/>
              <a:sym typeface="Calibri"/>
            </a:endParaRPr>
          </a:p>
        </p:txBody>
      </p:sp>
      <p:sp>
        <p:nvSpPr>
          <p:cNvPr id="872" name="Google Shape;872;p52"/>
          <p:cNvSpPr txBox="1"/>
          <p:nvPr/>
        </p:nvSpPr>
        <p:spPr>
          <a:xfrm>
            <a:off x="1280160" y="457200"/>
            <a:ext cx="10362895" cy="6949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F3A5F"/>
              </a:buClr>
              <a:buSzPts val="3000"/>
              <a:buFont typeface="Cambria"/>
              <a:buNone/>
            </a:pPr>
            <a:r>
              <a:rPr b="1" i="0" lang="en-US" sz="3000" u="none" cap="none" strike="noStrike">
                <a:solidFill>
                  <a:srgbClr val="1F3A5F"/>
                </a:solidFill>
                <a:latin typeface="Cambria"/>
                <a:ea typeface="Cambria"/>
                <a:cs typeface="Cambria"/>
                <a:sym typeface="Cambria"/>
              </a:rPr>
              <a:t>En pratique</a:t>
            </a:r>
            <a:endParaRPr b="0" i="0" sz="3000" u="none" cap="none" strike="noStrike">
              <a:solidFill>
                <a:schemeClr val="dk1"/>
              </a:solidFill>
              <a:latin typeface="Calibri"/>
              <a:ea typeface="Calibri"/>
              <a:cs typeface="Calibri"/>
              <a:sym typeface="Calibri"/>
            </a:endParaRPr>
          </a:p>
        </p:txBody>
      </p:sp>
      <p:cxnSp>
        <p:nvCxnSpPr>
          <p:cNvPr id="873" name="Google Shape;873;p52"/>
          <p:cNvCxnSpPr/>
          <p:nvPr/>
        </p:nvCxnSpPr>
        <p:spPr>
          <a:xfrm>
            <a:off x="1935442" y="2057400"/>
            <a:ext cx="8320811" cy="0"/>
          </a:xfrm>
          <a:prstGeom prst="straightConnector1">
            <a:avLst/>
          </a:prstGeom>
          <a:noFill/>
          <a:ln cap="flat" cmpd="sng" w="25400">
            <a:solidFill>
              <a:srgbClr val="D5DCE3"/>
            </a:solidFill>
            <a:prstDash val="solid"/>
            <a:round/>
            <a:headEnd len="sm" w="sm" type="none"/>
            <a:tailEnd len="sm" w="sm" type="none"/>
          </a:ln>
        </p:spPr>
      </p:cxnSp>
      <p:sp>
        <p:nvSpPr>
          <p:cNvPr id="874" name="Google Shape;874;p52"/>
          <p:cNvSpPr/>
          <p:nvPr/>
        </p:nvSpPr>
        <p:spPr>
          <a:xfrm>
            <a:off x="1706842" y="1828800"/>
            <a:ext cx="457200" cy="457200"/>
          </a:xfrm>
          <a:prstGeom prst="ellipse">
            <a:avLst/>
          </a:prstGeom>
          <a:solidFill>
            <a:srgbClr val="2F7D6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5" name="Google Shape;875;p52"/>
          <p:cNvSpPr txBox="1"/>
          <p:nvPr/>
        </p:nvSpPr>
        <p:spPr>
          <a:xfrm>
            <a:off x="1706842" y="1828800"/>
            <a:ext cx="4572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1</a:t>
            </a:r>
            <a:endParaRPr b="0" i="0" sz="1500" u="none" cap="none" strike="noStrike">
              <a:solidFill>
                <a:schemeClr val="dk1"/>
              </a:solidFill>
              <a:latin typeface="Calibri"/>
              <a:ea typeface="Calibri"/>
              <a:cs typeface="Calibri"/>
              <a:sym typeface="Calibri"/>
            </a:endParaRPr>
          </a:p>
        </p:txBody>
      </p:sp>
      <p:sp>
        <p:nvSpPr>
          <p:cNvPr id="876" name="Google Shape;876;p52"/>
          <p:cNvSpPr txBox="1"/>
          <p:nvPr/>
        </p:nvSpPr>
        <p:spPr>
          <a:xfrm>
            <a:off x="594360" y="2423160"/>
            <a:ext cx="2682164" cy="50292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1F3A5F"/>
              </a:buClr>
              <a:buSzPts val="1700"/>
              <a:buFont typeface="Calibri"/>
              <a:buNone/>
            </a:pPr>
            <a:r>
              <a:rPr b="1" i="0" lang="en-US" sz="1700" u="none" cap="none" strike="noStrike">
                <a:solidFill>
                  <a:srgbClr val="1F3A5F"/>
                </a:solidFill>
                <a:latin typeface="Calibri"/>
                <a:ea typeface="Calibri"/>
                <a:cs typeface="Calibri"/>
                <a:sym typeface="Calibri"/>
              </a:rPr>
              <a:t>Fichier brut</a:t>
            </a:r>
            <a:endParaRPr b="0" i="0" sz="1700" u="none" cap="none" strike="noStrike">
              <a:solidFill>
                <a:schemeClr val="dk1"/>
              </a:solidFill>
              <a:latin typeface="Calibri"/>
              <a:ea typeface="Calibri"/>
              <a:cs typeface="Calibri"/>
              <a:sym typeface="Calibri"/>
            </a:endParaRPr>
          </a:p>
        </p:txBody>
      </p:sp>
      <p:sp>
        <p:nvSpPr>
          <p:cNvPr id="877" name="Google Shape;877;p52"/>
          <p:cNvSpPr txBox="1"/>
          <p:nvPr/>
        </p:nvSpPr>
        <p:spPr>
          <a:xfrm>
            <a:off x="594360" y="2926080"/>
            <a:ext cx="2682164" cy="6858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6B7280"/>
              </a:buClr>
              <a:buSzPts val="1400"/>
              <a:buFont typeface="Calibri"/>
              <a:buNone/>
            </a:pPr>
            <a:r>
              <a:rPr b="0" i="0" lang="en-US" sz="1400" u="none" cap="none" strike="noStrike">
                <a:solidFill>
                  <a:srgbClr val="6B7280"/>
                </a:solidFill>
                <a:latin typeface="Calibri"/>
                <a:ea typeface="Calibri"/>
                <a:cs typeface="Calibri"/>
                <a:sym typeface="Calibri"/>
              </a:rPr>
              <a:t>conservé tel quel, jamais écrasé</a:t>
            </a:r>
            <a:endParaRPr b="0" i="0" sz="1400" u="none" cap="none" strike="noStrike">
              <a:solidFill>
                <a:schemeClr val="dk1"/>
              </a:solidFill>
              <a:latin typeface="Calibri"/>
              <a:ea typeface="Calibri"/>
              <a:cs typeface="Calibri"/>
              <a:sym typeface="Calibri"/>
            </a:endParaRPr>
          </a:p>
        </p:txBody>
      </p:sp>
      <p:sp>
        <p:nvSpPr>
          <p:cNvPr id="878" name="Google Shape;878;p52"/>
          <p:cNvSpPr/>
          <p:nvPr/>
        </p:nvSpPr>
        <p:spPr>
          <a:xfrm>
            <a:off x="4480446" y="1828800"/>
            <a:ext cx="457200" cy="457200"/>
          </a:xfrm>
          <a:prstGeom prst="ellipse">
            <a:avLst/>
          </a:prstGeom>
          <a:solidFill>
            <a:srgbClr val="2F7D6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9" name="Google Shape;879;p52"/>
          <p:cNvSpPr txBox="1"/>
          <p:nvPr/>
        </p:nvSpPr>
        <p:spPr>
          <a:xfrm>
            <a:off x="4480446" y="1828800"/>
            <a:ext cx="4572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2</a:t>
            </a:r>
            <a:endParaRPr b="0" i="0" sz="1500" u="none" cap="none" strike="noStrike">
              <a:solidFill>
                <a:schemeClr val="dk1"/>
              </a:solidFill>
              <a:latin typeface="Calibri"/>
              <a:ea typeface="Calibri"/>
              <a:cs typeface="Calibri"/>
              <a:sym typeface="Calibri"/>
            </a:endParaRPr>
          </a:p>
        </p:txBody>
      </p:sp>
      <p:sp>
        <p:nvSpPr>
          <p:cNvPr id="880" name="Google Shape;880;p52"/>
          <p:cNvSpPr txBox="1"/>
          <p:nvPr/>
        </p:nvSpPr>
        <p:spPr>
          <a:xfrm>
            <a:off x="3367964" y="2423160"/>
            <a:ext cx="2682164" cy="50292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1F3A5F"/>
              </a:buClr>
              <a:buSzPts val="1700"/>
              <a:buFont typeface="Calibri"/>
              <a:buNone/>
            </a:pPr>
            <a:r>
              <a:rPr b="1" i="0" lang="en-US" sz="1700" u="none" cap="none" strike="noStrike">
                <a:solidFill>
                  <a:srgbClr val="1F3A5F"/>
                </a:solidFill>
                <a:latin typeface="Calibri"/>
                <a:ea typeface="Calibri"/>
                <a:cs typeface="Calibri"/>
                <a:sym typeface="Calibri"/>
              </a:rPr>
              <a:t>Nettoyage</a:t>
            </a:r>
            <a:endParaRPr b="0" i="0" sz="1700" u="none" cap="none" strike="noStrike">
              <a:solidFill>
                <a:schemeClr val="dk1"/>
              </a:solidFill>
              <a:latin typeface="Calibri"/>
              <a:ea typeface="Calibri"/>
              <a:cs typeface="Calibri"/>
              <a:sym typeface="Calibri"/>
            </a:endParaRPr>
          </a:p>
        </p:txBody>
      </p:sp>
      <p:sp>
        <p:nvSpPr>
          <p:cNvPr id="881" name="Google Shape;881;p52"/>
          <p:cNvSpPr txBox="1"/>
          <p:nvPr/>
        </p:nvSpPr>
        <p:spPr>
          <a:xfrm>
            <a:off x="3367964" y="2926080"/>
            <a:ext cx="2682164" cy="6858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6B7280"/>
              </a:buClr>
              <a:buSzPts val="1400"/>
              <a:buFont typeface="Calibri"/>
              <a:buNone/>
            </a:pPr>
            <a:r>
              <a:rPr b="0" i="0" lang="en-US" sz="1400" u="none" cap="none" strike="noStrike">
                <a:solidFill>
                  <a:srgbClr val="6B7280"/>
                </a:solidFill>
                <a:latin typeface="Calibri"/>
                <a:ea typeface="Calibri"/>
                <a:cs typeface="Calibri"/>
                <a:sym typeface="Calibri"/>
              </a:rPr>
              <a:t>dans le notebook, sur une copie</a:t>
            </a:r>
            <a:endParaRPr b="0" i="0" sz="1400" u="none" cap="none" strike="noStrike">
              <a:solidFill>
                <a:schemeClr val="dk1"/>
              </a:solidFill>
              <a:latin typeface="Calibri"/>
              <a:ea typeface="Calibri"/>
              <a:cs typeface="Calibri"/>
              <a:sym typeface="Calibri"/>
            </a:endParaRPr>
          </a:p>
        </p:txBody>
      </p:sp>
      <p:sp>
        <p:nvSpPr>
          <p:cNvPr id="882" name="Google Shape;882;p52"/>
          <p:cNvSpPr/>
          <p:nvPr/>
        </p:nvSpPr>
        <p:spPr>
          <a:xfrm>
            <a:off x="7254050" y="1828800"/>
            <a:ext cx="457200" cy="457200"/>
          </a:xfrm>
          <a:prstGeom prst="ellipse">
            <a:avLst/>
          </a:prstGeom>
          <a:solidFill>
            <a:srgbClr val="2F7D6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3" name="Google Shape;883;p52"/>
          <p:cNvSpPr txBox="1"/>
          <p:nvPr/>
        </p:nvSpPr>
        <p:spPr>
          <a:xfrm>
            <a:off x="7254050" y="1828800"/>
            <a:ext cx="4572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3</a:t>
            </a:r>
            <a:endParaRPr b="0" i="0" sz="1500" u="none" cap="none" strike="noStrike">
              <a:solidFill>
                <a:schemeClr val="dk1"/>
              </a:solidFill>
              <a:latin typeface="Calibri"/>
              <a:ea typeface="Calibri"/>
              <a:cs typeface="Calibri"/>
              <a:sym typeface="Calibri"/>
            </a:endParaRPr>
          </a:p>
        </p:txBody>
      </p:sp>
      <p:sp>
        <p:nvSpPr>
          <p:cNvPr id="884" name="Google Shape;884;p52"/>
          <p:cNvSpPr txBox="1"/>
          <p:nvPr/>
        </p:nvSpPr>
        <p:spPr>
          <a:xfrm>
            <a:off x="6141568" y="2423160"/>
            <a:ext cx="2682164" cy="50292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1F3A5F"/>
              </a:buClr>
              <a:buSzPts val="1700"/>
              <a:buFont typeface="Calibri"/>
              <a:buNone/>
            </a:pPr>
            <a:r>
              <a:rPr b="1" i="0" lang="en-US" sz="1700" u="none" cap="none" strike="noStrike">
                <a:solidFill>
                  <a:srgbClr val="1F3A5F"/>
                </a:solidFill>
                <a:latin typeface="Calibri"/>
                <a:ea typeface="Calibri"/>
                <a:cs typeface="Calibri"/>
                <a:sym typeface="Calibri"/>
              </a:rPr>
              <a:t>Parquet propre</a:t>
            </a:r>
            <a:endParaRPr b="0" i="0" sz="1700" u="none" cap="none" strike="noStrike">
              <a:solidFill>
                <a:schemeClr val="dk1"/>
              </a:solidFill>
              <a:latin typeface="Calibri"/>
              <a:ea typeface="Calibri"/>
              <a:cs typeface="Calibri"/>
              <a:sym typeface="Calibri"/>
            </a:endParaRPr>
          </a:p>
        </p:txBody>
      </p:sp>
      <p:sp>
        <p:nvSpPr>
          <p:cNvPr id="885" name="Google Shape;885;p52"/>
          <p:cNvSpPr txBox="1"/>
          <p:nvPr/>
        </p:nvSpPr>
        <p:spPr>
          <a:xfrm>
            <a:off x="6141568" y="2926080"/>
            <a:ext cx="2682164" cy="6858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6B7280"/>
              </a:buClr>
              <a:buSzPts val="1400"/>
              <a:buFont typeface="Calibri"/>
              <a:buNone/>
            </a:pPr>
            <a:r>
              <a:rPr b="0" i="0" lang="en-US" sz="1400" u="none" cap="none" strike="noStrike">
                <a:solidFill>
                  <a:srgbClr val="6B7280"/>
                </a:solidFill>
                <a:latin typeface="Calibri"/>
                <a:ea typeface="Calibri"/>
                <a:cs typeface="Calibri"/>
                <a:sym typeface="Calibri"/>
              </a:rPr>
              <a:t>pour tous les traitements suivants</a:t>
            </a:r>
            <a:endParaRPr b="0" i="0" sz="1400" u="none" cap="none" strike="noStrike">
              <a:solidFill>
                <a:schemeClr val="dk1"/>
              </a:solidFill>
              <a:latin typeface="Calibri"/>
              <a:ea typeface="Calibri"/>
              <a:cs typeface="Calibri"/>
              <a:sym typeface="Calibri"/>
            </a:endParaRPr>
          </a:p>
        </p:txBody>
      </p:sp>
      <p:sp>
        <p:nvSpPr>
          <p:cNvPr id="886" name="Google Shape;886;p52"/>
          <p:cNvSpPr/>
          <p:nvPr/>
        </p:nvSpPr>
        <p:spPr>
          <a:xfrm>
            <a:off x="10027653" y="1828800"/>
            <a:ext cx="457200" cy="457200"/>
          </a:xfrm>
          <a:prstGeom prst="ellipse">
            <a:avLst/>
          </a:prstGeom>
          <a:solidFill>
            <a:srgbClr val="2F7D6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7" name="Google Shape;887;p52"/>
          <p:cNvSpPr txBox="1"/>
          <p:nvPr/>
        </p:nvSpPr>
        <p:spPr>
          <a:xfrm>
            <a:off x="10027653" y="1828800"/>
            <a:ext cx="4572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4</a:t>
            </a:r>
            <a:endParaRPr b="0" i="0" sz="1500" u="none" cap="none" strike="noStrike">
              <a:solidFill>
                <a:schemeClr val="dk1"/>
              </a:solidFill>
              <a:latin typeface="Calibri"/>
              <a:ea typeface="Calibri"/>
              <a:cs typeface="Calibri"/>
              <a:sym typeface="Calibri"/>
            </a:endParaRPr>
          </a:p>
        </p:txBody>
      </p:sp>
      <p:sp>
        <p:nvSpPr>
          <p:cNvPr id="888" name="Google Shape;888;p52"/>
          <p:cNvSpPr txBox="1"/>
          <p:nvPr/>
        </p:nvSpPr>
        <p:spPr>
          <a:xfrm>
            <a:off x="8915171" y="2423160"/>
            <a:ext cx="2682164" cy="50292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1F3A5F"/>
              </a:buClr>
              <a:buSzPts val="1700"/>
              <a:buFont typeface="Calibri"/>
              <a:buNone/>
            </a:pPr>
            <a:r>
              <a:rPr b="1" i="0" lang="en-US" sz="1700" u="none" cap="none" strike="noStrike">
                <a:solidFill>
                  <a:srgbClr val="1F3A5F"/>
                </a:solidFill>
                <a:latin typeface="Calibri"/>
                <a:ea typeface="Calibri"/>
                <a:cs typeface="Calibri"/>
                <a:sym typeface="Calibri"/>
              </a:rPr>
              <a:t>CSV ou Excel</a:t>
            </a:r>
            <a:endParaRPr b="0" i="0" sz="1700" u="none" cap="none" strike="noStrike">
              <a:solidFill>
                <a:schemeClr val="dk1"/>
              </a:solidFill>
              <a:latin typeface="Calibri"/>
              <a:ea typeface="Calibri"/>
              <a:cs typeface="Calibri"/>
              <a:sym typeface="Calibri"/>
            </a:endParaRPr>
          </a:p>
        </p:txBody>
      </p:sp>
      <p:sp>
        <p:nvSpPr>
          <p:cNvPr id="889" name="Google Shape;889;p52"/>
          <p:cNvSpPr txBox="1"/>
          <p:nvPr/>
        </p:nvSpPr>
        <p:spPr>
          <a:xfrm>
            <a:off x="8915171" y="2926080"/>
            <a:ext cx="2682164" cy="6858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6B7280"/>
              </a:buClr>
              <a:buSzPts val="1400"/>
              <a:buFont typeface="Calibri"/>
              <a:buNone/>
            </a:pPr>
            <a:r>
              <a:rPr b="0" i="0" lang="en-US" sz="1400" u="none" cap="none" strike="noStrike">
                <a:solidFill>
                  <a:srgbClr val="6B7280"/>
                </a:solidFill>
                <a:latin typeface="Calibri"/>
                <a:ea typeface="Calibri"/>
                <a:cs typeface="Calibri"/>
                <a:sym typeface="Calibri"/>
              </a:rPr>
              <a:t>seulement pour partager</a:t>
            </a:r>
            <a:endParaRPr b="0" i="0" sz="1400" u="none" cap="none" strike="noStrike">
              <a:solidFill>
                <a:schemeClr val="dk1"/>
              </a:solidFill>
              <a:latin typeface="Calibri"/>
              <a:ea typeface="Calibri"/>
              <a:cs typeface="Calibri"/>
              <a:sym typeface="Calibri"/>
            </a:endParaRPr>
          </a:p>
        </p:txBody>
      </p:sp>
      <p:sp>
        <p:nvSpPr>
          <p:cNvPr id="890" name="Google Shape;890;p52"/>
          <p:cNvSpPr txBox="1"/>
          <p:nvPr/>
        </p:nvSpPr>
        <p:spPr>
          <a:xfrm>
            <a:off x="548640" y="6400800"/>
            <a:ext cx="73152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B7280"/>
              </a:buClr>
              <a:buSzPts val="1000"/>
              <a:buFont typeface="Calibri"/>
              <a:buNone/>
            </a:pPr>
            <a:r>
              <a:rPr b="0" i="0" lang="en-US" sz="1000" u="none" cap="none" strike="noStrike">
                <a:solidFill>
                  <a:srgbClr val="6B7280"/>
                </a:solidFill>
                <a:latin typeface="Calibri"/>
                <a:ea typeface="Calibri"/>
                <a:cs typeface="Calibri"/>
                <a:sym typeface="Calibri"/>
              </a:rPr>
              <a:t>Analyse de données avec Python   |   Jour 1, après-midi</a:t>
            </a:r>
            <a:endParaRPr b="0" i="0" sz="1000" u="none" cap="none" strike="noStrike">
              <a:solidFill>
                <a:schemeClr val="dk1"/>
              </a:solidFill>
              <a:latin typeface="Calibri"/>
              <a:ea typeface="Calibri"/>
              <a:cs typeface="Calibri"/>
              <a:sym typeface="Calibri"/>
            </a:endParaRPr>
          </a:p>
        </p:txBody>
      </p:sp>
      <p:sp>
        <p:nvSpPr>
          <p:cNvPr id="891" name="Google Shape;891;p52"/>
          <p:cNvSpPr txBox="1"/>
          <p:nvPr>
            <p:ph idx="4294967295" type="sldNum"/>
          </p:nvPr>
        </p:nvSpPr>
        <p:spPr>
          <a:xfrm>
            <a:off x="11094415" y="6400800"/>
            <a:ext cx="548640" cy="27432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000" u="none" cap="none" strike="noStrike">
                <a:solidFill>
                  <a:srgbClr val="6B7280"/>
                </a:solidFill>
                <a:latin typeface="Calibri"/>
                <a:ea typeface="Calibri"/>
                <a:cs typeface="Calibri"/>
                <a:sym typeface="Calibri"/>
              </a:rPr>
              <a:t>‹#›</a:t>
            </a:fld>
            <a:endParaRPr b="0" i="0" sz="1000" u="none" cap="none" strike="noStrike">
              <a:solidFill>
                <a:srgbClr val="6B7280"/>
              </a:solidFill>
              <a:latin typeface="Calibri"/>
              <a:ea typeface="Calibri"/>
              <a:cs typeface="Calibri"/>
              <a:sym typeface="Calibri"/>
            </a:endParaRPr>
          </a:p>
        </p:txBody>
      </p:sp>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96" name="Shape 896"/>
        <p:cNvGrpSpPr/>
        <p:nvPr/>
      </p:nvGrpSpPr>
      <p:grpSpPr>
        <a:xfrm>
          <a:off x="0" y="0"/>
          <a:ext cx="0" cy="0"/>
          <a:chOff x="0" y="0"/>
          <a:chExt cx="0" cy="0"/>
        </a:xfrm>
      </p:grpSpPr>
      <p:sp>
        <p:nvSpPr>
          <p:cNvPr id="897" name="Google Shape;897;p53"/>
          <p:cNvSpPr/>
          <p:nvPr/>
        </p:nvSpPr>
        <p:spPr>
          <a:xfrm>
            <a:off x="548640" y="566928"/>
            <a:ext cx="475488" cy="475488"/>
          </a:xfrm>
          <a:prstGeom prst="ellipse">
            <a:avLst/>
          </a:prstGeom>
          <a:solidFill>
            <a:srgbClr val="2F7D6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8" name="Google Shape;898;p53"/>
          <p:cNvSpPr txBox="1"/>
          <p:nvPr/>
        </p:nvSpPr>
        <p:spPr>
          <a:xfrm>
            <a:off x="548640" y="566928"/>
            <a:ext cx="475488" cy="47548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8</a:t>
            </a:r>
            <a:endParaRPr b="0" i="0" sz="1600" u="none" cap="none" strike="noStrike">
              <a:solidFill>
                <a:schemeClr val="dk1"/>
              </a:solidFill>
              <a:latin typeface="Calibri"/>
              <a:ea typeface="Calibri"/>
              <a:cs typeface="Calibri"/>
              <a:sym typeface="Calibri"/>
            </a:endParaRPr>
          </a:p>
        </p:txBody>
      </p:sp>
      <p:sp>
        <p:nvSpPr>
          <p:cNvPr id="899" name="Google Shape;899;p53"/>
          <p:cNvSpPr txBox="1"/>
          <p:nvPr/>
        </p:nvSpPr>
        <p:spPr>
          <a:xfrm>
            <a:off x="1280160" y="164592"/>
            <a:ext cx="10362895"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F7D62"/>
              </a:buClr>
              <a:buSzPts val="1200"/>
              <a:buFont typeface="Calibri"/>
              <a:buNone/>
            </a:pPr>
            <a:r>
              <a:rPr b="1" i="0" lang="en-US" sz="1200" u="none" cap="none" strike="noStrike">
                <a:solidFill>
                  <a:srgbClr val="2F7D62"/>
                </a:solidFill>
                <a:latin typeface="Calibri"/>
                <a:ea typeface="Calibri"/>
                <a:cs typeface="Calibri"/>
                <a:sym typeface="Calibri"/>
              </a:rPr>
              <a:t>EXPORTER EN PARQUET</a:t>
            </a:r>
            <a:endParaRPr b="0" i="0" sz="1200" u="none" cap="none" strike="noStrike">
              <a:solidFill>
                <a:schemeClr val="dk1"/>
              </a:solidFill>
              <a:latin typeface="Calibri"/>
              <a:ea typeface="Calibri"/>
              <a:cs typeface="Calibri"/>
              <a:sym typeface="Calibri"/>
            </a:endParaRPr>
          </a:p>
        </p:txBody>
      </p:sp>
      <p:sp>
        <p:nvSpPr>
          <p:cNvPr id="900" name="Google Shape;900;p53"/>
          <p:cNvSpPr txBox="1"/>
          <p:nvPr/>
        </p:nvSpPr>
        <p:spPr>
          <a:xfrm>
            <a:off x="1280160" y="457200"/>
            <a:ext cx="10362895" cy="6949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F3A5F"/>
              </a:buClr>
              <a:buSzPts val="3000"/>
              <a:buFont typeface="Cambria"/>
              <a:buNone/>
            </a:pPr>
            <a:r>
              <a:rPr b="1" i="0" lang="en-US" sz="3000" u="none" cap="none" strike="noStrike">
                <a:solidFill>
                  <a:srgbClr val="1F3A5F"/>
                </a:solidFill>
                <a:latin typeface="Cambria"/>
                <a:ea typeface="Cambria"/>
                <a:cs typeface="Cambria"/>
                <a:sym typeface="Cambria"/>
              </a:rPr>
              <a:t>Pratique : TP2, partie 8</a:t>
            </a:r>
            <a:endParaRPr b="0" i="0" sz="3000" u="none" cap="none" strike="noStrike">
              <a:solidFill>
                <a:schemeClr val="dk1"/>
              </a:solidFill>
              <a:latin typeface="Calibri"/>
              <a:ea typeface="Calibri"/>
              <a:cs typeface="Calibri"/>
              <a:sym typeface="Calibri"/>
            </a:endParaRPr>
          </a:p>
        </p:txBody>
      </p:sp>
      <p:sp>
        <p:nvSpPr>
          <p:cNvPr id="901" name="Google Shape;901;p53"/>
          <p:cNvSpPr txBox="1"/>
          <p:nvPr/>
        </p:nvSpPr>
        <p:spPr>
          <a:xfrm>
            <a:off x="548640" y="1417320"/>
            <a:ext cx="11094415" cy="411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B7280"/>
              </a:buClr>
              <a:buSzPts val="1800"/>
              <a:buFont typeface="Calibri"/>
              <a:buNone/>
            </a:pPr>
            <a:r>
              <a:rPr b="0" i="0" lang="en-US" sz="1800" u="none" cap="none" strike="noStrike">
                <a:solidFill>
                  <a:srgbClr val="6B7280"/>
                </a:solidFill>
                <a:latin typeface="Calibri"/>
                <a:ea typeface="Calibri"/>
                <a:cs typeface="Calibri"/>
                <a:sym typeface="Calibri"/>
              </a:rPr>
              <a:t>Exporter le jeu de données propre, puis compléter la note des choix</a:t>
            </a:r>
            <a:endParaRPr b="0" i="0" sz="1800" u="none" cap="none" strike="noStrike">
              <a:solidFill>
                <a:schemeClr val="dk1"/>
              </a:solidFill>
              <a:latin typeface="Calibri"/>
              <a:ea typeface="Calibri"/>
              <a:cs typeface="Calibri"/>
              <a:sym typeface="Calibri"/>
            </a:endParaRPr>
          </a:p>
        </p:txBody>
      </p:sp>
      <p:graphicFrame>
        <p:nvGraphicFramePr>
          <p:cNvPr id="902" name="Google Shape;902;p53"/>
          <p:cNvGraphicFramePr/>
          <p:nvPr/>
        </p:nvGraphicFramePr>
        <p:xfrm>
          <a:off x="548640" y="2011680"/>
          <a:ext cx="3000000" cy="3000000"/>
        </p:xfrm>
        <a:graphic>
          <a:graphicData uri="http://schemas.openxmlformats.org/drawingml/2006/table">
            <a:tbl>
              <a:tblPr>
                <a:noFill/>
                <a:tableStyleId>{5790C458-BB61-4800-A068-DD2F3961D878}</a:tableStyleId>
              </a:tblPr>
              <a:tblGrid>
                <a:gridCol w="2289325"/>
                <a:gridCol w="8805100"/>
              </a:tblGrid>
              <a:tr h="379975">
                <a:tc>
                  <a:txBody>
                    <a:bodyPr/>
                    <a:lstStyle/>
                    <a:p>
                      <a:pPr indent="0" lvl="0" marL="0" marR="0" rtl="0" algn="l">
                        <a:spcBef>
                          <a:spcPts val="0"/>
                        </a:spcBef>
                        <a:spcAft>
                          <a:spcPts val="0"/>
                        </a:spcAft>
                        <a:buClr>
                          <a:srgbClr val="FFFFFF"/>
                        </a:buClr>
                        <a:buSzPts val="1600"/>
                        <a:buFont typeface="Calibri"/>
                        <a:buNone/>
                      </a:pPr>
                      <a:r>
                        <a:rPr b="1" lang="en-US" sz="1600" u="none" cap="none" strike="noStrike">
                          <a:solidFill>
                            <a:srgbClr val="FFFFFF"/>
                          </a:solidFill>
                          <a:latin typeface="Calibri"/>
                          <a:ea typeface="Calibri"/>
                          <a:cs typeface="Calibri"/>
                          <a:sym typeface="Calibri"/>
                        </a:rPr>
                        <a:t>Questions</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1F3A5F"/>
                    </a:solidFill>
                  </a:tcPr>
                </a:tc>
                <a:tc>
                  <a:txBody>
                    <a:bodyPr/>
                    <a:lstStyle/>
                    <a:p>
                      <a:pPr indent="0" lvl="0" marL="0" marR="0" rtl="0" algn="l">
                        <a:spcBef>
                          <a:spcPts val="0"/>
                        </a:spcBef>
                        <a:spcAft>
                          <a:spcPts val="0"/>
                        </a:spcAft>
                        <a:buClr>
                          <a:srgbClr val="FFFFFF"/>
                        </a:buClr>
                        <a:buSzPts val="1600"/>
                        <a:buFont typeface="Calibri"/>
                        <a:buNone/>
                      </a:pPr>
                      <a:r>
                        <a:rPr b="1" lang="en-US" sz="1600" u="none" cap="none" strike="noStrike">
                          <a:solidFill>
                            <a:srgbClr val="FFFFFF"/>
                          </a:solidFill>
                          <a:latin typeface="Calibri"/>
                          <a:ea typeface="Calibri"/>
                          <a:cs typeface="Calibri"/>
                          <a:sym typeface="Calibri"/>
                        </a:rPr>
                        <a:t>Ce qu'on pratique</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1F3A5F"/>
                    </a:solidFill>
                  </a:tcPr>
                </a:tc>
              </a:tr>
              <a:tr h="613675">
                <a:tc>
                  <a:txBody>
                    <a:bodyPr/>
                    <a:lstStyle/>
                    <a:p>
                      <a:pPr indent="0" lvl="0" marL="0" marR="0" rtl="0" algn="l">
                        <a:spcBef>
                          <a:spcPts val="0"/>
                        </a:spcBef>
                        <a:spcAft>
                          <a:spcPts val="0"/>
                        </a:spcAft>
                        <a:buClr>
                          <a:srgbClr val="1F2933"/>
                        </a:buClr>
                        <a:buSzPts val="1600"/>
                        <a:buFont typeface="Calibri"/>
                        <a:buNone/>
                      </a:pPr>
                      <a:r>
                        <a:rPr b="1" lang="en-US" sz="1600" u="none" cap="none" strike="noStrike">
                          <a:solidFill>
                            <a:srgbClr val="1F2933"/>
                          </a:solidFill>
                          <a:latin typeface="Calibri"/>
                          <a:ea typeface="Calibri"/>
                          <a:cs typeface="Calibri"/>
                          <a:sym typeface="Calibri"/>
                        </a:rPr>
                        <a:t>8.1</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F2933"/>
                        </a:buClr>
                        <a:buSzPts val="1600"/>
                        <a:buFont typeface="Calibri"/>
                        <a:buNone/>
                      </a:pPr>
                      <a:r>
                        <a:rPr lang="en-US" sz="1600" u="none" cap="none" strike="noStrike">
                          <a:solidFill>
                            <a:srgbClr val="1F2933"/>
                          </a:solidFill>
                          <a:latin typeface="Calibri"/>
                          <a:ea typeface="Calibri"/>
                          <a:cs typeface="Calibri"/>
                          <a:sym typeface="Calibri"/>
                        </a:rPr>
                        <a:t>exporter en CSV et en Parquet, comparer les tailles, relire le Parquet et ses types</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FFFFF"/>
                    </a:solidFill>
                  </a:tcPr>
                </a:tc>
              </a:tr>
              <a:tr h="379975">
                <a:tc>
                  <a:txBody>
                    <a:bodyPr/>
                    <a:lstStyle/>
                    <a:p>
                      <a:pPr indent="0" lvl="0" marL="0" marR="0" rtl="0" algn="l">
                        <a:spcBef>
                          <a:spcPts val="0"/>
                        </a:spcBef>
                        <a:spcAft>
                          <a:spcPts val="0"/>
                        </a:spcAft>
                        <a:buClr>
                          <a:srgbClr val="1F2933"/>
                        </a:buClr>
                        <a:buSzPts val="1600"/>
                        <a:buFont typeface="Calibri"/>
                        <a:buNone/>
                      </a:pPr>
                      <a:r>
                        <a:rPr b="1" lang="en-US" sz="1600" u="none" cap="none" strike="noStrike">
                          <a:solidFill>
                            <a:srgbClr val="1F2933"/>
                          </a:solidFill>
                          <a:latin typeface="Calibri"/>
                          <a:ea typeface="Calibri"/>
                          <a:cs typeface="Calibri"/>
                          <a:sym typeface="Calibri"/>
                        </a:rPr>
                        <a:t>8.2</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7F9FB"/>
                    </a:solidFill>
                  </a:tcPr>
                </a:tc>
                <a:tc>
                  <a:txBody>
                    <a:bodyPr/>
                    <a:lstStyle/>
                    <a:p>
                      <a:pPr indent="0" lvl="0" marL="0" marR="0" rtl="0" algn="l">
                        <a:spcBef>
                          <a:spcPts val="0"/>
                        </a:spcBef>
                        <a:spcAft>
                          <a:spcPts val="0"/>
                        </a:spcAft>
                        <a:buClr>
                          <a:srgbClr val="1F2933"/>
                        </a:buClr>
                        <a:buSzPts val="1600"/>
                        <a:buFont typeface="Calibri"/>
                        <a:buNone/>
                      </a:pPr>
                      <a:r>
                        <a:rPr lang="en-US" sz="1600" u="none" cap="none" strike="noStrike">
                          <a:solidFill>
                            <a:srgbClr val="1F2933"/>
                          </a:solidFill>
                          <a:latin typeface="Calibri"/>
                          <a:ea typeface="Calibri"/>
                          <a:cs typeface="Calibri"/>
                          <a:sym typeface="Calibri"/>
                        </a:rPr>
                        <a:t>répéter les ventes 5 000 fois, puis comparer à nouveau, en mégaoctets</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7F9FB"/>
                    </a:solidFill>
                  </a:tcPr>
                </a:tc>
              </a:tr>
              <a:tr h="379975">
                <a:tc>
                  <a:txBody>
                    <a:bodyPr/>
                    <a:lstStyle/>
                    <a:p>
                      <a:pPr indent="0" lvl="0" marL="0" marR="0" rtl="0" algn="l">
                        <a:spcBef>
                          <a:spcPts val="0"/>
                        </a:spcBef>
                        <a:spcAft>
                          <a:spcPts val="0"/>
                        </a:spcAft>
                        <a:buClr>
                          <a:srgbClr val="1F2933"/>
                        </a:buClr>
                        <a:buSzPts val="1600"/>
                        <a:buFont typeface="Calibri"/>
                        <a:buNone/>
                      </a:pPr>
                      <a:r>
                        <a:rPr b="1" lang="en-US" sz="1600" u="none" cap="none" strike="noStrike">
                          <a:solidFill>
                            <a:srgbClr val="1F2933"/>
                          </a:solidFill>
                          <a:latin typeface="Calibri"/>
                          <a:ea typeface="Calibri"/>
                          <a:cs typeface="Calibri"/>
                          <a:sym typeface="Calibri"/>
                        </a:rPr>
                        <a:t>Note</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F2933"/>
                        </a:buClr>
                        <a:buSzPts val="1600"/>
                        <a:buFont typeface="Calibri"/>
                        <a:buNone/>
                      </a:pPr>
                      <a:r>
                        <a:rPr lang="en-US" sz="1600" u="none" cap="none" strike="noStrike">
                          <a:solidFill>
                            <a:srgbClr val="1F2933"/>
                          </a:solidFill>
                          <a:latin typeface="Calibri"/>
                          <a:ea typeface="Calibri"/>
                          <a:cs typeface="Calibri"/>
                          <a:sym typeface="Calibri"/>
                        </a:rPr>
                        <a:t>compléter le tableau des choix de nettoyage : une ligne par décision</a:t>
                      </a:r>
                      <a:endParaRPr sz="1200" u="none" cap="none" strike="noStrike"/>
                    </a:p>
                  </a:txBody>
                  <a:tcPr marT="54875" marB="54875" marR="109725" marL="109725" anchor="ctr">
                    <a:lnL cap="flat" cmpd="sng" w="9525">
                      <a:solidFill>
                        <a:srgbClr val="D5DCE3"/>
                      </a:solidFill>
                      <a:prstDash val="solid"/>
                      <a:round/>
                      <a:headEnd len="sm" w="sm" type="none"/>
                      <a:tailEnd len="sm" w="sm" type="none"/>
                    </a:lnL>
                    <a:lnR cap="flat" cmpd="sng" w="9525">
                      <a:solidFill>
                        <a:srgbClr val="D5DCE3"/>
                      </a:solidFill>
                      <a:prstDash val="solid"/>
                      <a:round/>
                      <a:headEnd len="sm" w="sm" type="none"/>
                      <a:tailEnd len="sm" w="sm" type="none"/>
                    </a:lnR>
                    <a:lnT cap="flat" cmpd="sng" w="9525">
                      <a:solidFill>
                        <a:srgbClr val="D5DCE3"/>
                      </a:solidFill>
                      <a:prstDash val="solid"/>
                      <a:round/>
                      <a:headEnd len="sm" w="sm" type="none"/>
                      <a:tailEnd len="sm" w="sm" type="none"/>
                    </a:lnT>
                    <a:lnB cap="flat" cmpd="sng" w="9525">
                      <a:solidFill>
                        <a:srgbClr val="D5DCE3"/>
                      </a:solidFill>
                      <a:prstDash val="solid"/>
                      <a:round/>
                      <a:headEnd len="sm" w="sm" type="none"/>
                      <a:tailEnd len="sm" w="sm" type="none"/>
                    </a:lnB>
                    <a:solidFill>
                      <a:srgbClr val="FFFFFF"/>
                    </a:solidFill>
                  </a:tcPr>
                </a:tc>
              </a:tr>
            </a:tbl>
          </a:graphicData>
        </a:graphic>
      </p:graphicFrame>
      <p:sp>
        <p:nvSpPr>
          <p:cNvPr id="903" name="Google Shape;903;p53"/>
          <p:cNvSpPr txBox="1"/>
          <p:nvPr/>
        </p:nvSpPr>
        <p:spPr>
          <a:xfrm>
            <a:off x="548640" y="6400800"/>
            <a:ext cx="73152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B7280"/>
              </a:buClr>
              <a:buSzPts val="1000"/>
              <a:buFont typeface="Calibri"/>
              <a:buNone/>
            </a:pPr>
            <a:r>
              <a:rPr b="0" i="0" lang="en-US" sz="1000" u="none" cap="none" strike="noStrike">
                <a:solidFill>
                  <a:srgbClr val="6B7280"/>
                </a:solidFill>
                <a:latin typeface="Calibri"/>
                <a:ea typeface="Calibri"/>
                <a:cs typeface="Calibri"/>
                <a:sym typeface="Calibri"/>
              </a:rPr>
              <a:t>Analyse de données avec Python   |   Jour 1, après-midi</a:t>
            </a:r>
            <a:endParaRPr b="0" i="0" sz="1000" u="none" cap="none" strike="noStrike">
              <a:solidFill>
                <a:schemeClr val="dk1"/>
              </a:solidFill>
              <a:latin typeface="Calibri"/>
              <a:ea typeface="Calibri"/>
              <a:cs typeface="Calibri"/>
              <a:sym typeface="Calibri"/>
            </a:endParaRPr>
          </a:p>
        </p:txBody>
      </p:sp>
      <p:sp>
        <p:nvSpPr>
          <p:cNvPr id="904" name="Google Shape;904;p53"/>
          <p:cNvSpPr txBox="1"/>
          <p:nvPr>
            <p:ph idx="4294967295" type="sldNum"/>
          </p:nvPr>
        </p:nvSpPr>
        <p:spPr>
          <a:xfrm>
            <a:off x="11094415" y="6400800"/>
            <a:ext cx="548640" cy="27432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000" u="none" cap="none" strike="noStrike">
                <a:solidFill>
                  <a:srgbClr val="6B7280"/>
                </a:solidFill>
                <a:latin typeface="Calibri"/>
                <a:ea typeface="Calibri"/>
                <a:cs typeface="Calibri"/>
                <a:sym typeface="Calibri"/>
              </a:rPr>
              <a:t>‹#›</a:t>
            </a:fld>
            <a:endParaRPr b="0" i="0" sz="1000" u="none" cap="none" strike="noStrike">
              <a:solidFill>
                <a:srgbClr val="6B7280"/>
              </a:solidFill>
              <a:latin typeface="Calibri"/>
              <a:ea typeface="Calibri"/>
              <a:cs typeface="Calibri"/>
              <a:sym typeface="Calibri"/>
            </a:endParaRPr>
          </a:p>
        </p:txBody>
      </p:sp>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09" name="Shape 909"/>
        <p:cNvGrpSpPr/>
        <p:nvPr/>
      </p:nvGrpSpPr>
      <p:grpSpPr>
        <a:xfrm>
          <a:off x="0" y="0"/>
          <a:ext cx="0" cy="0"/>
          <a:chOff x="0" y="0"/>
          <a:chExt cx="0" cy="0"/>
        </a:xfrm>
      </p:grpSpPr>
      <p:sp>
        <p:nvSpPr>
          <p:cNvPr id="910" name="Google Shape;910;p54"/>
          <p:cNvSpPr/>
          <p:nvPr/>
        </p:nvSpPr>
        <p:spPr>
          <a:xfrm>
            <a:off x="548640" y="566928"/>
            <a:ext cx="475488" cy="475488"/>
          </a:xfrm>
          <a:prstGeom prst="ellipse">
            <a:avLst/>
          </a:prstGeom>
          <a:solidFill>
            <a:srgbClr val="2F7D6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1" name="Google Shape;911;p54"/>
          <p:cNvSpPr txBox="1"/>
          <p:nvPr/>
        </p:nvSpPr>
        <p:spPr>
          <a:xfrm>
            <a:off x="548640" y="566928"/>
            <a:ext cx="475488" cy="47548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9</a:t>
            </a:r>
            <a:endParaRPr b="0" i="0" sz="1600" u="none" cap="none" strike="noStrike">
              <a:solidFill>
                <a:schemeClr val="dk1"/>
              </a:solidFill>
              <a:latin typeface="Calibri"/>
              <a:ea typeface="Calibri"/>
              <a:cs typeface="Calibri"/>
              <a:sym typeface="Calibri"/>
            </a:endParaRPr>
          </a:p>
        </p:txBody>
      </p:sp>
      <p:sp>
        <p:nvSpPr>
          <p:cNvPr id="912" name="Google Shape;912;p54"/>
          <p:cNvSpPr txBox="1"/>
          <p:nvPr/>
        </p:nvSpPr>
        <p:spPr>
          <a:xfrm>
            <a:off x="1280160" y="457200"/>
            <a:ext cx="10362895" cy="6949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F3A5F"/>
              </a:buClr>
              <a:buSzPts val="3000"/>
              <a:buFont typeface="Cambria"/>
              <a:buNone/>
            </a:pPr>
            <a:r>
              <a:rPr b="1" i="0" lang="en-US" sz="3000" u="none" cap="none" strike="noStrike">
                <a:solidFill>
                  <a:srgbClr val="1F3A5F"/>
                </a:solidFill>
                <a:latin typeface="Cambria"/>
                <a:ea typeface="Cambria"/>
                <a:cs typeface="Cambria"/>
                <a:sym typeface="Cambria"/>
              </a:rPr>
              <a:t>TP2 : nettoyage d'un jeu de données</a:t>
            </a:r>
            <a:endParaRPr b="0" i="0" sz="3000" u="none" cap="none" strike="noStrike">
              <a:solidFill>
                <a:schemeClr val="dk1"/>
              </a:solidFill>
              <a:latin typeface="Calibri"/>
              <a:ea typeface="Calibri"/>
              <a:cs typeface="Calibri"/>
              <a:sym typeface="Calibri"/>
            </a:endParaRPr>
          </a:p>
        </p:txBody>
      </p:sp>
      <p:sp>
        <p:nvSpPr>
          <p:cNvPr id="913" name="Google Shape;913;p54"/>
          <p:cNvSpPr txBox="1"/>
          <p:nvPr/>
        </p:nvSpPr>
        <p:spPr>
          <a:xfrm>
            <a:off x="548640" y="1417320"/>
            <a:ext cx="11094415" cy="411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B7280"/>
              </a:buClr>
              <a:buSzPts val="1800"/>
              <a:buFont typeface="Calibri"/>
              <a:buNone/>
            </a:pPr>
            <a:r>
              <a:rPr b="0" i="0" lang="en-US" sz="1800" u="none" cap="none" strike="noStrike">
                <a:solidFill>
                  <a:srgbClr val="6B7280"/>
                </a:solidFill>
                <a:latin typeface="Calibri"/>
                <a:ea typeface="Calibri"/>
                <a:cs typeface="Calibri"/>
                <a:sym typeface="Calibri"/>
              </a:rPr>
              <a:t>Le notebook </a:t>
            </a:r>
            <a:r>
              <a:rPr b="0" i="0" lang="en-US" sz="1800" u="none" cap="none" strike="noStrike">
                <a:solidFill>
                  <a:srgbClr val="1F3A5F"/>
                </a:solidFill>
                <a:latin typeface="Courier New"/>
                <a:ea typeface="Courier New"/>
                <a:cs typeface="Courier New"/>
                <a:sym typeface="Courier New"/>
              </a:rPr>
              <a:t>exercices/tp02-nettoyage/tp02.ipynb</a:t>
            </a:r>
            <a:r>
              <a:rPr b="0" i="0" lang="en-US" sz="1800" u="none" cap="none" strike="noStrike">
                <a:solidFill>
                  <a:srgbClr val="6B7280"/>
                </a:solidFill>
                <a:latin typeface="Calibri"/>
                <a:ea typeface="Calibri"/>
                <a:cs typeface="Calibri"/>
                <a:sym typeface="Calibri"/>
              </a:rPr>
              <a:t>, complété au fil de l'après-midi</a:t>
            </a:r>
            <a:endParaRPr b="0" i="0" sz="1800" u="none" cap="none" strike="noStrike">
              <a:solidFill>
                <a:schemeClr val="dk1"/>
              </a:solidFill>
              <a:latin typeface="Calibri"/>
              <a:ea typeface="Calibri"/>
              <a:cs typeface="Calibri"/>
              <a:sym typeface="Calibri"/>
            </a:endParaRPr>
          </a:p>
        </p:txBody>
      </p:sp>
      <p:sp>
        <p:nvSpPr>
          <p:cNvPr id="914" name="Google Shape;914;p54"/>
          <p:cNvSpPr/>
          <p:nvPr/>
        </p:nvSpPr>
        <p:spPr>
          <a:xfrm>
            <a:off x="548640" y="2011680"/>
            <a:ext cx="3515258" cy="2331720"/>
          </a:xfrm>
          <a:prstGeom prst="roundRect">
            <a:avLst>
              <a:gd fmla="val 3137" name="adj"/>
            </a:avLst>
          </a:prstGeom>
          <a:solidFill>
            <a:srgbClr val="EEF3F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5" name="Google Shape;915;p54"/>
          <p:cNvSpPr/>
          <p:nvPr/>
        </p:nvSpPr>
        <p:spPr>
          <a:xfrm>
            <a:off x="777240" y="2286000"/>
            <a:ext cx="402336" cy="402336"/>
          </a:xfrm>
          <a:prstGeom prst="ellipse">
            <a:avLst/>
          </a:prstGeom>
          <a:solidFill>
            <a:srgbClr val="2F7D6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6" name="Google Shape;916;p54"/>
          <p:cNvSpPr txBox="1"/>
          <p:nvPr/>
        </p:nvSpPr>
        <p:spPr>
          <a:xfrm>
            <a:off x="777240" y="2286000"/>
            <a:ext cx="402336" cy="402336"/>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1</a:t>
            </a:r>
            <a:endParaRPr b="0" i="0" sz="1500" u="none" cap="none" strike="noStrike">
              <a:solidFill>
                <a:schemeClr val="dk1"/>
              </a:solidFill>
              <a:latin typeface="Calibri"/>
              <a:ea typeface="Calibri"/>
              <a:cs typeface="Calibri"/>
              <a:sym typeface="Calibri"/>
            </a:endParaRPr>
          </a:p>
        </p:txBody>
      </p:sp>
      <p:sp>
        <p:nvSpPr>
          <p:cNvPr id="917" name="Google Shape;917;p54"/>
          <p:cNvSpPr txBox="1"/>
          <p:nvPr/>
        </p:nvSpPr>
        <p:spPr>
          <a:xfrm>
            <a:off x="777240" y="2834640"/>
            <a:ext cx="3058058"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F3A5F"/>
              </a:buClr>
              <a:buSzPts val="1800"/>
              <a:buFont typeface="Calibri"/>
              <a:buNone/>
            </a:pPr>
            <a:r>
              <a:rPr b="1" i="0" lang="en-US" sz="1800" u="none" cap="none" strike="noStrike">
                <a:solidFill>
                  <a:srgbClr val="1F3A5F"/>
                </a:solidFill>
                <a:latin typeface="Calibri"/>
                <a:ea typeface="Calibri"/>
                <a:cs typeface="Calibri"/>
                <a:sym typeface="Calibri"/>
              </a:rPr>
              <a:t>S'exercer</a:t>
            </a:r>
            <a:endParaRPr b="0" i="0" sz="1800" u="none" cap="none" strike="noStrike">
              <a:solidFill>
                <a:schemeClr val="dk1"/>
              </a:solidFill>
              <a:latin typeface="Calibri"/>
              <a:ea typeface="Calibri"/>
              <a:cs typeface="Calibri"/>
              <a:sym typeface="Calibri"/>
            </a:endParaRPr>
          </a:p>
        </p:txBody>
      </p:sp>
      <p:sp>
        <p:nvSpPr>
          <p:cNvPr id="918" name="Google Shape;918;p54"/>
          <p:cNvSpPr txBox="1"/>
          <p:nvPr/>
        </p:nvSpPr>
        <p:spPr>
          <a:xfrm>
            <a:off x="777240" y="3200400"/>
            <a:ext cx="3058058" cy="9601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F2933"/>
              </a:buClr>
              <a:buSzPts val="1500"/>
              <a:buFont typeface="Calibri"/>
              <a:buNone/>
            </a:pPr>
            <a:r>
              <a:rPr b="0" i="0" lang="en-US" sz="1500" u="none" cap="none" strike="noStrike">
                <a:solidFill>
                  <a:srgbClr val="1F2933"/>
                </a:solidFill>
                <a:latin typeface="Calibri"/>
                <a:ea typeface="Calibri"/>
                <a:cs typeface="Calibri"/>
                <a:sym typeface="Calibri"/>
              </a:rPr>
              <a:t>Parties 1 à 6 : un exercice court par section du cours, sur de petits tableaux dont on connaît le résultat.</a:t>
            </a:r>
            <a:endParaRPr b="0" i="0" sz="1500" u="none" cap="none" strike="noStrike">
              <a:solidFill>
                <a:schemeClr val="dk1"/>
              </a:solidFill>
              <a:latin typeface="Calibri"/>
              <a:ea typeface="Calibri"/>
              <a:cs typeface="Calibri"/>
              <a:sym typeface="Calibri"/>
            </a:endParaRPr>
          </a:p>
        </p:txBody>
      </p:sp>
      <p:sp>
        <p:nvSpPr>
          <p:cNvPr id="919" name="Google Shape;919;p54"/>
          <p:cNvSpPr/>
          <p:nvPr/>
        </p:nvSpPr>
        <p:spPr>
          <a:xfrm>
            <a:off x="4338218" y="2011680"/>
            <a:ext cx="3515258" cy="2331720"/>
          </a:xfrm>
          <a:prstGeom prst="roundRect">
            <a:avLst>
              <a:gd fmla="val 3137" name="adj"/>
            </a:avLst>
          </a:prstGeom>
          <a:solidFill>
            <a:srgbClr val="EEF3F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0" name="Google Shape;920;p54"/>
          <p:cNvSpPr/>
          <p:nvPr/>
        </p:nvSpPr>
        <p:spPr>
          <a:xfrm>
            <a:off x="4566818" y="2286000"/>
            <a:ext cx="402336" cy="402336"/>
          </a:xfrm>
          <a:prstGeom prst="ellipse">
            <a:avLst/>
          </a:prstGeom>
          <a:solidFill>
            <a:srgbClr val="2F7D6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1" name="Google Shape;921;p54"/>
          <p:cNvSpPr txBox="1"/>
          <p:nvPr/>
        </p:nvSpPr>
        <p:spPr>
          <a:xfrm>
            <a:off x="4566818" y="2286000"/>
            <a:ext cx="402336" cy="402336"/>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2</a:t>
            </a:r>
            <a:endParaRPr b="0" i="0" sz="1500" u="none" cap="none" strike="noStrike">
              <a:solidFill>
                <a:schemeClr val="dk1"/>
              </a:solidFill>
              <a:latin typeface="Calibri"/>
              <a:ea typeface="Calibri"/>
              <a:cs typeface="Calibri"/>
              <a:sym typeface="Calibri"/>
            </a:endParaRPr>
          </a:p>
        </p:txBody>
      </p:sp>
      <p:sp>
        <p:nvSpPr>
          <p:cNvPr id="922" name="Google Shape;922;p54"/>
          <p:cNvSpPr txBox="1"/>
          <p:nvPr/>
        </p:nvSpPr>
        <p:spPr>
          <a:xfrm>
            <a:off x="4566818" y="2834640"/>
            <a:ext cx="3058058"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F3A5F"/>
              </a:buClr>
              <a:buSzPts val="1800"/>
              <a:buFont typeface="Calibri"/>
              <a:buNone/>
            </a:pPr>
            <a:r>
              <a:rPr b="1" i="0" lang="en-US" sz="1800" u="none" cap="none" strike="noStrike">
                <a:solidFill>
                  <a:srgbClr val="1F3A5F"/>
                </a:solidFill>
                <a:latin typeface="Calibri"/>
                <a:ea typeface="Calibri"/>
                <a:cs typeface="Calibri"/>
                <a:sym typeface="Calibri"/>
              </a:rPr>
              <a:t>Nettoyer les ventes</a:t>
            </a:r>
            <a:endParaRPr b="0" i="0" sz="1800" u="none" cap="none" strike="noStrike">
              <a:solidFill>
                <a:schemeClr val="dk1"/>
              </a:solidFill>
              <a:latin typeface="Calibri"/>
              <a:ea typeface="Calibri"/>
              <a:cs typeface="Calibri"/>
              <a:sym typeface="Calibri"/>
            </a:endParaRPr>
          </a:p>
        </p:txBody>
      </p:sp>
      <p:sp>
        <p:nvSpPr>
          <p:cNvPr id="923" name="Google Shape;923;p54"/>
          <p:cNvSpPr txBox="1"/>
          <p:nvPr/>
        </p:nvSpPr>
        <p:spPr>
          <a:xfrm>
            <a:off x="4566818" y="3200400"/>
            <a:ext cx="3058058" cy="9601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F2933"/>
              </a:buClr>
              <a:buSzPts val="1500"/>
              <a:buFont typeface="Calibri"/>
              <a:buNone/>
            </a:pPr>
            <a:r>
              <a:rPr b="0" i="0" lang="en-US" sz="1500" u="none" cap="none" strike="noStrike">
                <a:solidFill>
                  <a:srgbClr val="1F2933"/>
                </a:solidFill>
                <a:latin typeface="Calibri"/>
                <a:ea typeface="Calibri"/>
                <a:cs typeface="Calibri"/>
                <a:sym typeface="Calibri"/>
              </a:rPr>
              <a:t>Partie 7, le cas pratique : noms de colonnes, doublons, texte, types, valeurs aberrantes et manquantes.</a:t>
            </a:r>
            <a:endParaRPr b="0" i="0" sz="1500" u="none" cap="none" strike="noStrike">
              <a:solidFill>
                <a:schemeClr val="dk1"/>
              </a:solidFill>
              <a:latin typeface="Calibri"/>
              <a:ea typeface="Calibri"/>
              <a:cs typeface="Calibri"/>
              <a:sym typeface="Calibri"/>
            </a:endParaRPr>
          </a:p>
        </p:txBody>
      </p:sp>
      <p:sp>
        <p:nvSpPr>
          <p:cNvPr id="924" name="Google Shape;924;p54"/>
          <p:cNvSpPr/>
          <p:nvPr/>
        </p:nvSpPr>
        <p:spPr>
          <a:xfrm>
            <a:off x="8127797" y="2011680"/>
            <a:ext cx="3515258" cy="2331720"/>
          </a:xfrm>
          <a:prstGeom prst="roundRect">
            <a:avLst>
              <a:gd fmla="val 3137" name="adj"/>
            </a:avLst>
          </a:prstGeom>
          <a:solidFill>
            <a:srgbClr val="EEF3F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5" name="Google Shape;925;p54"/>
          <p:cNvSpPr/>
          <p:nvPr/>
        </p:nvSpPr>
        <p:spPr>
          <a:xfrm>
            <a:off x="8356397" y="2286000"/>
            <a:ext cx="402336" cy="402336"/>
          </a:xfrm>
          <a:prstGeom prst="ellipse">
            <a:avLst/>
          </a:prstGeom>
          <a:solidFill>
            <a:srgbClr val="2F7D6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6" name="Google Shape;926;p54"/>
          <p:cNvSpPr txBox="1"/>
          <p:nvPr/>
        </p:nvSpPr>
        <p:spPr>
          <a:xfrm>
            <a:off x="8356397" y="2286000"/>
            <a:ext cx="402336" cy="402336"/>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3</a:t>
            </a:r>
            <a:endParaRPr b="0" i="0" sz="1500" u="none" cap="none" strike="noStrike">
              <a:solidFill>
                <a:schemeClr val="dk1"/>
              </a:solidFill>
              <a:latin typeface="Calibri"/>
              <a:ea typeface="Calibri"/>
              <a:cs typeface="Calibri"/>
              <a:sym typeface="Calibri"/>
            </a:endParaRPr>
          </a:p>
        </p:txBody>
      </p:sp>
      <p:sp>
        <p:nvSpPr>
          <p:cNvPr id="927" name="Google Shape;927;p54"/>
          <p:cNvSpPr txBox="1"/>
          <p:nvPr/>
        </p:nvSpPr>
        <p:spPr>
          <a:xfrm>
            <a:off x="8356397" y="2834640"/>
            <a:ext cx="3058058"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F3A5F"/>
              </a:buClr>
              <a:buSzPts val="1800"/>
              <a:buFont typeface="Calibri"/>
              <a:buNone/>
            </a:pPr>
            <a:r>
              <a:rPr b="1" i="0" lang="en-US" sz="1800" u="none" cap="none" strike="noStrike">
                <a:solidFill>
                  <a:srgbClr val="1F3A5F"/>
                </a:solidFill>
                <a:latin typeface="Calibri"/>
                <a:ea typeface="Calibri"/>
                <a:cs typeface="Calibri"/>
                <a:sym typeface="Calibri"/>
              </a:rPr>
              <a:t>Exporter et livrer</a:t>
            </a:r>
            <a:endParaRPr b="0" i="0" sz="1800" u="none" cap="none" strike="noStrike">
              <a:solidFill>
                <a:schemeClr val="dk1"/>
              </a:solidFill>
              <a:latin typeface="Calibri"/>
              <a:ea typeface="Calibri"/>
              <a:cs typeface="Calibri"/>
              <a:sym typeface="Calibri"/>
            </a:endParaRPr>
          </a:p>
        </p:txBody>
      </p:sp>
      <p:sp>
        <p:nvSpPr>
          <p:cNvPr id="928" name="Google Shape;928;p54"/>
          <p:cNvSpPr txBox="1"/>
          <p:nvPr/>
        </p:nvSpPr>
        <p:spPr>
          <a:xfrm>
            <a:off x="8356397" y="3200400"/>
            <a:ext cx="3058058" cy="9601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F2933"/>
              </a:buClr>
              <a:buSzPts val="1500"/>
              <a:buFont typeface="Calibri"/>
              <a:buNone/>
            </a:pPr>
            <a:r>
              <a:rPr b="0" i="0" lang="en-US" sz="1500" u="none" cap="none" strike="noStrike">
                <a:solidFill>
                  <a:srgbClr val="1F2933"/>
                </a:solidFill>
                <a:latin typeface="Calibri"/>
                <a:ea typeface="Calibri"/>
                <a:cs typeface="Calibri"/>
                <a:sym typeface="Calibri"/>
              </a:rPr>
              <a:t>Partie 8 : le jeu de données propre en CSV et en Parquet, la comparaison des tailles, la note des choix.</a:t>
            </a:r>
            <a:endParaRPr b="0" i="0" sz="1500" u="none" cap="none" strike="noStrike">
              <a:solidFill>
                <a:schemeClr val="dk1"/>
              </a:solidFill>
              <a:latin typeface="Calibri"/>
              <a:ea typeface="Calibri"/>
              <a:cs typeface="Calibri"/>
              <a:sym typeface="Calibri"/>
            </a:endParaRPr>
          </a:p>
        </p:txBody>
      </p:sp>
      <p:sp>
        <p:nvSpPr>
          <p:cNvPr id="929" name="Google Shape;929;p54"/>
          <p:cNvSpPr/>
          <p:nvPr/>
        </p:nvSpPr>
        <p:spPr>
          <a:xfrm>
            <a:off x="548640" y="4663440"/>
            <a:ext cx="11094415" cy="883920"/>
          </a:xfrm>
          <a:prstGeom prst="roundRect">
            <a:avLst>
              <a:gd fmla="val 6207" name="adj"/>
            </a:avLst>
          </a:prstGeom>
          <a:solidFill>
            <a:srgbClr val="E8F3E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0" name="Google Shape;930;p54"/>
          <p:cNvSpPr txBox="1"/>
          <p:nvPr/>
        </p:nvSpPr>
        <p:spPr>
          <a:xfrm>
            <a:off x="822960" y="4663440"/>
            <a:ext cx="10545775" cy="883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F3A5F"/>
              </a:buClr>
              <a:buSzPts val="1700"/>
              <a:buFont typeface="Calibri"/>
              <a:buNone/>
            </a:pPr>
            <a:r>
              <a:rPr b="0" i="0" lang="en-US" sz="1700" u="none" cap="none" strike="noStrike">
                <a:solidFill>
                  <a:srgbClr val="1F3A5F"/>
                </a:solidFill>
                <a:latin typeface="Calibri"/>
                <a:ea typeface="Calibri"/>
                <a:cs typeface="Calibri"/>
                <a:sym typeface="Calibri"/>
              </a:rPr>
              <a:t>Livrable : un jeu de données propre en CSV et en Parquet, avec une comparaison rapide de leur taille, et une courte note des choix de nettoyage.</a:t>
            </a:r>
            <a:endParaRPr b="0" i="0" sz="1700" u="none" cap="none" strike="noStrike">
              <a:solidFill>
                <a:schemeClr val="dk1"/>
              </a:solidFill>
              <a:latin typeface="Calibri"/>
              <a:ea typeface="Calibri"/>
              <a:cs typeface="Calibri"/>
              <a:sym typeface="Calibri"/>
            </a:endParaRPr>
          </a:p>
        </p:txBody>
      </p:sp>
      <p:sp>
        <p:nvSpPr>
          <p:cNvPr id="931" name="Google Shape;931;p54"/>
          <p:cNvSpPr txBox="1"/>
          <p:nvPr/>
        </p:nvSpPr>
        <p:spPr>
          <a:xfrm>
            <a:off x="548640" y="6400800"/>
            <a:ext cx="73152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B7280"/>
              </a:buClr>
              <a:buSzPts val="1000"/>
              <a:buFont typeface="Calibri"/>
              <a:buNone/>
            </a:pPr>
            <a:r>
              <a:rPr b="0" i="0" lang="en-US" sz="1000" u="none" cap="none" strike="noStrike">
                <a:solidFill>
                  <a:srgbClr val="6B7280"/>
                </a:solidFill>
                <a:latin typeface="Calibri"/>
                <a:ea typeface="Calibri"/>
                <a:cs typeface="Calibri"/>
                <a:sym typeface="Calibri"/>
              </a:rPr>
              <a:t>Analyse de données avec Python   |   Jour 1, après-midi</a:t>
            </a:r>
            <a:endParaRPr b="0" i="0" sz="1000" u="none" cap="none" strike="noStrike">
              <a:solidFill>
                <a:schemeClr val="dk1"/>
              </a:solidFill>
              <a:latin typeface="Calibri"/>
              <a:ea typeface="Calibri"/>
              <a:cs typeface="Calibri"/>
              <a:sym typeface="Calibri"/>
            </a:endParaRPr>
          </a:p>
        </p:txBody>
      </p:sp>
      <p:sp>
        <p:nvSpPr>
          <p:cNvPr id="932" name="Google Shape;932;p54"/>
          <p:cNvSpPr txBox="1"/>
          <p:nvPr>
            <p:ph idx="4294967295" type="sldNum"/>
          </p:nvPr>
        </p:nvSpPr>
        <p:spPr>
          <a:xfrm>
            <a:off x="11094415" y="6400800"/>
            <a:ext cx="548640" cy="27432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000" u="none" cap="none" strike="noStrike">
                <a:solidFill>
                  <a:srgbClr val="6B7280"/>
                </a:solidFill>
                <a:latin typeface="Calibri"/>
                <a:ea typeface="Calibri"/>
                <a:cs typeface="Calibri"/>
                <a:sym typeface="Calibri"/>
              </a:rPr>
              <a:t>‹#›</a:t>
            </a:fld>
            <a:endParaRPr b="0" i="0" sz="1000" u="none" cap="none" strike="noStrike">
              <a:solidFill>
                <a:srgbClr val="6B7280"/>
              </a:solidFill>
              <a:latin typeface="Calibri"/>
              <a:ea typeface="Calibri"/>
              <a:cs typeface="Calibri"/>
              <a:sym typeface="Calibri"/>
            </a:endParaRPr>
          </a:p>
        </p:txBody>
      </p:sp>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F3A5F"/>
        </a:solidFill>
      </p:bgPr>
    </p:bg>
    <p:spTree>
      <p:nvGrpSpPr>
        <p:cNvPr id="937" name="Shape 937"/>
        <p:cNvGrpSpPr/>
        <p:nvPr/>
      </p:nvGrpSpPr>
      <p:grpSpPr>
        <a:xfrm>
          <a:off x="0" y="0"/>
          <a:ext cx="0" cy="0"/>
          <a:chOff x="0" y="0"/>
          <a:chExt cx="0" cy="0"/>
        </a:xfrm>
      </p:grpSpPr>
      <p:sp>
        <p:nvSpPr>
          <p:cNvPr id="938" name="Google Shape;938;p55"/>
          <p:cNvSpPr txBox="1"/>
          <p:nvPr/>
        </p:nvSpPr>
        <p:spPr>
          <a:xfrm>
            <a:off x="548640" y="457200"/>
            <a:ext cx="11094415" cy="7315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3400"/>
              <a:buFont typeface="Cambria"/>
              <a:buNone/>
            </a:pPr>
            <a:r>
              <a:rPr b="1" i="0" lang="en-US" sz="3400" u="none" cap="none" strike="noStrike">
                <a:solidFill>
                  <a:srgbClr val="FFFFFF"/>
                </a:solidFill>
                <a:latin typeface="Cambria"/>
                <a:ea typeface="Cambria"/>
                <a:cs typeface="Cambria"/>
                <a:sym typeface="Cambria"/>
              </a:rPr>
              <a:t>À retenir</a:t>
            </a:r>
            <a:endParaRPr b="0" i="0" sz="3400" u="none" cap="none" strike="noStrike">
              <a:solidFill>
                <a:schemeClr val="dk1"/>
              </a:solidFill>
              <a:latin typeface="Calibri"/>
              <a:ea typeface="Calibri"/>
              <a:cs typeface="Calibri"/>
              <a:sym typeface="Calibri"/>
            </a:endParaRPr>
          </a:p>
        </p:txBody>
      </p:sp>
      <p:sp>
        <p:nvSpPr>
          <p:cNvPr id="939" name="Google Shape;939;p55"/>
          <p:cNvSpPr txBox="1"/>
          <p:nvPr/>
        </p:nvSpPr>
        <p:spPr>
          <a:xfrm>
            <a:off x="548640" y="1417320"/>
            <a:ext cx="5272888" cy="36880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8FD1B5"/>
              </a:buClr>
              <a:buSzPts val="1600"/>
              <a:buFont typeface="Courier New"/>
              <a:buNone/>
            </a:pPr>
            <a:r>
              <a:rPr b="0" i="0" lang="en-US" sz="1600" u="none" cap="none" strike="noStrike">
                <a:solidFill>
                  <a:srgbClr val="8FD1B5"/>
                </a:solidFill>
                <a:latin typeface="Courier New"/>
                <a:ea typeface="Courier New"/>
                <a:cs typeface="Courier New"/>
                <a:sym typeface="Courier New"/>
              </a:rPr>
              <a:t>loc</a:t>
            </a:r>
            <a:r>
              <a:rPr b="0" i="0" lang="en-US" sz="1600" u="none" cap="none" strike="noStrike">
                <a:solidFill>
                  <a:srgbClr val="FFFFFF"/>
                </a:solidFill>
                <a:latin typeface="Calibri"/>
                <a:ea typeface="Calibri"/>
                <a:cs typeface="Calibri"/>
                <a:sym typeface="Calibri"/>
              </a:rPr>
              <a:t> : labels, fin incluse. </a:t>
            </a:r>
            <a:r>
              <a:rPr b="0" i="0" lang="en-US" sz="1600" u="none" cap="none" strike="noStrike">
                <a:solidFill>
                  <a:srgbClr val="8FD1B5"/>
                </a:solidFill>
                <a:latin typeface="Courier New"/>
                <a:ea typeface="Courier New"/>
                <a:cs typeface="Courier New"/>
                <a:sym typeface="Courier New"/>
              </a:rPr>
              <a:t>iloc</a:t>
            </a:r>
            <a:r>
              <a:rPr b="0" i="0" lang="en-US" sz="1600" u="none" cap="none" strike="noStrike">
                <a:solidFill>
                  <a:srgbClr val="FFFFFF"/>
                </a:solidFill>
                <a:latin typeface="Calibri"/>
                <a:ea typeface="Calibri"/>
                <a:cs typeface="Calibri"/>
                <a:sym typeface="Calibri"/>
              </a:rPr>
              <a:t> : positions, fin exclue</a:t>
            </a:r>
            <a:endParaRPr b="0" i="0" sz="16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FFFFFF"/>
              </a:buClr>
              <a:buSzPts val="1600"/>
              <a:buFont typeface="Calibri"/>
              <a:buNone/>
            </a:pPr>
            <a:r>
              <a:rPr b="0" i="0" lang="en-US" sz="1600" u="none" cap="none" strike="noStrike">
                <a:solidFill>
                  <a:srgbClr val="FFFFFF"/>
                </a:solidFill>
                <a:latin typeface="Calibri"/>
                <a:ea typeface="Calibri"/>
                <a:cs typeface="Calibri"/>
                <a:sym typeface="Calibri"/>
              </a:rPr>
              <a:t>Filtres : parenthèses, </a:t>
            </a:r>
            <a:r>
              <a:rPr b="0" i="0" lang="en-US" sz="1600" u="none" cap="none" strike="noStrike">
                <a:solidFill>
                  <a:srgbClr val="8FD1B5"/>
                </a:solidFill>
                <a:latin typeface="Courier New"/>
                <a:ea typeface="Courier New"/>
                <a:cs typeface="Courier New"/>
                <a:sym typeface="Courier New"/>
              </a:rPr>
              <a:t>&amp;</a:t>
            </a:r>
            <a:r>
              <a:rPr b="0" i="0" lang="en-US" sz="1600" u="none" cap="none" strike="noStrike">
                <a:solidFill>
                  <a:srgbClr val="FFFFFF"/>
                </a:solidFill>
                <a:latin typeface="Calibri"/>
                <a:ea typeface="Calibri"/>
                <a:cs typeface="Calibri"/>
                <a:sym typeface="Calibri"/>
              </a:rPr>
              <a:t>, </a:t>
            </a:r>
            <a:r>
              <a:rPr b="0" i="0" lang="en-US" sz="1600" u="none" cap="none" strike="noStrike">
                <a:solidFill>
                  <a:srgbClr val="8FD1B5"/>
                </a:solidFill>
                <a:latin typeface="Courier New"/>
                <a:ea typeface="Courier New"/>
                <a:cs typeface="Courier New"/>
                <a:sym typeface="Courier New"/>
              </a:rPr>
              <a:t>|</a:t>
            </a:r>
            <a:r>
              <a:rPr b="0" i="0" lang="en-US" sz="1600" u="none" cap="none" strike="noStrike">
                <a:solidFill>
                  <a:srgbClr val="FFFFFF"/>
                </a:solidFill>
                <a:latin typeface="Calibri"/>
                <a:ea typeface="Calibri"/>
                <a:cs typeface="Calibri"/>
                <a:sym typeface="Calibri"/>
              </a:rPr>
              <a:t>, </a:t>
            </a:r>
            <a:r>
              <a:rPr b="0" i="0" lang="en-US" sz="1600" u="none" cap="none" strike="noStrike">
                <a:solidFill>
                  <a:srgbClr val="8FD1B5"/>
                </a:solidFill>
                <a:latin typeface="Courier New"/>
                <a:ea typeface="Courier New"/>
                <a:cs typeface="Courier New"/>
                <a:sym typeface="Courier New"/>
              </a:rPr>
              <a:t>~</a:t>
            </a:r>
            <a:endParaRPr b="0" i="0" sz="16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FFFFFF"/>
              </a:buClr>
              <a:buSzPts val="1600"/>
              <a:buFont typeface="Calibri"/>
              <a:buNone/>
            </a:pPr>
            <a:r>
              <a:rPr b="0" i="0" lang="en-US" sz="1600" u="none" cap="none" strike="noStrike">
                <a:solidFill>
                  <a:srgbClr val="FFFFFF"/>
                </a:solidFill>
                <a:latin typeface="Calibri"/>
                <a:ea typeface="Calibri"/>
                <a:cs typeface="Calibri"/>
                <a:sym typeface="Calibri"/>
              </a:rPr>
              <a:t>Modifier : </a:t>
            </a:r>
            <a:r>
              <a:rPr b="0" i="0" lang="en-US" sz="1600" u="none" cap="none" strike="noStrike">
                <a:solidFill>
                  <a:srgbClr val="8FD1B5"/>
                </a:solidFill>
                <a:latin typeface="Courier New"/>
                <a:ea typeface="Courier New"/>
                <a:cs typeface="Courier New"/>
                <a:sym typeface="Courier New"/>
              </a:rPr>
              <a:t>df.loc[masque, "col"] = valeur</a:t>
            </a:r>
            <a:r>
              <a:rPr b="0" i="0" lang="en-US" sz="1600" u="none" cap="none" strike="noStrike">
                <a:solidFill>
                  <a:srgbClr val="FFFFFF"/>
                </a:solidFill>
                <a:latin typeface="Calibri"/>
                <a:ea typeface="Calibri"/>
                <a:cs typeface="Calibri"/>
                <a:sym typeface="Calibri"/>
              </a:rPr>
              <a:t>, en une étape</a:t>
            </a:r>
            <a:endParaRPr b="0" i="0" sz="16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FFFFFF"/>
              </a:buClr>
              <a:buSzPts val="1600"/>
              <a:buFont typeface="Calibri"/>
              <a:buNone/>
            </a:pPr>
            <a:r>
              <a:rPr b="0" i="0" lang="en-US" sz="1600" u="none" cap="none" strike="noStrike">
                <a:solidFill>
                  <a:srgbClr val="FFFFFF"/>
                </a:solidFill>
                <a:latin typeface="Calibri"/>
                <a:ea typeface="Calibri"/>
                <a:cs typeface="Calibri"/>
                <a:sym typeface="Calibri"/>
              </a:rPr>
              <a:t>Vectorisé d'abord, </a:t>
            </a:r>
            <a:r>
              <a:rPr b="0" i="0" lang="en-US" sz="1600" u="none" cap="none" strike="noStrike">
                <a:solidFill>
                  <a:srgbClr val="8FD1B5"/>
                </a:solidFill>
                <a:latin typeface="Courier New"/>
                <a:ea typeface="Courier New"/>
                <a:cs typeface="Courier New"/>
                <a:sym typeface="Courier New"/>
              </a:rPr>
              <a:t>map</a:t>
            </a:r>
            <a:r>
              <a:rPr b="0" i="0" lang="en-US" sz="1600" u="none" cap="none" strike="noStrike">
                <a:solidFill>
                  <a:srgbClr val="FFFFFF"/>
                </a:solidFill>
                <a:latin typeface="Calibri"/>
                <a:ea typeface="Calibri"/>
                <a:cs typeface="Calibri"/>
                <a:sym typeface="Calibri"/>
              </a:rPr>
              <a:t> ensuite, </a:t>
            </a:r>
            <a:r>
              <a:rPr b="0" i="0" lang="en-US" sz="1600" u="none" cap="none" strike="noStrike">
                <a:solidFill>
                  <a:srgbClr val="8FD1B5"/>
                </a:solidFill>
                <a:latin typeface="Courier New"/>
                <a:ea typeface="Courier New"/>
                <a:cs typeface="Courier New"/>
                <a:sym typeface="Courier New"/>
              </a:rPr>
              <a:t>apply</a:t>
            </a:r>
            <a:r>
              <a:rPr b="0" i="0" lang="en-US" sz="1600" u="none" cap="none" strike="noStrike">
                <a:solidFill>
                  <a:srgbClr val="FFFFFF"/>
                </a:solidFill>
                <a:latin typeface="Calibri"/>
                <a:ea typeface="Calibri"/>
                <a:cs typeface="Calibri"/>
                <a:sym typeface="Calibri"/>
              </a:rPr>
              <a:t> en dernier</a:t>
            </a:r>
            <a:endParaRPr b="0" i="0" sz="16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8FD1B5"/>
              </a:buClr>
              <a:buSzPts val="1600"/>
              <a:buFont typeface="Courier New"/>
              <a:buNone/>
            </a:pPr>
            <a:r>
              <a:rPr b="0" i="0" lang="en-US" sz="1600" u="none" cap="none" strike="noStrike">
                <a:solidFill>
                  <a:srgbClr val="8FD1B5"/>
                </a:solidFill>
                <a:latin typeface="Courier New"/>
                <a:ea typeface="Courier New"/>
                <a:cs typeface="Courier New"/>
                <a:sym typeface="Courier New"/>
              </a:rPr>
              <a:t>np.where</a:t>
            </a:r>
            <a:r>
              <a:rPr b="0" i="0" lang="en-US" sz="1600" u="none" cap="none" strike="noStrike">
                <a:solidFill>
                  <a:srgbClr val="FFFFFF"/>
                </a:solidFill>
                <a:latin typeface="Calibri"/>
                <a:ea typeface="Calibri"/>
                <a:cs typeface="Calibri"/>
                <a:sym typeface="Calibri"/>
              </a:rPr>
              <a:t> pour deux valeurs, </a:t>
            </a:r>
            <a:r>
              <a:rPr b="0" i="0" lang="en-US" sz="1600" u="none" cap="none" strike="noStrike">
                <a:solidFill>
                  <a:srgbClr val="8FD1B5"/>
                </a:solidFill>
                <a:latin typeface="Courier New"/>
                <a:ea typeface="Courier New"/>
                <a:cs typeface="Courier New"/>
                <a:sym typeface="Courier New"/>
              </a:rPr>
              <a:t>pd.cut</a:t>
            </a:r>
            <a:r>
              <a:rPr b="0" i="0" lang="en-US" sz="1600" u="none" cap="none" strike="noStrike">
                <a:solidFill>
                  <a:srgbClr val="FFFFFF"/>
                </a:solidFill>
                <a:latin typeface="Calibri"/>
                <a:ea typeface="Calibri"/>
                <a:cs typeface="Calibri"/>
                <a:sym typeface="Calibri"/>
              </a:rPr>
              <a:t> pour des classes</a:t>
            </a:r>
            <a:endParaRPr b="0" i="0" sz="16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8FD1B5"/>
              </a:buClr>
              <a:buSzPts val="1600"/>
              <a:buFont typeface="Courier New"/>
              <a:buNone/>
            </a:pPr>
            <a:r>
              <a:rPr b="0" i="0" lang="en-US" sz="1600" u="none" cap="none" strike="noStrike">
                <a:solidFill>
                  <a:srgbClr val="8FD1B5"/>
                </a:solidFill>
                <a:latin typeface="Courier New"/>
                <a:ea typeface="Courier New"/>
                <a:cs typeface="Courier New"/>
                <a:sym typeface="Courier New"/>
              </a:rPr>
              <a:t>.str</a:t>
            </a:r>
            <a:r>
              <a:rPr b="0" i="0" lang="en-US" sz="1600" u="none" cap="none" strike="noStrike">
                <a:solidFill>
                  <a:srgbClr val="FFFFFF"/>
                </a:solidFill>
                <a:latin typeface="Calibri"/>
                <a:ea typeface="Calibri"/>
                <a:cs typeface="Calibri"/>
                <a:sym typeface="Calibri"/>
              </a:rPr>
              <a:t> pour le texte, un dictionnaire pour les variantes</a:t>
            </a:r>
            <a:endParaRPr b="0" i="0" sz="1600" u="none" cap="none" strike="noStrike">
              <a:solidFill>
                <a:schemeClr val="dk1"/>
              </a:solidFill>
              <a:latin typeface="Calibri"/>
              <a:ea typeface="Calibri"/>
              <a:cs typeface="Calibri"/>
              <a:sym typeface="Calibri"/>
            </a:endParaRPr>
          </a:p>
        </p:txBody>
      </p:sp>
      <p:sp>
        <p:nvSpPr>
          <p:cNvPr id="940" name="Google Shape;940;p55"/>
          <p:cNvSpPr txBox="1"/>
          <p:nvPr/>
        </p:nvSpPr>
        <p:spPr>
          <a:xfrm>
            <a:off x="6370168" y="1417320"/>
            <a:ext cx="5272888" cy="36880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8FD1B5"/>
              </a:buClr>
              <a:buSzPts val="1600"/>
              <a:buFont typeface="Courier New"/>
              <a:buNone/>
            </a:pPr>
            <a:r>
              <a:rPr b="0" i="0" lang="en-US" sz="1600" u="none" cap="none" strike="noStrike">
                <a:solidFill>
                  <a:srgbClr val="8FD1B5"/>
                </a:solidFill>
                <a:latin typeface="Courier New"/>
                <a:ea typeface="Courier New"/>
                <a:cs typeface="Courier New"/>
                <a:sym typeface="Courier New"/>
              </a:rPr>
              <a:t>errors="coerce"</a:t>
            </a:r>
            <a:r>
              <a:rPr b="0" i="0" lang="en-US" sz="1600" u="none" cap="none" strike="noStrike">
                <a:solidFill>
                  <a:srgbClr val="FFFFFF"/>
                </a:solidFill>
                <a:latin typeface="Calibri"/>
                <a:ea typeface="Calibri"/>
                <a:cs typeface="Calibri"/>
                <a:sym typeface="Calibri"/>
              </a:rPr>
              <a:t> rend les échecs de conversion visibles</a:t>
            </a:r>
            <a:endParaRPr b="0" i="0" sz="16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8FD1B5"/>
              </a:buClr>
              <a:buSzPts val="1600"/>
              <a:buFont typeface="Courier New"/>
              <a:buNone/>
            </a:pPr>
            <a:r>
              <a:rPr b="0" i="0" lang="en-US" sz="1600" u="none" cap="none" strike="noStrike">
                <a:solidFill>
                  <a:srgbClr val="8FD1B5"/>
                </a:solidFill>
                <a:latin typeface="Courier New"/>
                <a:ea typeface="Courier New"/>
                <a:cs typeface="Courier New"/>
                <a:sym typeface="Courier New"/>
              </a:rPr>
              <a:t>category</a:t>
            </a:r>
            <a:r>
              <a:rPr b="0" i="0" lang="en-US" sz="1600" u="none" cap="none" strike="noStrike">
                <a:solidFill>
                  <a:srgbClr val="FFFFFF"/>
                </a:solidFill>
                <a:latin typeface="Calibri"/>
                <a:ea typeface="Calibri"/>
                <a:cs typeface="Calibri"/>
                <a:sym typeface="Calibri"/>
              </a:rPr>
              <a:t> après le nettoyage du texte ; une nouvelle valeur se déclare avec </a:t>
            </a:r>
            <a:r>
              <a:rPr b="0" i="0" lang="en-US" sz="1600" u="none" cap="none" strike="noStrike">
                <a:solidFill>
                  <a:srgbClr val="8FD1B5"/>
                </a:solidFill>
                <a:latin typeface="Courier New"/>
                <a:ea typeface="Courier New"/>
                <a:cs typeface="Courier New"/>
                <a:sym typeface="Courier New"/>
              </a:rPr>
              <a:t>cat.add_categories</a:t>
            </a:r>
            <a:endParaRPr b="0" i="0" sz="1600" u="none" cap="none" strike="noStrike">
              <a:solidFill>
                <a:schemeClr val="dk1"/>
              </a:solidFill>
              <a:latin typeface="Calibri"/>
              <a:ea typeface="Calibri"/>
              <a:cs typeface="Calibri"/>
              <a:sym typeface="Calibri"/>
            </a:endParaRPr>
          </a:p>
          <a:p>
            <a:pPr indent="-254000" lvl="0" marL="254000" marR="0" rtl="0" algn="l">
              <a:spcBef>
                <a:spcPts val="0"/>
              </a:spcBef>
              <a:spcAft>
                <a:spcPts val="0"/>
              </a:spcAft>
              <a:buClr>
                <a:srgbClr val="FFFFFF"/>
              </a:buClr>
              <a:buSzPts val="1600"/>
              <a:buFont typeface="Calibri"/>
              <a:buChar char="•"/>
            </a:pPr>
            <a:r>
              <a:rPr b="0" i="0" lang="en-US" sz="1600" u="none" cap="none" strike="noStrike">
                <a:solidFill>
                  <a:srgbClr val="FFFFFF"/>
                </a:solidFill>
                <a:latin typeface="Calibri"/>
                <a:ea typeface="Calibri"/>
                <a:cs typeface="Calibri"/>
                <a:sym typeface="Calibri"/>
              </a:rPr>
              <a:t>Manquants : choisir, justifier, noter</a:t>
            </a:r>
            <a:endParaRPr b="0" i="0" sz="1600" u="none" cap="none" strike="noStrike">
              <a:solidFill>
                <a:schemeClr val="dk1"/>
              </a:solidFill>
              <a:latin typeface="Calibri"/>
              <a:ea typeface="Calibri"/>
              <a:cs typeface="Calibri"/>
              <a:sym typeface="Calibri"/>
            </a:endParaRPr>
          </a:p>
          <a:p>
            <a:pPr indent="-254000" lvl="0" marL="254000" marR="0" rtl="0" algn="l">
              <a:spcBef>
                <a:spcPts val="1200"/>
              </a:spcBef>
              <a:spcAft>
                <a:spcPts val="0"/>
              </a:spcAft>
              <a:buClr>
                <a:srgbClr val="FFFFFF"/>
              </a:buClr>
              <a:buSzPts val="1600"/>
              <a:buFont typeface="Calibri"/>
              <a:buChar char="•"/>
            </a:pPr>
            <a:r>
              <a:rPr b="0" i="0" lang="en-US" sz="1600" u="none" cap="none" strike="noStrike">
                <a:solidFill>
                  <a:srgbClr val="FFFFFF"/>
                </a:solidFill>
                <a:latin typeface="Calibri"/>
                <a:ea typeface="Calibri"/>
                <a:cs typeface="Calibri"/>
                <a:sym typeface="Calibri"/>
              </a:rPr>
              <a:t>Aberrante ne veut pas dire manquante : il faut une règle métier</a:t>
            </a:r>
            <a:endParaRPr b="0" i="0" sz="1600" u="none" cap="none" strike="noStrike">
              <a:solidFill>
                <a:schemeClr val="dk1"/>
              </a:solidFill>
              <a:latin typeface="Calibri"/>
              <a:ea typeface="Calibri"/>
              <a:cs typeface="Calibri"/>
              <a:sym typeface="Calibri"/>
            </a:endParaRPr>
          </a:p>
          <a:p>
            <a:pPr indent="-254000" lvl="0" marL="254000" marR="0" rtl="0" algn="l">
              <a:spcBef>
                <a:spcPts val="1200"/>
              </a:spcBef>
              <a:spcAft>
                <a:spcPts val="0"/>
              </a:spcAft>
              <a:buClr>
                <a:srgbClr val="FFFFFF"/>
              </a:buClr>
              <a:buSzPts val="1600"/>
              <a:buFont typeface="Calibri"/>
              <a:buChar char="•"/>
            </a:pPr>
            <a:r>
              <a:rPr b="0" i="0" lang="en-US" sz="1600" u="none" cap="none" strike="noStrike">
                <a:solidFill>
                  <a:srgbClr val="FFFFFF"/>
                </a:solidFill>
                <a:latin typeface="Calibri"/>
                <a:ea typeface="Calibri"/>
                <a:cs typeface="Calibri"/>
                <a:sym typeface="Calibri"/>
              </a:rPr>
              <a:t>Vérifier l'unicité d'une clé avant d'en faire un index</a:t>
            </a:r>
            <a:endParaRPr b="0" i="0" sz="1600" u="none" cap="none" strike="noStrike">
              <a:solidFill>
                <a:schemeClr val="dk1"/>
              </a:solidFill>
              <a:latin typeface="Calibri"/>
              <a:ea typeface="Calibri"/>
              <a:cs typeface="Calibri"/>
              <a:sym typeface="Calibri"/>
            </a:endParaRPr>
          </a:p>
          <a:p>
            <a:pPr indent="-254000" lvl="0" marL="254000" marR="0" rtl="0" algn="l">
              <a:spcBef>
                <a:spcPts val="1200"/>
              </a:spcBef>
              <a:spcAft>
                <a:spcPts val="0"/>
              </a:spcAft>
              <a:buClr>
                <a:srgbClr val="FFFFFF"/>
              </a:buClr>
              <a:buSzPts val="1600"/>
              <a:buFont typeface="Calibri"/>
              <a:buChar char="•"/>
            </a:pPr>
            <a:r>
              <a:rPr b="0" i="0" lang="en-US" sz="1600" u="none" cap="none" strike="noStrike">
                <a:solidFill>
                  <a:srgbClr val="FFFFFF"/>
                </a:solidFill>
                <a:latin typeface="Calibri"/>
                <a:ea typeface="Calibri"/>
                <a:cs typeface="Calibri"/>
                <a:sym typeface="Calibri"/>
              </a:rPr>
              <a:t>Le brut ne s'écrase jamais, le propre s'écrit en Parquet</a:t>
            </a:r>
            <a:endParaRPr b="0" i="0" sz="1600" u="none" cap="none" strike="noStrike">
              <a:solidFill>
                <a:schemeClr val="dk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2026-10-21T20:25:27Z</dcterms:created>
</cp:coreProperties>
</file>