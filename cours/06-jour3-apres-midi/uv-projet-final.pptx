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sur le TP5 : la commande ventes fonctionne-t-elle chez tout le monde ? Les blocages éventuels se régleront pendant le TP6.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cours volontairement court, puis l'essentiel de l'après-midi sur le projet fil rouge, présenté au groupe en fin de journée. L'étape 1 du TP6, créer le projet, se fait juste après la présentation du fichier pyproject.toml. Prévoir environ 25 minutes pour les restitutions : 5 minutes par participant ou par binôme.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qui fonctionnait pour un notebook devient fragile pour un projet partagé.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uv répond à tous ces points avec un seul outil.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commandes du quotidien.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uvx lance un outil sans l'ajouter au projet : pratique pour un usage ponctuel.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uv sync retire aussi ce qui a été installé à la main et ne figure pas dans le verrou.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uv télécharge et installe Python lui-même, sans passer par le site officiel. uv python list affiche à la fois les versions présentes sur le poste et celles que uv sait télécharger. Pour lancer un outil sans l'ajouter au projet : uvx ruff check . ; pour ajouter une bibliothèque le temps d'une seule exécution : uv run --with ipykernel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fichier standard qui décrit un projet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 pyproject.toml du TP5.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 contraintes trop strictes dans pyproject.toml rendent le projet difficile à combiner avec d'autres.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participants créent leur projet avec uv init --package, ajoutent les dépendances avec uv add, les outils de développement avec uv add --dev (au minimum pytest, ruff et jupyterlab), créent les dossiers de la structure vue ce matin et recopient les données du dossier ressources/ du TP6 dans data/brut. Selon la sortie choisie, ajouter aussi par exemple matplotlib pour des graphiques ou openpyxl pour un fichier Excel. Résultat attendu : uv tree --depth 1 affiche le nom du projet, puis une ligne par dépendance directe, les outils de développement suivis de (group: dev) ; uv.lock et .python-version, qui contient 3.12, sont présents.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même environnement partout, aujourd'hui comme dans six mois.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commandes pour un environnement identique à celui de l'auteur, sur n'importe quel système.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lance toujours les tests après une mise à jour des dépendances.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Utile quand un serveur ou un outil impose encore un requirements.txt.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qui fait la différence entre un projet qui marche chez soi et un projet utilisable par d'autres.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Dans l'ordre où une personne qui découvre le projet se pose les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notebooks se versionnent réexécutés de haut en bas, numérotés dans l'ordre de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première ligne de la grille de vérification du TP6.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L'étape 1, créer le projet, a été faite pendant le cours : il reste les étapes 2 à 7 du README. Conseiller de repartir du paquet du TP5 pour gagner du temps et se concentrer sur la sortie finale et les finitions.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README du TP6 donne le tableau complet des chiffres de contrôle, dont la région en tête (Île-de-France, 127 936,94 euros), la catégorie en tête (Informatique, 185 274,68 euros), le mois le plus fort (septembre) et le plus faible (août), le montant moyen et médian d'une commande (187,67 et 104,70 euros). uv sync --locked échoue si uv.lock n'est plus à jour par rapport à pyproject.toml. Le code de sortie se lit avec echo $?. Le notebook se réexécute avec Restart Kernel and Run All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Chronométrer. Après chaque présentation, une question ou un retour du groupe.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 de la formation : QCM d'évaluation, puis remise des corrigés.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9144000" cy="365760"/>
          </a:xfrm>
          <a:prstGeom prst="rect">
            <a:avLst/>
          </a:prstGeom>
          <a:noFill/>
          <a:ln/>
        </p:spPr>
        <p:txBody>
          <a:bodyPr wrap="square" lIns="0" tIns="0" rIns="0" bIns="0" rtlCol="0" anchor="ctr"/>
          <a:lstStyle/>
          <a:p>
            <a:pPr indent="0" marL="0">
              <a:buNone/>
            </a:pPr>
            <a:r>
              <a:rPr lang="en-US" sz="1400" b="1" spc="400" kern="0" dirty="0">
                <a:solidFill>
                  <a:srgbClr val="8FD1B5"/>
                </a:solidFill>
                <a:latin typeface="Calibri" pitchFamily="34" charset="0"/>
                <a:ea typeface="Calibri" pitchFamily="34" charset="-122"/>
                <a:cs typeface="Calibri" pitchFamily="34" charset="-120"/>
              </a:rPr>
              <a:t>FORMATION</a:t>
            </a:r>
            <a:endParaRPr lang="en-US" sz="1400" dirty="0"/>
          </a:p>
        </p:txBody>
      </p:sp>
      <p:sp>
        <p:nvSpPr>
          <p:cNvPr id="3" name="Text 1"/>
          <p:cNvSpPr txBox="1"/>
          <p:nvPr/>
        </p:nvSpPr>
        <p:spPr>
          <a:xfrm>
            <a:off x="731520" y="2148840"/>
            <a:ext cx="10515600" cy="109728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Analyse de données avec Python</a:t>
            </a:r>
            <a:endParaRPr lang="en-US" sz="4600" dirty="0"/>
          </a:p>
        </p:txBody>
      </p:sp>
      <p:sp>
        <p:nvSpPr>
          <p:cNvPr id="4" name="Text 2"/>
          <p:cNvSpPr txBox="1"/>
          <p:nvPr/>
        </p:nvSpPr>
        <p:spPr>
          <a:xfrm>
            <a:off x="731520" y="3337560"/>
            <a:ext cx="10058400" cy="914400"/>
          </a:xfrm>
          <a:prstGeom prst="rect">
            <a:avLst/>
          </a:prstGeom>
          <a:noFill/>
          <a:ln/>
        </p:spPr>
        <p:txBody>
          <a:bodyPr wrap="square" lIns="0" tIns="0" rIns="0" bIns="0" rtlCol="0" anchor="t"/>
          <a:lstStyle/>
          <a:p>
            <a:pPr indent="0" marL="0">
              <a:buNone/>
            </a:pPr>
            <a:r>
              <a:rPr lang="en-US" sz="2200" dirty="0">
                <a:solidFill>
                  <a:srgbClr val="C9D6E3"/>
                </a:solidFill>
                <a:latin typeface="Calibri" pitchFamily="34" charset="0"/>
                <a:ea typeface="Calibri" pitchFamily="34" charset="-122"/>
                <a:cs typeface="Calibri" pitchFamily="34" charset="-120"/>
              </a:rPr>
              <a:t>Jour 3, après-midi</a:t>
            </a:r>
            <a:endParaRPr lang="en-US" sz="2200" dirty="0"/>
          </a:p>
          <a:p>
            <a:pPr indent="0" marL="0">
              <a:buNone/>
            </a:pPr>
            <a:r>
              <a:rPr lang="en-US" sz="2200" dirty="0">
                <a:solidFill>
                  <a:srgbClr val="C9D6E3"/>
                </a:solidFill>
                <a:latin typeface="Calibri" pitchFamily="34" charset="0"/>
                <a:ea typeface="Calibri" pitchFamily="34" charset="-122"/>
                <a:cs typeface="Calibri" pitchFamily="34" charset="-120"/>
              </a:rPr>
              <a:t>Gestion des dépendances et projet final</a:t>
            </a:r>
            <a:endParaRPr lang="en-US" sz="2200" dirty="0"/>
          </a:p>
        </p:txBody>
      </p:sp>
      <p:sp>
        <p:nvSpPr>
          <p:cNvPr id="5" name="Text 3"/>
          <p:cNvSpPr txBox="1"/>
          <p:nvPr/>
        </p:nvSpPr>
        <p:spPr>
          <a:xfrm>
            <a:off x="731520" y="5669280"/>
            <a:ext cx="10058400" cy="365760"/>
          </a:xfrm>
          <a:prstGeom prst="rect">
            <a:avLst/>
          </a:prstGeom>
          <a:noFill/>
          <a:ln/>
        </p:spPr>
        <p:txBody>
          <a:bodyPr wrap="square" lIns="0" tIns="0" rIns="0" bIns="0" rtlCol="0" anchor="ctr"/>
          <a:lstStyle/>
          <a:p>
            <a:pPr indent="0" marL="0">
              <a:buNone/>
            </a:pPr>
            <a:r>
              <a:rPr lang="en-US" sz="1400" dirty="0">
                <a:solidFill>
                  <a:srgbClr val="C9D6E3"/>
                </a:solidFill>
                <a:latin typeface="Calibri" pitchFamily="34" charset="0"/>
                <a:ea typeface="Calibri" pitchFamily="34" charset="-122"/>
                <a:cs typeface="Calibri" pitchFamily="34" charset="-120"/>
              </a:rPr>
              <a:t>Cours, TP6 fil rouge et restitution devant le groupe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Le déroulé de l'après-midi</a:t>
            </a:r>
            <a:endParaRPr lang="en-US" sz="3000" dirty="0"/>
          </a:p>
        </p:txBody>
      </p:sp>
      <p:sp>
        <p:nvSpPr>
          <p:cNvPr id="3" name="Shape 1"/>
          <p:cNvSpPr/>
          <p:nvPr/>
        </p:nvSpPr>
        <p:spPr>
          <a:xfrm>
            <a:off x="1242041" y="2057400"/>
            <a:ext cx="9707613" cy="0"/>
          </a:xfrm>
          <a:prstGeom prst="line">
            <a:avLst/>
          </a:prstGeom>
          <a:noFill/>
          <a:ln w="25400">
            <a:solidFill>
              <a:srgbClr val="D5DCE3"/>
            </a:solidFill>
            <a:prstDash val="solid"/>
          </a:ln>
        </p:spPr>
      </p:sp>
      <p:sp>
        <p:nvSpPr>
          <p:cNvPr id="4" name="Shape 2"/>
          <p:cNvSpPr/>
          <p:nvPr/>
        </p:nvSpPr>
        <p:spPr>
          <a:xfrm>
            <a:off x="1013441" y="1828800"/>
            <a:ext cx="457200" cy="457200"/>
          </a:xfrm>
          <a:prstGeom prst="ellipse">
            <a:avLst/>
          </a:prstGeom>
          <a:solidFill>
            <a:srgbClr val="2F7D62"/>
          </a:solidFill>
          <a:ln/>
        </p:spPr>
      </p:sp>
      <p:sp>
        <p:nvSpPr>
          <p:cNvPr id="5" name="Text 3"/>
          <p:cNvSpPr txBox="1"/>
          <p:nvPr/>
        </p:nvSpPr>
        <p:spPr>
          <a:xfrm>
            <a:off x="1013441"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594360" y="2423160"/>
            <a:ext cx="1295362" cy="502920"/>
          </a:xfrm>
          <a:prstGeom prst="rect">
            <a:avLst/>
          </a:prstGeom>
          <a:noFill/>
          <a:ln/>
        </p:spPr>
        <p:txBody>
          <a:bodyPr wrap="square" lIns="0" tIns="0" rIns="0" bIns="0"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Limites de pip</a:t>
            </a:r>
            <a:endParaRPr lang="en-US" sz="1500" dirty="0"/>
          </a:p>
        </p:txBody>
      </p:sp>
      <p:sp>
        <p:nvSpPr>
          <p:cNvPr id="7" name="Shape 5"/>
          <p:cNvSpPr/>
          <p:nvPr/>
        </p:nvSpPr>
        <p:spPr>
          <a:xfrm>
            <a:off x="2400243" y="1828800"/>
            <a:ext cx="457200" cy="457200"/>
          </a:xfrm>
          <a:prstGeom prst="ellipse">
            <a:avLst/>
          </a:prstGeom>
          <a:solidFill>
            <a:srgbClr val="2F7D62"/>
          </a:solidFill>
          <a:ln/>
        </p:spPr>
      </p:sp>
      <p:sp>
        <p:nvSpPr>
          <p:cNvPr id="8" name="Text 6"/>
          <p:cNvSpPr txBox="1"/>
          <p:nvPr/>
        </p:nvSpPr>
        <p:spPr>
          <a:xfrm>
            <a:off x="2400243"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981162" y="2423160"/>
            <a:ext cx="1295362" cy="502920"/>
          </a:xfrm>
          <a:prstGeom prst="rect">
            <a:avLst/>
          </a:prstGeom>
          <a:noFill/>
          <a:ln/>
        </p:spPr>
        <p:txBody>
          <a:bodyPr wrap="square" lIns="0" tIns="0" rIns="0" bIns="0"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uv en détail</a:t>
            </a:r>
            <a:endParaRPr lang="en-US" sz="1500" dirty="0"/>
          </a:p>
        </p:txBody>
      </p:sp>
      <p:sp>
        <p:nvSpPr>
          <p:cNvPr id="10" name="Shape 8"/>
          <p:cNvSpPr/>
          <p:nvPr/>
        </p:nvSpPr>
        <p:spPr>
          <a:xfrm>
            <a:off x="3787045" y="1828800"/>
            <a:ext cx="457200" cy="457200"/>
          </a:xfrm>
          <a:prstGeom prst="ellipse">
            <a:avLst/>
          </a:prstGeom>
          <a:solidFill>
            <a:srgbClr val="2F7D62"/>
          </a:solidFill>
          <a:ln/>
        </p:spPr>
      </p:sp>
      <p:sp>
        <p:nvSpPr>
          <p:cNvPr id="11" name="Text 9"/>
          <p:cNvSpPr txBox="1"/>
          <p:nvPr/>
        </p:nvSpPr>
        <p:spPr>
          <a:xfrm>
            <a:off x="3787045"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3367964" y="2423160"/>
            <a:ext cx="1295362" cy="502920"/>
          </a:xfrm>
          <a:prstGeom prst="rect">
            <a:avLst/>
          </a:prstGeom>
          <a:noFill/>
          <a:ln/>
        </p:spPr>
        <p:txBody>
          <a:bodyPr wrap="square" lIns="0" tIns="0" rIns="0" bIns="0"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pyproject.toml</a:t>
            </a:r>
            <a:endParaRPr lang="en-US" sz="1500" dirty="0"/>
          </a:p>
        </p:txBody>
      </p:sp>
      <p:sp>
        <p:nvSpPr>
          <p:cNvPr id="13" name="Text 11"/>
          <p:cNvSpPr txBox="1"/>
          <p:nvPr/>
        </p:nvSpPr>
        <p:spPr>
          <a:xfrm>
            <a:off x="3367964" y="2926080"/>
            <a:ext cx="1295362"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puis TP6, étape 1</a:t>
            </a:r>
            <a:endParaRPr lang="en-US" sz="1300" dirty="0"/>
          </a:p>
        </p:txBody>
      </p:sp>
      <p:sp>
        <p:nvSpPr>
          <p:cNvPr id="14" name="Shape 12"/>
          <p:cNvSpPr/>
          <p:nvPr/>
        </p:nvSpPr>
        <p:spPr>
          <a:xfrm>
            <a:off x="5173847" y="1828800"/>
            <a:ext cx="457200" cy="457200"/>
          </a:xfrm>
          <a:prstGeom prst="ellipse">
            <a:avLst/>
          </a:prstGeom>
          <a:solidFill>
            <a:srgbClr val="2F7D62"/>
          </a:solidFill>
          <a:ln/>
        </p:spPr>
      </p:sp>
      <p:sp>
        <p:nvSpPr>
          <p:cNvPr id="15" name="Text 13"/>
          <p:cNvSpPr txBox="1"/>
          <p:nvPr/>
        </p:nvSpPr>
        <p:spPr>
          <a:xfrm>
            <a:off x="5173847"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6" name="Text 14"/>
          <p:cNvSpPr txBox="1"/>
          <p:nvPr/>
        </p:nvSpPr>
        <p:spPr>
          <a:xfrm>
            <a:off x="4754766" y="2423160"/>
            <a:ext cx="1295362" cy="502920"/>
          </a:xfrm>
          <a:prstGeom prst="rect">
            <a:avLst/>
          </a:prstGeom>
          <a:noFill/>
          <a:ln/>
        </p:spPr>
        <p:txBody>
          <a:bodyPr wrap="square" lIns="0" tIns="0" rIns="0" bIns="0"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Reproductibilité</a:t>
            </a:r>
            <a:endParaRPr lang="en-US" sz="1500" dirty="0"/>
          </a:p>
        </p:txBody>
      </p:sp>
      <p:sp>
        <p:nvSpPr>
          <p:cNvPr id="17" name="Shape 15"/>
          <p:cNvSpPr/>
          <p:nvPr/>
        </p:nvSpPr>
        <p:spPr>
          <a:xfrm>
            <a:off x="6560649" y="1828800"/>
            <a:ext cx="457200" cy="457200"/>
          </a:xfrm>
          <a:prstGeom prst="ellipse">
            <a:avLst/>
          </a:prstGeom>
          <a:solidFill>
            <a:srgbClr val="2F7D62"/>
          </a:solidFill>
          <a:ln/>
        </p:spPr>
      </p:sp>
      <p:sp>
        <p:nvSpPr>
          <p:cNvPr id="18" name="Text 16"/>
          <p:cNvSpPr txBox="1"/>
          <p:nvPr/>
        </p:nvSpPr>
        <p:spPr>
          <a:xfrm>
            <a:off x="6560649"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9" name="Text 17"/>
          <p:cNvSpPr txBox="1"/>
          <p:nvPr/>
        </p:nvSpPr>
        <p:spPr>
          <a:xfrm>
            <a:off x="6141568" y="2423160"/>
            <a:ext cx="1295362" cy="502920"/>
          </a:xfrm>
          <a:prstGeom prst="rect">
            <a:avLst/>
          </a:prstGeom>
          <a:noFill/>
          <a:ln/>
        </p:spPr>
        <p:txBody>
          <a:bodyPr wrap="square" lIns="0" tIns="0" rIns="0" bIns="0"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Finitions</a:t>
            </a:r>
            <a:endParaRPr lang="en-US" sz="1500" dirty="0"/>
          </a:p>
        </p:txBody>
      </p:sp>
      <p:sp>
        <p:nvSpPr>
          <p:cNvPr id="20" name="Shape 18"/>
          <p:cNvSpPr/>
          <p:nvPr/>
        </p:nvSpPr>
        <p:spPr>
          <a:xfrm>
            <a:off x="7947450" y="1828800"/>
            <a:ext cx="457200" cy="457200"/>
          </a:xfrm>
          <a:prstGeom prst="ellipse">
            <a:avLst/>
          </a:prstGeom>
          <a:solidFill>
            <a:srgbClr val="D5DCE3"/>
          </a:solidFill>
          <a:ln/>
        </p:spPr>
      </p:sp>
      <p:sp>
        <p:nvSpPr>
          <p:cNvPr id="21" name="Text 19"/>
          <p:cNvSpPr txBox="1"/>
          <p:nvPr/>
        </p:nvSpPr>
        <p:spPr>
          <a:xfrm>
            <a:off x="7947450" y="1828800"/>
            <a:ext cx="457200" cy="457200"/>
          </a:xfrm>
          <a:prstGeom prst="rect">
            <a:avLst/>
          </a:prstGeom>
          <a:noFill/>
          <a:ln/>
        </p:spPr>
        <p:txBody>
          <a:bodyPr wrap="square" lIns="0" tIns="0" rIns="0" bIns="0" rtlCol="0" anchor="ctr"/>
          <a:lstStyle/>
          <a:p>
            <a:pPr algn="ctr" indent="0" marL="0">
              <a:buNone/>
            </a:pPr>
            <a:endParaRPr lang="en-US" sz="1500" dirty="0"/>
          </a:p>
        </p:txBody>
      </p:sp>
      <p:sp>
        <p:nvSpPr>
          <p:cNvPr id="22" name="Text 20"/>
          <p:cNvSpPr txBox="1"/>
          <p:nvPr/>
        </p:nvSpPr>
        <p:spPr>
          <a:xfrm>
            <a:off x="7528370" y="2423160"/>
            <a:ext cx="1295362" cy="502920"/>
          </a:xfrm>
          <a:prstGeom prst="rect">
            <a:avLst/>
          </a:prstGeom>
          <a:noFill/>
          <a:ln/>
        </p:spPr>
        <p:txBody>
          <a:bodyPr wrap="square" lIns="0" tIns="0" rIns="0" bIns="0"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Pause</a:t>
            </a:r>
            <a:endParaRPr lang="en-US" sz="1500" dirty="0"/>
          </a:p>
        </p:txBody>
      </p:sp>
      <p:sp>
        <p:nvSpPr>
          <p:cNvPr id="23" name="Shape 21"/>
          <p:cNvSpPr/>
          <p:nvPr/>
        </p:nvSpPr>
        <p:spPr>
          <a:xfrm>
            <a:off x="9334252" y="1828800"/>
            <a:ext cx="457200" cy="457200"/>
          </a:xfrm>
          <a:prstGeom prst="ellipse">
            <a:avLst/>
          </a:prstGeom>
          <a:solidFill>
            <a:srgbClr val="2F7D62"/>
          </a:solidFill>
          <a:ln/>
        </p:spPr>
      </p:sp>
      <p:sp>
        <p:nvSpPr>
          <p:cNvPr id="24" name="Text 22"/>
          <p:cNvSpPr txBox="1"/>
          <p:nvPr/>
        </p:nvSpPr>
        <p:spPr>
          <a:xfrm>
            <a:off x="9334252"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5" name="Text 23"/>
          <p:cNvSpPr txBox="1"/>
          <p:nvPr/>
        </p:nvSpPr>
        <p:spPr>
          <a:xfrm>
            <a:off x="8915171" y="2423160"/>
            <a:ext cx="1295362" cy="502920"/>
          </a:xfrm>
          <a:prstGeom prst="rect">
            <a:avLst/>
          </a:prstGeom>
          <a:noFill/>
          <a:ln/>
        </p:spPr>
        <p:txBody>
          <a:bodyPr wrap="square" lIns="0" tIns="0" rIns="0" bIns="0"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TP6</a:t>
            </a:r>
            <a:endParaRPr lang="en-US" sz="1500" dirty="0"/>
          </a:p>
        </p:txBody>
      </p:sp>
      <p:sp>
        <p:nvSpPr>
          <p:cNvPr id="26" name="Text 24"/>
          <p:cNvSpPr txBox="1"/>
          <p:nvPr/>
        </p:nvSpPr>
        <p:spPr>
          <a:xfrm>
            <a:off x="8915171" y="2926080"/>
            <a:ext cx="1295362"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étapes 2 à 7</a:t>
            </a:r>
            <a:endParaRPr lang="en-US" sz="1300" dirty="0"/>
          </a:p>
        </p:txBody>
      </p:sp>
      <p:sp>
        <p:nvSpPr>
          <p:cNvPr id="27" name="Shape 25"/>
          <p:cNvSpPr/>
          <p:nvPr/>
        </p:nvSpPr>
        <p:spPr>
          <a:xfrm>
            <a:off x="10721054" y="1828800"/>
            <a:ext cx="457200" cy="457200"/>
          </a:xfrm>
          <a:prstGeom prst="ellipse">
            <a:avLst/>
          </a:prstGeom>
          <a:solidFill>
            <a:srgbClr val="2F7D62"/>
          </a:solidFill>
          <a:ln/>
        </p:spPr>
      </p:sp>
      <p:sp>
        <p:nvSpPr>
          <p:cNvPr id="28" name="Text 26"/>
          <p:cNvSpPr txBox="1"/>
          <p:nvPr/>
        </p:nvSpPr>
        <p:spPr>
          <a:xfrm>
            <a:off x="10721054"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29" name="Text 27"/>
          <p:cNvSpPr txBox="1"/>
          <p:nvPr/>
        </p:nvSpPr>
        <p:spPr>
          <a:xfrm>
            <a:off x="10301973" y="2423160"/>
            <a:ext cx="1295362" cy="502920"/>
          </a:xfrm>
          <a:prstGeom prst="rect">
            <a:avLst/>
          </a:prstGeom>
          <a:noFill/>
          <a:ln/>
        </p:spPr>
        <p:txBody>
          <a:bodyPr wrap="square" lIns="0" tIns="0" rIns="0" bIns="0"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Restitution</a:t>
            </a:r>
            <a:endParaRPr lang="en-US" sz="1500" dirty="0"/>
          </a:p>
        </p:txBody>
      </p:sp>
      <p:sp>
        <p:nvSpPr>
          <p:cNvPr id="30" name="Shape 28"/>
          <p:cNvSpPr/>
          <p:nvPr/>
        </p:nvSpPr>
        <p:spPr>
          <a:xfrm>
            <a:off x="548640" y="3657600"/>
            <a:ext cx="3515258" cy="1600200"/>
          </a:xfrm>
          <a:prstGeom prst="roundRect">
            <a:avLst>
              <a:gd name="adj" fmla="val 4571"/>
            </a:avLst>
          </a:prstGeom>
          <a:solidFill>
            <a:srgbClr val="EEF3F7"/>
          </a:solidFill>
          <a:ln/>
        </p:spPr>
      </p:sp>
      <p:sp>
        <p:nvSpPr>
          <p:cNvPr id="31" name="Text 29"/>
          <p:cNvSpPr txBox="1"/>
          <p:nvPr/>
        </p:nvSpPr>
        <p:spPr>
          <a:xfrm>
            <a:off x="777240" y="3840480"/>
            <a:ext cx="3058058" cy="777240"/>
          </a:xfrm>
          <a:prstGeom prst="rect">
            <a:avLst/>
          </a:prstGeom>
          <a:noFill/>
          <a:ln/>
        </p:spPr>
        <p:txBody>
          <a:bodyPr wrap="square" lIns="0" tIns="0" rIns="0" bIns="0" rtlCol="0" anchor="ctr"/>
          <a:lstStyle/>
          <a:p>
            <a:pPr indent="0" marL="0">
              <a:buNone/>
            </a:pPr>
            <a:r>
              <a:rPr lang="en-US" sz="4000" b="1" dirty="0">
                <a:solidFill>
                  <a:srgbClr val="1F3A5F"/>
                </a:solidFill>
                <a:latin typeface="Cambria" pitchFamily="34" charset="0"/>
                <a:ea typeface="Cambria" pitchFamily="34" charset="-122"/>
                <a:cs typeface="Cambria" pitchFamily="34" charset="-120"/>
              </a:rPr>
              <a:t>13h30</a:t>
            </a:r>
            <a:endParaRPr lang="en-US" sz="4000" dirty="0"/>
          </a:p>
        </p:txBody>
      </p:sp>
      <p:sp>
        <p:nvSpPr>
          <p:cNvPr id="32" name="Text 30"/>
          <p:cNvSpPr txBox="1"/>
          <p:nvPr/>
        </p:nvSpPr>
        <p:spPr>
          <a:xfrm>
            <a:off x="777240" y="4663440"/>
            <a:ext cx="3058058" cy="45720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début</a:t>
            </a:r>
            <a:endParaRPr lang="en-US" sz="1500" dirty="0"/>
          </a:p>
        </p:txBody>
      </p:sp>
      <p:sp>
        <p:nvSpPr>
          <p:cNvPr id="33" name="Shape 31"/>
          <p:cNvSpPr/>
          <p:nvPr/>
        </p:nvSpPr>
        <p:spPr>
          <a:xfrm>
            <a:off x="4338218" y="3657600"/>
            <a:ext cx="3515258" cy="1600200"/>
          </a:xfrm>
          <a:prstGeom prst="roundRect">
            <a:avLst>
              <a:gd name="adj" fmla="val 4571"/>
            </a:avLst>
          </a:prstGeom>
          <a:solidFill>
            <a:srgbClr val="EEF3F7"/>
          </a:solidFill>
          <a:ln/>
        </p:spPr>
      </p:sp>
      <p:sp>
        <p:nvSpPr>
          <p:cNvPr id="34" name="Text 32"/>
          <p:cNvSpPr txBox="1"/>
          <p:nvPr/>
        </p:nvSpPr>
        <p:spPr>
          <a:xfrm>
            <a:off x="4566818" y="3840480"/>
            <a:ext cx="3058058" cy="777240"/>
          </a:xfrm>
          <a:prstGeom prst="rect">
            <a:avLst/>
          </a:prstGeom>
          <a:noFill/>
          <a:ln/>
        </p:spPr>
        <p:txBody>
          <a:bodyPr wrap="square" lIns="0" tIns="0" rIns="0" bIns="0" rtlCol="0" anchor="ctr"/>
          <a:lstStyle/>
          <a:p>
            <a:pPr indent="0" marL="0">
              <a:buNone/>
            </a:pPr>
            <a:r>
              <a:rPr lang="en-US" sz="4000" b="1" dirty="0">
                <a:solidFill>
                  <a:srgbClr val="1F3A5F"/>
                </a:solidFill>
                <a:latin typeface="Cambria" pitchFamily="34" charset="0"/>
                <a:ea typeface="Cambria" pitchFamily="34" charset="-122"/>
                <a:cs typeface="Cambria" pitchFamily="34" charset="-120"/>
              </a:rPr>
              <a:t>15h00</a:t>
            </a:r>
            <a:endParaRPr lang="en-US" sz="4000" dirty="0"/>
          </a:p>
        </p:txBody>
      </p:sp>
      <p:sp>
        <p:nvSpPr>
          <p:cNvPr id="35" name="Text 33"/>
          <p:cNvSpPr txBox="1"/>
          <p:nvPr/>
        </p:nvSpPr>
        <p:spPr>
          <a:xfrm>
            <a:off x="4566818" y="4663440"/>
            <a:ext cx="3058058" cy="45720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pause</a:t>
            </a:r>
            <a:endParaRPr lang="en-US" sz="1500" dirty="0"/>
          </a:p>
        </p:txBody>
      </p:sp>
      <p:sp>
        <p:nvSpPr>
          <p:cNvPr id="36" name="Shape 34"/>
          <p:cNvSpPr/>
          <p:nvPr/>
        </p:nvSpPr>
        <p:spPr>
          <a:xfrm>
            <a:off x="8127797" y="3657600"/>
            <a:ext cx="3515258" cy="1600200"/>
          </a:xfrm>
          <a:prstGeom prst="roundRect">
            <a:avLst>
              <a:gd name="adj" fmla="val 4571"/>
            </a:avLst>
          </a:prstGeom>
          <a:solidFill>
            <a:srgbClr val="EEF3F7"/>
          </a:solidFill>
          <a:ln/>
        </p:spPr>
      </p:sp>
      <p:sp>
        <p:nvSpPr>
          <p:cNvPr id="37" name="Text 35"/>
          <p:cNvSpPr txBox="1"/>
          <p:nvPr/>
        </p:nvSpPr>
        <p:spPr>
          <a:xfrm>
            <a:off x="8356397" y="3840480"/>
            <a:ext cx="3058058" cy="777240"/>
          </a:xfrm>
          <a:prstGeom prst="rect">
            <a:avLst/>
          </a:prstGeom>
          <a:noFill/>
          <a:ln/>
        </p:spPr>
        <p:txBody>
          <a:bodyPr wrap="square" lIns="0" tIns="0" rIns="0" bIns="0" rtlCol="0" anchor="ctr"/>
          <a:lstStyle/>
          <a:p>
            <a:pPr indent="0" marL="0">
              <a:buNone/>
            </a:pPr>
            <a:r>
              <a:rPr lang="en-US" sz="4000" b="1" dirty="0">
                <a:solidFill>
                  <a:srgbClr val="1F3A5F"/>
                </a:solidFill>
                <a:latin typeface="Cambria" pitchFamily="34" charset="0"/>
                <a:ea typeface="Cambria" pitchFamily="34" charset="-122"/>
                <a:cs typeface="Cambria" pitchFamily="34" charset="-120"/>
              </a:rPr>
              <a:t>17h00</a:t>
            </a:r>
            <a:endParaRPr lang="en-US" sz="4000" dirty="0"/>
          </a:p>
        </p:txBody>
      </p:sp>
      <p:sp>
        <p:nvSpPr>
          <p:cNvPr id="38" name="Text 36"/>
          <p:cNvSpPr txBox="1"/>
          <p:nvPr/>
        </p:nvSpPr>
        <p:spPr>
          <a:xfrm>
            <a:off x="8356397" y="4663440"/>
            <a:ext cx="3058058" cy="45720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fin</a:t>
            </a:r>
            <a:endParaRPr lang="en-US" sz="1500" dirty="0"/>
          </a:p>
        </p:txBody>
      </p:sp>
      <p:sp>
        <p:nvSpPr>
          <p:cNvPr id="39" name="Shape 37"/>
          <p:cNvSpPr/>
          <p:nvPr/>
        </p:nvSpPr>
        <p:spPr>
          <a:xfrm>
            <a:off x="548640" y="5577840"/>
            <a:ext cx="11094415" cy="624840"/>
          </a:xfrm>
          <a:prstGeom prst="roundRect">
            <a:avLst>
              <a:gd name="adj" fmla="val 8780"/>
            </a:avLst>
          </a:prstGeom>
          <a:solidFill>
            <a:srgbClr val="E8F3EE"/>
          </a:solidFill>
          <a:ln/>
        </p:spPr>
      </p:sp>
      <p:sp>
        <p:nvSpPr>
          <p:cNvPr id="40" name="Text 38"/>
          <p:cNvSpPr txBox="1"/>
          <p:nvPr/>
        </p:nvSpPr>
        <p:spPr>
          <a:xfrm>
            <a:off x="822960" y="5577840"/>
            <a:ext cx="10545775" cy="62484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Le projet du TP6 est créé dès la section 3, pour que chacun parte avec un environnement prêt.</a:t>
            </a:r>
            <a:endParaRPr lang="en-US" sz="1700" dirty="0"/>
          </a:p>
        </p:txBody>
      </p:sp>
      <p:sp>
        <p:nvSpPr>
          <p:cNvPr id="41" name="Text 39"/>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2743200" cy="1188720"/>
          </a:xfrm>
          <a:prstGeom prst="rect">
            <a:avLst/>
          </a:prstGeom>
          <a:noFill/>
          <a:ln/>
        </p:spPr>
        <p:txBody>
          <a:bodyPr wrap="square" lIns="0" tIns="0" rIns="0" bIns="0" rtlCol="0" anchor="ctr"/>
          <a:lstStyle/>
          <a:p>
            <a:pPr indent="0" marL="0">
              <a:buNone/>
            </a:pPr>
            <a:r>
              <a:rPr lang="en-US" sz="8000" b="1" dirty="0">
                <a:solidFill>
                  <a:srgbClr val="8FD1B5"/>
                </a:solidFill>
                <a:latin typeface="Cambria" pitchFamily="34" charset="0"/>
                <a:ea typeface="Cambria" pitchFamily="34" charset="-122"/>
                <a:cs typeface="Cambria" pitchFamily="34" charset="-120"/>
              </a:rPr>
              <a:t>01</a:t>
            </a:r>
            <a:endParaRPr lang="en-US" sz="8000" dirty="0"/>
          </a:p>
        </p:txBody>
      </p:sp>
      <p:sp>
        <p:nvSpPr>
          <p:cNvPr id="3" name="Text 1"/>
          <p:cNvSpPr txBox="1"/>
          <p:nvPr/>
        </p:nvSpPr>
        <p:spPr>
          <a:xfrm>
            <a:off x="731520" y="301752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Les limites de pip et venv</a:t>
            </a:r>
            <a:endParaRPr lang="en-US" sz="4000" dirty="0"/>
          </a:p>
        </p:txBody>
      </p:sp>
      <p:sp>
        <p:nvSpPr>
          <p:cNvPr id="4" name="Text 2"/>
          <p:cNvSpPr txBox="1"/>
          <p:nvPr/>
        </p:nvSpPr>
        <p:spPr>
          <a:xfrm>
            <a:off x="731520" y="3977640"/>
            <a:ext cx="10515600" cy="548640"/>
          </a:xfrm>
          <a:prstGeom prst="rect">
            <a:avLst/>
          </a:prstGeom>
          <a:noFill/>
          <a:ln/>
        </p:spPr>
        <p:txBody>
          <a:bodyPr wrap="square" lIns="0" tIns="0" rIns="0" bIns="0" rtlCol="0" anchor="t"/>
          <a:lstStyle/>
          <a:p>
            <a:pPr indent="0" marL="0">
              <a:buNone/>
            </a:pPr>
            <a:r>
              <a:rPr lang="en-US" sz="2000" dirty="0">
                <a:solidFill>
                  <a:srgbClr val="C9D6E3"/>
                </a:solidFill>
                <a:latin typeface="Calibri" pitchFamily="34" charset="0"/>
                <a:ea typeface="Calibri" pitchFamily="34" charset="-122"/>
                <a:cs typeface="Calibri" pitchFamily="34" charset="-120"/>
              </a:rPr>
              <a:t>Plusieurs outils   |   requirements.txt   |   Verrouillage</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LES LIMITES DE PIP ET VENV</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Ce qui coince quand le projet grossit</a:t>
            </a:r>
            <a:endParaRPr lang="en-US" sz="3000" dirty="0"/>
          </a:p>
        </p:txBody>
      </p:sp>
      <p:sp>
        <p:nvSpPr>
          <p:cNvPr id="6" name="Shape 4"/>
          <p:cNvSpPr/>
          <p:nvPr/>
        </p:nvSpPr>
        <p:spPr>
          <a:xfrm>
            <a:off x="548640" y="1417320"/>
            <a:ext cx="2567864" cy="2484120"/>
          </a:xfrm>
          <a:prstGeom prst="roundRect">
            <a:avLst>
              <a:gd name="adj" fmla="val 2945"/>
            </a:avLst>
          </a:prstGeom>
          <a:solidFill>
            <a:srgbClr val="EEF3F7"/>
          </a:solidFill>
          <a:ln/>
        </p:spPr>
      </p:sp>
      <p:sp>
        <p:nvSpPr>
          <p:cNvPr id="7" name="Shape 5"/>
          <p:cNvSpPr/>
          <p:nvPr/>
        </p:nvSpPr>
        <p:spPr>
          <a:xfrm>
            <a:off x="777240" y="1691640"/>
            <a:ext cx="402336" cy="402336"/>
          </a:xfrm>
          <a:prstGeom prst="ellipse">
            <a:avLst/>
          </a:prstGeom>
          <a:solidFill>
            <a:srgbClr val="2F7D62"/>
          </a:solidFill>
          <a:ln/>
        </p:spPr>
      </p:sp>
      <p:sp>
        <p:nvSpPr>
          <p:cNvPr id="8" name="Text 6"/>
          <p:cNvSpPr txBox="1"/>
          <p:nvPr/>
        </p:nvSpPr>
        <p:spPr>
          <a:xfrm>
            <a:off x="777240" y="1691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777240" y="2240280"/>
            <a:ext cx="2110664" cy="243840"/>
          </a:xfrm>
          <a:prstGeom prst="rect">
            <a:avLst/>
          </a:prstGeom>
          <a:noFill/>
          <a:ln/>
        </p:spPr>
        <p:txBody>
          <a:bodyPr wrap="square" lIns="0" tIns="0" rIns="0" bIns="0" rtlCol="0" anchor="t"/>
          <a:lstStyle/>
          <a:p>
            <a:pPr indent="0" marL="0">
              <a:buNone/>
            </a:pPr>
            <a:r>
              <a:rPr lang="en-US" sz="1600" b="1" dirty="0">
                <a:solidFill>
                  <a:srgbClr val="1F3A5F"/>
                </a:solidFill>
                <a:latin typeface="Calibri" pitchFamily="34" charset="0"/>
                <a:ea typeface="Calibri" pitchFamily="34" charset="-122"/>
                <a:cs typeface="Calibri" pitchFamily="34" charset="-120"/>
              </a:rPr>
              <a:t>Plusieurs outils</a:t>
            </a:r>
            <a:endParaRPr lang="en-US" sz="1600" dirty="0"/>
          </a:p>
        </p:txBody>
      </p:sp>
      <p:sp>
        <p:nvSpPr>
          <p:cNvPr id="10" name="Text 8"/>
          <p:cNvSpPr txBox="1"/>
          <p:nvPr/>
        </p:nvSpPr>
        <p:spPr>
          <a:xfrm>
            <a:off x="777240" y="2575560"/>
            <a:ext cx="2110664" cy="1143000"/>
          </a:xfrm>
          <a:prstGeom prst="rect">
            <a:avLst/>
          </a:prstGeom>
          <a:noFill/>
          <a:ln/>
        </p:spPr>
        <p:txBody>
          <a:bodyPr wrap="square" lIns="0" tIns="0" rIns="0" bIns="0" rtlCol="0" anchor="t"/>
          <a:lstStyle/>
          <a:p>
            <a:pPr indent="0" marL="0">
              <a:buNone/>
            </a:pPr>
            <a:r>
              <a:rPr lang="en-US" sz="1400" dirty="0">
                <a:solidFill>
                  <a:srgbClr val="1F3A5F"/>
                </a:solidFill>
                <a:latin typeface="Courier New" pitchFamily="34" charset="0"/>
                <a:ea typeface="Courier New" pitchFamily="34" charset="-122"/>
                <a:cs typeface="Courier New" pitchFamily="34" charset="-120"/>
              </a:rPr>
              <a:t>venv</a:t>
            </a:r>
            <a:pPr indent="0" marL="0">
              <a:buNone/>
            </a:pPr>
            <a:r>
              <a:rPr lang="en-US" sz="1400" dirty="0">
                <a:solidFill>
                  <a:srgbClr val="1F2933"/>
                </a:solidFill>
                <a:latin typeface="Calibri" pitchFamily="34" charset="0"/>
                <a:ea typeface="Calibri" pitchFamily="34" charset="-122"/>
                <a:cs typeface="Calibri" pitchFamily="34" charset="-120"/>
              </a:rPr>
              <a:t>, </a:t>
            </a:r>
            <a:pPr indent="0" marL="0">
              <a:buNone/>
            </a:pPr>
            <a:r>
              <a:rPr lang="en-US" sz="1400" dirty="0">
                <a:solidFill>
                  <a:srgbClr val="1F3A5F"/>
                </a:solidFill>
                <a:latin typeface="Courier New" pitchFamily="34" charset="0"/>
                <a:ea typeface="Courier New" pitchFamily="34" charset="-122"/>
                <a:cs typeface="Courier New" pitchFamily="34" charset="-120"/>
              </a:rPr>
              <a:t>pip</a:t>
            </a:r>
            <a:pPr indent="0" marL="0">
              <a:buNone/>
            </a:pPr>
            <a:r>
              <a:rPr lang="en-US" sz="1400" dirty="0">
                <a:solidFill>
                  <a:srgbClr val="1F2933"/>
                </a:solidFill>
                <a:latin typeface="Calibri" pitchFamily="34" charset="0"/>
                <a:ea typeface="Calibri" pitchFamily="34" charset="-122"/>
                <a:cs typeface="Calibri" pitchFamily="34" charset="-120"/>
              </a:rPr>
              <a:t>, </a:t>
            </a:r>
            <a:pPr indent="0" marL="0">
              <a:buNone/>
            </a:pPr>
            <a:r>
              <a:rPr lang="en-US" sz="1400" dirty="0">
                <a:solidFill>
                  <a:srgbClr val="1F3A5F"/>
                </a:solidFill>
                <a:latin typeface="Courier New" pitchFamily="34" charset="0"/>
                <a:ea typeface="Courier New" pitchFamily="34" charset="-122"/>
                <a:cs typeface="Courier New" pitchFamily="34" charset="-120"/>
              </a:rPr>
              <a:t>pip freeze</a:t>
            </a:r>
            <a:pPr indent="0" marL="0">
              <a:buNone/>
            </a:pPr>
            <a:r>
              <a:rPr lang="en-US" sz="1400" dirty="0">
                <a:solidFill>
                  <a:srgbClr val="1F2933"/>
                </a:solidFill>
                <a:latin typeface="Calibri" pitchFamily="34" charset="0"/>
                <a:ea typeface="Calibri" pitchFamily="34" charset="-122"/>
                <a:cs typeface="Calibri" pitchFamily="34" charset="-120"/>
              </a:rPr>
              <a:t>, et un autre outil pour changer de version de Python.</a:t>
            </a:r>
            <a:endParaRPr lang="en-US" sz="1400" dirty="0"/>
          </a:p>
        </p:txBody>
      </p:sp>
      <p:sp>
        <p:nvSpPr>
          <p:cNvPr id="11" name="Shape 9"/>
          <p:cNvSpPr/>
          <p:nvPr/>
        </p:nvSpPr>
        <p:spPr>
          <a:xfrm>
            <a:off x="3390824" y="1417320"/>
            <a:ext cx="2567864" cy="2484120"/>
          </a:xfrm>
          <a:prstGeom prst="roundRect">
            <a:avLst>
              <a:gd name="adj" fmla="val 2945"/>
            </a:avLst>
          </a:prstGeom>
          <a:solidFill>
            <a:srgbClr val="EEF3F7"/>
          </a:solidFill>
          <a:ln/>
        </p:spPr>
      </p:sp>
      <p:sp>
        <p:nvSpPr>
          <p:cNvPr id="12" name="Shape 10"/>
          <p:cNvSpPr/>
          <p:nvPr/>
        </p:nvSpPr>
        <p:spPr>
          <a:xfrm>
            <a:off x="3619424" y="1691640"/>
            <a:ext cx="402336" cy="402336"/>
          </a:xfrm>
          <a:prstGeom prst="ellipse">
            <a:avLst/>
          </a:prstGeom>
          <a:solidFill>
            <a:srgbClr val="2F7D62"/>
          </a:solidFill>
          <a:ln/>
        </p:spPr>
      </p:sp>
      <p:sp>
        <p:nvSpPr>
          <p:cNvPr id="13" name="Text 11"/>
          <p:cNvSpPr txBox="1"/>
          <p:nvPr/>
        </p:nvSpPr>
        <p:spPr>
          <a:xfrm>
            <a:off x="3619424" y="1691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3619424" y="2240280"/>
            <a:ext cx="2110664" cy="487680"/>
          </a:xfrm>
          <a:prstGeom prst="rect">
            <a:avLst/>
          </a:prstGeom>
          <a:noFill/>
          <a:ln/>
        </p:spPr>
        <p:txBody>
          <a:bodyPr wrap="square" lIns="0" tIns="0" rIns="0" bIns="0" rtlCol="0" anchor="t"/>
          <a:lstStyle/>
          <a:p>
            <a:pPr indent="0" marL="0">
              <a:buNone/>
            </a:pPr>
            <a:r>
              <a:rPr lang="en-US" sz="1600" b="1" dirty="0">
                <a:solidFill>
                  <a:srgbClr val="1F3A5F"/>
                </a:solidFill>
                <a:latin typeface="Calibri" pitchFamily="34" charset="0"/>
                <a:ea typeface="Calibri" pitchFamily="34" charset="-122"/>
                <a:cs typeface="Calibri" pitchFamily="34" charset="-120"/>
              </a:rPr>
              <a:t>Une activation à ne pas oublier</a:t>
            </a:r>
            <a:endParaRPr lang="en-US" sz="1600" dirty="0"/>
          </a:p>
        </p:txBody>
      </p:sp>
      <p:sp>
        <p:nvSpPr>
          <p:cNvPr id="15" name="Text 13"/>
          <p:cNvSpPr txBox="1"/>
          <p:nvPr/>
        </p:nvSpPr>
        <p:spPr>
          <a:xfrm>
            <a:off x="3619424" y="2819400"/>
            <a:ext cx="2110664" cy="89916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Un </a:t>
            </a:r>
            <a:pPr indent="0" marL="0">
              <a:buNone/>
            </a:pPr>
            <a:r>
              <a:rPr lang="en-US" sz="1400" dirty="0">
                <a:solidFill>
                  <a:srgbClr val="1F3A5F"/>
                </a:solidFill>
                <a:latin typeface="Courier New" pitchFamily="34" charset="0"/>
                <a:ea typeface="Courier New" pitchFamily="34" charset="-122"/>
                <a:cs typeface="Courier New" pitchFamily="34" charset="-120"/>
              </a:rPr>
              <a:t>pip install</a:t>
            </a:r>
            <a:pPr indent="0" marL="0">
              <a:buNone/>
            </a:pPr>
            <a:r>
              <a:rPr lang="en-US" sz="1400" dirty="0">
                <a:solidFill>
                  <a:srgbClr val="1F2933"/>
                </a:solidFill>
                <a:latin typeface="Calibri" pitchFamily="34" charset="0"/>
                <a:ea typeface="Calibri" pitchFamily="34" charset="-122"/>
                <a:cs typeface="Calibri" pitchFamily="34" charset="-120"/>
              </a:rPr>
              <a:t> sans environnement activé installe au mauvais endroit.</a:t>
            </a:r>
            <a:endParaRPr lang="en-US" sz="1400" dirty="0"/>
          </a:p>
        </p:txBody>
      </p:sp>
      <p:sp>
        <p:nvSpPr>
          <p:cNvPr id="16" name="Shape 14"/>
          <p:cNvSpPr/>
          <p:nvPr/>
        </p:nvSpPr>
        <p:spPr>
          <a:xfrm>
            <a:off x="6233008" y="1417320"/>
            <a:ext cx="2567864" cy="2484120"/>
          </a:xfrm>
          <a:prstGeom prst="roundRect">
            <a:avLst>
              <a:gd name="adj" fmla="val 2945"/>
            </a:avLst>
          </a:prstGeom>
          <a:solidFill>
            <a:srgbClr val="EEF3F7"/>
          </a:solidFill>
          <a:ln/>
        </p:spPr>
      </p:sp>
      <p:sp>
        <p:nvSpPr>
          <p:cNvPr id="17" name="Shape 15"/>
          <p:cNvSpPr/>
          <p:nvPr/>
        </p:nvSpPr>
        <p:spPr>
          <a:xfrm>
            <a:off x="6461608" y="1691640"/>
            <a:ext cx="402336" cy="402336"/>
          </a:xfrm>
          <a:prstGeom prst="ellipse">
            <a:avLst/>
          </a:prstGeom>
          <a:solidFill>
            <a:srgbClr val="2F7D62"/>
          </a:solidFill>
          <a:ln/>
        </p:spPr>
      </p:sp>
      <p:sp>
        <p:nvSpPr>
          <p:cNvPr id="18" name="Text 16"/>
          <p:cNvSpPr txBox="1"/>
          <p:nvPr/>
        </p:nvSpPr>
        <p:spPr>
          <a:xfrm>
            <a:off x="6461608" y="1691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6461608" y="2240280"/>
            <a:ext cx="2110664" cy="487680"/>
          </a:xfrm>
          <a:prstGeom prst="rect">
            <a:avLst/>
          </a:prstGeom>
          <a:noFill/>
          <a:ln/>
        </p:spPr>
        <p:txBody>
          <a:bodyPr wrap="square" lIns="0" tIns="0" rIns="0" bIns="0" rtlCol="0" anchor="t"/>
          <a:lstStyle/>
          <a:p>
            <a:pPr indent="0" marL="0">
              <a:buNone/>
            </a:pPr>
            <a:r>
              <a:rPr lang="en-US" sz="1600" b="1" dirty="0">
                <a:solidFill>
                  <a:srgbClr val="1F3A5F"/>
                </a:solidFill>
                <a:latin typeface="Calibri" pitchFamily="34" charset="0"/>
                <a:ea typeface="Calibri" pitchFamily="34" charset="-122"/>
                <a:cs typeface="Calibri" pitchFamily="34" charset="-120"/>
              </a:rPr>
              <a:t>Un requirements.txt ambigu</a:t>
            </a:r>
            <a:endParaRPr lang="en-US" sz="1600" dirty="0"/>
          </a:p>
        </p:txBody>
      </p:sp>
      <p:sp>
        <p:nvSpPr>
          <p:cNvPr id="20" name="Text 18"/>
          <p:cNvSpPr txBox="1"/>
          <p:nvPr/>
        </p:nvSpPr>
        <p:spPr>
          <a:xfrm>
            <a:off x="6461608" y="2819400"/>
            <a:ext cx="2110664" cy="89916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Dépendances directes et indirectes mélangées, développement et production confondus.</a:t>
            </a:r>
            <a:endParaRPr lang="en-US" sz="1400" dirty="0"/>
          </a:p>
        </p:txBody>
      </p:sp>
      <p:sp>
        <p:nvSpPr>
          <p:cNvPr id="21" name="Shape 19"/>
          <p:cNvSpPr/>
          <p:nvPr/>
        </p:nvSpPr>
        <p:spPr>
          <a:xfrm>
            <a:off x="9075191" y="1417320"/>
            <a:ext cx="2567864" cy="2484120"/>
          </a:xfrm>
          <a:prstGeom prst="roundRect">
            <a:avLst>
              <a:gd name="adj" fmla="val 2945"/>
            </a:avLst>
          </a:prstGeom>
          <a:solidFill>
            <a:srgbClr val="EEF3F7"/>
          </a:solidFill>
          <a:ln/>
        </p:spPr>
      </p:sp>
      <p:sp>
        <p:nvSpPr>
          <p:cNvPr id="22" name="Shape 20"/>
          <p:cNvSpPr/>
          <p:nvPr/>
        </p:nvSpPr>
        <p:spPr>
          <a:xfrm>
            <a:off x="9303791" y="1691640"/>
            <a:ext cx="402336" cy="402336"/>
          </a:xfrm>
          <a:prstGeom prst="ellipse">
            <a:avLst/>
          </a:prstGeom>
          <a:solidFill>
            <a:srgbClr val="2F7D62"/>
          </a:solidFill>
          <a:ln/>
        </p:spPr>
      </p:sp>
      <p:sp>
        <p:nvSpPr>
          <p:cNvPr id="23" name="Text 21"/>
          <p:cNvSpPr txBox="1"/>
          <p:nvPr/>
        </p:nvSpPr>
        <p:spPr>
          <a:xfrm>
            <a:off x="9303791" y="1691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4" name="Text 22"/>
          <p:cNvSpPr txBox="1"/>
          <p:nvPr/>
        </p:nvSpPr>
        <p:spPr>
          <a:xfrm>
            <a:off x="9303791" y="2240280"/>
            <a:ext cx="2110664" cy="487680"/>
          </a:xfrm>
          <a:prstGeom prst="rect">
            <a:avLst/>
          </a:prstGeom>
          <a:noFill/>
          <a:ln/>
        </p:spPr>
        <p:txBody>
          <a:bodyPr wrap="square" lIns="0" tIns="0" rIns="0" bIns="0" rtlCol="0" anchor="t"/>
          <a:lstStyle/>
          <a:p>
            <a:pPr indent="0" marL="0">
              <a:buNone/>
            </a:pPr>
            <a:r>
              <a:rPr lang="en-US" sz="1600" b="1" dirty="0">
                <a:solidFill>
                  <a:srgbClr val="1F3A5F"/>
                </a:solidFill>
                <a:latin typeface="Calibri" pitchFamily="34" charset="0"/>
                <a:ea typeface="Calibri" pitchFamily="34" charset="-122"/>
                <a:cs typeface="Calibri" pitchFamily="34" charset="-120"/>
              </a:rPr>
              <a:t>Un verrouillage tardif</a:t>
            </a:r>
            <a:endParaRPr lang="en-US" sz="1600" dirty="0"/>
          </a:p>
        </p:txBody>
      </p:sp>
      <p:sp>
        <p:nvSpPr>
          <p:cNvPr id="25" name="Text 23"/>
          <p:cNvSpPr txBox="1"/>
          <p:nvPr/>
        </p:nvSpPr>
        <p:spPr>
          <a:xfrm>
            <a:off x="9303791" y="2819400"/>
            <a:ext cx="2110664" cy="899160"/>
          </a:xfrm>
          <a:prstGeom prst="rect">
            <a:avLst/>
          </a:prstGeom>
          <a:noFill/>
          <a:ln/>
        </p:spPr>
        <p:txBody>
          <a:bodyPr wrap="square" lIns="0" tIns="0" rIns="0" bIns="0" rtlCol="0" anchor="t"/>
          <a:lstStyle/>
          <a:p>
            <a:pPr indent="0" marL="0">
              <a:buNone/>
            </a:pPr>
            <a:r>
              <a:rPr lang="en-US" sz="1400" dirty="0">
                <a:solidFill>
                  <a:srgbClr val="1F3A5F"/>
                </a:solidFill>
                <a:latin typeface="Courier New" pitchFamily="34" charset="0"/>
                <a:ea typeface="Courier New" pitchFamily="34" charset="-122"/>
                <a:cs typeface="Courier New" pitchFamily="34" charset="-120"/>
              </a:rPr>
              <a:t>pip freeze</a:t>
            </a:r>
            <a:pPr indent="0" marL="0">
              <a:buNone/>
            </a:pPr>
            <a:r>
              <a:rPr lang="en-US" sz="1400" dirty="0">
                <a:solidFill>
                  <a:srgbClr val="1F2933"/>
                </a:solidFill>
                <a:latin typeface="Calibri" pitchFamily="34" charset="0"/>
                <a:ea typeface="Calibri" pitchFamily="34" charset="-122"/>
                <a:cs typeface="Calibri" pitchFamily="34" charset="-120"/>
              </a:rPr>
              <a:t> n'est qu'un instantané. Le format standard </a:t>
            </a:r>
            <a:pPr indent="0" marL="0">
              <a:buNone/>
            </a:pPr>
            <a:r>
              <a:rPr lang="en-US" sz="1400" dirty="0">
                <a:solidFill>
                  <a:srgbClr val="1F3A5F"/>
                </a:solidFill>
                <a:latin typeface="Courier New" pitchFamily="34" charset="0"/>
                <a:ea typeface="Courier New" pitchFamily="34" charset="-122"/>
                <a:cs typeface="Courier New" pitchFamily="34" charset="-120"/>
              </a:rPr>
              <a:t>pylock.toml</a:t>
            </a:r>
            <a:pPr indent="0" marL="0">
              <a:buNone/>
            </a:pPr>
            <a:r>
              <a:rPr lang="en-US" sz="1400" dirty="0">
                <a:solidFill>
                  <a:srgbClr val="1F2933"/>
                </a:solidFill>
                <a:latin typeface="Calibri" pitchFamily="34" charset="0"/>
                <a:ea typeface="Calibri" pitchFamily="34" charset="-122"/>
                <a:cs typeface="Calibri" pitchFamily="34" charset="-120"/>
              </a:rPr>
              <a:t> et </a:t>
            </a:r>
            <a:pPr indent="0" marL="0">
              <a:buNone/>
            </a:pPr>
            <a:r>
              <a:rPr lang="en-US" sz="1400" dirty="0">
                <a:solidFill>
                  <a:srgbClr val="1F3A5F"/>
                </a:solidFill>
                <a:latin typeface="Courier New" pitchFamily="34" charset="0"/>
                <a:ea typeface="Courier New" pitchFamily="34" charset="-122"/>
                <a:cs typeface="Courier New" pitchFamily="34" charset="-120"/>
              </a:rPr>
              <a:t>pip lock</a:t>
            </a:r>
            <a:pPr indent="0" marL="0">
              <a:buNone/>
            </a:pPr>
            <a:r>
              <a:rPr lang="en-US" sz="1400" dirty="0">
                <a:solidFill>
                  <a:srgbClr val="1F2933"/>
                </a:solidFill>
                <a:latin typeface="Calibri" pitchFamily="34" charset="0"/>
                <a:ea typeface="Calibri" pitchFamily="34" charset="-122"/>
                <a:cs typeface="Calibri" pitchFamily="34" charset="-120"/>
              </a:rPr>
              <a:t> sont récents.</a:t>
            </a:r>
            <a:endParaRPr lang="en-US" sz="1400" dirty="0"/>
          </a:p>
        </p:txBody>
      </p:sp>
      <p:sp>
        <p:nvSpPr>
          <p:cNvPr id="26" name="Shape 24"/>
          <p:cNvSpPr/>
          <p:nvPr/>
        </p:nvSpPr>
        <p:spPr>
          <a:xfrm>
            <a:off x="548640" y="4221480"/>
            <a:ext cx="11094415" cy="883920"/>
          </a:xfrm>
          <a:prstGeom prst="roundRect">
            <a:avLst>
              <a:gd name="adj" fmla="val 6207"/>
            </a:avLst>
          </a:prstGeom>
          <a:solidFill>
            <a:srgbClr val="E8F3EE"/>
          </a:solidFill>
          <a:ln/>
        </p:spPr>
      </p:sp>
      <p:sp>
        <p:nvSpPr>
          <p:cNvPr id="27" name="Text 25"/>
          <p:cNvSpPr txBox="1"/>
          <p:nvPr/>
        </p:nvSpPr>
        <p:spPr>
          <a:xfrm>
            <a:off x="822960" y="4221480"/>
            <a:ext cx="10545775" cy="88392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Sur un projet avec beaucoup de dépendances, la résolution des versions compatibles par pip peut aussi être longue.</a:t>
            </a:r>
            <a:endParaRPr lang="en-US" sz="1700" dirty="0"/>
          </a:p>
        </p:txBody>
      </p:sp>
      <p:sp>
        <p:nvSpPr>
          <p:cNvPr id="28" name="Text 26"/>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2743200" cy="1188720"/>
          </a:xfrm>
          <a:prstGeom prst="rect">
            <a:avLst/>
          </a:prstGeom>
          <a:noFill/>
          <a:ln/>
        </p:spPr>
        <p:txBody>
          <a:bodyPr wrap="square" lIns="0" tIns="0" rIns="0" bIns="0" rtlCol="0" anchor="ctr"/>
          <a:lstStyle/>
          <a:p>
            <a:pPr indent="0" marL="0">
              <a:buNone/>
            </a:pPr>
            <a:r>
              <a:rPr lang="en-US" sz="8000" b="1" dirty="0">
                <a:solidFill>
                  <a:srgbClr val="8FD1B5"/>
                </a:solidFill>
                <a:latin typeface="Cambria" pitchFamily="34" charset="0"/>
                <a:ea typeface="Cambria" pitchFamily="34" charset="-122"/>
                <a:cs typeface="Cambria" pitchFamily="34" charset="-120"/>
              </a:rPr>
              <a:t>02</a:t>
            </a:r>
            <a:endParaRPr lang="en-US" sz="8000" dirty="0"/>
          </a:p>
        </p:txBody>
      </p:sp>
      <p:sp>
        <p:nvSpPr>
          <p:cNvPr id="3" name="Text 1"/>
          <p:cNvSpPr txBox="1"/>
          <p:nvPr/>
        </p:nvSpPr>
        <p:spPr>
          <a:xfrm>
            <a:off x="731520" y="301752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uv en détail</a:t>
            </a:r>
            <a:endParaRPr lang="en-US" sz="4000" dirty="0"/>
          </a:p>
        </p:txBody>
      </p:sp>
      <p:sp>
        <p:nvSpPr>
          <p:cNvPr id="4" name="Text 2"/>
          <p:cNvSpPr txBox="1"/>
          <p:nvPr/>
        </p:nvSpPr>
        <p:spPr>
          <a:xfrm>
            <a:off x="731520" y="3977640"/>
            <a:ext cx="10515600" cy="548640"/>
          </a:xfrm>
          <a:prstGeom prst="rect">
            <a:avLst/>
          </a:prstGeom>
          <a:noFill/>
          <a:ln/>
        </p:spPr>
        <p:txBody>
          <a:bodyPr wrap="square" lIns="0" tIns="0" rIns="0" bIns="0" rtlCol="0" anchor="t"/>
          <a:lstStyle/>
          <a:p>
            <a:pPr indent="0" marL="0">
              <a:buNone/>
            </a:pPr>
            <a:r>
              <a:rPr lang="en-US" sz="2000" dirty="0">
                <a:solidFill>
                  <a:srgbClr val="C9D6E3"/>
                </a:solidFill>
                <a:latin typeface="Calibri" pitchFamily="34" charset="0"/>
                <a:ea typeface="Calibri" pitchFamily="34" charset="-122"/>
                <a:cs typeface="Calibri" pitchFamily="34" charset="-120"/>
              </a:rPr>
              <a:t>Commandes   |   add, sync, run   |   Version de Python</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UV EN DÉTAIL</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Les commandes courantes</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603791"/>
                <a:gridCol w="2943416"/>
                <a:gridCol w="2603791"/>
                <a:gridCol w="2943416"/>
              </a:tblGrid>
              <a:tr h="350774">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Commande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Rôle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Commande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Rôle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5077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uv init --package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créer un projet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uv lock</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recalculer le verrou</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5077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uv add pandas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ajouter une dépendance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uv tree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arbre des dépendances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5077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uv add --dev pytest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outil de développement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uv python install 3.13</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installer Python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5077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uv remove pandas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retirer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uv python pin 3.13</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fixer la version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5077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uv sync</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installer depuis le verrou</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uvx ruff check .</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outil ponctuel</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5077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uv run ...</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exécuter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uv export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vers requirements.txt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sp>
        <p:nvSpPr>
          <p:cNvPr id="7" name="Text 4"/>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UV EN DÉTAIL</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add pour l'auteur, sync pour les autres</a:t>
            </a:r>
            <a:endParaRPr lang="en-US" sz="3000" dirty="0"/>
          </a:p>
        </p:txBody>
      </p:sp>
      <p:sp>
        <p:nvSpPr>
          <p:cNvPr id="6" name="Shape 4"/>
          <p:cNvSpPr/>
          <p:nvPr/>
        </p:nvSpPr>
        <p:spPr>
          <a:xfrm>
            <a:off x="548640" y="1417320"/>
            <a:ext cx="3515258" cy="2103120"/>
          </a:xfrm>
          <a:prstGeom prst="roundRect">
            <a:avLst>
              <a:gd name="adj" fmla="val 3478"/>
            </a:avLst>
          </a:prstGeom>
          <a:solidFill>
            <a:srgbClr val="EEF3F7"/>
          </a:solidFill>
          <a:ln/>
        </p:spPr>
      </p:sp>
      <p:sp>
        <p:nvSpPr>
          <p:cNvPr id="7" name="Shape 5"/>
          <p:cNvSpPr/>
          <p:nvPr/>
        </p:nvSpPr>
        <p:spPr>
          <a:xfrm>
            <a:off x="777240" y="1691640"/>
            <a:ext cx="402336" cy="402336"/>
          </a:xfrm>
          <a:prstGeom prst="ellipse">
            <a:avLst/>
          </a:prstGeom>
          <a:solidFill>
            <a:srgbClr val="2F7D62"/>
          </a:solidFill>
          <a:ln/>
        </p:spPr>
      </p:sp>
      <p:sp>
        <p:nvSpPr>
          <p:cNvPr id="8" name="Text 6"/>
          <p:cNvSpPr txBox="1"/>
          <p:nvPr/>
        </p:nvSpPr>
        <p:spPr>
          <a:xfrm>
            <a:off x="777240" y="1691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777240" y="2240280"/>
            <a:ext cx="3058058"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uv add</a:t>
            </a:r>
            <a:endParaRPr lang="en-US" sz="1800" dirty="0"/>
          </a:p>
        </p:txBody>
      </p:sp>
      <p:sp>
        <p:nvSpPr>
          <p:cNvPr id="10" name="Text 8"/>
          <p:cNvSpPr txBox="1"/>
          <p:nvPr/>
        </p:nvSpPr>
        <p:spPr>
          <a:xfrm>
            <a:off x="777240" y="2606040"/>
            <a:ext cx="3058058" cy="7315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L'auteur ajoute une dépendance : </a:t>
            </a:r>
            <a:pPr indent="0" marL="0">
              <a:buNone/>
            </a:pPr>
            <a:r>
              <a:rPr lang="en-US" sz="1500" dirty="0">
                <a:solidFill>
                  <a:srgbClr val="1F3A5F"/>
                </a:solidFill>
                <a:latin typeface="Courier New" pitchFamily="34" charset="0"/>
                <a:ea typeface="Courier New" pitchFamily="34" charset="-122"/>
                <a:cs typeface="Courier New" pitchFamily="34" charset="-120"/>
              </a:rPr>
              <a:t>pyproject.toml</a:t>
            </a:r>
            <a:pPr indent="0" marL="0">
              <a:buNone/>
            </a:pPr>
            <a:r>
              <a:rPr lang="en-US" sz="1500" dirty="0">
                <a:solidFill>
                  <a:srgbClr val="1F2933"/>
                </a:solidFill>
                <a:latin typeface="Calibri" pitchFamily="34" charset="0"/>
                <a:ea typeface="Calibri" pitchFamily="34" charset="-122"/>
                <a:cs typeface="Calibri" pitchFamily="34" charset="-120"/>
              </a:rPr>
              <a:t>, </a:t>
            </a:r>
            <a:pPr indent="0" marL="0">
              <a:buNone/>
            </a:pPr>
            <a:r>
              <a:rPr lang="en-US" sz="1500" dirty="0">
                <a:solidFill>
                  <a:srgbClr val="1F3A5F"/>
                </a:solidFill>
                <a:latin typeface="Courier New" pitchFamily="34" charset="0"/>
                <a:ea typeface="Courier New" pitchFamily="34" charset="-122"/>
                <a:cs typeface="Courier New" pitchFamily="34" charset="-120"/>
              </a:rPr>
              <a:t>uv.lock</a:t>
            </a:r>
            <a:pPr indent="0" marL="0">
              <a:buNone/>
            </a:pPr>
            <a:r>
              <a:rPr lang="en-US" sz="1500" dirty="0">
                <a:solidFill>
                  <a:srgbClr val="1F2933"/>
                </a:solidFill>
                <a:latin typeface="Calibri" pitchFamily="34" charset="0"/>
                <a:ea typeface="Calibri" pitchFamily="34" charset="-122"/>
                <a:cs typeface="Calibri" pitchFamily="34" charset="-120"/>
              </a:rPr>
              <a:t> et l'environnement sont mis à jour.</a:t>
            </a:r>
            <a:endParaRPr lang="en-US" sz="1500" dirty="0"/>
          </a:p>
        </p:txBody>
      </p:sp>
      <p:sp>
        <p:nvSpPr>
          <p:cNvPr id="11" name="Shape 9"/>
          <p:cNvSpPr/>
          <p:nvPr/>
        </p:nvSpPr>
        <p:spPr>
          <a:xfrm>
            <a:off x="4338218" y="1417320"/>
            <a:ext cx="3515258" cy="2103120"/>
          </a:xfrm>
          <a:prstGeom prst="roundRect">
            <a:avLst>
              <a:gd name="adj" fmla="val 3478"/>
            </a:avLst>
          </a:prstGeom>
          <a:solidFill>
            <a:srgbClr val="EEF3F7"/>
          </a:solidFill>
          <a:ln/>
        </p:spPr>
      </p:sp>
      <p:sp>
        <p:nvSpPr>
          <p:cNvPr id="12" name="Shape 10"/>
          <p:cNvSpPr/>
          <p:nvPr/>
        </p:nvSpPr>
        <p:spPr>
          <a:xfrm>
            <a:off x="4566818" y="1691640"/>
            <a:ext cx="402336" cy="402336"/>
          </a:xfrm>
          <a:prstGeom prst="ellipse">
            <a:avLst/>
          </a:prstGeom>
          <a:solidFill>
            <a:srgbClr val="2F7D62"/>
          </a:solidFill>
          <a:ln/>
        </p:spPr>
      </p:sp>
      <p:sp>
        <p:nvSpPr>
          <p:cNvPr id="13" name="Text 11"/>
          <p:cNvSpPr txBox="1"/>
          <p:nvPr/>
        </p:nvSpPr>
        <p:spPr>
          <a:xfrm>
            <a:off x="4566818" y="1691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4566818" y="2240280"/>
            <a:ext cx="3058058"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uv sync</a:t>
            </a:r>
            <a:endParaRPr lang="en-US" sz="1800" dirty="0"/>
          </a:p>
        </p:txBody>
      </p:sp>
      <p:sp>
        <p:nvSpPr>
          <p:cNvPr id="15" name="Text 13"/>
          <p:cNvSpPr txBox="1"/>
          <p:nvPr/>
        </p:nvSpPr>
        <p:spPr>
          <a:xfrm>
            <a:off x="4566818" y="2606040"/>
            <a:ext cx="3058058" cy="7315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Celui qui récupère le projet installe exactement ce que décrit </a:t>
            </a:r>
            <a:pPr indent="0" marL="0">
              <a:buNone/>
            </a:pPr>
            <a:r>
              <a:rPr lang="en-US" sz="1500" dirty="0">
                <a:solidFill>
                  <a:srgbClr val="1F3A5F"/>
                </a:solidFill>
                <a:latin typeface="Courier New" pitchFamily="34" charset="0"/>
                <a:ea typeface="Courier New" pitchFamily="34" charset="-122"/>
                <a:cs typeface="Courier New" pitchFamily="34" charset="-120"/>
              </a:rPr>
              <a:t>uv.lock</a:t>
            </a:r>
            <a:pPr indent="0" marL="0">
              <a:buNone/>
            </a:pPr>
            <a:r>
              <a:rPr lang="en-US" sz="1500" dirty="0">
                <a:solidFill>
                  <a:srgbClr val="1F2933"/>
                </a:solidFill>
                <a:latin typeface="Calibri" pitchFamily="34" charset="0"/>
                <a:ea typeface="Calibri" pitchFamily="34" charset="-122"/>
                <a:cs typeface="Calibri" pitchFamily="34" charset="-120"/>
              </a:rPr>
              <a:t>, ni plus ni moins.</a:t>
            </a:r>
            <a:endParaRPr lang="en-US" sz="1500" dirty="0"/>
          </a:p>
        </p:txBody>
      </p:sp>
      <p:sp>
        <p:nvSpPr>
          <p:cNvPr id="16" name="Shape 14"/>
          <p:cNvSpPr/>
          <p:nvPr/>
        </p:nvSpPr>
        <p:spPr>
          <a:xfrm>
            <a:off x="8127797" y="1417320"/>
            <a:ext cx="3515258" cy="2103120"/>
          </a:xfrm>
          <a:prstGeom prst="roundRect">
            <a:avLst>
              <a:gd name="adj" fmla="val 3478"/>
            </a:avLst>
          </a:prstGeom>
          <a:solidFill>
            <a:srgbClr val="EEF3F7"/>
          </a:solidFill>
          <a:ln/>
        </p:spPr>
      </p:sp>
      <p:sp>
        <p:nvSpPr>
          <p:cNvPr id="17" name="Shape 15"/>
          <p:cNvSpPr/>
          <p:nvPr/>
        </p:nvSpPr>
        <p:spPr>
          <a:xfrm>
            <a:off x="8356397" y="1691640"/>
            <a:ext cx="402336" cy="402336"/>
          </a:xfrm>
          <a:prstGeom prst="ellipse">
            <a:avLst/>
          </a:prstGeom>
          <a:solidFill>
            <a:srgbClr val="2F7D62"/>
          </a:solidFill>
          <a:ln/>
        </p:spPr>
      </p:sp>
      <p:sp>
        <p:nvSpPr>
          <p:cNvPr id="18" name="Text 16"/>
          <p:cNvSpPr txBox="1"/>
          <p:nvPr/>
        </p:nvSpPr>
        <p:spPr>
          <a:xfrm>
            <a:off x="8356397" y="1691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8356397" y="2240280"/>
            <a:ext cx="3058058"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uv run</a:t>
            </a:r>
            <a:endParaRPr lang="en-US" sz="1800" dirty="0"/>
          </a:p>
        </p:txBody>
      </p:sp>
      <p:sp>
        <p:nvSpPr>
          <p:cNvPr id="20" name="Text 18"/>
          <p:cNvSpPr txBox="1"/>
          <p:nvPr/>
        </p:nvSpPr>
        <p:spPr>
          <a:xfrm>
            <a:off x="8356397" y="2606040"/>
            <a:ext cx="3058058" cy="7315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Vérifie que l'environnement est à jour, le synchronise si besoin, puis exécute.</a:t>
            </a:r>
            <a:endParaRPr lang="en-US" sz="1500" dirty="0"/>
          </a:p>
        </p:txBody>
      </p:sp>
      <p:sp>
        <p:nvSpPr>
          <p:cNvPr id="21" name="Shape 19"/>
          <p:cNvSpPr/>
          <p:nvPr/>
        </p:nvSpPr>
        <p:spPr>
          <a:xfrm>
            <a:off x="548640" y="3840480"/>
            <a:ext cx="11094415" cy="1191768"/>
          </a:xfrm>
          <a:prstGeom prst="rect">
            <a:avLst/>
          </a:prstGeom>
          <a:solidFill>
            <a:srgbClr val="F3F4F6"/>
          </a:solidFill>
          <a:ln/>
        </p:spPr>
      </p:sp>
      <p:sp>
        <p:nvSpPr>
          <p:cNvPr id="22" name="Text 20"/>
          <p:cNvSpPr txBox="1"/>
          <p:nvPr/>
        </p:nvSpPr>
        <p:spPr>
          <a:xfrm>
            <a:off x="731520" y="3986784"/>
            <a:ext cx="10728655" cy="89916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run python script.py</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run pytest</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run ventes --debut 2025-07</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run jupyter lab</a:t>
            </a:r>
            <a:endParaRPr lang="en-US" sz="1500" dirty="0"/>
          </a:p>
        </p:txBody>
      </p:sp>
      <p:sp>
        <p:nvSpPr>
          <p:cNvPr id="23" name="Text 2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UV EN DÉTAIL</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La version de Python</a:t>
            </a:r>
            <a:endParaRPr lang="en-US" sz="3000" dirty="0"/>
          </a:p>
        </p:txBody>
      </p:sp>
      <p:sp>
        <p:nvSpPr>
          <p:cNvPr id="6" name="Shape 4"/>
          <p:cNvSpPr/>
          <p:nvPr/>
        </p:nvSpPr>
        <p:spPr>
          <a:xfrm>
            <a:off x="548640" y="1417320"/>
            <a:ext cx="11094415" cy="966978"/>
          </a:xfrm>
          <a:prstGeom prst="rect">
            <a:avLst/>
          </a:prstGeom>
          <a:solidFill>
            <a:srgbClr val="F3F4F6"/>
          </a:solidFill>
          <a:ln/>
        </p:spPr>
      </p:sp>
      <p:sp>
        <p:nvSpPr>
          <p:cNvPr id="7" name="Text 5"/>
          <p:cNvSpPr txBox="1"/>
          <p:nvPr/>
        </p:nvSpPr>
        <p:spPr>
          <a:xfrm>
            <a:off x="731520" y="1563624"/>
            <a:ext cx="10728655" cy="67437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python list            # versions installées ou téléchargeables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python install 3.13</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python pin 3.13        # écrit 3.13 dans .python-version</a:t>
            </a:r>
            <a:endParaRPr lang="en-US" sz="1500" dirty="0"/>
          </a:p>
        </p:txBody>
      </p:sp>
      <p:sp>
        <p:nvSpPr>
          <p:cNvPr id="8" name="Text 6"/>
          <p:cNvSpPr txBox="1"/>
          <p:nvPr/>
        </p:nvSpPr>
        <p:spPr>
          <a:xfrm>
            <a:off x="548640" y="2704338"/>
            <a:ext cx="5318608" cy="1270000"/>
          </a:xfrm>
          <a:prstGeom prst="rect">
            <a:avLst/>
          </a:prstGeom>
          <a:noFill/>
          <a:ln/>
        </p:spPr>
        <p:txBody>
          <a:bodyPr wrap="square" lIns="0" tIns="0" rIns="0" bIns="0" rtlCol="0" anchor="t"/>
          <a:lstStyle/>
          <a:p>
            <a:pPr marL="254000" indent="-254000">
              <a:spcAft>
                <a:spcPts val="800"/>
              </a:spcAft>
              <a:buSzPct val="100000"/>
              <a:buChar char="•"/>
            </a:pPr>
            <a:r>
              <a:rPr lang="en-US" sz="1600" dirty="0">
                <a:solidFill>
                  <a:srgbClr val="1F3A5F"/>
                </a:solidFill>
                <a:latin typeface="Courier New" pitchFamily="34" charset="0"/>
                <a:ea typeface="Courier New" pitchFamily="34" charset="-122"/>
                <a:cs typeface="Courier New" pitchFamily="34" charset="-120"/>
              </a:rPr>
              <a:t>.python-version</a:t>
            </a:r>
            <a:pPr indent="0" marL="0">
              <a:buNone/>
            </a:pPr>
            <a:r>
              <a:rPr lang="en-US" sz="1600" dirty="0">
                <a:solidFill>
                  <a:srgbClr val="1F2933"/>
                </a:solidFill>
                <a:latin typeface="Calibri" pitchFamily="34" charset="0"/>
                <a:ea typeface="Calibri" pitchFamily="34" charset="-122"/>
                <a:cs typeface="Calibri" pitchFamily="34" charset="-120"/>
              </a:rPr>
              <a:t> : la version utilisée par le projet</a:t>
            </a:r>
            <a:endParaRPr lang="en-US" sz="1600" dirty="0"/>
          </a:p>
          <a:p>
            <a:pPr marL="254000" indent="-254000">
              <a:spcAft>
                <a:spcPts val="800"/>
              </a:spcAft>
              <a:buSzPct val="100000"/>
              <a:buChar char="•"/>
            </a:pPr>
            <a:r>
              <a:rPr lang="en-US" sz="1600" dirty="0">
                <a:solidFill>
                  <a:srgbClr val="1F3A5F"/>
                </a:solidFill>
                <a:latin typeface="Courier New" pitchFamily="34" charset="0"/>
                <a:ea typeface="Courier New" pitchFamily="34" charset="-122"/>
                <a:cs typeface="Courier New" pitchFamily="34" charset="-120"/>
              </a:rPr>
              <a:t>requires-python</a:t>
            </a:r>
            <a:pPr indent="0" marL="0">
              <a:buNone/>
            </a:pPr>
            <a:r>
              <a:rPr lang="en-US" sz="1600" dirty="0">
                <a:solidFill>
                  <a:srgbClr val="1F2933"/>
                </a:solidFill>
                <a:latin typeface="Calibri" pitchFamily="34" charset="0"/>
                <a:ea typeface="Calibri" pitchFamily="34" charset="-122"/>
                <a:cs typeface="Calibri" pitchFamily="34" charset="-120"/>
              </a:rPr>
              <a:t> : les versions acceptées ; uv refuse de fixer une version qui ne le respecte pas</a:t>
            </a:r>
            <a:endParaRPr lang="en-US" sz="1600" dirty="0"/>
          </a:p>
        </p:txBody>
      </p:sp>
      <p:sp>
        <p:nvSpPr>
          <p:cNvPr id="9" name="Shape 7"/>
          <p:cNvSpPr/>
          <p:nvPr/>
        </p:nvSpPr>
        <p:spPr>
          <a:xfrm>
            <a:off x="6324448" y="2704338"/>
            <a:ext cx="5318608" cy="1143000"/>
          </a:xfrm>
          <a:prstGeom prst="roundRect">
            <a:avLst>
              <a:gd name="adj" fmla="val 4800"/>
            </a:avLst>
          </a:prstGeom>
          <a:solidFill>
            <a:srgbClr val="E8F3EE"/>
          </a:solidFill>
          <a:ln/>
        </p:spPr>
      </p:sp>
      <p:sp>
        <p:nvSpPr>
          <p:cNvPr id="10" name="Text 8"/>
          <p:cNvSpPr txBox="1"/>
          <p:nvPr/>
        </p:nvSpPr>
        <p:spPr>
          <a:xfrm>
            <a:off x="6598768" y="2704338"/>
            <a:ext cx="4769968" cy="114300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Sur les postes, Python 3.12 est déjà installé : </a:t>
            </a:r>
            <a:pPr indent="0" marL="0">
              <a:buNone/>
            </a:pPr>
            <a:r>
              <a:rPr lang="en-US" sz="1700" dirty="0">
                <a:solidFill>
                  <a:srgbClr val="2F7D62"/>
                </a:solidFill>
                <a:latin typeface="Courier New" pitchFamily="34" charset="0"/>
                <a:ea typeface="Courier New" pitchFamily="34" charset="-122"/>
                <a:cs typeface="Courier New" pitchFamily="34" charset="-120"/>
              </a:rPr>
              <a:t>uv init</a:t>
            </a:r>
            <a:pPr indent="0" marL="0">
              <a:buNone/>
            </a:pPr>
            <a:r>
              <a:rPr lang="en-US" sz="1700" dirty="0">
                <a:solidFill>
                  <a:srgbClr val="1F3A5F"/>
                </a:solidFill>
                <a:latin typeface="Calibri" pitchFamily="34" charset="0"/>
                <a:ea typeface="Calibri" pitchFamily="34" charset="-122"/>
                <a:cs typeface="Calibri" pitchFamily="34" charset="-120"/>
              </a:rPr>
              <a:t> le détecte et l'inscrit dans </a:t>
            </a:r>
            <a:pPr indent="0" marL="0">
              <a:buNone/>
            </a:pPr>
            <a:r>
              <a:rPr lang="en-US" sz="1700" dirty="0">
                <a:solidFill>
                  <a:srgbClr val="2F7D62"/>
                </a:solidFill>
                <a:latin typeface="Courier New" pitchFamily="34" charset="0"/>
                <a:ea typeface="Courier New" pitchFamily="34" charset="-122"/>
                <a:cs typeface="Courier New" pitchFamily="34" charset="-120"/>
              </a:rPr>
              <a:t>.python-version</a:t>
            </a:r>
            <a:pPr indent="0" marL="0">
              <a:buNone/>
            </a:pPr>
            <a:r>
              <a:rPr lang="en-US" sz="1700" dirty="0">
                <a:solidFill>
                  <a:srgbClr val="1F3A5F"/>
                </a:solidFill>
                <a:latin typeface="Calibri" pitchFamily="34" charset="0"/>
                <a:ea typeface="Calibri" pitchFamily="34" charset="-122"/>
                <a:cs typeface="Calibri" pitchFamily="34" charset="-120"/>
              </a:rPr>
              <a:t>, sans rien télécharger.</a:t>
            </a:r>
            <a:endParaRPr lang="en-US" sz="1700" dirty="0"/>
          </a:p>
        </p:txBody>
      </p:sp>
      <p:sp>
        <p:nvSpPr>
          <p:cNvPr id="11" name="Text 9"/>
          <p:cNvSpPr txBox="1"/>
          <p:nvPr/>
        </p:nvSpPr>
        <p:spPr>
          <a:xfrm>
            <a:off x="6324448" y="4167378"/>
            <a:ext cx="5318608" cy="59436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On ne change de version que si une bibliothèque l'exige.</a:t>
            </a:r>
            <a:endParaRPr lang="en-US" sz="1500" dirty="0"/>
          </a:p>
        </p:txBody>
      </p:sp>
      <p:sp>
        <p:nvSpPr>
          <p:cNvPr id="12" name="Text 10"/>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2743200" cy="1188720"/>
          </a:xfrm>
          <a:prstGeom prst="rect">
            <a:avLst/>
          </a:prstGeom>
          <a:noFill/>
          <a:ln/>
        </p:spPr>
        <p:txBody>
          <a:bodyPr wrap="square" lIns="0" tIns="0" rIns="0" bIns="0" rtlCol="0" anchor="ctr"/>
          <a:lstStyle/>
          <a:p>
            <a:pPr indent="0" marL="0">
              <a:buNone/>
            </a:pPr>
            <a:r>
              <a:rPr lang="en-US" sz="8000" b="1" dirty="0">
                <a:solidFill>
                  <a:srgbClr val="8FD1B5"/>
                </a:solidFill>
                <a:latin typeface="Cambria" pitchFamily="34" charset="0"/>
                <a:ea typeface="Cambria" pitchFamily="34" charset="-122"/>
                <a:cs typeface="Cambria" pitchFamily="34" charset="-120"/>
              </a:rPr>
              <a:t>03</a:t>
            </a:r>
            <a:endParaRPr lang="en-US" sz="8000" dirty="0"/>
          </a:p>
        </p:txBody>
      </p:sp>
      <p:sp>
        <p:nvSpPr>
          <p:cNvPr id="3" name="Text 1"/>
          <p:cNvSpPr txBox="1"/>
          <p:nvPr/>
        </p:nvSpPr>
        <p:spPr>
          <a:xfrm>
            <a:off x="731520" y="301752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Le fichier pyproject.toml</a:t>
            </a:r>
            <a:endParaRPr lang="en-US" sz="4000" dirty="0"/>
          </a:p>
        </p:txBody>
      </p:sp>
      <p:sp>
        <p:nvSpPr>
          <p:cNvPr id="4" name="Text 2"/>
          <p:cNvSpPr txBox="1"/>
          <p:nvPr/>
        </p:nvSpPr>
        <p:spPr>
          <a:xfrm>
            <a:off x="731520" y="3977640"/>
            <a:ext cx="10515600" cy="548640"/>
          </a:xfrm>
          <a:prstGeom prst="rect">
            <a:avLst/>
          </a:prstGeom>
          <a:noFill/>
          <a:ln/>
        </p:spPr>
        <p:txBody>
          <a:bodyPr wrap="square" lIns="0" tIns="0" rIns="0" bIns="0" rtlCol="0" anchor="t"/>
          <a:lstStyle/>
          <a:p>
            <a:pPr indent="0" marL="0">
              <a:buNone/>
            </a:pPr>
            <a:r>
              <a:rPr lang="en-US" sz="2000" dirty="0">
                <a:solidFill>
                  <a:srgbClr val="C9D6E3"/>
                </a:solidFill>
                <a:latin typeface="Calibri" pitchFamily="34" charset="0"/>
                <a:ea typeface="Calibri" pitchFamily="34" charset="-122"/>
                <a:cs typeface="Calibri" pitchFamily="34" charset="-120"/>
              </a:rPr>
              <a:t>Sections   |   Contraintes de version   |   TP6, étape 1</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LE FICHIER PYPROJECT.TOML</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Anatomie d'un pyproject.toml</a:t>
            </a:r>
            <a:endParaRPr lang="en-US" sz="3000" dirty="0"/>
          </a:p>
        </p:txBody>
      </p:sp>
      <p:sp>
        <p:nvSpPr>
          <p:cNvPr id="6" name="Shape 4"/>
          <p:cNvSpPr/>
          <p:nvPr/>
        </p:nvSpPr>
        <p:spPr>
          <a:xfrm>
            <a:off x="548640" y="1417320"/>
            <a:ext cx="5802117" cy="4248912"/>
          </a:xfrm>
          <a:prstGeom prst="rect">
            <a:avLst/>
          </a:prstGeom>
          <a:solidFill>
            <a:srgbClr val="F3F4F6"/>
          </a:solidFill>
          <a:ln/>
        </p:spPr>
      </p:sp>
      <p:sp>
        <p:nvSpPr>
          <p:cNvPr id="7" name="Text 5"/>
          <p:cNvSpPr txBox="1"/>
          <p:nvPr/>
        </p:nvSpPr>
        <p:spPr>
          <a:xfrm>
            <a:off x="731520" y="1563624"/>
            <a:ext cx="5436357" cy="3956304"/>
          </a:xfrm>
          <a:prstGeom prst="rect">
            <a:avLst/>
          </a:prstGeom>
          <a:noFill/>
          <a:ln/>
        </p:spPr>
        <p:txBody>
          <a:bodyPr wrap="square" lIns="0" tIns="0" rIns="0" bIns="0" rtlCol="0" anchor="t"/>
          <a:lstStyle/>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[project]</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name = "ventes"</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version = "0.1.0"</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requires-python = "&gt;=3.11"</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dependencies = [</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"pandas&gt;=2.2",</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"pyarrow&gt;=15",</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"pyyaml&gt;=6",</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[project.scripts]</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ventes = "ventes.cli:main"</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[dependency-groups]</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dev = ["mypy&gt;=1.10", "pytest&gt;=8", "ruff&gt;=0.6"]</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[tool.ruff]</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line-length = 120</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[build-system]</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requires = ["uv_build&gt;=0.12,&lt;0.13"]</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build-backend = "uv_build"</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807957" y="1417320"/>
          <a:ext cx="4835098" cy="914400"/>
        </p:xfrm>
        <a:graphic>
          <a:graphicData uri="http://schemas.openxmlformats.org/drawingml/2006/table">
            <a:tbl>
              <a:tblPr/>
              <a:tblGrid>
                <a:gridCol w="2102216"/>
                <a:gridCol w="2732881"/>
              </a:tblGrid>
              <a:tr h="336169">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Section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Contenu</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36169">
                <a:tc>
                  <a:txBody>
                    <a:bodyPr/>
                    <a:lstStyle/>
                    <a:p>
                      <a:pPr indent="0" marL="0">
                        <a:buNone/>
                      </a:pPr>
                      <a:r>
                        <a:rPr lang="en-US" sz="1300" dirty="0">
                          <a:solidFill>
                            <a:srgbClr val="1F3A5F"/>
                          </a:solidFill>
                          <a:latin typeface="Courier New" pitchFamily="34" charset="0"/>
                          <a:ea typeface="Courier New" pitchFamily="34" charset="-122"/>
                          <a:cs typeface="Courier New" pitchFamily="34" charset="-120"/>
                        </a:rPr>
                        <a:t>[project]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identité, Python, dépendances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36169">
                <a:tc>
                  <a:txBody>
                    <a:bodyPr/>
                    <a:lstStyle/>
                    <a:p>
                      <a:pPr indent="0" marL="0">
                        <a:buNone/>
                      </a:pPr>
                      <a:r>
                        <a:rPr lang="en-US" sz="1300" dirty="0">
                          <a:solidFill>
                            <a:srgbClr val="1F3A5F"/>
                          </a:solidFill>
                          <a:latin typeface="Courier New" pitchFamily="34" charset="0"/>
                          <a:ea typeface="Courier New" pitchFamily="34" charset="-122"/>
                          <a:cs typeface="Courier New" pitchFamily="34" charset="-120"/>
                        </a:rPr>
                        <a:t>[project.scripts]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les commandes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36169">
                <a:tc>
                  <a:txBody>
                    <a:bodyPr/>
                    <a:lstStyle/>
                    <a:p>
                      <a:pPr indent="0" marL="0">
                        <a:buNone/>
                      </a:pPr>
                      <a:r>
                        <a:rPr lang="en-US" sz="1300" dirty="0">
                          <a:solidFill>
                            <a:srgbClr val="1F3A5F"/>
                          </a:solidFill>
                          <a:latin typeface="Courier New" pitchFamily="34" charset="0"/>
                          <a:ea typeface="Courier New" pitchFamily="34" charset="-122"/>
                          <a:cs typeface="Courier New" pitchFamily="34" charset="-120"/>
                        </a:rPr>
                        <a:t>[dependency-groups]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outils de développement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36169">
                <a:tc>
                  <a:txBody>
                    <a:bodyPr/>
                    <a:lstStyle/>
                    <a:p>
                      <a:pPr indent="0" marL="0">
                        <a:buNone/>
                      </a:pPr>
                      <a:r>
                        <a:rPr lang="en-US" sz="1300" dirty="0">
                          <a:solidFill>
                            <a:srgbClr val="1F3A5F"/>
                          </a:solidFill>
                          <a:latin typeface="Courier New" pitchFamily="34" charset="0"/>
                          <a:ea typeface="Courier New" pitchFamily="34" charset="-122"/>
                          <a:cs typeface="Courier New" pitchFamily="34" charset="-120"/>
                        </a:rPr>
                        <a:t>[tool.xxx]</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réglages des outils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36169">
                <a:tc>
                  <a:txBody>
                    <a:bodyPr/>
                    <a:lstStyle/>
                    <a:p>
                      <a:pPr indent="0" marL="0">
                        <a:buNone/>
                      </a:pPr>
                      <a:r>
                        <a:rPr lang="en-US" sz="1300" dirty="0">
                          <a:solidFill>
                            <a:srgbClr val="1F3A5F"/>
                          </a:solidFill>
                          <a:latin typeface="Courier New" pitchFamily="34" charset="0"/>
                          <a:ea typeface="Courier New" pitchFamily="34" charset="-122"/>
                          <a:cs typeface="Courier New" pitchFamily="34" charset="-120"/>
                        </a:rPr>
                        <a:t>[build-system]</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construction du paquet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9" name="Text 6"/>
          <p:cNvSpPr txBox="1"/>
          <p:nvPr/>
        </p:nvSpPr>
        <p:spPr>
          <a:xfrm>
            <a:off x="6807957" y="3754374"/>
            <a:ext cx="4835098" cy="777240"/>
          </a:xfrm>
          <a:prstGeom prst="rect">
            <a:avLst/>
          </a:prstGeom>
          <a:noFill/>
          <a:ln/>
        </p:spPr>
        <p:txBody>
          <a:bodyPr wrap="square" lIns="0" tIns="0" rIns="0" bIns="0" rtlCol="0" anchor="t"/>
          <a:lstStyle/>
          <a:p>
            <a:pPr indent="0" marL="0">
              <a:buNone/>
            </a:pPr>
            <a:r>
              <a:rPr lang="en-US" sz="1400" dirty="0">
                <a:solidFill>
                  <a:srgbClr val="6B7280"/>
                </a:solidFill>
                <a:latin typeface="Calibri" pitchFamily="34" charset="0"/>
                <a:ea typeface="Calibri" pitchFamily="34" charset="-122"/>
                <a:cs typeface="Calibri" pitchFamily="34" charset="-120"/>
              </a:rPr>
              <a:t>Les dépendances se modifient avec </a:t>
            </a:r>
            <a:pPr indent="0" marL="0">
              <a:buNone/>
            </a:pPr>
            <a:r>
              <a:rPr lang="en-US" sz="1400" dirty="0">
                <a:solidFill>
                  <a:srgbClr val="1F3A5F"/>
                </a:solidFill>
                <a:latin typeface="Courier New" pitchFamily="34" charset="0"/>
                <a:ea typeface="Courier New" pitchFamily="34" charset="-122"/>
                <a:cs typeface="Courier New" pitchFamily="34" charset="-120"/>
              </a:rPr>
              <a:t>uv add</a:t>
            </a:r>
            <a:pPr indent="0" marL="0">
              <a:buNone/>
            </a:pPr>
            <a:r>
              <a:rPr lang="en-US" sz="1400" dirty="0">
                <a:solidFill>
                  <a:srgbClr val="6B7280"/>
                </a:solidFill>
                <a:latin typeface="Calibri" pitchFamily="34" charset="0"/>
                <a:ea typeface="Calibri" pitchFamily="34" charset="-122"/>
                <a:cs typeface="Calibri" pitchFamily="34" charset="-120"/>
              </a:rPr>
              <a:t> et </a:t>
            </a:r>
            <a:pPr indent="0" marL="0">
              <a:buNone/>
            </a:pPr>
            <a:r>
              <a:rPr lang="en-US" sz="1400" dirty="0">
                <a:solidFill>
                  <a:srgbClr val="1F3A5F"/>
                </a:solidFill>
                <a:latin typeface="Courier New" pitchFamily="34" charset="0"/>
                <a:ea typeface="Courier New" pitchFamily="34" charset="-122"/>
                <a:cs typeface="Courier New" pitchFamily="34" charset="-120"/>
              </a:rPr>
              <a:t>uv remove</a:t>
            </a:r>
            <a:pPr indent="0" marL="0">
              <a:buNone/>
            </a:pPr>
            <a:r>
              <a:rPr lang="en-US" sz="1400" dirty="0">
                <a:solidFill>
                  <a:srgbClr val="6B7280"/>
                </a:solidFill>
                <a:latin typeface="Calibri" pitchFamily="34" charset="0"/>
                <a:ea typeface="Calibri" pitchFamily="34" charset="-122"/>
                <a:cs typeface="Calibri" pitchFamily="34" charset="-120"/>
              </a:rPr>
              <a:t>, pour que le verrou reste cohérent. Les réglages </a:t>
            </a:r>
            <a:pPr indent="0" marL="0">
              <a:buNone/>
            </a:pPr>
            <a:r>
              <a:rPr lang="en-US" sz="1400" dirty="0">
                <a:solidFill>
                  <a:srgbClr val="1F3A5F"/>
                </a:solidFill>
                <a:latin typeface="Courier New" pitchFamily="34" charset="0"/>
                <a:ea typeface="Courier New" pitchFamily="34" charset="-122"/>
                <a:cs typeface="Courier New" pitchFamily="34" charset="-120"/>
              </a:rPr>
              <a:t>[tool]</a:t>
            </a:r>
            <a:pPr indent="0" marL="0">
              <a:buNone/>
            </a:pPr>
            <a:r>
              <a:rPr lang="en-US" sz="1400" dirty="0">
                <a:solidFill>
                  <a:srgbClr val="6B7280"/>
                </a:solidFill>
                <a:latin typeface="Calibri" pitchFamily="34" charset="0"/>
                <a:ea typeface="Calibri" pitchFamily="34" charset="-122"/>
                <a:cs typeface="Calibri" pitchFamily="34" charset="-120"/>
              </a:rPr>
              <a:t> se modifient à la main.</a:t>
            </a:r>
            <a:endParaRPr lang="en-US" sz="1400" dirty="0"/>
          </a:p>
        </p:txBody>
      </p:sp>
      <p:sp>
        <p:nvSpPr>
          <p:cNvPr id="10"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LE FICHIER PYPROJECT.TOML</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Les contraintes de version</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5318608" cy="914400"/>
        </p:xfrm>
        <a:graphic>
          <a:graphicData uri="http://schemas.openxmlformats.org/drawingml/2006/table">
            <a:tbl>
              <a:tblPr/>
              <a:tblGrid>
                <a:gridCol w="2127443"/>
                <a:gridCol w="3191165"/>
              </a:tblGrid>
              <a:tr h="365379">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Contrainte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Signification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pandas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n'importe quelle version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pandas&gt;=2.2</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2.2 ou plus récente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pandas&gt;=2.2,&lt;3</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2.x à partir de 2.2</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pandas~=2.2</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idem : compatible 2.2</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pandas==3.0.6</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exactement cette version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7" name="Shape 4"/>
          <p:cNvSpPr/>
          <p:nvPr/>
        </p:nvSpPr>
        <p:spPr>
          <a:xfrm>
            <a:off x="6324448" y="1417320"/>
            <a:ext cx="5318608" cy="1143000"/>
          </a:xfrm>
          <a:prstGeom prst="roundRect">
            <a:avLst>
              <a:gd name="adj" fmla="val 4800"/>
            </a:avLst>
          </a:prstGeom>
          <a:solidFill>
            <a:srgbClr val="E8F3EE"/>
          </a:solidFill>
          <a:ln/>
        </p:spPr>
      </p:sp>
      <p:sp>
        <p:nvSpPr>
          <p:cNvPr id="8" name="Text 5"/>
          <p:cNvSpPr txBox="1"/>
          <p:nvPr/>
        </p:nvSpPr>
        <p:spPr>
          <a:xfrm>
            <a:off x="6598768" y="1417320"/>
            <a:ext cx="4769968" cy="114300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Dans </a:t>
            </a:r>
            <a:pPr indent="0" marL="0">
              <a:buNone/>
            </a:pPr>
            <a:r>
              <a:rPr lang="en-US" sz="1700" dirty="0">
                <a:solidFill>
                  <a:srgbClr val="2F7D62"/>
                </a:solidFill>
                <a:latin typeface="Courier New" pitchFamily="34" charset="0"/>
                <a:ea typeface="Courier New" pitchFamily="34" charset="-122"/>
                <a:cs typeface="Courier New" pitchFamily="34" charset="-120"/>
              </a:rPr>
              <a:t>pyproject.toml</a:t>
            </a:r>
            <a:pPr indent="0" marL="0">
              <a:buNone/>
            </a:pPr>
            <a:r>
              <a:rPr lang="en-US" sz="1700" dirty="0">
                <a:solidFill>
                  <a:srgbClr val="1F3A5F"/>
                </a:solidFill>
                <a:latin typeface="Calibri" pitchFamily="34" charset="0"/>
                <a:ea typeface="Calibri" pitchFamily="34" charset="-122"/>
                <a:cs typeface="Calibri" pitchFamily="34" charset="-120"/>
              </a:rPr>
              <a:t> : des contraintes </a:t>
            </a:r>
            <a:pPr indent="0" marL="0">
              <a:buNone/>
            </a:pPr>
            <a:r>
              <a:rPr lang="en-US" sz="1700" b="1" dirty="0">
                <a:solidFill>
                  <a:srgbClr val="1F3A5F"/>
                </a:solidFill>
                <a:latin typeface="Calibri" pitchFamily="34" charset="0"/>
                <a:ea typeface="Calibri" pitchFamily="34" charset="-122"/>
                <a:cs typeface="Calibri" pitchFamily="34" charset="-120"/>
              </a:rPr>
              <a:t>larges</a:t>
            </a:r>
            <a:pPr indent="0" marL="0">
              <a:buNone/>
            </a:pPr>
            <a:r>
              <a:rPr lang="en-US" sz="1700" dirty="0">
                <a:solidFill>
                  <a:srgbClr val="1F3A5F"/>
                </a:solidFill>
                <a:latin typeface="Calibri" pitchFamily="34" charset="0"/>
                <a:ea typeface="Calibri" pitchFamily="34" charset="-122"/>
                <a:cs typeface="Calibri" pitchFamily="34" charset="-120"/>
              </a:rPr>
              <a:t>, qui disent avec quoi le code fonctionne. Dans </a:t>
            </a:r>
            <a:pPr indent="0" marL="0">
              <a:buNone/>
            </a:pPr>
            <a:r>
              <a:rPr lang="en-US" sz="1700" dirty="0">
                <a:solidFill>
                  <a:srgbClr val="2F7D62"/>
                </a:solidFill>
                <a:latin typeface="Courier New" pitchFamily="34" charset="0"/>
                <a:ea typeface="Courier New" pitchFamily="34" charset="-122"/>
                <a:cs typeface="Courier New" pitchFamily="34" charset="-120"/>
              </a:rPr>
              <a:t>uv.lock</a:t>
            </a:r>
            <a:pPr indent="0" marL="0">
              <a:buNone/>
            </a:pPr>
            <a:r>
              <a:rPr lang="en-US" sz="1700" dirty="0">
                <a:solidFill>
                  <a:srgbClr val="1F3A5F"/>
                </a:solidFill>
                <a:latin typeface="Calibri" pitchFamily="34" charset="0"/>
                <a:ea typeface="Calibri" pitchFamily="34" charset="-122"/>
                <a:cs typeface="Calibri" pitchFamily="34" charset="-120"/>
              </a:rPr>
              <a:t> : les versions </a:t>
            </a:r>
            <a:pPr indent="0" marL="0">
              <a:buNone/>
            </a:pPr>
            <a:r>
              <a:rPr lang="en-US" sz="1700" b="1" dirty="0">
                <a:solidFill>
                  <a:srgbClr val="1F3A5F"/>
                </a:solidFill>
                <a:latin typeface="Calibri" pitchFamily="34" charset="0"/>
                <a:ea typeface="Calibri" pitchFamily="34" charset="-122"/>
                <a:cs typeface="Calibri" pitchFamily="34" charset="-120"/>
              </a:rPr>
              <a:t>exactes</a:t>
            </a:r>
            <a:pPr indent="0" marL="0">
              <a:buNone/>
            </a:pPr>
            <a:r>
              <a:rPr lang="en-US" sz="1700" dirty="0">
                <a:solidFill>
                  <a:srgbClr val="1F3A5F"/>
                </a:solidFill>
                <a:latin typeface="Calibri" pitchFamily="34" charset="0"/>
                <a:ea typeface="Calibri" pitchFamily="34" charset="-122"/>
                <a:cs typeface="Calibri" pitchFamily="34" charset="-120"/>
              </a:rPr>
              <a:t>.</a:t>
            </a:r>
            <a:endParaRPr lang="en-US" sz="1700" dirty="0"/>
          </a:p>
        </p:txBody>
      </p:sp>
      <p:sp>
        <p:nvSpPr>
          <p:cNvPr id="9" name="Text 6"/>
          <p:cNvSpPr txBox="1"/>
          <p:nvPr/>
        </p:nvSpPr>
        <p:spPr>
          <a:xfrm>
            <a:off x="6324448" y="2880360"/>
            <a:ext cx="5318608" cy="594360"/>
          </a:xfrm>
          <a:prstGeom prst="rect">
            <a:avLst/>
          </a:prstGeom>
          <a:noFill/>
          <a:ln/>
        </p:spPr>
        <p:txBody>
          <a:bodyPr wrap="square" lIns="0" tIns="0" rIns="0" bIns="0" rtlCol="0" anchor="t"/>
          <a:lstStyle/>
          <a:p>
            <a:pPr indent="0" marL="0">
              <a:buNone/>
            </a:pPr>
            <a:r>
              <a:rPr lang="en-US" sz="1500" dirty="0">
                <a:solidFill>
                  <a:srgbClr val="1F3A5F"/>
                </a:solidFill>
                <a:latin typeface="Courier New" pitchFamily="34" charset="0"/>
                <a:ea typeface="Courier New" pitchFamily="34" charset="-122"/>
                <a:cs typeface="Courier New" pitchFamily="34" charset="-120"/>
              </a:rPr>
              <a:t>uv add pandas</a:t>
            </a:r>
            <a:pPr indent="0" marL="0">
              <a:buNone/>
            </a:pPr>
            <a:r>
              <a:rPr lang="en-US" sz="1500" dirty="0">
                <a:solidFill>
                  <a:srgbClr val="6B7280"/>
                </a:solidFill>
                <a:latin typeface="Calibri" pitchFamily="34" charset="0"/>
                <a:ea typeface="Calibri" pitchFamily="34" charset="-122"/>
                <a:cs typeface="Calibri" pitchFamily="34" charset="-120"/>
              </a:rPr>
              <a:t> écrit la version installée comme minimum, par exemple </a:t>
            </a:r>
            <a:pPr indent="0" marL="0">
              <a:buNone/>
            </a:pPr>
            <a:r>
              <a:rPr lang="en-US" sz="1500" dirty="0">
                <a:solidFill>
                  <a:srgbClr val="1F3A5F"/>
                </a:solidFill>
                <a:latin typeface="Courier New" pitchFamily="34" charset="0"/>
                <a:ea typeface="Courier New" pitchFamily="34" charset="-122"/>
                <a:cs typeface="Courier New" pitchFamily="34" charset="-120"/>
              </a:rPr>
              <a:t>pandas&gt;=3.0.6</a:t>
            </a:r>
            <a:pPr indent="0" marL="0">
              <a:buNone/>
            </a:pPr>
            <a:r>
              <a:rPr lang="en-US" sz="1500" dirty="0">
                <a:solidFill>
                  <a:srgbClr val="6B7280"/>
                </a:solidFill>
                <a:latin typeface="Calibri" pitchFamily="34" charset="0"/>
                <a:ea typeface="Calibri" pitchFamily="34" charset="-122"/>
                <a:cs typeface="Calibri" pitchFamily="34" charset="-120"/>
              </a:rPr>
              <a:t>.</a:t>
            </a:r>
            <a:endParaRPr lang="en-US" sz="1500" dirty="0"/>
          </a:p>
        </p:txBody>
      </p:sp>
      <p:sp>
        <p:nvSpPr>
          <p:cNvPr id="10"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LE FICHIER PYPROJECT.TOML</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Pratique : TP6, étape 1</a:t>
            </a:r>
            <a:endParaRPr lang="en-US" sz="3000" dirty="0"/>
          </a:p>
        </p:txBody>
      </p:sp>
      <p:sp>
        <p:nvSpPr>
          <p:cNvPr id="6" name="Text 4"/>
          <p:cNvSpPr txBox="1"/>
          <p:nvPr/>
        </p:nvSpPr>
        <p:spPr>
          <a:xfrm>
            <a:off x="548640" y="1417320"/>
            <a:ext cx="11094415" cy="411480"/>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Créer le projet fil rouge, avec un nom qui dit ce qu'il fait</a:t>
            </a:r>
            <a:endParaRPr lang="en-US" sz="1800" dirty="0"/>
          </a:p>
        </p:txBody>
      </p:sp>
      <p:sp>
        <p:nvSpPr>
          <p:cNvPr id="7" name="Text 5"/>
          <p:cNvSpPr txBox="1"/>
          <p:nvPr/>
        </p:nvSpPr>
        <p:spPr>
          <a:xfrm>
            <a:off x="548640" y="2011680"/>
            <a:ext cx="5318608"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Terminal</a:t>
            </a:r>
            <a:endParaRPr lang="en-US" sz="1200" dirty="0"/>
          </a:p>
        </p:txBody>
      </p:sp>
      <p:sp>
        <p:nvSpPr>
          <p:cNvPr id="8" name="Shape 6"/>
          <p:cNvSpPr/>
          <p:nvPr/>
        </p:nvSpPr>
        <p:spPr>
          <a:xfrm>
            <a:off x="548640" y="2304288"/>
            <a:ext cx="5318608" cy="1641348"/>
          </a:xfrm>
          <a:prstGeom prst="rect">
            <a:avLst/>
          </a:prstGeom>
          <a:solidFill>
            <a:srgbClr val="F3F4F6"/>
          </a:solidFill>
          <a:ln/>
        </p:spPr>
      </p:sp>
      <p:sp>
        <p:nvSpPr>
          <p:cNvPr id="9" name="Text 7"/>
          <p:cNvSpPr txBox="1"/>
          <p:nvPr/>
        </p:nvSpPr>
        <p:spPr>
          <a:xfrm>
            <a:off x="731520" y="2450592"/>
            <a:ext cx="4952848" cy="134874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init --package rapport-ventes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cd rapport-ventes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add pandas pyarrow pyyaml</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add --dev pytest ruff jupyterlab</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recopier les données dans data/brut</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tree --depth 1</a:t>
            </a:r>
            <a:endParaRPr lang="en-US" sz="1500" dirty="0"/>
          </a:p>
        </p:txBody>
      </p:sp>
      <p:sp>
        <p:nvSpPr>
          <p:cNvPr id="10" name="Text 8"/>
          <p:cNvSpPr txBox="1"/>
          <p:nvPr/>
        </p:nvSpPr>
        <p:spPr>
          <a:xfrm>
            <a:off x="6324448" y="2011680"/>
            <a:ext cx="5318608" cy="1026160"/>
          </a:xfrm>
          <a:prstGeom prst="rect">
            <a:avLst/>
          </a:prstGeom>
          <a:noFill/>
          <a:ln/>
        </p:spPr>
        <p:txBody>
          <a:bodyPr wrap="square" lIns="0" tIns="0" rIns="0" bIns="0" rtlCol="0" anchor="t"/>
          <a:lstStyle/>
          <a:p>
            <a:pPr marL="254000" indent="-2540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La structure de ce matin : </a:t>
            </a:r>
            <a:pPr indent="0" marL="0">
              <a:buNone/>
            </a:pPr>
            <a:r>
              <a:rPr lang="en-US" sz="1600" dirty="0">
                <a:solidFill>
                  <a:srgbClr val="1F3A5F"/>
                </a:solidFill>
                <a:latin typeface="Courier New" pitchFamily="34" charset="0"/>
                <a:ea typeface="Courier New" pitchFamily="34" charset="-122"/>
                <a:cs typeface="Courier New" pitchFamily="34" charset="-120"/>
              </a:rPr>
              <a:t>data/brut</a:t>
            </a:r>
            <a:pPr indent="0" marL="0">
              <a:buNone/>
            </a:pPr>
            <a:r>
              <a:rPr lang="en-US" sz="1600" dirty="0">
                <a:solidFill>
                  <a:srgbClr val="1F2933"/>
                </a:solidFill>
                <a:latin typeface="Calibri" pitchFamily="34" charset="0"/>
                <a:ea typeface="Calibri" pitchFamily="34" charset="-122"/>
                <a:cs typeface="Calibri" pitchFamily="34" charset="-120"/>
              </a:rPr>
              <a:t>, </a:t>
            </a:r>
            <a:pPr indent="0" marL="0">
              <a:buNone/>
            </a:pPr>
            <a:r>
              <a:rPr lang="en-US" sz="1600" dirty="0">
                <a:solidFill>
                  <a:srgbClr val="1F3A5F"/>
                </a:solidFill>
                <a:latin typeface="Courier New" pitchFamily="34" charset="0"/>
                <a:ea typeface="Courier New" pitchFamily="34" charset="-122"/>
                <a:cs typeface="Courier New" pitchFamily="34" charset="-120"/>
              </a:rPr>
              <a:t>notebooks</a:t>
            </a:r>
            <a:pPr indent="0" marL="0">
              <a:buNone/>
            </a:pPr>
            <a:r>
              <a:rPr lang="en-US" sz="1600" dirty="0">
                <a:solidFill>
                  <a:srgbClr val="1F2933"/>
                </a:solidFill>
                <a:latin typeface="Calibri" pitchFamily="34" charset="0"/>
                <a:ea typeface="Calibri" pitchFamily="34" charset="-122"/>
                <a:cs typeface="Calibri" pitchFamily="34" charset="-120"/>
              </a:rPr>
              <a:t>, </a:t>
            </a:r>
            <a:pPr indent="0" marL="0">
              <a:buNone/>
            </a:pPr>
            <a:r>
              <a:rPr lang="en-US" sz="1600" dirty="0">
                <a:solidFill>
                  <a:srgbClr val="1F3A5F"/>
                </a:solidFill>
                <a:latin typeface="Courier New" pitchFamily="34" charset="0"/>
                <a:ea typeface="Courier New" pitchFamily="34" charset="-122"/>
                <a:cs typeface="Courier New" pitchFamily="34" charset="-120"/>
              </a:rPr>
              <a:t>src</a:t>
            </a:r>
            <a:pPr indent="0" marL="0">
              <a:buNone/>
            </a:pPr>
            <a:r>
              <a:rPr lang="en-US" sz="1600" dirty="0">
                <a:solidFill>
                  <a:srgbClr val="1F2933"/>
                </a:solidFill>
                <a:latin typeface="Calibri" pitchFamily="34" charset="0"/>
                <a:ea typeface="Calibri" pitchFamily="34" charset="-122"/>
                <a:cs typeface="Calibri" pitchFamily="34" charset="-120"/>
              </a:rPr>
              <a:t>, </a:t>
            </a:r>
            <a:pPr indent="0" marL="0">
              <a:buNone/>
            </a:pPr>
            <a:r>
              <a:rPr lang="en-US" sz="1600" dirty="0">
                <a:solidFill>
                  <a:srgbClr val="1F3A5F"/>
                </a:solidFill>
                <a:latin typeface="Courier New" pitchFamily="34" charset="0"/>
                <a:ea typeface="Courier New" pitchFamily="34" charset="-122"/>
                <a:cs typeface="Courier New" pitchFamily="34" charset="-120"/>
              </a:rPr>
              <a:t>tests</a:t>
            </a:r>
            <a:pPr indent="0" marL="0">
              <a:buNone/>
            </a:pPr>
            <a:r>
              <a:rPr lang="en-US" sz="1600" dirty="0">
                <a:solidFill>
                  <a:srgbClr val="1F2933"/>
                </a:solidFill>
                <a:latin typeface="Calibri" pitchFamily="34" charset="0"/>
                <a:ea typeface="Calibri" pitchFamily="34" charset="-122"/>
                <a:cs typeface="Calibri" pitchFamily="34" charset="-120"/>
              </a:rPr>
              <a:t>, </a:t>
            </a:r>
            <a:pPr indent="0" marL="0">
              <a:buNone/>
            </a:pPr>
            <a:r>
              <a:rPr lang="en-US" sz="1600" dirty="0">
                <a:solidFill>
                  <a:srgbClr val="1F3A5F"/>
                </a:solidFill>
                <a:latin typeface="Courier New" pitchFamily="34" charset="0"/>
                <a:ea typeface="Courier New" pitchFamily="34" charset="-122"/>
                <a:cs typeface="Courier New" pitchFamily="34" charset="-120"/>
              </a:rPr>
              <a:t>outputs</a:t>
            </a:r>
            <a:pPr indent="0" marL="0">
              <a:buNone/>
            </a:pPr>
            <a:r>
              <a:rPr lang="en-US" sz="1600" dirty="0">
                <a:solidFill>
                  <a:srgbClr val="1F2933"/>
                </a:solidFill>
                <a:latin typeface="Calibri" pitchFamily="34" charset="0"/>
                <a:ea typeface="Calibri" pitchFamily="34" charset="-122"/>
                <a:cs typeface="Calibri" pitchFamily="34" charset="-120"/>
              </a:rPr>
              <a:t>, </a:t>
            </a:r>
            <a:pPr indent="0" marL="0">
              <a:buNone/>
            </a:pPr>
            <a:r>
              <a:rPr lang="en-US" sz="1600" dirty="0">
                <a:solidFill>
                  <a:srgbClr val="1F3A5F"/>
                </a:solidFill>
                <a:latin typeface="Courier New" pitchFamily="34" charset="0"/>
                <a:ea typeface="Courier New" pitchFamily="34" charset="-122"/>
                <a:cs typeface="Courier New" pitchFamily="34" charset="-120"/>
              </a:rPr>
              <a:t>config.yaml</a:t>
            </a:r>
            <a:endParaRPr lang="en-US" sz="1600" dirty="0"/>
          </a:p>
          <a:p>
            <a:pPr marL="254000" indent="-2540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Les données : le dossier </a:t>
            </a:r>
            <a:pPr indent="0" marL="0">
              <a:buNone/>
            </a:pPr>
            <a:r>
              <a:rPr lang="en-US" sz="1600" dirty="0">
                <a:solidFill>
                  <a:srgbClr val="1F3A5F"/>
                </a:solidFill>
                <a:latin typeface="Courier New" pitchFamily="34" charset="0"/>
                <a:ea typeface="Courier New" pitchFamily="34" charset="-122"/>
                <a:cs typeface="Courier New" pitchFamily="34" charset="-120"/>
              </a:rPr>
              <a:t>ressources/</a:t>
            </a:r>
            <a:pPr indent="0" marL="0">
              <a:buNone/>
            </a:pPr>
            <a:r>
              <a:rPr lang="en-US" sz="1600" dirty="0">
                <a:solidFill>
                  <a:srgbClr val="1F2933"/>
                </a:solidFill>
                <a:latin typeface="Calibri" pitchFamily="34" charset="0"/>
                <a:ea typeface="Calibri" pitchFamily="34" charset="-122"/>
                <a:cs typeface="Calibri" pitchFamily="34" charset="-120"/>
              </a:rPr>
              <a:t> du TP6</a:t>
            </a:r>
            <a:endParaRPr lang="en-US" sz="1600" dirty="0"/>
          </a:p>
        </p:txBody>
      </p:sp>
      <p:sp>
        <p:nvSpPr>
          <p:cNvPr id="11" name="Shape 9"/>
          <p:cNvSpPr/>
          <p:nvPr/>
        </p:nvSpPr>
        <p:spPr>
          <a:xfrm>
            <a:off x="6324448" y="3357880"/>
            <a:ext cx="5318608" cy="1051560"/>
          </a:xfrm>
          <a:prstGeom prst="roundRect">
            <a:avLst>
              <a:gd name="adj" fmla="val 5217"/>
            </a:avLst>
          </a:prstGeom>
          <a:solidFill>
            <a:srgbClr val="E8F3EE"/>
          </a:solidFill>
          <a:ln/>
        </p:spPr>
      </p:sp>
      <p:sp>
        <p:nvSpPr>
          <p:cNvPr id="12" name="Text 10"/>
          <p:cNvSpPr txBox="1"/>
          <p:nvPr/>
        </p:nvSpPr>
        <p:spPr>
          <a:xfrm>
            <a:off x="6598768" y="3357880"/>
            <a:ext cx="4769968" cy="1051560"/>
          </a:xfrm>
          <a:prstGeom prst="rect">
            <a:avLst/>
          </a:prstGeom>
          <a:noFill/>
          <a:ln/>
        </p:spPr>
        <p:txBody>
          <a:bodyPr wrap="square" lIns="0" tIns="0" rIns="0" bIns="0" rtlCol="0" anchor="ctr"/>
          <a:lstStyle/>
          <a:p>
            <a:pPr indent="0" marL="0">
              <a:buNone/>
            </a:pPr>
            <a:r>
              <a:rPr lang="en-US" sz="1500" dirty="0">
                <a:solidFill>
                  <a:srgbClr val="1F3A5F"/>
                </a:solidFill>
                <a:latin typeface="Calibri" pitchFamily="34" charset="0"/>
                <a:ea typeface="Calibri" pitchFamily="34" charset="-122"/>
                <a:cs typeface="Calibri" pitchFamily="34" charset="-120"/>
              </a:rPr>
              <a:t>Résultat attendu de </a:t>
            </a:r>
            <a:pPr indent="0" marL="0">
              <a:buNone/>
            </a:pPr>
            <a:r>
              <a:rPr lang="en-US" sz="1500" dirty="0">
                <a:solidFill>
                  <a:srgbClr val="2F7D62"/>
                </a:solidFill>
                <a:latin typeface="Courier New" pitchFamily="34" charset="0"/>
                <a:ea typeface="Courier New" pitchFamily="34" charset="-122"/>
                <a:cs typeface="Courier New" pitchFamily="34" charset="-120"/>
              </a:rPr>
              <a:t>uv tree --depth 1</a:t>
            </a:r>
            <a:pPr indent="0" marL="0">
              <a:buNone/>
            </a:pPr>
            <a:r>
              <a:rPr lang="en-US" sz="1500" dirty="0">
                <a:solidFill>
                  <a:srgbClr val="1F3A5F"/>
                </a:solidFill>
                <a:latin typeface="Calibri" pitchFamily="34" charset="0"/>
                <a:ea typeface="Calibri" pitchFamily="34" charset="-122"/>
                <a:cs typeface="Calibri" pitchFamily="34" charset="-120"/>
              </a:rPr>
              <a:t> : le projet, puis ses dépendances directes ; les outils de développement portent la mention </a:t>
            </a:r>
            <a:pPr indent="0" marL="0">
              <a:buNone/>
            </a:pPr>
            <a:r>
              <a:rPr lang="en-US" sz="1500" dirty="0">
                <a:solidFill>
                  <a:srgbClr val="2F7D62"/>
                </a:solidFill>
                <a:latin typeface="Courier New" pitchFamily="34" charset="0"/>
                <a:ea typeface="Courier New" pitchFamily="34" charset="-122"/>
                <a:cs typeface="Courier New" pitchFamily="34" charset="-120"/>
              </a:rPr>
              <a:t>(group: dev)</a:t>
            </a:r>
            <a:pPr indent="0" marL="0">
              <a:buNone/>
            </a:pPr>
            <a:r>
              <a:rPr lang="en-US" sz="1500" dirty="0">
                <a:solidFill>
                  <a:srgbClr val="1F3A5F"/>
                </a:solidFill>
                <a:latin typeface="Calibri" pitchFamily="34" charset="0"/>
                <a:ea typeface="Calibri" pitchFamily="34" charset="-122"/>
                <a:cs typeface="Calibri" pitchFamily="34" charset="-120"/>
              </a:rPr>
              <a:t>.</a:t>
            </a:r>
            <a:endParaRPr lang="en-US" sz="1500" dirty="0"/>
          </a:p>
        </p:txBody>
      </p:sp>
      <p:sp>
        <p:nvSpPr>
          <p:cNvPr id="13" name="Text 1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2743200" cy="1188720"/>
          </a:xfrm>
          <a:prstGeom prst="rect">
            <a:avLst/>
          </a:prstGeom>
          <a:noFill/>
          <a:ln/>
        </p:spPr>
        <p:txBody>
          <a:bodyPr wrap="square" lIns="0" tIns="0" rIns="0" bIns="0" rtlCol="0" anchor="ctr"/>
          <a:lstStyle/>
          <a:p>
            <a:pPr indent="0" marL="0">
              <a:buNone/>
            </a:pPr>
            <a:r>
              <a:rPr lang="en-US" sz="8000" b="1" dirty="0">
                <a:solidFill>
                  <a:srgbClr val="8FD1B5"/>
                </a:solidFill>
                <a:latin typeface="Cambria" pitchFamily="34" charset="0"/>
                <a:ea typeface="Cambria" pitchFamily="34" charset="-122"/>
                <a:cs typeface="Cambria" pitchFamily="34" charset="-120"/>
              </a:rPr>
              <a:t>04</a:t>
            </a:r>
            <a:endParaRPr lang="en-US" sz="8000" dirty="0"/>
          </a:p>
        </p:txBody>
      </p:sp>
      <p:sp>
        <p:nvSpPr>
          <p:cNvPr id="3" name="Text 1"/>
          <p:cNvSpPr txBox="1"/>
          <p:nvPr/>
        </p:nvSpPr>
        <p:spPr>
          <a:xfrm>
            <a:off x="731520" y="301752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La reproductibilité</a:t>
            </a:r>
            <a:endParaRPr lang="en-US" sz="4000" dirty="0"/>
          </a:p>
        </p:txBody>
      </p:sp>
      <p:sp>
        <p:nvSpPr>
          <p:cNvPr id="4" name="Text 2"/>
          <p:cNvSpPr txBox="1"/>
          <p:nvPr/>
        </p:nvSpPr>
        <p:spPr>
          <a:xfrm>
            <a:off x="731520" y="3977640"/>
            <a:ext cx="10515600" cy="548640"/>
          </a:xfrm>
          <a:prstGeom prst="rect">
            <a:avLst/>
          </a:prstGeom>
          <a:noFill/>
          <a:ln/>
        </p:spPr>
        <p:txBody>
          <a:bodyPr wrap="square" lIns="0" tIns="0" rIns="0" bIns="0" rtlCol="0" anchor="t"/>
          <a:lstStyle/>
          <a:p>
            <a:pPr indent="0" marL="0">
              <a:buNone/>
            </a:pPr>
            <a:r>
              <a:rPr lang="en-US" sz="2000" dirty="0">
                <a:solidFill>
                  <a:srgbClr val="C9D6E3"/>
                </a:solidFill>
                <a:latin typeface="Calibri" pitchFamily="34" charset="0"/>
                <a:ea typeface="Calibri" pitchFamily="34" charset="-122"/>
                <a:cs typeface="Calibri" pitchFamily="34" charset="-120"/>
              </a:rPr>
              <a:t>uv.lock   |   Mettre à jour   |   Développement et production</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LA REPRODUCTIBILITÉ</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Le fichier uv.lock</a:t>
            </a:r>
            <a:endParaRPr lang="en-US" sz="3000" dirty="0"/>
          </a:p>
        </p:txBody>
      </p:sp>
      <p:sp>
        <p:nvSpPr>
          <p:cNvPr id="6" name="Text 4"/>
          <p:cNvSpPr txBox="1"/>
          <p:nvPr/>
        </p:nvSpPr>
        <p:spPr>
          <a:xfrm>
            <a:off x="548640" y="1417320"/>
            <a:ext cx="5318608" cy="1950720"/>
          </a:xfrm>
          <a:prstGeom prst="rect">
            <a:avLst/>
          </a:prstGeom>
          <a:noFill/>
          <a:ln/>
        </p:spPr>
        <p:txBody>
          <a:bodyPr wrap="square" lIns="0" tIns="0" rIns="0" bIns="0" rtlCol="0" anchor="t"/>
          <a:lstStyle/>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La version </a:t>
            </a:r>
            <a:pPr indent="0" marL="0">
              <a:buNone/>
            </a:pPr>
            <a:r>
              <a:rPr lang="en-US" sz="1700" b="1" dirty="0">
                <a:solidFill>
                  <a:srgbClr val="1F2933"/>
                </a:solidFill>
                <a:latin typeface="Calibri" pitchFamily="34" charset="0"/>
                <a:ea typeface="Calibri" pitchFamily="34" charset="-122"/>
                <a:cs typeface="Calibri" pitchFamily="34" charset="-120"/>
              </a:rPr>
              <a:t>exacte</a:t>
            </a:r>
            <a:pPr indent="0" marL="0">
              <a:buNone/>
            </a:pPr>
            <a:r>
              <a:rPr lang="en-US" sz="1700" dirty="0">
                <a:solidFill>
                  <a:srgbClr val="1F2933"/>
                </a:solidFill>
                <a:latin typeface="Calibri" pitchFamily="34" charset="0"/>
                <a:ea typeface="Calibri" pitchFamily="34" charset="-122"/>
                <a:cs typeface="Calibri" pitchFamily="34" charset="-120"/>
              </a:rPr>
              <a:t> de chaque bibliothèque, dépendances indirectes comprises</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L'</a:t>
            </a:r>
            <a:pPr indent="0" marL="0">
              <a:buNone/>
            </a:pPr>
            <a:r>
              <a:rPr lang="en-US" sz="1700" b="1" dirty="0">
                <a:solidFill>
                  <a:srgbClr val="1F2933"/>
                </a:solidFill>
                <a:latin typeface="Calibri" pitchFamily="34" charset="0"/>
                <a:ea typeface="Calibri" pitchFamily="34" charset="-122"/>
                <a:cs typeface="Calibri" pitchFamily="34" charset="-120"/>
              </a:rPr>
              <a:t>empreinte</a:t>
            </a:r>
            <a:pPr indent="0" marL="0">
              <a:buNone/>
            </a:pPr>
            <a:r>
              <a:rPr lang="en-US" sz="1700" dirty="0">
                <a:solidFill>
                  <a:srgbClr val="1F2933"/>
                </a:solidFill>
                <a:latin typeface="Calibri" pitchFamily="34" charset="0"/>
                <a:ea typeface="Calibri" pitchFamily="34" charset="-122"/>
                <a:cs typeface="Calibri" pitchFamily="34" charset="-120"/>
              </a:rPr>
              <a:t> des fichiers, pour vérifier qu'ils n'ont pas été modifiés</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Les variantes pour </a:t>
            </a:r>
            <a:pPr indent="0" marL="0">
              <a:buNone/>
            </a:pPr>
            <a:r>
              <a:rPr lang="en-US" sz="1700" b="1" dirty="0">
                <a:solidFill>
                  <a:srgbClr val="1F2933"/>
                </a:solidFill>
                <a:latin typeface="Calibri" pitchFamily="34" charset="0"/>
                <a:ea typeface="Calibri" pitchFamily="34" charset="-122"/>
                <a:cs typeface="Calibri" pitchFamily="34" charset="-120"/>
              </a:rPr>
              <a:t>chaque système</a:t>
            </a:r>
            <a:pPr indent="0" marL="0">
              <a:buNone/>
            </a:pPr>
            <a:r>
              <a:rPr lang="en-US" sz="1700" dirty="0">
                <a:solidFill>
                  <a:srgbClr val="1F2933"/>
                </a:solidFill>
                <a:latin typeface="Calibri" pitchFamily="34" charset="0"/>
                <a:ea typeface="Calibri" pitchFamily="34" charset="-122"/>
                <a:cs typeface="Calibri" pitchFamily="34" charset="-120"/>
              </a:rPr>
              <a:t> et chaque version de Python acceptée</a:t>
            </a:r>
            <a:endParaRPr lang="en-US" sz="1700" dirty="0"/>
          </a:p>
        </p:txBody>
      </p:sp>
      <p:sp>
        <p:nvSpPr>
          <p:cNvPr id="7" name="Shape 5"/>
          <p:cNvSpPr/>
          <p:nvPr/>
        </p:nvSpPr>
        <p:spPr>
          <a:xfrm>
            <a:off x="548640" y="3688080"/>
            <a:ext cx="5318608" cy="883920"/>
          </a:xfrm>
          <a:prstGeom prst="roundRect">
            <a:avLst>
              <a:gd name="adj" fmla="val 6207"/>
            </a:avLst>
          </a:prstGeom>
          <a:solidFill>
            <a:srgbClr val="E8F3EE"/>
          </a:solidFill>
          <a:ln/>
        </p:spPr>
      </p:sp>
      <p:sp>
        <p:nvSpPr>
          <p:cNvPr id="8" name="Text 6"/>
          <p:cNvSpPr txBox="1"/>
          <p:nvPr/>
        </p:nvSpPr>
        <p:spPr>
          <a:xfrm>
            <a:off x="822960" y="3688080"/>
            <a:ext cx="4769968" cy="88392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On le versionne avec le code. On ne le modifie jamais à la main.</a:t>
            </a:r>
            <a:endParaRPr lang="en-US" sz="1700" dirty="0"/>
          </a:p>
        </p:txBody>
      </p:sp>
      <p:sp>
        <p:nvSpPr>
          <p:cNvPr id="9" name="Text 7"/>
          <p:cNvSpPr txBox="1"/>
          <p:nvPr/>
        </p:nvSpPr>
        <p:spPr>
          <a:xfrm>
            <a:off x="6324448"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Récupérer un projet</a:t>
            </a:r>
            <a:endParaRPr lang="en-US" sz="1700" dirty="0"/>
          </a:p>
        </p:txBody>
      </p:sp>
      <p:sp>
        <p:nvSpPr>
          <p:cNvPr id="10" name="Shape 8"/>
          <p:cNvSpPr/>
          <p:nvPr/>
        </p:nvSpPr>
        <p:spPr>
          <a:xfrm>
            <a:off x="6324448" y="1828800"/>
            <a:ext cx="5318608" cy="1131824"/>
          </a:xfrm>
          <a:prstGeom prst="rect">
            <a:avLst/>
          </a:prstGeom>
          <a:solidFill>
            <a:srgbClr val="F3F4F6"/>
          </a:solidFill>
          <a:ln/>
        </p:spPr>
      </p:sp>
      <p:sp>
        <p:nvSpPr>
          <p:cNvPr id="11" name="Text 9"/>
          <p:cNvSpPr txBox="1"/>
          <p:nvPr/>
        </p:nvSpPr>
        <p:spPr>
          <a:xfrm>
            <a:off x="6507328" y="1975104"/>
            <a:ext cx="4952848" cy="839216"/>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git clone https://github.com/equipe/ventes.git</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cd ventes</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uv sync</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uv run pytest</a:t>
            </a:r>
            <a:endParaRPr lang="en-US" sz="1400" dirty="0"/>
          </a:p>
        </p:txBody>
      </p:sp>
      <p:sp>
        <p:nvSpPr>
          <p:cNvPr id="12" name="Text 10"/>
          <p:cNvSpPr txBox="1"/>
          <p:nvPr/>
        </p:nvSpPr>
        <p:spPr>
          <a:xfrm>
            <a:off x="6324448" y="3280664"/>
            <a:ext cx="5318608" cy="822960"/>
          </a:xfrm>
          <a:prstGeom prst="rect">
            <a:avLst/>
          </a:prstGeom>
          <a:noFill/>
          <a:ln/>
        </p:spPr>
        <p:txBody>
          <a:bodyPr wrap="square" lIns="0" tIns="0" rIns="0" bIns="0" rtlCol="0" anchor="t"/>
          <a:lstStyle/>
          <a:p>
            <a:pPr indent="0" marL="0">
              <a:buNone/>
            </a:pPr>
            <a:r>
              <a:rPr lang="en-US" sz="1500" dirty="0">
                <a:solidFill>
                  <a:srgbClr val="1F3A5F"/>
                </a:solidFill>
                <a:latin typeface="Courier New" pitchFamily="34" charset="0"/>
                <a:ea typeface="Courier New" pitchFamily="34" charset="-122"/>
                <a:cs typeface="Courier New" pitchFamily="34" charset="-120"/>
              </a:rPr>
              <a:t>uv sync --locked</a:t>
            </a:r>
            <a:pPr indent="0" marL="0">
              <a:buNone/>
            </a:pPr>
            <a:r>
              <a:rPr lang="en-US" sz="1500" dirty="0">
                <a:solidFill>
                  <a:srgbClr val="6B7280"/>
                </a:solidFill>
                <a:latin typeface="Calibri" pitchFamily="34" charset="0"/>
                <a:ea typeface="Calibri" pitchFamily="34" charset="-122"/>
                <a:cs typeface="Calibri" pitchFamily="34" charset="-120"/>
              </a:rPr>
              <a:t> échoue si le verrou n'est plus à jour : idéal dans un pipeline. </a:t>
            </a:r>
            <a:pPr indent="0" marL="0">
              <a:buNone/>
            </a:pPr>
            <a:r>
              <a:rPr lang="en-US" sz="1500" dirty="0">
                <a:solidFill>
                  <a:srgbClr val="1F3A5F"/>
                </a:solidFill>
                <a:latin typeface="Courier New" pitchFamily="34" charset="0"/>
                <a:ea typeface="Courier New" pitchFamily="34" charset="-122"/>
                <a:cs typeface="Courier New" pitchFamily="34" charset="-120"/>
              </a:rPr>
              <a:t>uv sync --frozen</a:t>
            </a:r>
            <a:pPr indent="0" marL="0">
              <a:buNone/>
            </a:pPr>
            <a:r>
              <a:rPr lang="en-US" sz="1500" dirty="0">
                <a:solidFill>
                  <a:srgbClr val="6B7280"/>
                </a:solidFill>
                <a:latin typeface="Calibri" pitchFamily="34" charset="0"/>
                <a:ea typeface="Calibri" pitchFamily="34" charset="-122"/>
                <a:cs typeface="Calibri" pitchFamily="34" charset="-120"/>
              </a:rPr>
              <a:t> installe sans rien vérifier.</a:t>
            </a:r>
            <a:endParaRPr lang="en-US" sz="1500" dirty="0"/>
          </a:p>
        </p:txBody>
      </p:sp>
      <p:sp>
        <p:nvSpPr>
          <p:cNvPr id="13" name="Text 1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LA REPRODUCTIBILITÉ</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Mettre à jour, séparer développement et production</a:t>
            </a:r>
            <a:endParaRPr lang="en-US" sz="3000" dirty="0"/>
          </a:p>
        </p:txBody>
      </p:sp>
      <p:sp>
        <p:nvSpPr>
          <p:cNvPr id="6" name="Text 4"/>
          <p:cNvSpPr txBox="1"/>
          <p:nvPr/>
        </p:nvSpPr>
        <p:spPr>
          <a:xfrm>
            <a:off x="548640"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Une mise à jour est un choix</a:t>
            </a:r>
            <a:endParaRPr lang="en-US" sz="1700" dirty="0"/>
          </a:p>
        </p:txBody>
      </p:sp>
      <p:sp>
        <p:nvSpPr>
          <p:cNvPr id="7" name="Shape 5"/>
          <p:cNvSpPr/>
          <p:nvPr/>
        </p:nvSpPr>
        <p:spPr>
          <a:xfrm>
            <a:off x="548640" y="1828800"/>
            <a:ext cx="5318608" cy="1191768"/>
          </a:xfrm>
          <a:prstGeom prst="rect">
            <a:avLst/>
          </a:prstGeom>
          <a:solidFill>
            <a:srgbClr val="F3F4F6"/>
          </a:solidFill>
          <a:ln/>
        </p:spPr>
      </p:sp>
      <p:sp>
        <p:nvSpPr>
          <p:cNvPr id="8" name="Text 6"/>
          <p:cNvSpPr txBox="1"/>
          <p:nvPr/>
        </p:nvSpPr>
        <p:spPr>
          <a:xfrm>
            <a:off x="731520" y="1975104"/>
            <a:ext cx="4952848" cy="89916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lock --upgrade-package pandas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lock --upgrade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sync</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run pytest</a:t>
            </a:r>
            <a:endParaRPr lang="en-US" sz="1500" dirty="0"/>
          </a:p>
        </p:txBody>
      </p:sp>
      <p:sp>
        <p:nvSpPr>
          <p:cNvPr id="9" name="Text 7"/>
          <p:cNvSpPr txBox="1"/>
          <p:nvPr/>
        </p:nvSpPr>
        <p:spPr>
          <a:xfrm>
            <a:off x="6324448"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Développement et production</a:t>
            </a:r>
            <a:endParaRPr lang="en-US" sz="1700" dirty="0"/>
          </a:p>
        </p:txBody>
      </p:sp>
      <p:sp>
        <p:nvSpPr>
          <p:cNvPr id="10" name="Shape 8"/>
          <p:cNvSpPr/>
          <p:nvPr/>
        </p:nvSpPr>
        <p:spPr>
          <a:xfrm>
            <a:off x="6324448" y="1828800"/>
            <a:ext cx="5318608" cy="1191768"/>
          </a:xfrm>
          <a:prstGeom prst="rect">
            <a:avLst/>
          </a:prstGeom>
          <a:solidFill>
            <a:srgbClr val="F3F4F6"/>
          </a:solidFill>
          <a:ln/>
        </p:spPr>
      </p:sp>
      <p:sp>
        <p:nvSpPr>
          <p:cNvPr id="11" name="Text 9"/>
          <p:cNvSpPr txBox="1"/>
          <p:nvPr/>
        </p:nvSpPr>
        <p:spPr>
          <a:xfrm>
            <a:off x="6507328" y="1975104"/>
            <a:ext cx="4952848" cy="89916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add --dev pytest ruff mypy jupyterlab</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sur le serveur</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sync --no-dev</a:t>
            </a:r>
            <a:endParaRPr lang="en-US" sz="1500" dirty="0"/>
          </a:p>
        </p:txBody>
      </p:sp>
      <p:sp>
        <p:nvSpPr>
          <p:cNvPr id="12" name="Text 10"/>
          <p:cNvSpPr txBox="1"/>
          <p:nvPr/>
        </p:nvSpPr>
        <p:spPr>
          <a:xfrm>
            <a:off x="6324448" y="3340608"/>
            <a:ext cx="5318608" cy="82296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L'environnement de production est plus léger, plus rapide à installer, avec moins de bibliothèques à maintenir.</a:t>
            </a:r>
            <a:endParaRPr lang="en-US" sz="1500" dirty="0"/>
          </a:p>
        </p:txBody>
      </p:sp>
      <p:sp>
        <p:nvSpPr>
          <p:cNvPr id="13" name="Text 1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LA REPRODUCTIBILITÉ</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Cohabiter avec pip</a:t>
            </a:r>
            <a:endParaRPr lang="en-US" sz="3000" dirty="0"/>
          </a:p>
        </p:txBody>
      </p:sp>
      <p:sp>
        <p:nvSpPr>
          <p:cNvPr id="6" name="Text 4"/>
          <p:cNvSpPr txBox="1"/>
          <p:nvPr/>
        </p:nvSpPr>
        <p:spPr>
          <a:xfrm>
            <a:off x="548640"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Pour quelqu'un qui utilise pip</a:t>
            </a:r>
            <a:endParaRPr lang="en-US" sz="1700" dirty="0"/>
          </a:p>
        </p:txBody>
      </p:sp>
      <p:sp>
        <p:nvSpPr>
          <p:cNvPr id="7" name="Shape 5"/>
          <p:cNvSpPr/>
          <p:nvPr/>
        </p:nvSpPr>
        <p:spPr>
          <a:xfrm>
            <a:off x="548640" y="1828800"/>
            <a:ext cx="5318608" cy="742188"/>
          </a:xfrm>
          <a:prstGeom prst="rect">
            <a:avLst/>
          </a:prstGeom>
          <a:solidFill>
            <a:srgbClr val="F3F4F6"/>
          </a:solidFill>
          <a:ln/>
        </p:spPr>
      </p:sp>
      <p:sp>
        <p:nvSpPr>
          <p:cNvPr id="8" name="Text 6"/>
          <p:cNvSpPr txBox="1"/>
          <p:nvPr/>
        </p:nvSpPr>
        <p:spPr>
          <a:xfrm>
            <a:off x="731520" y="1975104"/>
            <a:ext cx="4952848" cy="44958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export --format requirements-txt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--no-dev &gt; requirements.txt</a:t>
            </a:r>
            <a:endParaRPr lang="en-US" sz="1500" dirty="0"/>
          </a:p>
        </p:txBody>
      </p:sp>
      <p:sp>
        <p:nvSpPr>
          <p:cNvPr id="9" name="Text 7"/>
          <p:cNvSpPr txBox="1"/>
          <p:nvPr/>
        </p:nvSpPr>
        <p:spPr>
          <a:xfrm>
            <a:off x="6324448"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Migrer le projet du TP1</a:t>
            </a:r>
            <a:endParaRPr lang="en-US" sz="1700" dirty="0"/>
          </a:p>
        </p:txBody>
      </p:sp>
      <p:sp>
        <p:nvSpPr>
          <p:cNvPr id="10" name="Shape 8"/>
          <p:cNvSpPr/>
          <p:nvPr/>
        </p:nvSpPr>
        <p:spPr>
          <a:xfrm>
            <a:off x="6324448" y="1828800"/>
            <a:ext cx="5318608" cy="742188"/>
          </a:xfrm>
          <a:prstGeom prst="rect">
            <a:avLst/>
          </a:prstGeom>
          <a:solidFill>
            <a:srgbClr val="F3F4F6"/>
          </a:solidFill>
          <a:ln/>
        </p:spPr>
      </p:sp>
      <p:sp>
        <p:nvSpPr>
          <p:cNvPr id="11" name="Text 9"/>
          <p:cNvSpPr txBox="1"/>
          <p:nvPr/>
        </p:nvSpPr>
        <p:spPr>
          <a:xfrm>
            <a:off x="6507328" y="1975104"/>
            <a:ext cx="4952848" cy="44958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init</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add -r requirements.txt</a:t>
            </a:r>
            <a:endParaRPr lang="en-US" sz="1500" dirty="0"/>
          </a:p>
        </p:txBody>
      </p:sp>
      <p:sp>
        <p:nvSpPr>
          <p:cNvPr id="12" name="Text 10"/>
          <p:cNvSpPr txBox="1"/>
          <p:nvPr/>
        </p:nvSpPr>
        <p:spPr>
          <a:xfrm>
            <a:off x="548640" y="2891028"/>
            <a:ext cx="11094415" cy="381000"/>
          </a:xfrm>
          <a:prstGeom prst="rect">
            <a:avLst/>
          </a:prstGeom>
          <a:noFill/>
          <a:ln/>
        </p:spPr>
        <p:txBody>
          <a:bodyPr wrap="square" lIns="0" tIns="0" rIns="0" bIns="0" rtlCol="0" anchor="t"/>
          <a:lstStyle/>
          <a:p>
            <a:pPr indent="0" marL="0">
              <a:buNone/>
            </a:pPr>
            <a:r>
              <a:rPr lang="en-US" sz="1600" dirty="0">
                <a:solidFill>
                  <a:srgbClr val="6B7280"/>
                </a:solidFill>
                <a:latin typeface="Calibri" pitchFamily="34" charset="0"/>
                <a:ea typeface="Calibri" pitchFamily="34" charset="-122"/>
                <a:cs typeface="Calibri" pitchFamily="34" charset="-120"/>
              </a:rPr>
              <a:t>uv sait aussi exporter au format standard </a:t>
            </a:r>
            <a:pPr indent="0" marL="0">
              <a:buNone/>
            </a:pPr>
            <a:r>
              <a:rPr lang="en-US" sz="1600" dirty="0">
                <a:solidFill>
                  <a:srgbClr val="1F3A5F"/>
                </a:solidFill>
                <a:latin typeface="Courier New" pitchFamily="34" charset="0"/>
                <a:ea typeface="Courier New" pitchFamily="34" charset="-122"/>
                <a:cs typeface="Courier New" pitchFamily="34" charset="-120"/>
              </a:rPr>
              <a:t>pylock.toml</a:t>
            </a:r>
            <a:pPr indent="0" marL="0">
              <a:buNone/>
            </a:pPr>
            <a:r>
              <a:rPr lang="en-US" sz="1600" dirty="0">
                <a:solidFill>
                  <a:srgbClr val="6B7280"/>
                </a:solidFill>
                <a:latin typeface="Calibri" pitchFamily="34" charset="0"/>
                <a:ea typeface="Calibri" pitchFamily="34" charset="-122"/>
                <a:cs typeface="Calibri" pitchFamily="34" charset="-120"/>
              </a:rPr>
              <a:t> : </a:t>
            </a:r>
            <a:pPr indent="0" marL="0">
              <a:buNone/>
            </a:pPr>
            <a:r>
              <a:rPr lang="en-US" sz="1600" dirty="0">
                <a:solidFill>
                  <a:srgbClr val="1F3A5F"/>
                </a:solidFill>
                <a:latin typeface="Courier New" pitchFamily="34" charset="0"/>
                <a:ea typeface="Courier New" pitchFamily="34" charset="-122"/>
                <a:cs typeface="Courier New" pitchFamily="34" charset="-120"/>
              </a:rPr>
              <a:t>uv export --format pylock.toml</a:t>
            </a:r>
            <a:pPr indent="0" marL="0">
              <a:buNone/>
            </a:pPr>
            <a:r>
              <a:rPr lang="en-US" sz="1600" dirty="0">
                <a:solidFill>
                  <a:srgbClr val="6B7280"/>
                </a:solidFill>
                <a:latin typeface="Calibri" pitchFamily="34" charset="0"/>
                <a:ea typeface="Calibri" pitchFamily="34" charset="-122"/>
                <a:cs typeface="Calibri" pitchFamily="34" charset="-120"/>
              </a:rPr>
              <a:t>.</a:t>
            </a:r>
            <a:endParaRPr lang="en-US" sz="1600" dirty="0"/>
          </a:p>
        </p:txBody>
      </p:sp>
      <p:sp>
        <p:nvSpPr>
          <p:cNvPr id="13" name="Text 1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2743200" cy="1188720"/>
          </a:xfrm>
          <a:prstGeom prst="rect">
            <a:avLst/>
          </a:prstGeom>
          <a:noFill/>
          <a:ln/>
        </p:spPr>
        <p:txBody>
          <a:bodyPr wrap="square" lIns="0" tIns="0" rIns="0" bIns="0" rtlCol="0" anchor="ctr"/>
          <a:lstStyle/>
          <a:p>
            <a:pPr indent="0" marL="0">
              <a:buNone/>
            </a:pPr>
            <a:r>
              <a:rPr lang="en-US" sz="8000" b="1" dirty="0">
                <a:solidFill>
                  <a:srgbClr val="8FD1B5"/>
                </a:solidFill>
                <a:latin typeface="Cambria" pitchFamily="34" charset="0"/>
                <a:ea typeface="Cambria" pitchFamily="34" charset="-122"/>
                <a:cs typeface="Cambria" pitchFamily="34" charset="-120"/>
              </a:rPr>
              <a:t>05</a:t>
            </a:r>
            <a:endParaRPr lang="en-US" sz="8000" dirty="0"/>
          </a:p>
        </p:txBody>
      </p:sp>
      <p:sp>
        <p:nvSpPr>
          <p:cNvPr id="3" name="Text 1"/>
          <p:cNvSpPr txBox="1"/>
          <p:nvPr/>
        </p:nvSpPr>
        <p:spPr>
          <a:xfrm>
            <a:off x="731520" y="301752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Un projet partageable</a:t>
            </a:r>
            <a:endParaRPr lang="en-US" sz="4000" dirty="0"/>
          </a:p>
        </p:txBody>
      </p:sp>
      <p:sp>
        <p:nvSpPr>
          <p:cNvPr id="4" name="Text 2"/>
          <p:cNvSpPr txBox="1"/>
          <p:nvPr/>
        </p:nvSpPr>
        <p:spPr>
          <a:xfrm>
            <a:off x="731520" y="3977640"/>
            <a:ext cx="10515600" cy="548640"/>
          </a:xfrm>
          <a:prstGeom prst="rect">
            <a:avLst/>
          </a:prstGeom>
          <a:noFill/>
          <a:ln/>
        </p:spPr>
        <p:txBody>
          <a:bodyPr wrap="square" lIns="0" tIns="0" rIns="0" bIns="0" rtlCol="0" anchor="t"/>
          <a:lstStyle/>
          <a:p>
            <a:pPr indent="0" marL="0">
              <a:buNone/>
            </a:pPr>
            <a:r>
              <a:rPr lang="en-US" sz="2000" dirty="0">
                <a:solidFill>
                  <a:srgbClr val="C9D6E3"/>
                </a:solidFill>
                <a:latin typeface="Calibri" pitchFamily="34" charset="0"/>
                <a:ea typeface="Calibri" pitchFamily="34" charset="-122"/>
                <a:cs typeface="Calibri" pitchFamily="34" charset="-120"/>
              </a:rPr>
              <a:t>README   |   .gitignore   |   Le test du collègue</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UN PROJET PARTAGEABLE</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Un README qui répond aux questions</a:t>
            </a:r>
            <a:endParaRPr lang="en-US" sz="3000" dirty="0"/>
          </a:p>
        </p:txBody>
      </p:sp>
      <p:sp>
        <p:nvSpPr>
          <p:cNvPr id="6" name="Shape 4"/>
          <p:cNvSpPr/>
          <p:nvPr/>
        </p:nvSpPr>
        <p:spPr>
          <a:xfrm>
            <a:off x="1354490" y="2057400"/>
            <a:ext cx="3223399" cy="0"/>
          </a:xfrm>
          <a:prstGeom prst="line">
            <a:avLst/>
          </a:prstGeom>
          <a:noFill/>
          <a:ln w="25400">
            <a:solidFill>
              <a:srgbClr val="D5DCE3"/>
            </a:solidFill>
            <a:prstDash val="solid"/>
          </a:ln>
        </p:spPr>
      </p:sp>
      <p:sp>
        <p:nvSpPr>
          <p:cNvPr id="7" name="Shape 5"/>
          <p:cNvSpPr/>
          <p:nvPr/>
        </p:nvSpPr>
        <p:spPr>
          <a:xfrm>
            <a:off x="1125890" y="1828800"/>
            <a:ext cx="457200" cy="457200"/>
          </a:xfrm>
          <a:prstGeom prst="ellipse">
            <a:avLst/>
          </a:prstGeom>
          <a:solidFill>
            <a:srgbClr val="2F7D62"/>
          </a:solidFill>
          <a:ln/>
        </p:spPr>
      </p:sp>
      <p:sp>
        <p:nvSpPr>
          <p:cNvPr id="8" name="Text 6"/>
          <p:cNvSpPr txBox="1"/>
          <p:nvPr/>
        </p:nvSpPr>
        <p:spPr>
          <a:xfrm>
            <a:off x="1125890"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594360" y="2423160"/>
            <a:ext cx="1520259" cy="502920"/>
          </a:xfrm>
          <a:prstGeom prst="rect">
            <a:avLst/>
          </a:prstGeom>
          <a:noFill/>
          <a:ln/>
        </p:spPr>
        <p:txBody>
          <a:bodyPr wrap="square" lIns="0" tIns="0" rIns="0" bIns="0" rtlCol="0" anchor="t"/>
          <a:lstStyle/>
          <a:p>
            <a:pPr algn="ctr" indent="0" marL="0">
              <a:buNone/>
            </a:pPr>
            <a:r>
              <a:rPr lang="en-US" sz="1400" b="1" dirty="0">
                <a:solidFill>
                  <a:srgbClr val="1F3A5F"/>
                </a:solidFill>
                <a:latin typeface="Calibri" pitchFamily="34" charset="0"/>
                <a:ea typeface="Calibri" pitchFamily="34" charset="-122"/>
                <a:cs typeface="Calibri" pitchFamily="34" charset="-120"/>
              </a:rPr>
              <a:t>Quoi</a:t>
            </a:r>
            <a:endParaRPr lang="en-US" sz="1400" dirty="0"/>
          </a:p>
        </p:txBody>
      </p:sp>
      <p:sp>
        <p:nvSpPr>
          <p:cNvPr id="10" name="Text 8"/>
          <p:cNvSpPr txBox="1"/>
          <p:nvPr/>
        </p:nvSpPr>
        <p:spPr>
          <a:xfrm>
            <a:off x="594360" y="2926080"/>
            <a:ext cx="1520259" cy="685800"/>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une phrase</a:t>
            </a:r>
            <a:endParaRPr lang="en-US" sz="1200" dirty="0"/>
          </a:p>
        </p:txBody>
      </p:sp>
      <p:sp>
        <p:nvSpPr>
          <p:cNvPr id="11" name="Shape 9"/>
          <p:cNvSpPr/>
          <p:nvPr/>
        </p:nvSpPr>
        <p:spPr>
          <a:xfrm>
            <a:off x="2737589" y="1828800"/>
            <a:ext cx="457200" cy="457200"/>
          </a:xfrm>
          <a:prstGeom prst="ellipse">
            <a:avLst/>
          </a:prstGeom>
          <a:solidFill>
            <a:srgbClr val="2F7D62"/>
          </a:solidFill>
          <a:ln/>
        </p:spPr>
      </p:sp>
      <p:sp>
        <p:nvSpPr>
          <p:cNvPr id="12" name="Text 10"/>
          <p:cNvSpPr txBox="1"/>
          <p:nvPr/>
        </p:nvSpPr>
        <p:spPr>
          <a:xfrm>
            <a:off x="2737589"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2206059" y="2423160"/>
            <a:ext cx="1520259" cy="502920"/>
          </a:xfrm>
          <a:prstGeom prst="rect">
            <a:avLst/>
          </a:prstGeom>
          <a:noFill/>
          <a:ln/>
        </p:spPr>
        <p:txBody>
          <a:bodyPr wrap="square" lIns="0" tIns="0" rIns="0" bIns="0" rtlCol="0" anchor="t"/>
          <a:lstStyle/>
          <a:p>
            <a:pPr algn="ctr" indent="0" marL="0">
              <a:buNone/>
            </a:pPr>
            <a:r>
              <a:rPr lang="en-US" sz="1400" b="1" dirty="0">
                <a:solidFill>
                  <a:srgbClr val="1F3A5F"/>
                </a:solidFill>
                <a:latin typeface="Calibri" pitchFamily="34" charset="0"/>
                <a:ea typeface="Calibri" pitchFamily="34" charset="-122"/>
                <a:cs typeface="Calibri" pitchFamily="34" charset="-120"/>
              </a:rPr>
              <a:t>Installer</a:t>
            </a:r>
            <a:endParaRPr lang="en-US" sz="1400" dirty="0"/>
          </a:p>
        </p:txBody>
      </p:sp>
      <p:sp>
        <p:nvSpPr>
          <p:cNvPr id="14" name="Text 12"/>
          <p:cNvSpPr txBox="1"/>
          <p:nvPr/>
        </p:nvSpPr>
        <p:spPr>
          <a:xfrm>
            <a:off x="2206059" y="2926080"/>
            <a:ext cx="1520259" cy="685800"/>
          </a:xfrm>
          <a:prstGeom prst="rect">
            <a:avLst/>
          </a:prstGeom>
          <a:noFill/>
          <a:ln/>
        </p:spPr>
        <p:txBody>
          <a:bodyPr wrap="square" lIns="0" tIns="0" rIns="0" bIns="0" rtlCol="0" anchor="t"/>
          <a:lstStyle/>
          <a:p>
            <a:pPr algn="ctr" indent="0" marL="0">
              <a:buNone/>
            </a:pPr>
            <a:r>
              <a:rPr lang="en-US" sz="1200" dirty="0">
                <a:solidFill>
                  <a:srgbClr val="1F3A5F"/>
                </a:solidFill>
                <a:latin typeface="Courier New" pitchFamily="34" charset="0"/>
                <a:ea typeface="Courier New" pitchFamily="34" charset="-122"/>
                <a:cs typeface="Courier New" pitchFamily="34" charset="-120"/>
              </a:rPr>
              <a:t>uv sync</a:t>
            </a:r>
            <a:endParaRPr lang="en-US" sz="1200" dirty="0"/>
          </a:p>
        </p:txBody>
      </p:sp>
      <p:sp>
        <p:nvSpPr>
          <p:cNvPr id="15" name="Shape 13"/>
          <p:cNvSpPr/>
          <p:nvPr/>
        </p:nvSpPr>
        <p:spPr>
          <a:xfrm>
            <a:off x="4349288" y="1828800"/>
            <a:ext cx="457200" cy="457200"/>
          </a:xfrm>
          <a:prstGeom prst="ellipse">
            <a:avLst/>
          </a:prstGeom>
          <a:solidFill>
            <a:srgbClr val="2F7D62"/>
          </a:solidFill>
          <a:ln/>
        </p:spPr>
      </p:sp>
      <p:sp>
        <p:nvSpPr>
          <p:cNvPr id="16" name="Text 14"/>
          <p:cNvSpPr txBox="1"/>
          <p:nvPr/>
        </p:nvSpPr>
        <p:spPr>
          <a:xfrm>
            <a:off x="4349288"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3817759" y="2423160"/>
            <a:ext cx="1520259" cy="502920"/>
          </a:xfrm>
          <a:prstGeom prst="rect">
            <a:avLst/>
          </a:prstGeom>
          <a:noFill/>
          <a:ln/>
        </p:spPr>
        <p:txBody>
          <a:bodyPr wrap="square" lIns="0" tIns="0" rIns="0" bIns="0" rtlCol="0" anchor="t"/>
          <a:lstStyle/>
          <a:p>
            <a:pPr algn="ctr" indent="0" marL="0">
              <a:buNone/>
            </a:pPr>
            <a:r>
              <a:rPr lang="en-US" sz="1400" b="1" dirty="0">
                <a:solidFill>
                  <a:srgbClr val="1F3A5F"/>
                </a:solidFill>
                <a:latin typeface="Calibri" pitchFamily="34" charset="0"/>
                <a:ea typeface="Calibri" pitchFamily="34" charset="-122"/>
                <a:cs typeface="Calibri" pitchFamily="34" charset="-120"/>
              </a:rPr>
              <a:t>Utiliser</a:t>
            </a:r>
            <a:endParaRPr lang="en-US" sz="1400" dirty="0"/>
          </a:p>
        </p:txBody>
      </p:sp>
      <p:sp>
        <p:nvSpPr>
          <p:cNvPr id="18" name="Text 16"/>
          <p:cNvSpPr txBox="1"/>
          <p:nvPr/>
        </p:nvSpPr>
        <p:spPr>
          <a:xfrm>
            <a:off x="3817759" y="2926080"/>
            <a:ext cx="1520259" cy="685800"/>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la commande</a:t>
            </a:r>
            <a:endParaRPr lang="en-US" sz="1200" dirty="0"/>
          </a:p>
        </p:txBody>
      </p:sp>
      <p:sp>
        <p:nvSpPr>
          <p:cNvPr id="19" name="Shape 17"/>
          <p:cNvSpPr/>
          <p:nvPr/>
        </p:nvSpPr>
        <p:spPr>
          <a:xfrm>
            <a:off x="1354490" y="4297680"/>
            <a:ext cx="3223399" cy="0"/>
          </a:xfrm>
          <a:prstGeom prst="line">
            <a:avLst/>
          </a:prstGeom>
          <a:noFill/>
          <a:ln w="25400">
            <a:solidFill>
              <a:srgbClr val="D5DCE3"/>
            </a:solidFill>
            <a:prstDash val="solid"/>
          </a:ln>
        </p:spPr>
      </p:sp>
      <p:sp>
        <p:nvSpPr>
          <p:cNvPr id="20" name="Shape 18"/>
          <p:cNvSpPr/>
          <p:nvPr/>
        </p:nvSpPr>
        <p:spPr>
          <a:xfrm>
            <a:off x="1125890" y="4069080"/>
            <a:ext cx="457200" cy="457200"/>
          </a:xfrm>
          <a:prstGeom prst="ellipse">
            <a:avLst/>
          </a:prstGeom>
          <a:solidFill>
            <a:srgbClr val="2F7D62"/>
          </a:solidFill>
          <a:ln/>
        </p:spPr>
      </p:sp>
      <p:sp>
        <p:nvSpPr>
          <p:cNvPr id="21" name="Text 19"/>
          <p:cNvSpPr txBox="1"/>
          <p:nvPr/>
        </p:nvSpPr>
        <p:spPr>
          <a:xfrm>
            <a:off x="1125890" y="40690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txBox="1"/>
          <p:nvPr/>
        </p:nvSpPr>
        <p:spPr>
          <a:xfrm>
            <a:off x="594360" y="4663440"/>
            <a:ext cx="1520259" cy="502920"/>
          </a:xfrm>
          <a:prstGeom prst="rect">
            <a:avLst/>
          </a:prstGeom>
          <a:noFill/>
          <a:ln/>
        </p:spPr>
        <p:txBody>
          <a:bodyPr wrap="square" lIns="0" tIns="0" rIns="0" bIns="0" rtlCol="0" anchor="t"/>
          <a:lstStyle/>
          <a:p>
            <a:pPr algn="ctr" indent="0" marL="0">
              <a:buNone/>
            </a:pPr>
            <a:r>
              <a:rPr lang="en-US" sz="1400" b="1" dirty="0">
                <a:solidFill>
                  <a:srgbClr val="1F3A5F"/>
                </a:solidFill>
                <a:latin typeface="Calibri" pitchFamily="34" charset="0"/>
                <a:ea typeface="Calibri" pitchFamily="34" charset="-122"/>
                <a:cs typeface="Calibri" pitchFamily="34" charset="-120"/>
              </a:rPr>
              <a:t>Données</a:t>
            </a:r>
            <a:endParaRPr lang="en-US" sz="1400" dirty="0"/>
          </a:p>
        </p:txBody>
      </p:sp>
      <p:sp>
        <p:nvSpPr>
          <p:cNvPr id="23" name="Text 21"/>
          <p:cNvSpPr txBox="1"/>
          <p:nvPr/>
        </p:nvSpPr>
        <p:spPr>
          <a:xfrm>
            <a:off x="594360" y="5166360"/>
            <a:ext cx="1520259" cy="685800"/>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où les déposer</a:t>
            </a:r>
            <a:endParaRPr lang="en-US" sz="1200" dirty="0"/>
          </a:p>
        </p:txBody>
      </p:sp>
      <p:sp>
        <p:nvSpPr>
          <p:cNvPr id="24" name="Shape 22"/>
          <p:cNvSpPr/>
          <p:nvPr/>
        </p:nvSpPr>
        <p:spPr>
          <a:xfrm>
            <a:off x="2737589" y="4069080"/>
            <a:ext cx="457200" cy="457200"/>
          </a:xfrm>
          <a:prstGeom prst="ellipse">
            <a:avLst/>
          </a:prstGeom>
          <a:solidFill>
            <a:srgbClr val="2F7D62"/>
          </a:solidFill>
          <a:ln/>
        </p:spPr>
      </p:sp>
      <p:sp>
        <p:nvSpPr>
          <p:cNvPr id="25" name="Text 23"/>
          <p:cNvSpPr txBox="1"/>
          <p:nvPr/>
        </p:nvSpPr>
        <p:spPr>
          <a:xfrm>
            <a:off x="2737589" y="40690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6" name="Text 24"/>
          <p:cNvSpPr txBox="1"/>
          <p:nvPr/>
        </p:nvSpPr>
        <p:spPr>
          <a:xfrm>
            <a:off x="2206059" y="4663440"/>
            <a:ext cx="1520259" cy="502920"/>
          </a:xfrm>
          <a:prstGeom prst="rect">
            <a:avLst/>
          </a:prstGeom>
          <a:noFill/>
          <a:ln/>
        </p:spPr>
        <p:txBody>
          <a:bodyPr wrap="square" lIns="0" tIns="0" rIns="0" bIns="0" rtlCol="0" anchor="t"/>
          <a:lstStyle/>
          <a:p>
            <a:pPr algn="ctr" indent="0" marL="0">
              <a:buNone/>
            </a:pPr>
            <a:r>
              <a:rPr lang="en-US" sz="1400" b="1" dirty="0">
                <a:solidFill>
                  <a:srgbClr val="1F3A5F"/>
                </a:solidFill>
                <a:latin typeface="Calibri" pitchFamily="34" charset="0"/>
                <a:ea typeface="Calibri" pitchFamily="34" charset="-122"/>
                <a:cs typeface="Calibri" pitchFamily="34" charset="-120"/>
              </a:rPr>
              <a:t>Structure</a:t>
            </a:r>
            <a:endParaRPr lang="en-US" sz="1400" dirty="0"/>
          </a:p>
        </p:txBody>
      </p:sp>
      <p:sp>
        <p:nvSpPr>
          <p:cNvPr id="27" name="Text 25"/>
          <p:cNvSpPr txBox="1"/>
          <p:nvPr/>
        </p:nvSpPr>
        <p:spPr>
          <a:xfrm>
            <a:off x="2206059" y="5166360"/>
            <a:ext cx="1520259" cy="685800"/>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les dossiers</a:t>
            </a:r>
            <a:endParaRPr lang="en-US" sz="1200" dirty="0"/>
          </a:p>
        </p:txBody>
      </p:sp>
      <p:sp>
        <p:nvSpPr>
          <p:cNvPr id="28" name="Shape 26"/>
          <p:cNvSpPr/>
          <p:nvPr/>
        </p:nvSpPr>
        <p:spPr>
          <a:xfrm>
            <a:off x="4349288" y="4069080"/>
            <a:ext cx="457200" cy="457200"/>
          </a:xfrm>
          <a:prstGeom prst="ellipse">
            <a:avLst/>
          </a:prstGeom>
          <a:solidFill>
            <a:srgbClr val="2F7D62"/>
          </a:solidFill>
          <a:ln/>
        </p:spPr>
      </p:sp>
      <p:sp>
        <p:nvSpPr>
          <p:cNvPr id="29" name="Text 27"/>
          <p:cNvSpPr txBox="1"/>
          <p:nvPr/>
        </p:nvSpPr>
        <p:spPr>
          <a:xfrm>
            <a:off x="4349288" y="40690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0" name="Text 28"/>
          <p:cNvSpPr txBox="1"/>
          <p:nvPr/>
        </p:nvSpPr>
        <p:spPr>
          <a:xfrm>
            <a:off x="3817759" y="4663440"/>
            <a:ext cx="1520259" cy="502920"/>
          </a:xfrm>
          <a:prstGeom prst="rect">
            <a:avLst/>
          </a:prstGeom>
          <a:noFill/>
          <a:ln/>
        </p:spPr>
        <p:txBody>
          <a:bodyPr wrap="square" lIns="0" tIns="0" rIns="0" bIns="0" rtlCol="0" anchor="t"/>
          <a:lstStyle/>
          <a:p>
            <a:pPr algn="ctr" indent="0" marL="0">
              <a:buNone/>
            </a:pPr>
            <a:r>
              <a:rPr lang="en-US" sz="1400" b="1" dirty="0">
                <a:solidFill>
                  <a:srgbClr val="1F3A5F"/>
                </a:solidFill>
                <a:latin typeface="Calibri" pitchFamily="34" charset="0"/>
                <a:ea typeface="Calibri" pitchFamily="34" charset="-122"/>
                <a:cs typeface="Calibri" pitchFamily="34" charset="-120"/>
              </a:rPr>
              <a:t>Développer</a:t>
            </a:r>
            <a:endParaRPr lang="en-US" sz="1400" dirty="0"/>
          </a:p>
        </p:txBody>
      </p:sp>
      <p:sp>
        <p:nvSpPr>
          <p:cNvPr id="31" name="Text 29"/>
          <p:cNvSpPr txBox="1"/>
          <p:nvPr/>
        </p:nvSpPr>
        <p:spPr>
          <a:xfrm>
            <a:off x="3817759" y="5166360"/>
            <a:ext cx="1520259" cy="685800"/>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tests, ruff</a:t>
            </a:r>
            <a:endParaRPr lang="en-US" sz="1200" dirty="0"/>
          </a:p>
        </p:txBody>
      </p:sp>
      <p:sp>
        <p:nvSpPr>
          <p:cNvPr id="32" name="Shape 30"/>
          <p:cNvSpPr/>
          <p:nvPr/>
        </p:nvSpPr>
        <p:spPr>
          <a:xfrm>
            <a:off x="5840938" y="1417320"/>
            <a:ext cx="5802117" cy="3349752"/>
          </a:xfrm>
          <a:prstGeom prst="rect">
            <a:avLst/>
          </a:prstGeom>
          <a:solidFill>
            <a:srgbClr val="F3F4F6"/>
          </a:solidFill>
          <a:ln/>
        </p:spPr>
      </p:sp>
      <p:sp>
        <p:nvSpPr>
          <p:cNvPr id="33" name="Text 31"/>
          <p:cNvSpPr txBox="1"/>
          <p:nvPr/>
        </p:nvSpPr>
        <p:spPr>
          <a:xfrm>
            <a:off x="6023818" y="1563624"/>
            <a:ext cx="5436357" cy="3057144"/>
          </a:xfrm>
          <a:prstGeom prst="rect">
            <a:avLst/>
          </a:prstGeom>
          <a:noFill/>
          <a:ln/>
        </p:spPr>
        <p:txBody>
          <a:bodyPr wrap="square" lIns="0" tIns="0" rIns="0" bIns="0" rtlCol="0" anchor="t"/>
          <a:lstStyle/>
          <a:p>
            <a:pPr indent="0" marL="0">
              <a:lnSpc>
                <a:spcPct val="100000"/>
              </a:lnSpc>
              <a:buNone/>
            </a:pPr>
            <a:r>
              <a:rPr lang="en-US" sz="1200" dirty="0">
                <a:solidFill>
                  <a:srgbClr val="6B7280"/>
                </a:solidFill>
                <a:latin typeface="Courier New" pitchFamily="34" charset="0"/>
                <a:ea typeface="Courier New" pitchFamily="34" charset="-122"/>
                <a:cs typeface="Courier New" pitchFamily="34" charset="-120"/>
              </a:rPr>
              <a:t># ventes</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Consolide les ventes mensuelles et calcule</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des indicateurs par mois et par région.</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rgbClr val="6B7280"/>
                </a:solidFill>
                <a:latin typeface="Courier New" pitchFamily="34" charset="0"/>
                <a:ea typeface="Courier New" pitchFamily="34" charset="-122"/>
                <a:cs typeface="Courier New" pitchFamily="34" charset="-120"/>
              </a:rPr>
              <a:t>## Installation</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uv sync</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rgbClr val="6B7280"/>
                </a:solidFill>
                <a:latin typeface="Courier New" pitchFamily="34" charset="0"/>
                <a:ea typeface="Courier New" pitchFamily="34" charset="-122"/>
                <a:cs typeface="Courier New" pitchFamily="34" charset="-120"/>
              </a:rPr>
              <a:t>## Utilisation</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uv run ventes --config config.yaml</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rgbClr val="6B7280"/>
                </a:solidFill>
                <a:latin typeface="Courier New" pitchFamily="34" charset="0"/>
                <a:ea typeface="Courier New" pitchFamily="34" charset="-122"/>
                <a:cs typeface="Courier New" pitchFamily="34" charset="-120"/>
              </a:rPr>
              <a:t>## Données</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Déposer les fichiers dans data/brut/ventes/,</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au format ventes_AAAA_MM.csv.</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rgbClr val="6B7280"/>
                </a:solidFill>
                <a:latin typeface="Courier New" pitchFamily="34" charset="0"/>
                <a:ea typeface="Courier New" pitchFamily="34" charset="-122"/>
                <a:cs typeface="Courier New" pitchFamily="34" charset="-120"/>
              </a:rPr>
              <a:t>## Développement</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uv run pytest</a:t>
            </a:r>
            <a:endParaRPr lang="en-US" sz="1200" dirty="0"/>
          </a:p>
        </p:txBody>
      </p:sp>
      <p:sp>
        <p:nvSpPr>
          <p:cNvPr id="34" name="Text 3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UN PROJET PARTAGEABLE</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Ce qui se versionne, ce qui ne se versionne pas</a:t>
            </a:r>
            <a:endParaRPr lang="en-US" sz="3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5318608" cy="914400"/>
        </p:xfrm>
        <a:graphic>
          <a:graphicData uri="http://schemas.openxmlformats.org/drawingml/2006/table">
            <a:tbl>
              <a:tblPr/>
              <a:tblGrid>
                <a:gridCol w="2659304"/>
                <a:gridCol w="2659304"/>
              </a:tblGrid>
              <a:tr h="365379">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Versionné</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Non versionné</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pyproject.toml</a:t>
                      </a:r>
                      <a:pPr indent="0" marL="0">
                        <a:buNone/>
                      </a:pPr>
                      <a:r>
                        <a:rPr lang="en-US" sz="1500" dirty="0">
                          <a:solidFill>
                            <a:srgbClr val="1F2933"/>
                          </a:solidFill>
                          <a:latin typeface="Calibri" pitchFamily="34" charset="0"/>
                          <a:ea typeface="Calibri" pitchFamily="34" charset="-122"/>
                          <a:cs typeface="Calibri" pitchFamily="34" charset="-120"/>
                        </a:rPr>
                        <a:t>, </a:t>
                      </a:r>
                      <a:pPr indent="0" marL="0">
                        <a:buNone/>
                      </a:pPr>
                      <a:r>
                        <a:rPr lang="en-US" sz="1500" dirty="0">
                          <a:solidFill>
                            <a:srgbClr val="1F3A5F"/>
                          </a:solidFill>
                          <a:latin typeface="Courier New" pitchFamily="34" charset="0"/>
                          <a:ea typeface="Courier New" pitchFamily="34" charset="-122"/>
                          <a:cs typeface="Courier New" pitchFamily="34" charset="-120"/>
                        </a:rPr>
                        <a:t>uv.lock</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.venv/</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.python-version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__pycache__/</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65379">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le code, les tests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outputs/</a:t>
                      </a:r>
                      <a:pPr indent="0" marL="0">
                        <a:buNone/>
                      </a:pPr>
                      <a:r>
                        <a:rPr lang="en-US" sz="1500" dirty="0">
                          <a:solidFill>
                            <a:srgbClr val="1F2933"/>
                          </a:solidFill>
                          <a:latin typeface="Calibri" pitchFamily="34" charset="0"/>
                          <a:ea typeface="Calibri" pitchFamily="34" charset="-122"/>
                          <a:cs typeface="Calibri" pitchFamily="34" charset="-120"/>
                        </a:rPr>
                        <a:t>, régénérable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les notebooks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.env</a:t>
                      </a:r>
                      <a:pPr indent="0" marL="0">
                        <a:buNone/>
                      </a:pPr>
                      <a:r>
                        <a:rPr lang="en-US" sz="1500" dirty="0">
                          <a:solidFill>
                            <a:srgbClr val="1F2933"/>
                          </a:solidFill>
                          <a:latin typeface="Calibri" pitchFamily="34" charset="0"/>
                          <a:ea typeface="Calibri" pitchFamily="34" charset="-122"/>
                          <a:cs typeface="Calibri" pitchFamily="34" charset="-120"/>
                        </a:rPr>
                        <a:t> et ses secrets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584454">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config.yaml</a:t>
                      </a:r>
                      <a:pPr indent="0" marL="0">
                        <a:buNone/>
                      </a:pPr>
                      <a:r>
                        <a:rPr lang="en-US" sz="1500" dirty="0">
                          <a:solidFill>
                            <a:srgbClr val="1F2933"/>
                          </a:solidFill>
                          <a:latin typeface="Calibri" pitchFamily="34" charset="0"/>
                          <a:ea typeface="Calibri" pitchFamily="34" charset="-122"/>
                          <a:cs typeface="Calibri" pitchFamily="34" charset="-120"/>
                        </a:rPr>
                        <a:t> sans secret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les données volumineuses ou sensibles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6324448" y="1417320"/>
            <a:ext cx="5318608"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.gitignore</a:t>
            </a:r>
            <a:endParaRPr lang="en-US" sz="1200" dirty="0"/>
          </a:p>
        </p:txBody>
      </p:sp>
      <p:sp>
        <p:nvSpPr>
          <p:cNvPr id="8" name="Shape 5"/>
          <p:cNvSpPr/>
          <p:nvPr/>
        </p:nvSpPr>
        <p:spPr>
          <a:xfrm>
            <a:off x="6324448" y="1709928"/>
            <a:ext cx="5318608" cy="1641348"/>
          </a:xfrm>
          <a:prstGeom prst="rect">
            <a:avLst/>
          </a:prstGeom>
          <a:solidFill>
            <a:srgbClr val="F3F4F6"/>
          </a:solidFill>
          <a:ln/>
        </p:spPr>
      </p:sp>
      <p:sp>
        <p:nvSpPr>
          <p:cNvPr id="9" name="Text 6"/>
          <p:cNvSpPr txBox="1"/>
          <p:nvPr/>
        </p:nvSpPr>
        <p:spPr>
          <a:xfrm>
            <a:off x="6507328" y="1856232"/>
            <a:ext cx="4952848" cy="134874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.venv/</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__pycache__/</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.ipynb_checkpoints/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.env</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outputs/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data/brut/</a:t>
            </a:r>
            <a:endParaRPr lang="en-US" sz="1500" dirty="0"/>
          </a:p>
        </p:txBody>
      </p:sp>
      <p:sp>
        <p:nvSpPr>
          <p:cNvPr id="10" name="Text 7"/>
          <p:cNvSpPr txBox="1"/>
          <p:nvPr/>
        </p:nvSpPr>
        <p:spPr>
          <a:xfrm>
            <a:off x="6324448" y="3671316"/>
            <a:ext cx="5318608" cy="59436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Pour les données non versionnées, le README dit où les trouver et où les déposer.</a:t>
            </a:r>
            <a:endParaRPr lang="en-US" sz="1500" dirty="0"/>
          </a:p>
        </p:txBody>
      </p:sp>
      <p:sp>
        <p:nvSpPr>
          <p:cNvPr id="11" name="Text 8"/>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UN PROJET PARTAGEABLE</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Le test du collègue</a:t>
            </a:r>
            <a:endParaRPr lang="en-US" sz="3000" dirty="0"/>
          </a:p>
        </p:txBody>
      </p:sp>
      <p:sp>
        <p:nvSpPr>
          <p:cNvPr id="6" name="Shape 4"/>
          <p:cNvSpPr/>
          <p:nvPr/>
        </p:nvSpPr>
        <p:spPr>
          <a:xfrm>
            <a:off x="1935442" y="2057400"/>
            <a:ext cx="8320811" cy="0"/>
          </a:xfrm>
          <a:prstGeom prst="line">
            <a:avLst/>
          </a:prstGeom>
          <a:noFill/>
          <a:ln w="25400">
            <a:solidFill>
              <a:srgbClr val="D5DCE3"/>
            </a:solidFill>
            <a:prstDash val="solid"/>
          </a:ln>
        </p:spPr>
      </p:sp>
      <p:sp>
        <p:nvSpPr>
          <p:cNvPr id="7" name="Shape 5"/>
          <p:cNvSpPr/>
          <p:nvPr/>
        </p:nvSpPr>
        <p:spPr>
          <a:xfrm>
            <a:off x="1706842" y="1828800"/>
            <a:ext cx="457200" cy="457200"/>
          </a:xfrm>
          <a:prstGeom prst="ellipse">
            <a:avLst/>
          </a:prstGeom>
          <a:solidFill>
            <a:srgbClr val="2F7D62"/>
          </a:solidFill>
          <a:ln/>
        </p:spPr>
      </p:sp>
      <p:sp>
        <p:nvSpPr>
          <p:cNvPr id="8" name="Text 6"/>
          <p:cNvSpPr txBox="1"/>
          <p:nvPr/>
        </p:nvSpPr>
        <p:spPr>
          <a:xfrm>
            <a:off x="1706842"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594360" y="2423160"/>
            <a:ext cx="2682164" cy="502920"/>
          </a:xfrm>
          <a:prstGeom prst="rect">
            <a:avLst/>
          </a:prstGeom>
          <a:noFill/>
          <a:ln/>
        </p:spPr>
        <p:txBody>
          <a:bodyPr wrap="square" lIns="0" tIns="0" rIns="0" bIns="0" rtlCol="0" anchor="t"/>
          <a:lstStyle/>
          <a:p>
            <a:pPr algn="ctr" indent="0" marL="0">
              <a:buNone/>
            </a:pPr>
            <a:r>
              <a:rPr lang="en-US" sz="1600" b="1" dirty="0">
                <a:solidFill>
                  <a:srgbClr val="1F3A5F"/>
                </a:solidFill>
                <a:latin typeface="Calibri" pitchFamily="34" charset="0"/>
                <a:ea typeface="Calibri" pitchFamily="34" charset="-122"/>
                <a:cs typeface="Calibri" pitchFamily="34" charset="-120"/>
              </a:rPr>
              <a:t>Dossier vide</a:t>
            </a:r>
            <a:endParaRPr lang="en-US" sz="1600" dirty="0"/>
          </a:p>
        </p:txBody>
      </p:sp>
      <p:sp>
        <p:nvSpPr>
          <p:cNvPr id="10" name="Text 8"/>
          <p:cNvSpPr txBox="1"/>
          <p:nvPr/>
        </p:nvSpPr>
        <p:spPr>
          <a:xfrm>
            <a:off x="594360" y="2926080"/>
            <a:ext cx="2682164"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sans .venv ni outputs</a:t>
            </a:r>
            <a:endParaRPr lang="en-US" sz="1300" dirty="0"/>
          </a:p>
        </p:txBody>
      </p:sp>
      <p:sp>
        <p:nvSpPr>
          <p:cNvPr id="11" name="Shape 9"/>
          <p:cNvSpPr/>
          <p:nvPr/>
        </p:nvSpPr>
        <p:spPr>
          <a:xfrm>
            <a:off x="4480446" y="1828800"/>
            <a:ext cx="457200" cy="457200"/>
          </a:xfrm>
          <a:prstGeom prst="ellipse">
            <a:avLst/>
          </a:prstGeom>
          <a:solidFill>
            <a:srgbClr val="2F7D62"/>
          </a:solidFill>
          <a:ln/>
        </p:spPr>
      </p:sp>
      <p:sp>
        <p:nvSpPr>
          <p:cNvPr id="12" name="Text 10"/>
          <p:cNvSpPr txBox="1"/>
          <p:nvPr/>
        </p:nvSpPr>
        <p:spPr>
          <a:xfrm>
            <a:off x="4480446"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3367964" y="2423160"/>
            <a:ext cx="2682164" cy="502920"/>
          </a:xfrm>
          <a:prstGeom prst="rect">
            <a:avLst/>
          </a:prstGeom>
          <a:noFill/>
          <a:ln/>
        </p:spPr>
        <p:txBody>
          <a:bodyPr wrap="square" lIns="0" tIns="0" rIns="0" bIns="0" rtlCol="0" anchor="t"/>
          <a:lstStyle/>
          <a:p>
            <a:pPr algn="ctr" indent="0" marL="0">
              <a:buNone/>
            </a:pPr>
            <a:r>
              <a:rPr lang="en-US" sz="1600" b="1" dirty="0">
                <a:solidFill>
                  <a:srgbClr val="1F3A5F"/>
                </a:solidFill>
                <a:latin typeface="Calibri" pitchFamily="34" charset="0"/>
                <a:ea typeface="Calibri" pitchFamily="34" charset="-122"/>
                <a:cs typeface="Calibri" pitchFamily="34" charset="-120"/>
              </a:rPr>
              <a:t>uv sync</a:t>
            </a:r>
            <a:endParaRPr lang="en-US" sz="1600" dirty="0"/>
          </a:p>
        </p:txBody>
      </p:sp>
      <p:sp>
        <p:nvSpPr>
          <p:cNvPr id="14" name="Text 12"/>
          <p:cNvSpPr txBox="1"/>
          <p:nvPr/>
        </p:nvSpPr>
        <p:spPr>
          <a:xfrm>
            <a:off x="3367964" y="2926080"/>
            <a:ext cx="2682164"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l'environnement</a:t>
            </a:r>
            <a:endParaRPr lang="en-US" sz="1300" dirty="0"/>
          </a:p>
        </p:txBody>
      </p:sp>
      <p:sp>
        <p:nvSpPr>
          <p:cNvPr id="15" name="Shape 13"/>
          <p:cNvSpPr/>
          <p:nvPr/>
        </p:nvSpPr>
        <p:spPr>
          <a:xfrm>
            <a:off x="7254050" y="1828800"/>
            <a:ext cx="457200" cy="457200"/>
          </a:xfrm>
          <a:prstGeom prst="ellipse">
            <a:avLst/>
          </a:prstGeom>
          <a:solidFill>
            <a:srgbClr val="2F7D62"/>
          </a:solidFill>
          <a:ln/>
        </p:spPr>
      </p:sp>
      <p:sp>
        <p:nvSpPr>
          <p:cNvPr id="16" name="Text 14"/>
          <p:cNvSpPr txBox="1"/>
          <p:nvPr/>
        </p:nvSpPr>
        <p:spPr>
          <a:xfrm>
            <a:off x="7254050"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6141568" y="2423160"/>
            <a:ext cx="2682164" cy="502920"/>
          </a:xfrm>
          <a:prstGeom prst="rect">
            <a:avLst/>
          </a:prstGeom>
          <a:noFill/>
          <a:ln/>
        </p:spPr>
        <p:txBody>
          <a:bodyPr wrap="square" lIns="0" tIns="0" rIns="0" bIns="0" rtlCol="0" anchor="t"/>
          <a:lstStyle/>
          <a:p>
            <a:pPr algn="ctr" indent="0" marL="0">
              <a:buNone/>
            </a:pPr>
            <a:r>
              <a:rPr lang="en-US" sz="1600" b="1" dirty="0">
                <a:solidFill>
                  <a:srgbClr val="1F3A5F"/>
                </a:solidFill>
                <a:latin typeface="Calibri" pitchFamily="34" charset="0"/>
                <a:ea typeface="Calibri" pitchFamily="34" charset="-122"/>
                <a:cs typeface="Calibri" pitchFamily="34" charset="-120"/>
              </a:rPr>
              <a:t>uv run pytest</a:t>
            </a:r>
            <a:endParaRPr lang="en-US" sz="1600" dirty="0"/>
          </a:p>
        </p:txBody>
      </p:sp>
      <p:sp>
        <p:nvSpPr>
          <p:cNvPr id="18" name="Text 16"/>
          <p:cNvSpPr txBox="1"/>
          <p:nvPr/>
        </p:nvSpPr>
        <p:spPr>
          <a:xfrm>
            <a:off x="6141568" y="2926080"/>
            <a:ext cx="2682164"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les tests</a:t>
            </a:r>
            <a:endParaRPr lang="en-US" sz="1300" dirty="0"/>
          </a:p>
        </p:txBody>
      </p:sp>
      <p:sp>
        <p:nvSpPr>
          <p:cNvPr id="19" name="Shape 17"/>
          <p:cNvSpPr/>
          <p:nvPr/>
        </p:nvSpPr>
        <p:spPr>
          <a:xfrm>
            <a:off x="10027653" y="1828800"/>
            <a:ext cx="457200" cy="457200"/>
          </a:xfrm>
          <a:prstGeom prst="ellipse">
            <a:avLst/>
          </a:prstGeom>
          <a:solidFill>
            <a:srgbClr val="2F7D62"/>
          </a:solidFill>
          <a:ln/>
        </p:spPr>
      </p:sp>
      <p:sp>
        <p:nvSpPr>
          <p:cNvPr id="20" name="Text 18"/>
          <p:cNvSpPr txBox="1"/>
          <p:nvPr/>
        </p:nvSpPr>
        <p:spPr>
          <a:xfrm>
            <a:off x="10027653"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1" name="Text 19"/>
          <p:cNvSpPr txBox="1"/>
          <p:nvPr/>
        </p:nvSpPr>
        <p:spPr>
          <a:xfrm>
            <a:off x="8915171" y="2423160"/>
            <a:ext cx="2682164" cy="502920"/>
          </a:xfrm>
          <a:prstGeom prst="rect">
            <a:avLst/>
          </a:prstGeom>
          <a:noFill/>
          <a:ln/>
        </p:spPr>
        <p:txBody>
          <a:bodyPr wrap="square" lIns="0" tIns="0" rIns="0" bIns="0" rtlCol="0" anchor="t"/>
          <a:lstStyle/>
          <a:p>
            <a:pPr algn="ctr" indent="0" marL="0">
              <a:buNone/>
            </a:pPr>
            <a:r>
              <a:rPr lang="en-US" sz="1600" b="1" dirty="0">
                <a:solidFill>
                  <a:srgbClr val="1F3A5F"/>
                </a:solidFill>
                <a:latin typeface="Calibri" pitchFamily="34" charset="0"/>
                <a:ea typeface="Calibri" pitchFamily="34" charset="-122"/>
                <a:cs typeface="Calibri" pitchFamily="34" charset="-120"/>
              </a:rPr>
              <a:t>uv run ventes</a:t>
            </a:r>
            <a:endParaRPr lang="en-US" sz="1600" dirty="0"/>
          </a:p>
        </p:txBody>
      </p:sp>
      <p:sp>
        <p:nvSpPr>
          <p:cNvPr id="22" name="Text 20"/>
          <p:cNvSpPr txBox="1"/>
          <p:nvPr/>
        </p:nvSpPr>
        <p:spPr>
          <a:xfrm>
            <a:off x="8915171" y="2926080"/>
            <a:ext cx="2682164"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le résultat</a:t>
            </a:r>
            <a:endParaRPr lang="en-US" sz="1300" dirty="0"/>
          </a:p>
        </p:txBody>
      </p:sp>
      <p:sp>
        <p:nvSpPr>
          <p:cNvPr id="23" name="Shape 21"/>
          <p:cNvSpPr/>
          <p:nvPr/>
        </p:nvSpPr>
        <p:spPr>
          <a:xfrm>
            <a:off x="548640" y="3657600"/>
            <a:ext cx="11094415" cy="966978"/>
          </a:xfrm>
          <a:prstGeom prst="rect">
            <a:avLst/>
          </a:prstGeom>
          <a:solidFill>
            <a:srgbClr val="F3F4F6"/>
          </a:solidFill>
          <a:ln/>
        </p:spPr>
      </p:sp>
      <p:sp>
        <p:nvSpPr>
          <p:cNvPr id="24" name="Text 22"/>
          <p:cNvSpPr txBox="1"/>
          <p:nvPr/>
        </p:nvSpPr>
        <p:spPr>
          <a:xfrm>
            <a:off x="731520" y="3803904"/>
            <a:ext cx="10728655" cy="67437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git clone ... /tmp/test-ventes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cd /tmp/test-ventes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sync &amp;&amp; uv run pytest &amp;&amp; uv run ventes</a:t>
            </a:r>
            <a:endParaRPr lang="en-US" sz="1500" dirty="0"/>
          </a:p>
        </p:txBody>
      </p:sp>
      <p:sp>
        <p:nvSpPr>
          <p:cNvPr id="25" name="Shape 23"/>
          <p:cNvSpPr/>
          <p:nvPr/>
        </p:nvSpPr>
        <p:spPr>
          <a:xfrm>
            <a:off x="548640" y="4944618"/>
            <a:ext cx="11094415" cy="624840"/>
          </a:xfrm>
          <a:prstGeom prst="roundRect">
            <a:avLst>
              <a:gd name="adj" fmla="val 8780"/>
            </a:avLst>
          </a:prstGeom>
          <a:solidFill>
            <a:srgbClr val="E8F3EE"/>
          </a:solidFill>
          <a:ln/>
        </p:spPr>
      </p:sp>
      <p:sp>
        <p:nvSpPr>
          <p:cNvPr id="26" name="Text 24"/>
          <p:cNvSpPr txBox="1"/>
          <p:nvPr/>
        </p:nvSpPr>
        <p:spPr>
          <a:xfrm>
            <a:off x="822960" y="4944618"/>
            <a:ext cx="10545775" cy="62484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Si l'une de ces commandes échoue, le projet n'est pas encore partageable.</a:t>
            </a:r>
            <a:endParaRPr lang="en-US" sz="1700" dirty="0"/>
          </a:p>
        </p:txBody>
      </p:sp>
      <p:sp>
        <p:nvSpPr>
          <p:cNvPr id="27" name="Text 25"/>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TP6 : le projet fil rouge</a:t>
            </a:r>
            <a:endParaRPr lang="en-US" sz="3000" dirty="0"/>
          </a:p>
        </p:txBody>
      </p:sp>
      <p:sp>
        <p:nvSpPr>
          <p:cNvPr id="3" name="Text 1"/>
          <p:cNvSpPr txBox="1"/>
          <p:nvPr/>
        </p:nvSpPr>
        <p:spPr>
          <a:xfrm>
            <a:off x="548640" y="1417320"/>
            <a:ext cx="11094415" cy="411480"/>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Cahier des charges dans exercices/tp06-projet-final/README.md</a:t>
            </a:r>
            <a:endParaRPr lang="en-US" sz="1800" dirty="0"/>
          </a:p>
        </p:txBody>
      </p:sp>
      <p:sp>
        <p:nvSpPr>
          <p:cNvPr id="4" name="Shape 2"/>
          <p:cNvSpPr/>
          <p:nvPr/>
        </p:nvSpPr>
        <p:spPr>
          <a:xfrm>
            <a:off x="548640" y="2011680"/>
            <a:ext cx="2567864" cy="2453640"/>
          </a:xfrm>
          <a:prstGeom prst="roundRect">
            <a:avLst>
              <a:gd name="adj" fmla="val 2981"/>
            </a:avLst>
          </a:prstGeom>
          <a:solidFill>
            <a:srgbClr val="EEF3F7"/>
          </a:solidFill>
          <a:ln/>
        </p:spPr>
      </p:sp>
      <p:sp>
        <p:nvSpPr>
          <p:cNvPr id="5" name="Shape 3"/>
          <p:cNvSpPr/>
          <p:nvPr/>
        </p:nvSpPr>
        <p:spPr>
          <a:xfrm>
            <a:off x="777240" y="2286000"/>
            <a:ext cx="402336" cy="402336"/>
          </a:xfrm>
          <a:prstGeom prst="ellipse">
            <a:avLst/>
          </a:prstGeom>
          <a:solidFill>
            <a:srgbClr val="2F7D62"/>
          </a:solidFill>
          <a:ln/>
        </p:spPr>
      </p:sp>
      <p:sp>
        <p:nvSpPr>
          <p:cNvPr id="6" name="Text 4"/>
          <p:cNvSpPr txBox="1"/>
          <p:nvPr/>
        </p:nvSpPr>
        <p:spPr>
          <a:xfrm>
            <a:off x="777240" y="22860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777240" y="2834640"/>
            <a:ext cx="2110664" cy="243840"/>
          </a:xfrm>
          <a:prstGeom prst="rect">
            <a:avLst/>
          </a:prstGeom>
          <a:noFill/>
          <a:ln/>
        </p:spPr>
        <p:txBody>
          <a:bodyPr wrap="square" lIns="0" tIns="0" rIns="0" bIns="0" rtlCol="0" anchor="t"/>
          <a:lstStyle/>
          <a:p>
            <a:pPr indent="0" marL="0">
              <a:buNone/>
            </a:pPr>
            <a:r>
              <a:rPr lang="en-US" sz="1600" b="1" dirty="0">
                <a:solidFill>
                  <a:srgbClr val="1F3A5F"/>
                </a:solidFill>
                <a:latin typeface="Calibri" pitchFamily="34" charset="0"/>
                <a:ea typeface="Calibri" pitchFamily="34" charset="-122"/>
                <a:cs typeface="Calibri" pitchFamily="34" charset="-120"/>
              </a:rPr>
              <a:t>Un projet uv</a:t>
            </a:r>
            <a:endParaRPr lang="en-US" sz="1600" dirty="0"/>
          </a:p>
        </p:txBody>
      </p:sp>
      <p:sp>
        <p:nvSpPr>
          <p:cNvPr id="8" name="Text 6"/>
          <p:cNvSpPr txBox="1"/>
          <p:nvPr/>
        </p:nvSpPr>
        <p:spPr>
          <a:xfrm>
            <a:off x="777240" y="3169920"/>
            <a:ext cx="2110664" cy="1112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Créé avec </a:t>
            </a:r>
            <a:pPr indent="0" marL="0">
              <a:buNone/>
            </a:pPr>
            <a:r>
              <a:rPr lang="en-US" sz="1400" dirty="0">
                <a:solidFill>
                  <a:srgbClr val="1F3A5F"/>
                </a:solidFill>
                <a:latin typeface="Courier New" pitchFamily="34" charset="0"/>
                <a:ea typeface="Courier New" pitchFamily="34" charset="-122"/>
                <a:cs typeface="Courier New" pitchFamily="34" charset="-120"/>
              </a:rPr>
              <a:t>uv init --package</a:t>
            </a:r>
            <a:pPr indent="0" marL="0">
              <a:buNone/>
            </a:pPr>
            <a:r>
              <a:rPr lang="en-US" sz="1400" dirty="0">
                <a:solidFill>
                  <a:srgbClr val="1F2933"/>
                </a:solidFill>
                <a:latin typeface="Calibri" pitchFamily="34" charset="0"/>
                <a:ea typeface="Calibri" pitchFamily="34" charset="-122"/>
                <a:cs typeface="Calibri" pitchFamily="34" charset="-120"/>
              </a:rPr>
              <a:t> à l'étape 1, dépendances et outils déclarés, </a:t>
            </a:r>
            <a:pPr indent="0" marL="0">
              <a:buNone/>
            </a:pPr>
            <a:r>
              <a:rPr lang="en-US" sz="1400" dirty="0">
                <a:solidFill>
                  <a:srgbClr val="1F3A5F"/>
                </a:solidFill>
                <a:latin typeface="Courier New" pitchFamily="34" charset="0"/>
                <a:ea typeface="Courier New" pitchFamily="34" charset="-122"/>
                <a:cs typeface="Courier New" pitchFamily="34" charset="-120"/>
              </a:rPr>
              <a:t>uv.lock</a:t>
            </a:r>
            <a:pPr indent="0" marL="0">
              <a:buNone/>
            </a:pPr>
            <a:r>
              <a:rPr lang="en-US" sz="1400" dirty="0">
                <a:solidFill>
                  <a:srgbClr val="1F2933"/>
                </a:solidFill>
                <a:latin typeface="Calibri" pitchFamily="34" charset="0"/>
                <a:ea typeface="Calibri" pitchFamily="34" charset="-122"/>
                <a:cs typeface="Calibri" pitchFamily="34" charset="-120"/>
              </a:rPr>
              <a:t> livré.</a:t>
            </a:r>
            <a:endParaRPr lang="en-US" sz="1400" dirty="0"/>
          </a:p>
        </p:txBody>
      </p:sp>
      <p:sp>
        <p:nvSpPr>
          <p:cNvPr id="9" name="Shape 7"/>
          <p:cNvSpPr/>
          <p:nvPr/>
        </p:nvSpPr>
        <p:spPr>
          <a:xfrm>
            <a:off x="3390824" y="2011680"/>
            <a:ext cx="2567864" cy="2453640"/>
          </a:xfrm>
          <a:prstGeom prst="roundRect">
            <a:avLst>
              <a:gd name="adj" fmla="val 2981"/>
            </a:avLst>
          </a:prstGeom>
          <a:solidFill>
            <a:srgbClr val="EEF3F7"/>
          </a:solidFill>
          <a:ln/>
        </p:spPr>
      </p:sp>
      <p:sp>
        <p:nvSpPr>
          <p:cNvPr id="10" name="Shape 8"/>
          <p:cNvSpPr/>
          <p:nvPr/>
        </p:nvSpPr>
        <p:spPr>
          <a:xfrm>
            <a:off x="3619424" y="2286000"/>
            <a:ext cx="402336" cy="402336"/>
          </a:xfrm>
          <a:prstGeom prst="ellipse">
            <a:avLst/>
          </a:prstGeom>
          <a:solidFill>
            <a:srgbClr val="2F7D62"/>
          </a:solidFill>
          <a:ln/>
        </p:spPr>
      </p:sp>
      <p:sp>
        <p:nvSpPr>
          <p:cNvPr id="11" name="Text 9"/>
          <p:cNvSpPr txBox="1"/>
          <p:nvPr/>
        </p:nvSpPr>
        <p:spPr>
          <a:xfrm>
            <a:off x="3619424" y="22860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3619424" y="2834640"/>
            <a:ext cx="2110664" cy="487680"/>
          </a:xfrm>
          <a:prstGeom prst="rect">
            <a:avLst/>
          </a:prstGeom>
          <a:noFill/>
          <a:ln/>
        </p:spPr>
        <p:txBody>
          <a:bodyPr wrap="square" lIns="0" tIns="0" rIns="0" bIns="0" rtlCol="0" anchor="t"/>
          <a:lstStyle/>
          <a:p>
            <a:pPr indent="0" marL="0">
              <a:buNone/>
            </a:pPr>
            <a:r>
              <a:rPr lang="en-US" sz="1600" b="1" dirty="0">
                <a:solidFill>
                  <a:srgbClr val="1F3A5F"/>
                </a:solidFill>
                <a:latin typeface="Calibri" pitchFamily="34" charset="0"/>
                <a:ea typeface="Calibri" pitchFamily="34" charset="-122"/>
                <a:cs typeface="Calibri" pitchFamily="34" charset="-120"/>
              </a:rPr>
              <a:t>Un notebook d'analyse</a:t>
            </a:r>
            <a:endParaRPr lang="en-US" sz="1600" dirty="0"/>
          </a:p>
        </p:txBody>
      </p:sp>
      <p:sp>
        <p:nvSpPr>
          <p:cNvPr id="13" name="Text 11"/>
          <p:cNvSpPr txBox="1"/>
          <p:nvPr/>
        </p:nvSpPr>
        <p:spPr>
          <a:xfrm>
            <a:off x="3619424" y="3413760"/>
            <a:ext cx="2110664" cy="8686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Qui importe le paquet, 3 à 5 graphiques commentés et une conclusion.</a:t>
            </a:r>
            <a:endParaRPr lang="en-US" sz="1400" dirty="0"/>
          </a:p>
        </p:txBody>
      </p:sp>
      <p:sp>
        <p:nvSpPr>
          <p:cNvPr id="14" name="Shape 12"/>
          <p:cNvSpPr/>
          <p:nvPr/>
        </p:nvSpPr>
        <p:spPr>
          <a:xfrm>
            <a:off x="6233008" y="2011680"/>
            <a:ext cx="2567864" cy="2453640"/>
          </a:xfrm>
          <a:prstGeom prst="roundRect">
            <a:avLst>
              <a:gd name="adj" fmla="val 2981"/>
            </a:avLst>
          </a:prstGeom>
          <a:solidFill>
            <a:srgbClr val="EEF3F7"/>
          </a:solidFill>
          <a:ln/>
        </p:spPr>
      </p:sp>
      <p:sp>
        <p:nvSpPr>
          <p:cNvPr id="15" name="Shape 13"/>
          <p:cNvSpPr/>
          <p:nvPr/>
        </p:nvSpPr>
        <p:spPr>
          <a:xfrm>
            <a:off x="6461608" y="2286000"/>
            <a:ext cx="402336" cy="402336"/>
          </a:xfrm>
          <a:prstGeom prst="ellipse">
            <a:avLst/>
          </a:prstGeom>
          <a:solidFill>
            <a:srgbClr val="2F7D62"/>
          </a:solidFill>
          <a:ln/>
        </p:spPr>
      </p:sp>
      <p:sp>
        <p:nvSpPr>
          <p:cNvPr id="16" name="Text 14"/>
          <p:cNvSpPr txBox="1"/>
          <p:nvPr/>
        </p:nvSpPr>
        <p:spPr>
          <a:xfrm>
            <a:off x="6461608" y="22860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6461608" y="2834640"/>
            <a:ext cx="2110664" cy="243840"/>
          </a:xfrm>
          <a:prstGeom prst="rect">
            <a:avLst/>
          </a:prstGeom>
          <a:noFill/>
          <a:ln/>
        </p:spPr>
        <p:txBody>
          <a:bodyPr wrap="square" lIns="0" tIns="0" rIns="0" bIns="0" rtlCol="0" anchor="t"/>
          <a:lstStyle/>
          <a:p>
            <a:pPr indent="0" marL="0">
              <a:buNone/>
            </a:pPr>
            <a:r>
              <a:rPr lang="en-US" sz="1600" b="1" dirty="0">
                <a:solidFill>
                  <a:srgbClr val="1F3A5F"/>
                </a:solidFill>
                <a:latin typeface="Calibri" pitchFamily="34" charset="0"/>
                <a:ea typeface="Calibri" pitchFamily="34" charset="-122"/>
                <a:cs typeface="Calibri" pitchFamily="34" charset="-120"/>
              </a:rPr>
              <a:t>Une commande</a:t>
            </a:r>
            <a:endParaRPr lang="en-US" sz="1600" dirty="0"/>
          </a:p>
        </p:txBody>
      </p:sp>
      <p:sp>
        <p:nvSpPr>
          <p:cNvPr id="18" name="Text 16"/>
          <p:cNvSpPr txBox="1"/>
          <p:nvPr/>
        </p:nvSpPr>
        <p:spPr>
          <a:xfrm>
            <a:off x="6461608" y="3169920"/>
            <a:ext cx="2110664" cy="1112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Qui produit un rapport HTML, des graphiques ou un fichier Excel, avec journal et code de sortie.</a:t>
            </a:r>
            <a:endParaRPr lang="en-US" sz="1400" dirty="0"/>
          </a:p>
        </p:txBody>
      </p:sp>
      <p:sp>
        <p:nvSpPr>
          <p:cNvPr id="19" name="Shape 17"/>
          <p:cNvSpPr/>
          <p:nvPr/>
        </p:nvSpPr>
        <p:spPr>
          <a:xfrm>
            <a:off x="9075191" y="2011680"/>
            <a:ext cx="2567864" cy="2453640"/>
          </a:xfrm>
          <a:prstGeom prst="roundRect">
            <a:avLst>
              <a:gd name="adj" fmla="val 2981"/>
            </a:avLst>
          </a:prstGeom>
          <a:solidFill>
            <a:srgbClr val="EEF3F7"/>
          </a:solidFill>
          <a:ln/>
        </p:spPr>
      </p:sp>
      <p:sp>
        <p:nvSpPr>
          <p:cNvPr id="20" name="Shape 18"/>
          <p:cNvSpPr/>
          <p:nvPr/>
        </p:nvSpPr>
        <p:spPr>
          <a:xfrm>
            <a:off x="9303791" y="2286000"/>
            <a:ext cx="402336" cy="402336"/>
          </a:xfrm>
          <a:prstGeom prst="ellipse">
            <a:avLst/>
          </a:prstGeom>
          <a:solidFill>
            <a:srgbClr val="2F7D62"/>
          </a:solidFill>
          <a:ln/>
        </p:spPr>
      </p:sp>
      <p:sp>
        <p:nvSpPr>
          <p:cNvPr id="21" name="Text 19"/>
          <p:cNvSpPr txBox="1"/>
          <p:nvPr/>
        </p:nvSpPr>
        <p:spPr>
          <a:xfrm>
            <a:off x="9303791" y="22860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txBox="1"/>
          <p:nvPr/>
        </p:nvSpPr>
        <p:spPr>
          <a:xfrm>
            <a:off x="9303791" y="2834640"/>
            <a:ext cx="2110664" cy="243840"/>
          </a:xfrm>
          <a:prstGeom prst="rect">
            <a:avLst/>
          </a:prstGeom>
          <a:noFill/>
          <a:ln/>
        </p:spPr>
        <p:txBody>
          <a:bodyPr wrap="square" lIns="0" tIns="0" rIns="0" bIns="0" rtlCol="0" anchor="t"/>
          <a:lstStyle/>
          <a:p>
            <a:pPr indent="0" marL="0">
              <a:buNone/>
            </a:pPr>
            <a:r>
              <a:rPr lang="en-US" sz="1600" b="1" dirty="0">
                <a:solidFill>
                  <a:srgbClr val="1F3A5F"/>
                </a:solidFill>
                <a:latin typeface="Calibri" pitchFamily="34" charset="0"/>
                <a:ea typeface="Calibri" pitchFamily="34" charset="-122"/>
                <a:cs typeface="Calibri" pitchFamily="34" charset="-120"/>
              </a:rPr>
              <a:t>Des finitions</a:t>
            </a:r>
            <a:endParaRPr lang="en-US" sz="1600" dirty="0"/>
          </a:p>
        </p:txBody>
      </p:sp>
      <p:sp>
        <p:nvSpPr>
          <p:cNvPr id="23" name="Text 21"/>
          <p:cNvSpPr txBox="1"/>
          <p:nvPr/>
        </p:nvSpPr>
        <p:spPr>
          <a:xfrm>
            <a:off x="9303791" y="3169920"/>
            <a:ext cx="2110664" cy="1112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Tests, README, </a:t>
            </a:r>
            <a:pPr indent="0" marL="0">
              <a:buNone/>
            </a:pPr>
            <a:r>
              <a:rPr lang="en-US" sz="1400" dirty="0">
                <a:solidFill>
                  <a:srgbClr val="1F3A5F"/>
                </a:solidFill>
                <a:latin typeface="Courier New" pitchFamily="34" charset="0"/>
                <a:ea typeface="Courier New" pitchFamily="34" charset="-122"/>
                <a:cs typeface="Courier New" pitchFamily="34" charset="-120"/>
              </a:rPr>
              <a:t>.gitignore</a:t>
            </a:r>
            <a:pPr indent="0" marL="0">
              <a:buNone/>
            </a:pPr>
            <a:r>
              <a:rPr lang="en-US" sz="1400" dirty="0">
                <a:solidFill>
                  <a:srgbClr val="1F2933"/>
                </a:solidFill>
                <a:latin typeface="Calibri" pitchFamily="34" charset="0"/>
                <a:ea typeface="Calibri" pitchFamily="34" charset="-122"/>
                <a:cs typeface="Calibri" pitchFamily="34" charset="-120"/>
              </a:rPr>
              <a:t>, ruff, et le test du collègue.</a:t>
            </a:r>
            <a:endParaRPr lang="en-US" sz="1400" dirty="0"/>
          </a:p>
        </p:txBody>
      </p:sp>
      <p:sp>
        <p:nvSpPr>
          <p:cNvPr id="24" name="Text 22"/>
          <p:cNvSpPr txBox="1"/>
          <p:nvPr/>
        </p:nvSpPr>
        <p:spPr>
          <a:xfrm>
            <a:off x="548640" y="4785360"/>
            <a:ext cx="11094415" cy="624840"/>
          </a:xfrm>
          <a:prstGeom prst="rect">
            <a:avLst/>
          </a:prstGeom>
          <a:noFill/>
          <a:ln/>
        </p:spPr>
        <p:txBody>
          <a:bodyPr wrap="square" lIns="0" tIns="0" rIns="0" bIns="0" rtlCol="0" anchor="t"/>
          <a:lstStyle/>
          <a:p>
            <a:pPr indent="0" marL="0">
              <a:buNone/>
            </a:pPr>
            <a:r>
              <a:rPr lang="en-US" sz="1600" dirty="0">
                <a:solidFill>
                  <a:srgbClr val="6B7280"/>
                </a:solidFill>
                <a:latin typeface="Calibri" pitchFamily="34" charset="0"/>
                <a:ea typeface="Calibri" pitchFamily="34" charset="-122"/>
                <a:cs typeface="Calibri" pitchFamily="34" charset="-120"/>
              </a:rPr>
              <a:t>Idées : le rapport de la direction commerciale, le suivi des objectifs, l'analyse du catalogue, la fidélité.</a:t>
            </a:r>
            <a:endParaRPr lang="en-US" sz="1600" dirty="0"/>
          </a:p>
        </p:txBody>
      </p:sp>
      <p:sp>
        <p:nvSpPr>
          <p:cNvPr id="25" name="Text 23"/>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TP6 : vérifier le projet</a:t>
            </a:r>
            <a:endParaRPr lang="en-US" sz="3000" dirty="0"/>
          </a:p>
        </p:txBody>
      </p:sp>
      <p:sp>
        <p:nvSpPr>
          <p:cNvPr id="3" name="Text 1"/>
          <p:cNvSpPr txBox="1"/>
          <p:nvPr/>
        </p:nvSpPr>
        <p:spPr>
          <a:xfrm>
            <a:off x="548640"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Les chiffres de contrôle</a:t>
            </a:r>
            <a:endParaRPr lang="en-US" sz="17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5318608" cy="914400"/>
        </p:xfrm>
        <a:graphic>
          <a:graphicData uri="http://schemas.openxmlformats.org/drawingml/2006/table">
            <a:tbl>
              <a:tblPr/>
              <a:tblGrid>
                <a:gridCol w="2954782"/>
                <a:gridCol w="2363826"/>
              </a:tblGrid>
              <a:tr h="350774">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Contrôle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Attendu</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fichiers lus, ventes chargées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9 et 2182</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ventes hors catalogue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17, produit </a:t>
                      </a:r>
                      <a:pPr indent="0" marL="0">
                        <a:buNone/>
                      </a:pPr>
                      <a:r>
                        <a:rPr lang="en-US" sz="1400" dirty="0">
                          <a:solidFill>
                            <a:srgbClr val="1F3A5F"/>
                          </a:solidFill>
                          <a:latin typeface="Courier New" pitchFamily="34" charset="0"/>
                          <a:ea typeface="Courier New" pitchFamily="34" charset="-122"/>
                          <a:cs typeface="Courier New" pitchFamily="34" charset="-120"/>
                        </a:rPr>
                        <a:t>P17</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chiffre d'affaires total</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409 501,59 euros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lignes mois par région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54</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55524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objectif atteint, par mois et région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25 sur 54</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région en tête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Île-de-France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sp>
        <p:nvSpPr>
          <p:cNvPr id="5" name="Text 2"/>
          <p:cNvSpPr txBox="1"/>
          <p:nvPr/>
        </p:nvSpPr>
        <p:spPr>
          <a:xfrm>
            <a:off x="6324448"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Depuis une copie vierge du projet</a:t>
            </a:r>
            <a:endParaRPr lang="en-US" sz="1700" dirty="0"/>
          </a:p>
        </p:txBody>
      </p:sp>
      <p:graphicFrame>
        <p:nvGraphicFramePr>
          <p:cNvPr id="45" name="Table 1"/>
          <p:cNvGraphicFramePr>
            <a:graphicFrameLocks noGrp="1"/>
          </p:cNvGraphicFramePr>
          <p:nvPr>
            <p:extLst>
              <p:ext uri="{D42A27DB-BD31-4B8C-83A1-F6EECF244321}">
                <p14:modId xmlns:p14="http://schemas.microsoft.com/office/powerpoint/2010/main" val="1579011935"/>
              </p:ext>
            </p:extLst>
          </p:nvPr>
        </p:nvGraphicFramePr>
        <p:xfrm>
          <a:off x="6324448" y="1828800"/>
          <a:ext cx="5318608" cy="914400"/>
        </p:xfrm>
        <a:graphic>
          <a:graphicData uri="http://schemas.openxmlformats.org/drawingml/2006/table">
            <a:tbl>
              <a:tblPr/>
              <a:tblGrid>
                <a:gridCol w="2659304"/>
                <a:gridCol w="2659304"/>
              </a:tblGrid>
              <a:tr h="350774">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Commande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Attendu</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5077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uv sync --locked</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sans erreur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5524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uv run pytest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tout passe, sans </a:t>
                      </a:r>
                      <a:pPr indent="0" marL="0">
                        <a:buNone/>
                      </a:pPr>
                      <a:r>
                        <a:rPr lang="en-US" sz="1400" dirty="0">
                          <a:solidFill>
                            <a:srgbClr val="1F3A5F"/>
                          </a:solidFill>
                          <a:latin typeface="Courier New" pitchFamily="34" charset="0"/>
                          <a:ea typeface="Courier New" pitchFamily="34" charset="-122"/>
                          <a:cs typeface="Courier New" pitchFamily="34" charset="-120"/>
                        </a:rPr>
                        <a:t>failed</a:t>
                      </a:r>
                      <a:pPr indent="0" marL="0">
                        <a:buNone/>
                      </a:pPr>
                      <a:r>
                        <a:rPr lang="en-US" sz="1400" dirty="0">
                          <a:solidFill>
                            <a:srgbClr val="1F2933"/>
                          </a:solidFill>
                          <a:latin typeface="Calibri" pitchFamily="34" charset="0"/>
                          <a:ea typeface="Calibri" pitchFamily="34" charset="-122"/>
                          <a:cs typeface="Calibri" pitchFamily="34" charset="-120"/>
                        </a:rPr>
                        <a:t> ni </a:t>
                      </a:r>
                      <a:pPr indent="0" marL="0">
                        <a:buNone/>
                      </a:pPr>
                      <a:r>
                        <a:rPr lang="en-US" sz="1400" dirty="0">
                          <a:solidFill>
                            <a:srgbClr val="1F3A5F"/>
                          </a:solidFill>
                          <a:latin typeface="Courier New" pitchFamily="34" charset="0"/>
                          <a:ea typeface="Courier New" pitchFamily="34" charset="-122"/>
                          <a:cs typeface="Courier New" pitchFamily="34" charset="-120"/>
                        </a:rPr>
                        <a:t>error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5077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uv run ruff check .</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All checks passed!</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5524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uv run &lt;commande&gt;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sorties dans </a:t>
                      </a:r>
                      <a:pPr indent="0" marL="0">
                        <a:buNone/>
                      </a:pPr>
                      <a:r>
                        <a:rPr lang="en-US" sz="1400" dirty="0">
                          <a:solidFill>
                            <a:srgbClr val="1F3A5F"/>
                          </a:solidFill>
                          <a:latin typeface="Courier New" pitchFamily="34" charset="0"/>
                          <a:ea typeface="Courier New" pitchFamily="34" charset="-122"/>
                          <a:cs typeface="Courier New" pitchFamily="34" charset="-120"/>
                        </a:rPr>
                        <a:t>outputs/</a:t>
                      </a:r>
                      <a:pPr indent="0" marL="0">
                        <a:buNone/>
                      </a:pPr>
                      <a:r>
                        <a:rPr lang="en-US" sz="1400" dirty="0">
                          <a:solidFill>
                            <a:srgbClr val="1F2933"/>
                          </a:solidFill>
                          <a:latin typeface="Calibri" pitchFamily="34" charset="0"/>
                          <a:ea typeface="Calibri" pitchFamily="34" charset="-122"/>
                          <a:cs typeface="Calibri" pitchFamily="34" charset="-120"/>
                        </a:rPr>
                        <a:t>, code 0</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55524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uv run &lt;commande&gt; --config absent.yaml</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message clair, sans trace technique, code 1</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le notebook réexécuté</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les chiffres de contrôle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sp>
        <p:nvSpPr>
          <p:cNvPr id="7" name="Shape 3"/>
          <p:cNvSpPr/>
          <p:nvPr/>
        </p:nvSpPr>
        <p:spPr>
          <a:xfrm>
            <a:off x="548640" y="5217668"/>
            <a:ext cx="11094415" cy="883920"/>
          </a:xfrm>
          <a:prstGeom prst="roundRect">
            <a:avLst>
              <a:gd name="adj" fmla="val 6207"/>
            </a:avLst>
          </a:prstGeom>
          <a:solidFill>
            <a:srgbClr val="E8F3EE"/>
          </a:solidFill>
          <a:ln/>
        </p:spPr>
      </p:sp>
      <p:sp>
        <p:nvSpPr>
          <p:cNvPr id="8" name="Text 4"/>
          <p:cNvSpPr txBox="1"/>
          <p:nvPr/>
        </p:nvSpPr>
        <p:spPr>
          <a:xfrm>
            <a:off x="822960" y="5217668"/>
            <a:ext cx="10545775" cy="88392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Les mêmes données qu'aux TP3 et TP5, donc les mêmes chiffres : à vérifier dans le notebook et dans un test de recette.</a:t>
            </a:r>
            <a:endParaRPr lang="en-US" sz="1700" dirty="0"/>
          </a:p>
        </p:txBody>
      </p:sp>
      <p:sp>
        <p:nvSpPr>
          <p:cNvPr id="9" name="Text 5"/>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La restitution : 5 minutes</a:t>
            </a:r>
            <a:endParaRPr lang="en-US" sz="3000" dirty="0"/>
          </a:p>
        </p:txBody>
      </p:sp>
      <p:sp>
        <p:nvSpPr>
          <p:cNvPr id="3" name="Shape 1"/>
          <p:cNvSpPr/>
          <p:nvPr/>
        </p:nvSpPr>
        <p:spPr>
          <a:xfrm>
            <a:off x="1935442" y="2057400"/>
            <a:ext cx="8320811" cy="0"/>
          </a:xfrm>
          <a:prstGeom prst="line">
            <a:avLst/>
          </a:prstGeom>
          <a:noFill/>
          <a:ln w="25400">
            <a:solidFill>
              <a:srgbClr val="D5DCE3"/>
            </a:solidFill>
            <a:prstDash val="solid"/>
          </a:ln>
        </p:spPr>
      </p:sp>
      <p:sp>
        <p:nvSpPr>
          <p:cNvPr id="4" name="Shape 2"/>
          <p:cNvSpPr/>
          <p:nvPr/>
        </p:nvSpPr>
        <p:spPr>
          <a:xfrm>
            <a:off x="1706842" y="1828800"/>
            <a:ext cx="457200" cy="457200"/>
          </a:xfrm>
          <a:prstGeom prst="ellipse">
            <a:avLst/>
          </a:prstGeom>
          <a:solidFill>
            <a:srgbClr val="2F7D62"/>
          </a:solidFill>
          <a:ln/>
        </p:spPr>
      </p:sp>
      <p:sp>
        <p:nvSpPr>
          <p:cNvPr id="5" name="Text 3"/>
          <p:cNvSpPr txBox="1"/>
          <p:nvPr/>
        </p:nvSpPr>
        <p:spPr>
          <a:xfrm>
            <a:off x="1706842"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594360" y="2423160"/>
            <a:ext cx="2682164" cy="502920"/>
          </a:xfrm>
          <a:prstGeom prst="rect">
            <a:avLst/>
          </a:prstGeom>
          <a:noFill/>
          <a:ln/>
        </p:spPr>
        <p:txBody>
          <a:bodyPr wrap="square" lIns="0" tIns="0" rIns="0" bIns="0" rtlCol="0" anchor="t"/>
          <a:lstStyle/>
          <a:p>
            <a:pPr algn="ctr" indent="0" marL="0">
              <a:buNone/>
            </a:pPr>
            <a:r>
              <a:rPr lang="en-US" sz="1600" b="1" dirty="0">
                <a:solidFill>
                  <a:srgbClr val="1F3A5F"/>
                </a:solidFill>
                <a:latin typeface="Calibri" pitchFamily="34" charset="0"/>
                <a:ea typeface="Calibri" pitchFamily="34" charset="-122"/>
                <a:cs typeface="Calibri" pitchFamily="34" charset="-120"/>
              </a:rPr>
              <a:t>Le besoin</a:t>
            </a:r>
            <a:endParaRPr lang="en-US" sz="1600" dirty="0"/>
          </a:p>
        </p:txBody>
      </p:sp>
      <p:sp>
        <p:nvSpPr>
          <p:cNvPr id="7" name="Text 5"/>
          <p:cNvSpPr txBox="1"/>
          <p:nvPr/>
        </p:nvSpPr>
        <p:spPr>
          <a:xfrm>
            <a:off x="594360" y="2926080"/>
            <a:ext cx="2682164"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30 secondes</a:t>
            </a:r>
            <a:endParaRPr lang="en-US" sz="1300" dirty="0"/>
          </a:p>
        </p:txBody>
      </p:sp>
      <p:sp>
        <p:nvSpPr>
          <p:cNvPr id="8" name="Shape 6"/>
          <p:cNvSpPr/>
          <p:nvPr/>
        </p:nvSpPr>
        <p:spPr>
          <a:xfrm>
            <a:off x="4480446" y="1828800"/>
            <a:ext cx="457200" cy="457200"/>
          </a:xfrm>
          <a:prstGeom prst="ellipse">
            <a:avLst/>
          </a:prstGeom>
          <a:solidFill>
            <a:srgbClr val="2F7D62"/>
          </a:solidFill>
          <a:ln/>
        </p:spPr>
      </p:sp>
      <p:sp>
        <p:nvSpPr>
          <p:cNvPr id="9" name="Text 7"/>
          <p:cNvSpPr txBox="1"/>
          <p:nvPr/>
        </p:nvSpPr>
        <p:spPr>
          <a:xfrm>
            <a:off x="4480446"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3367964" y="2423160"/>
            <a:ext cx="2682164" cy="502920"/>
          </a:xfrm>
          <a:prstGeom prst="rect">
            <a:avLst/>
          </a:prstGeom>
          <a:noFill/>
          <a:ln/>
        </p:spPr>
        <p:txBody>
          <a:bodyPr wrap="square" lIns="0" tIns="0" rIns="0" bIns="0" rtlCol="0" anchor="t"/>
          <a:lstStyle/>
          <a:p>
            <a:pPr algn="ctr" indent="0" marL="0">
              <a:buNone/>
            </a:pPr>
            <a:r>
              <a:rPr lang="en-US" sz="1600" b="1" dirty="0">
                <a:solidFill>
                  <a:srgbClr val="1F3A5F"/>
                </a:solidFill>
                <a:latin typeface="Calibri" pitchFamily="34" charset="0"/>
                <a:ea typeface="Calibri" pitchFamily="34" charset="-122"/>
                <a:cs typeface="Calibri" pitchFamily="34" charset="-120"/>
              </a:rPr>
              <a:t>La démonstration</a:t>
            </a:r>
            <a:endParaRPr lang="en-US" sz="1600" dirty="0"/>
          </a:p>
        </p:txBody>
      </p:sp>
      <p:sp>
        <p:nvSpPr>
          <p:cNvPr id="11" name="Text 9"/>
          <p:cNvSpPr txBox="1"/>
          <p:nvPr/>
        </p:nvSpPr>
        <p:spPr>
          <a:xfrm>
            <a:off x="3367964" y="2926080"/>
            <a:ext cx="2682164"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2 minutes</a:t>
            </a:r>
            <a:endParaRPr lang="en-US" sz="1300" dirty="0"/>
          </a:p>
        </p:txBody>
      </p:sp>
      <p:sp>
        <p:nvSpPr>
          <p:cNvPr id="12" name="Shape 10"/>
          <p:cNvSpPr/>
          <p:nvPr/>
        </p:nvSpPr>
        <p:spPr>
          <a:xfrm>
            <a:off x="7254050" y="1828800"/>
            <a:ext cx="457200" cy="457200"/>
          </a:xfrm>
          <a:prstGeom prst="ellipse">
            <a:avLst/>
          </a:prstGeom>
          <a:solidFill>
            <a:srgbClr val="2F7D62"/>
          </a:solidFill>
          <a:ln/>
        </p:spPr>
      </p:sp>
      <p:sp>
        <p:nvSpPr>
          <p:cNvPr id="13" name="Text 11"/>
          <p:cNvSpPr txBox="1"/>
          <p:nvPr/>
        </p:nvSpPr>
        <p:spPr>
          <a:xfrm>
            <a:off x="7254050"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6141568" y="2423160"/>
            <a:ext cx="2682164" cy="502920"/>
          </a:xfrm>
          <a:prstGeom prst="rect">
            <a:avLst/>
          </a:prstGeom>
          <a:noFill/>
          <a:ln/>
        </p:spPr>
        <p:txBody>
          <a:bodyPr wrap="square" lIns="0" tIns="0" rIns="0" bIns="0" rtlCol="0" anchor="t"/>
          <a:lstStyle/>
          <a:p>
            <a:pPr algn="ctr" indent="0" marL="0">
              <a:buNone/>
            </a:pPr>
            <a:r>
              <a:rPr lang="en-US" sz="1600" b="1" dirty="0">
                <a:solidFill>
                  <a:srgbClr val="1F3A5F"/>
                </a:solidFill>
                <a:latin typeface="Calibri" pitchFamily="34" charset="0"/>
                <a:ea typeface="Calibri" pitchFamily="34" charset="-122"/>
                <a:cs typeface="Calibri" pitchFamily="34" charset="-120"/>
              </a:rPr>
              <a:t>Ce que disent les données</a:t>
            </a:r>
            <a:endParaRPr lang="en-US" sz="1600" dirty="0"/>
          </a:p>
        </p:txBody>
      </p:sp>
      <p:sp>
        <p:nvSpPr>
          <p:cNvPr id="15" name="Text 13"/>
          <p:cNvSpPr txBox="1"/>
          <p:nvPr/>
        </p:nvSpPr>
        <p:spPr>
          <a:xfrm>
            <a:off x="6141568" y="2926080"/>
            <a:ext cx="2682164"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1 minute 30</a:t>
            </a:r>
            <a:endParaRPr lang="en-US" sz="1300" dirty="0"/>
          </a:p>
        </p:txBody>
      </p:sp>
      <p:sp>
        <p:nvSpPr>
          <p:cNvPr id="16" name="Shape 14"/>
          <p:cNvSpPr/>
          <p:nvPr/>
        </p:nvSpPr>
        <p:spPr>
          <a:xfrm>
            <a:off x="10027653" y="1828800"/>
            <a:ext cx="457200" cy="457200"/>
          </a:xfrm>
          <a:prstGeom prst="ellipse">
            <a:avLst/>
          </a:prstGeom>
          <a:solidFill>
            <a:srgbClr val="2F7D62"/>
          </a:solidFill>
          <a:ln/>
        </p:spPr>
      </p:sp>
      <p:sp>
        <p:nvSpPr>
          <p:cNvPr id="17" name="Text 15"/>
          <p:cNvSpPr txBox="1"/>
          <p:nvPr/>
        </p:nvSpPr>
        <p:spPr>
          <a:xfrm>
            <a:off x="10027653"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txBox="1"/>
          <p:nvPr/>
        </p:nvSpPr>
        <p:spPr>
          <a:xfrm>
            <a:off x="8915171" y="2423160"/>
            <a:ext cx="2682164" cy="502920"/>
          </a:xfrm>
          <a:prstGeom prst="rect">
            <a:avLst/>
          </a:prstGeom>
          <a:noFill/>
          <a:ln/>
        </p:spPr>
        <p:txBody>
          <a:bodyPr wrap="square" lIns="0" tIns="0" rIns="0" bIns="0" rtlCol="0" anchor="t"/>
          <a:lstStyle/>
          <a:p>
            <a:pPr algn="ctr" indent="0" marL="0">
              <a:buNone/>
            </a:pPr>
            <a:r>
              <a:rPr lang="en-US" sz="1600" b="1" dirty="0">
                <a:solidFill>
                  <a:srgbClr val="1F3A5F"/>
                </a:solidFill>
                <a:latin typeface="Calibri" pitchFamily="34" charset="0"/>
                <a:ea typeface="Calibri" pitchFamily="34" charset="-122"/>
                <a:cs typeface="Calibri" pitchFamily="34" charset="-120"/>
              </a:rPr>
              <a:t>Sous le capot</a:t>
            </a:r>
            <a:endParaRPr lang="en-US" sz="1600" dirty="0"/>
          </a:p>
        </p:txBody>
      </p:sp>
      <p:sp>
        <p:nvSpPr>
          <p:cNvPr id="19" name="Text 17"/>
          <p:cNvSpPr txBox="1"/>
          <p:nvPr/>
        </p:nvSpPr>
        <p:spPr>
          <a:xfrm>
            <a:off x="8915171" y="2926080"/>
            <a:ext cx="2682164"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1 minute</a:t>
            </a:r>
            <a:endParaRPr lang="en-US" sz="1300" dirty="0"/>
          </a:p>
        </p:txBody>
      </p:sp>
      <p:sp>
        <p:nvSpPr>
          <p:cNvPr id="20" name="Shape 18"/>
          <p:cNvSpPr/>
          <p:nvPr/>
        </p:nvSpPr>
        <p:spPr>
          <a:xfrm>
            <a:off x="548640" y="3657600"/>
            <a:ext cx="11094415" cy="624840"/>
          </a:xfrm>
          <a:prstGeom prst="roundRect">
            <a:avLst>
              <a:gd name="adj" fmla="val 8780"/>
            </a:avLst>
          </a:prstGeom>
          <a:solidFill>
            <a:srgbClr val="E8F3EE"/>
          </a:solidFill>
          <a:ln/>
        </p:spPr>
      </p:sp>
      <p:sp>
        <p:nvSpPr>
          <p:cNvPr id="21" name="Text 19"/>
          <p:cNvSpPr txBox="1"/>
          <p:nvPr/>
        </p:nvSpPr>
        <p:spPr>
          <a:xfrm>
            <a:off x="822960" y="3657600"/>
            <a:ext cx="10545775" cy="62484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Démonstration en direct : lancer la commande devant le groupe et ouvrir le résultat.</a:t>
            </a:r>
            <a:endParaRPr lang="en-US" sz="1700" dirty="0"/>
          </a:p>
        </p:txBody>
      </p:sp>
      <p:sp>
        <p:nvSpPr>
          <p:cNvPr id="22" name="Text 20"/>
          <p:cNvSpPr txBox="1"/>
          <p:nvPr/>
        </p:nvSpPr>
        <p:spPr>
          <a:xfrm>
            <a:off x="548640" y="4602480"/>
            <a:ext cx="11094415" cy="381000"/>
          </a:xfrm>
          <a:prstGeom prst="rect">
            <a:avLst/>
          </a:prstGeom>
          <a:noFill/>
          <a:ln/>
        </p:spPr>
        <p:txBody>
          <a:bodyPr wrap="square" lIns="0" tIns="0" rIns="0" bIns="0" rtlCol="0" anchor="t"/>
          <a:lstStyle/>
          <a:p>
            <a:pPr indent="0" marL="0">
              <a:buNone/>
            </a:pPr>
            <a:r>
              <a:rPr lang="en-US" sz="1600" dirty="0">
                <a:solidFill>
                  <a:srgbClr val="6B7280"/>
                </a:solidFill>
                <a:latin typeface="Calibri" pitchFamily="34" charset="0"/>
                <a:ea typeface="Calibri" pitchFamily="34" charset="-122"/>
                <a:cs typeface="Calibri" pitchFamily="34" charset="-120"/>
              </a:rPr>
              <a:t>Sous le capot : la structure du projet, un choix technique dont on est content, une difficulté rencontrée.</a:t>
            </a:r>
            <a:endParaRPr lang="en-US" sz="1600" dirty="0"/>
          </a:p>
        </p:txBody>
      </p:sp>
      <p:sp>
        <p:nvSpPr>
          <p:cNvPr id="23" name="Text 2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À retenir</a:t>
            </a:r>
            <a:endParaRPr lang="en-US" sz="3400" dirty="0"/>
          </a:p>
        </p:txBody>
      </p:sp>
      <p:sp>
        <p:nvSpPr>
          <p:cNvPr id="3" name="Text 1"/>
          <p:cNvSpPr txBox="1"/>
          <p:nvPr/>
        </p:nvSpPr>
        <p:spPr>
          <a:xfrm>
            <a:off x="548640" y="1417320"/>
            <a:ext cx="5272888" cy="2651760"/>
          </a:xfrm>
          <a:prstGeom prst="rect">
            <a:avLst/>
          </a:prstGeom>
          <a:noFill/>
          <a:ln/>
        </p:spPr>
        <p:txBody>
          <a:bodyPr wrap="square" lIns="0" tIns="0" rIns="0" bIns="0" rtlCol="0" anchor="t"/>
          <a:lstStyle/>
          <a:p>
            <a:pPr marL="254000" indent="-2540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uv remplace venv, pip, pip freeze et la gestion de Python</a:t>
            </a:r>
            <a:endParaRPr lang="en-US" sz="1600" dirty="0"/>
          </a:p>
          <a:p>
            <a:pPr marL="254000" indent="-254000">
              <a:spcAft>
                <a:spcPts val="1200"/>
              </a:spcAft>
              <a:buSzPct val="100000"/>
              <a:buChar char="•"/>
            </a:pPr>
            <a:r>
              <a:rPr lang="en-US" sz="1600" dirty="0">
                <a:solidFill>
                  <a:srgbClr val="8FD1B5"/>
                </a:solidFill>
                <a:latin typeface="Courier New" pitchFamily="34" charset="0"/>
                <a:ea typeface="Courier New" pitchFamily="34" charset="-122"/>
                <a:cs typeface="Courier New" pitchFamily="34" charset="-120"/>
              </a:rPr>
              <a:t>uv add</a:t>
            </a:r>
            <a:pPr indent="0" marL="0">
              <a:buNone/>
            </a:pPr>
            <a:r>
              <a:rPr lang="en-US" sz="1600" dirty="0">
                <a:solidFill>
                  <a:srgbClr val="FFFFFF"/>
                </a:solidFill>
                <a:latin typeface="Calibri" pitchFamily="34" charset="0"/>
                <a:ea typeface="Calibri" pitchFamily="34" charset="-122"/>
                <a:cs typeface="Calibri" pitchFamily="34" charset="-120"/>
              </a:rPr>
              <a:t> pour l'auteur, </a:t>
            </a:r>
            <a:pPr indent="0" marL="0">
              <a:buNone/>
            </a:pPr>
            <a:r>
              <a:rPr lang="en-US" sz="1600" dirty="0">
                <a:solidFill>
                  <a:srgbClr val="8FD1B5"/>
                </a:solidFill>
                <a:latin typeface="Courier New" pitchFamily="34" charset="0"/>
                <a:ea typeface="Courier New" pitchFamily="34" charset="-122"/>
                <a:cs typeface="Courier New" pitchFamily="34" charset="-120"/>
              </a:rPr>
              <a:t>uv sync</a:t>
            </a:r>
            <a:pPr indent="0" marL="0">
              <a:buNone/>
            </a:pPr>
            <a:r>
              <a:rPr lang="en-US" sz="1600" dirty="0">
                <a:solidFill>
                  <a:srgbClr val="FFFFFF"/>
                </a:solidFill>
                <a:latin typeface="Calibri" pitchFamily="34" charset="0"/>
                <a:ea typeface="Calibri" pitchFamily="34" charset="-122"/>
                <a:cs typeface="Calibri" pitchFamily="34" charset="-120"/>
              </a:rPr>
              <a:t> pour les autres, </a:t>
            </a:r>
            <a:pPr indent="0" marL="0">
              <a:buNone/>
            </a:pPr>
            <a:r>
              <a:rPr lang="en-US" sz="1600" dirty="0">
                <a:solidFill>
                  <a:srgbClr val="8FD1B5"/>
                </a:solidFill>
                <a:latin typeface="Courier New" pitchFamily="34" charset="0"/>
                <a:ea typeface="Courier New" pitchFamily="34" charset="-122"/>
                <a:cs typeface="Courier New" pitchFamily="34" charset="-120"/>
              </a:rPr>
              <a:t>uv run</a:t>
            </a:r>
            <a:pPr indent="0" marL="0">
              <a:buNone/>
            </a:pPr>
            <a:r>
              <a:rPr lang="en-US" sz="1600" dirty="0">
                <a:solidFill>
                  <a:srgbClr val="FFFFFF"/>
                </a:solidFill>
                <a:latin typeface="Calibri" pitchFamily="34" charset="0"/>
                <a:ea typeface="Calibri" pitchFamily="34" charset="-122"/>
                <a:cs typeface="Calibri" pitchFamily="34" charset="-120"/>
              </a:rPr>
              <a:t> pour exécuter</a:t>
            </a:r>
            <a:endParaRPr lang="en-US" sz="1600" dirty="0"/>
          </a:p>
          <a:p>
            <a:pPr marL="254000" indent="-254000">
              <a:spcAft>
                <a:spcPts val="1200"/>
              </a:spcAft>
              <a:buSzPct val="100000"/>
              <a:buChar char="•"/>
            </a:pPr>
            <a:r>
              <a:rPr lang="en-US" sz="1600" dirty="0">
                <a:solidFill>
                  <a:srgbClr val="8FD1B5"/>
                </a:solidFill>
                <a:latin typeface="Courier New" pitchFamily="34" charset="0"/>
                <a:ea typeface="Courier New" pitchFamily="34" charset="-122"/>
                <a:cs typeface="Courier New" pitchFamily="34" charset="-120"/>
              </a:rPr>
              <a:t>pyproject.toml</a:t>
            </a:r>
            <a:pPr indent="0" marL="0">
              <a:buNone/>
            </a:pPr>
            <a:r>
              <a:rPr lang="en-US" sz="1600" dirty="0">
                <a:solidFill>
                  <a:srgbClr val="FFFFFF"/>
                </a:solidFill>
                <a:latin typeface="Calibri" pitchFamily="34" charset="0"/>
                <a:ea typeface="Calibri" pitchFamily="34" charset="-122"/>
                <a:cs typeface="Calibri" pitchFamily="34" charset="-120"/>
              </a:rPr>
              <a:t> : contraintes larges ; </a:t>
            </a:r>
            <a:pPr indent="0" marL="0">
              <a:buNone/>
            </a:pPr>
            <a:r>
              <a:rPr lang="en-US" sz="1600" dirty="0">
                <a:solidFill>
                  <a:srgbClr val="8FD1B5"/>
                </a:solidFill>
                <a:latin typeface="Courier New" pitchFamily="34" charset="0"/>
                <a:ea typeface="Courier New" pitchFamily="34" charset="-122"/>
                <a:cs typeface="Courier New" pitchFamily="34" charset="-120"/>
              </a:rPr>
              <a:t>uv.lock</a:t>
            </a:r>
            <a:pPr indent="0" marL="0">
              <a:buNone/>
            </a:pPr>
            <a:r>
              <a:rPr lang="en-US" sz="1600" dirty="0">
                <a:solidFill>
                  <a:srgbClr val="FFFFFF"/>
                </a:solidFill>
                <a:latin typeface="Calibri" pitchFamily="34" charset="0"/>
                <a:ea typeface="Calibri" pitchFamily="34" charset="-122"/>
                <a:cs typeface="Calibri" pitchFamily="34" charset="-120"/>
              </a:rPr>
              <a:t> : versions exactes</a:t>
            </a:r>
            <a:endParaRPr lang="en-US" sz="1600" dirty="0"/>
          </a:p>
          <a:p>
            <a:pPr marL="254000" indent="-254000">
              <a:spcAft>
                <a:spcPts val="1200"/>
              </a:spcAft>
              <a:buSzPct val="100000"/>
              <a:buChar char="•"/>
            </a:pPr>
            <a:r>
              <a:rPr lang="en-US" sz="1600" dirty="0">
                <a:solidFill>
                  <a:srgbClr val="8FD1B5"/>
                </a:solidFill>
                <a:latin typeface="Courier New" pitchFamily="34" charset="0"/>
                <a:ea typeface="Courier New" pitchFamily="34" charset="-122"/>
                <a:cs typeface="Courier New" pitchFamily="34" charset="-120"/>
              </a:rPr>
              <a:t>uv.lock</a:t>
            </a:r>
            <a:pPr indent="0" marL="0">
              <a:buNone/>
            </a:pPr>
            <a:r>
              <a:rPr lang="en-US" sz="1600" dirty="0">
                <a:solidFill>
                  <a:srgbClr val="FFFFFF"/>
                </a:solidFill>
                <a:latin typeface="Calibri" pitchFamily="34" charset="0"/>
                <a:ea typeface="Calibri" pitchFamily="34" charset="-122"/>
                <a:cs typeface="Calibri" pitchFamily="34" charset="-120"/>
              </a:rPr>
              <a:t> se versionne et ne se modifie pas à la main</a:t>
            </a:r>
            <a:endParaRPr lang="en-US" sz="1600" dirty="0"/>
          </a:p>
        </p:txBody>
      </p:sp>
      <p:sp>
        <p:nvSpPr>
          <p:cNvPr id="4" name="Text 2"/>
          <p:cNvSpPr txBox="1"/>
          <p:nvPr/>
        </p:nvSpPr>
        <p:spPr>
          <a:xfrm>
            <a:off x="6370168" y="1417320"/>
            <a:ext cx="5272888" cy="2164080"/>
          </a:xfrm>
          <a:prstGeom prst="rect">
            <a:avLst/>
          </a:prstGeom>
          <a:noFill/>
          <a:ln/>
        </p:spPr>
        <p:txBody>
          <a:bodyPr wrap="square" lIns="0" tIns="0" rIns="0" bIns="0" rtlCol="0" anchor="t"/>
          <a:lstStyle/>
          <a:p>
            <a:pPr marL="254000" indent="-2540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Mettre à jour volontairement, puis lancer les tests</a:t>
            </a:r>
            <a:endParaRPr lang="en-US" sz="1600" dirty="0"/>
          </a:p>
          <a:p>
            <a:pPr marL="254000" indent="-2540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Outils dans le groupe </a:t>
            </a:r>
            <a:pPr indent="0" marL="0">
              <a:buNone/>
            </a:pPr>
            <a:r>
              <a:rPr lang="en-US" sz="1600" dirty="0">
                <a:solidFill>
                  <a:srgbClr val="8FD1B5"/>
                </a:solidFill>
                <a:latin typeface="Courier New" pitchFamily="34" charset="0"/>
                <a:ea typeface="Courier New" pitchFamily="34" charset="-122"/>
                <a:cs typeface="Courier New" pitchFamily="34" charset="-120"/>
              </a:rPr>
              <a:t>dev</a:t>
            </a:r>
            <a:pPr indent="0" marL="0">
              <a:buNone/>
            </a:pPr>
            <a:r>
              <a:rPr lang="en-US" sz="1600" dirty="0">
                <a:solidFill>
                  <a:srgbClr val="FFFFFF"/>
                </a:solidFill>
                <a:latin typeface="Calibri" pitchFamily="34" charset="0"/>
                <a:ea typeface="Calibri" pitchFamily="34" charset="-122"/>
                <a:cs typeface="Calibri" pitchFamily="34" charset="-120"/>
              </a:rPr>
              <a:t>, </a:t>
            </a:r>
            <a:pPr indent="0" marL="0">
              <a:buNone/>
            </a:pPr>
            <a:r>
              <a:rPr lang="en-US" sz="1600" dirty="0">
                <a:solidFill>
                  <a:srgbClr val="8FD1B5"/>
                </a:solidFill>
                <a:latin typeface="Courier New" pitchFamily="34" charset="0"/>
                <a:ea typeface="Courier New" pitchFamily="34" charset="-122"/>
                <a:cs typeface="Courier New" pitchFamily="34" charset="-120"/>
              </a:rPr>
              <a:t>uv sync --no-dev</a:t>
            </a:r>
            <a:pPr indent="0" marL="0">
              <a:buNone/>
            </a:pPr>
            <a:r>
              <a:rPr lang="en-US" sz="1600" dirty="0">
                <a:solidFill>
                  <a:srgbClr val="FFFFFF"/>
                </a:solidFill>
                <a:latin typeface="Calibri" pitchFamily="34" charset="0"/>
                <a:ea typeface="Calibri" pitchFamily="34" charset="-122"/>
                <a:cs typeface="Calibri" pitchFamily="34" charset="-120"/>
              </a:rPr>
              <a:t> en production</a:t>
            </a:r>
            <a:endParaRPr lang="en-US" sz="1600" dirty="0"/>
          </a:p>
          <a:p>
            <a:pPr marL="254000" indent="-2540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Un README utile, un </a:t>
            </a:r>
            <a:pPr indent="0" marL="0">
              <a:buNone/>
            </a:pPr>
            <a:r>
              <a:rPr lang="en-US" sz="1600" dirty="0">
                <a:solidFill>
                  <a:srgbClr val="8FD1B5"/>
                </a:solidFill>
                <a:latin typeface="Courier New" pitchFamily="34" charset="0"/>
                <a:ea typeface="Courier New" pitchFamily="34" charset="-122"/>
                <a:cs typeface="Courier New" pitchFamily="34" charset="-120"/>
              </a:rPr>
              <a:t>.gitignore</a:t>
            </a:r>
            <a:pPr indent="0" marL="0">
              <a:buNone/>
            </a:pPr>
            <a:r>
              <a:rPr lang="en-US" sz="1600" dirty="0">
                <a:solidFill>
                  <a:srgbClr val="FFFFFF"/>
                </a:solidFill>
                <a:latin typeface="Calibri" pitchFamily="34" charset="0"/>
                <a:ea typeface="Calibri" pitchFamily="34" charset="-122"/>
                <a:cs typeface="Calibri" pitchFamily="34" charset="-120"/>
              </a:rPr>
              <a:t> complet</a:t>
            </a:r>
            <a:endParaRPr lang="en-US" sz="1600" dirty="0"/>
          </a:p>
          <a:p>
            <a:pPr marL="254000" indent="-2540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Le test du collègue avant de partager</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Analyse de données avec Python, jour 3 après-midi</dc:title>
  <dc:subject>PptxGenJS Presentation</dc:subject>
  <dc:creator/>
  <cp:lastModifiedBy/>
  <cp:revision>1</cp:revision>
  <dcterms:created xsi:type="dcterms:W3CDTF">2026-10-20T20:01:50Z</dcterms:created>
  <dcterms:modified xsi:type="dcterms:W3CDTF">2026-10-20T20:01:50Z</dcterms:modified>
</cp:coreProperties>
</file>