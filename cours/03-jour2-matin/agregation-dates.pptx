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3.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7280"/>
                </a:solidFill>
                <a:latin typeface="Calibri"/>
              </a:defRPr>
            </a:pPr>
            <a:r>
              <a:rPr sz="1400" b="0" i="0" u="none" strike="noStrike">
                <a:solidFill>
                  <a:srgbClr val="6B7280"/>
                </a:solidFill>
                <a:latin typeface="Calibri"/>
              </a:rPr>
              <a:t>Chiffre d'affaires de janvier à septembre, en euros</a:t>
            </a:r>
          </a:p>
        </c:rich>
      </c:tx>
      <c:layout/>
      <c:overlay val="0"/>
    </c:title>
    <c:autoTitleDeleted val="0"/>
    <c:plotArea>
      <c:layout/>
      <c:barChart>
        <c:barDir val="bar"/>
        <c:grouping val="clustered"/>
        <c:varyColors val="0"/>
        <c:ser>
          <c:idx val="0"/>
          <c:order val="0"/>
          <c:tx>
            <c:strRef>
              <c:f>Sheet1!$B$1</c:f>
              <c:strCache>
                <c:ptCount val="1"/>
                <c:pt idx="0">
                  <c:v>valeurs</c:v>
                </c:pt>
              </c:strCache>
            </c:strRef>
          </c:tx>
          <c:spPr>
            <a:solidFill>
              <a:srgbClr val="2F7D62"/>
            </a:solidFill>
            <a:effectLst/>
          </c:spPr>
          <c:invertIfNegative val="0"/>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Bretagne</c:v>
                  </c:pt>
                  <c:pt idx="1">
                    <c:v>Occitanie</c:v>
                  </c:pt>
                  <c:pt idx="2">
                    <c:v>Hauts-de-France</c:v>
                  </c:pt>
                  <c:pt idx="3">
                    <c:v>Auvergne-Rhône-Alpes</c:v>
                  </c:pt>
                  <c:pt idx="4">
                    <c:v>Nouvelle-Aquitaine</c:v>
                  </c:pt>
                  <c:pt idx="5">
                    <c:v>Île-de-France</c:v>
                  </c:pt>
                </c:lvl>
              </c:multiLvlStrCache>
            </c:multiLvlStrRef>
          </c:cat>
          <c:val>
            <c:numRef>
              <c:f>Sheet1!$B$2:$B$7</c:f>
              <c:numCache>
                <c:formatCode>General</c:formatCode>
                <c:ptCount val="6"/>
                <c:pt idx="0">
                  <c:v>41080</c:v>
                </c:pt>
                <c:pt idx="1">
                  <c:v>50318</c:v>
                </c:pt>
                <c:pt idx="2">
                  <c:v>53467</c:v>
                </c:pt>
                <c:pt idx="3">
                  <c:v>64856</c:v>
                </c:pt>
                <c:pt idx="4">
                  <c:v>71843</c:v>
                </c:pt>
                <c:pt idx="5">
                  <c:v>127937</c:v>
                </c:pt>
              </c:numCache>
            </c:numRef>
          </c:val>
        </c:ser>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7280"/>
                </a:solidFill>
                <a:latin typeface="Calibri"/>
              </a:defRPr>
            </a:pPr>
            <a:r>
              <a:rPr sz="1400" b="0" i="0" u="none" strike="noStrike">
                <a:solidFill>
                  <a:srgbClr val="6B7280"/>
                </a:solidFill>
                <a:latin typeface="Calibri"/>
              </a:rPr>
              <a:t>Chiffre d'affaires par jour de la semaine, en euros</a:t>
            </a:r>
          </a:p>
        </c:rich>
      </c:tx>
      <c:layout/>
      <c:overlay val="0"/>
    </c:title>
    <c:autoTitleDeleted val="0"/>
    <c:plotArea>
      <c:layout/>
      <c:barChart>
        <c:barDir val="col"/>
        <c:grouping val="clustered"/>
        <c:varyColors val="0"/>
        <c:ser>
          <c:idx val="0"/>
          <c:order val="0"/>
          <c:tx>
            <c:strRef>
              <c:f>Sheet1!$B$1</c:f>
              <c:strCache>
                <c:ptCount val="1"/>
                <c:pt idx="0">
                  <c:v>valeurs</c:v>
                </c:pt>
              </c:strCache>
            </c:strRef>
          </c:tx>
          <c:spPr>
            <a:solidFill>
              <a:srgbClr val="2F7D62"/>
            </a:solidFill>
            <a:effectLst/>
          </c:spPr>
          <c:invertIfNegative val="0"/>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lun.</c:v>
                  </c:pt>
                  <c:pt idx="1">
                    <c:v>mar.</c:v>
                  </c:pt>
                  <c:pt idx="2">
                    <c:v>mer.</c:v>
                  </c:pt>
                  <c:pt idx="3">
                    <c:v>jeu.</c:v>
                  </c:pt>
                  <c:pt idx="4">
                    <c:v>ven.</c:v>
                  </c:pt>
                  <c:pt idx="5">
                    <c:v>sam.</c:v>
                  </c:pt>
                  <c:pt idx="6">
                    <c:v>dim.</c:v>
                  </c:pt>
                </c:lvl>
              </c:multiLvlStrCache>
            </c:multiLvlStrRef>
          </c:cat>
          <c:val>
            <c:numRef>
              <c:f>Sheet1!$B$2:$B$8</c:f>
              <c:numCache>
                <c:formatCode>General</c:formatCode>
                <c:ptCount val="7"/>
                <c:pt idx="0">
                  <c:v>76753</c:v>
                </c:pt>
                <c:pt idx="1">
                  <c:v>67769</c:v>
                </c:pt>
                <c:pt idx="2">
                  <c:v>78503</c:v>
                </c:pt>
                <c:pt idx="3">
                  <c:v>68561</c:v>
                </c:pt>
                <c:pt idx="4">
                  <c:v>64750</c:v>
                </c:pt>
                <c:pt idx="5">
                  <c:v>34684</c:v>
                </c:pt>
                <c:pt idx="6">
                  <c:v>18482</c:v>
                </c:pt>
              </c:numCache>
            </c:numRef>
          </c:val>
        </c:ser>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7280"/>
                </a:solidFill>
                <a:latin typeface="Calibri"/>
              </a:defRPr>
            </a:pPr>
            <a:r>
              <a:rPr sz="1400" b="0" i="0" u="none" strike="noStrike">
                <a:solidFill>
                  <a:srgbClr val="6B7280"/>
                </a:solidFill>
                <a:latin typeface="Calibri"/>
              </a:rPr>
              <a:t>Chiffre d'affaires par mois en 2025, en euros</a:t>
            </a:r>
          </a:p>
        </c:rich>
      </c:tx>
      <c:layout/>
      <c:overlay val="0"/>
    </c:title>
    <c:autoTitleDeleted val="0"/>
    <c:plotArea>
      <c:layout/>
      <c:barChart>
        <c:barDir val="col"/>
        <c:grouping val="clustered"/>
        <c:varyColors val="0"/>
        <c:ser>
          <c:idx val="0"/>
          <c:order val="0"/>
          <c:tx>
            <c:strRef>
              <c:f>Sheet1!$B$1</c:f>
              <c:strCache>
                <c:ptCount val="1"/>
                <c:pt idx="0">
                  <c:v>valeurs</c:v>
                </c:pt>
              </c:strCache>
            </c:strRef>
          </c:tx>
          <c:spPr>
            <a:solidFill>
              <a:srgbClr val="2F7D62"/>
            </a:solidFill>
            <a:effectLst/>
          </c:spPr>
          <c:invertIfNegative val="0"/>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janv.</c:v>
                  </c:pt>
                  <c:pt idx="1">
                    <c:v>févr.</c:v>
                  </c:pt>
                  <c:pt idx="2">
                    <c:v>mars</c:v>
                  </c:pt>
                  <c:pt idx="3">
                    <c:v>avr.</c:v>
                  </c:pt>
                  <c:pt idx="4">
                    <c:v>mai</c:v>
                  </c:pt>
                  <c:pt idx="5">
                    <c:v>juin</c:v>
                  </c:pt>
                  <c:pt idx="6">
                    <c:v>juil.</c:v>
                  </c:pt>
                  <c:pt idx="7">
                    <c:v>août</c:v>
                  </c:pt>
                  <c:pt idx="8">
                    <c:v>sept.</c:v>
                  </c:pt>
                </c:lvl>
              </c:multiLvlStrCache>
            </c:multiLvlStrRef>
          </c:cat>
          <c:val>
            <c:numRef>
              <c:f>Sheet1!$B$2:$B$10</c:f>
              <c:numCache>
                <c:formatCode>General</c:formatCode>
                <c:ptCount val="9"/>
                <c:pt idx="0">
                  <c:v>43475</c:v>
                </c:pt>
                <c:pt idx="1">
                  <c:v>37830</c:v>
                </c:pt>
                <c:pt idx="2">
                  <c:v>53472</c:v>
                </c:pt>
                <c:pt idx="3">
                  <c:v>56340</c:v>
                </c:pt>
                <c:pt idx="4">
                  <c:v>48802</c:v>
                </c:pt>
                <c:pt idx="5">
                  <c:v>52363</c:v>
                </c:pt>
                <c:pt idx="6">
                  <c:v>31873</c:v>
                </c:pt>
                <c:pt idx="7">
                  <c:v>27274</c:v>
                </c:pt>
                <c:pt idx="8">
                  <c:v>58074</c:v>
                </c:pt>
              </c:numCache>
            </c:numRef>
          </c:val>
        </c:ser>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Retour rapide sur le TP2 : qui a fini, quels choix de nettoyage ont été faits, quelles difficultés.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L'essentiel de la matinée se passe dans le notebook. Repères : partie 0 vers 9h10, partie 1 vers 9h35, partie 2 vers 10h10, pause vers 10h30, partie 3 vers 11h00, partie 4 vers 11h45, partie 5 vers 12h10, puis la synthèse. Les questions Pour aller plus loin occupent ceux qui terminent une partie en avance. Le programme présente l'agrégation avant la combinaison de sources : on suit ici l'ordre d'un vrai traitement, rassembler les fichiers, les enrichir par des jointures, puis calculer les indicateurs.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10 minutes avec le retour sur le TP2, avant la partie 0 du TP3.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Neuf fichiers mensuels, de janvier à septembre 2025, 2182 commandes au total. Le dossier ressources du TP3 contient le sous-dossier ventes et les deux tables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10 minutes. Les participants activent leur environnement, lancent jupyter lab depuis le dossier du TP, ouvrent tp03.ipynb et regardent un fichier de ventes et les deux tables de référence. En profiter pour présenter les conventions du notebook : résultats attendus, cellules de vérification, questions Pour aller plus loin. Si Jupyter n'est pas lancé depuis le dossier du TP, les chemins relatifs ne fonctionnent pas : la vérification de la question 1.1 le signale. Si on rouvre le notebook, il faut réexécuter les cellules précédentes.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Automatiser la lecture : le même code fonctionnera avec 9 fichiers ou avec 900. Environ 15 minutes avant la partie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pathlib est inclus dans Python, rien à installer. Faire le lien avec les chemins relatifs vus hier : ils partent du dossier de lancement de Jupyter. Le nom d'un fichier porte souvent une information utile, comme le mois d'un export : stem donne le nom sans extension, split le découpe.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des noms datés au format AAAA_MM, l'ordre alphabétique est aussi l'ordre chronologique. C'est une bonne raison de nommer ses fichiers ainsi. rglob trouve 11 fichiers : les 9 fichiers de ventes, plus produits.csv et regions.csv.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ignore_index, ventes.index.is_unique vaut False. Erreur fréquente : faire ventes = pd.concat([ventes, morceau]) à chaque tour. Ça fonctionne, mais devient très lent avec beaucoup de fichiers.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version avec fonction est la plus facile à faire évoluer quand le traitement de chaque fichier se complique : conversion de types, renommage, filtre. Elle ne calcule pas le montant : on le calculera sur la table enrichie, en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fichier de mai a été exporté avec un autre outil : ses colonnes sont dans un ordre différent. Avec axis=1, concat accole des tables côte à côte en alignant sur l'index : c'est rarement ce qu'on veut. Pour associer des lignes selon une clé, on utilise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lignes qui évitent la plupart des mauvaises surprises. À faire systématiquement. La compréhension de dictionnaire compte les lignes de chaque fichier avant l'assemblage : on la compare au value_counts obtenu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20 minutes. Les participants construisent les chemins, listent les fichiers, comptent les lignes de chaque fichier, écrivent charger_ventes et assemblent les 9 fichiers. Point à surveiller : chacun doit obtenir ventes avec la forme (2182, 8) avant de passer aux jointures, car toute la suite du TP en dépend.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Enrichir les ventes avec le catalogue et le référentiel des régions. Environ 15 minutes avant la partie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vente reçoit le nom, la catégorie et le prix catalogue de son produit. Même principe qu'une jointure SQL ou qu'une RECHERCHEV dans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enrichir une table de faits comme des ventes, on part presque toujours d'un how="left". La jointure right est rarement utile : on inverse plutôt les tables. La jointure outer sert à comparer deux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commande 3 concerne un client C4 inconnu, et le client C5 n'a rien commandé. Faire prévoir le nombre de lignes de chaque jointure avant de l'exécuter : c'est l'objet des premières questions de la partie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Réflexe à prendre : toute première jointure entre deux sources se fait avec indicator=True. La table controle resservira en section 4, pour montrer ce que groupby fait des clés manquantes.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des types différents, on convertit une des deux colonnes avec astype avant la jointure. Le piège des clés en double est le plus dangereux, car il ne produit aucune 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many_to_one : plusieurs ventes pour un même produit, un seul produit par clé dans le catalogue. Avant de supprimer un doublon, vérifier quelle ligne est la bonne : drop_duplicates garde simplement la première.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Autant de lignes que de ventes : les jointures n'ont rien perdu ni dupliqué. Pour join, la syntaxe est ventes.join(produits.set_index("id_produit"), on="id_produit"). merge est plus explicite et suffit dans la plupart des 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20 minutes, jusqu'à la pause vers 10h30. Les participants prévoient le nombre de lignes de chaque jointure avant de l'exécuter, provoquent puis corrigent une MergeError, puis construisent df. Point à surveiller : df doit avoir la forme (2182, 13) et les ventes de P17 le libellé Non référencé, car la partie 3 repose sur cette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pause. On travaille désormais sur la table enrichie df, avec une colonne montant. Environ 15 minutes avant la partie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catalogue compte 16 produits, nunique en trouve 17 : P17 est vendu sans être référencé. Le panier moyen est tiré vers le haut par quelques grosses commandes, la médiane y est moins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parle de logique split, apply, combine. La phrase à faire dire au groupe : pour chaque région, la somme des montants.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résultat d'un groupby est trié par clé, sauf si on le trie autrement. Sans as_index=False, plusieurs clés produisent un index à plusieurs niveaux ; reset_index() donne le même résultat après coup. Seules les combinaisons présentes dans les données apparaissent : une région où une catégorie ne s'est jamais vendue n'a pas de ligne pour cette catégorie.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 défaut, groupby ignore les lignes dont la clé est manquante, sans aucun message. L'écart correspond exactement aux 17 ventes de P17, soit 2673,62 euros.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liste de fonctions fonctionne aussi : agg(["sum", "mean", "count"]). L'agrégation nommée donne des noms de colonnes directement exploitables.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différence entre size et count n'apparaît qu'en présence de valeurs manquantes : la ligne IDF sans montant compte pour size, pas pour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 permet de comparer chaque ligne à son groupe sans quitter la table de détail.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5 produits qui rapportent le plus. Pour le meilleur élément de chaque groupe, on trie d'abord, puis on garde les premières lignes de chaque groupe. Erreur fréquente : oublier le tri, head(1) renvoie alors la première ligne de chaque groupe dans l'ordre du tableau, pas la meilleure.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croisé dynamique d'Excel, que la plupart des participants connaissent déjà. La catégorie Non référencé vaut 0 avant août : ce sont les combinaisons absentes, remplies par fill_value. En bas à droite, on retrouve le chiffre d'affaires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crosstab est un cas particulier de pivot_table qui compte. Avec values et aggfunc, il agrège une colonne au lieu de compter les lignes. Pratique pour une première lecture des colonnes catégorielles.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30 minutes : c'est la partie la plus longue du TP. Les participants ajoutent la colonne montant à df, comparent les totaux avec et sans dropna=False sur controle, construisent des indicateurs nommés, puis les tableaux croisés. Point à surveiller : la colonne mois ajoutée à la question 3.11 sert encore en partie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Presque toutes les données d'entreprise ont une dimension temporelle. Environ 15 minutes avant la partie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différence entre deux dates donne un Timedelta, dont .days donne le nombre de jours. 272 jours d'écart, mais seulement 270 jours avec au moins une vente. 2025-03 est plus lisible que le 31 mars à minuit ; to_timestamp donne 2025-03-01, on s'en servira en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dt.day_name() renvoie l'anglais. Son paramètre locale dépend du système d'exploitation : le dictionnaire fonctionne partout. Un dictionnaire garde l'ordre dans lequel ses clés ont été écrites : list(jours.values()) va donc du lundi au dimanche.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chaînes de caractères au format ISO sont comparées directement à des dates. between inclut ses deux bornes.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les ventes, resample("D") fait apparaître 3 jours sans aucune vente, absents d'un simple groupby par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au groupe : faut-il comparer août à juillet, ou août 2025 à août 2024 ? D'où l'intérêt d'avoir plusieurs années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dernier label, le 5 octobre, est postérieur à la dernière vente : c'est le dimanche qui clôt la semaine commencée le lundi 29 septembre.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chiffre d'affaires baisse de 39,1 % en juillet, puis fait plus que doubler en septembre. shift et pct_change comparent chaque ligne à la ligne précédente : la série doit être triée par date, et ne contenir qu'une ligne par période.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filtre sur un cumul répond aux questions du type : à quelle date a-t-on atteint tel montant ? On tracera ces séries cet après-midi : la moyenne mobile rend la tendance lisible.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20 minutes. Les participants filtrent et regroupent par période, calculent l'évolution d'un mois sur l'autre, la moyenne mobile et le cumul. Point à surveiller : la colonne jour ajoutée à la question 4.2 fait partie des colonnes exportées en partie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livrable du TP3 : une table d'indicateurs avec une ligne par mois et par région, qui alimentera le tableau de bord de cet après-midi. Section courte, environ 5 minutes : les notions sont connues, on les assemble.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réutilise la colonne mois créée avec to_period("M") et l'agrégation nommée de la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table contient une série par région : un pct_change direct comparerait une région à une autre. Le groupby limite la comparaison aux lignes de la même région.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colonnes à la relecture : les 7 colonnes agrégées et le taux de réalisation.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table détaillée des ventes enrichies accompagne la table d'indicateurs : elle servira aux graphiques de distribution du TP4.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15 minutes, synthèse comprise. Avant de rendre : les deux fichiers Parquet sont présents dans le dossier du TP, toutes les cellules de vérification affichent OK, et le notebook s'exécute sans erreur de haut en bas (Kernel, puis Restart Kernel and Run All Cells). Si le temps manque, privilégier les exports : le TP4 en a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produit P17 hors catalogue est le point de vigilance du TP : vérifier que chacun le garde dans ses indicateurs, sous le libellé Non référencé. Les colonnes et les types des deux fichiers Parquet sont imposés : les vérifications de la partie 5 les contrôlent.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 après-midi : mettre ces indicateurs en graphiques, à partir des deux fichiers Parquet produits par le TP3.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9144000" cy="365760"/>
          </a:xfrm>
          <a:prstGeom prst="rect">
            <a:avLst/>
          </a:prstGeom>
          <a:noFill/>
          <a:ln/>
        </p:spPr>
        <p:txBody>
          <a:bodyPr wrap="square" lIns="0" tIns="0" rIns="0" bIns="0" rtlCol="0" anchor="ctr"/>
          <a:lstStyle/>
          <a:p>
            <a:pPr indent="0" marL="0">
              <a:buNone/>
            </a:pPr>
            <a:r>
              <a:rPr lang="en-US" sz="1400" b="1" spc="400" kern="0" dirty="0">
                <a:solidFill>
                  <a:srgbClr val="8FD1B5"/>
                </a:solidFill>
                <a:latin typeface="Calibri" pitchFamily="34" charset="0"/>
                <a:ea typeface="Calibri" pitchFamily="34" charset="-122"/>
                <a:cs typeface="Calibri" pitchFamily="34" charset="-120"/>
              </a:rPr>
              <a:t>FORMATION</a:t>
            </a:r>
            <a:endParaRPr lang="en-US" sz="1400" dirty="0"/>
          </a:p>
        </p:txBody>
      </p:sp>
      <p:sp>
        <p:nvSpPr>
          <p:cNvPr id="3" name="Text 1"/>
          <p:cNvSpPr txBox="1"/>
          <p:nvPr/>
        </p:nvSpPr>
        <p:spPr>
          <a:xfrm>
            <a:off x="731520" y="2148840"/>
            <a:ext cx="10515600" cy="10972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Analyse de données avec Python</a:t>
            </a:r>
            <a:endParaRPr lang="en-US" sz="4600" dirty="0"/>
          </a:p>
        </p:txBody>
      </p:sp>
      <p:sp>
        <p:nvSpPr>
          <p:cNvPr id="4" name="Text 2"/>
          <p:cNvSpPr txBox="1"/>
          <p:nvPr/>
        </p:nvSpPr>
        <p:spPr>
          <a:xfrm>
            <a:off x="731520" y="3337560"/>
            <a:ext cx="1005840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Jour 2, matin</a:t>
            </a:r>
            <a:endParaRPr lang="en-US" sz="2200" dirty="0"/>
          </a:p>
          <a:p>
            <a:pPr indent="0" marL="0">
              <a:buNone/>
            </a:pPr>
            <a:r>
              <a:rPr lang="en-US" sz="2200" dirty="0">
                <a:solidFill>
                  <a:srgbClr val="C9D6E3"/>
                </a:solidFill>
                <a:latin typeface="Calibri" pitchFamily="34" charset="0"/>
                <a:ea typeface="Calibri" pitchFamily="34" charset="-122"/>
                <a:cs typeface="Calibri" pitchFamily="34" charset="-120"/>
              </a:rPr>
              <a:t>Agrégation, dates et automatisation de plusieurs fichiers</a:t>
            </a:r>
            <a:endParaRPr lang="en-US" sz="2200" dirty="0"/>
          </a:p>
        </p:txBody>
      </p:sp>
      <p:sp>
        <p:nvSpPr>
          <p:cNvPr id="5" name="Text 3"/>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Cours et TP3 en alternance, sur neuf mois de ventes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déroulé de la matinée</a:t>
            </a:r>
            <a:endParaRPr lang="en-US" sz="3000" dirty="0"/>
          </a:p>
        </p:txBody>
      </p:sp>
      <p:sp>
        <p:nvSpPr>
          <p:cNvPr id="3" name="Shape 1"/>
          <p:cNvSpPr/>
          <p:nvPr/>
        </p:nvSpPr>
        <p:spPr>
          <a:xfrm>
            <a:off x="1341098" y="2057400"/>
            <a:ext cx="9509499" cy="0"/>
          </a:xfrm>
          <a:prstGeom prst="line">
            <a:avLst/>
          </a:prstGeom>
          <a:noFill/>
          <a:ln w="25400">
            <a:solidFill>
              <a:srgbClr val="D5DCE3"/>
            </a:solidFill>
            <a:prstDash val="solid"/>
          </a:ln>
        </p:spPr>
      </p:sp>
      <p:sp>
        <p:nvSpPr>
          <p:cNvPr id="4" name="Shape 2"/>
          <p:cNvSpPr/>
          <p:nvPr/>
        </p:nvSpPr>
        <p:spPr>
          <a:xfrm>
            <a:off x="1112498" y="1828800"/>
            <a:ext cx="457200" cy="457200"/>
          </a:xfrm>
          <a:prstGeom prst="ellipse">
            <a:avLst/>
          </a:prstGeom>
          <a:solidFill>
            <a:srgbClr val="2F7D62"/>
          </a:solidFill>
          <a:ln/>
        </p:spPr>
      </p:sp>
      <p:sp>
        <p:nvSpPr>
          <p:cNvPr id="5" name="Text 3"/>
          <p:cNvSpPr txBox="1"/>
          <p:nvPr/>
        </p:nvSpPr>
        <p:spPr>
          <a:xfrm>
            <a:off x="111249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Données du jour</a:t>
            </a:r>
            <a:endParaRPr lang="en-US" sz="1500" dirty="0"/>
          </a:p>
        </p:txBody>
      </p:sp>
      <p:sp>
        <p:nvSpPr>
          <p:cNvPr id="7" name="Text 5"/>
          <p:cNvSpPr txBox="1"/>
          <p:nvPr/>
        </p:nvSpPr>
        <p:spPr>
          <a:xfrm>
            <a:off x="594360"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TP3, partie 0</a:t>
            </a:r>
            <a:endParaRPr lang="en-US" sz="1300" dirty="0"/>
          </a:p>
        </p:txBody>
      </p:sp>
      <p:sp>
        <p:nvSpPr>
          <p:cNvPr id="8" name="Shape 6"/>
          <p:cNvSpPr/>
          <p:nvPr/>
        </p:nvSpPr>
        <p:spPr>
          <a:xfrm>
            <a:off x="2697415" y="1828800"/>
            <a:ext cx="457200" cy="457200"/>
          </a:xfrm>
          <a:prstGeom prst="ellipse">
            <a:avLst/>
          </a:prstGeom>
          <a:solidFill>
            <a:srgbClr val="2F7D62"/>
          </a:solidFill>
          <a:ln/>
        </p:spPr>
      </p:sp>
      <p:sp>
        <p:nvSpPr>
          <p:cNvPr id="9" name="Text 7"/>
          <p:cNvSpPr txBox="1"/>
          <p:nvPr/>
        </p:nvSpPr>
        <p:spPr>
          <a:xfrm>
            <a:off x="269741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2179276"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Plusieurs fichiers</a:t>
            </a:r>
            <a:endParaRPr lang="en-US" sz="1500" dirty="0"/>
          </a:p>
        </p:txBody>
      </p:sp>
      <p:sp>
        <p:nvSpPr>
          <p:cNvPr id="11" name="Text 9"/>
          <p:cNvSpPr txBox="1"/>
          <p:nvPr/>
        </p:nvSpPr>
        <p:spPr>
          <a:xfrm>
            <a:off x="2179276"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TP3, partie 1</a:t>
            </a:r>
            <a:endParaRPr lang="en-US" sz="1300" dirty="0"/>
          </a:p>
        </p:txBody>
      </p:sp>
      <p:sp>
        <p:nvSpPr>
          <p:cNvPr id="12" name="Shape 10"/>
          <p:cNvSpPr/>
          <p:nvPr/>
        </p:nvSpPr>
        <p:spPr>
          <a:xfrm>
            <a:off x="4282331" y="1828800"/>
            <a:ext cx="457200" cy="457200"/>
          </a:xfrm>
          <a:prstGeom prst="ellipse">
            <a:avLst/>
          </a:prstGeom>
          <a:solidFill>
            <a:srgbClr val="2F7D62"/>
          </a:solidFill>
          <a:ln/>
        </p:spPr>
      </p:sp>
      <p:sp>
        <p:nvSpPr>
          <p:cNvPr id="13" name="Text 11"/>
          <p:cNvSpPr txBox="1"/>
          <p:nvPr/>
        </p:nvSpPr>
        <p:spPr>
          <a:xfrm>
            <a:off x="428233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3764193"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Jointures</a:t>
            </a:r>
            <a:endParaRPr lang="en-US" sz="1500" dirty="0"/>
          </a:p>
        </p:txBody>
      </p:sp>
      <p:sp>
        <p:nvSpPr>
          <p:cNvPr id="15" name="Text 13"/>
          <p:cNvSpPr txBox="1"/>
          <p:nvPr/>
        </p:nvSpPr>
        <p:spPr>
          <a:xfrm>
            <a:off x="3764193"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TP3, partie 2</a:t>
            </a:r>
            <a:endParaRPr lang="en-US" sz="1300" dirty="0"/>
          </a:p>
        </p:txBody>
      </p:sp>
      <p:sp>
        <p:nvSpPr>
          <p:cNvPr id="16" name="Shape 14"/>
          <p:cNvSpPr/>
          <p:nvPr/>
        </p:nvSpPr>
        <p:spPr>
          <a:xfrm>
            <a:off x="5867248" y="1828800"/>
            <a:ext cx="457200" cy="457200"/>
          </a:xfrm>
          <a:prstGeom prst="ellipse">
            <a:avLst/>
          </a:prstGeom>
          <a:solidFill>
            <a:srgbClr val="D5DCE3"/>
          </a:solidFill>
          <a:ln/>
        </p:spPr>
      </p:sp>
      <p:sp>
        <p:nvSpPr>
          <p:cNvPr id="17" name="Text 15"/>
          <p:cNvSpPr txBox="1"/>
          <p:nvPr/>
        </p:nvSpPr>
        <p:spPr>
          <a:xfrm>
            <a:off x="5867248" y="1828800"/>
            <a:ext cx="457200" cy="457200"/>
          </a:xfrm>
          <a:prstGeom prst="rect">
            <a:avLst/>
          </a:prstGeom>
          <a:noFill/>
          <a:ln/>
        </p:spPr>
        <p:txBody>
          <a:bodyPr wrap="square" lIns="0" tIns="0" rIns="0" bIns="0" rtlCol="0" anchor="ctr"/>
          <a:lstStyle/>
          <a:p>
            <a:pPr algn="ctr" indent="0" marL="0">
              <a:buNone/>
            </a:pPr>
            <a:endParaRPr lang="en-US" sz="1500" dirty="0"/>
          </a:p>
        </p:txBody>
      </p:sp>
      <p:sp>
        <p:nvSpPr>
          <p:cNvPr id="18" name="Text 16"/>
          <p:cNvSpPr txBox="1"/>
          <p:nvPr/>
        </p:nvSpPr>
        <p:spPr>
          <a:xfrm>
            <a:off x="5349109"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Pause</a:t>
            </a:r>
            <a:endParaRPr lang="en-US" sz="1500" dirty="0"/>
          </a:p>
        </p:txBody>
      </p:sp>
      <p:sp>
        <p:nvSpPr>
          <p:cNvPr id="19" name="Shape 17"/>
          <p:cNvSpPr/>
          <p:nvPr/>
        </p:nvSpPr>
        <p:spPr>
          <a:xfrm>
            <a:off x="7452164" y="1828800"/>
            <a:ext cx="457200" cy="457200"/>
          </a:xfrm>
          <a:prstGeom prst="ellipse">
            <a:avLst/>
          </a:prstGeom>
          <a:solidFill>
            <a:srgbClr val="2F7D62"/>
          </a:solidFill>
          <a:ln/>
        </p:spPr>
      </p:sp>
      <p:sp>
        <p:nvSpPr>
          <p:cNvPr id="20" name="Text 18"/>
          <p:cNvSpPr txBox="1"/>
          <p:nvPr/>
        </p:nvSpPr>
        <p:spPr>
          <a:xfrm>
            <a:off x="7452164"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6934026"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Agréger</a:t>
            </a:r>
            <a:endParaRPr lang="en-US" sz="1500" dirty="0"/>
          </a:p>
        </p:txBody>
      </p:sp>
      <p:sp>
        <p:nvSpPr>
          <p:cNvPr id="22" name="Text 20"/>
          <p:cNvSpPr txBox="1"/>
          <p:nvPr/>
        </p:nvSpPr>
        <p:spPr>
          <a:xfrm>
            <a:off x="6934026"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TP3, partie 3</a:t>
            </a:r>
            <a:endParaRPr lang="en-US" sz="1300" dirty="0"/>
          </a:p>
        </p:txBody>
      </p:sp>
      <p:sp>
        <p:nvSpPr>
          <p:cNvPr id="23" name="Shape 21"/>
          <p:cNvSpPr/>
          <p:nvPr/>
        </p:nvSpPr>
        <p:spPr>
          <a:xfrm>
            <a:off x="9037081" y="1828800"/>
            <a:ext cx="457200" cy="457200"/>
          </a:xfrm>
          <a:prstGeom prst="ellipse">
            <a:avLst/>
          </a:prstGeom>
          <a:solidFill>
            <a:srgbClr val="2F7D62"/>
          </a:solidFill>
          <a:ln/>
        </p:spPr>
      </p:sp>
      <p:sp>
        <p:nvSpPr>
          <p:cNvPr id="24" name="Text 22"/>
          <p:cNvSpPr txBox="1"/>
          <p:nvPr/>
        </p:nvSpPr>
        <p:spPr>
          <a:xfrm>
            <a:off x="903708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txBox="1"/>
          <p:nvPr/>
        </p:nvSpPr>
        <p:spPr>
          <a:xfrm>
            <a:off x="8518942"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Dates</a:t>
            </a:r>
            <a:endParaRPr lang="en-US" sz="1500" dirty="0"/>
          </a:p>
        </p:txBody>
      </p:sp>
      <p:sp>
        <p:nvSpPr>
          <p:cNvPr id="26" name="Text 24"/>
          <p:cNvSpPr txBox="1"/>
          <p:nvPr/>
        </p:nvSpPr>
        <p:spPr>
          <a:xfrm>
            <a:off x="8518942"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TP3, partie 4</a:t>
            </a:r>
            <a:endParaRPr lang="en-US" sz="1300" dirty="0"/>
          </a:p>
        </p:txBody>
      </p:sp>
      <p:sp>
        <p:nvSpPr>
          <p:cNvPr id="27" name="Shape 25"/>
          <p:cNvSpPr/>
          <p:nvPr/>
        </p:nvSpPr>
        <p:spPr>
          <a:xfrm>
            <a:off x="10621997" y="1828800"/>
            <a:ext cx="457200" cy="457200"/>
          </a:xfrm>
          <a:prstGeom prst="ellipse">
            <a:avLst/>
          </a:prstGeom>
          <a:solidFill>
            <a:srgbClr val="2F7D62"/>
          </a:solidFill>
          <a:ln/>
        </p:spPr>
      </p:sp>
      <p:sp>
        <p:nvSpPr>
          <p:cNvPr id="28" name="Text 26"/>
          <p:cNvSpPr txBox="1"/>
          <p:nvPr/>
        </p:nvSpPr>
        <p:spPr>
          <a:xfrm>
            <a:off x="10621997"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7"/>
          <p:cNvSpPr txBox="1"/>
          <p:nvPr/>
        </p:nvSpPr>
        <p:spPr>
          <a:xfrm>
            <a:off x="10103859"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Indicateurs et export</a:t>
            </a:r>
            <a:endParaRPr lang="en-US" sz="1500" dirty="0"/>
          </a:p>
        </p:txBody>
      </p:sp>
      <p:sp>
        <p:nvSpPr>
          <p:cNvPr id="30" name="Text 28"/>
          <p:cNvSpPr txBox="1"/>
          <p:nvPr/>
        </p:nvSpPr>
        <p:spPr>
          <a:xfrm>
            <a:off x="10103859"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TP3, partie 5 et synthèse</a:t>
            </a:r>
            <a:endParaRPr lang="en-US" sz="1300" dirty="0"/>
          </a:p>
        </p:txBody>
      </p:sp>
      <p:sp>
        <p:nvSpPr>
          <p:cNvPr id="31" name="Shape 29"/>
          <p:cNvSpPr/>
          <p:nvPr/>
        </p:nvSpPr>
        <p:spPr>
          <a:xfrm>
            <a:off x="548640" y="3657600"/>
            <a:ext cx="3515258" cy="1600200"/>
          </a:xfrm>
          <a:prstGeom prst="roundRect">
            <a:avLst>
              <a:gd name="adj" fmla="val 4571"/>
            </a:avLst>
          </a:prstGeom>
          <a:solidFill>
            <a:srgbClr val="EEF3F7"/>
          </a:solidFill>
          <a:ln/>
        </p:spPr>
      </p:sp>
      <p:sp>
        <p:nvSpPr>
          <p:cNvPr id="32" name="Text 30"/>
          <p:cNvSpPr txBox="1"/>
          <p:nvPr/>
        </p:nvSpPr>
        <p:spPr>
          <a:xfrm>
            <a:off x="777240"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9h00</a:t>
            </a:r>
            <a:endParaRPr lang="en-US" sz="4000" dirty="0"/>
          </a:p>
        </p:txBody>
      </p:sp>
      <p:sp>
        <p:nvSpPr>
          <p:cNvPr id="33" name="Text 31"/>
          <p:cNvSpPr txBox="1"/>
          <p:nvPr/>
        </p:nvSpPr>
        <p:spPr>
          <a:xfrm>
            <a:off x="777240"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début</a:t>
            </a:r>
            <a:endParaRPr lang="en-US" sz="1500" dirty="0"/>
          </a:p>
        </p:txBody>
      </p:sp>
      <p:sp>
        <p:nvSpPr>
          <p:cNvPr id="34" name="Shape 32"/>
          <p:cNvSpPr/>
          <p:nvPr/>
        </p:nvSpPr>
        <p:spPr>
          <a:xfrm>
            <a:off x="4338218" y="3657600"/>
            <a:ext cx="3515258" cy="1600200"/>
          </a:xfrm>
          <a:prstGeom prst="roundRect">
            <a:avLst>
              <a:gd name="adj" fmla="val 4571"/>
            </a:avLst>
          </a:prstGeom>
          <a:solidFill>
            <a:srgbClr val="EEF3F7"/>
          </a:solidFill>
          <a:ln/>
        </p:spPr>
      </p:sp>
      <p:sp>
        <p:nvSpPr>
          <p:cNvPr id="35" name="Text 33"/>
          <p:cNvSpPr txBox="1"/>
          <p:nvPr/>
        </p:nvSpPr>
        <p:spPr>
          <a:xfrm>
            <a:off x="4566818"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10h30</a:t>
            </a:r>
            <a:endParaRPr lang="en-US" sz="4000" dirty="0"/>
          </a:p>
        </p:txBody>
      </p:sp>
      <p:sp>
        <p:nvSpPr>
          <p:cNvPr id="36" name="Text 34"/>
          <p:cNvSpPr txBox="1"/>
          <p:nvPr/>
        </p:nvSpPr>
        <p:spPr>
          <a:xfrm>
            <a:off x="4566818"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pause</a:t>
            </a:r>
            <a:endParaRPr lang="en-US" sz="1500" dirty="0"/>
          </a:p>
        </p:txBody>
      </p:sp>
      <p:sp>
        <p:nvSpPr>
          <p:cNvPr id="37" name="Shape 35"/>
          <p:cNvSpPr/>
          <p:nvPr/>
        </p:nvSpPr>
        <p:spPr>
          <a:xfrm>
            <a:off x="8127797" y="3657600"/>
            <a:ext cx="3515258" cy="1600200"/>
          </a:xfrm>
          <a:prstGeom prst="roundRect">
            <a:avLst>
              <a:gd name="adj" fmla="val 4571"/>
            </a:avLst>
          </a:prstGeom>
          <a:solidFill>
            <a:srgbClr val="EEF3F7"/>
          </a:solidFill>
          <a:ln/>
        </p:spPr>
      </p:sp>
      <p:sp>
        <p:nvSpPr>
          <p:cNvPr id="38" name="Text 36"/>
          <p:cNvSpPr txBox="1"/>
          <p:nvPr/>
        </p:nvSpPr>
        <p:spPr>
          <a:xfrm>
            <a:off x="8356397"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12h30</a:t>
            </a:r>
            <a:endParaRPr lang="en-US" sz="4000" dirty="0"/>
          </a:p>
        </p:txBody>
      </p:sp>
      <p:sp>
        <p:nvSpPr>
          <p:cNvPr id="39" name="Text 37"/>
          <p:cNvSpPr txBox="1"/>
          <p:nvPr/>
        </p:nvSpPr>
        <p:spPr>
          <a:xfrm>
            <a:off x="8356397"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fin</a:t>
            </a:r>
            <a:endParaRPr lang="en-US" sz="1500" dirty="0"/>
          </a:p>
        </p:txBody>
      </p:sp>
      <p:sp>
        <p:nvSpPr>
          <p:cNvPr id="40" name="Shape 38"/>
          <p:cNvSpPr/>
          <p:nvPr/>
        </p:nvSpPr>
        <p:spPr>
          <a:xfrm>
            <a:off x="548640" y="5577840"/>
            <a:ext cx="11094415" cy="624840"/>
          </a:xfrm>
          <a:prstGeom prst="roundRect">
            <a:avLst>
              <a:gd name="adj" fmla="val 8780"/>
            </a:avLst>
          </a:prstGeom>
          <a:solidFill>
            <a:srgbClr val="E8F3EE"/>
          </a:solidFill>
          <a:ln/>
        </p:spPr>
      </p:sp>
      <p:sp>
        <p:nvSpPr>
          <p:cNvPr id="41" name="Text 39"/>
          <p:cNvSpPr txBox="1"/>
          <p:nvPr/>
        </p:nvSpPr>
        <p:spPr>
          <a:xfrm>
            <a:off x="822960" y="55778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Chaque section de cours est courte et suivie aussitôt de la partie du TP3 qui lui correspond.</a:t>
            </a:r>
            <a:endParaRPr lang="en-US" sz="1700" dirty="0"/>
          </a:p>
        </p:txBody>
      </p:sp>
      <p:sp>
        <p:nvSpPr>
          <p:cNvPr id="42" name="Text 4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Les données du jour</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Retour sur le TP2   |   Ventes mensuelles   |   Tables de référence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DONNÉES DU JOUR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Des données en plusieurs morceaux</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En entreprise, les données arrivent rarement dans un seul fichier.</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3135378"/>
                <a:gridCol w="6029573"/>
                <a:gridCol w="1929464"/>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Fichier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Contenu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Clé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ventes/ventes_2025_01.csv</a:t>
                      </a:r>
                      <a:pPr indent="0" marL="0">
                        <a:buNone/>
                      </a:pPr>
                      <a:r>
                        <a:rPr lang="en-US" sz="1500" dirty="0">
                          <a:solidFill>
                            <a:srgbClr val="1F2933"/>
                          </a:solidFill>
                          <a:latin typeface="Calibri" pitchFamily="34" charset="0"/>
                          <a:ea typeface="Calibri" pitchFamily="34" charset="-122"/>
                          <a:cs typeface="Calibri" pitchFamily="34" charset="-120"/>
                        </a:rPr>
                        <a:t> à </a:t>
                      </a:r>
                      <a:pPr indent="0" marL="0">
                        <a:buNone/>
                      </a:pPr>
                      <a:r>
                        <a:rPr lang="en-US" sz="1500" dirty="0">
                          <a:solidFill>
                            <a:srgbClr val="1F3A5F"/>
                          </a:solidFill>
                          <a:latin typeface="Courier New" pitchFamily="34" charset="0"/>
                          <a:ea typeface="Courier New" pitchFamily="34" charset="-122"/>
                          <a:cs typeface="Courier New" pitchFamily="34" charset="-120"/>
                        </a:rPr>
                        <a:t>_09.csv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ligne par commande : date, région, produit, quantité, prix payé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id_commande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produits.csv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 catalogue : nom, catégorie, prix catalogue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id_produit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regions.csv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les régions : nom complet, objectif de chiffre d'affaires mensuel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code_region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231386"/>
            <a:ext cx="11094415" cy="883920"/>
          </a:xfrm>
          <a:prstGeom prst="roundRect">
            <a:avLst>
              <a:gd name="adj" fmla="val 6207"/>
            </a:avLst>
          </a:prstGeom>
          <a:solidFill>
            <a:srgbClr val="E8F3EE"/>
          </a:solidFill>
          <a:ln/>
        </p:spPr>
      </p:sp>
      <p:sp>
        <p:nvSpPr>
          <p:cNvPr id="9" name="Text 6"/>
          <p:cNvSpPr txBox="1"/>
          <p:nvPr/>
        </p:nvSpPr>
        <p:spPr>
          <a:xfrm>
            <a:off x="822960" y="4231386"/>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Les ventes ne contiennent que des codes (</a:t>
            </a:r>
            <a:pPr indent="0" marL="0">
              <a:buNone/>
            </a:pPr>
            <a:r>
              <a:rPr lang="en-US" sz="1700" dirty="0">
                <a:solidFill>
                  <a:srgbClr val="2F7D62"/>
                </a:solidFill>
                <a:latin typeface="Courier New" pitchFamily="34" charset="0"/>
                <a:ea typeface="Courier New" pitchFamily="34" charset="-122"/>
                <a:cs typeface="Courier New" pitchFamily="34" charset="-120"/>
              </a:rPr>
              <a:t>P03</a:t>
            </a:r>
            <a:pPr indent="0" marL="0">
              <a:buNone/>
            </a:pPr>
            <a:r>
              <a:rPr lang="en-US" sz="1700" dirty="0">
                <a:solidFill>
                  <a:srgbClr val="1F3A5F"/>
                </a:solidFill>
                <a:latin typeface="Calibri" pitchFamily="34" charset="0"/>
                <a:ea typeface="Calibri" pitchFamily="34" charset="-122"/>
                <a:cs typeface="Calibri" pitchFamily="34" charset="-120"/>
              </a:rPr>
              <a:t>, </a:t>
            </a:r>
            <a:pPr indent="0" marL="0">
              <a:buNone/>
            </a:pPr>
            <a:r>
              <a:rPr lang="en-US" sz="1700" dirty="0">
                <a:solidFill>
                  <a:srgbClr val="2F7D62"/>
                </a:solidFill>
                <a:latin typeface="Courier New" pitchFamily="34" charset="0"/>
                <a:ea typeface="Courier New" pitchFamily="34" charset="-122"/>
                <a:cs typeface="Courier New" pitchFamily="34" charset="-120"/>
              </a:rPr>
              <a:t>IDF</a:t>
            </a:r>
            <a:pPr indent="0" marL="0">
              <a:buNone/>
            </a:pPr>
            <a:r>
              <a:rPr lang="en-US" sz="1700" dirty="0">
                <a:solidFill>
                  <a:srgbClr val="1F3A5F"/>
                </a:solidFill>
                <a:latin typeface="Calibri" pitchFamily="34" charset="0"/>
                <a:ea typeface="Calibri" pitchFamily="34" charset="-122"/>
                <a:cs typeface="Calibri" pitchFamily="34" charset="-120"/>
              </a:rPr>
              <a:t>). Pour des indicateurs lisibles, il faut assembler les fichiers puis les joindre aux tables de référence.</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DONNÉES DU JOUR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TP3, partie 0</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Mise en place, dans exercices/tp03-indicateurs/tp03.ipynb</a:t>
            </a:r>
            <a:endParaRPr lang="en-US" sz="1800" dirty="0"/>
          </a:p>
        </p:txBody>
      </p:sp>
      <p:sp>
        <p:nvSpPr>
          <p:cNvPr id="7" name="Text 5"/>
          <p:cNvSpPr txBox="1"/>
          <p:nvPr/>
        </p:nvSpPr>
        <p:spPr>
          <a:xfrm>
            <a:off x="548640" y="201168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À faire</a:t>
            </a:r>
            <a:endParaRPr lang="en-US" sz="1700" dirty="0"/>
          </a:p>
        </p:txBody>
      </p:sp>
      <p:sp>
        <p:nvSpPr>
          <p:cNvPr id="8" name="Text 6"/>
          <p:cNvSpPr txBox="1"/>
          <p:nvPr/>
        </p:nvSpPr>
        <p:spPr>
          <a:xfrm>
            <a:off x="548640" y="2423160"/>
            <a:ext cx="5318608" cy="257048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Activer l'environnement du TP1, ou en recréer un à partir de son </a:t>
            </a:r>
            <a:pPr indent="0" marL="0">
              <a:buNone/>
            </a:pPr>
            <a:r>
              <a:rPr lang="en-US" sz="1700" dirty="0">
                <a:solidFill>
                  <a:srgbClr val="1F3A5F"/>
                </a:solidFill>
                <a:latin typeface="Courier New" pitchFamily="34" charset="0"/>
                <a:ea typeface="Courier New" pitchFamily="34" charset="-122"/>
                <a:cs typeface="Courier New" pitchFamily="34" charset="-120"/>
              </a:rPr>
              <a:t>requirements.txt</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Lancer </a:t>
            </a:r>
            <a:pPr indent="0" marL="0">
              <a:buNone/>
            </a:pPr>
            <a:r>
              <a:rPr lang="en-US" sz="1700" dirty="0">
                <a:solidFill>
                  <a:srgbClr val="1F3A5F"/>
                </a:solidFill>
                <a:latin typeface="Courier New" pitchFamily="34" charset="0"/>
                <a:ea typeface="Courier New" pitchFamily="34" charset="-122"/>
                <a:cs typeface="Courier New" pitchFamily="34" charset="-120"/>
              </a:rPr>
              <a:t>jupyter lab</a:t>
            </a:r>
            <a:pPr indent="0" marL="0">
              <a:buNone/>
            </a:pPr>
            <a:r>
              <a:rPr lang="en-US" sz="1700" dirty="0">
                <a:solidFill>
                  <a:srgbClr val="1F2933"/>
                </a:solidFill>
                <a:latin typeface="Calibri" pitchFamily="34" charset="0"/>
                <a:ea typeface="Calibri" pitchFamily="34" charset="-122"/>
                <a:cs typeface="Calibri" pitchFamily="34" charset="-120"/>
              </a:rPr>
              <a:t> depuis le dossier du TP, puis ouvrir le notebook</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Parcourir le dossier </a:t>
            </a:r>
            <a:pPr indent="0" marL="0">
              <a:buNone/>
            </a:pPr>
            <a:r>
              <a:rPr lang="en-US" sz="1700" dirty="0">
                <a:solidFill>
                  <a:srgbClr val="1F3A5F"/>
                </a:solidFill>
                <a:latin typeface="Courier New" pitchFamily="34" charset="0"/>
                <a:ea typeface="Courier New" pitchFamily="34" charset="-122"/>
                <a:cs typeface="Courier New" pitchFamily="34" charset="-120"/>
              </a:rPr>
              <a:t>ressources</a:t>
            </a:r>
            <a:pPr indent="0" marL="0">
              <a:buNone/>
            </a:pPr>
            <a:r>
              <a:rPr lang="en-US" sz="1700" dirty="0">
                <a:solidFill>
                  <a:srgbClr val="1F2933"/>
                </a:solidFill>
                <a:latin typeface="Calibri" pitchFamily="34" charset="0"/>
                <a:ea typeface="Calibri" pitchFamily="34" charset="-122"/>
                <a:cs typeface="Calibri" pitchFamily="34" charset="-120"/>
              </a:rPr>
              <a:t> : un fichier de ventes, puis les deux tables de référence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Exécuter la première cellule : imports et </a:t>
            </a:r>
            <a:pPr indent="0" marL="0">
              <a:buNone/>
            </a:pPr>
            <a:r>
              <a:rPr lang="en-US" sz="1700" dirty="0">
                <a:solidFill>
                  <a:srgbClr val="1F3A5F"/>
                </a:solidFill>
                <a:latin typeface="Courier New" pitchFamily="34" charset="0"/>
                <a:ea typeface="Courier New" pitchFamily="34" charset="-122"/>
                <a:cs typeface="Courier New" pitchFamily="34" charset="-120"/>
              </a:rPr>
              <a:t>DOSSIER</a:t>
            </a:r>
            <a:endParaRPr lang="en-US" sz="1700" dirty="0"/>
          </a:p>
        </p:txBody>
      </p:sp>
      <p:sp>
        <p:nvSpPr>
          <p:cNvPr id="9" name="Text 7"/>
          <p:cNvSpPr txBox="1"/>
          <p:nvPr/>
        </p:nvSpPr>
        <p:spPr>
          <a:xfrm>
            <a:off x="6324448" y="201168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Dans le notebook</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24448" y="2423160"/>
          <a:ext cx="5318608" cy="914400"/>
        </p:xfrm>
        <a:graphic>
          <a:graphicData uri="http://schemas.openxmlformats.org/drawingml/2006/table">
            <a:tbl>
              <a:tblPr/>
              <a:tblGrid>
                <a:gridCol w="2127443"/>
                <a:gridCol w="3191165"/>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Repère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Résultat attendu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à comparer avec ce qu'on obtient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75971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 Vérification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contrôle avec </a:t>
                      </a:r>
                      <a:pPr indent="0" marL="0">
                        <a:buNone/>
                      </a:pPr>
                      <a:r>
                        <a:rPr lang="en-US" sz="1400" dirty="0">
                          <a:solidFill>
                            <a:srgbClr val="1F3A5F"/>
                          </a:solidFill>
                          <a:latin typeface="Courier New" pitchFamily="34" charset="0"/>
                          <a:ea typeface="Courier New" pitchFamily="34" charset="-122"/>
                          <a:cs typeface="Courier New" pitchFamily="34" charset="-120"/>
                        </a:rPr>
                        <a:t>assert</a:t>
                      </a:r>
                      <a:pPr indent="0" marL="0">
                        <a:buNone/>
                      </a:pPr>
                      <a:r>
                        <a:rPr lang="en-US" sz="1400" dirty="0">
                          <a:solidFill>
                            <a:srgbClr val="1F2933"/>
                          </a:solidFill>
                          <a:latin typeface="Calibri" pitchFamily="34" charset="0"/>
                          <a:ea typeface="Calibri" pitchFamily="34" charset="-122"/>
                          <a:cs typeface="Calibri" pitchFamily="34" charset="-120"/>
                        </a:rPr>
                        <a:t> : affiche </a:t>
                      </a:r>
                      <a:pPr indent="0" marL="0">
                        <a:buNone/>
                      </a:pPr>
                      <a:r>
                        <a:rPr lang="en-US" sz="1400" dirty="0">
                          <a:solidFill>
                            <a:srgbClr val="1F3A5F"/>
                          </a:solidFill>
                          <a:latin typeface="Courier New" pitchFamily="34" charset="0"/>
                          <a:ea typeface="Courier New" pitchFamily="34" charset="-122"/>
                          <a:cs typeface="Courier New" pitchFamily="34" charset="-120"/>
                        </a:rPr>
                        <a:t>OK</a:t>
                      </a:r>
                      <a:pPr indent="0" marL="0">
                        <a:buNone/>
                      </a:pPr>
                      <a:r>
                        <a:rPr lang="en-US" sz="1400" dirty="0">
                          <a:solidFill>
                            <a:srgbClr val="1F2933"/>
                          </a:solidFill>
                          <a:latin typeface="Calibri" pitchFamily="34" charset="0"/>
                          <a:ea typeface="Calibri" pitchFamily="34" charset="-122"/>
                          <a:cs typeface="Calibri" pitchFamily="34" charset="-120"/>
                        </a:rPr>
                        <a:t>, sinon une </a:t>
                      </a:r>
                      <a:pPr indent="0" marL="0">
                        <a:buNone/>
                      </a:pPr>
                      <a:r>
                        <a:rPr lang="en-US" sz="1400" dirty="0">
                          <a:solidFill>
                            <a:srgbClr val="1F3A5F"/>
                          </a:solidFill>
                          <a:latin typeface="Courier New" pitchFamily="34" charset="0"/>
                          <a:ea typeface="Courier New" pitchFamily="34" charset="-122"/>
                          <a:cs typeface="Courier New" pitchFamily="34" charset="-120"/>
                        </a:rPr>
                        <a:t>AssertionError</a:t>
                      </a:r>
                      <a:pPr indent="0" marL="0">
                        <a:buNone/>
                      </a:pPr>
                      <a:r>
                        <a:rPr lang="en-US" sz="1400" dirty="0">
                          <a:solidFill>
                            <a:srgbClr val="1F2933"/>
                          </a:solidFill>
                          <a:latin typeface="Calibri" pitchFamily="34" charset="0"/>
                          <a:ea typeface="Calibri" pitchFamily="34" charset="-122"/>
                          <a:cs typeface="Calibri" pitchFamily="34" charset="-120"/>
                        </a:rPr>
                        <a:t> explique le problème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Pour aller plus loin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facultatif, pour qui termine une partie en avance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1" name="Shape 8"/>
          <p:cNvSpPr/>
          <p:nvPr/>
        </p:nvSpPr>
        <p:spPr>
          <a:xfrm>
            <a:off x="548640" y="5313680"/>
            <a:ext cx="11094415" cy="624840"/>
          </a:xfrm>
          <a:prstGeom prst="roundRect">
            <a:avLst>
              <a:gd name="adj" fmla="val 8780"/>
            </a:avLst>
          </a:prstGeom>
          <a:solidFill>
            <a:srgbClr val="E8F3EE"/>
          </a:solidFill>
          <a:ln/>
        </p:spPr>
      </p:sp>
      <p:sp>
        <p:nvSpPr>
          <p:cNvPr id="12" name="Text 9"/>
          <p:cNvSpPr txBox="1"/>
          <p:nvPr/>
        </p:nvSpPr>
        <p:spPr>
          <a:xfrm>
            <a:off x="822960" y="531368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Les tables construites au début (</a:t>
            </a:r>
            <a:pPr indent="0" marL="0">
              <a:buNone/>
            </a:pPr>
            <a:r>
              <a:rPr lang="en-US" sz="1700" dirty="0">
                <a:solidFill>
                  <a:srgbClr val="2F7D62"/>
                </a:solidFill>
                <a:latin typeface="Courier New" pitchFamily="34" charset="0"/>
                <a:ea typeface="Courier New" pitchFamily="34" charset="-122"/>
                <a:cs typeface="Courier New" pitchFamily="34" charset="-120"/>
              </a:rPr>
              <a:t>fichiers</a:t>
            </a:r>
            <a:pPr indent="0" marL="0">
              <a:buNone/>
            </a:pPr>
            <a:r>
              <a:rPr lang="en-US" sz="1700" dirty="0">
                <a:solidFill>
                  <a:srgbClr val="1F3A5F"/>
                </a:solidFill>
                <a:latin typeface="Calibri" pitchFamily="34" charset="0"/>
                <a:ea typeface="Calibri" pitchFamily="34" charset="-122"/>
                <a:cs typeface="Calibri" pitchFamily="34" charset="-120"/>
              </a:rPr>
              <a:t>, </a:t>
            </a:r>
            <a:pPr indent="0" marL="0">
              <a:buNone/>
            </a:pPr>
            <a:r>
              <a:rPr lang="en-US" sz="1700" dirty="0">
                <a:solidFill>
                  <a:srgbClr val="2F7D62"/>
                </a:solidFill>
                <a:latin typeface="Courier New" pitchFamily="34" charset="0"/>
                <a:ea typeface="Courier New" pitchFamily="34" charset="-122"/>
                <a:cs typeface="Courier New" pitchFamily="34" charset="-120"/>
              </a:rPr>
              <a:t>ventes</a:t>
            </a:r>
            <a:pPr indent="0" marL="0">
              <a:buNone/>
            </a:pPr>
            <a:r>
              <a:rPr lang="en-US" sz="1700" dirty="0">
                <a:solidFill>
                  <a:srgbClr val="1F3A5F"/>
                </a:solidFill>
                <a:latin typeface="Calibri" pitchFamily="34" charset="0"/>
                <a:ea typeface="Calibri" pitchFamily="34" charset="-122"/>
                <a:cs typeface="Calibri" pitchFamily="34" charset="-120"/>
              </a:rPr>
              <a:t>, </a:t>
            </a:r>
            <a:pPr indent="0" marL="0">
              <a:buNone/>
            </a:pPr>
            <a:r>
              <a:rPr lang="en-US" sz="1700" dirty="0">
                <a:solidFill>
                  <a:srgbClr val="2F7D62"/>
                </a:solidFill>
                <a:latin typeface="Courier New" pitchFamily="34" charset="0"/>
                <a:ea typeface="Courier New" pitchFamily="34" charset="-122"/>
                <a:cs typeface="Courier New" pitchFamily="34" charset="-120"/>
              </a:rPr>
              <a:t>df</a:t>
            </a:r>
            <a:pPr indent="0" marL="0">
              <a:buNone/>
            </a:pPr>
            <a:r>
              <a:rPr lang="en-US" sz="1700" dirty="0">
                <a:solidFill>
                  <a:srgbClr val="1F3A5F"/>
                </a:solidFill>
                <a:latin typeface="Calibri" pitchFamily="34" charset="0"/>
                <a:ea typeface="Calibri" pitchFamily="34" charset="-122"/>
                <a:cs typeface="Calibri" pitchFamily="34" charset="-120"/>
              </a:rPr>
              <a:t>) servent jusqu'à la fin du TP.</a:t>
            </a:r>
            <a:endParaRPr lang="en-US" sz="1700" dirty="0"/>
          </a:p>
        </p:txBody>
      </p:sp>
      <p:sp>
        <p:nvSpPr>
          <p:cNvPr id="13"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Parcourir et empiler des fichiers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pathlib   |   glob   |   Boucle et concat   |   Contrôles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PARCOURIR ET EMPILER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pathlib : manipuler des chemins</a:t>
            </a:r>
            <a:endParaRPr lang="en-US" sz="3000" dirty="0"/>
          </a:p>
        </p:txBody>
      </p:sp>
      <p:sp>
        <p:nvSpPr>
          <p:cNvPr id="6" name="Shape 4"/>
          <p:cNvSpPr/>
          <p:nvPr/>
        </p:nvSpPr>
        <p:spPr>
          <a:xfrm>
            <a:off x="548640" y="1417320"/>
            <a:ext cx="5802117" cy="2240788"/>
          </a:xfrm>
          <a:prstGeom prst="rect">
            <a:avLst/>
          </a:prstGeom>
          <a:solidFill>
            <a:srgbClr val="F3F4F6"/>
          </a:solidFill>
          <a:ln/>
        </p:spPr>
      </p:sp>
      <p:sp>
        <p:nvSpPr>
          <p:cNvPr id="7" name="Text 5"/>
          <p:cNvSpPr txBox="1"/>
          <p:nvPr/>
        </p:nvSpPr>
        <p:spPr>
          <a:xfrm>
            <a:off x="731520" y="1563624"/>
            <a:ext cx="5436357"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from pathlib import Path</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DOSSIER = Path("ressources")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fichier = DOSSIER / "ventes" / "ventes_2025_01.csv"</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fichier.name      # 'ventes_2025_01.csv'</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fichier.stem      # 'ventes_2025_01'</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fichier.suffix    # '.csv'</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fichier.parent    # ressources/ventes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fichier.exists()  # True</a:t>
            </a:r>
            <a:endParaRPr lang="en-US" sz="1300" dirty="0"/>
          </a:p>
        </p:txBody>
      </p:sp>
      <p:sp>
        <p:nvSpPr>
          <p:cNvPr id="8" name="Text 6"/>
          <p:cNvSpPr txBox="1"/>
          <p:nvPr/>
        </p:nvSpPr>
        <p:spPr>
          <a:xfrm>
            <a:off x="6807957" y="1417320"/>
            <a:ext cx="4835098" cy="16916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L'opérateur </a:t>
            </a:r>
            <a:pPr indent="0" marL="0">
              <a:buNone/>
            </a:pPr>
            <a:r>
              <a:rPr lang="en-US" sz="1700" dirty="0">
                <a:solidFill>
                  <a:srgbClr val="1F3A5F"/>
                </a:solidFill>
                <a:latin typeface="Courier New" pitchFamily="34" charset="0"/>
                <a:ea typeface="Courier New" pitchFamily="34" charset="-122"/>
                <a:cs typeface="Courier New" pitchFamily="34" charset="-120"/>
              </a:rPr>
              <a:t>/</a:t>
            </a:r>
            <a:pPr indent="0" marL="0">
              <a:buNone/>
            </a:pPr>
            <a:r>
              <a:rPr lang="en-US" sz="1700" dirty="0">
                <a:solidFill>
                  <a:srgbClr val="1F2933"/>
                </a:solidFill>
                <a:latin typeface="Calibri" pitchFamily="34" charset="0"/>
                <a:ea typeface="Calibri" pitchFamily="34" charset="-122"/>
                <a:cs typeface="Calibri" pitchFamily="34" charset="-120"/>
              </a:rPr>
              <a:t> construit un chemin valable sur tous les systèmes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Préférable à la concaténation de chaînes, source d'erreurs sous Windows</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pd.read_csv</a:t>
            </a:r>
            <a:pPr indent="0" marL="0">
              <a:buNone/>
            </a:pPr>
            <a:r>
              <a:rPr lang="en-US" sz="1700" dirty="0">
                <a:solidFill>
                  <a:srgbClr val="1F2933"/>
                </a:solidFill>
                <a:latin typeface="Calibri" pitchFamily="34" charset="0"/>
                <a:ea typeface="Calibri" pitchFamily="34" charset="-122"/>
                <a:cs typeface="Calibri" pitchFamily="34" charset="-120"/>
              </a:rPr>
              <a:t> accepte directement un </a:t>
            </a:r>
            <a:pPr indent="0" marL="0">
              <a:buNone/>
            </a:pPr>
            <a:r>
              <a:rPr lang="en-US" sz="1700" dirty="0">
                <a:solidFill>
                  <a:srgbClr val="1F3A5F"/>
                </a:solidFill>
                <a:latin typeface="Courier New" pitchFamily="34" charset="0"/>
                <a:ea typeface="Courier New" pitchFamily="34" charset="-122"/>
                <a:cs typeface="Courier New" pitchFamily="34" charset="-120"/>
              </a:rPr>
              <a:t>Path</a:t>
            </a:r>
            <a:endParaRPr lang="en-US" sz="1700" dirty="0"/>
          </a:p>
        </p:txBody>
      </p:sp>
      <p:sp>
        <p:nvSpPr>
          <p:cNvPr id="9" name="Text 7"/>
          <p:cNvSpPr txBox="1"/>
          <p:nvPr/>
        </p:nvSpPr>
        <p:spPr>
          <a:xfrm>
            <a:off x="6807957" y="3429000"/>
            <a:ext cx="483509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 mois dans le nom du fichier</a:t>
            </a:r>
            <a:endParaRPr lang="en-US" sz="1700" dirty="0"/>
          </a:p>
        </p:txBody>
      </p:sp>
      <p:sp>
        <p:nvSpPr>
          <p:cNvPr id="10" name="Shape 8"/>
          <p:cNvSpPr/>
          <p:nvPr/>
        </p:nvSpPr>
        <p:spPr>
          <a:xfrm>
            <a:off x="6807957" y="3840480"/>
            <a:ext cx="4835098" cy="1191768"/>
          </a:xfrm>
          <a:prstGeom prst="rect">
            <a:avLst/>
          </a:prstGeom>
          <a:solidFill>
            <a:srgbClr val="F3F4F6"/>
          </a:solidFill>
          <a:ln/>
        </p:spPr>
      </p:sp>
      <p:sp>
        <p:nvSpPr>
          <p:cNvPr id="11" name="Text 9"/>
          <p:cNvSpPr txBox="1"/>
          <p:nvPr/>
        </p:nvSpPr>
        <p:spPr>
          <a:xfrm>
            <a:off x="6990837" y="3986784"/>
            <a:ext cx="446933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fichier.stem.split("_")</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['ventes', '2025', '01']</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int(fichier.stem.split("_")[-1])</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1</a:t>
            </a:r>
            <a:endParaRPr lang="en-US" sz="15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PARCOURIR ET EMPILER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glob : lister les fichiers</a:t>
            </a:r>
            <a:endParaRPr lang="en-US" sz="3000" dirty="0"/>
          </a:p>
        </p:txBody>
      </p:sp>
      <p:sp>
        <p:nvSpPr>
          <p:cNvPr id="6" name="Shape 4"/>
          <p:cNvSpPr/>
          <p:nvPr/>
        </p:nvSpPr>
        <p:spPr>
          <a:xfrm>
            <a:off x="548640" y="1417320"/>
            <a:ext cx="5802117" cy="1851152"/>
          </a:xfrm>
          <a:prstGeom prst="rect">
            <a:avLst/>
          </a:prstGeom>
          <a:solidFill>
            <a:srgbClr val="F3F4F6"/>
          </a:solidFill>
          <a:ln/>
        </p:spPr>
      </p:sp>
      <p:sp>
        <p:nvSpPr>
          <p:cNvPr id="7" name="Text 5"/>
          <p:cNvSpPr txBox="1"/>
          <p:nvPr/>
        </p:nvSpPr>
        <p:spPr>
          <a:xfrm>
            <a:off x="731520" y="1563624"/>
            <a:ext cx="5436357" cy="1558544"/>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fichiers = sorted((DOSSIER / "ventes").glob("*.csv"))</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len(fichiers)    # 9</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le premier trimestre : un caractère entre 1 et 3</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(DOSSIER / "ventes").glob("ventes_2025_0[1-3].csv")</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récursif : 11 fichiers, sous-dossiers compris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DOSSIER.rglob("*.csv")</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611699"/>
                <a:gridCol w="322339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Pattern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Correspond à</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n'importe quelle suite de caractères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seul caractère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caractère de la liste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Shape 6"/>
          <p:cNvSpPr/>
          <p:nvPr/>
        </p:nvSpPr>
        <p:spPr>
          <a:xfrm>
            <a:off x="6807957" y="3417951"/>
            <a:ext cx="4835098" cy="1143000"/>
          </a:xfrm>
          <a:prstGeom prst="roundRect">
            <a:avLst>
              <a:gd name="adj" fmla="val 4800"/>
            </a:avLst>
          </a:prstGeom>
          <a:solidFill>
            <a:srgbClr val="E8F3EE"/>
          </a:solidFill>
          <a:ln/>
        </p:spPr>
      </p:sp>
      <p:sp>
        <p:nvSpPr>
          <p:cNvPr id="10" name="Text 7"/>
          <p:cNvSpPr txBox="1"/>
          <p:nvPr/>
        </p:nvSpPr>
        <p:spPr>
          <a:xfrm>
            <a:off x="7082277" y="3417951"/>
            <a:ext cx="4286458" cy="1143000"/>
          </a:xfrm>
          <a:prstGeom prst="rect">
            <a:avLst/>
          </a:prstGeom>
          <a:noFill/>
          <a:ln/>
        </p:spPr>
        <p:txBody>
          <a:bodyPr wrap="square" lIns="0" tIns="0" rIns="0" bIns="0" rtlCol="0" anchor="ctr"/>
          <a:lstStyle/>
          <a:p>
            <a:pPr indent="0" marL="0">
              <a:buNone/>
            </a:pPr>
            <a:r>
              <a:rPr lang="en-US" sz="1700" dirty="0">
                <a:solidFill>
                  <a:srgbClr val="2F7D62"/>
                </a:solidFill>
                <a:latin typeface="Courier New" pitchFamily="34" charset="0"/>
                <a:ea typeface="Courier New" pitchFamily="34" charset="-122"/>
                <a:cs typeface="Courier New" pitchFamily="34" charset="-120"/>
              </a:rPr>
              <a:t>glob</a:t>
            </a:r>
            <a:pPr indent="0" marL="0">
              <a:buNone/>
            </a:pPr>
            <a:r>
              <a:rPr lang="en-US" sz="1700" dirty="0">
                <a:solidFill>
                  <a:srgbClr val="1F3A5F"/>
                </a:solidFill>
                <a:latin typeface="Calibri" pitchFamily="34" charset="0"/>
                <a:ea typeface="Calibri" pitchFamily="34" charset="-122"/>
                <a:cs typeface="Calibri" pitchFamily="34" charset="-120"/>
              </a:rPr>
              <a:t> ne garantit aucun ordre : on trie avec </a:t>
            </a:r>
            <a:pPr indent="0" marL="0">
              <a:buNone/>
            </a:pPr>
            <a:r>
              <a:rPr lang="en-US" sz="1700" dirty="0">
                <a:solidFill>
                  <a:srgbClr val="2F7D62"/>
                </a:solidFill>
                <a:latin typeface="Courier New" pitchFamily="34" charset="0"/>
                <a:ea typeface="Courier New" pitchFamily="34" charset="-122"/>
                <a:cs typeface="Courier New" pitchFamily="34" charset="-120"/>
              </a:rPr>
              <a:t>sorted</a:t>
            </a:r>
            <a:pPr indent="0" marL="0">
              <a:buNone/>
            </a:pPr>
            <a:r>
              <a:rPr lang="en-US" sz="1700" dirty="0">
                <a:solidFill>
                  <a:srgbClr val="1F3A5F"/>
                </a:solidFill>
                <a:latin typeface="Calibri" pitchFamily="34" charset="0"/>
                <a:ea typeface="Calibri" pitchFamily="34" charset="-122"/>
                <a:cs typeface="Calibri" pitchFamily="34" charset="-120"/>
              </a:rPr>
              <a:t> pour un traitement reproductible.</a:t>
            </a:r>
            <a:endParaRPr lang="en-US" sz="17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PARCOURIR ET EMPILER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Lire chaque fichier, assembler une seule fois</a:t>
            </a:r>
            <a:endParaRPr lang="en-US" sz="3000" dirty="0"/>
          </a:p>
        </p:txBody>
      </p:sp>
      <p:sp>
        <p:nvSpPr>
          <p:cNvPr id="6" name="Shape 4"/>
          <p:cNvSpPr/>
          <p:nvPr/>
        </p:nvSpPr>
        <p:spPr>
          <a:xfrm>
            <a:off x="548640" y="1417320"/>
            <a:ext cx="5802117" cy="1731264"/>
          </a:xfrm>
          <a:prstGeom prst="rect">
            <a:avLst/>
          </a:prstGeom>
          <a:solidFill>
            <a:srgbClr val="F3F4F6"/>
          </a:solidFill>
          <a:ln/>
        </p:spPr>
      </p:sp>
      <p:sp>
        <p:nvSpPr>
          <p:cNvPr id="7" name="Text 5"/>
          <p:cNvSpPr txBox="1"/>
          <p:nvPr/>
        </p:nvSpPr>
        <p:spPr>
          <a:xfrm>
            <a:off x="731520" y="1563624"/>
            <a:ext cx="5436357" cy="1438656"/>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morceaux =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for fichier in fichiers: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morceau = pd.read_csv(fichier, parse_dates=["date"])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morceau["fichier"] = fichier.name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morceaux.append(morceau)</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 = pd.concat(morceaux, ignore_index=True)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ventes.shape    # (2182, 8)</a:t>
            </a:r>
            <a:endParaRPr lang="en-US" sz="1200" dirty="0"/>
          </a:p>
        </p:txBody>
      </p:sp>
      <p:sp>
        <p:nvSpPr>
          <p:cNvPr id="8" name="Text 6"/>
          <p:cNvSpPr txBox="1"/>
          <p:nvPr/>
        </p:nvSpPr>
        <p:spPr>
          <a:xfrm>
            <a:off x="6807957" y="1417320"/>
            <a:ext cx="4835098" cy="282956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 colonne </a:t>
            </a:r>
            <a:pPr indent="0" marL="0">
              <a:buNone/>
            </a:pPr>
            <a:r>
              <a:rPr lang="en-US" sz="1700" dirty="0">
                <a:solidFill>
                  <a:srgbClr val="1F3A5F"/>
                </a:solidFill>
                <a:latin typeface="Courier New" pitchFamily="34" charset="0"/>
                <a:ea typeface="Courier New" pitchFamily="34" charset="-122"/>
                <a:cs typeface="Courier New" pitchFamily="34" charset="-120"/>
              </a:rPr>
              <a:t>fichier</a:t>
            </a:r>
            <a:pPr indent="0" marL="0">
              <a:buNone/>
            </a:pPr>
            <a:r>
              <a:rPr lang="en-US" sz="1700" dirty="0">
                <a:solidFill>
                  <a:srgbClr val="1F2933"/>
                </a:solidFill>
                <a:latin typeface="Calibri" pitchFamily="34" charset="0"/>
                <a:ea typeface="Calibri" pitchFamily="34" charset="-122"/>
                <a:cs typeface="Calibri" pitchFamily="34" charset="-120"/>
              </a:rPr>
              <a:t> garde l'</a:t>
            </a:r>
            <a:pPr indent="0" marL="0">
              <a:buNone/>
            </a:pPr>
            <a:r>
              <a:rPr lang="en-US" sz="1700" b="1" dirty="0">
                <a:solidFill>
                  <a:srgbClr val="1F2933"/>
                </a:solidFill>
                <a:latin typeface="Calibri" pitchFamily="34" charset="0"/>
                <a:ea typeface="Calibri" pitchFamily="34" charset="-122"/>
                <a:cs typeface="Calibri" pitchFamily="34" charset="-120"/>
              </a:rPr>
              <a:t>origine</a:t>
            </a:r>
            <a:pPr indent="0" marL="0">
              <a:buNone/>
            </a:pPr>
            <a:r>
              <a:rPr lang="en-US" sz="1700" dirty="0">
                <a:solidFill>
                  <a:srgbClr val="1F2933"/>
                </a:solidFill>
                <a:latin typeface="Calibri" pitchFamily="34" charset="0"/>
                <a:ea typeface="Calibri" pitchFamily="34" charset="-122"/>
                <a:cs typeface="Calibri" pitchFamily="34" charset="-120"/>
              </a:rPr>
              <a:t> de chaque ligne</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ignore_index=True</a:t>
            </a:r>
            <a:pPr indent="0" marL="0">
              <a:buNone/>
            </a:pPr>
            <a:r>
              <a:rPr lang="en-US" sz="1700" dirty="0">
                <a:solidFill>
                  <a:srgbClr val="1F2933"/>
                </a:solidFill>
                <a:latin typeface="Calibri" pitchFamily="34" charset="0"/>
                <a:ea typeface="Calibri" pitchFamily="34" charset="-122"/>
                <a:cs typeface="Calibri" pitchFamily="34" charset="-120"/>
              </a:rPr>
              <a:t> renumérote les lignes de 0 à 2181</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Sans lui, l'index contient des doublons : </a:t>
            </a:r>
            <a:pPr indent="0" marL="0">
              <a:buNone/>
            </a:pPr>
            <a:r>
              <a:rPr lang="en-US" sz="1700" dirty="0">
                <a:solidFill>
                  <a:srgbClr val="1F3A5F"/>
                </a:solidFill>
                <a:latin typeface="Courier New" pitchFamily="34" charset="0"/>
                <a:ea typeface="Courier New" pitchFamily="34" charset="-122"/>
                <a:cs typeface="Courier New" pitchFamily="34" charset="-120"/>
              </a:rPr>
              <a:t>ventes.loc[0]</a:t>
            </a:r>
            <a:pPr indent="0" marL="0">
              <a:buNone/>
            </a:pPr>
            <a:r>
              <a:rPr lang="en-US" sz="1700" dirty="0">
                <a:solidFill>
                  <a:srgbClr val="1F2933"/>
                </a:solidFill>
                <a:latin typeface="Calibri" pitchFamily="34" charset="0"/>
                <a:ea typeface="Calibri" pitchFamily="34" charset="-122"/>
                <a:cs typeface="Calibri" pitchFamily="34" charset="-120"/>
              </a:rPr>
              <a:t> renvoie 9 lignes, une par fichier</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 seul </a:t>
            </a:r>
            <a:pPr indent="0" marL="0">
              <a:buNone/>
            </a:pPr>
            <a:r>
              <a:rPr lang="en-US" sz="1700" dirty="0">
                <a:solidFill>
                  <a:srgbClr val="1F3A5F"/>
                </a:solidFill>
                <a:latin typeface="Courier New" pitchFamily="34" charset="0"/>
                <a:ea typeface="Courier New" pitchFamily="34" charset="-122"/>
                <a:cs typeface="Courier New" pitchFamily="34" charset="-120"/>
              </a:rPr>
              <a:t>concat</a:t>
            </a:r>
            <a:pPr indent="0" marL="0">
              <a:buNone/>
            </a:pPr>
            <a:r>
              <a:rPr lang="en-US" sz="1700" dirty="0">
                <a:solidFill>
                  <a:srgbClr val="1F2933"/>
                </a:solidFill>
                <a:latin typeface="Calibri" pitchFamily="34" charset="0"/>
                <a:ea typeface="Calibri" pitchFamily="34" charset="-122"/>
                <a:cs typeface="Calibri" pitchFamily="34" charset="-120"/>
              </a:rPr>
              <a:t> à la fin : dans la boucle, il recopierait tout à chaque tour</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PARCOURIR ET EMPILER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Plus court : compréhension et fonction</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En une compréhension</a:t>
            </a:r>
            <a:endParaRPr lang="en-US" sz="1700" dirty="0"/>
          </a:p>
        </p:txBody>
      </p:sp>
      <p:sp>
        <p:nvSpPr>
          <p:cNvPr id="7" name="Shape 5"/>
          <p:cNvSpPr/>
          <p:nvPr/>
        </p:nvSpPr>
        <p:spPr>
          <a:xfrm>
            <a:off x="548640" y="1828800"/>
            <a:ext cx="5318608" cy="1866138"/>
          </a:xfrm>
          <a:prstGeom prst="rect">
            <a:avLst/>
          </a:prstGeom>
          <a:solidFill>
            <a:srgbClr val="F3F4F6"/>
          </a:solidFill>
          <a:ln/>
        </p:spPr>
      </p:sp>
      <p:sp>
        <p:nvSpPr>
          <p:cNvPr id="8" name="Text 6"/>
          <p:cNvSpPr txBox="1"/>
          <p:nvPr/>
        </p:nvSpPr>
        <p:spPr>
          <a:xfrm>
            <a:off x="731520" y="1975104"/>
            <a:ext cx="4952848" cy="157353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ventes_bis = pd.concat(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[pd.read_csv(f, parse_dates=["date"])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.assign(fichier=f.name)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for f in fichiers],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ignore_index=True,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ventes_bis.equals(ventes)    # True</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Avec une fonction</a:t>
            </a:r>
            <a:endParaRPr lang="en-US" sz="1700" dirty="0"/>
          </a:p>
        </p:txBody>
      </p:sp>
      <p:sp>
        <p:nvSpPr>
          <p:cNvPr id="10" name="Shape 8"/>
          <p:cNvSpPr/>
          <p:nvPr/>
        </p:nvSpPr>
        <p:spPr>
          <a:xfrm>
            <a:off x="6324448" y="1828800"/>
            <a:ext cx="5318608" cy="2240788"/>
          </a:xfrm>
          <a:prstGeom prst="rect">
            <a:avLst/>
          </a:prstGeom>
          <a:solidFill>
            <a:srgbClr val="F3F4F6"/>
          </a:solidFill>
          <a:ln/>
        </p:spPr>
      </p:sp>
      <p:sp>
        <p:nvSpPr>
          <p:cNvPr id="11" name="Text 9"/>
          <p:cNvSpPr txBox="1"/>
          <p:nvPr/>
        </p:nvSpPr>
        <p:spPr>
          <a:xfrm>
            <a:off x="6507328" y="1975104"/>
            <a:ext cx="4952848"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def charger_ventes(fichier):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morceau = pd.read_csv(fichier,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parse_dates=["date"])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morceau["fichier"] = fichier.name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return morceau</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ventes = pd.concat(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[charger_ventes(f) for f in fichiers],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ignore_index=True,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p:txBody>
      </p:sp>
      <p:sp>
        <p:nvSpPr>
          <p:cNvPr id="12" name="Text 10"/>
          <p:cNvSpPr txBox="1"/>
          <p:nvPr/>
        </p:nvSpPr>
        <p:spPr>
          <a:xfrm>
            <a:off x="548640" y="4389628"/>
            <a:ext cx="11094415" cy="86868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equals</a:t>
            </a:r>
            <a:pPr indent="0" marL="0">
              <a:buNone/>
            </a:pPr>
            <a:r>
              <a:rPr lang="en-US" sz="1600" dirty="0">
                <a:solidFill>
                  <a:srgbClr val="6B7280"/>
                </a:solidFill>
                <a:latin typeface="Calibri" pitchFamily="34" charset="0"/>
                <a:ea typeface="Calibri" pitchFamily="34" charset="-122"/>
                <a:cs typeface="Calibri" pitchFamily="34" charset="-120"/>
              </a:rPr>
              <a:t> vérifie que deux tables sont identiques : mêmes colonnes, mêmes valeurs, même index. La fonction se teste sur un seul fichier avant d'être appliquée à tous ; le jour 3, on la déplacera dans un module réutilisable.</a:t>
            </a:r>
            <a:endParaRPr lang="en-US" sz="16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PARCOURIR ET EMPILER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concat aligne les colonnes par leur nom</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ventes_2025_01.csv</a:t>
            </a:r>
            <a:endParaRPr lang="en-US" sz="1200" dirty="0"/>
          </a:p>
        </p:txBody>
      </p:sp>
      <p:sp>
        <p:nvSpPr>
          <p:cNvPr id="7" name="Shape 5"/>
          <p:cNvSpPr/>
          <p:nvPr/>
        </p:nvSpPr>
        <p:spPr>
          <a:xfrm>
            <a:off x="548640" y="1709928"/>
            <a:ext cx="5318608" cy="517398"/>
          </a:xfrm>
          <a:prstGeom prst="rect">
            <a:avLst/>
          </a:prstGeom>
          <a:solidFill>
            <a:srgbClr val="F3F4F6"/>
          </a:solidFill>
          <a:ln/>
        </p:spPr>
      </p:sp>
      <p:sp>
        <p:nvSpPr>
          <p:cNvPr id="8" name="Text 6"/>
          <p:cNvSpPr txBox="1"/>
          <p:nvPr/>
        </p:nvSpPr>
        <p:spPr>
          <a:xfrm>
            <a:off x="731520" y="1856232"/>
            <a:ext cx="4952848"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id_commande,date,code_region,id_produit,...</a:t>
            </a:r>
            <a:endParaRPr lang="en-US" sz="1500" dirty="0"/>
          </a:p>
        </p:txBody>
      </p:sp>
      <p:sp>
        <p:nvSpPr>
          <p:cNvPr id="9" name="Text 7"/>
          <p:cNvSpPr txBox="1"/>
          <p:nvPr/>
        </p:nvSpPr>
        <p:spPr>
          <a:xfrm>
            <a:off x="548640" y="2547366"/>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ventes_2025_05.csv, exporté avec un autre outil</a:t>
            </a:r>
            <a:endParaRPr lang="en-US" sz="1200" dirty="0"/>
          </a:p>
        </p:txBody>
      </p:sp>
      <p:sp>
        <p:nvSpPr>
          <p:cNvPr id="10" name="Shape 8"/>
          <p:cNvSpPr/>
          <p:nvPr/>
        </p:nvSpPr>
        <p:spPr>
          <a:xfrm>
            <a:off x="548640" y="2839974"/>
            <a:ext cx="5318608" cy="517398"/>
          </a:xfrm>
          <a:prstGeom prst="rect">
            <a:avLst/>
          </a:prstGeom>
          <a:solidFill>
            <a:srgbClr val="F3F4F6"/>
          </a:solidFill>
          <a:ln/>
        </p:spPr>
      </p:sp>
      <p:sp>
        <p:nvSpPr>
          <p:cNvPr id="11" name="Text 9"/>
          <p:cNvSpPr txBox="1"/>
          <p:nvPr/>
        </p:nvSpPr>
        <p:spPr>
          <a:xfrm>
            <a:off x="731520" y="2986278"/>
            <a:ext cx="4952848"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date,id_commande,id_produit,code_region,...</a:t>
            </a:r>
            <a:endParaRPr lang="en-US" sz="1500" dirty="0"/>
          </a:p>
        </p:txBody>
      </p:sp>
      <p:sp>
        <p:nvSpPr>
          <p:cNvPr id="12" name="Text 10"/>
          <p:cNvSpPr txBox="1"/>
          <p:nvPr/>
        </p:nvSpPr>
        <p:spPr>
          <a:xfrm>
            <a:off x="548640" y="3677412"/>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Corriger un nom avant d'empiler, avec rename vu hier</a:t>
            </a:r>
            <a:endParaRPr lang="en-US" sz="1200" dirty="0"/>
          </a:p>
        </p:txBody>
      </p:sp>
      <p:sp>
        <p:nvSpPr>
          <p:cNvPr id="13" name="Shape 11"/>
          <p:cNvSpPr/>
          <p:nvPr/>
        </p:nvSpPr>
        <p:spPr>
          <a:xfrm>
            <a:off x="548640" y="3970020"/>
            <a:ext cx="5318608" cy="472440"/>
          </a:xfrm>
          <a:prstGeom prst="rect">
            <a:avLst/>
          </a:prstGeom>
          <a:solidFill>
            <a:srgbClr val="F3F4F6"/>
          </a:solidFill>
          <a:ln/>
        </p:spPr>
      </p:sp>
      <p:sp>
        <p:nvSpPr>
          <p:cNvPr id="14" name="Text 12"/>
          <p:cNvSpPr txBox="1"/>
          <p:nvPr/>
        </p:nvSpPr>
        <p:spPr>
          <a:xfrm>
            <a:off x="731520" y="4116324"/>
            <a:ext cx="4952848" cy="179832"/>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morceau = morceau.rename(columns={"Date": "date"})</a:t>
            </a:r>
            <a:endParaRPr lang="en-US" sz="1200" dirty="0"/>
          </a:p>
        </p:txBody>
      </p:sp>
      <p:sp>
        <p:nvSpPr>
          <p:cNvPr id="15" name="Text 13"/>
          <p:cNvSpPr txBox="1"/>
          <p:nvPr/>
        </p:nvSpPr>
        <p:spPr>
          <a:xfrm>
            <a:off x="6324448" y="1417320"/>
            <a:ext cx="5318608" cy="15900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Ordre différent : </a:t>
            </a:r>
            <a:pPr indent="0" marL="0">
              <a:buNone/>
            </a:pPr>
            <a:r>
              <a:rPr lang="en-US" sz="1700" b="1" dirty="0">
                <a:solidFill>
                  <a:srgbClr val="1F2933"/>
                </a:solidFill>
                <a:latin typeface="Calibri" pitchFamily="34" charset="0"/>
                <a:ea typeface="Calibri" pitchFamily="34" charset="-122"/>
                <a:cs typeface="Calibri" pitchFamily="34" charset="-120"/>
              </a:rPr>
              <a:t>aucun problème</a:t>
            </a:r>
            <a:pPr indent="0" marL="0">
              <a:buNone/>
            </a:pPr>
            <a:r>
              <a:rPr lang="en-US" sz="1700" dirty="0">
                <a:solidFill>
                  <a:srgbClr val="1F2933"/>
                </a:solidFill>
                <a:latin typeface="Calibri" pitchFamily="34" charset="0"/>
                <a:ea typeface="Calibri" pitchFamily="34" charset="-122"/>
                <a:cs typeface="Calibri" pitchFamily="34" charset="-120"/>
              </a:rPr>
              <a:t>, les colonnes sont associées par nom</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Nom différent (</a:t>
            </a:r>
            <a:pPr indent="0" marL="0">
              <a:buNone/>
            </a:pPr>
            <a:r>
              <a:rPr lang="en-US" sz="1700" dirty="0">
                <a:solidFill>
                  <a:srgbClr val="1F3A5F"/>
                </a:solidFill>
                <a:latin typeface="Courier New" pitchFamily="34" charset="0"/>
                <a:ea typeface="Courier New" pitchFamily="34" charset="-122"/>
                <a:cs typeface="Courier New" pitchFamily="34" charset="-120"/>
              </a:rPr>
              <a:t>Date</a:t>
            </a:r>
            <a:pPr indent="0" marL="0">
              <a:buNone/>
            </a:pPr>
            <a:r>
              <a:rPr lang="en-US" sz="1700" dirty="0">
                <a:solidFill>
                  <a:srgbClr val="1F2933"/>
                </a:solidFill>
                <a:latin typeface="Calibri" pitchFamily="34" charset="0"/>
                <a:ea typeface="Calibri" pitchFamily="34" charset="-122"/>
                <a:cs typeface="Calibri" pitchFamily="34" charset="-120"/>
              </a:rPr>
              <a:t> au lieu de </a:t>
            </a:r>
            <a:pPr indent="0" marL="0">
              <a:buNone/>
            </a:pPr>
            <a:r>
              <a:rPr lang="en-US" sz="1700" dirty="0">
                <a:solidFill>
                  <a:srgbClr val="1F3A5F"/>
                </a:solidFill>
                <a:latin typeface="Courier New" pitchFamily="34" charset="0"/>
                <a:ea typeface="Courier New" pitchFamily="34" charset="-122"/>
                <a:cs typeface="Courier New" pitchFamily="34" charset="-120"/>
              </a:rPr>
              <a:t>date</a:t>
            </a:r>
            <a:pPr indent="0" marL="0">
              <a:buNone/>
            </a:pPr>
            <a:r>
              <a:rPr lang="en-US" sz="1700" dirty="0">
                <a:solidFill>
                  <a:srgbClr val="1F2933"/>
                </a:solidFill>
                <a:latin typeface="Calibri" pitchFamily="34" charset="0"/>
                <a:ea typeface="Calibri" pitchFamily="34" charset="-122"/>
                <a:cs typeface="Calibri" pitchFamily="34" charset="-120"/>
              </a:rPr>
              <a:t>) : une </a:t>
            </a:r>
            <a:pPr indent="0" marL="0">
              <a:buNone/>
            </a:pPr>
            <a:r>
              <a:rPr lang="en-US" sz="1700" b="1" dirty="0">
                <a:solidFill>
                  <a:srgbClr val="1F2933"/>
                </a:solidFill>
                <a:latin typeface="Calibri" pitchFamily="34" charset="0"/>
                <a:ea typeface="Calibri" pitchFamily="34" charset="-122"/>
                <a:cs typeface="Calibri" pitchFamily="34" charset="-120"/>
              </a:rPr>
              <a:t>colonne en plus</a:t>
            </a:r>
            <a:pPr indent="0" marL="0">
              <a:buNone/>
            </a:pPr>
            <a:r>
              <a:rPr lang="en-US" sz="1700" dirty="0">
                <a:solidFill>
                  <a:srgbClr val="1F2933"/>
                </a:solidFill>
                <a:latin typeface="Calibri" pitchFamily="34" charset="0"/>
                <a:ea typeface="Calibri" pitchFamily="34" charset="-122"/>
                <a:cs typeface="Calibri" pitchFamily="34" charset="-120"/>
              </a:rPr>
              <a:t>, remplie de </a:t>
            </a:r>
            <a:pPr indent="0" marL="0">
              <a:buNone/>
            </a:pPr>
            <a:r>
              <a:rPr lang="en-US" sz="1700" dirty="0">
                <a:solidFill>
                  <a:srgbClr val="1F3A5F"/>
                </a:solidFill>
                <a:latin typeface="Courier New" pitchFamily="34" charset="0"/>
                <a:ea typeface="Courier New" pitchFamily="34" charset="-122"/>
                <a:cs typeface="Courier New" pitchFamily="34" charset="-120"/>
              </a:rPr>
              <a:t>NaN</a:t>
            </a:r>
            <a:pPr indent="0" marL="0">
              <a:buNone/>
            </a:pPr>
            <a:r>
              <a:rPr lang="en-US" sz="1700" dirty="0">
                <a:solidFill>
                  <a:srgbClr val="1F2933"/>
                </a:solidFill>
                <a:latin typeface="Calibri" pitchFamily="34" charset="0"/>
                <a:ea typeface="Calibri" pitchFamily="34" charset="-122"/>
                <a:cs typeface="Calibri" pitchFamily="34" charset="-120"/>
              </a:rPr>
              <a:t>, sans aucun message d'erreur</a:t>
            </a:r>
            <a:endParaRPr lang="en-US" sz="1700" dirty="0"/>
          </a:p>
        </p:txBody>
      </p:sp>
      <p:sp>
        <p:nvSpPr>
          <p:cNvPr id="16" name="Shape 14"/>
          <p:cNvSpPr/>
          <p:nvPr/>
        </p:nvSpPr>
        <p:spPr>
          <a:xfrm>
            <a:off x="6324448" y="3327400"/>
            <a:ext cx="5318608" cy="883920"/>
          </a:xfrm>
          <a:prstGeom prst="roundRect">
            <a:avLst>
              <a:gd name="adj" fmla="val 6207"/>
            </a:avLst>
          </a:prstGeom>
          <a:solidFill>
            <a:srgbClr val="E8F3EE"/>
          </a:solidFill>
          <a:ln/>
        </p:spPr>
      </p:sp>
      <p:sp>
        <p:nvSpPr>
          <p:cNvPr id="17" name="Text 15"/>
          <p:cNvSpPr txBox="1"/>
          <p:nvPr/>
        </p:nvSpPr>
        <p:spPr>
          <a:xfrm>
            <a:off x="6598768" y="3327400"/>
            <a:ext cx="4769968"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D'où l'importance de contrôler le résultat après l'assemblage.</a:t>
            </a:r>
            <a:endParaRPr lang="en-US" sz="1700" dirty="0"/>
          </a:p>
        </p:txBody>
      </p:sp>
      <p:sp>
        <p:nvSpPr>
          <p:cNvPr id="18"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PARCOURIR ET EMPILER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Contrôler l'assemblage</a:t>
            </a:r>
            <a:endParaRPr lang="en-US" sz="3000" dirty="0"/>
          </a:p>
        </p:txBody>
      </p:sp>
      <p:sp>
        <p:nvSpPr>
          <p:cNvPr id="6" name="Shape 4"/>
          <p:cNvSpPr/>
          <p:nvPr/>
        </p:nvSpPr>
        <p:spPr>
          <a:xfrm>
            <a:off x="548640" y="1417320"/>
            <a:ext cx="5802117" cy="3214878"/>
          </a:xfrm>
          <a:prstGeom prst="rect">
            <a:avLst/>
          </a:prstGeom>
          <a:solidFill>
            <a:srgbClr val="F3F4F6"/>
          </a:solidFill>
          <a:ln/>
        </p:spPr>
      </p:sp>
      <p:sp>
        <p:nvSpPr>
          <p:cNvPr id="7" name="Text 5"/>
          <p:cNvSpPr txBox="1"/>
          <p:nvPr/>
        </p:nvSpPr>
        <p:spPr>
          <a:xfrm>
            <a:off x="731520" y="1563624"/>
            <a:ext cx="5436357" cy="2922270"/>
          </a:xfrm>
          <a:prstGeom prst="rect">
            <a:avLst/>
          </a:prstGeom>
          <a:noFill/>
          <a:ln/>
        </p:spPr>
        <p:txBody>
          <a:bodyPr wrap="square" lIns="0" tIns="0" rIns="0" bIns="0" rtlCol="0" anchor="t"/>
          <a:lstStyle/>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avant : les lignes de chaque fichier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{f.name: len(pd.read_csv(f)) for f in fichiers}</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{'ventes_2025_01.csv': 226,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après : les lignes par fichier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ventes["fichier"].value_counts().sort_index()</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ventes_2025_01.csv    226</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ventes_2025_02.csv    229</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ventes.columns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ventes.isna().sum()</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ventes["id_commande"].is_unique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934039"/>
                <a:gridCol w="290105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Détecte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lignes par fichier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fichier vide ou tronqué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liste des colonnes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colonne renommée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valeurs manquantes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des colonnes mal alignées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unicité de la clé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mois exporté deux fois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9" name="Text 6"/>
          <p:cNvSpPr txBox="1"/>
          <p:nvPr/>
        </p:nvSpPr>
        <p:spPr>
          <a:xfrm>
            <a:off x="6807957" y="4221480"/>
            <a:ext cx="483509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Les comptes avant et après l'assemblage doivent être identiques.</a:t>
            </a:r>
            <a:endParaRPr lang="en-US" sz="16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PARCOURIR ET EMPILER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TP3, partie 1</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Parcourir un dossier et empiler les fichiers</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18883"/>
                <a:gridCol w="8875532"/>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 programme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1.1 à 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construire un chemin, tirer le mois du nom du fichier, lister avec </a:t>
                      </a:r>
                      <a:pPr indent="0" marL="0">
                        <a:buNone/>
                      </a:pPr>
                      <a:r>
                        <a:rPr lang="en-US" sz="1600" dirty="0">
                          <a:solidFill>
                            <a:srgbClr val="1F3A5F"/>
                          </a:solidFill>
                          <a:latin typeface="Courier New" pitchFamily="34" charset="0"/>
                          <a:ea typeface="Courier New" pitchFamily="34" charset="-122"/>
                          <a:cs typeface="Courier New" pitchFamily="34" charset="-120"/>
                        </a:rPr>
                        <a:t>glob</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rglob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1.4 et 1.5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compter les lignes de chaque fichier, comparer les colonnes du fichier de mai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1.6 à 1.8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la fonction </a:t>
                      </a:r>
                      <a:pPr indent="0" marL="0">
                        <a:buNone/>
                      </a:pPr>
                      <a:r>
                        <a:rPr lang="en-US" sz="1600" dirty="0">
                          <a:solidFill>
                            <a:srgbClr val="1F3A5F"/>
                          </a:solidFill>
                          <a:latin typeface="Courier New" pitchFamily="34" charset="0"/>
                          <a:ea typeface="Courier New" pitchFamily="34" charset="-122"/>
                          <a:cs typeface="Courier New" pitchFamily="34" charset="-120"/>
                        </a:rPr>
                        <a:t>charger_ventes</a:t>
                      </a:r>
                      <a:pPr indent="0" marL="0">
                        <a:buNone/>
                      </a:pPr>
                      <a:r>
                        <a:rPr lang="en-US" sz="1600" dirty="0">
                          <a:solidFill>
                            <a:srgbClr val="1F2933"/>
                          </a:solidFill>
                          <a:latin typeface="Calibri" pitchFamily="34" charset="0"/>
                          <a:ea typeface="Calibri" pitchFamily="34" charset="-122"/>
                          <a:cs typeface="Calibri" pitchFamily="34" charset="-120"/>
                        </a:rPr>
                        <a:t>, un seul </a:t>
                      </a:r>
                      <a:pPr indent="0" marL="0">
                        <a:buNone/>
                      </a:pPr>
                      <a:r>
                        <a:rPr lang="en-US" sz="1600" dirty="0">
                          <a:solidFill>
                            <a:srgbClr val="1F3A5F"/>
                          </a:solidFill>
                          <a:latin typeface="Courier New" pitchFamily="34" charset="0"/>
                          <a:ea typeface="Courier New" pitchFamily="34" charset="-122"/>
                          <a:cs typeface="Courier New" pitchFamily="34" charset="-120"/>
                        </a:rPr>
                        <a:t>concat</a:t>
                      </a:r>
                      <a:pPr indent="0" marL="0">
                        <a:buNone/>
                      </a:pPr>
                      <a:r>
                        <a:rPr lang="en-US" sz="1600" dirty="0">
                          <a:solidFill>
                            <a:srgbClr val="1F2933"/>
                          </a:solidFill>
                          <a:latin typeface="Calibri" pitchFamily="34" charset="0"/>
                          <a:ea typeface="Calibri" pitchFamily="34" charset="-122"/>
                          <a:cs typeface="Calibri" pitchFamily="34" charset="-120"/>
                        </a:rPr>
                        <a:t>, l'effet de </a:t>
                      </a:r>
                      <a:pPr indent="0" marL="0">
                        <a:buNone/>
                      </a:pPr>
                      <a:r>
                        <a:rPr lang="en-US" sz="1600" dirty="0">
                          <a:solidFill>
                            <a:srgbClr val="1F3A5F"/>
                          </a:solidFill>
                          <a:latin typeface="Courier New" pitchFamily="34" charset="0"/>
                          <a:ea typeface="Courier New" pitchFamily="34" charset="-122"/>
                          <a:cs typeface="Courier New" pitchFamily="34" charset="-120"/>
                        </a:rPr>
                        <a:t>ignore_index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contrôler l'assemblage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Shape 5"/>
          <p:cNvSpPr/>
          <p:nvPr/>
        </p:nvSpPr>
        <p:spPr>
          <a:xfrm>
            <a:off x="548640" y="4231640"/>
            <a:ext cx="11094415" cy="624840"/>
          </a:xfrm>
          <a:prstGeom prst="roundRect">
            <a:avLst>
              <a:gd name="adj" fmla="val 8780"/>
            </a:avLst>
          </a:prstGeom>
          <a:solidFill>
            <a:srgbClr val="E8F3EE"/>
          </a:solidFill>
          <a:ln/>
        </p:spPr>
      </p:sp>
      <p:sp>
        <p:nvSpPr>
          <p:cNvPr id="9" name="Text 6"/>
          <p:cNvSpPr txBox="1"/>
          <p:nvPr/>
        </p:nvSpPr>
        <p:spPr>
          <a:xfrm>
            <a:off x="822960" y="42316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aller plus loin : 1.10 (</a:t>
            </a:r>
            <a:pPr indent="0" marL="0">
              <a:buNone/>
            </a:pPr>
            <a:r>
              <a:rPr lang="en-US" sz="1700" dirty="0">
                <a:solidFill>
                  <a:srgbClr val="2F7D62"/>
                </a:solidFill>
                <a:latin typeface="Courier New" pitchFamily="34" charset="0"/>
                <a:ea typeface="Courier New" pitchFamily="34" charset="-122"/>
                <a:cs typeface="Courier New" pitchFamily="34" charset="-120"/>
              </a:rPr>
              <a:t>assign</a:t>
            </a:r>
            <a:pPr indent="0" marL="0">
              <a:buNone/>
            </a:pPr>
            <a:r>
              <a:rPr lang="en-US" sz="1700" dirty="0">
                <a:solidFill>
                  <a:srgbClr val="1F3A5F"/>
                </a:solidFill>
                <a:latin typeface="Calibri" pitchFamily="34" charset="0"/>
                <a:ea typeface="Calibri" pitchFamily="34" charset="-122"/>
                <a:cs typeface="Calibri" pitchFamily="34" charset="-120"/>
              </a:rPr>
              <a:t> et </a:t>
            </a:r>
            <a:pPr indent="0" marL="0">
              <a:buNone/>
            </a:pPr>
            <a:r>
              <a:rPr lang="en-US" sz="1700" dirty="0">
                <a:solidFill>
                  <a:srgbClr val="2F7D62"/>
                </a:solidFill>
                <a:latin typeface="Courier New" pitchFamily="34" charset="0"/>
                <a:ea typeface="Courier New" pitchFamily="34" charset="-122"/>
                <a:cs typeface="Courier New" pitchFamily="34" charset="-120"/>
              </a:rPr>
              <a:t>equals</a:t>
            </a:r>
            <a:pPr indent="0" marL="0">
              <a:buNone/>
            </a:pPr>
            <a:r>
              <a:rPr lang="en-US" sz="1700" dirty="0">
                <a:solidFill>
                  <a:srgbClr val="1F3A5F"/>
                </a:solidFill>
                <a:latin typeface="Calibri" pitchFamily="34" charset="0"/>
                <a:ea typeface="Calibri" pitchFamily="34" charset="-122"/>
                <a:cs typeface="Calibri" pitchFamily="34" charset="-120"/>
              </a:rPr>
              <a:t>) et 1.11 (une colonne </a:t>
            </a:r>
            <a:pPr indent="0" marL="0">
              <a:buNone/>
            </a:pPr>
            <a:r>
              <a:rPr lang="en-US" sz="1700" dirty="0">
                <a:solidFill>
                  <a:srgbClr val="2F7D62"/>
                </a:solidFill>
                <a:latin typeface="Courier New" pitchFamily="34" charset="0"/>
                <a:ea typeface="Courier New" pitchFamily="34" charset="-122"/>
                <a:cs typeface="Courier New" pitchFamily="34" charset="-120"/>
              </a:rPr>
              <a:t>Date</a:t>
            </a:r>
            <a:pPr indent="0" marL="0">
              <a:buNone/>
            </a:pPr>
            <a:r>
              <a:rPr lang="en-US" sz="1700" dirty="0">
                <a:solidFill>
                  <a:srgbClr val="1F3A5F"/>
                </a:solidFill>
                <a:latin typeface="Calibri" pitchFamily="34" charset="0"/>
                <a:ea typeface="Calibri" pitchFamily="34" charset="-122"/>
                <a:cs typeface="Calibri" pitchFamily="34" charset="-120"/>
              </a:rPr>
              <a:t> mal nommée).</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Joindre des tables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merge   |   Types de jointure   |   Pièges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JOINDRE DES TABLES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merge : associer des lignes par une clé</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ventes</a:t>
            </a:r>
            <a:endParaRPr lang="en-US"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318608" cy="914400"/>
        </p:xfrm>
        <a:graphic>
          <a:graphicData uri="http://schemas.openxmlformats.org/drawingml/2006/table">
            <a:tbl>
              <a:tblPr/>
              <a:tblGrid>
                <a:gridCol w="1772869"/>
                <a:gridCol w="1772869"/>
                <a:gridCol w="1772869"/>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id_commande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id_produit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quantite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10001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P03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10002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P10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10003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P03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produits</a:t>
            </a:r>
            <a:endParaRPr lang="en-US" sz="17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324448" y="1828800"/>
          <a:ext cx="5318608" cy="914400"/>
        </p:xfrm>
        <a:graphic>
          <a:graphicData uri="http://schemas.openxmlformats.org/drawingml/2006/table">
            <a:tbl>
              <a:tblPr/>
              <a:tblGrid>
                <a:gridCol w="1772869"/>
                <a:gridCol w="1772869"/>
                <a:gridCol w="1772869"/>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id_produit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produit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categorie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P03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Écran 24 pouces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Informatique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P10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Bloc-notes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Papeterie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0" name="Shape 6"/>
          <p:cNvSpPr/>
          <p:nvPr/>
        </p:nvSpPr>
        <p:spPr>
          <a:xfrm>
            <a:off x="548640" y="3551936"/>
            <a:ext cx="11094415" cy="1191768"/>
          </a:xfrm>
          <a:prstGeom prst="rect">
            <a:avLst/>
          </a:prstGeom>
          <a:solidFill>
            <a:srgbClr val="F3F4F6"/>
          </a:solidFill>
          <a:ln/>
        </p:spPr>
      </p:sp>
      <p:sp>
        <p:nvSpPr>
          <p:cNvPr id="11" name="Text 7"/>
          <p:cNvSpPr txBox="1"/>
          <p:nvPr/>
        </p:nvSpPr>
        <p:spPr>
          <a:xfrm>
            <a:off x="731520" y="3698240"/>
            <a:ext cx="10728655"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ventes_produits = ventes.merge(produits, on="id_produit", how="left")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clés de noms différents : les deux colonnes clés sont conservées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ventes.merge(produits, left_on="id_produit", right_on="code_produit")</a:t>
            </a:r>
            <a:endParaRPr lang="en-US" sz="1500" dirty="0"/>
          </a:p>
        </p:txBody>
      </p:sp>
      <p:sp>
        <p:nvSpPr>
          <p:cNvPr id="12"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JOINDRE DES TABLES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types de jointure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382329" cy="914400"/>
        </p:xfrm>
        <a:graphic>
          <a:graphicData uri="http://schemas.openxmlformats.org/drawingml/2006/table">
            <a:tbl>
              <a:tblPr/>
              <a:tblGrid>
                <a:gridCol w="1728547"/>
                <a:gridCol w="4653782"/>
              </a:tblGrid>
              <a:tr h="365379">
                <a:tc>
                  <a:txBody>
                    <a:bodyPr/>
                    <a:lstStyle/>
                    <a:p>
                      <a:pPr indent="0" marL="0">
                        <a:buNone/>
                      </a:pPr>
                      <a:r>
                        <a:rPr lang="en-US" sz="1500" b="1" dirty="0">
                          <a:solidFill>
                            <a:srgbClr val="1F3A5F"/>
                          </a:solidFill>
                          <a:latin typeface="Courier New" pitchFamily="34" charset="0"/>
                          <a:ea typeface="Courier New" pitchFamily="34" charset="-122"/>
                          <a:cs typeface="Courier New" pitchFamily="34" charset="-120"/>
                        </a:rPr>
                        <a:t>how</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Lignes conservées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inner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clés présentes des deux côtés (par défaut)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left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toutes les lignes de gauche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right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toutes les lignes de droite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outer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toutes les lignes des deux tables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3564255"/>
            <a:ext cx="6382329" cy="38100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Les colonnes sans correspondance sont remplies de </a:t>
            </a:r>
            <a:pPr indent="0" marL="0">
              <a:buNone/>
            </a:pPr>
            <a:r>
              <a:rPr lang="en-US" sz="1600" dirty="0">
                <a:solidFill>
                  <a:srgbClr val="1F3A5F"/>
                </a:solidFill>
                <a:latin typeface="Courier New" pitchFamily="34" charset="0"/>
                <a:ea typeface="Courier New" pitchFamily="34" charset="-122"/>
                <a:cs typeface="Courier New" pitchFamily="34" charset="-120"/>
              </a:rPr>
              <a:t>NaN</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8" name="Text 5"/>
          <p:cNvSpPr txBox="1"/>
          <p:nvPr/>
        </p:nvSpPr>
        <p:spPr>
          <a:xfrm>
            <a:off x="7388169" y="1417320"/>
            <a:ext cx="4254886"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Sur les 2182 ventes</a:t>
            </a:r>
            <a:endParaRPr lang="en-US" sz="1700" dirty="0"/>
          </a:p>
        </p:txBody>
      </p:sp>
      <p:sp>
        <p:nvSpPr>
          <p:cNvPr id="9" name="Shape 6"/>
          <p:cNvSpPr/>
          <p:nvPr/>
        </p:nvSpPr>
        <p:spPr>
          <a:xfrm>
            <a:off x="7388169" y="1828800"/>
            <a:ext cx="1990283" cy="1600200"/>
          </a:xfrm>
          <a:prstGeom prst="roundRect">
            <a:avLst>
              <a:gd name="adj" fmla="val 4571"/>
            </a:avLst>
          </a:prstGeom>
          <a:solidFill>
            <a:srgbClr val="EEF3F7"/>
          </a:solidFill>
          <a:ln/>
        </p:spPr>
      </p:sp>
      <p:sp>
        <p:nvSpPr>
          <p:cNvPr id="10" name="Text 7"/>
          <p:cNvSpPr txBox="1"/>
          <p:nvPr/>
        </p:nvSpPr>
        <p:spPr>
          <a:xfrm>
            <a:off x="7616769" y="2011680"/>
            <a:ext cx="1533083"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2165</a:t>
            </a:r>
            <a:endParaRPr lang="en-US" sz="4000" dirty="0"/>
          </a:p>
        </p:txBody>
      </p:sp>
      <p:sp>
        <p:nvSpPr>
          <p:cNvPr id="11" name="Text 8"/>
          <p:cNvSpPr txBox="1"/>
          <p:nvPr/>
        </p:nvSpPr>
        <p:spPr>
          <a:xfrm>
            <a:off x="7616769" y="2834640"/>
            <a:ext cx="1533083"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avec </a:t>
            </a:r>
            <a:pPr indent="0" marL="0">
              <a:buNone/>
            </a:pPr>
            <a:r>
              <a:rPr lang="en-US" sz="1500" dirty="0">
                <a:solidFill>
                  <a:srgbClr val="1F3A5F"/>
                </a:solidFill>
                <a:latin typeface="Courier New" pitchFamily="34" charset="0"/>
                <a:ea typeface="Courier New" pitchFamily="34" charset="-122"/>
                <a:cs typeface="Courier New" pitchFamily="34" charset="-120"/>
              </a:rPr>
              <a:t>inner</a:t>
            </a:r>
            <a:endParaRPr lang="en-US" sz="1500" dirty="0"/>
          </a:p>
        </p:txBody>
      </p:sp>
      <p:sp>
        <p:nvSpPr>
          <p:cNvPr id="12" name="Shape 9"/>
          <p:cNvSpPr/>
          <p:nvPr/>
        </p:nvSpPr>
        <p:spPr>
          <a:xfrm>
            <a:off x="9652772" y="1828800"/>
            <a:ext cx="1990283" cy="1600200"/>
          </a:xfrm>
          <a:prstGeom prst="roundRect">
            <a:avLst>
              <a:gd name="adj" fmla="val 4571"/>
            </a:avLst>
          </a:prstGeom>
          <a:solidFill>
            <a:srgbClr val="EEF3F7"/>
          </a:solidFill>
          <a:ln/>
        </p:spPr>
      </p:sp>
      <p:sp>
        <p:nvSpPr>
          <p:cNvPr id="13" name="Text 10"/>
          <p:cNvSpPr txBox="1"/>
          <p:nvPr/>
        </p:nvSpPr>
        <p:spPr>
          <a:xfrm>
            <a:off x="9881372" y="2011680"/>
            <a:ext cx="1533083" cy="777240"/>
          </a:xfrm>
          <a:prstGeom prst="rect">
            <a:avLst/>
          </a:prstGeom>
          <a:noFill/>
          <a:ln/>
        </p:spPr>
        <p:txBody>
          <a:bodyPr wrap="square" lIns="0" tIns="0" rIns="0" bIns="0" rtlCol="0" anchor="ctr"/>
          <a:lstStyle/>
          <a:p>
            <a:pPr indent="0" marL="0">
              <a:buNone/>
            </a:pPr>
            <a:r>
              <a:rPr lang="en-US" sz="4000" b="1" dirty="0">
                <a:solidFill>
                  <a:srgbClr val="2F7D62"/>
                </a:solidFill>
                <a:latin typeface="Cambria" pitchFamily="34" charset="0"/>
                <a:ea typeface="Cambria" pitchFamily="34" charset="-122"/>
                <a:cs typeface="Cambria" pitchFamily="34" charset="-120"/>
              </a:rPr>
              <a:t>2182</a:t>
            </a:r>
            <a:endParaRPr lang="en-US" sz="4000" dirty="0"/>
          </a:p>
        </p:txBody>
      </p:sp>
      <p:sp>
        <p:nvSpPr>
          <p:cNvPr id="14" name="Text 11"/>
          <p:cNvSpPr txBox="1"/>
          <p:nvPr/>
        </p:nvSpPr>
        <p:spPr>
          <a:xfrm>
            <a:off x="9881372" y="2834640"/>
            <a:ext cx="1533083"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avec </a:t>
            </a:r>
            <a:pPr indent="0" marL="0">
              <a:buNone/>
            </a:pPr>
            <a:r>
              <a:rPr lang="en-US" sz="1500" dirty="0">
                <a:solidFill>
                  <a:srgbClr val="1F3A5F"/>
                </a:solidFill>
                <a:latin typeface="Courier New" pitchFamily="34" charset="0"/>
                <a:ea typeface="Courier New" pitchFamily="34" charset="-122"/>
                <a:cs typeface="Courier New" pitchFamily="34" charset="-120"/>
              </a:rPr>
              <a:t>left</a:t>
            </a:r>
            <a:endParaRPr lang="en-US" sz="1500" dirty="0"/>
          </a:p>
        </p:txBody>
      </p:sp>
      <p:sp>
        <p:nvSpPr>
          <p:cNvPr id="15" name="Text 12"/>
          <p:cNvSpPr txBox="1"/>
          <p:nvPr/>
        </p:nvSpPr>
        <p:spPr>
          <a:xfrm>
            <a:off x="7388169" y="3749040"/>
            <a:ext cx="4254886"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17 ventes disparaissent avec la jointure par défaut, sans aucun message.</a:t>
            </a:r>
            <a:endParaRPr lang="en-US" sz="1600" dirty="0"/>
          </a:p>
        </p:txBody>
      </p:sp>
      <p:sp>
        <p:nvSpPr>
          <p:cNvPr id="16"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JOINDRE DES TABLES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inner, left et outer sur un petit exemple</a:t>
            </a:r>
            <a:endParaRPr lang="en-US" sz="3000" dirty="0"/>
          </a:p>
        </p:txBody>
      </p:sp>
      <p:sp>
        <p:nvSpPr>
          <p:cNvPr id="6" name="Text 4"/>
          <p:cNvSpPr txBox="1"/>
          <p:nvPr/>
        </p:nvSpPr>
        <p:spPr>
          <a:xfrm>
            <a:off x="548640" y="1417320"/>
            <a:ext cx="2908576"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commandes</a:t>
            </a:r>
            <a:endParaRPr lang="en-US" sz="1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2908576" cy="914400"/>
        </p:xfrm>
        <a:graphic>
          <a:graphicData uri="http://schemas.openxmlformats.org/drawingml/2006/table">
            <a:tbl>
              <a:tblPr/>
              <a:tblGrid>
                <a:gridCol w="1454288"/>
                <a:gridCol w="1454288"/>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id_commande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code_client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3914416" y="1417320"/>
            <a:ext cx="2908576"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clients</a:t>
            </a:r>
            <a:endParaRPr lang="en-US" sz="17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3914416" y="1828800"/>
          <a:ext cx="2908576" cy="914400"/>
        </p:xfrm>
        <a:graphic>
          <a:graphicData uri="http://schemas.openxmlformats.org/drawingml/2006/table">
            <a:tbl>
              <a:tblPr/>
              <a:tblGrid>
                <a:gridCol w="1454288"/>
                <a:gridCol w="1454288"/>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code_client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nom</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Durand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Martin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Leroy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7280192" y="1417320"/>
            <a:ext cx="4362864"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Résultat avec </a:t>
            </a:r>
            <a:pPr indent="0" marL="0">
              <a:buNone/>
            </a:pPr>
            <a:r>
              <a:rPr lang="en-US" sz="1700" b="1" dirty="0">
                <a:solidFill>
                  <a:srgbClr val="1F3A5F"/>
                </a:solidFill>
                <a:latin typeface="Courier New" pitchFamily="34" charset="0"/>
                <a:ea typeface="Courier New" pitchFamily="34" charset="-122"/>
                <a:cs typeface="Courier New" pitchFamily="34" charset="-120"/>
              </a:rPr>
              <a:t>how="outer"</a:t>
            </a:r>
            <a:endParaRPr lang="en-US" sz="1700" dirty="0"/>
          </a:p>
        </p:txBody>
      </p:sp>
      <p:graphicFrame>
        <p:nvGraphicFramePr>
          <p:cNvPr id="52" name="Table 2"/>
          <p:cNvGraphicFramePr>
            <a:graphicFrameLocks noGrp="1"/>
          </p:cNvGraphicFramePr>
          <p:nvPr>
            <p:extLst>
              <p:ext uri="{D42A27DB-BD31-4B8C-83A1-F6EECF244321}">
                <p14:modId xmlns:p14="http://schemas.microsoft.com/office/powerpoint/2010/main" val="1579011935"/>
              </p:ext>
            </p:extLst>
          </p:nvPr>
        </p:nvGraphicFramePr>
        <p:xfrm>
          <a:off x="7280192" y="1828800"/>
          <a:ext cx="4362864" cy="914400"/>
        </p:xfrm>
        <a:graphic>
          <a:graphicData uri="http://schemas.openxmlformats.org/drawingml/2006/table">
            <a:tbl>
              <a:tblPr/>
              <a:tblGrid>
                <a:gridCol w="1454288"/>
                <a:gridCol w="1454288"/>
                <a:gridCol w="1454288"/>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id_commande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code_client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nom</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Durand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Martin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Leroy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2" name="Shape 7"/>
          <p:cNvSpPr/>
          <p:nvPr/>
        </p:nvSpPr>
        <p:spPr>
          <a:xfrm>
            <a:off x="548640" y="3902710"/>
            <a:ext cx="11094415" cy="922020"/>
          </a:xfrm>
          <a:prstGeom prst="rect">
            <a:avLst/>
          </a:prstGeom>
          <a:solidFill>
            <a:srgbClr val="F3F4F6"/>
          </a:solidFill>
          <a:ln/>
        </p:spPr>
      </p:sp>
      <p:sp>
        <p:nvSpPr>
          <p:cNvPr id="13" name="Text 8"/>
          <p:cNvSpPr txBox="1"/>
          <p:nvPr/>
        </p:nvSpPr>
        <p:spPr>
          <a:xfrm>
            <a:off x="731520" y="4049014"/>
            <a:ext cx="10728655" cy="62941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len(commandes.merge(clients, on="code_client"))                 # inner : 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len(commandes.merge(clients, on="code_client", how="left"))     # left : 3, sans nom pour C4</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len(commandes.merge(clients, on="code_client", how="outer"))    # outer : 4, avec C5 sans commande</a:t>
            </a:r>
            <a:endParaRPr lang="en-US" sz="1400" dirty="0"/>
          </a:p>
        </p:txBody>
      </p:sp>
      <p:sp>
        <p:nvSpPr>
          <p:cNvPr id="14" name="Shape 9"/>
          <p:cNvSpPr/>
          <p:nvPr/>
        </p:nvSpPr>
        <p:spPr>
          <a:xfrm>
            <a:off x="548640" y="5144770"/>
            <a:ext cx="11094415" cy="883920"/>
          </a:xfrm>
          <a:prstGeom prst="roundRect">
            <a:avLst>
              <a:gd name="adj" fmla="val 6207"/>
            </a:avLst>
          </a:prstGeom>
          <a:solidFill>
            <a:srgbClr val="E8F3EE"/>
          </a:solidFill>
          <a:ln/>
        </p:spPr>
      </p:sp>
      <p:sp>
        <p:nvSpPr>
          <p:cNvPr id="15" name="Text 10"/>
          <p:cNvSpPr txBox="1"/>
          <p:nvPr/>
        </p:nvSpPr>
        <p:spPr>
          <a:xfrm>
            <a:off x="822960" y="514477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Une colonne d'entiers ne peut pas contenir </a:t>
            </a:r>
            <a:pPr indent="0" marL="0">
              <a:buNone/>
            </a:pPr>
            <a:r>
              <a:rPr lang="en-US" sz="1700" dirty="0">
                <a:solidFill>
                  <a:srgbClr val="2F7D62"/>
                </a:solidFill>
                <a:latin typeface="Courier New" pitchFamily="34" charset="0"/>
                <a:ea typeface="Courier New" pitchFamily="34" charset="-122"/>
                <a:cs typeface="Courier New" pitchFamily="34" charset="-120"/>
              </a:rPr>
              <a:t>NaN</a:t>
            </a:r>
            <a:pPr indent="0" marL="0">
              <a:buNone/>
            </a:pPr>
            <a:r>
              <a:rPr lang="en-US" sz="1700" dirty="0">
                <a:solidFill>
                  <a:srgbClr val="1F3A5F"/>
                </a:solidFill>
                <a:latin typeface="Calibri" pitchFamily="34" charset="0"/>
                <a:ea typeface="Calibri" pitchFamily="34" charset="-122"/>
                <a:cs typeface="Calibri" pitchFamily="34" charset="-120"/>
              </a:rPr>
              <a:t> : dans la jointure </a:t>
            </a:r>
            <a:pPr indent="0" marL="0">
              <a:buNone/>
            </a:pPr>
            <a:r>
              <a:rPr lang="en-US" sz="1700" dirty="0">
                <a:solidFill>
                  <a:srgbClr val="2F7D62"/>
                </a:solidFill>
                <a:latin typeface="Courier New" pitchFamily="34" charset="0"/>
                <a:ea typeface="Courier New" pitchFamily="34" charset="-122"/>
                <a:cs typeface="Courier New" pitchFamily="34" charset="-120"/>
              </a:rPr>
              <a:t>outer</a:t>
            </a:r>
            <a:pPr indent="0" marL="0">
              <a:buNone/>
            </a:pPr>
            <a:r>
              <a:rPr lang="en-US" sz="1700" dirty="0">
                <a:solidFill>
                  <a:srgbClr val="1F3A5F"/>
                </a:solidFill>
                <a:latin typeface="Calibri" pitchFamily="34" charset="0"/>
                <a:ea typeface="Calibri" pitchFamily="34" charset="-122"/>
                <a:cs typeface="Calibri" pitchFamily="34" charset="-120"/>
              </a:rPr>
              <a:t>, </a:t>
            </a:r>
            <a:pPr indent="0" marL="0">
              <a:buNone/>
            </a:pPr>
            <a:r>
              <a:rPr lang="en-US" sz="1700" dirty="0">
                <a:solidFill>
                  <a:srgbClr val="2F7D62"/>
                </a:solidFill>
                <a:latin typeface="Courier New" pitchFamily="34" charset="0"/>
                <a:ea typeface="Courier New" pitchFamily="34" charset="-122"/>
                <a:cs typeface="Courier New" pitchFamily="34" charset="-120"/>
              </a:rPr>
              <a:t>id_commande</a:t>
            </a:r>
            <a:pPr indent="0" marL="0">
              <a:buNone/>
            </a:pPr>
            <a:r>
              <a:rPr lang="en-US" sz="1700" dirty="0">
                <a:solidFill>
                  <a:srgbClr val="1F3A5F"/>
                </a:solidFill>
                <a:latin typeface="Calibri" pitchFamily="34" charset="0"/>
                <a:ea typeface="Calibri" pitchFamily="34" charset="-122"/>
                <a:cs typeface="Calibri" pitchFamily="34" charset="-120"/>
              </a:rPr>
              <a:t> devient décimale (</a:t>
            </a:r>
            <a:pPr indent="0" marL="0">
              <a:buNone/>
            </a:pPr>
            <a:r>
              <a:rPr lang="en-US" sz="1700" dirty="0">
                <a:solidFill>
                  <a:srgbClr val="2F7D62"/>
                </a:solidFill>
                <a:latin typeface="Courier New" pitchFamily="34" charset="0"/>
                <a:ea typeface="Courier New" pitchFamily="34" charset="-122"/>
                <a:cs typeface="Courier New" pitchFamily="34" charset="-120"/>
              </a:rPr>
              <a:t>1.0</a:t>
            </a:r>
            <a:pPr indent="0" marL="0">
              <a:buNone/>
            </a:pPr>
            <a:r>
              <a:rPr lang="en-US" sz="1700" dirty="0">
                <a:solidFill>
                  <a:srgbClr val="1F3A5F"/>
                </a:solidFill>
                <a:latin typeface="Calibri" pitchFamily="34" charset="0"/>
                <a:ea typeface="Calibri" pitchFamily="34" charset="-122"/>
                <a:cs typeface="Calibri" pitchFamily="34" charset="-120"/>
              </a:rPr>
              <a:t>, </a:t>
            </a:r>
            <a:pPr indent="0" marL="0">
              <a:buNone/>
            </a:pPr>
            <a:r>
              <a:rPr lang="en-US" sz="1700" dirty="0">
                <a:solidFill>
                  <a:srgbClr val="2F7D62"/>
                </a:solidFill>
                <a:latin typeface="Courier New" pitchFamily="34" charset="0"/>
                <a:ea typeface="Courier New" pitchFamily="34" charset="-122"/>
                <a:cs typeface="Courier New" pitchFamily="34" charset="-120"/>
              </a:rPr>
              <a:t>2.0</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6"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JOINDRE DES TABLES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Trouver les lignes sans correspondance</a:t>
            </a:r>
            <a:endParaRPr lang="en-US" sz="3000" dirty="0"/>
          </a:p>
        </p:txBody>
      </p:sp>
      <p:sp>
        <p:nvSpPr>
          <p:cNvPr id="6" name="Shape 4"/>
          <p:cNvSpPr/>
          <p:nvPr/>
        </p:nvSpPr>
        <p:spPr>
          <a:xfrm>
            <a:off x="548640" y="1417320"/>
            <a:ext cx="5802117" cy="2600452"/>
          </a:xfrm>
          <a:prstGeom prst="rect">
            <a:avLst/>
          </a:prstGeom>
          <a:solidFill>
            <a:srgbClr val="F3F4F6"/>
          </a:solidFill>
          <a:ln/>
        </p:spPr>
      </p:sp>
      <p:sp>
        <p:nvSpPr>
          <p:cNvPr id="7" name="Text 5"/>
          <p:cNvSpPr txBox="1"/>
          <p:nvPr/>
        </p:nvSpPr>
        <p:spPr>
          <a:xfrm>
            <a:off x="731520" y="1563624"/>
            <a:ext cx="5436357" cy="230784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controle = ventes.merge(produits, on="id_produit",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how="left", indicator=True)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controle["_merge"].value_counts()</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both         2165</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left_only      17</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right_only      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controle.loc[controle["_merge"] == "left_only",</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"id_produit"].unique()</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['P17']</a:t>
            </a:r>
            <a:endParaRPr lang="en-US" sz="1400" dirty="0"/>
          </a:p>
        </p:txBody>
      </p:sp>
      <p:sp>
        <p:nvSpPr>
          <p:cNvPr id="8" name="Text 6"/>
          <p:cNvSpPr txBox="1"/>
          <p:nvPr/>
        </p:nvSpPr>
        <p:spPr>
          <a:xfrm>
            <a:off x="6807957" y="1417320"/>
            <a:ext cx="4835098" cy="16916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indicator=True</a:t>
            </a:r>
            <a:pPr indent="0" marL="0">
              <a:buNone/>
            </a:pPr>
            <a:r>
              <a:rPr lang="en-US" sz="1700" dirty="0">
                <a:solidFill>
                  <a:srgbClr val="1F2933"/>
                </a:solidFill>
                <a:latin typeface="Calibri" pitchFamily="34" charset="0"/>
                <a:ea typeface="Calibri" pitchFamily="34" charset="-122"/>
                <a:cs typeface="Calibri" pitchFamily="34" charset="-120"/>
              </a:rPr>
              <a:t> ajoute une colonne </a:t>
            </a:r>
            <a:pPr indent="0" marL="0">
              <a:buNone/>
            </a:pPr>
            <a:r>
              <a:rPr lang="en-US" sz="1700" dirty="0">
                <a:solidFill>
                  <a:srgbClr val="1F3A5F"/>
                </a:solidFill>
                <a:latin typeface="Courier New" pitchFamily="34" charset="0"/>
                <a:ea typeface="Courier New" pitchFamily="34" charset="-122"/>
                <a:cs typeface="Courier New" pitchFamily="34" charset="-120"/>
              </a:rPr>
              <a:t>_merge</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left_only</a:t>
            </a:r>
            <a:pPr indent="0" marL="0">
              <a:buNone/>
            </a:pPr>
            <a:r>
              <a:rPr lang="en-US" sz="1700" dirty="0">
                <a:solidFill>
                  <a:srgbClr val="1F2933"/>
                </a:solidFill>
                <a:latin typeface="Calibri" pitchFamily="34" charset="0"/>
                <a:ea typeface="Calibri" pitchFamily="34" charset="-122"/>
                <a:cs typeface="Calibri" pitchFamily="34" charset="-120"/>
              </a:rPr>
              <a:t> : présent seulement à gauche</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right_only</a:t>
            </a:r>
            <a:pPr indent="0" marL="0">
              <a:buNone/>
            </a:pPr>
            <a:r>
              <a:rPr lang="en-US" sz="1700" dirty="0">
                <a:solidFill>
                  <a:srgbClr val="1F2933"/>
                </a:solidFill>
                <a:latin typeface="Calibri" pitchFamily="34" charset="0"/>
                <a:ea typeface="Calibri" pitchFamily="34" charset="-122"/>
                <a:cs typeface="Calibri" pitchFamily="34" charset="-120"/>
              </a:rPr>
              <a:t> : présent seulement à droite, par exemple un client sans commande avec </a:t>
            </a:r>
            <a:pPr indent="0" marL="0">
              <a:buNone/>
            </a:pPr>
            <a:r>
              <a:rPr lang="en-US" sz="1700" dirty="0">
                <a:solidFill>
                  <a:srgbClr val="1F3A5F"/>
                </a:solidFill>
                <a:latin typeface="Courier New" pitchFamily="34" charset="0"/>
                <a:ea typeface="Courier New" pitchFamily="34" charset="-122"/>
                <a:cs typeface="Courier New" pitchFamily="34" charset="-120"/>
              </a:rPr>
              <a:t>how="outer"</a:t>
            </a:r>
            <a:endParaRPr lang="en-US" sz="1700" dirty="0"/>
          </a:p>
        </p:txBody>
      </p:sp>
      <p:sp>
        <p:nvSpPr>
          <p:cNvPr id="9" name="Shape 7"/>
          <p:cNvSpPr/>
          <p:nvPr/>
        </p:nvSpPr>
        <p:spPr>
          <a:xfrm>
            <a:off x="6807957" y="3429000"/>
            <a:ext cx="4835098" cy="1143000"/>
          </a:xfrm>
          <a:prstGeom prst="roundRect">
            <a:avLst>
              <a:gd name="adj" fmla="val 4800"/>
            </a:avLst>
          </a:prstGeom>
          <a:solidFill>
            <a:srgbClr val="E8F3EE"/>
          </a:solidFill>
          <a:ln/>
        </p:spPr>
      </p:sp>
      <p:sp>
        <p:nvSpPr>
          <p:cNvPr id="10" name="Text 8"/>
          <p:cNvSpPr txBox="1"/>
          <p:nvPr/>
        </p:nvSpPr>
        <p:spPr>
          <a:xfrm>
            <a:off x="7082277" y="3429000"/>
            <a:ext cx="4286458" cy="1143000"/>
          </a:xfrm>
          <a:prstGeom prst="rect">
            <a:avLst/>
          </a:prstGeom>
          <a:noFill/>
          <a:ln/>
        </p:spPr>
        <p:txBody>
          <a:bodyPr wrap="square" lIns="0" tIns="0" rIns="0" bIns="0" rtlCol="0" anchor="ctr"/>
          <a:lstStyle/>
          <a:p>
            <a:pPr indent="0" marL="0">
              <a:buNone/>
            </a:pPr>
            <a:r>
              <a:rPr lang="en-US" sz="1700" dirty="0">
                <a:solidFill>
                  <a:srgbClr val="2F7D62"/>
                </a:solidFill>
                <a:latin typeface="Courier New" pitchFamily="34" charset="0"/>
                <a:ea typeface="Courier New" pitchFamily="34" charset="-122"/>
                <a:cs typeface="Courier New" pitchFamily="34" charset="-120"/>
              </a:rPr>
              <a:t>P17</a:t>
            </a:r>
            <a:pPr indent="0" marL="0">
              <a:buNone/>
            </a:pPr>
            <a:r>
              <a:rPr lang="en-US" sz="1700" dirty="0">
                <a:solidFill>
                  <a:srgbClr val="1F3A5F"/>
                </a:solidFill>
                <a:latin typeface="Calibri" pitchFamily="34" charset="0"/>
                <a:ea typeface="Calibri" pitchFamily="34" charset="-122"/>
                <a:cs typeface="Calibri" pitchFamily="34" charset="-120"/>
              </a:rPr>
              <a:t> est vendu depuis août mais absent du catalogue : une information métier à remonter, pas une erreur à masquer.</a:t>
            </a:r>
            <a:endParaRPr lang="en-US" sz="17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JOINDRE DES TABLES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pièges des jointures</a:t>
            </a:r>
            <a:endParaRPr lang="en-US" sz="3000" dirty="0"/>
          </a:p>
        </p:txBody>
      </p:sp>
      <p:sp>
        <p:nvSpPr>
          <p:cNvPr id="6" name="Shape 4"/>
          <p:cNvSpPr/>
          <p:nvPr/>
        </p:nvSpPr>
        <p:spPr>
          <a:xfrm>
            <a:off x="548640" y="1417320"/>
            <a:ext cx="3515258" cy="2560320"/>
          </a:xfrm>
          <a:prstGeom prst="roundRect">
            <a:avLst>
              <a:gd name="adj" fmla="val 2857"/>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Des types différents</a:t>
            </a:r>
            <a:endParaRPr lang="en-US" sz="1800" dirty="0"/>
          </a:p>
        </p:txBody>
      </p:sp>
      <p:sp>
        <p:nvSpPr>
          <p:cNvPr id="10" name="Text 8"/>
          <p:cNvSpPr txBox="1"/>
          <p:nvPr/>
        </p:nvSpPr>
        <p:spPr>
          <a:xfrm>
            <a:off x="777240" y="2606040"/>
            <a:ext cx="3058058"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Une clé </a:t>
            </a:r>
            <a:pPr indent="0" marL="0">
              <a:buNone/>
            </a:pPr>
            <a:r>
              <a:rPr lang="en-US" sz="1500" dirty="0">
                <a:solidFill>
                  <a:srgbClr val="1F3A5F"/>
                </a:solidFill>
                <a:latin typeface="Courier New" pitchFamily="34" charset="0"/>
                <a:ea typeface="Courier New" pitchFamily="34" charset="-122"/>
                <a:cs typeface="Courier New" pitchFamily="34" charset="-120"/>
              </a:rPr>
              <a:t>int</a:t>
            </a:r>
            <a:pPr indent="0" marL="0">
              <a:buNone/>
            </a:pPr>
            <a:r>
              <a:rPr lang="en-US" sz="1500" dirty="0">
                <a:solidFill>
                  <a:srgbClr val="1F2933"/>
                </a:solidFill>
                <a:latin typeface="Calibri" pitchFamily="34" charset="0"/>
                <a:ea typeface="Calibri" pitchFamily="34" charset="-122"/>
                <a:cs typeface="Calibri" pitchFamily="34" charset="-120"/>
              </a:rPr>
              <a:t> d'un côté et </a:t>
            </a:r>
            <a:pPr indent="0" marL="0">
              <a:buNone/>
            </a:pPr>
            <a:r>
              <a:rPr lang="en-US" sz="1500" dirty="0">
                <a:solidFill>
                  <a:srgbClr val="1F3A5F"/>
                </a:solidFill>
                <a:latin typeface="Courier New" pitchFamily="34" charset="0"/>
                <a:ea typeface="Courier New" pitchFamily="34" charset="-122"/>
                <a:cs typeface="Courier New" pitchFamily="34" charset="-120"/>
              </a:rPr>
              <a:t>str</a:t>
            </a:r>
            <a:pPr indent="0" marL="0">
              <a:buNone/>
            </a:pPr>
            <a:r>
              <a:rPr lang="en-US" sz="1500" dirty="0">
                <a:solidFill>
                  <a:srgbClr val="1F2933"/>
                </a:solidFill>
                <a:latin typeface="Calibri" pitchFamily="34" charset="0"/>
                <a:ea typeface="Calibri" pitchFamily="34" charset="-122"/>
                <a:cs typeface="Calibri" pitchFamily="34" charset="-120"/>
              </a:rPr>
              <a:t> de l'autre : </a:t>
            </a:r>
            <a:pPr indent="0" marL="0">
              <a:buNone/>
            </a:pPr>
            <a:r>
              <a:rPr lang="en-US" sz="1500" dirty="0">
                <a:solidFill>
                  <a:srgbClr val="1F3A5F"/>
                </a:solidFill>
                <a:latin typeface="Courier New" pitchFamily="34" charset="0"/>
                <a:ea typeface="Courier New" pitchFamily="34" charset="-122"/>
                <a:cs typeface="Courier New" pitchFamily="34" charset="-120"/>
              </a:rPr>
              <a:t>ValueError</a:t>
            </a:r>
            <a:pPr indent="0" marL="0">
              <a:buNone/>
            </a:pPr>
            <a:r>
              <a:rPr lang="en-US" sz="1500" dirty="0">
                <a:solidFill>
                  <a:srgbClr val="1F2933"/>
                </a:solidFill>
                <a:latin typeface="Calibri" pitchFamily="34" charset="0"/>
                <a:ea typeface="Calibri" pitchFamily="34" charset="-122"/>
                <a:cs typeface="Calibri" pitchFamily="34" charset="-120"/>
              </a:rPr>
              <a:t>. Les variantes d'écriture (</a:t>
            </a:r>
            <a:pPr indent="0" marL="0">
              <a:buNone/>
            </a:pPr>
            <a:r>
              <a:rPr lang="en-US" sz="1500" dirty="0">
                <a:solidFill>
                  <a:srgbClr val="1F3A5F"/>
                </a:solidFill>
                <a:latin typeface="Courier New" pitchFamily="34" charset="0"/>
                <a:ea typeface="Courier New" pitchFamily="34" charset="-122"/>
                <a:cs typeface="Courier New" pitchFamily="34" charset="-120"/>
              </a:rPr>
              <a:t>p03</a:t>
            </a:r>
            <a:pPr indent="0" marL="0">
              <a:buNone/>
            </a:pPr>
            <a:r>
              <a:rPr lang="en-US" sz="1500" dirty="0">
                <a:solidFill>
                  <a:srgbClr val="1F2933"/>
                </a:solidFill>
                <a:latin typeface="Calibri" pitchFamily="34" charset="0"/>
                <a:ea typeface="Calibri" pitchFamily="34" charset="-122"/>
                <a:cs typeface="Calibri" pitchFamily="34" charset="-120"/>
              </a:rPr>
              <a:t>, un espace) empêchent aussi la correspondance.</a:t>
            </a:r>
            <a:endParaRPr lang="en-US" sz="1500" dirty="0"/>
          </a:p>
        </p:txBody>
      </p:sp>
      <p:sp>
        <p:nvSpPr>
          <p:cNvPr id="11" name="Shape 9"/>
          <p:cNvSpPr/>
          <p:nvPr/>
        </p:nvSpPr>
        <p:spPr>
          <a:xfrm>
            <a:off x="4338218" y="1417320"/>
            <a:ext cx="3515258" cy="2560320"/>
          </a:xfrm>
          <a:prstGeom prst="roundRect">
            <a:avLst>
              <a:gd name="adj" fmla="val 2857"/>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Des clés en double</a:t>
            </a:r>
            <a:endParaRPr lang="en-US" sz="1800" dirty="0"/>
          </a:p>
        </p:txBody>
      </p:sp>
      <p:sp>
        <p:nvSpPr>
          <p:cNvPr id="15" name="Text 13"/>
          <p:cNvSpPr txBox="1"/>
          <p:nvPr/>
        </p:nvSpPr>
        <p:spPr>
          <a:xfrm>
            <a:off x="4566818" y="2606040"/>
            <a:ext cx="3058058"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Un produit présent deux fois dans le catalogue duplique toutes ses ventes. Les totaux sont faux, sans message d'erreur.</a:t>
            </a:r>
            <a:endParaRPr lang="en-US" sz="1500" dirty="0"/>
          </a:p>
        </p:txBody>
      </p:sp>
      <p:sp>
        <p:nvSpPr>
          <p:cNvPr id="16" name="Shape 14"/>
          <p:cNvSpPr/>
          <p:nvPr/>
        </p:nvSpPr>
        <p:spPr>
          <a:xfrm>
            <a:off x="8127797" y="1417320"/>
            <a:ext cx="3515258" cy="2560320"/>
          </a:xfrm>
          <a:prstGeom prst="roundRect">
            <a:avLst>
              <a:gd name="adj" fmla="val 2857"/>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Des colonnes homonymes</a:t>
            </a:r>
            <a:endParaRPr lang="en-US" sz="1800" dirty="0"/>
          </a:p>
        </p:txBody>
      </p:sp>
      <p:sp>
        <p:nvSpPr>
          <p:cNvPr id="20" name="Text 18"/>
          <p:cNvSpPr txBox="1"/>
          <p:nvPr/>
        </p:nvSpPr>
        <p:spPr>
          <a:xfrm>
            <a:off x="8356397" y="2606040"/>
            <a:ext cx="3058058"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Deux colonnes </a:t>
            </a:r>
            <a:pPr indent="0" marL="0">
              <a:buNone/>
            </a:pPr>
            <a:r>
              <a:rPr lang="en-US" sz="1500" dirty="0">
                <a:solidFill>
                  <a:srgbClr val="1F3A5F"/>
                </a:solidFill>
                <a:latin typeface="Courier New" pitchFamily="34" charset="0"/>
                <a:ea typeface="Courier New" pitchFamily="34" charset="-122"/>
                <a:cs typeface="Courier New" pitchFamily="34" charset="-120"/>
              </a:rPr>
              <a:t>libelle</a:t>
            </a:r>
            <a:pPr indent="0" marL="0">
              <a:buNone/>
            </a:pPr>
            <a:r>
              <a:rPr lang="en-US" sz="1500" dirty="0">
                <a:solidFill>
                  <a:srgbClr val="1F2933"/>
                </a:solidFill>
                <a:latin typeface="Calibri" pitchFamily="34" charset="0"/>
                <a:ea typeface="Calibri" pitchFamily="34" charset="-122"/>
                <a:cs typeface="Calibri" pitchFamily="34" charset="-120"/>
              </a:rPr>
              <a:t> deviennent </a:t>
            </a:r>
            <a:pPr indent="0" marL="0">
              <a:buNone/>
            </a:pPr>
            <a:r>
              <a:rPr lang="en-US" sz="1500" dirty="0">
                <a:solidFill>
                  <a:srgbClr val="1F3A5F"/>
                </a:solidFill>
                <a:latin typeface="Courier New" pitchFamily="34" charset="0"/>
                <a:ea typeface="Courier New" pitchFamily="34" charset="-122"/>
                <a:cs typeface="Courier New" pitchFamily="34" charset="-120"/>
              </a:rPr>
              <a:t>libelle_x</a:t>
            </a:r>
            <a:pPr indent="0" marL="0">
              <a:buNone/>
            </a:pPr>
            <a:r>
              <a:rPr lang="en-US" sz="1500" dirty="0">
                <a:solidFill>
                  <a:srgbClr val="1F2933"/>
                </a:solidFill>
                <a:latin typeface="Calibri" pitchFamily="34" charset="0"/>
                <a:ea typeface="Calibri" pitchFamily="34" charset="-122"/>
                <a:cs typeface="Calibri" pitchFamily="34" charset="-120"/>
              </a:rPr>
              <a:t> et </a:t>
            </a:r>
            <a:pPr indent="0" marL="0">
              <a:buNone/>
            </a:pPr>
            <a:r>
              <a:rPr lang="en-US" sz="1500" dirty="0">
                <a:solidFill>
                  <a:srgbClr val="1F3A5F"/>
                </a:solidFill>
                <a:latin typeface="Courier New" pitchFamily="34" charset="0"/>
                <a:ea typeface="Courier New" pitchFamily="34" charset="-122"/>
                <a:cs typeface="Courier New" pitchFamily="34" charset="-120"/>
              </a:rPr>
              <a:t>libelle_y</a:t>
            </a:r>
            <a:pPr indent="0" marL="0">
              <a:buNone/>
            </a:pPr>
            <a:r>
              <a:rPr lang="en-US" sz="1500" dirty="0">
                <a:solidFill>
                  <a:srgbClr val="1F2933"/>
                </a:solidFill>
                <a:latin typeface="Calibri" pitchFamily="34" charset="0"/>
                <a:ea typeface="Calibri" pitchFamily="34" charset="-122"/>
                <a:cs typeface="Calibri" pitchFamily="34" charset="-120"/>
              </a:rPr>
              <a:t>. Avec </a:t>
            </a:r>
            <a:pPr indent="0" marL="0">
              <a:buNone/>
            </a:pPr>
            <a:r>
              <a:rPr lang="en-US" sz="1500" dirty="0">
                <a:solidFill>
                  <a:srgbClr val="1F3A5F"/>
                </a:solidFill>
                <a:latin typeface="Courier New" pitchFamily="34" charset="0"/>
                <a:ea typeface="Courier New" pitchFamily="34" charset="-122"/>
                <a:cs typeface="Courier New" pitchFamily="34" charset="-120"/>
              </a:rPr>
              <a:t>suffixes=("_vente", "_produit")</a:t>
            </a:r>
            <a:pPr indent="0" marL="0">
              <a:buNone/>
            </a:pPr>
            <a:r>
              <a:rPr lang="en-US" sz="1500" dirty="0">
                <a:solidFill>
                  <a:srgbClr val="1F2933"/>
                </a:solidFill>
                <a:latin typeface="Calibri" pitchFamily="34" charset="0"/>
                <a:ea typeface="Calibri" pitchFamily="34" charset="-122"/>
                <a:cs typeface="Calibri" pitchFamily="34" charset="-120"/>
              </a:rPr>
              <a:t> : </a:t>
            </a:r>
            <a:pPr indent="0" marL="0">
              <a:buNone/>
            </a:pPr>
            <a:r>
              <a:rPr lang="en-US" sz="1500" dirty="0">
                <a:solidFill>
                  <a:srgbClr val="1F3A5F"/>
                </a:solidFill>
                <a:latin typeface="Courier New" pitchFamily="34" charset="0"/>
                <a:ea typeface="Courier New" pitchFamily="34" charset="-122"/>
                <a:cs typeface="Courier New" pitchFamily="34" charset="-120"/>
              </a:rPr>
              <a:t>libelle_vente</a:t>
            </a:r>
            <a:pPr indent="0" marL="0">
              <a:buNone/>
            </a:pPr>
            <a:r>
              <a:rPr lang="en-US" sz="1500" dirty="0">
                <a:solidFill>
                  <a:srgbClr val="1F2933"/>
                </a:solidFill>
                <a:latin typeface="Calibri" pitchFamily="34" charset="0"/>
                <a:ea typeface="Calibri" pitchFamily="34" charset="-122"/>
                <a:cs typeface="Calibri" pitchFamily="34" charset="-120"/>
              </a:rPr>
              <a:t> et </a:t>
            </a:r>
            <a:pPr indent="0" marL="0">
              <a:buNone/>
            </a:pPr>
            <a:r>
              <a:rPr lang="en-US" sz="1500" dirty="0">
                <a:solidFill>
                  <a:srgbClr val="1F3A5F"/>
                </a:solidFill>
                <a:latin typeface="Courier New" pitchFamily="34" charset="0"/>
                <a:ea typeface="Courier New" pitchFamily="34" charset="-122"/>
                <a:cs typeface="Courier New" pitchFamily="34" charset="-120"/>
              </a:rPr>
              <a:t>libelle_produit</a:t>
            </a:r>
            <a:pPr indent="0" marL="0">
              <a:buNone/>
            </a:pPr>
            <a:r>
              <a:rPr lang="en-US" sz="1500" dirty="0">
                <a:solidFill>
                  <a:srgbClr val="1F2933"/>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548640" y="4297680"/>
            <a:ext cx="11094415" cy="624840"/>
          </a:xfrm>
          <a:prstGeom prst="roundRect">
            <a:avLst>
              <a:gd name="adj" fmla="val 8780"/>
            </a:avLst>
          </a:prstGeom>
          <a:solidFill>
            <a:srgbClr val="E8F3EE"/>
          </a:solidFill>
          <a:ln/>
        </p:spPr>
      </p:sp>
      <p:sp>
        <p:nvSpPr>
          <p:cNvPr id="22" name="Text 20"/>
          <p:cNvSpPr txBox="1"/>
          <p:nvPr/>
        </p:nvSpPr>
        <p:spPr>
          <a:xfrm>
            <a:off x="822960" y="429768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 nettoyage d'hier (espaces, casse, types) est ce qui rend les jointures fiables.</a:t>
            </a:r>
            <a:endParaRPr lang="en-US" sz="17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JOINDRE DES TABLES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Se protéger des clés en double</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Vérifier</a:t>
            </a:r>
            <a:endParaRPr lang="en-US" sz="1700" dirty="0"/>
          </a:p>
        </p:txBody>
      </p:sp>
      <p:sp>
        <p:nvSpPr>
          <p:cNvPr id="7" name="Shape 5"/>
          <p:cNvSpPr/>
          <p:nvPr/>
        </p:nvSpPr>
        <p:spPr>
          <a:xfrm>
            <a:off x="548640" y="1828800"/>
            <a:ext cx="5318608" cy="2315718"/>
          </a:xfrm>
          <a:prstGeom prst="rect">
            <a:avLst/>
          </a:prstGeom>
          <a:solidFill>
            <a:srgbClr val="F3F4F6"/>
          </a:solidFill>
          <a:ln/>
        </p:spPr>
      </p:sp>
      <p:sp>
        <p:nvSpPr>
          <p:cNvPr id="8" name="Text 6"/>
          <p:cNvSpPr txBox="1"/>
          <p:nvPr/>
        </p:nvSpPr>
        <p:spPr>
          <a:xfrm>
            <a:off x="731520" y="1975104"/>
            <a:ext cx="4952848" cy="2023110"/>
          </a:xfrm>
          <a:prstGeom prst="rect">
            <a:avLst/>
          </a:prstGeom>
          <a:noFill/>
          <a:ln/>
        </p:spPr>
        <p:txBody>
          <a:bodyPr wrap="square" lIns="0" tIns="0" rIns="0" bIns="0" rtlCol="0" anchor="t"/>
          <a:lstStyle/>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comparer avant et après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len(ventes), len(ventes_produits)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faire vérifier la relation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ventes.merge(produits, on="id_produit",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how="left",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validate="many_to_one")</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MergeError si une clé est en double</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dans produits</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Corriger la table de référence</a:t>
            </a:r>
            <a:endParaRPr lang="en-US" sz="1700" dirty="0"/>
          </a:p>
        </p:txBody>
      </p:sp>
      <p:sp>
        <p:nvSpPr>
          <p:cNvPr id="10" name="Shape 8"/>
          <p:cNvSpPr/>
          <p:nvPr/>
        </p:nvSpPr>
        <p:spPr>
          <a:xfrm>
            <a:off x="6324448" y="1828800"/>
            <a:ext cx="5318608" cy="1191768"/>
          </a:xfrm>
          <a:prstGeom prst="rect">
            <a:avLst/>
          </a:prstGeom>
          <a:solidFill>
            <a:srgbClr val="F3F4F6"/>
          </a:solidFill>
          <a:ln/>
        </p:spPr>
      </p:sp>
      <p:sp>
        <p:nvSpPr>
          <p:cNvPr id="11" name="Text 9"/>
          <p:cNvSpPr txBox="1"/>
          <p:nvPr/>
        </p:nvSpPr>
        <p:spPr>
          <a:xfrm>
            <a:off x="6507328" y="197510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après avoir vérifié la bonne ligne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produits = produits.drop_duplicates(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subset="id_produit"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p:txBody>
      </p:sp>
      <p:sp>
        <p:nvSpPr>
          <p:cNvPr id="12" name="Text 10"/>
          <p:cNvSpPr txBox="1"/>
          <p:nvPr/>
        </p:nvSpPr>
        <p:spPr>
          <a:xfrm>
            <a:off x="6324448" y="3340608"/>
            <a:ext cx="5318608" cy="86868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drop_duplicates(subset=...)</a:t>
            </a:r>
            <a:pPr indent="0" marL="0">
              <a:buNone/>
            </a:pPr>
            <a:r>
              <a:rPr lang="en-US" sz="1600" dirty="0">
                <a:solidFill>
                  <a:srgbClr val="6B7280"/>
                </a:solidFill>
                <a:latin typeface="Calibri" pitchFamily="34" charset="0"/>
                <a:ea typeface="Calibri" pitchFamily="34" charset="-122"/>
                <a:cs typeface="Calibri" pitchFamily="34" charset="-120"/>
              </a:rPr>
              <a:t> garde la première occurrence de chaque clé. On relance ensuite la jointure.</a:t>
            </a:r>
            <a:endParaRPr lang="en-US" sz="16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JOINDRE DES TABLES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Enchaîner les jointures</a:t>
            </a:r>
            <a:endParaRPr lang="en-US" sz="3000" dirty="0"/>
          </a:p>
        </p:txBody>
      </p:sp>
      <p:sp>
        <p:nvSpPr>
          <p:cNvPr id="6" name="Shape 4"/>
          <p:cNvSpPr/>
          <p:nvPr/>
        </p:nvSpPr>
        <p:spPr>
          <a:xfrm>
            <a:off x="548640" y="1417320"/>
            <a:ext cx="5802117" cy="2540508"/>
          </a:xfrm>
          <a:prstGeom prst="rect">
            <a:avLst/>
          </a:prstGeom>
          <a:solidFill>
            <a:srgbClr val="F3F4F6"/>
          </a:solidFill>
          <a:ln/>
        </p:spPr>
      </p:sp>
      <p:sp>
        <p:nvSpPr>
          <p:cNvPr id="7" name="Text 5"/>
          <p:cNvSpPr txBox="1"/>
          <p:nvPr/>
        </p:nvSpPr>
        <p:spPr>
          <a:xfrm>
            <a:off x="731520" y="1563624"/>
            <a:ext cx="5436357" cy="224790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regions = pd.read_csv(DOSSIER / "regions.csv")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.merge(produits, on="id_produit",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how="left", validate="many_to_one")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.merge(regions, on="code_region",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how="left", validate="many_to_one")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df.shape    # (2182, 13)</a:t>
            </a:r>
            <a:endParaRPr lang="en-US" sz="1500" dirty="0"/>
          </a:p>
        </p:txBody>
      </p:sp>
      <p:sp>
        <p:nvSpPr>
          <p:cNvPr id="8" name="Text 6"/>
          <p:cNvSpPr txBox="1"/>
          <p:nvPr/>
        </p:nvSpPr>
        <p:spPr>
          <a:xfrm>
            <a:off x="6807957" y="1417320"/>
            <a:ext cx="483509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Garder les ventes hors catalogue</a:t>
            </a:r>
            <a:endParaRPr lang="en-US" sz="1700" dirty="0"/>
          </a:p>
        </p:txBody>
      </p:sp>
      <p:sp>
        <p:nvSpPr>
          <p:cNvPr id="9" name="Shape 7"/>
          <p:cNvSpPr/>
          <p:nvPr/>
        </p:nvSpPr>
        <p:spPr>
          <a:xfrm>
            <a:off x="6807957" y="1828800"/>
            <a:ext cx="4835098" cy="1191768"/>
          </a:xfrm>
          <a:prstGeom prst="rect">
            <a:avLst/>
          </a:prstGeom>
          <a:solidFill>
            <a:srgbClr val="F3F4F6"/>
          </a:solidFill>
          <a:ln/>
        </p:spPr>
      </p:sp>
      <p:sp>
        <p:nvSpPr>
          <p:cNvPr id="10" name="Text 8"/>
          <p:cNvSpPr txBox="1"/>
          <p:nvPr/>
        </p:nvSpPr>
        <p:spPr>
          <a:xfrm>
            <a:off x="6990837" y="1975104"/>
            <a:ext cx="446933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df[["produit", "categorie"]]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df[["produit", "categorie"]]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.fillna("Non référencé")</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p:txBody>
      </p:sp>
      <p:sp>
        <p:nvSpPr>
          <p:cNvPr id="11" name="Text 9"/>
          <p:cNvSpPr txBox="1"/>
          <p:nvPr/>
        </p:nvSpPr>
        <p:spPr>
          <a:xfrm>
            <a:off x="6807957" y="3340608"/>
            <a:ext cx="483509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Supprimer les ventes de </a:t>
            </a:r>
            <a:pPr indent="0" marL="0">
              <a:buNone/>
            </a:pPr>
            <a:r>
              <a:rPr lang="en-US" sz="1500" dirty="0">
                <a:solidFill>
                  <a:srgbClr val="1F3A5F"/>
                </a:solidFill>
                <a:latin typeface="Courier New" pitchFamily="34" charset="0"/>
                <a:ea typeface="Courier New" pitchFamily="34" charset="-122"/>
                <a:cs typeface="Courier New" pitchFamily="34" charset="-120"/>
              </a:rPr>
              <a:t>P17</a:t>
            </a:r>
            <a:pPr indent="0" marL="0">
              <a:buNone/>
            </a:pPr>
            <a:r>
              <a:rPr lang="en-US" sz="1500" dirty="0">
                <a:solidFill>
                  <a:srgbClr val="6B7280"/>
                </a:solidFill>
                <a:latin typeface="Calibri" pitchFamily="34" charset="0"/>
                <a:ea typeface="Calibri" pitchFamily="34" charset="-122"/>
                <a:cs typeface="Calibri" pitchFamily="34" charset="-120"/>
              </a:rPr>
              <a:t> fausserait le chiffre d'affaires : un libellé explicite les garde visibles dans tous les indicateurs.</a:t>
            </a:r>
            <a:endParaRPr lang="en-US" sz="1500" dirty="0"/>
          </a:p>
        </p:txBody>
      </p:sp>
      <p:sp>
        <p:nvSpPr>
          <p:cNvPr id="12" name="Text 10"/>
          <p:cNvSpPr txBox="1"/>
          <p:nvPr/>
        </p:nvSpPr>
        <p:spPr>
          <a:xfrm>
            <a:off x="6807957" y="4483608"/>
            <a:ext cx="4835098" cy="8229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join</a:t>
            </a:r>
            <a:pPr indent="0" marL="0">
              <a:buNone/>
            </a:pPr>
            <a:r>
              <a:rPr lang="en-US" sz="1500" dirty="0">
                <a:solidFill>
                  <a:srgbClr val="6B7280"/>
                </a:solidFill>
                <a:latin typeface="Calibri" pitchFamily="34" charset="0"/>
                <a:ea typeface="Calibri" pitchFamily="34" charset="-122"/>
                <a:cs typeface="Calibri" pitchFamily="34" charset="-120"/>
              </a:rPr>
              <a:t> donne le même résultat qu'un </a:t>
            </a:r>
            <a:pPr indent="0" marL="0">
              <a:buNone/>
            </a:pPr>
            <a:r>
              <a:rPr lang="en-US" sz="1500" dirty="0">
                <a:solidFill>
                  <a:srgbClr val="1F3A5F"/>
                </a:solidFill>
                <a:latin typeface="Courier New" pitchFamily="34" charset="0"/>
                <a:ea typeface="Courier New" pitchFamily="34" charset="-122"/>
                <a:cs typeface="Courier New" pitchFamily="34" charset="-120"/>
              </a:rPr>
              <a:t>merge</a:t>
            </a:r>
            <a:pPr indent="0" marL="0">
              <a:buNone/>
            </a:pPr>
            <a:r>
              <a:rPr lang="en-US" sz="1500" dirty="0">
                <a:solidFill>
                  <a:srgbClr val="6B7280"/>
                </a:solidFill>
                <a:latin typeface="Calibri" pitchFamily="34" charset="0"/>
                <a:ea typeface="Calibri" pitchFamily="34" charset="-122"/>
                <a:cs typeface="Calibri" pitchFamily="34" charset="-120"/>
              </a:rPr>
              <a:t> en </a:t>
            </a:r>
            <a:pPr indent="0" marL="0">
              <a:buNone/>
            </a:pPr>
            <a:r>
              <a:rPr lang="en-US" sz="1500" dirty="0">
                <a:solidFill>
                  <a:srgbClr val="1F3A5F"/>
                </a:solidFill>
                <a:latin typeface="Courier New" pitchFamily="34" charset="0"/>
                <a:ea typeface="Courier New" pitchFamily="34" charset="-122"/>
                <a:cs typeface="Courier New" pitchFamily="34" charset="-120"/>
              </a:rPr>
              <a:t>how="left"</a:t>
            </a:r>
            <a:pPr indent="0" marL="0">
              <a:buNone/>
            </a:pPr>
            <a:r>
              <a:rPr lang="en-US" sz="1500" dirty="0">
                <a:solidFill>
                  <a:srgbClr val="6B7280"/>
                </a:solidFill>
                <a:latin typeface="Calibri" pitchFamily="34" charset="0"/>
                <a:ea typeface="Calibri" pitchFamily="34" charset="-122"/>
                <a:cs typeface="Calibri" pitchFamily="34" charset="-120"/>
              </a:rPr>
              <a:t>, avec l'index de la table de droite comme clé : </a:t>
            </a:r>
            <a:pPr indent="0" marL="0">
              <a:buNone/>
            </a:pPr>
            <a:r>
              <a:rPr lang="en-US" sz="1500" dirty="0">
                <a:solidFill>
                  <a:srgbClr val="1F3A5F"/>
                </a:solidFill>
                <a:latin typeface="Courier New" pitchFamily="34" charset="0"/>
                <a:ea typeface="Courier New" pitchFamily="34" charset="-122"/>
                <a:cs typeface="Courier New" pitchFamily="34" charset="-120"/>
              </a:rPr>
              <a:t>equals</a:t>
            </a:r>
            <a:pPr indent="0" marL="0">
              <a:buNone/>
            </a:pPr>
            <a:r>
              <a:rPr lang="en-US" sz="1500" dirty="0">
                <a:solidFill>
                  <a:srgbClr val="6B7280"/>
                </a:solidFill>
                <a:latin typeface="Calibri" pitchFamily="34" charset="0"/>
                <a:ea typeface="Calibri" pitchFamily="34" charset="-122"/>
                <a:cs typeface="Calibri" pitchFamily="34" charset="-120"/>
              </a:rPr>
              <a:t> le confirme.</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JOINDRE DES TABLES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TP3, partie 2</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Joindre des tables, d'abord sur de petits exemples, puis sur les ventes</a:t>
            </a:r>
            <a:endParaRPr lang="en-US" sz="1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18883"/>
                <a:gridCol w="8875532"/>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 programme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61366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2.1 à 2.4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petites tables : </a:t>
                      </a:r>
                      <a:pPr indent="0" marL="0">
                        <a:buNone/>
                      </a:pPr>
                      <a:r>
                        <a:rPr lang="en-US" sz="1600" dirty="0">
                          <a:solidFill>
                            <a:srgbClr val="1F3A5F"/>
                          </a:solidFill>
                          <a:latin typeface="Courier New" pitchFamily="34" charset="0"/>
                          <a:ea typeface="Courier New" pitchFamily="34" charset="-122"/>
                          <a:cs typeface="Courier New" pitchFamily="34" charset="-120"/>
                        </a:rPr>
                        <a:t>inner</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left</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outer</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indicator</a:t>
                      </a:r>
                      <a:pPr indent="0" marL="0">
                        <a:buNone/>
                      </a:pPr>
                      <a:r>
                        <a:rPr lang="en-US" sz="1600" dirty="0">
                          <a:solidFill>
                            <a:srgbClr val="1F2933"/>
                          </a:solidFill>
                          <a:latin typeface="Calibri" pitchFamily="34" charset="0"/>
                          <a:ea typeface="Calibri" pitchFamily="34" charset="-122"/>
                          <a:cs typeface="Calibri" pitchFamily="34" charset="-120"/>
                        </a:rPr>
                        <a:t>, une clé en double, </a:t>
                      </a:r>
                      <a:pPr indent="0" marL="0">
                        <a:buNone/>
                      </a:pPr>
                      <a:r>
                        <a:rPr lang="en-US" sz="1600" dirty="0">
                          <a:solidFill>
                            <a:srgbClr val="1F3A5F"/>
                          </a:solidFill>
                          <a:latin typeface="Courier New" pitchFamily="34" charset="0"/>
                          <a:ea typeface="Courier New" pitchFamily="34" charset="-122"/>
                          <a:cs typeface="Courier New" pitchFamily="34" charset="-120"/>
                        </a:rPr>
                        <a:t>left_on</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suffixes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2.5 à 2.7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les vraies données : clés uniques, 2165 lignes contre 2182, le produit </a:t>
                      </a:r>
                      <a:pPr indent="0" marL="0">
                        <a:buNone/>
                      </a:pPr>
                      <a:r>
                        <a:rPr lang="en-US" sz="1600" dirty="0">
                          <a:solidFill>
                            <a:srgbClr val="1F3A5F"/>
                          </a:solidFill>
                          <a:latin typeface="Courier New" pitchFamily="34" charset="0"/>
                          <a:ea typeface="Courier New" pitchFamily="34" charset="-122"/>
                          <a:cs typeface="Courier New" pitchFamily="34" charset="-120"/>
                        </a:rPr>
                        <a:t>P17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2.8 et 2.9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la table </a:t>
                      </a:r>
                      <a:pPr indent="0" marL="0">
                        <a:buNone/>
                      </a:pPr>
                      <a:r>
                        <a:rPr lang="en-US" sz="1600" dirty="0">
                          <a:solidFill>
                            <a:srgbClr val="1F3A5F"/>
                          </a:solidFill>
                          <a:latin typeface="Courier New" pitchFamily="34" charset="0"/>
                          <a:ea typeface="Courier New" pitchFamily="34" charset="-122"/>
                          <a:cs typeface="Courier New" pitchFamily="34" charset="-120"/>
                        </a:rPr>
                        <a:t>df</a:t>
                      </a:r>
                      <a:pPr indent="0" marL="0">
                        <a:buNone/>
                      </a:pPr>
                      <a:r>
                        <a:rPr lang="en-US" sz="1600" dirty="0">
                          <a:solidFill>
                            <a:srgbClr val="1F2933"/>
                          </a:solidFill>
                          <a:latin typeface="Calibri" pitchFamily="34" charset="0"/>
                          <a:ea typeface="Calibri" pitchFamily="34" charset="-122"/>
                          <a:cs typeface="Calibri" pitchFamily="34" charset="-120"/>
                        </a:rPr>
                        <a:t> et le libellé </a:t>
                      </a:r>
                      <a:pPr indent="0" marL="0">
                        <a:buNone/>
                      </a:pPr>
                      <a:r>
                        <a:rPr lang="en-US" sz="1600" dirty="0">
                          <a:solidFill>
                            <a:srgbClr val="1F3A5F"/>
                          </a:solidFill>
                          <a:latin typeface="Courier New" pitchFamily="34" charset="0"/>
                          <a:ea typeface="Courier New" pitchFamily="34" charset="-122"/>
                          <a:cs typeface="Courier New" pitchFamily="34" charset="-120"/>
                        </a:rPr>
                        <a:t>Non référencé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085336"/>
            <a:ext cx="11094415" cy="624840"/>
          </a:xfrm>
          <a:prstGeom prst="roundRect">
            <a:avLst>
              <a:gd name="adj" fmla="val 8780"/>
            </a:avLst>
          </a:prstGeom>
          <a:solidFill>
            <a:srgbClr val="E8F3EE"/>
          </a:solidFill>
          <a:ln/>
        </p:spPr>
      </p:sp>
      <p:sp>
        <p:nvSpPr>
          <p:cNvPr id="9" name="Text 6"/>
          <p:cNvSpPr txBox="1"/>
          <p:nvPr/>
        </p:nvSpPr>
        <p:spPr>
          <a:xfrm>
            <a:off x="822960" y="4085336"/>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aller plus loin : 2.10, la même jointure avec </a:t>
            </a:r>
            <a:pPr indent="0" marL="0">
              <a:buNone/>
            </a:pPr>
            <a:r>
              <a:rPr lang="en-US" sz="1700" dirty="0">
                <a:solidFill>
                  <a:srgbClr val="2F7D62"/>
                </a:solidFill>
                <a:latin typeface="Courier New" pitchFamily="34" charset="0"/>
                <a:ea typeface="Courier New" pitchFamily="34" charset="-122"/>
                <a:cs typeface="Courier New" pitchFamily="34" charset="-120"/>
              </a:rPr>
              <a:t>join</a:t>
            </a:r>
            <a:pPr indent="0" marL="0">
              <a:buNone/>
            </a:pPr>
            <a:r>
              <a:rPr lang="en-US" sz="1700" dirty="0">
                <a:solidFill>
                  <a:srgbClr val="1F3A5F"/>
                </a:solidFill>
                <a:latin typeface="Calibri" pitchFamily="34" charset="0"/>
                <a:ea typeface="Calibri" pitchFamily="34" charset="-122"/>
                <a:cs typeface="Calibri" pitchFamily="34" charset="-120"/>
              </a:rPr>
              <a:t>, vérifiée avec </a:t>
            </a:r>
            <a:pPr indent="0" marL="0">
              <a:buNone/>
            </a:pPr>
            <a:r>
              <a:rPr lang="en-US" sz="1700" dirty="0">
                <a:solidFill>
                  <a:srgbClr val="2F7D62"/>
                </a:solidFill>
                <a:latin typeface="Courier New" pitchFamily="34" charset="0"/>
                <a:ea typeface="Courier New" pitchFamily="34" charset="-122"/>
                <a:cs typeface="Courier New" pitchFamily="34" charset="-120"/>
              </a:rPr>
              <a:t>equals</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Agréger</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groupby et agg   |   transform   |   pivot_table et crosstab</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agrégations simples</a:t>
            </a:r>
            <a:endParaRPr lang="en-US" sz="3000" dirty="0"/>
          </a:p>
        </p:txBody>
      </p:sp>
      <p:sp>
        <p:nvSpPr>
          <p:cNvPr id="6" name="Shape 4"/>
          <p:cNvSpPr/>
          <p:nvPr/>
        </p:nvSpPr>
        <p:spPr>
          <a:xfrm>
            <a:off x="548640" y="1417320"/>
            <a:ext cx="5802117" cy="1851152"/>
          </a:xfrm>
          <a:prstGeom prst="rect">
            <a:avLst/>
          </a:prstGeom>
          <a:solidFill>
            <a:srgbClr val="F3F4F6"/>
          </a:solidFill>
          <a:ln/>
        </p:spPr>
      </p:sp>
      <p:sp>
        <p:nvSpPr>
          <p:cNvPr id="7" name="Text 5"/>
          <p:cNvSpPr txBox="1"/>
          <p:nvPr/>
        </p:nvSpPr>
        <p:spPr>
          <a:xfrm>
            <a:off x="731520" y="1563624"/>
            <a:ext cx="5436357" cy="1558544"/>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df["montant"] = df["prix_unitaire"] * df["quantite"]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df["montant"].sum()           # 409501.59</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df["montant"].mean()          # 187.67</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df["montant"].median()        # 104.70</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df["id_commande"].count()     # 2182</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df["id_produit"].nunique()    # 17</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len(df)                       # 2182</a:t>
            </a:r>
            <a:endParaRPr lang="en-US" sz="1300" dirty="0"/>
          </a:p>
        </p:txBody>
      </p:sp>
      <p:sp>
        <p:nvSpPr>
          <p:cNvPr id="8" name="Text 6"/>
          <p:cNvSpPr txBox="1"/>
          <p:nvPr/>
        </p:nvSpPr>
        <p:spPr>
          <a:xfrm>
            <a:off x="6807957" y="1417320"/>
            <a:ext cx="4835098" cy="231140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sum</a:t>
            </a:r>
            <a:pPr indent="0" marL="0">
              <a:buNone/>
            </a:pPr>
            <a:r>
              <a:rPr lang="en-US" sz="1700" dirty="0">
                <a:solidFill>
                  <a:srgbClr val="1F2933"/>
                </a:solidFill>
                <a:latin typeface="Calibri" pitchFamily="34" charset="0"/>
                <a:ea typeface="Calibri" pitchFamily="34" charset="-122"/>
                <a:cs typeface="Calibri" pitchFamily="34" charset="-120"/>
              </a:rPr>
              <a:t> : le chiffre d'affaires total</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mean</a:t>
            </a:r>
            <a:pPr indent="0" marL="0">
              <a:buNone/>
            </a:pPr>
            <a:r>
              <a:rPr lang="en-US" sz="1700" dirty="0">
                <a:solidFill>
                  <a:srgbClr val="1F2933"/>
                </a:solidFill>
                <a:latin typeface="Calibri" pitchFamily="34" charset="0"/>
                <a:ea typeface="Calibri" pitchFamily="34" charset="-122"/>
                <a:cs typeface="Calibri" pitchFamily="34" charset="-120"/>
              </a:rPr>
              <a:t> : le panier moyen, bien au-dessus du montant </a:t>
            </a:r>
            <a:pPr indent="0" marL="0">
              <a:buNone/>
            </a:pPr>
            <a:r>
              <a:rPr lang="en-US" sz="1700" b="1" dirty="0">
                <a:solidFill>
                  <a:srgbClr val="1F2933"/>
                </a:solidFill>
                <a:latin typeface="Calibri" pitchFamily="34" charset="0"/>
                <a:ea typeface="Calibri" pitchFamily="34" charset="-122"/>
                <a:cs typeface="Calibri" pitchFamily="34" charset="-120"/>
              </a:rPr>
              <a:t>médian</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count</a:t>
            </a:r>
            <a:pPr indent="0" marL="0">
              <a:buNone/>
            </a:pPr>
            <a:r>
              <a:rPr lang="en-US" sz="1700" dirty="0">
                <a:solidFill>
                  <a:srgbClr val="1F2933"/>
                </a:solidFill>
                <a:latin typeface="Calibri" pitchFamily="34" charset="0"/>
                <a:ea typeface="Calibri" pitchFamily="34" charset="-122"/>
                <a:cs typeface="Calibri" pitchFamily="34" charset="-120"/>
              </a:rPr>
              <a:t> : les valeurs non manquantes, </a:t>
            </a:r>
            <a:pPr indent="0" marL="0">
              <a:buNone/>
            </a:pPr>
            <a:r>
              <a:rPr lang="en-US" sz="1700" dirty="0">
                <a:solidFill>
                  <a:srgbClr val="1F3A5F"/>
                </a:solidFill>
                <a:latin typeface="Courier New" pitchFamily="34" charset="0"/>
                <a:ea typeface="Courier New" pitchFamily="34" charset="-122"/>
                <a:cs typeface="Courier New" pitchFamily="34" charset="-120"/>
              </a:rPr>
              <a:t>len</a:t>
            </a:r>
            <a:pPr indent="0" marL="0">
              <a:buNone/>
            </a:pPr>
            <a:r>
              <a:rPr lang="en-US" sz="1700" dirty="0">
                <a:solidFill>
                  <a:srgbClr val="1F2933"/>
                </a:solidFill>
                <a:latin typeface="Calibri" pitchFamily="34" charset="0"/>
                <a:ea typeface="Calibri" pitchFamily="34" charset="-122"/>
                <a:cs typeface="Calibri" pitchFamily="34" charset="-120"/>
              </a:rPr>
              <a:t> : les lignes</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nunique</a:t>
            </a:r>
            <a:pPr indent="0" marL="0">
              <a:buNone/>
            </a:pPr>
            <a:r>
              <a:rPr lang="en-US" sz="1700" dirty="0">
                <a:solidFill>
                  <a:srgbClr val="1F2933"/>
                </a:solidFill>
                <a:latin typeface="Calibri" pitchFamily="34" charset="0"/>
                <a:ea typeface="Calibri" pitchFamily="34" charset="-122"/>
                <a:cs typeface="Calibri" pitchFamily="34" charset="-120"/>
              </a:rPr>
              <a:t> : 17 produits différents vendus, </a:t>
            </a:r>
            <a:pPr indent="0" marL="0">
              <a:buNone/>
            </a:pPr>
            <a:r>
              <a:rPr lang="en-US" sz="1700" dirty="0">
                <a:solidFill>
                  <a:srgbClr val="1F3A5F"/>
                </a:solidFill>
                <a:latin typeface="Courier New" pitchFamily="34" charset="0"/>
                <a:ea typeface="Courier New" pitchFamily="34" charset="-122"/>
                <a:cs typeface="Courier New" pitchFamily="34" charset="-120"/>
              </a:rPr>
              <a:t>P17</a:t>
            </a:r>
            <a:pPr indent="0" marL="0">
              <a:buNone/>
            </a:pPr>
            <a:r>
              <a:rPr lang="en-US" sz="1700" dirty="0">
                <a:solidFill>
                  <a:srgbClr val="1F2933"/>
                </a:solidFill>
                <a:latin typeface="Calibri" pitchFamily="34" charset="0"/>
                <a:ea typeface="Calibri" pitchFamily="34" charset="-122"/>
                <a:cs typeface="Calibri" pitchFamily="34" charset="-120"/>
              </a:rPr>
              <a:t> compris</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groupby : découper, calculer, rassembler</a:t>
            </a:r>
            <a:endParaRPr lang="en-US" sz="3000" dirty="0"/>
          </a:p>
        </p:txBody>
      </p:sp>
      <p:sp>
        <p:nvSpPr>
          <p:cNvPr id="6" name="Shape 4"/>
          <p:cNvSpPr/>
          <p:nvPr/>
        </p:nvSpPr>
        <p:spPr>
          <a:xfrm>
            <a:off x="2397709" y="2057400"/>
            <a:ext cx="7396277" cy="0"/>
          </a:xfrm>
          <a:prstGeom prst="line">
            <a:avLst/>
          </a:prstGeom>
          <a:noFill/>
          <a:ln w="25400">
            <a:solidFill>
              <a:srgbClr val="D5DCE3"/>
            </a:solidFill>
            <a:prstDash val="solid"/>
          </a:ln>
        </p:spPr>
      </p:sp>
      <p:sp>
        <p:nvSpPr>
          <p:cNvPr id="7" name="Shape 5"/>
          <p:cNvSpPr/>
          <p:nvPr/>
        </p:nvSpPr>
        <p:spPr>
          <a:xfrm>
            <a:off x="2169109" y="1828800"/>
            <a:ext cx="457200" cy="457200"/>
          </a:xfrm>
          <a:prstGeom prst="ellipse">
            <a:avLst/>
          </a:prstGeom>
          <a:solidFill>
            <a:srgbClr val="2F7D62"/>
          </a:solidFill>
          <a:ln/>
        </p:spPr>
      </p:sp>
      <p:sp>
        <p:nvSpPr>
          <p:cNvPr id="8" name="Text 6"/>
          <p:cNvSpPr txBox="1"/>
          <p:nvPr/>
        </p:nvSpPr>
        <p:spPr>
          <a:xfrm>
            <a:off x="216910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594360" y="2423160"/>
            <a:ext cx="3606698" cy="502920"/>
          </a:xfrm>
          <a:prstGeom prst="rect">
            <a:avLst/>
          </a:prstGeom>
          <a:noFill/>
          <a:ln/>
        </p:spPr>
        <p:txBody>
          <a:bodyPr wrap="square" lIns="0" tIns="0" rIns="0" bIns="0" rtlCol="0" anchor="t"/>
          <a:lstStyle/>
          <a:p>
            <a:pPr algn="ctr" indent="0" marL="0">
              <a:buNone/>
            </a:pPr>
            <a:r>
              <a:rPr lang="en-US" sz="1700" b="1" dirty="0">
                <a:solidFill>
                  <a:srgbClr val="1F3A5F"/>
                </a:solidFill>
                <a:latin typeface="Calibri" pitchFamily="34" charset="0"/>
                <a:ea typeface="Calibri" pitchFamily="34" charset="-122"/>
                <a:cs typeface="Calibri" pitchFamily="34" charset="-120"/>
              </a:rPr>
              <a:t>Découper</a:t>
            </a:r>
            <a:endParaRPr lang="en-US" sz="1700" dirty="0"/>
          </a:p>
        </p:txBody>
      </p:sp>
      <p:sp>
        <p:nvSpPr>
          <p:cNvPr id="10" name="Text 8"/>
          <p:cNvSpPr txBox="1"/>
          <p:nvPr/>
        </p:nvSpPr>
        <p:spPr>
          <a:xfrm>
            <a:off x="594360" y="2926080"/>
            <a:ext cx="3606698" cy="685800"/>
          </a:xfrm>
          <a:prstGeom prst="rect">
            <a:avLst/>
          </a:prstGeom>
          <a:noFill/>
          <a:ln/>
        </p:spPr>
        <p:txBody>
          <a:bodyPr wrap="square" lIns="0" tIns="0" rIns="0" bIns="0" rtlCol="0" anchor="t"/>
          <a:lstStyle/>
          <a:p>
            <a:pPr algn="ctr" indent="0" marL="0">
              <a:buNone/>
            </a:pPr>
            <a:r>
              <a:rPr lang="en-US" sz="1400" dirty="0">
                <a:solidFill>
                  <a:srgbClr val="6B7280"/>
                </a:solidFill>
                <a:latin typeface="Calibri" pitchFamily="34" charset="0"/>
                <a:ea typeface="Calibri" pitchFamily="34" charset="-122"/>
                <a:cs typeface="Calibri" pitchFamily="34" charset="-120"/>
              </a:rPr>
              <a:t>une table par région</a:t>
            </a:r>
            <a:endParaRPr lang="en-US" sz="1400" dirty="0"/>
          </a:p>
        </p:txBody>
      </p:sp>
      <p:sp>
        <p:nvSpPr>
          <p:cNvPr id="11" name="Shape 9"/>
          <p:cNvSpPr/>
          <p:nvPr/>
        </p:nvSpPr>
        <p:spPr>
          <a:xfrm>
            <a:off x="5867248" y="1828800"/>
            <a:ext cx="457200" cy="457200"/>
          </a:xfrm>
          <a:prstGeom prst="ellipse">
            <a:avLst/>
          </a:prstGeom>
          <a:solidFill>
            <a:srgbClr val="2F7D62"/>
          </a:solidFill>
          <a:ln/>
        </p:spPr>
      </p:sp>
      <p:sp>
        <p:nvSpPr>
          <p:cNvPr id="12" name="Text 10"/>
          <p:cNvSpPr txBox="1"/>
          <p:nvPr/>
        </p:nvSpPr>
        <p:spPr>
          <a:xfrm>
            <a:off x="586724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292498" y="2423160"/>
            <a:ext cx="3606698" cy="502920"/>
          </a:xfrm>
          <a:prstGeom prst="rect">
            <a:avLst/>
          </a:prstGeom>
          <a:noFill/>
          <a:ln/>
        </p:spPr>
        <p:txBody>
          <a:bodyPr wrap="square" lIns="0" tIns="0" rIns="0" bIns="0" rtlCol="0" anchor="t"/>
          <a:lstStyle/>
          <a:p>
            <a:pPr algn="ctr" indent="0" marL="0">
              <a:buNone/>
            </a:pPr>
            <a:r>
              <a:rPr lang="en-US" sz="1700" b="1" dirty="0">
                <a:solidFill>
                  <a:srgbClr val="1F3A5F"/>
                </a:solidFill>
                <a:latin typeface="Calibri" pitchFamily="34" charset="0"/>
                <a:ea typeface="Calibri" pitchFamily="34" charset="-122"/>
                <a:cs typeface="Calibri" pitchFamily="34" charset="-120"/>
              </a:rPr>
              <a:t>Calculer</a:t>
            </a:r>
            <a:endParaRPr lang="en-US" sz="1700" dirty="0"/>
          </a:p>
        </p:txBody>
      </p:sp>
      <p:sp>
        <p:nvSpPr>
          <p:cNvPr id="14" name="Text 12"/>
          <p:cNvSpPr txBox="1"/>
          <p:nvPr/>
        </p:nvSpPr>
        <p:spPr>
          <a:xfrm>
            <a:off x="4292498" y="2926080"/>
            <a:ext cx="3606698" cy="685800"/>
          </a:xfrm>
          <a:prstGeom prst="rect">
            <a:avLst/>
          </a:prstGeom>
          <a:noFill/>
          <a:ln/>
        </p:spPr>
        <p:txBody>
          <a:bodyPr wrap="square" lIns="0" tIns="0" rIns="0" bIns="0" rtlCol="0" anchor="t"/>
          <a:lstStyle/>
          <a:p>
            <a:pPr algn="ctr" indent="0" marL="0">
              <a:buNone/>
            </a:pPr>
            <a:r>
              <a:rPr lang="en-US" sz="1400" dirty="0">
                <a:solidFill>
                  <a:srgbClr val="6B7280"/>
                </a:solidFill>
                <a:latin typeface="Calibri" pitchFamily="34" charset="0"/>
                <a:ea typeface="Calibri" pitchFamily="34" charset="-122"/>
                <a:cs typeface="Calibri" pitchFamily="34" charset="-120"/>
              </a:rPr>
              <a:t>la somme des montants de chaque table</a:t>
            </a:r>
            <a:endParaRPr lang="en-US" sz="1400" dirty="0"/>
          </a:p>
        </p:txBody>
      </p:sp>
      <p:sp>
        <p:nvSpPr>
          <p:cNvPr id="15" name="Shape 13"/>
          <p:cNvSpPr/>
          <p:nvPr/>
        </p:nvSpPr>
        <p:spPr>
          <a:xfrm>
            <a:off x="9565386" y="1828800"/>
            <a:ext cx="457200" cy="457200"/>
          </a:xfrm>
          <a:prstGeom prst="ellipse">
            <a:avLst/>
          </a:prstGeom>
          <a:solidFill>
            <a:srgbClr val="2F7D62"/>
          </a:solidFill>
          <a:ln/>
        </p:spPr>
      </p:sp>
      <p:sp>
        <p:nvSpPr>
          <p:cNvPr id="16" name="Text 14"/>
          <p:cNvSpPr txBox="1"/>
          <p:nvPr/>
        </p:nvSpPr>
        <p:spPr>
          <a:xfrm>
            <a:off x="956538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7990637" y="2423160"/>
            <a:ext cx="3606698" cy="502920"/>
          </a:xfrm>
          <a:prstGeom prst="rect">
            <a:avLst/>
          </a:prstGeom>
          <a:noFill/>
          <a:ln/>
        </p:spPr>
        <p:txBody>
          <a:bodyPr wrap="square" lIns="0" tIns="0" rIns="0" bIns="0" rtlCol="0" anchor="t"/>
          <a:lstStyle/>
          <a:p>
            <a:pPr algn="ctr" indent="0" marL="0">
              <a:buNone/>
            </a:pPr>
            <a:r>
              <a:rPr lang="en-US" sz="1700" b="1" dirty="0">
                <a:solidFill>
                  <a:srgbClr val="1F3A5F"/>
                </a:solidFill>
                <a:latin typeface="Calibri" pitchFamily="34" charset="0"/>
                <a:ea typeface="Calibri" pitchFamily="34" charset="-122"/>
                <a:cs typeface="Calibri" pitchFamily="34" charset="-120"/>
              </a:rPr>
              <a:t>Rassembler</a:t>
            </a:r>
            <a:endParaRPr lang="en-US" sz="1700" dirty="0"/>
          </a:p>
        </p:txBody>
      </p:sp>
      <p:sp>
        <p:nvSpPr>
          <p:cNvPr id="18" name="Text 16"/>
          <p:cNvSpPr txBox="1"/>
          <p:nvPr/>
        </p:nvSpPr>
        <p:spPr>
          <a:xfrm>
            <a:off x="7990637" y="2926080"/>
            <a:ext cx="3606698" cy="685800"/>
          </a:xfrm>
          <a:prstGeom prst="rect">
            <a:avLst/>
          </a:prstGeom>
          <a:noFill/>
          <a:ln/>
        </p:spPr>
        <p:txBody>
          <a:bodyPr wrap="square" lIns="0" tIns="0" rIns="0" bIns="0" rtlCol="0" anchor="t"/>
          <a:lstStyle/>
          <a:p>
            <a:pPr algn="ctr" indent="0" marL="0">
              <a:buNone/>
            </a:pPr>
            <a:r>
              <a:rPr lang="en-US" sz="1400" dirty="0">
                <a:solidFill>
                  <a:srgbClr val="6B7280"/>
                </a:solidFill>
                <a:latin typeface="Calibri" pitchFamily="34" charset="0"/>
                <a:ea typeface="Calibri" pitchFamily="34" charset="-122"/>
                <a:cs typeface="Calibri" pitchFamily="34" charset="-120"/>
              </a:rPr>
              <a:t>un résultat par région</a:t>
            </a:r>
            <a:endParaRPr lang="en-US" sz="1400" dirty="0"/>
          </a:p>
        </p:txBody>
      </p:sp>
      <p:sp>
        <p:nvSpPr>
          <p:cNvPr id="19" name="Shape 17"/>
          <p:cNvSpPr/>
          <p:nvPr/>
        </p:nvSpPr>
        <p:spPr>
          <a:xfrm>
            <a:off x="548640" y="3657600"/>
            <a:ext cx="11094415" cy="517398"/>
          </a:xfrm>
          <a:prstGeom prst="rect">
            <a:avLst/>
          </a:prstGeom>
          <a:solidFill>
            <a:srgbClr val="F3F4F6"/>
          </a:solidFill>
          <a:ln/>
        </p:spPr>
      </p:sp>
      <p:sp>
        <p:nvSpPr>
          <p:cNvPr id="20" name="Text 18"/>
          <p:cNvSpPr txBox="1"/>
          <p:nvPr/>
        </p:nvSpPr>
        <p:spPr>
          <a:xfrm>
            <a:off x="731520" y="3803904"/>
            <a:ext cx="10728655"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df.groupby("region")["montant"].sum()     # pour chaque région, la somme des montants</a:t>
            </a:r>
            <a:endParaRPr lang="en-US" sz="1500" dirty="0"/>
          </a:p>
        </p:txBody>
      </p:sp>
      <p:sp>
        <p:nvSpPr>
          <p:cNvPr id="21"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chiffre d'affaires par région</a:t>
            </a:r>
            <a:endParaRPr lang="en-US" sz="3000" dirty="0"/>
          </a:p>
        </p:txBody>
      </p:sp>
      <p:sp>
        <p:nvSpPr>
          <p:cNvPr id="6" name="Shape 4"/>
          <p:cNvSpPr/>
          <p:nvPr/>
        </p:nvSpPr>
        <p:spPr>
          <a:xfrm>
            <a:off x="548640" y="1417320"/>
            <a:ext cx="4835098" cy="1776222"/>
          </a:xfrm>
          <a:prstGeom prst="rect">
            <a:avLst/>
          </a:prstGeom>
          <a:solidFill>
            <a:srgbClr val="F3F4F6"/>
          </a:solidFill>
          <a:ln/>
        </p:spPr>
      </p:sp>
      <p:sp>
        <p:nvSpPr>
          <p:cNvPr id="7" name="Text 5"/>
          <p:cNvSpPr txBox="1"/>
          <p:nvPr/>
        </p:nvSpPr>
        <p:spPr>
          <a:xfrm>
            <a:off x="731520" y="1563624"/>
            <a:ext cx="4469338" cy="1483614"/>
          </a:xfrm>
          <a:prstGeom prst="rect">
            <a:avLst/>
          </a:prstGeom>
          <a:noFill/>
          <a:ln/>
        </p:spPr>
        <p:txBody>
          <a:bodyPr wrap="square" lIns="0" tIns="0" rIns="0" bIns="0" rtlCol="0" anchor="t"/>
          <a:lstStyle/>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df.groupby("region")["montant"].sum() \</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  .sort_values(ascending=False)</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6B7280"/>
                </a:solidFill>
                <a:latin typeface="Courier New" pitchFamily="34" charset="0"/>
                <a:ea typeface="Courier New" pitchFamily="34" charset="-122"/>
                <a:cs typeface="Courier New" pitchFamily="34" charset="-120"/>
              </a:rPr>
              <a:t># plusieurs clés</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df.groupby(["region", "categorie"])["montant"].sum()</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6B7280"/>
                </a:solidFill>
                <a:latin typeface="Courier New" pitchFamily="34" charset="0"/>
                <a:ea typeface="Courier New" pitchFamily="34" charset="-122"/>
                <a:cs typeface="Courier New" pitchFamily="34" charset="-120"/>
              </a:rPr>
              <a:t># clés en colonnes</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df.groupby(["region", "categorie"],</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           as_index=False)["montant"].sum()</a:t>
            </a:r>
            <a:endParaRPr lang="en-US" sz="1100" dirty="0"/>
          </a:p>
        </p:txBody>
      </p:sp>
      <p:graphicFrame>
        <p:nvGraphicFramePr>
          <p:cNvPr id="8" name="Chart 0" descr=""/>
          <p:cNvGraphicFramePr/>
          <p:nvPr/>
        </p:nvGraphicFramePr>
        <p:xfrm>
          <a:off x="5840938" y="1417320"/>
          <a:ext cx="5802117" cy="38404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Attention aux clés manquantes</a:t>
            </a:r>
            <a:endParaRPr lang="en-US" sz="3000" dirty="0"/>
          </a:p>
        </p:txBody>
      </p:sp>
      <p:sp>
        <p:nvSpPr>
          <p:cNvPr id="6" name="Text 4"/>
          <p:cNvSpPr txBox="1"/>
          <p:nvPr/>
        </p:nvSpPr>
        <p:spPr>
          <a:xfrm>
            <a:off x="548640" y="1417320"/>
            <a:ext cx="11094415"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La table controle de la section 3.3 : les ventes de P17 n'ont pas de catégorie</a:t>
            </a:r>
            <a:endParaRPr lang="en-US" sz="1200" dirty="0"/>
          </a:p>
        </p:txBody>
      </p:sp>
      <p:sp>
        <p:nvSpPr>
          <p:cNvPr id="7" name="Shape 5"/>
          <p:cNvSpPr/>
          <p:nvPr/>
        </p:nvSpPr>
        <p:spPr>
          <a:xfrm>
            <a:off x="548640" y="1709928"/>
            <a:ext cx="11094415" cy="1071880"/>
          </a:xfrm>
          <a:prstGeom prst="rect">
            <a:avLst/>
          </a:prstGeom>
          <a:solidFill>
            <a:srgbClr val="F3F4F6"/>
          </a:solidFill>
          <a:ln/>
        </p:spPr>
      </p:sp>
      <p:sp>
        <p:nvSpPr>
          <p:cNvPr id="8" name="Text 6"/>
          <p:cNvSpPr txBox="1"/>
          <p:nvPr/>
        </p:nvSpPr>
        <p:spPr>
          <a:xfrm>
            <a:off x="731520" y="1856232"/>
            <a:ext cx="10728655"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controle["montant"] = controle["prix_unitaire"] * controle["quantite"]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controle.groupby("categorie")["montant"].sum().sum()                  # 406827.97 : P17 a disparu</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controle.groupby("categorie", dropna=False)["montant"].sum().sum()    # 409501.59 : avec une ligne NaN</a:t>
            </a:r>
            <a:endParaRPr lang="en-US" sz="1300" dirty="0"/>
          </a:p>
        </p:txBody>
      </p:sp>
      <p:sp>
        <p:nvSpPr>
          <p:cNvPr id="9" name="Shape 7"/>
          <p:cNvSpPr/>
          <p:nvPr/>
        </p:nvSpPr>
        <p:spPr>
          <a:xfrm>
            <a:off x="548640" y="3101848"/>
            <a:ext cx="5318608" cy="1143000"/>
          </a:xfrm>
          <a:prstGeom prst="roundRect">
            <a:avLst>
              <a:gd name="adj" fmla="val 4800"/>
            </a:avLst>
          </a:prstGeom>
          <a:solidFill>
            <a:srgbClr val="E8F3EE"/>
          </a:solidFill>
          <a:ln/>
        </p:spPr>
      </p:sp>
      <p:sp>
        <p:nvSpPr>
          <p:cNvPr id="10" name="Text 8"/>
          <p:cNvSpPr txBox="1"/>
          <p:nvPr/>
        </p:nvSpPr>
        <p:spPr>
          <a:xfrm>
            <a:off x="822960" y="3101848"/>
            <a:ext cx="4769968"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vérifier qu'une agrégation n'a rien perdu : total des groupes égal au total général.</a:t>
            </a:r>
            <a:endParaRPr lang="en-US" sz="1700" dirty="0"/>
          </a:p>
        </p:txBody>
      </p:sp>
      <p:sp>
        <p:nvSpPr>
          <p:cNvPr id="11" name="Text 9"/>
          <p:cNvSpPr txBox="1"/>
          <p:nvPr/>
        </p:nvSpPr>
        <p:spPr>
          <a:xfrm>
            <a:off x="548640" y="4564888"/>
            <a:ext cx="531860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D'où le libellé </a:t>
            </a:r>
            <a:pPr indent="0" marL="0">
              <a:buNone/>
            </a:pPr>
            <a:r>
              <a:rPr lang="en-US" sz="1600" dirty="0">
                <a:solidFill>
                  <a:srgbClr val="1F3A5F"/>
                </a:solidFill>
                <a:latin typeface="Courier New" pitchFamily="34" charset="0"/>
                <a:ea typeface="Courier New" pitchFamily="34" charset="-122"/>
                <a:cs typeface="Courier New" pitchFamily="34" charset="-120"/>
              </a:rPr>
              <a:t>Non référencé</a:t>
            </a:r>
            <a:pPr indent="0" marL="0">
              <a:buNone/>
            </a:pPr>
            <a:r>
              <a:rPr lang="en-US" sz="1600" dirty="0">
                <a:solidFill>
                  <a:srgbClr val="6B7280"/>
                </a:solidFill>
                <a:latin typeface="Calibri" pitchFamily="34" charset="0"/>
                <a:ea typeface="Calibri" pitchFamily="34" charset="-122"/>
                <a:cs typeface="Calibri" pitchFamily="34" charset="-120"/>
              </a:rPr>
              <a:t> donné aux ventes de </a:t>
            </a:r>
            <a:pPr indent="0" marL="0">
              <a:buNone/>
            </a:pPr>
            <a:r>
              <a:rPr lang="en-US" sz="1600" dirty="0">
                <a:solidFill>
                  <a:srgbClr val="1F3A5F"/>
                </a:solidFill>
                <a:latin typeface="Courier New" pitchFamily="34" charset="0"/>
                <a:ea typeface="Courier New" pitchFamily="34" charset="-122"/>
                <a:cs typeface="Courier New" pitchFamily="34" charset="-120"/>
              </a:rPr>
              <a:t>P17</a:t>
            </a:r>
            <a:pPr indent="0" marL="0">
              <a:buNone/>
            </a:pPr>
            <a:r>
              <a:rPr lang="en-US" sz="1600" dirty="0">
                <a:solidFill>
                  <a:srgbClr val="6B7280"/>
                </a:solidFill>
                <a:latin typeface="Calibri" pitchFamily="34" charset="0"/>
                <a:ea typeface="Calibri" pitchFamily="34" charset="-122"/>
                <a:cs typeface="Calibri" pitchFamily="34" charset="-120"/>
              </a:rPr>
              <a:t> dans </a:t>
            </a:r>
            <a:pPr indent="0" marL="0">
              <a:buNone/>
            </a:pPr>
            <a:r>
              <a:rPr lang="en-US" sz="1600" dirty="0">
                <a:solidFill>
                  <a:srgbClr val="1F3A5F"/>
                </a:solidFill>
                <a:latin typeface="Courier New" pitchFamily="34" charset="0"/>
                <a:ea typeface="Courier New" pitchFamily="34" charset="-122"/>
                <a:cs typeface="Courier New" pitchFamily="34" charset="-120"/>
              </a:rPr>
              <a:t>df</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6324448" y="3101848"/>
            <a:ext cx="2522144" cy="1600200"/>
          </a:xfrm>
          <a:prstGeom prst="roundRect">
            <a:avLst>
              <a:gd name="adj" fmla="val 4571"/>
            </a:avLst>
          </a:prstGeom>
          <a:solidFill>
            <a:srgbClr val="EEF3F7"/>
          </a:solidFill>
          <a:ln/>
        </p:spPr>
      </p:sp>
      <p:sp>
        <p:nvSpPr>
          <p:cNvPr id="13" name="Text 11"/>
          <p:cNvSpPr txBox="1"/>
          <p:nvPr/>
        </p:nvSpPr>
        <p:spPr>
          <a:xfrm>
            <a:off x="6553048" y="3284728"/>
            <a:ext cx="2064944"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409 502</a:t>
            </a:r>
            <a:endParaRPr lang="en-US" sz="4000" dirty="0"/>
          </a:p>
        </p:txBody>
      </p:sp>
      <p:sp>
        <p:nvSpPr>
          <p:cNvPr id="14" name="Text 12"/>
          <p:cNvSpPr txBox="1"/>
          <p:nvPr/>
        </p:nvSpPr>
        <p:spPr>
          <a:xfrm>
            <a:off x="6553048" y="4107688"/>
            <a:ext cx="2064944"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chiffre d'affaires total</a:t>
            </a:r>
            <a:endParaRPr lang="en-US" sz="1500" dirty="0"/>
          </a:p>
        </p:txBody>
      </p:sp>
      <p:sp>
        <p:nvSpPr>
          <p:cNvPr id="15" name="Shape 13"/>
          <p:cNvSpPr/>
          <p:nvPr/>
        </p:nvSpPr>
        <p:spPr>
          <a:xfrm>
            <a:off x="9120911" y="3101848"/>
            <a:ext cx="2522144" cy="1600200"/>
          </a:xfrm>
          <a:prstGeom prst="roundRect">
            <a:avLst>
              <a:gd name="adj" fmla="val 4571"/>
            </a:avLst>
          </a:prstGeom>
          <a:solidFill>
            <a:srgbClr val="EEF3F7"/>
          </a:solidFill>
          <a:ln/>
        </p:spPr>
      </p:sp>
      <p:sp>
        <p:nvSpPr>
          <p:cNvPr id="16" name="Text 14"/>
          <p:cNvSpPr txBox="1"/>
          <p:nvPr/>
        </p:nvSpPr>
        <p:spPr>
          <a:xfrm>
            <a:off x="9349511" y="3284728"/>
            <a:ext cx="2064944" cy="777240"/>
          </a:xfrm>
          <a:prstGeom prst="rect">
            <a:avLst/>
          </a:prstGeom>
          <a:noFill/>
          <a:ln/>
        </p:spPr>
        <p:txBody>
          <a:bodyPr wrap="square" lIns="0" tIns="0" rIns="0" bIns="0" rtlCol="0" anchor="ctr"/>
          <a:lstStyle/>
          <a:p>
            <a:pPr indent="0" marL="0">
              <a:buNone/>
            </a:pPr>
            <a:r>
              <a:rPr lang="en-US" sz="4000" b="1" dirty="0">
                <a:solidFill>
                  <a:srgbClr val="2F7D62"/>
                </a:solidFill>
                <a:latin typeface="Cambria" pitchFamily="34" charset="0"/>
                <a:ea typeface="Cambria" pitchFamily="34" charset="-122"/>
                <a:cs typeface="Cambria" pitchFamily="34" charset="-120"/>
              </a:rPr>
              <a:t>406 828</a:t>
            </a:r>
            <a:endParaRPr lang="en-US" sz="4000" dirty="0"/>
          </a:p>
        </p:txBody>
      </p:sp>
      <p:sp>
        <p:nvSpPr>
          <p:cNvPr id="17" name="Text 15"/>
          <p:cNvSpPr txBox="1"/>
          <p:nvPr/>
        </p:nvSpPr>
        <p:spPr>
          <a:xfrm>
            <a:off x="9349511" y="4107688"/>
            <a:ext cx="2064944"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somme des catégories</a:t>
            </a:r>
            <a:endParaRPr lang="en-US" sz="1500" dirty="0"/>
          </a:p>
        </p:txBody>
      </p:sp>
      <p:sp>
        <p:nvSpPr>
          <p:cNvPr id="18"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agg : plusieurs indicateurs nommés</a:t>
            </a:r>
            <a:endParaRPr lang="en-US" sz="3000" dirty="0"/>
          </a:p>
        </p:txBody>
      </p:sp>
      <p:sp>
        <p:nvSpPr>
          <p:cNvPr id="6" name="Shape 4"/>
          <p:cNvSpPr/>
          <p:nvPr/>
        </p:nvSpPr>
        <p:spPr>
          <a:xfrm>
            <a:off x="548640" y="1417320"/>
            <a:ext cx="4835098" cy="1461516"/>
          </a:xfrm>
          <a:prstGeom prst="rect">
            <a:avLst/>
          </a:prstGeom>
          <a:solidFill>
            <a:srgbClr val="F3F4F6"/>
          </a:solidFill>
          <a:ln/>
        </p:spPr>
      </p:sp>
      <p:sp>
        <p:nvSpPr>
          <p:cNvPr id="7" name="Text 5"/>
          <p:cNvSpPr txBox="1"/>
          <p:nvPr/>
        </p:nvSpPr>
        <p:spPr>
          <a:xfrm>
            <a:off x="731520" y="1563624"/>
            <a:ext cx="4469338" cy="116890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indicateurs = df.groupby("region").agg(</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ca=("montant", "sum"),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nb_commandes=("id_commande", "count"),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panier_moyen=("montant", "mean"),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nb_produits=("id_produit", "nunique"),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p:txBody>
      </p:sp>
      <p:sp>
        <p:nvSpPr>
          <p:cNvPr id="8" name="Text 6"/>
          <p:cNvSpPr txBox="1"/>
          <p:nvPr/>
        </p:nvSpPr>
        <p:spPr>
          <a:xfrm>
            <a:off x="548640" y="3198876"/>
            <a:ext cx="483509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Chaque argument se lit : </a:t>
            </a:r>
            <a:pPr indent="0" marL="0">
              <a:buNone/>
            </a:pPr>
            <a:r>
              <a:rPr lang="en-US" sz="1600" dirty="0">
                <a:solidFill>
                  <a:srgbClr val="1F3A5F"/>
                </a:solidFill>
                <a:latin typeface="Courier New" pitchFamily="34" charset="0"/>
                <a:ea typeface="Courier New" pitchFamily="34" charset="-122"/>
                <a:cs typeface="Courier New" pitchFamily="34" charset="-120"/>
              </a:rPr>
              <a:t>nom=("colonne", "fonction")</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840938" y="1417320"/>
          <a:ext cx="5802117" cy="914400"/>
        </p:xfrm>
        <a:graphic>
          <a:graphicData uri="http://schemas.openxmlformats.org/drawingml/2006/table">
            <a:tbl>
              <a:tblPr/>
              <a:tblGrid>
                <a:gridCol w="2095209"/>
                <a:gridCol w="1128189"/>
                <a:gridCol w="1289359"/>
                <a:gridCol w="1289359"/>
              </a:tblGrid>
              <a:tr h="336169">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nb_commandes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panier_moyen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Auvergne-Rhône-Alpes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64856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378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171.58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Bretagne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41080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196.55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Hauts-de-France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53467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320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167.09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Nouvelle-Aquitaine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71843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229.53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Occitanie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50318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288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174.72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Île-de-France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127937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674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189.82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fonctions d'agrégation</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18608" cy="914400"/>
        </p:xfrm>
        <a:graphic>
          <a:graphicData uri="http://schemas.openxmlformats.org/drawingml/2006/table">
            <a:tbl>
              <a:tblPr/>
              <a:tblGrid>
                <a:gridCol w="1692284"/>
                <a:gridCol w="3626323"/>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Fonction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Calcule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sum</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mean</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median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somme, moyenne, médiane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min</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max</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std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extrêmes, écart-type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count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valeurs non manquantes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size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lignes du groupe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nunique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valeurs distinctes non manquantes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first</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last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première, dernière valeur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size contre count</a:t>
            </a:r>
            <a:endParaRPr lang="en-US" sz="1700" dirty="0"/>
          </a:p>
        </p:txBody>
      </p:sp>
      <p:sp>
        <p:nvSpPr>
          <p:cNvPr id="8" name="Shape 5"/>
          <p:cNvSpPr/>
          <p:nvPr/>
        </p:nvSpPr>
        <p:spPr>
          <a:xfrm>
            <a:off x="6324448" y="1828800"/>
            <a:ext cx="5318608" cy="2990088"/>
          </a:xfrm>
          <a:prstGeom prst="rect">
            <a:avLst/>
          </a:prstGeom>
          <a:solidFill>
            <a:srgbClr val="F3F4F6"/>
          </a:solidFill>
          <a:ln/>
        </p:spPr>
      </p:sp>
      <p:sp>
        <p:nvSpPr>
          <p:cNvPr id="9" name="Text 6"/>
          <p:cNvSpPr txBox="1"/>
          <p:nvPr/>
        </p:nvSpPr>
        <p:spPr>
          <a:xfrm>
            <a:off x="6507328" y="1975104"/>
            <a:ext cx="4952848" cy="26974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mini = pd.DataFrame({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"region": ["IDF", "IDF", "BRE"],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"montant": [120.0, None, 210.0]})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mini.groupby("region").agg(</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nb_lignes=("montant", "size"),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nb_montants=("montant", "count"),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nb_lignes  nb_montants</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region</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BRE             1            1</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IDF             2            1</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transform : un résultat par ligne</a:t>
            </a:r>
            <a:endParaRPr lang="en-US" sz="3000" dirty="0"/>
          </a:p>
        </p:txBody>
      </p:sp>
      <p:sp>
        <p:nvSpPr>
          <p:cNvPr id="6" name="Shape 4"/>
          <p:cNvSpPr/>
          <p:nvPr/>
        </p:nvSpPr>
        <p:spPr>
          <a:xfrm>
            <a:off x="548640" y="1417320"/>
            <a:ext cx="5802117" cy="1266698"/>
          </a:xfrm>
          <a:prstGeom prst="rect">
            <a:avLst/>
          </a:prstGeom>
          <a:solidFill>
            <a:srgbClr val="F3F4F6"/>
          </a:solidFill>
          <a:ln/>
        </p:spPr>
      </p:sp>
      <p:sp>
        <p:nvSpPr>
          <p:cNvPr id="7" name="Text 5"/>
          <p:cNvSpPr txBox="1"/>
          <p:nvPr/>
        </p:nvSpPr>
        <p:spPr>
          <a:xfrm>
            <a:off x="731520" y="1563624"/>
            <a:ext cx="5436357" cy="97409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df["ca_region"] =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df.groupby("region")["montant"]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.transform("sum")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df["part_ca_region"] = df["montant"] / df["ca_region"]</a:t>
            </a:r>
            <a:endParaRPr lang="en-US" sz="1300" dirty="0"/>
          </a:p>
        </p:txBody>
      </p:sp>
      <p:sp>
        <p:nvSpPr>
          <p:cNvPr id="8" name="Text 6"/>
          <p:cNvSpPr txBox="1"/>
          <p:nvPr/>
        </p:nvSpPr>
        <p:spPr>
          <a:xfrm>
            <a:off x="6807957" y="1417320"/>
            <a:ext cx="4835098" cy="231140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agg</a:t>
            </a:r>
            <a:pPr indent="0" marL="0">
              <a:buNone/>
            </a:pPr>
            <a:r>
              <a:rPr lang="en-US" sz="1700" dirty="0">
                <a:solidFill>
                  <a:srgbClr val="1F2933"/>
                </a:solidFill>
                <a:latin typeface="Calibri" pitchFamily="34" charset="0"/>
                <a:ea typeface="Calibri" pitchFamily="34" charset="-122"/>
                <a:cs typeface="Calibri" pitchFamily="34" charset="-120"/>
              </a:rPr>
              <a:t> renvoie une ligne par </a:t>
            </a:r>
            <a:pPr indent="0" marL="0">
              <a:buNone/>
            </a:pPr>
            <a:r>
              <a:rPr lang="en-US" sz="1700" b="1" dirty="0">
                <a:solidFill>
                  <a:srgbClr val="1F2933"/>
                </a:solidFill>
                <a:latin typeface="Calibri" pitchFamily="34" charset="0"/>
                <a:ea typeface="Calibri" pitchFamily="34" charset="-122"/>
                <a:cs typeface="Calibri" pitchFamily="34" charset="-120"/>
              </a:rPr>
              <a:t>groupe</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transform</a:t>
            </a:r>
            <a:pPr indent="0" marL="0">
              <a:buNone/>
            </a:pPr>
            <a:r>
              <a:rPr lang="en-US" sz="1700" dirty="0">
                <a:solidFill>
                  <a:srgbClr val="1F2933"/>
                </a:solidFill>
                <a:latin typeface="Calibri" pitchFamily="34" charset="0"/>
                <a:ea typeface="Calibri" pitchFamily="34" charset="-122"/>
                <a:cs typeface="Calibri" pitchFamily="34" charset="-120"/>
              </a:rPr>
              <a:t> renvoie une valeur par </a:t>
            </a:r>
            <a:pPr indent="0" marL="0">
              <a:buNone/>
            </a:pPr>
            <a:r>
              <a:rPr lang="en-US" sz="1700" b="1" dirty="0">
                <a:solidFill>
                  <a:srgbClr val="1F2933"/>
                </a:solidFill>
                <a:latin typeface="Calibri" pitchFamily="34" charset="0"/>
                <a:ea typeface="Calibri" pitchFamily="34" charset="-122"/>
                <a:cs typeface="Calibri" pitchFamily="34" charset="-120"/>
              </a:rPr>
              <a:t>ligne d'origine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Chaque vente reçoit le chiffre d'affaires de sa région, puis sa part dans ce total</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Les parts d'une même région totalisent 1</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meilleurs éléments de chaque groupe</a:t>
            </a:r>
            <a:endParaRPr lang="en-US" sz="3000" dirty="0"/>
          </a:p>
        </p:txBody>
      </p:sp>
      <p:sp>
        <p:nvSpPr>
          <p:cNvPr id="6" name="Text 4"/>
          <p:cNvSpPr txBox="1"/>
          <p:nvPr/>
        </p:nvSpPr>
        <p:spPr>
          <a:xfrm>
            <a:off x="548640" y="1417320"/>
            <a:ext cx="483509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Les plus grandes valeurs</a:t>
            </a:r>
            <a:endParaRPr lang="en-US" sz="1700" dirty="0"/>
          </a:p>
        </p:txBody>
      </p:sp>
      <p:sp>
        <p:nvSpPr>
          <p:cNvPr id="7" name="Shape 5"/>
          <p:cNvSpPr/>
          <p:nvPr/>
        </p:nvSpPr>
        <p:spPr>
          <a:xfrm>
            <a:off x="548640" y="1828800"/>
            <a:ext cx="4835098" cy="1866138"/>
          </a:xfrm>
          <a:prstGeom prst="rect">
            <a:avLst/>
          </a:prstGeom>
          <a:solidFill>
            <a:srgbClr val="F3F4F6"/>
          </a:solidFill>
          <a:ln/>
        </p:spPr>
      </p:sp>
      <p:sp>
        <p:nvSpPr>
          <p:cNvPr id="8" name="Text 6"/>
          <p:cNvSpPr txBox="1"/>
          <p:nvPr/>
        </p:nvSpPr>
        <p:spPr>
          <a:xfrm>
            <a:off x="731520" y="1975104"/>
            <a:ext cx="4469338" cy="157353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(df.groupby("produit")["montant"].sum()</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.nlargest(5))</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Écran 24 pouces        66480.75</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Chaise ergonomique     62088.15</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Clavier mécanique      40695.25</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Bureau assis-debout    38403.75</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Casque audio           35064.15</a:t>
            </a:r>
            <a:endParaRPr lang="en-US" sz="1500" dirty="0"/>
          </a:p>
        </p:txBody>
      </p:sp>
      <p:sp>
        <p:nvSpPr>
          <p:cNvPr id="9" name="Text 7"/>
          <p:cNvSpPr txBox="1"/>
          <p:nvPr/>
        </p:nvSpPr>
        <p:spPr>
          <a:xfrm>
            <a:off x="548640" y="4014978"/>
            <a:ext cx="4835098" cy="5943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nlargest</a:t>
            </a:r>
            <a:pPr indent="0" marL="0">
              <a:buNone/>
            </a:pPr>
            <a:r>
              <a:rPr lang="en-US" sz="1500" dirty="0">
                <a:solidFill>
                  <a:srgbClr val="6B7280"/>
                </a:solidFill>
                <a:latin typeface="Calibri" pitchFamily="34" charset="0"/>
                <a:ea typeface="Calibri" pitchFamily="34" charset="-122"/>
                <a:cs typeface="Calibri" pitchFamily="34" charset="-120"/>
              </a:rPr>
              <a:t>, vu hier, fonctionne aussi sur une Series ; </a:t>
            </a:r>
            <a:pPr indent="0" marL="0">
              <a:buNone/>
            </a:pPr>
            <a:r>
              <a:rPr lang="en-US" sz="1500" dirty="0">
                <a:solidFill>
                  <a:srgbClr val="1F3A5F"/>
                </a:solidFill>
                <a:latin typeface="Courier New" pitchFamily="34" charset="0"/>
                <a:ea typeface="Courier New" pitchFamily="34" charset="-122"/>
                <a:cs typeface="Courier New" pitchFamily="34" charset="-120"/>
              </a:rPr>
              <a:t>nsmallest</a:t>
            </a:r>
            <a:pPr indent="0" marL="0">
              <a:buNone/>
            </a:pPr>
            <a:r>
              <a:rPr lang="en-US" sz="1500" dirty="0">
                <a:solidFill>
                  <a:srgbClr val="6B7280"/>
                </a:solidFill>
                <a:latin typeface="Calibri" pitchFamily="34" charset="0"/>
                <a:ea typeface="Calibri" pitchFamily="34" charset="-122"/>
                <a:cs typeface="Calibri" pitchFamily="34" charset="-120"/>
              </a:rPr>
              <a:t> donne les plus petites valeurs.</a:t>
            </a:r>
            <a:endParaRPr lang="en-US" sz="1500" dirty="0"/>
          </a:p>
        </p:txBody>
      </p:sp>
      <p:sp>
        <p:nvSpPr>
          <p:cNvPr id="10" name="Text 8"/>
          <p:cNvSpPr txBox="1"/>
          <p:nvPr/>
        </p:nvSpPr>
        <p:spPr>
          <a:xfrm>
            <a:off x="5840938" y="1417320"/>
            <a:ext cx="5802117"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 meilleur produit de chaque région</a:t>
            </a:r>
            <a:endParaRPr lang="en-US" sz="1700" dirty="0"/>
          </a:p>
        </p:txBody>
      </p:sp>
      <p:sp>
        <p:nvSpPr>
          <p:cNvPr id="11" name="Shape 9"/>
          <p:cNvSpPr/>
          <p:nvPr/>
        </p:nvSpPr>
        <p:spPr>
          <a:xfrm>
            <a:off x="5840938" y="1828800"/>
            <a:ext cx="5802117" cy="2810256"/>
          </a:xfrm>
          <a:prstGeom prst="rect">
            <a:avLst/>
          </a:prstGeom>
          <a:solidFill>
            <a:srgbClr val="F3F4F6"/>
          </a:solidFill>
          <a:ln/>
        </p:spPr>
      </p:sp>
      <p:sp>
        <p:nvSpPr>
          <p:cNvPr id="12" name="Text 10"/>
          <p:cNvSpPr txBox="1"/>
          <p:nvPr/>
        </p:nvSpPr>
        <p:spPr>
          <a:xfrm>
            <a:off x="6023818" y="1975104"/>
            <a:ext cx="5436357" cy="251764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ca_region_produit = df.groupby(</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["region", "produit"], as_index=False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)["montant"].sum()</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ca_region_produit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.sort_values("montant", ascending=False)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.groupby("region")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.head(1)</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Île-de-France       Écran 24 pouces     24267.60</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Nouvelle-Aquitaine  Chaise ergonomique  16446.45</a:t>
            </a:r>
            <a:endParaRPr lang="en-US" sz="1400" dirty="0"/>
          </a:p>
        </p:txBody>
      </p:sp>
      <p:sp>
        <p:nvSpPr>
          <p:cNvPr id="13" name="Shape 11"/>
          <p:cNvSpPr/>
          <p:nvPr/>
        </p:nvSpPr>
        <p:spPr>
          <a:xfrm>
            <a:off x="548640" y="4959096"/>
            <a:ext cx="11094415" cy="883920"/>
          </a:xfrm>
          <a:prstGeom prst="roundRect">
            <a:avLst>
              <a:gd name="adj" fmla="val 6207"/>
            </a:avLst>
          </a:prstGeom>
          <a:solidFill>
            <a:srgbClr val="E8F3EE"/>
          </a:solidFill>
          <a:ln/>
        </p:spPr>
      </p:sp>
      <p:sp>
        <p:nvSpPr>
          <p:cNvPr id="14" name="Text 12"/>
          <p:cNvSpPr txBox="1"/>
          <p:nvPr/>
        </p:nvSpPr>
        <p:spPr>
          <a:xfrm>
            <a:off x="822960" y="4959096"/>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Après un </a:t>
            </a:r>
            <a:pPr indent="0" marL="0">
              <a:buNone/>
            </a:pPr>
            <a:r>
              <a:rPr lang="en-US" sz="1700" dirty="0">
                <a:solidFill>
                  <a:srgbClr val="2F7D62"/>
                </a:solidFill>
                <a:latin typeface="Courier New" pitchFamily="34" charset="0"/>
                <a:ea typeface="Courier New" pitchFamily="34" charset="-122"/>
                <a:cs typeface="Courier New" pitchFamily="34" charset="-120"/>
              </a:rPr>
              <a:t>groupby</a:t>
            </a:r>
            <a:pPr indent="0" marL="0">
              <a:buNone/>
            </a:pPr>
            <a:r>
              <a:rPr lang="en-US" sz="1700" dirty="0">
                <a:solidFill>
                  <a:srgbClr val="1F3A5F"/>
                </a:solidFill>
                <a:latin typeface="Calibri" pitchFamily="34" charset="0"/>
                <a:ea typeface="Calibri" pitchFamily="34" charset="-122"/>
                <a:cs typeface="Calibri" pitchFamily="34" charset="-120"/>
              </a:rPr>
              <a:t>, </a:t>
            </a:r>
            <a:pPr indent="0" marL="0">
              <a:buNone/>
            </a:pPr>
            <a:r>
              <a:rPr lang="en-US" sz="1700" dirty="0">
                <a:solidFill>
                  <a:srgbClr val="2F7D62"/>
                </a:solidFill>
                <a:latin typeface="Courier New" pitchFamily="34" charset="0"/>
                <a:ea typeface="Courier New" pitchFamily="34" charset="-122"/>
                <a:cs typeface="Courier New" pitchFamily="34" charset="-120"/>
              </a:rPr>
              <a:t>head(n)</a:t>
            </a:r>
            <a:pPr indent="0" marL="0">
              <a:buNone/>
            </a:pPr>
            <a:r>
              <a:rPr lang="en-US" sz="1700" dirty="0">
                <a:solidFill>
                  <a:srgbClr val="1F3A5F"/>
                </a:solidFill>
                <a:latin typeface="Calibri" pitchFamily="34" charset="0"/>
                <a:ea typeface="Calibri" pitchFamily="34" charset="-122"/>
                <a:cs typeface="Calibri" pitchFamily="34" charset="-120"/>
              </a:rPr>
              <a:t> garde les </a:t>
            </a:r>
            <a:pPr indent="0" marL="0">
              <a:buNone/>
            </a:pPr>
            <a:r>
              <a:rPr lang="en-US" sz="1700" dirty="0">
                <a:solidFill>
                  <a:srgbClr val="2F7D62"/>
                </a:solidFill>
                <a:latin typeface="Courier New" pitchFamily="34" charset="0"/>
                <a:ea typeface="Courier New" pitchFamily="34" charset="-122"/>
                <a:cs typeface="Courier New" pitchFamily="34" charset="-120"/>
              </a:rPr>
              <a:t>n</a:t>
            </a:r>
            <a:pPr indent="0" marL="0">
              <a:buNone/>
            </a:pPr>
            <a:r>
              <a:rPr lang="en-US" sz="1700" dirty="0">
                <a:solidFill>
                  <a:srgbClr val="1F3A5F"/>
                </a:solidFill>
                <a:latin typeface="Calibri" pitchFamily="34" charset="0"/>
                <a:ea typeface="Calibri" pitchFamily="34" charset="-122"/>
                <a:cs typeface="Calibri" pitchFamily="34" charset="-120"/>
              </a:rPr>
              <a:t> premières lignes de chaque groupe : c'est le tri préalable qui en fait les </a:t>
            </a:r>
            <a:pPr indent="0" marL="0">
              <a:buNone/>
            </a:pPr>
            <a:r>
              <a:rPr lang="en-US" sz="1700" dirty="0">
                <a:solidFill>
                  <a:srgbClr val="2F7D62"/>
                </a:solidFill>
                <a:latin typeface="Courier New" pitchFamily="34" charset="0"/>
                <a:ea typeface="Courier New" pitchFamily="34" charset="-122"/>
                <a:cs typeface="Courier New" pitchFamily="34" charset="-120"/>
              </a:rPr>
              <a:t>n</a:t>
            </a:r>
            <a:pPr indent="0" marL="0">
              <a:buNone/>
            </a:pPr>
            <a:r>
              <a:rPr lang="en-US" sz="1700" dirty="0">
                <a:solidFill>
                  <a:srgbClr val="1F3A5F"/>
                </a:solidFill>
                <a:latin typeface="Calibri" pitchFamily="34" charset="0"/>
                <a:ea typeface="Calibri" pitchFamily="34" charset="-122"/>
                <a:cs typeface="Calibri" pitchFamily="34" charset="-120"/>
              </a:rPr>
              <a:t> meilleures.</a:t>
            </a:r>
            <a:endParaRPr lang="en-US" sz="1700" dirty="0"/>
          </a:p>
        </p:txBody>
      </p:sp>
      <p:sp>
        <p:nvSpPr>
          <p:cNvPr id="15"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pivot_table : le tableau croisé</a:t>
            </a:r>
            <a:endParaRPr lang="en-US" sz="3000" dirty="0"/>
          </a:p>
        </p:txBody>
      </p:sp>
      <p:sp>
        <p:nvSpPr>
          <p:cNvPr id="6" name="Shape 4"/>
          <p:cNvSpPr/>
          <p:nvPr/>
        </p:nvSpPr>
        <p:spPr>
          <a:xfrm>
            <a:off x="548640" y="1417320"/>
            <a:ext cx="4432173" cy="2435606"/>
          </a:xfrm>
          <a:prstGeom prst="rect">
            <a:avLst/>
          </a:prstGeom>
          <a:solidFill>
            <a:srgbClr val="F3F4F6"/>
          </a:solidFill>
          <a:ln/>
        </p:spPr>
      </p:sp>
      <p:sp>
        <p:nvSpPr>
          <p:cNvPr id="7" name="Text 5"/>
          <p:cNvSpPr txBox="1"/>
          <p:nvPr/>
        </p:nvSpPr>
        <p:spPr>
          <a:xfrm>
            <a:off x="731520" y="1563624"/>
            <a:ext cx="4066413" cy="214299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df["mois"] = df["date"].dt.to_period("M")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pd.pivot_table(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df,</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index="mois",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columns="categorie",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values="montant",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aggfunc="sum",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fill_value=0,</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margins=True,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38013" y="1417320"/>
          <a:ext cx="6205042" cy="914400"/>
        </p:xfrm>
        <a:graphic>
          <a:graphicData uri="http://schemas.openxmlformats.org/drawingml/2006/table">
            <a:tbl>
              <a:tblPr/>
              <a:tblGrid>
                <a:gridCol w="821256"/>
                <a:gridCol w="730005"/>
                <a:gridCol w="1186258"/>
                <a:gridCol w="866881"/>
                <a:gridCol w="958132"/>
                <a:gridCol w="866881"/>
                <a:gridCol w="775630"/>
              </a:tblGrid>
              <a:tr h="3215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Bureau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Informatique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Non réf.</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Papeterie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Électro.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2156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2025-01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14838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17431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6667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4539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43475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2156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2025-02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10014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16029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6002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5784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37830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2156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2156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2025-08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7580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13600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1296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2691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2107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27274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2156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2025-09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17513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28474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1378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6840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3869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58074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21564">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All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124548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185275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2674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59181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37824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409502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9" name="Text 6"/>
          <p:cNvSpPr txBox="1"/>
          <p:nvPr/>
        </p:nvSpPr>
        <p:spPr>
          <a:xfrm>
            <a:off x="5438013" y="3988308"/>
            <a:ext cx="6205042"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Un </a:t>
            </a:r>
            <a:pPr indent="0" marL="0">
              <a:buNone/>
            </a:pPr>
            <a:r>
              <a:rPr lang="en-US" sz="1500" dirty="0">
                <a:solidFill>
                  <a:srgbClr val="1F3A5F"/>
                </a:solidFill>
                <a:latin typeface="Courier New" pitchFamily="34" charset="0"/>
                <a:ea typeface="Courier New" pitchFamily="34" charset="-122"/>
                <a:cs typeface="Courier New" pitchFamily="34" charset="-120"/>
              </a:rPr>
              <a:t>groupby</a:t>
            </a:r>
            <a:pPr indent="0" marL="0">
              <a:buNone/>
            </a:pPr>
            <a:r>
              <a:rPr lang="en-US" sz="1500" dirty="0">
                <a:solidFill>
                  <a:srgbClr val="6B7280"/>
                </a:solidFill>
                <a:latin typeface="Calibri" pitchFamily="34" charset="0"/>
                <a:ea typeface="Calibri" pitchFamily="34" charset="-122"/>
                <a:cs typeface="Calibri" pitchFamily="34" charset="-120"/>
              </a:rPr>
              <a:t> sur deux clés, dont la seconde passe en colonnes. </a:t>
            </a:r>
            <a:pPr indent="0" marL="0">
              <a:buNone/>
            </a:pPr>
            <a:r>
              <a:rPr lang="en-US" sz="1500" dirty="0">
                <a:solidFill>
                  <a:srgbClr val="1F3A5F"/>
                </a:solidFill>
                <a:latin typeface="Courier New" pitchFamily="34" charset="0"/>
                <a:ea typeface="Courier New" pitchFamily="34" charset="-122"/>
                <a:cs typeface="Courier New" pitchFamily="34" charset="-120"/>
              </a:rPr>
              <a:t>margins=True</a:t>
            </a:r>
            <a:pPr indent="0" marL="0">
              <a:buNone/>
            </a:pPr>
            <a:r>
              <a:rPr lang="en-US" sz="1500" dirty="0">
                <a:solidFill>
                  <a:srgbClr val="6B7280"/>
                </a:solidFill>
                <a:latin typeface="Calibri" pitchFamily="34" charset="0"/>
                <a:ea typeface="Calibri" pitchFamily="34" charset="-122"/>
                <a:cs typeface="Calibri" pitchFamily="34" charset="-120"/>
              </a:rPr>
              <a:t> ajoute les totaux </a:t>
            </a:r>
            <a:pPr indent="0" marL="0">
              <a:buNone/>
            </a:pPr>
            <a:r>
              <a:rPr lang="en-US" sz="1500" dirty="0">
                <a:solidFill>
                  <a:srgbClr val="1F3A5F"/>
                </a:solidFill>
                <a:latin typeface="Courier New" pitchFamily="34" charset="0"/>
                <a:ea typeface="Courier New" pitchFamily="34" charset="-122"/>
                <a:cs typeface="Courier New" pitchFamily="34" charset="-120"/>
              </a:rPr>
              <a:t>All</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fill_value=0</a:t>
            </a:r>
            <a:pPr indent="0" marL="0">
              <a:buNone/>
            </a:pPr>
            <a:r>
              <a:rPr lang="en-US" sz="1500" dirty="0">
                <a:solidFill>
                  <a:srgbClr val="6B7280"/>
                </a:solidFill>
                <a:latin typeface="Calibri" pitchFamily="34" charset="0"/>
                <a:ea typeface="Calibri" pitchFamily="34" charset="-122"/>
                <a:cs typeface="Calibri" pitchFamily="34" charset="-120"/>
              </a:rPr>
              <a:t> remplace les combinaisons absentes par 0.</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crosstab : compter des combinaisons</a:t>
            </a:r>
            <a:endParaRPr lang="en-US" sz="3000" dirty="0"/>
          </a:p>
        </p:txBody>
      </p:sp>
      <p:sp>
        <p:nvSpPr>
          <p:cNvPr id="6" name="Shape 4"/>
          <p:cNvSpPr/>
          <p:nvPr/>
        </p:nvSpPr>
        <p:spPr>
          <a:xfrm>
            <a:off x="548640" y="1417320"/>
            <a:ext cx="5802117" cy="2315718"/>
          </a:xfrm>
          <a:prstGeom prst="rect">
            <a:avLst/>
          </a:prstGeom>
          <a:solidFill>
            <a:srgbClr val="F3F4F6"/>
          </a:solidFill>
          <a:ln/>
        </p:spPr>
      </p:sp>
      <p:sp>
        <p:nvSpPr>
          <p:cNvPr id="7" name="Text 5"/>
          <p:cNvSpPr txBox="1"/>
          <p:nvPr/>
        </p:nvSpPr>
        <p:spPr>
          <a:xfrm>
            <a:off x="731520" y="1563624"/>
            <a:ext cx="5436357"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pd.crosstab(df["region"], df["client_fidele"])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avec les totaux</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pd.crosstab(df["region"], df["client_fidele"],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margins=True)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en proportions par ligne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pd.crosstab(df["region"], df["client_fidele"],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normalize="index")</a:t>
            </a:r>
            <a:endParaRPr lang="en-US" sz="1500" dirty="0"/>
          </a:p>
        </p:txBody>
      </p:sp>
      <p:sp>
        <p:nvSpPr>
          <p:cNvPr id="8" name="Text 6"/>
          <p:cNvSpPr txBox="1"/>
          <p:nvPr/>
        </p:nvSpPr>
        <p:spPr>
          <a:xfrm>
            <a:off x="6807957" y="1417320"/>
            <a:ext cx="4835098" cy="220980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Compte les occurrences de chaque combinaison de deux colonnes</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margins=True</a:t>
            </a:r>
            <a:pPr indent="0" marL="0">
              <a:buNone/>
            </a:pPr>
            <a:r>
              <a:rPr lang="en-US" sz="1700" dirty="0">
                <a:solidFill>
                  <a:srgbClr val="1F2933"/>
                </a:solidFill>
                <a:latin typeface="Calibri" pitchFamily="34" charset="0"/>
                <a:ea typeface="Calibri" pitchFamily="34" charset="-122"/>
                <a:cs typeface="Calibri" pitchFamily="34" charset="-120"/>
              </a:rPr>
              <a:t> ajoute les totaux, </a:t>
            </a:r>
            <a:pPr indent="0" marL="0">
              <a:buNone/>
            </a:pPr>
            <a:r>
              <a:rPr lang="en-US" sz="1700" dirty="0">
                <a:solidFill>
                  <a:srgbClr val="1F3A5F"/>
                </a:solidFill>
                <a:latin typeface="Courier New" pitchFamily="34" charset="0"/>
                <a:ea typeface="Courier New" pitchFamily="34" charset="-122"/>
                <a:cs typeface="Courier New" pitchFamily="34" charset="-120"/>
              </a:rPr>
              <a:t>normalize="index"</a:t>
            </a:r>
            <a:pPr indent="0" marL="0">
              <a:buNone/>
            </a:pPr>
            <a:r>
              <a:rPr lang="en-US" sz="1700" dirty="0">
                <a:solidFill>
                  <a:srgbClr val="1F2933"/>
                </a:solidFill>
                <a:latin typeface="Calibri" pitchFamily="34" charset="0"/>
                <a:ea typeface="Calibri" pitchFamily="34" charset="-122"/>
                <a:cs typeface="Calibri" pitchFamily="34" charset="-120"/>
              </a:rPr>
              <a:t> donne des proportions par ligne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Ici : entre 33 % et 39 % de clients fidèles selon la région</a:t>
            </a:r>
            <a:endParaRPr lang="en-US" sz="1700" dirty="0"/>
          </a:p>
        </p:txBody>
      </p:sp>
      <p:sp>
        <p:nvSpPr>
          <p:cNvPr id="9" name="Text 7"/>
          <p:cNvSpPr txBox="1"/>
          <p:nvPr/>
        </p:nvSpPr>
        <p:spPr>
          <a:xfrm>
            <a:off x="548640" y="4053078"/>
            <a:ext cx="11094415"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Avec </a:t>
            </a:r>
            <a:pPr indent="0" marL="0">
              <a:buNone/>
            </a:pPr>
            <a:r>
              <a:rPr lang="en-US" sz="1700" b="1" dirty="0">
                <a:solidFill>
                  <a:srgbClr val="1F3A5F"/>
                </a:solidFill>
                <a:latin typeface="Courier New" pitchFamily="34" charset="0"/>
                <a:ea typeface="Courier New" pitchFamily="34" charset="-122"/>
                <a:cs typeface="Courier New" pitchFamily="34" charset="-120"/>
              </a:rPr>
              <a:t>values</a:t>
            </a:r>
            <a:pPr indent="0" marL="0">
              <a:buNone/>
            </a:pPr>
            <a:r>
              <a:rPr lang="en-US" sz="1700" b="1" dirty="0">
                <a:solidFill>
                  <a:srgbClr val="1F3A5F"/>
                </a:solidFill>
                <a:latin typeface="Calibri" pitchFamily="34" charset="0"/>
                <a:ea typeface="Calibri" pitchFamily="34" charset="-122"/>
                <a:cs typeface="Calibri" pitchFamily="34" charset="-120"/>
              </a:rPr>
              <a:t> et </a:t>
            </a:r>
            <a:pPr indent="0" marL="0">
              <a:buNone/>
            </a:pPr>
            <a:r>
              <a:rPr lang="en-US" sz="1700" b="1" dirty="0">
                <a:solidFill>
                  <a:srgbClr val="1F3A5F"/>
                </a:solidFill>
                <a:latin typeface="Courier New" pitchFamily="34" charset="0"/>
                <a:ea typeface="Courier New" pitchFamily="34" charset="-122"/>
                <a:cs typeface="Courier New" pitchFamily="34" charset="-120"/>
              </a:rPr>
              <a:t>aggfunc</a:t>
            </a:r>
            <a:pPr indent="0" marL="0">
              <a:buNone/>
            </a:pPr>
            <a:r>
              <a:rPr lang="en-US" sz="1700" b="1" dirty="0">
                <a:solidFill>
                  <a:srgbClr val="1F3A5F"/>
                </a:solidFill>
                <a:latin typeface="Calibri" pitchFamily="34" charset="0"/>
                <a:ea typeface="Calibri" pitchFamily="34" charset="-122"/>
                <a:cs typeface="Calibri" pitchFamily="34" charset="-120"/>
              </a:rPr>
              <a:t> : la part de chaque catégorie par région</a:t>
            </a:r>
            <a:endParaRPr lang="en-US" sz="1700" dirty="0"/>
          </a:p>
        </p:txBody>
      </p:sp>
      <p:sp>
        <p:nvSpPr>
          <p:cNvPr id="10" name="Shape 8"/>
          <p:cNvSpPr/>
          <p:nvPr/>
        </p:nvSpPr>
        <p:spPr>
          <a:xfrm>
            <a:off x="548640" y="4464558"/>
            <a:ext cx="11094415" cy="742188"/>
          </a:xfrm>
          <a:prstGeom prst="rect">
            <a:avLst/>
          </a:prstGeom>
          <a:solidFill>
            <a:srgbClr val="F3F4F6"/>
          </a:solidFill>
          <a:ln/>
        </p:spPr>
      </p:sp>
      <p:sp>
        <p:nvSpPr>
          <p:cNvPr id="11" name="Text 9"/>
          <p:cNvSpPr txBox="1"/>
          <p:nvPr/>
        </p:nvSpPr>
        <p:spPr>
          <a:xfrm>
            <a:off x="731520" y="4610862"/>
            <a:ext cx="10728655"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pd.crosstab(df["region"], df["categorie"], values=df["montant"],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aggfunc="sum", normalize="index")</a:t>
            </a:r>
            <a:endParaRPr lang="en-US" sz="15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AGRÉGER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TP3, partie 3</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Agréger la table des ventes enrichies</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18883"/>
                <a:gridCol w="8875532"/>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 programme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3.1 à 3.5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montant, agrégations simples, </a:t>
                      </a:r>
                      <a:pPr indent="0" marL="0">
                        <a:buNone/>
                      </a:pPr>
                      <a:r>
                        <a:rPr lang="en-US" sz="1600" dirty="0">
                          <a:solidFill>
                            <a:srgbClr val="1F3A5F"/>
                          </a:solidFill>
                          <a:latin typeface="Courier New" pitchFamily="34" charset="0"/>
                          <a:ea typeface="Courier New" pitchFamily="34" charset="-122"/>
                          <a:cs typeface="Courier New" pitchFamily="34" charset="-120"/>
                        </a:rPr>
                        <a:t>groupby</a:t>
                      </a:r>
                      <a:pPr indent="0" marL="0">
                        <a:buNone/>
                      </a:pPr>
                      <a:r>
                        <a:rPr lang="en-US" sz="1600" dirty="0">
                          <a:solidFill>
                            <a:srgbClr val="1F2933"/>
                          </a:solidFill>
                          <a:latin typeface="Calibri" pitchFamily="34" charset="0"/>
                          <a:ea typeface="Calibri" pitchFamily="34" charset="-122"/>
                          <a:cs typeface="Calibri" pitchFamily="34" charset="-120"/>
                        </a:rPr>
                        <a:t>, clés manquantes dans </a:t>
                      </a:r>
                      <a:pPr indent="0" marL="0">
                        <a:buNone/>
                      </a:pPr>
                      <a:r>
                        <a:rPr lang="en-US" sz="1600" dirty="0">
                          <a:solidFill>
                            <a:srgbClr val="1F3A5F"/>
                          </a:solidFill>
                          <a:latin typeface="Courier New" pitchFamily="34" charset="0"/>
                          <a:ea typeface="Courier New" pitchFamily="34" charset="-122"/>
                          <a:cs typeface="Courier New" pitchFamily="34" charset="-120"/>
                        </a:rPr>
                        <a:t>controle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3.6 et 3.7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agrégation nommée ; </a:t>
                      </a:r>
                      <a:pPr indent="0" marL="0">
                        <a:buNone/>
                      </a:pPr>
                      <a:r>
                        <a:rPr lang="en-US" sz="1600" dirty="0">
                          <a:solidFill>
                            <a:srgbClr val="1F3A5F"/>
                          </a:solidFill>
                          <a:latin typeface="Courier New" pitchFamily="34" charset="0"/>
                          <a:ea typeface="Courier New" pitchFamily="34" charset="-122"/>
                          <a:cs typeface="Courier New" pitchFamily="34" charset="-120"/>
                        </a:rPr>
                        <a:t>size</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count</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nunique</a:t>
                      </a:r>
                      <a:pPr indent="0" marL="0">
                        <a:buNone/>
                      </a:pPr>
                      <a:r>
                        <a:rPr lang="en-US" sz="1600" dirty="0">
                          <a:solidFill>
                            <a:srgbClr val="1F2933"/>
                          </a:solidFill>
                          <a:latin typeface="Calibri" pitchFamily="34" charset="0"/>
                          <a:ea typeface="Calibri" pitchFamily="34" charset="-122"/>
                          <a:cs typeface="Calibri" pitchFamily="34" charset="-120"/>
                        </a:rPr>
                        <a:t> sur une petite table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3.8 à 3.10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transform</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nlargest</a:t>
                      </a:r>
                      <a:pPr indent="0" marL="0">
                        <a:buNone/>
                      </a:pPr>
                      <a:r>
                        <a:rPr lang="en-US" sz="1600" dirty="0">
                          <a:solidFill>
                            <a:srgbClr val="1F2933"/>
                          </a:solidFill>
                          <a:latin typeface="Calibri" pitchFamily="34" charset="0"/>
                          <a:ea typeface="Calibri" pitchFamily="34" charset="-122"/>
                          <a:cs typeface="Calibri" pitchFamily="34" charset="-120"/>
                        </a:rPr>
                        <a:t>, le meilleur produit de chaque région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3.11 et 3.12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pivot_table</a:t>
                      </a:r>
                      <a:pPr indent="0" marL="0">
                        <a:buNone/>
                      </a:pPr>
                      <a:r>
                        <a:rPr lang="en-US" sz="1600" dirty="0">
                          <a:solidFill>
                            <a:srgbClr val="1F2933"/>
                          </a:solidFill>
                          <a:latin typeface="Calibri" pitchFamily="34" charset="0"/>
                          <a:ea typeface="Calibri" pitchFamily="34" charset="-122"/>
                          <a:cs typeface="Calibri" pitchFamily="34" charset="-120"/>
                        </a:rPr>
                        <a:t> par mois et par région, </a:t>
                      </a:r>
                      <a:pPr indent="0" marL="0">
                        <a:buNone/>
                      </a:pPr>
                      <a:r>
                        <a:rPr lang="en-US" sz="1600" dirty="0">
                          <a:solidFill>
                            <a:srgbClr val="1F3A5F"/>
                          </a:solidFill>
                          <a:latin typeface="Courier New" pitchFamily="34" charset="0"/>
                          <a:ea typeface="Courier New" pitchFamily="34" charset="-122"/>
                          <a:cs typeface="Courier New" pitchFamily="34" charset="-120"/>
                        </a:rPr>
                        <a:t>crosstab</a:t>
                      </a:r>
                      <a:pPr indent="0" marL="0">
                        <a:buNone/>
                      </a:pPr>
                      <a:r>
                        <a:rPr lang="en-US" sz="1600" dirty="0">
                          <a:solidFill>
                            <a:srgbClr val="1F2933"/>
                          </a:solidFill>
                          <a:latin typeface="Calibri" pitchFamily="34" charset="0"/>
                          <a:ea typeface="Calibri" pitchFamily="34" charset="-122"/>
                          <a:cs typeface="Calibri" pitchFamily="34" charset="-120"/>
                        </a:rPr>
                        <a:t> de la fidélité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Shape 5"/>
          <p:cNvSpPr/>
          <p:nvPr/>
        </p:nvSpPr>
        <p:spPr>
          <a:xfrm>
            <a:off x="548640" y="4231640"/>
            <a:ext cx="11094415" cy="624840"/>
          </a:xfrm>
          <a:prstGeom prst="roundRect">
            <a:avLst>
              <a:gd name="adj" fmla="val 8780"/>
            </a:avLst>
          </a:prstGeom>
          <a:solidFill>
            <a:srgbClr val="E8F3EE"/>
          </a:solidFill>
          <a:ln/>
        </p:spPr>
      </p:sp>
      <p:sp>
        <p:nvSpPr>
          <p:cNvPr id="9" name="Text 6"/>
          <p:cNvSpPr txBox="1"/>
          <p:nvPr/>
        </p:nvSpPr>
        <p:spPr>
          <a:xfrm>
            <a:off x="822960" y="42316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aller plus loin : 3.13 (</a:t>
            </a:r>
            <a:pPr indent="0" marL="0">
              <a:buNone/>
            </a:pPr>
            <a:r>
              <a:rPr lang="en-US" sz="1700" dirty="0">
                <a:solidFill>
                  <a:srgbClr val="2F7D62"/>
                </a:solidFill>
                <a:latin typeface="Courier New" pitchFamily="34" charset="0"/>
                <a:ea typeface="Courier New" pitchFamily="34" charset="-122"/>
                <a:cs typeface="Courier New" pitchFamily="34" charset="-120"/>
              </a:rPr>
              <a:t>crosstab</a:t>
            </a:r>
            <a:pPr indent="0" marL="0">
              <a:buNone/>
            </a:pPr>
            <a:r>
              <a:rPr lang="en-US" sz="1700" dirty="0">
                <a:solidFill>
                  <a:srgbClr val="1F3A5F"/>
                </a:solidFill>
                <a:latin typeface="Calibri" pitchFamily="34" charset="0"/>
                <a:ea typeface="Calibri" pitchFamily="34" charset="-122"/>
                <a:cs typeface="Calibri" pitchFamily="34" charset="-120"/>
              </a:rPr>
              <a:t> avec </a:t>
            </a:r>
            <a:pPr indent="0" marL="0">
              <a:buNone/>
            </a:pPr>
            <a:r>
              <a:rPr lang="en-US" sz="1700" dirty="0">
                <a:solidFill>
                  <a:srgbClr val="2F7D62"/>
                </a:solidFill>
                <a:latin typeface="Courier New" pitchFamily="34" charset="0"/>
                <a:ea typeface="Courier New" pitchFamily="34" charset="-122"/>
                <a:cs typeface="Courier New" pitchFamily="34" charset="-120"/>
              </a:rPr>
              <a:t>values</a:t>
            </a:r>
            <a:pPr indent="0" marL="0">
              <a:buNone/>
            </a:pPr>
            <a:r>
              <a:rPr lang="en-US" sz="1700" dirty="0">
                <a:solidFill>
                  <a:srgbClr val="1F3A5F"/>
                </a:solidFill>
                <a:latin typeface="Calibri" pitchFamily="34" charset="0"/>
                <a:ea typeface="Calibri" pitchFamily="34" charset="-122"/>
                <a:cs typeface="Calibri" pitchFamily="34" charset="-120"/>
              </a:rPr>
              <a:t>) et 3.14 (le taux de remise).</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05</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Manipuler les dates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Accesseur .dt   |   resample   |   shift et pct_change   |   rolling</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Calculer et extraire avec .dt</a:t>
            </a:r>
            <a:endParaRPr lang="en-US" sz="3000" dirty="0"/>
          </a:p>
        </p:txBody>
      </p:sp>
      <p:sp>
        <p:nvSpPr>
          <p:cNvPr id="6" name="Shape 4"/>
          <p:cNvSpPr/>
          <p:nvPr/>
        </p:nvSpPr>
        <p:spPr>
          <a:xfrm>
            <a:off x="548640" y="1417320"/>
            <a:ext cx="5802117" cy="2240788"/>
          </a:xfrm>
          <a:prstGeom prst="rect">
            <a:avLst/>
          </a:prstGeom>
          <a:solidFill>
            <a:srgbClr val="F3F4F6"/>
          </a:solidFill>
          <a:ln/>
        </p:spPr>
      </p:sp>
      <p:sp>
        <p:nvSpPr>
          <p:cNvPr id="7" name="Text 5"/>
          <p:cNvSpPr txBox="1"/>
          <p:nvPr/>
        </p:nvSpPr>
        <p:spPr>
          <a:xfrm>
            <a:off x="731520" y="1563624"/>
            <a:ext cx="5436357"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df["date"].min(), df["date"].max()</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du 1er janvier au 30 septembre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(df["date"].max() - df["date"].min()).days    # 272</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df["date"].nunique()    # 270 jours avec une vente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df["date"] + pd.Timedelta(days=30)</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df["annee"] = df["date"].dt.year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df["mois_num"] = df["date"].dt.month</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df["jour_semaine"] = df["date"].dt.dayofweek</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df["mois"] = df["date"].dt.to_period("M")</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2417549"/>
                <a:gridCol w="241754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Attribut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Exemple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.dt.year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2025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.dt.month</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.dt.dayofweek</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 pour lundi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.dt.to_period("M")</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2025-03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9" name="Text 6"/>
          <p:cNvSpPr txBox="1"/>
          <p:nvPr/>
        </p:nvSpPr>
        <p:spPr>
          <a:xfrm>
            <a:off x="6807957" y="3564255"/>
            <a:ext cx="4835098" cy="10515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to_period("M")</a:t>
            </a:r>
            <a:pPr indent="0" marL="0">
              <a:buNone/>
            </a:pPr>
            <a:r>
              <a:rPr lang="en-US" sz="1500" dirty="0">
                <a:solidFill>
                  <a:srgbClr val="6B7280"/>
                </a:solidFill>
                <a:latin typeface="Calibri" pitchFamily="34" charset="0"/>
                <a:ea typeface="Calibri" pitchFamily="34" charset="-122"/>
                <a:cs typeface="Calibri" pitchFamily="34" charset="-120"/>
              </a:rPr>
              <a:t> fait une excellente clé de regroupement mensuel. </a:t>
            </a:r>
            <a:pPr indent="0" marL="0">
              <a:buNone/>
            </a:pPr>
            <a:r>
              <a:rPr lang="en-US" sz="1500" dirty="0">
                <a:solidFill>
                  <a:srgbClr val="1F3A5F"/>
                </a:solidFill>
                <a:latin typeface="Courier New" pitchFamily="34" charset="0"/>
                <a:ea typeface="Courier New" pitchFamily="34" charset="-122"/>
                <a:cs typeface="Courier New" pitchFamily="34" charset="-120"/>
              </a:rPr>
              <a:t>.dt.to_timestamp()</a:t>
            </a:r>
            <a:pPr indent="0" marL="0">
              <a:buNone/>
            </a:pPr>
            <a:r>
              <a:rPr lang="en-US" sz="1500" dirty="0">
                <a:solidFill>
                  <a:srgbClr val="6B7280"/>
                </a:solidFill>
                <a:latin typeface="Calibri" pitchFamily="34" charset="0"/>
                <a:ea typeface="Calibri" pitchFamily="34" charset="-122"/>
                <a:cs typeface="Calibri" pitchFamily="34" charset="-120"/>
              </a:rPr>
              <a:t> fait l'inverse : la date du premier jour, utile avant un export.</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jours de la semaine en français</a:t>
            </a:r>
            <a:endParaRPr lang="en-US" sz="3000" dirty="0"/>
          </a:p>
        </p:txBody>
      </p:sp>
      <p:sp>
        <p:nvSpPr>
          <p:cNvPr id="6" name="Shape 4"/>
          <p:cNvSpPr/>
          <p:nvPr/>
        </p:nvSpPr>
        <p:spPr>
          <a:xfrm>
            <a:off x="548640" y="1417320"/>
            <a:ext cx="5802117" cy="2315718"/>
          </a:xfrm>
          <a:prstGeom prst="rect">
            <a:avLst/>
          </a:prstGeom>
          <a:solidFill>
            <a:srgbClr val="F3F4F6"/>
          </a:solidFill>
          <a:ln/>
        </p:spPr>
      </p:sp>
      <p:sp>
        <p:nvSpPr>
          <p:cNvPr id="7" name="Text 5"/>
          <p:cNvSpPr txBox="1"/>
          <p:nvPr/>
        </p:nvSpPr>
        <p:spPr>
          <a:xfrm>
            <a:off x="731520" y="1563624"/>
            <a:ext cx="5436357"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jours = {0: "lundi", 1: "mardi",</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2: "mercredi", 3: "jeudi",</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4: "vendredi", 5: "samedi",</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6: "dimanche"}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df["jour"] = df["date"].dt.dayofweek.map(jours)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dans l'ordre de la semaine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(df.groupby("jour")["montant"].sum()</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.reindex(list(jours.values())))</a:t>
            </a:r>
            <a:endParaRPr lang="en-US" sz="1500" dirty="0"/>
          </a:p>
        </p:txBody>
      </p:sp>
      <p:sp>
        <p:nvSpPr>
          <p:cNvPr id="8" name="Text 6"/>
          <p:cNvSpPr txBox="1"/>
          <p:nvPr/>
        </p:nvSpPr>
        <p:spPr>
          <a:xfrm>
            <a:off x="548640" y="4053078"/>
            <a:ext cx="5802117" cy="8229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groupby</a:t>
            </a:r>
            <a:pPr indent="0" marL="0">
              <a:buNone/>
            </a:pPr>
            <a:r>
              <a:rPr lang="en-US" sz="1500" dirty="0">
                <a:solidFill>
                  <a:srgbClr val="6B7280"/>
                </a:solidFill>
                <a:latin typeface="Calibri" pitchFamily="34" charset="0"/>
                <a:ea typeface="Calibri" pitchFamily="34" charset="-122"/>
                <a:cs typeface="Calibri" pitchFamily="34" charset="-120"/>
              </a:rPr>
              <a:t> trie les jours par ordre alphabétique : dimanche, jeudi, lundi... </a:t>
            </a:r>
            <a:pPr indent="0" marL="0">
              <a:buNone/>
            </a:pPr>
            <a:r>
              <a:rPr lang="en-US" sz="1500" dirty="0">
                <a:solidFill>
                  <a:srgbClr val="1F3A5F"/>
                </a:solidFill>
                <a:latin typeface="Courier New" pitchFamily="34" charset="0"/>
                <a:ea typeface="Courier New" pitchFamily="34" charset="-122"/>
                <a:cs typeface="Courier New" pitchFamily="34" charset="-120"/>
              </a:rPr>
              <a:t>reindex</a:t>
            </a:r>
            <a:pPr indent="0" marL="0">
              <a:buNone/>
            </a:pPr>
            <a:r>
              <a:rPr lang="en-US" sz="1500" dirty="0">
                <a:solidFill>
                  <a:srgbClr val="6B7280"/>
                </a:solidFill>
                <a:latin typeface="Calibri" pitchFamily="34" charset="0"/>
                <a:ea typeface="Calibri" pitchFamily="34" charset="-122"/>
                <a:cs typeface="Calibri" pitchFamily="34" charset="-120"/>
              </a:rPr>
              <a:t>, vu hier, les remet dans l'ordre de la semaine.</a:t>
            </a:r>
            <a:endParaRPr lang="en-US" sz="1500" dirty="0"/>
          </a:p>
        </p:txBody>
      </p:sp>
      <p:graphicFrame>
        <p:nvGraphicFramePr>
          <p:cNvPr id="9" name="Chart 0" descr=""/>
          <p:cNvGraphicFramePr/>
          <p:nvPr/>
        </p:nvGraphicFramePr>
        <p:xfrm>
          <a:off x="6807957" y="1417320"/>
          <a:ext cx="4835098" cy="36576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Filtrer sur des dates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Avec des conditions</a:t>
            </a:r>
            <a:endParaRPr lang="en-US" sz="1700" dirty="0"/>
          </a:p>
        </p:txBody>
      </p:sp>
      <p:sp>
        <p:nvSpPr>
          <p:cNvPr id="7" name="Shape 5"/>
          <p:cNvSpPr/>
          <p:nvPr/>
        </p:nvSpPr>
        <p:spPr>
          <a:xfrm>
            <a:off x="548640" y="1828800"/>
            <a:ext cx="5318608" cy="2390648"/>
          </a:xfrm>
          <a:prstGeom prst="rect">
            <a:avLst/>
          </a:prstGeom>
          <a:solidFill>
            <a:srgbClr val="F3F4F6"/>
          </a:solidFill>
          <a:ln/>
        </p:spPr>
      </p:sp>
      <p:sp>
        <p:nvSpPr>
          <p:cNvPr id="8" name="Text 6"/>
          <p:cNvSpPr txBox="1"/>
          <p:nvPr/>
        </p:nvSpPr>
        <p:spPr>
          <a:xfrm>
            <a:off x="731520" y="1975104"/>
            <a:ext cx="4952848" cy="2098040"/>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df[df["date"] &gt;= "2025-07-01"]</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bornes incluses : 307 ventes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df[df["date"].between("2025-07-01",</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"2025-08-31")]</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df[df["date"].dt.month.isin([7, 8])]  # idem</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les 30 derniers jours : 319 ventes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df[df["date"] &gt; df["date"].max()</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 pd.Timedelta(days=30)]</a:t>
            </a:r>
            <a:endParaRPr lang="en-US" sz="14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Avec un index de dates</a:t>
            </a:r>
            <a:endParaRPr lang="en-US" sz="1700" dirty="0"/>
          </a:p>
        </p:txBody>
      </p:sp>
      <p:sp>
        <p:nvSpPr>
          <p:cNvPr id="10" name="Shape 8"/>
          <p:cNvSpPr/>
          <p:nvPr/>
        </p:nvSpPr>
        <p:spPr>
          <a:xfrm>
            <a:off x="6324448" y="1828800"/>
            <a:ext cx="5318608" cy="1341628"/>
          </a:xfrm>
          <a:prstGeom prst="rect">
            <a:avLst/>
          </a:prstGeom>
          <a:solidFill>
            <a:srgbClr val="F3F4F6"/>
          </a:solidFill>
          <a:ln/>
        </p:spPr>
      </p:sp>
      <p:sp>
        <p:nvSpPr>
          <p:cNvPr id="11" name="Text 9"/>
          <p:cNvSpPr txBox="1"/>
          <p:nvPr/>
        </p:nvSpPr>
        <p:spPr>
          <a:xfrm>
            <a:off x="6507328" y="1975104"/>
            <a:ext cx="4952848" cy="1049020"/>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par_date = df.set_index("date").sort_index()</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par_date.loc["2025-07"]             # juillet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par_date.loc["2025-07":"2025-08"]   # l'été</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par_date.loc["2025-08-15"]          # un jour</a:t>
            </a:r>
            <a:endParaRPr lang="en-US" sz="1400" dirty="0"/>
          </a:p>
        </p:txBody>
      </p:sp>
      <p:sp>
        <p:nvSpPr>
          <p:cNvPr id="12" name="Text 10"/>
          <p:cNvSpPr txBox="1"/>
          <p:nvPr/>
        </p:nvSpPr>
        <p:spPr>
          <a:xfrm>
            <a:off x="6324448" y="3490468"/>
            <a:ext cx="531860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Une date partielle sélectionne toute la période : un mois, une année, une journée. </a:t>
            </a:r>
            <a:pPr indent="0" marL="0">
              <a:buNone/>
            </a:pPr>
            <a:r>
              <a:rPr lang="en-US" sz="1600" dirty="0">
                <a:solidFill>
                  <a:srgbClr val="1F3A5F"/>
                </a:solidFill>
                <a:latin typeface="Courier New" pitchFamily="34" charset="0"/>
                <a:ea typeface="Courier New" pitchFamily="34" charset="-122"/>
                <a:cs typeface="Courier New" pitchFamily="34" charset="-120"/>
              </a:rPr>
              <a:t>set_index</a:t>
            </a:r>
            <a:pPr indent="0" marL="0">
              <a:buNone/>
            </a:pPr>
            <a:r>
              <a:rPr lang="en-US" sz="1600" dirty="0">
                <a:solidFill>
                  <a:srgbClr val="6B7280"/>
                </a:solidFill>
                <a:latin typeface="Calibri" pitchFamily="34" charset="0"/>
                <a:ea typeface="Calibri" pitchFamily="34" charset="-122"/>
                <a:cs typeface="Calibri" pitchFamily="34" charset="-120"/>
              </a:rPr>
              <a:t> renvoie une nouvelle table : </a:t>
            </a:r>
            <a:pPr indent="0" marL="0">
              <a:buNone/>
            </a:pPr>
            <a:r>
              <a:rPr lang="en-US" sz="1600" dirty="0">
                <a:solidFill>
                  <a:srgbClr val="1F3A5F"/>
                </a:solidFill>
                <a:latin typeface="Courier New" pitchFamily="34" charset="0"/>
                <a:ea typeface="Courier New" pitchFamily="34" charset="-122"/>
                <a:cs typeface="Courier New" pitchFamily="34" charset="-120"/>
              </a:rPr>
              <a:t>df</a:t>
            </a:r>
            <a:pPr indent="0" marL="0">
              <a:buNone/>
            </a:pPr>
            <a:r>
              <a:rPr lang="en-US" sz="1600" dirty="0">
                <a:solidFill>
                  <a:srgbClr val="6B7280"/>
                </a:solidFill>
                <a:latin typeface="Calibri" pitchFamily="34" charset="0"/>
                <a:ea typeface="Calibri" pitchFamily="34" charset="-122"/>
                <a:cs typeface="Calibri" pitchFamily="34" charset="-120"/>
              </a:rPr>
              <a:t> garde sa colonne </a:t>
            </a:r>
            <a:pPr indent="0" marL="0">
              <a:buNone/>
            </a:pPr>
            <a:r>
              <a:rPr lang="en-US" sz="1600" dirty="0">
                <a:solidFill>
                  <a:srgbClr val="1F3A5F"/>
                </a:solidFill>
                <a:latin typeface="Courier New" pitchFamily="34" charset="0"/>
                <a:ea typeface="Courier New" pitchFamily="34" charset="-122"/>
                <a:cs typeface="Courier New" pitchFamily="34" charset="-120"/>
              </a:rPr>
              <a:t>date</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resample : regrouper par période</a:t>
            </a:r>
            <a:endParaRPr lang="en-US" sz="3000" dirty="0"/>
          </a:p>
        </p:txBody>
      </p:sp>
      <p:sp>
        <p:nvSpPr>
          <p:cNvPr id="6" name="Shape 4"/>
          <p:cNvSpPr/>
          <p:nvPr/>
        </p:nvSpPr>
        <p:spPr>
          <a:xfrm>
            <a:off x="548640" y="1417320"/>
            <a:ext cx="5802117" cy="1416558"/>
          </a:xfrm>
          <a:prstGeom prst="rect">
            <a:avLst/>
          </a:prstGeom>
          <a:solidFill>
            <a:srgbClr val="F3F4F6"/>
          </a:solidFill>
          <a:ln/>
        </p:spPr>
      </p:sp>
      <p:sp>
        <p:nvSpPr>
          <p:cNvPr id="7" name="Text 5"/>
          <p:cNvSpPr txBox="1"/>
          <p:nvPr/>
        </p:nvSpPr>
        <p:spPr>
          <a:xfrm>
            <a:off x="731520" y="1563624"/>
            <a:ext cx="5436357"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df.resample("MS", on="date")["montant"].sum()</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2025-01-01    43475</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2025-02-01    37830</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2025-03-01    53472</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t>
            </a:r>
            <a:endParaRPr lang="en-US" sz="1500" dirty="0"/>
          </a:p>
        </p:txBody>
      </p:sp>
      <p:sp>
        <p:nvSpPr>
          <p:cNvPr id="8" name="Text 6"/>
          <p:cNvSpPr txBox="1"/>
          <p:nvPr/>
        </p:nvSpPr>
        <p:spPr>
          <a:xfrm>
            <a:off x="548640" y="3153918"/>
            <a:ext cx="5802117"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Un </a:t>
            </a:r>
            <a:pPr indent="0" marL="0">
              <a:buNone/>
            </a:pPr>
            <a:r>
              <a:rPr lang="en-US" sz="1600" dirty="0">
                <a:solidFill>
                  <a:srgbClr val="1F3A5F"/>
                </a:solidFill>
                <a:latin typeface="Courier New" pitchFamily="34" charset="0"/>
                <a:ea typeface="Courier New" pitchFamily="34" charset="-122"/>
                <a:cs typeface="Courier New" pitchFamily="34" charset="-120"/>
              </a:rPr>
              <a:t>groupby</a:t>
            </a:r>
            <a:pPr indent="0" marL="0">
              <a:buNone/>
            </a:pPr>
            <a:r>
              <a:rPr lang="en-US" sz="1600" dirty="0">
                <a:solidFill>
                  <a:srgbClr val="6B7280"/>
                </a:solidFill>
                <a:latin typeface="Calibri" pitchFamily="34" charset="0"/>
                <a:ea typeface="Calibri" pitchFamily="34" charset="-122"/>
                <a:cs typeface="Calibri" pitchFamily="34" charset="-120"/>
              </a:rPr>
              <a:t> sur le temps, qui crée aussi les périodes sans données : indispensable pour une moyenne mobile juste.</a:t>
            </a:r>
            <a:endParaRPr lang="en-US" sz="1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654112"/>
                <a:gridCol w="3180985"/>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Période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jour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W</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semaine, finie le dimanche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MS</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mois : début, fin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QS</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QE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trimestre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YS</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YE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année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0" name="Shape 7"/>
          <p:cNvSpPr/>
          <p:nvPr/>
        </p:nvSpPr>
        <p:spPr>
          <a:xfrm>
            <a:off x="6807957" y="3929634"/>
            <a:ext cx="4835098" cy="883920"/>
          </a:xfrm>
          <a:prstGeom prst="roundRect">
            <a:avLst>
              <a:gd name="adj" fmla="val 6207"/>
            </a:avLst>
          </a:prstGeom>
          <a:solidFill>
            <a:srgbClr val="E8F3EE"/>
          </a:solidFill>
          <a:ln/>
        </p:spPr>
      </p:sp>
      <p:sp>
        <p:nvSpPr>
          <p:cNvPr id="11" name="Text 8"/>
          <p:cNvSpPr txBox="1"/>
          <p:nvPr/>
        </p:nvSpPr>
        <p:spPr>
          <a:xfrm>
            <a:off x="7082277" y="3929634"/>
            <a:ext cx="4286458"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Avec pandas 3, </a:t>
            </a:r>
            <a:pPr indent="0" marL="0">
              <a:buNone/>
            </a:pPr>
            <a:r>
              <a:rPr lang="en-US" sz="1700" dirty="0">
                <a:solidFill>
                  <a:srgbClr val="2F7D62"/>
                </a:solidFill>
                <a:latin typeface="Courier New" pitchFamily="34" charset="0"/>
                <a:ea typeface="Courier New" pitchFamily="34" charset="-122"/>
                <a:cs typeface="Courier New" pitchFamily="34" charset="-120"/>
              </a:rPr>
              <a:t>"M"</a:t>
            </a:r>
            <a:pPr indent="0" marL="0">
              <a:buNone/>
            </a:pPr>
            <a:r>
              <a:rPr lang="en-US" sz="1700" dirty="0">
                <a:solidFill>
                  <a:srgbClr val="1F3A5F"/>
                </a:solidFill>
                <a:latin typeface="Calibri" pitchFamily="34" charset="0"/>
                <a:ea typeface="Calibri" pitchFamily="34" charset="-122"/>
                <a:cs typeface="Calibri" pitchFamily="34" charset="-120"/>
              </a:rPr>
              <a:t> n'est plus accepté : il faut </a:t>
            </a:r>
            <a:pPr indent="0" marL="0">
              <a:buNone/>
            </a:pPr>
            <a:r>
              <a:rPr lang="en-US" sz="1700" dirty="0">
                <a:solidFill>
                  <a:srgbClr val="2F7D62"/>
                </a:solidFill>
                <a:latin typeface="Courier New" pitchFamily="34" charset="0"/>
                <a:ea typeface="Courier New" pitchFamily="34" charset="-122"/>
                <a:cs typeface="Courier New" pitchFamily="34" charset="-120"/>
              </a:rPr>
              <a:t>"MS"</a:t>
            </a:r>
            <a:pPr indent="0" marL="0">
              <a:buNone/>
            </a:pPr>
            <a:r>
              <a:rPr lang="en-US" sz="1700" dirty="0">
                <a:solidFill>
                  <a:srgbClr val="1F3A5F"/>
                </a:solidFill>
                <a:latin typeface="Calibri" pitchFamily="34" charset="0"/>
                <a:ea typeface="Calibri" pitchFamily="34" charset="-122"/>
                <a:cs typeface="Calibri" pitchFamily="34" charset="-120"/>
              </a:rPr>
              <a:t> ou </a:t>
            </a:r>
            <a:pPr indent="0" marL="0">
              <a:buNone/>
            </a:pPr>
            <a:r>
              <a:rPr lang="en-US" sz="1700" dirty="0">
                <a:solidFill>
                  <a:srgbClr val="2F7D62"/>
                </a:solidFill>
                <a:latin typeface="Courier New" pitchFamily="34" charset="0"/>
                <a:ea typeface="Courier New" pitchFamily="34" charset="-122"/>
                <a:cs typeface="Courier New" pitchFamily="34" charset="-120"/>
              </a:rPr>
              <a:t>"ME"</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2"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chiffre d'affaires mensuel</a:t>
            </a:r>
            <a:endParaRPr lang="en-US" sz="3000" dirty="0"/>
          </a:p>
        </p:txBody>
      </p:sp>
      <p:graphicFrame>
        <p:nvGraphicFramePr>
          <p:cNvPr id="6" name="Chart 0" descr=""/>
          <p:cNvGraphicFramePr/>
          <p:nvPr/>
        </p:nvGraphicFramePr>
        <p:xfrm>
          <a:off x="548640" y="1417320"/>
          <a:ext cx="11094415"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303520"/>
            <a:ext cx="11094415" cy="883920"/>
          </a:xfrm>
          <a:prstGeom prst="roundRect">
            <a:avLst>
              <a:gd name="adj" fmla="val 6207"/>
            </a:avLst>
          </a:prstGeom>
          <a:solidFill>
            <a:srgbClr val="E8F3EE"/>
          </a:solidFill>
          <a:ln/>
        </p:spPr>
      </p:sp>
      <p:sp>
        <p:nvSpPr>
          <p:cNvPr id="8" name="Text 5"/>
          <p:cNvSpPr txBox="1"/>
          <p:nvPr/>
        </p:nvSpPr>
        <p:spPr>
          <a:xfrm>
            <a:off x="822960" y="530352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Un creux en juillet et août, un pic à la rentrée : un indicateur mensuel se lit toujours avec la saisonnalité en tête.</a:t>
            </a:r>
            <a:endParaRPr lang="en-US" sz="1700" dirty="0"/>
          </a:p>
        </p:txBody>
      </p:sp>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Attention aux semaines incomplètes</a:t>
            </a:r>
            <a:endParaRPr lang="en-US" sz="3000" dirty="0"/>
          </a:p>
        </p:txBody>
      </p:sp>
      <p:sp>
        <p:nvSpPr>
          <p:cNvPr id="6" name="Shape 4"/>
          <p:cNvSpPr/>
          <p:nvPr/>
        </p:nvSpPr>
        <p:spPr>
          <a:xfrm>
            <a:off x="548640" y="1417320"/>
            <a:ext cx="5802117" cy="1641348"/>
          </a:xfrm>
          <a:prstGeom prst="rect">
            <a:avLst/>
          </a:prstGeom>
          <a:solidFill>
            <a:srgbClr val="F3F4F6"/>
          </a:solidFill>
          <a:ln/>
        </p:spPr>
      </p:sp>
      <p:sp>
        <p:nvSpPr>
          <p:cNvPr id="7" name="Text 5"/>
          <p:cNvSpPr txBox="1"/>
          <p:nvPr/>
        </p:nvSpPr>
        <p:spPr>
          <a:xfrm>
            <a:off x="731520" y="1563624"/>
            <a:ext cx="5436357"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df.resample("W", on="date")["montant"].sum()</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2025-01-05     4688</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2025-01-12    11482</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2025-09-28    11343</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2025-10-05     4595</a:t>
            </a:r>
            <a:endParaRPr lang="en-US" sz="1500" dirty="0"/>
          </a:p>
        </p:txBody>
      </p:sp>
      <p:sp>
        <p:nvSpPr>
          <p:cNvPr id="8" name="Text 6"/>
          <p:cNvSpPr txBox="1"/>
          <p:nvPr/>
        </p:nvSpPr>
        <p:spPr>
          <a:xfrm>
            <a:off x="6807957" y="1417320"/>
            <a:ext cx="4835098" cy="220980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Chaque semaine porte le label de son </a:t>
            </a:r>
            <a:pPr indent="0" marL="0">
              <a:buNone/>
            </a:pPr>
            <a:r>
              <a:rPr lang="en-US" sz="1700" b="1" dirty="0">
                <a:solidFill>
                  <a:srgbClr val="1F2933"/>
                </a:solidFill>
                <a:latin typeface="Calibri" pitchFamily="34" charset="0"/>
                <a:ea typeface="Calibri" pitchFamily="34" charset="-122"/>
                <a:cs typeface="Calibri" pitchFamily="34" charset="-120"/>
              </a:rPr>
              <a:t>dernier jour</a:t>
            </a:r>
            <a:pPr indent="0" marL="0">
              <a:buNone/>
            </a:pPr>
            <a:r>
              <a:rPr lang="en-US" sz="1700" dirty="0">
                <a:solidFill>
                  <a:srgbClr val="1F2933"/>
                </a:solidFill>
                <a:latin typeface="Calibri" pitchFamily="34" charset="0"/>
                <a:ea typeface="Calibri" pitchFamily="34" charset="-122"/>
                <a:cs typeface="Calibri" pitchFamily="34" charset="-120"/>
              </a:rPr>
              <a:t>, un dimanche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 première ne contient que 5 jours de données, du mercredi 1er au dimanche 5 janvier</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 dernière n'en contient que 2 : les 29 et 30 septembre</a:t>
            </a:r>
            <a:endParaRPr lang="en-US" sz="1700" dirty="0"/>
          </a:p>
        </p:txBody>
      </p:sp>
      <p:sp>
        <p:nvSpPr>
          <p:cNvPr id="9" name="Shape 7"/>
          <p:cNvSpPr/>
          <p:nvPr/>
        </p:nvSpPr>
        <p:spPr>
          <a:xfrm>
            <a:off x="548640" y="3947160"/>
            <a:ext cx="11094415" cy="883920"/>
          </a:xfrm>
          <a:prstGeom prst="roundRect">
            <a:avLst>
              <a:gd name="adj" fmla="val 6207"/>
            </a:avLst>
          </a:prstGeom>
          <a:solidFill>
            <a:srgbClr val="E8F3EE"/>
          </a:solidFill>
          <a:ln/>
        </p:spPr>
      </p:sp>
      <p:sp>
        <p:nvSpPr>
          <p:cNvPr id="10" name="Text 8"/>
          <p:cNvSpPr txBox="1"/>
          <p:nvPr/>
        </p:nvSpPr>
        <p:spPr>
          <a:xfrm>
            <a:off x="822960" y="394716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Les totaux de ces semaines incomplètes, plus faibles, ne se comparent pas à ceux des semaines complètes.</a:t>
            </a:r>
            <a:endParaRPr lang="en-US" sz="17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Comparer à la période précédente</a:t>
            </a:r>
            <a:endParaRPr lang="en-US" sz="3000" dirty="0"/>
          </a:p>
        </p:txBody>
      </p:sp>
      <p:sp>
        <p:nvSpPr>
          <p:cNvPr id="6" name="Shape 4"/>
          <p:cNvSpPr/>
          <p:nvPr/>
        </p:nvSpPr>
        <p:spPr>
          <a:xfrm>
            <a:off x="548640" y="1417320"/>
            <a:ext cx="11094415" cy="1416558"/>
          </a:xfrm>
          <a:prstGeom prst="rect">
            <a:avLst/>
          </a:prstGeom>
          <a:solidFill>
            <a:srgbClr val="F3F4F6"/>
          </a:solidFill>
          <a:ln/>
        </p:spPr>
      </p:sp>
      <p:sp>
        <p:nvSpPr>
          <p:cNvPr id="7" name="Text 5"/>
          <p:cNvSpPr txBox="1"/>
          <p:nvPr/>
        </p:nvSpPr>
        <p:spPr>
          <a:xfrm>
            <a:off x="731520" y="1563624"/>
            <a:ext cx="10728655"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ca_mensuel = df.resample("MS", on="date")["montant"].sum()</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ca_mensuel.shift(1)        # la valeur du mois précédent : la série décalée d'une ligne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ca_mensuel.diff()          # l'écart avec le mois précédent, en euros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ca_mensuel.pct_change()    # la variation relative : (mois - mois précédent) / mois précédent</a:t>
            </a:r>
            <a:endParaRPr lang="en-US" sz="15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3153918"/>
          <a:ext cx="5802117" cy="914400"/>
        </p:xfrm>
        <a:graphic>
          <a:graphicData uri="http://schemas.openxmlformats.org/drawingml/2006/table">
            <a:tbl>
              <a:tblPr/>
              <a:tblGrid>
                <a:gridCol w="1009064"/>
                <a:gridCol w="1261330"/>
                <a:gridCol w="1059517"/>
                <a:gridCol w="1009064"/>
                <a:gridCol w="1463143"/>
              </a:tblGrid>
              <a:tr h="336169">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ca_mensuel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shift(1)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diff()</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pct_change()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2025-01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43475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2025-07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31873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52363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-20490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-0.391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2025-08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27274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31873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-4599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-0.144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2025-09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58074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27274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30800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1.129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6807957" y="3153918"/>
            <a:ext cx="4835098" cy="143256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Janvier n'a pas de mois précédent : </a:t>
            </a:r>
            <a:pPr indent="0" marL="0">
              <a:buNone/>
            </a:pPr>
            <a:r>
              <a:rPr lang="en-US" sz="1700" dirty="0">
                <a:solidFill>
                  <a:srgbClr val="1F3A5F"/>
                </a:solidFill>
                <a:latin typeface="Courier New" pitchFamily="34" charset="0"/>
                <a:ea typeface="Courier New" pitchFamily="34" charset="-122"/>
                <a:cs typeface="Courier New" pitchFamily="34" charset="-120"/>
              </a:rPr>
              <a:t>NaN</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pct_change</a:t>
            </a:r>
            <a:pPr indent="0" marL="0">
              <a:buNone/>
            </a:pPr>
            <a:r>
              <a:rPr lang="en-US" sz="1700" dirty="0">
                <a:solidFill>
                  <a:srgbClr val="1F2933"/>
                </a:solidFill>
                <a:latin typeface="Calibri" pitchFamily="34" charset="0"/>
                <a:ea typeface="Calibri" pitchFamily="34" charset="-122"/>
                <a:cs typeface="Calibri" pitchFamily="34" charset="-120"/>
              </a:rPr>
              <a:t> renvoie une proportion : on la multiplie par 100 pour un pourcentage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Juillet : -39,1 %, septembre : +112,9 %</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rolling, expanding et cumuls</a:t>
            </a:r>
            <a:endParaRPr lang="en-US" sz="3000" dirty="0"/>
          </a:p>
        </p:txBody>
      </p:sp>
      <p:sp>
        <p:nvSpPr>
          <p:cNvPr id="6" name="Shape 4"/>
          <p:cNvSpPr/>
          <p:nvPr/>
        </p:nvSpPr>
        <p:spPr>
          <a:xfrm>
            <a:off x="548640" y="1417320"/>
            <a:ext cx="5802117" cy="2240788"/>
          </a:xfrm>
          <a:prstGeom prst="rect">
            <a:avLst/>
          </a:prstGeom>
          <a:solidFill>
            <a:srgbClr val="F3F4F6"/>
          </a:solidFill>
          <a:ln/>
        </p:spPr>
      </p:sp>
      <p:sp>
        <p:nvSpPr>
          <p:cNvPr id="7" name="Text 5"/>
          <p:cNvSpPr txBox="1"/>
          <p:nvPr/>
        </p:nvSpPr>
        <p:spPr>
          <a:xfrm>
            <a:off x="731520" y="1563624"/>
            <a:ext cx="5436357"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ca_jour = df.resample("D", on="date")["montant"].sum()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ca_jour.rolling(7).mean()     # 7 derniers jours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ca_jour.expanding().sum()     # cumul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ca_jour.cumsum()              # même résultat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à quelle date atteint-on 200 000 euros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cumul = ca_jour.cumsum()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cumul[cumul &gt;= 200_000].index[0]</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Timestamp('2025-05-08 00:00:00')</a:t>
            </a:r>
            <a:endParaRPr lang="en-US" sz="1300" dirty="0"/>
          </a:p>
        </p:txBody>
      </p:sp>
      <p:sp>
        <p:nvSpPr>
          <p:cNvPr id="8" name="Text 6"/>
          <p:cNvSpPr txBox="1"/>
          <p:nvPr/>
        </p:nvSpPr>
        <p:spPr>
          <a:xfrm>
            <a:off x="6807957" y="1417320"/>
            <a:ext cx="4835098" cy="257048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rolling(7)</a:t>
            </a:r>
            <a:pPr indent="0" marL="0">
              <a:buNone/>
            </a:pPr>
            <a:r>
              <a:rPr lang="en-US" sz="1700" dirty="0">
                <a:solidFill>
                  <a:srgbClr val="1F2933"/>
                </a:solidFill>
                <a:latin typeface="Calibri" pitchFamily="34" charset="0"/>
                <a:ea typeface="Calibri" pitchFamily="34" charset="-122"/>
                <a:cs typeface="Calibri" pitchFamily="34" charset="-120"/>
              </a:rPr>
              <a:t> : moyenne des 7 jours qui se terminent ce jour-là</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Les 6 premiers jours donnent </a:t>
            </a:r>
            <a:pPr indent="0" marL="0">
              <a:buNone/>
            </a:pPr>
            <a:r>
              <a:rPr lang="en-US" sz="1700" dirty="0">
                <a:solidFill>
                  <a:srgbClr val="1F3A5F"/>
                </a:solidFill>
                <a:latin typeface="Courier New" pitchFamily="34" charset="0"/>
                <a:ea typeface="Courier New" pitchFamily="34" charset="-122"/>
                <a:cs typeface="Courier New" pitchFamily="34" charset="-120"/>
              </a:rPr>
              <a:t>NaN</a:t>
            </a:r>
            <a:pPr indent="0" marL="0">
              <a:buNone/>
            </a:pPr>
            <a:r>
              <a:rPr lang="en-US" sz="1700" dirty="0">
                <a:solidFill>
                  <a:srgbClr val="1F2933"/>
                </a:solidFill>
                <a:latin typeface="Calibri" pitchFamily="34" charset="0"/>
                <a:ea typeface="Calibri" pitchFamily="34" charset="-122"/>
                <a:cs typeface="Calibri" pitchFamily="34" charset="-120"/>
              </a:rPr>
              <a:t>, faute d'historique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Une fenêtre de 7 jours efface l'effet du jour de la semaine</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expanding</a:t>
            </a:r>
            <a:pPr indent="0" marL="0">
              <a:buNone/>
            </a:pPr>
            <a:r>
              <a:rPr lang="en-US" sz="1700" dirty="0">
                <a:solidFill>
                  <a:srgbClr val="1F2933"/>
                </a:solidFill>
                <a:latin typeface="Calibri" pitchFamily="34" charset="0"/>
                <a:ea typeface="Calibri" pitchFamily="34" charset="-122"/>
                <a:cs typeface="Calibri" pitchFamily="34" charset="-120"/>
              </a:rPr>
              <a:t> : une fenêtre qui s'agrandit, pour les cumuls</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MANIPULER LES DATES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TP3, partie 4</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Manipuler les dates</a:t>
            </a:r>
            <a:endParaRPr lang="en-US" sz="1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18883"/>
                <a:gridCol w="8875532"/>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 programme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4.1 et 4.2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période couverte, jours distincts, jour de la semaine en français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4.3 et 4.4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filtres de dates, sélection par date partielle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4.5 et 4.6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les jours dans l'ordre avec </a:t>
                      </a:r>
                      <a:pPr indent="0" marL="0">
                        <a:buNone/>
                      </a:pPr>
                      <a:r>
                        <a:rPr lang="en-US" sz="1600" dirty="0">
                          <a:solidFill>
                            <a:srgbClr val="1F3A5F"/>
                          </a:solidFill>
                          <a:latin typeface="Courier New" pitchFamily="34" charset="0"/>
                          <a:ea typeface="Courier New" pitchFamily="34" charset="-122"/>
                          <a:cs typeface="Courier New" pitchFamily="34" charset="-120"/>
                        </a:rPr>
                        <a:t>reindex</a:t>
                      </a:r>
                      <a:pPr indent="0" marL="0">
                        <a:buNone/>
                      </a:pPr>
                      <a:r>
                        <a:rPr lang="en-US" sz="1600" dirty="0">
                          <a:solidFill>
                            <a:srgbClr val="1F2933"/>
                          </a:solidFill>
                          <a:latin typeface="Calibri" pitchFamily="34" charset="0"/>
                          <a:ea typeface="Calibri" pitchFamily="34" charset="-122"/>
                          <a:cs typeface="Calibri" pitchFamily="34" charset="-120"/>
                        </a:rPr>
                        <a:t>, le chiffre d'affaires mensuel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4.7 et 4.8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l'évolution avec </a:t>
                      </a:r>
                      <a:pPr indent="0" marL="0">
                        <a:buNone/>
                      </a:pPr>
                      <a:r>
                        <a:rPr lang="en-US" sz="1600" dirty="0">
                          <a:solidFill>
                            <a:srgbClr val="1F3A5F"/>
                          </a:solidFill>
                          <a:latin typeface="Courier New" pitchFamily="34" charset="0"/>
                          <a:ea typeface="Courier New" pitchFamily="34" charset="-122"/>
                          <a:cs typeface="Courier New" pitchFamily="34" charset="-120"/>
                        </a:rPr>
                        <a:t>shift</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pct_change</a:t>
                      </a:r>
                      <a:pPr indent="0" marL="0">
                        <a:buNone/>
                      </a:pPr>
                      <a:r>
                        <a:rPr lang="en-US" sz="1600" dirty="0">
                          <a:solidFill>
                            <a:srgbClr val="1F2933"/>
                          </a:solidFill>
                          <a:latin typeface="Calibri" pitchFamily="34" charset="0"/>
                          <a:ea typeface="Calibri" pitchFamily="34" charset="-122"/>
                          <a:cs typeface="Calibri" pitchFamily="34" charset="-120"/>
                        </a:rPr>
                        <a:t>, les semaines incomplètes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4.9 et 4.10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jours sans vente, moyenne mobile, seuil de 200 000 euros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611624"/>
            <a:ext cx="11094415" cy="624840"/>
          </a:xfrm>
          <a:prstGeom prst="roundRect">
            <a:avLst>
              <a:gd name="adj" fmla="val 8780"/>
            </a:avLst>
          </a:prstGeom>
          <a:solidFill>
            <a:srgbClr val="E8F3EE"/>
          </a:solidFill>
          <a:ln/>
        </p:spPr>
      </p:sp>
      <p:sp>
        <p:nvSpPr>
          <p:cNvPr id="9" name="Text 6"/>
          <p:cNvSpPr txBox="1"/>
          <p:nvPr/>
        </p:nvSpPr>
        <p:spPr>
          <a:xfrm>
            <a:off x="822960" y="4611624"/>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aller plus loin : 4.11, les dates du maximum et du minimum de la moyenne mobile.</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06</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Construire et exporter les indicateurs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Mois et région   |   Taux de réalisation   |   Export Parquet</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ET EXPORTER LES INDICATEURS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Une ligne par mois et par région</a:t>
            </a:r>
            <a:endParaRPr lang="en-US" sz="3000" dirty="0"/>
          </a:p>
        </p:txBody>
      </p:sp>
      <p:sp>
        <p:nvSpPr>
          <p:cNvPr id="6" name="Shape 4"/>
          <p:cNvSpPr/>
          <p:nvPr/>
        </p:nvSpPr>
        <p:spPr>
          <a:xfrm>
            <a:off x="548640" y="1417320"/>
            <a:ext cx="11094415" cy="2090928"/>
          </a:xfrm>
          <a:prstGeom prst="rect">
            <a:avLst/>
          </a:prstGeom>
          <a:solidFill>
            <a:srgbClr val="F3F4F6"/>
          </a:solidFill>
          <a:ln/>
        </p:spPr>
      </p:sp>
      <p:sp>
        <p:nvSpPr>
          <p:cNvPr id="7" name="Text 5"/>
          <p:cNvSpPr txBox="1"/>
          <p:nvPr/>
        </p:nvSpPr>
        <p:spPr>
          <a:xfrm>
            <a:off x="731520" y="1563624"/>
            <a:ext cx="10728655" cy="179832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indicateurs = df.groupby(["mois", "region"], as_index=False).agg(</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ca=("montant", "sum"),</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nb_commandes=("id_commande", "count"),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panier_moyen=("montant", "mean"),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quantite=("quantite", "sum"),</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objectif_mensuel=("objectif_mensuel", "first"),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indicateurs.shape    # (54, 7) : 9 mois x 6 régions</a:t>
            </a:r>
            <a:endParaRPr lang="en-US" sz="1500" dirty="0"/>
          </a:p>
        </p:txBody>
      </p:sp>
      <p:sp>
        <p:nvSpPr>
          <p:cNvPr id="8" name="Text 6"/>
          <p:cNvSpPr txBox="1"/>
          <p:nvPr/>
        </p:nvSpPr>
        <p:spPr>
          <a:xfrm>
            <a:off x="548640" y="3828288"/>
            <a:ext cx="5318608" cy="15900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first</a:t>
            </a:r>
            <a:pPr indent="0" marL="0">
              <a:buNone/>
            </a:pPr>
            <a:r>
              <a:rPr lang="en-US" sz="1700" dirty="0">
                <a:solidFill>
                  <a:srgbClr val="1F2933"/>
                </a:solidFill>
                <a:latin typeface="Calibri" pitchFamily="34" charset="0"/>
                <a:ea typeface="Calibri" pitchFamily="34" charset="-122"/>
                <a:cs typeface="Calibri" pitchFamily="34" charset="-120"/>
              </a:rPr>
              <a:t> prend la première valeur de chaque groupe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Elle convient à une valeur identique sur tout le groupe, comme l'objectif mensuel d'une région</a:t>
            </a:r>
            <a:endParaRPr lang="en-US" sz="1700" dirty="0"/>
          </a:p>
        </p:txBody>
      </p:sp>
      <p:sp>
        <p:nvSpPr>
          <p:cNvPr id="9" name="Shape 7"/>
          <p:cNvSpPr/>
          <p:nvPr/>
        </p:nvSpPr>
        <p:spPr>
          <a:xfrm>
            <a:off x="6324448" y="3828288"/>
            <a:ext cx="5318608" cy="1143000"/>
          </a:xfrm>
          <a:prstGeom prst="roundRect">
            <a:avLst>
              <a:gd name="adj" fmla="val 4800"/>
            </a:avLst>
          </a:prstGeom>
          <a:solidFill>
            <a:srgbClr val="E8F3EE"/>
          </a:solidFill>
          <a:ln/>
        </p:spPr>
      </p:sp>
      <p:sp>
        <p:nvSpPr>
          <p:cNvPr id="10" name="Text 8"/>
          <p:cNvSpPr txBox="1"/>
          <p:nvPr/>
        </p:nvSpPr>
        <p:spPr>
          <a:xfrm>
            <a:off x="6598768" y="3828288"/>
            <a:ext cx="4769968"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Contrôle : la somme de </a:t>
            </a:r>
            <a:pPr indent="0" marL="0">
              <a:buNone/>
            </a:pPr>
            <a:r>
              <a:rPr lang="en-US" sz="1700" dirty="0">
                <a:solidFill>
                  <a:srgbClr val="2F7D62"/>
                </a:solidFill>
                <a:latin typeface="Courier New" pitchFamily="34" charset="0"/>
                <a:ea typeface="Courier New" pitchFamily="34" charset="-122"/>
                <a:cs typeface="Courier New" pitchFamily="34" charset="-120"/>
              </a:rPr>
              <a:t>ca</a:t>
            </a:r>
            <a:pPr indent="0" marL="0">
              <a:buNone/>
            </a:pPr>
            <a:r>
              <a:rPr lang="en-US" sz="1700" dirty="0">
                <a:solidFill>
                  <a:srgbClr val="1F3A5F"/>
                </a:solidFill>
                <a:latin typeface="Calibri" pitchFamily="34" charset="0"/>
                <a:ea typeface="Calibri" pitchFamily="34" charset="-122"/>
                <a:cs typeface="Calibri" pitchFamily="34" charset="-120"/>
              </a:rPr>
              <a:t> égale le chiffre d'affaires total, celle de </a:t>
            </a:r>
            <a:pPr indent="0" marL="0">
              <a:buNone/>
            </a:pPr>
            <a:r>
              <a:rPr lang="en-US" sz="1700" dirty="0">
                <a:solidFill>
                  <a:srgbClr val="2F7D62"/>
                </a:solidFill>
                <a:latin typeface="Courier New" pitchFamily="34" charset="0"/>
                <a:ea typeface="Courier New" pitchFamily="34" charset="-122"/>
                <a:cs typeface="Courier New" pitchFamily="34" charset="-120"/>
              </a:rPr>
              <a:t>nb_commandes</a:t>
            </a:r>
            <a:pPr indent="0" marL="0">
              <a:buNone/>
            </a:pPr>
            <a:r>
              <a:rPr lang="en-US" sz="1700" dirty="0">
                <a:solidFill>
                  <a:srgbClr val="1F3A5F"/>
                </a:solidFill>
                <a:latin typeface="Calibri" pitchFamily="34" charset="0"/>
                <a:ea typeface="Calibri" pitchFamily="34" charset="-122"/>
                <a:cs typeface="Calibri" pitchFamily="34" charset="-120"/>
              </a:rPr>
              <a:t> le nombre de ventes.</a:t>
            </a:r>
            <a:endParaRPr lang="en-US" sz="17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ET EXPORTER LES INDICATEURS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Des indicateurs calculés</a:t>
            </a:r>
            <a:endParaRPr lang="en-US" sz="3000" dirty="0"/>
          </a:p>
        </p:txBody>
      </p:sp>
      <p:sp>
        <p:nvSpPr>
          <p:cNvPr id="6" name="Shape 4"/>
          <p:cNvSpPr/>
          <p:nvPr/>
        </p:nvSpPr>
        <p:spPr>
          <a:xfrm>
            <a:off x="548640" y="1417320"/>
            <a:ext cx="11094415" cy="1971040"/>
          </a:xfrm>
          <a:prstGeom prst="rect">
            <a:avLst/>
          </a:prstGeom>
          <a:solidFill>
            <a:srgbClr val="F3F4F6"/>
          </a:solidFill>
          <a:ln/>
        </p:spPr>
      </p:sp>
      <p:sp>
        <p:nvSpPr>
          <p:cNvPr id="7" name="Text 5"/>
          <p:cNvSpPr txBox="1"/>
          <p:nvPr/>
        </p:nvSpPr>
        <p:spPr>
          <a:xfrm>
            <a:off x="731520" y="1563624"/>
            <a:ext cx="10728655" cy="167843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indicateurs["taux_realisation"] = indicateurs["ca"] / indicateurs["objectif_mensuel"]</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indicateurs.nlargest(3, "taux_realisation")     # les 3 meilleures combinaisons de mois et de région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indicateurs.nsmallest(3, "taux_realisation")    # les 3 moins bonnes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un calcul intermédiaire, sans modifier la table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indicateurs.assign(atteint=indicateurs["taux_realisation"] &gt;= 1).groupby("region")["atteint"].sum()</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nombre de mois où l'objectif est atteint : 6 en Île-de-France, 2 en Occitanie...</a:t>
            </a:r>
            <a:endParaRPr lang="en-US" sz="1400" dirty="0"/>
          </a:p>
        </p:txBody>
      </p:sp>
      <p:sp>
        <p:nvSpPr>
          <p:cNvPr id="8" name="Text 6"/>
          <p:cNvSpPr txBox="1"/>
          <p:nvPr/>
        </p:nvSpPr>
        <p:spPr>
          <a:xfrm>
            <a:off x="548640" y="3708400"/>
            <a:ext cx="5318608" cy="133096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 ratio se calcule </a:t>
            </a:r>
            <a:pPr indent="0" marL="0">
              <a:buNone/>
            </a:pPr>
            <a:r>
              <a:rPr lang="en-US" sz="1700" b="1" dirty="0">
                <a:solidFill>
                  <a:srgbClr val="1F2933"/>
                </a:solidFill>
                <a:latin typeface="Calibri" pitchFamily="34" charset="0"/>
                <a:ea typeface="Calibri" pitchFamily="34" charset="-122"/>
                <a:cs typeface="Calibri" pitchFamily="34" charset="-120"/>
              </a:rPr>
              <a:t>après</a:t>
            </a:r>
            <a:pPr indent="0" marL="0">
              <a:buNone/>
            </a:pPr>
            <a:r>
              <a:rPr lang="en-US" sz="1700" dirty="0">
                <a:solidFill>
                  <a:srgbClr val="1F2933"/>
                </a:solidFill>
                <a:latin typeface="Calibri" pitchFamily="34" charset="0"/>
                <a:ea typeface="Calibri" pitchFamily="34" charset="-122"/>
                <a:cs typeface="Calibri" pitchFamily="34" charset="-120"/>
              </a:rPr>
              <a:t> l'agrégation, à partir des totaux</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assign</a:t>
            </a:r>
            <a:pPr indent="0" marL="0">
              <a:buNone/>
            </a:pPr>
            <a:r>
              <a:rPr lang="en-US" sz="1700" dirty="0">
                <a:solidFill>
                  <a:srgbClr val="1F2933"/>
                </a:solidFill>
                <a:latin typeface="Calibri" pitchFamily="34" charset="0"/>
                <a:ea typeface="Calibri" pitchFamily="34" charset="-122"/>
                <a:cs typeface="Calibri" pitchFamily="34" charset="-120"/>
              </a:rPr>
              <a:t> travaille sur une copie : la table garde exactement les colonnes prévues</a:t>
            </a:r>
            <a:endParaRPr lang="en-US" sz="1700" dirty="0"/>
          </a:p>
        </p:txBody>
      </p:sp>
      <p:sp>
        <p:nvSpPr>
          <p:cNvPr id="9" name="Text 7"/>
          <p:cNvSpPr txBox="1"/>
          <p:nvPr/>
        </p:nvSpPr>
        <p:spPr>
          <a:xfrm>
            <a:off x="6324448" y="370840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L'évolution dans chaque région</a:t>
            </a:r>
            <a:endParaRPr lang="en-US" sz="1700" dirty="0"/>
          </a:p>
        </p:txBody>
      </p:sp>
      <p:sp>
        <p:nvSpPr>
          <p:cNvPr id="10" name="Shape 8"/>
          <p:cNvSpPr/>
          <p:nvPr/>
        </p:nvSpPr>
        <p:spPr>
          <a:xfrm>
            <a:off x="6324448" y="4119880"/>
            <a:ext cx="5318608" cy="487426"/>
          </a:xfrm>
          <a:prstGeom prst="rect">
            <a:avLst/>
          </a:prstGeom>
          <a:solidFill>
            <a:srgbClr val="F3F4F6"/>
          </a:solidFill>
          <a:ln/>
        </p:spPr>
      </p:sp>
      <p:sp>
        <p:nvSpPr>
          <p:cNvPr id="11" name="Text 9"/>
          <p:cNvSpPr txBox="1"/>
          <p:nvPr/>
        </p:nvSpPr>
        <p:spPr>
          <a:xfrm>
            <a:off x="6507328" y="4266184"/>
            <a:ext cx="4952848" cy="19481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indicateurs.groupby("region")["ca"].pct_change()</a:t>
            </a:r>
            <a:endParaRPr lang="en-US" sz="1300" dirty="0"/>
          </a:p>
        </p:txBody>
      </p:sp>
      <p:sp>
        <p:nvSpPr>
          <p:cNvPr id="12" name="Text 10"/>
          <p:cNvSpPr txBox="1"/>
          <p:nvPr/>
        </p:nvSpPr>
        <p:spPr>
          <a:xfrm>
            <a:off x="6324448" y="4927346"/>
            <a:ext cx="5318608"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Chaque mois est comparé au mois précédent de la même région, pas à la ligne précédente du tableau.</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ET EXPORTER LES INDICATEURS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Exporter, puis relire</a:t>
            </a:r>
            <a:endParaRPr lang="en-US" sz="3000" dirty="0"/>
          </a:p>
        </p:txBody>
      </p:sp>
      <p:sp>
        <p:nvSpPr>
          <p:cNvPr id="6" name="Shape 4"/>
          <p:cNvSpPr/>
          <p:nvPr/>
        </p:nvSpPr>
        <p:spPr>
          <a:xfrm>
            <a:off x="548640" y="1417320"/>
            <a:ext cx="11094415" cy="2090928"/>
          </a:xfrm>
          <a:prstGeom prst="rect">
            <a:avLst/>
          </a:prstGeom>
          <a:solidFill>
            <a:srgbClr val="F3F4F6"/>
          </a:solidFill>
          <a:ln/>
        </p:spPr>
      </p:sp>
      <p:sp>
        <p:nvSpPr>
          <p:cNvPr id="7" name="Text 5"/>
          <p:cNvSpPr txBox="1"/>
          <p:nvPr/>
        </p:nvSpPr>
        <p:spPr>
          <a:xfrm>
            <a:off x="731520" y="1563624"/>
            <a:ext cx="10728655" cy="1798320"/>
          </a:xfrm>
          <a:prstGeom prst="rect">
            <a:avLst/>
          </a:prstGeom>
          <a:noFill/>
          <a:ln/>
        </p:spPr>
        <p:txBody>
          <a:bodyPr wrap="square" lIns="0" tIns="0" rIns="0" bIns="0" rtlCol="0" anchor="t"/>
          <a:lstStyle/>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le type période est propre à pandas : on le convertit en date du premier jour du mois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indicateurs_export = indicateurs.assign(mois=indicateurs["mois"].dt.to_timestamp())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indicateurs_export.to_parquet("indicateurs_mois_region.parquet", index=False)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relire le fichier produit pour le contrôler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relu = pd.read_parquet("indicateurs_mois_region.parquet")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relu.shape     # (54, 8)</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relu.dtypes    # mois en datetime64, region en str, les indicateurs en nombres</a:t>
            </a:r>
            <a:endParaRPr lang="en-US" sz="1500" dirty="0"/>
          </a:p>
        </p:txBody>
      </p:sp>
      <p:sp>
        <p:nvSpPr>
          <p:cNvPr id="8" name="Text 6"/>
          <p:cNvSpPr txBox="1"/>
          <p:nvPr/>
        </p:nvSpPr>
        <p:spPr>
          <a:xfrm>
            <a:off x="548640" y="3828288"/>
            <a:ext cx="11094415" cy="117348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Tous les outils ne savent pas lire le type période : </a:t>
            </a:r>
            <a:pPr indent="0" marL="0">
              <a:buNone/>
            </a:pPr>
            <a:r>
              <a:rPr lang="en-US" sz="1700" dirty="0">
                <a:solidFill>
                  <a:srgbClr val="1F3A5F"/>
                </a:solidFill>
                <a:latin typeface="Courier New" pitchFamily="34" charset="0"/>
                <a:ea typeface="Courier New" pitchFamily="34" charset="-122"/>
                <a:cs typeface="Courier New" pitchFamily="34" charset="-120"/>
              </a:rPr>
              <a:t>.dt.to_timestamp()</a:t>
            </a:r>
            <a:pPr indent="0" marL="0">
              <a:buNone/>
            </a:pPr>
            <a:r>
              <a:rPr lang="en-US" sz="1700" dirty="0">
                <a:solidFill>
                  <a:srgbClr val="1F2933"/>
                </a:solidFill>
                <a:latin typeface="Calibri" pitchFamily="34" charset="0"/>
                <a:ea typeface="Calibri" pitchFamily="34" charset="-122"/>
                <a:cs typeface="Calibri" pitchFamily="34" charset="-120"/>
              </a:rPr>
              <a:t> en fait une date</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assign</a:t>
            </a:r>
            <a:pPr indent="0" marL="0">
              <a:buNone/>
            </a:pPr>
            <a:r>
              <a:rPr lang="en-US" sz="1700" dirty="0">
                <a:solidFill>
                  <a:srgbClr val="1F2933"/>
                </a:solidFill>
                <a:latin typeface="Calibri" pitchFamily="34" charset="0"/>
                <a:ea typeface="Calibri" pitchFamily="34" charset="-122"/>
                <a:cs typeface="Calibri" pitchFamily="34" charset="-120"/>
              </a:rPr>
              <a:t> convertit sur une copie : </a:t>
            </a:r>
            <a:pPr indent="0" marL="0">
              <a:buNone/>
            </a:pPr>
            <a:r>
              <a:rPr lang="en-US" sz="1700" dirty="0">
                <a:solidFill>
                  <a:srgbClr val="1F3A5F"/>
                </a:solidFill>
                <a:latin typeface="Courier New" pitchFamily="34" charset="0"/>
                <a:ea typeface="Courier New" pitchFamily="34" charset="-122"/>
                <a:cs typeface="Courier New" pitchFamily="34" charset="-120"/>
              </a:rPr>
              <a:t>indicateurs</a:t>
            </a:r>
            <a:pPr indent="0" marL="0">
              <a:buNone/>
            </a:pPr>
            <a:r>
              <a:rPr lang="en-US" sz="1700" dirty="0">
                <a:solidFill>
                  <a:srgbClr val="1F2933"/>
                </a:solidFill>
                <a:latin typeface="Calibri" pitchFamily="34" charset="0"/>
                <a:ea typeface="Calibri" pitchFamily="34" charset="-122"/>
                <a:cs typeface="Calibri" pitchFamily="34" charset="-120"/>
              </a:rPr>
              <a:t> garde sa colonne </a:t>
            </a:r>
            <a:pPr indent="0" marL="0">
              <a:buNone/>
            </a:pPr>
            <a:r>
              <a:rPr lang="en-US" sz="1700" dirty="0">
                <a:solidFill>
                  <a:srgbClr val="1F3A5F"/>
                </a:solidFill>
                <a:latin typeface="Courier New" pitchFamily="34" charset="0"/>
                <a:ea typeface="Courier New" pitchFamily="34" charset="-122"/>
                <a:cs typeface="Courier New" pitchFamily="34" charset="-120"/>
              </a:rPr>
              <a:t>mois</a:t>
            </a:r>
            <a:pPr indent="0" marL="0">
              <a:buNone/>
            </a:pPr>
            <a:r>
              <a:rPr lang="en-US" sz="1700" dirty="0">
                <a:solidFill>
                  <a:srgbClr val="1F2933"/>
                </a:solidFill>
                <a:latin typeface="Calibri" pitchFamily="34" charset="0"/>
                <a:ea typeface="Calibri" pitchFamily="34" charset="-122"/>
                <a:cs typeface="Calibri" pitchFamily="34" charset="-120"/>
              </a:rPr>
              <a:t> en période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On termine toujours en relisant le fichier : forme, colonnes et types</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ET EXPORTER LES INDICATEURS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Choisir les colonnes exportées</a:t>
            </a:r>
            <a:endParaRPr lang="en-US" sz="3000" dirty="0"/>
          </a:p>
        </p:txBody>
      </p:sp>
      <p:sp>
        <p:nvSpPr>
          <p:cNvPr id="6" name="Shape 4"/>
          <p:cNvSpPr/>
          <p:nvPr/>
        </p:nvSpPr>
        <p:spPr>
          <a:xfrm>
            <a:off x="548640" y="1417320"/>
            <a:ext cx="11094415" cy="1641348"/>
          </a:xfrm>
          <a:prstGeom prst="rect">
            <a:avLst/>
          </a:prstGeom>
          <a:solidFill>
            <a:srgbClr val="F3F4F6"/>
          </a:solidFill>
          <a:ln/>
        </p:spPr>
      </p:sp>
      <p:sp>
        <p:nvSpPr>
          <p:cNvPr id="7" name="Text 5"/>
          <p:cNvSpPr txBox="1"/>
          <p:nvPr/>
        </p:nvSpPr>
        <p:spPr>
          <a:xfrm>
            <a:off x="731520" y="1563624"/>
            <a:ext cx="10728655"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colonnes_ventes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"id_commande", "date", "code_region", "id_produit", "quantite", "prix_unitaire",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"client_fidele", "fichier", "produit", "categorie", "prix_catalogue", "region",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"objectif_mensuel", "montant", "jour",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df[colonnes_ventes].to_parquet("ventes_consolidees.parquet", index=False)</a:t>
            </a:r>
            <a:endParaRPr lang="en-US" sz="1500" dirty="0"/>
          </a:p>
        </p:txBody>
      </p:sp>
      <p:sp>
        <p:nvSpPr>
          <p:cNvPr id="8" name="Shape 6"/>
          <p:cNvSpPr/>
          <p:nvPr/>
        </p:nvSpPr>
        <p:spPr>
          <a:xfrm>
            <a:off x="548640" y="3378708"/>
            <a:ext cx="11094415" cy="883920"/>
          </a:xfrm>
          <a:prstGeom prst="roundRect">
            <a:avLst>
              <a:gd name="adj" fmla="val 6207"/>
            </a:avLst>
          </a:prstGeom>
          <a:solidFill>
            <a:srgbClr val="E8F3EE"/>
          </a:solidFill>
          <a:ln/>
        </p:spPr>
      </p:sp>
      <p:sp>
        <p:nvSpPr>
          <p:cNvPr id="9" name="Text 7"/>
          <p:cNvSpPr txBox="1"/>
          <p:nvPr/>
        </p:nvSpPr>
        <p:spPr>
          <a:xfrm>
            <a:off x="822960" y="337870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Une table exportée est un contrat : le tableau de bord de cet après-midi attend des colonnes précises, dans un ordre précis.</a:t>
            </a:r>
            <a:endParaRPr lang="en-US" sz="1700" dirty="0"/>
          </a:p>
        </p:txBody>
      </p:sp>
      <p:sp>
        <p:nvSpPr>
          <p:cNvPr id="10" name="Text 8"/>
          <p:cNvSpPr txBox="1"/>
          <p:nvPr/>
        </p:nvSpPr>
        <p:spPr>
          <a:xfrm>
            <a:off x="548640" y="4582668"/>
            <a:ext cx="11094415" cy="38100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La liste explicite écarte les colonnes de travail créées en cours de route (</a:t>
            </a:r>
            <a:pPr indent="0" marL="0">
              <a:buNone/>
            </a:pPr>
            <a:r>
              <a:rPr lang="en-US" sz="1600" dirty="0">
                <a:solidFill>
                  <a:srgbClr val="1F3A5F"/>
                </a:solidFill>
                <a:latin typeface="Courier New" pitchFamily="34" charset="0"/>
                <a:ea typeface="Courier New" pitchFamily="34" charset="-122"/>
                <a:cs typeface="Courier New" pitchFamily="34" charset="-120"/>
              </a:rPr>
              <a:t>mois</a:t>
            </a:r>
            <a:pPr indent="0" marL="0">
              <a:buNone/>
            </a:pPr>
            <a:r>
              <a:rPr lang="en-US" sz="1600" dirty="0">
                <a:solidFill>
                  <a:srgbClr val="6B7280"/>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part_ca_region</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ET EXPORTER LES INDICATEURS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TP3, partie 5</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La table d'indicateurs par mois et par région, puis la synthèse</a:t>
            </a:r>
            <a:endParaRPr lang="en-US" sz="1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18883"/>
                <a:gridCol w="8875532"/>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 programme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la table </a:t>
                      </a:r>
                      <a:pPr indent="0" marL="0">
                        <a:buNone/>
                      </a:pPr>
                      <a:r>
                        <a:rPr lang="en-US" sz="1600" dirty="0">
                          <a:solidFill>
                            <a:srgbClr val="1F3A5F"/>
                          </a:solidFill>
                          <a:latin typeface="Courier New" pitchFamily="34" charset="0"/>
                          <a:ea typeface="Courier New" pitchFamily="34" charset="-122"/>
                          <a:cs typeface="Courier New" pitchFamily="34" charset="-120"/>
                        </a:rPr>
                        <a:t>indicateurs</a:t>
                      </a:r>
                      <a:pPr indent="0" marL="0">
                        <a:buNone/>
                      </a:pPr>
                      <a:r>
                        <a:rPr lang="en-US" sz="1600" dirty="0">
                          <a:solidFill>
                            <a:srgbClr val="1F2933"/>
                          </a:solidFill>
                          <a:latin typeface="Calibri" pitchFamily="34" charset="0"/>
                          <a:ea typeface="Calibri" pitchFamily="34" charset="-122"/>
                          <a:cs typeface="Calibri" pitchFamily="34" charset="-120"/>
                        </a:rPr>
                        <a:t> : 54 lignes, 7 colonnes dans l'ordre imposé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5.2 et 5.3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taux de réalisation, mois où l'objectif est atteint, bilan des neuf mois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5.4 et 5.5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export des deux fichiers Parquet, puis relecture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Synthèse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trois ou quatre constats tirés des indicateurs, pour la direction commerciale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Shape 5"/>
          <p:cNvSpPr/>
          <p:nvPr/>
        </p:nvSpPr>
        <p:spPr>
          <a:xfrm>
            <a:off x="548640" y="4231640"/>
            <a:ext cx="11094415" cy="624840"/>
          </a:xfrm>
          <a:prstGeom prst="roundRect">
            <a:avLst>
              <a:gd name="adj" fmla="val 8780"/>
            </a:avLst>
          </a:prstGeom>
          <a:solidFill>
            <a:srgbClr val="E8F3EE"/>
          </a:solidFill>
          <a:ln/>
        </p:spPr>
      </p:sp>
      <p:sp>
        <p:nvSpPr>
          <p:cNvPr id="9" name="Text 6"/>
          <p:cNvSpPr txBox="1"/>
          <p:nvPr/>
        </p:nvSpPr>
        <p:spPr>
          <a:xfrm>
            <a:off x="822960" y="42316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aller plus loin : 5.6 (</a:t>
            </a:r>
            <a:pPr indent="0" marL="0">
              <a:buNone/>
            </a:pPr>
            <a:r>
              <a:rPr lang="en-US" sz="1700" dirty="0">
                <a:solidFill>
                  <a:srgbClr val="2F7D62"/>
                </a:solidFill>
                <a:latin typeface="Courier New" pitchFamily="34" charset="0"/>
                <a:ea typeface="Courier New" pitchFamily="34" charset="-122"/>
                <a:cs typeface="Courier New" pitchFamily="34" charset="-120"/>
              </a:rPr>
              <a:t>nlargest</a:t>
            </a:r>
            <a:pPr indent="0" marL="0">
              <a:buNone/>
            </a:pPr>
            <a:r>
              <a:rPr lang="en-US" sz="1700" dirty="0">
                <a:solidFill>
                  <a:srgbClr val="1F3A5F"/>
                </a:solidFill>
                <a:latin typeface="Calibri" pitchFamily="34" charset="0"/>
                <a:ea typeface="Calibri" pitchFamily="34" charset="-122"/>
                <a:cs typeface="Calibri" pitchFamily="34" charset="-120"/>
              </a:rPr>
              <a:t> et </a:t>
            </a:r>
            <a:pPr indent="0" marL="0">
              <a:buNone/>
            </a:pPr>
            <a:r>
              <a:rPr lang="en-US" sz="1700" dirty="0">
                <a:solidFill>
                  <a:srgbClr val="2F7D62"/>
                </a:solidFill>
                <a:latin typeface="Courier New" pitchFamily="34" charset="0"/>
                <a:ea typeface="Courier New" pitchFamily="34" charset="-122"/>
                <a:cs typeface="Courier New" pitchFamily="34" charset="-120"/>
              </a:rPr>
              <a:t>nsmallest</a:t>
            </a:r>
            <a:pPr indent="0" marL="0">
              <a:buNone/>
            </a:pPr>
            <a:r>
              <a:rPr lang="en-US" sz="1700" dirty="0">
                <a:solidFill>
                  <a:srgbClr val="1F3A5F"/>
                </a:solidFill>
                <a:latin typeface="Calibri" pitchFamily="34" charset="0"/>
                <a:ea typeface="Calibri" pitchFamily="34" charset="-122"/>
                <a:cs typeface="Calibri" pitchFamily="34" charset="-120"/>
              </a:rPr>
              <a:t>) et 5.7 (l'évolution dans chaque région).</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TP3 : construction d'indicateurs consolidés</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Dans le notebook exercices/tp03-indicateurs/tp03.ipynb, complété au fil de la matinée</a:t>
            </a:r>
            <a:endParaRPr lang="en-US" sz="1800" dirty="0"/>
          </a:p>
        </p:txBody>
      </p:sp>
      <p:sp>
        <p:nvSpPr>
          <p:cNvPr id="6" name="Shape 4"/>
          <p:cNvSpPr/>
          <p:nvPr/>
        </p:nvSpPr>
        <p:spPr>
          <a:xfrm>
            <a:off x="548640" y="2011680"/>
            <a:ext cx="3515258" cy="2331720"/>
          </a:xfrm>
          <a:prstGeom prst="roundRect">
            <a:avLst>
              <a:gd name="adj" fmla="val 3137"/>
            </a:avLst>
          </a:prstGeom>
          <a:solidFill>
            <a:srgbClr val="EEF3F7"/>
          </a:solidFill>
          <a:ln/>
        </p:spPr>
      </p:sp>
      <p:sp>
        <p:nvSpPr>
          <p:cNvPr id="7" name="Shape 5"/>
          <p:cNvSpPr/>
          <p:nvPr/>
        </p:nvSpPr>
        <p:spPr>
          <a:xfrm>
            <a:off x="777240" y="2286000"/>
            <a:ext cx="402336" cy="402336"/>
          </a:xfrm>
          <a:prstGeom prst="ellipse">
            <a:avLst/>
          </a:prstGeom>
          <a:solidFill>
            <a:srgbClr val="2F7D62"/>
          </a:solidFill>
          <a:ln/>
        </p:spPr>
      </p:sp>
      <p:sp>
        <p:nvSpPr>
          <p:cNvPr id="8" name="Text 6"/>
          <p:cNvSpPr txBox="1"/>
          <p:nvPr/>
        </p:nvSpPr>
        <p:spPr>
          <a:xfrm>
            <a:off x="777240"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Assembler</a:t>
            </a:r>
            <a:endParaRPr lang="en-US" sz="1800" dirty="0"/>
          </a:p>
        </p:txBody>
      </p:sp>
      <p:sp>
        <p:nvSpPr>
          <p:cNvPr id="10" name="Text 8"/>
          <p:cNvSpPr txBox="1"/>
          <p:nvPr/>
        </p:nvSpPr>
        <p:spPr>
          <a:xfrm>
            <a:off x="777240"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Parties 1 et 2 : parcourir le dossier, empiler les 9 fichiers, joindre produits et régions en contrôlant chaque étape.</a:t>
            </a:r>
            <a:endParaRPr lang="en-US" sz="1500" dirty="0"/>
          </a:p>
        </p:txBody>
      </p:sp>
      <p:sp>
        <p:nvSpPr>
          <p:cNvPr id="11" name="Shape 9"/>
          <p:cNvSpPr/>
          <p:nvPr/>
        </p:nvSpPr>
        <p:spPr>
          <a:xfrm>
            <a:off x="4338218" y="2011680"/>
            <a:ext cx="3515258" cy="2331720"/>
          </a:xfrm>
          <a:prstGeom prst="roundRect">
            <a:avLst>
              <a:gd name="adj" fmla="val 3137"/>
            </a:avLst>
          </a:prstGeom>
          <a:solidFill>
            <a:srgbClr val="EEF3F7"/>
          </a:solidFill>
          <a:ln/>
        </p:spPr>
      </p:sp>
      <p:sp>
        <p:nvSpPr>
          <p:cNvPr id="12" name="Shape 10"/>
          <p:cNvSpPr/>
          <p:nvPr/>
        </p:nvSpPr>
        <p:spPr>
          <a:xfrm>
            <a:off x="4566818" y="2286000"/>
            <a:ext cx="402336" cy="402336"/>
          </a:xfrm>
          <a:prstGeom prst="ellipse">
            <a:avLst/>
          </a:prstGeom>
          <a:solidFill>
            <a:srgbClr val="2F7D62"/>
          </a:solidFill>
          <a:ln/>
        </p:spPr>
      </p:sp>
      <p:sp>
        <p:nvSpPr>
          <p:cNvPr id="13" name="Text 11"/>
          <p:cNvSpPr txBox="1"/>
          <p:nvPr/>
        </p:nvSpPr>
        <p:spPr>
          <a:xfrm>
            <a:off x="4566818"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Calculer</a:t>
            </a:r>
            <a:endParaRPr lang="en-US" sz="1800" dirty="0"/>
          </a:p>
        </p:txBody>
      </p:sp>
      <p:sp>
        <p:nvSpPr>
          <p:cNvPr id="15" name="Text 13"/>
          <p:cNvSpPr txBox="1"/>
          <p:nvPr/>
        </p:nvSpPr>
        <p:spPr>
          <a:xfrm>
            <a:off x="4566818"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Parties 3 et 4 : agrégations, tableaux croisés, dates, évolutions d'un mois sur l'autre et moyennes mobiles.</a:t>
            </a:r>
            <a:endParaRPr lang="en-US" sz="1500" dirty="0"/>
          </a:p>
        </p:txBody>
      </p:sp>
      <p:sp>
        <p:nvSpPr>
          <p:cNvPr id="16" name="Shape 14"/>
          <p:cNvSpPr/>
          <p:nvPr/>
        </p:nvSpPr>
        <p:spPr>
          <a:xfrm>
            <a:off x="8127797" y="2011680"/>
            <a:ext cx="3515258" cy="2331720"/>
          </a:xfrm>
          <a:prstGeom prst="roundRect">
            <a:avLst>
              <a:gd name="adj" fmla="val 3137"/>
            </a:avLst>
          </a:prstGeom>
          <a:solidFill>
            <a:srgbClr val="EEF3F7"/>
          </a:solidFill>
          <a:ln/>
        </p:spPr>
      </p:sp>
      <p:sp>
        <p:nvSpPr>
          <p:cNvPr id="17" name="Shape 15"/>
          <p:cNvSpPr/>
          <p:nvPr/>
        </p:nvSpPr>
        <p:spPr>
          <a:xfrm>
            <a:off x="8356397" y="2286000"/>
            <a:ext cx="402336" cy="402336"/>
          </a:xfrm>
          <a:prstGeom prst="ellipse">
            <a:avLst/>
          </a:prstGeom>
          <a:solidFill>
            <a:srgbClr val="2F7D62"/>
          </a:solidFill>
          <a:ln/>
        </p:spPr>
      </p:sp>
      <p:sp>
        <p:nvSpPr>
          <p:cNvPr id="18" name="Text 16"/>
          <p:cNvSpPr txBox="1"/>
          <p:nvPr/>
        </p:nvSpPr>
        <p:spPr>
          <a:xfrm>
            <a:off x="8356397"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Livrer</a:t>
            </a:r>
            <a:endParaRPr lang="en-US" sz="1800" dirty="0"/>
          </a:p>
        </p:txBody>
      </p:sp>
      <p:sp>
        <p:nvSpPr>
          <p:cNvPr id="20" name="Text 18"/>
          <p:cNvSpPr txBox="1"/>
          <p:nvPr/>
        </p:nvSpPr>
        <p:spPr>
          <a:xfrm>
            <a:off x="8356397"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 5 : </a:t>
            </a:r>
            <a:pPr indent="0" marL="0">
              <a:buNone/>
            </a:pPr>
            <a:r>
              <a:rPr lang="en-US" sz="1500" dirty="0">
                <a:solidFill>
                  <a:srgbClr val="1F3A5F"/>
                </a:solidFill>
                <a:latin typeface="Courier New" pitchFamily="34" charset="0"/>
                <a:ea typeface="Courier New" pitchFamily="34" charset="-122"/>
                <a:cs typeface="Courier New" pitchFamily="34" charset="-120"/>
              </a:rPr>
              <a:t>indicateurs_mois_region.parquet</a:t>
            </a:r>
            <a:pPr indent="0" marL="0">
              <a:buNone/>
            </a:pPr>
            <a:r>
              <a:rPr lang="en-US" sz="1500" dirty="0">
                <a:solidFill>
                  <a:srgbClr val="1F2933"/>
                </a:solidFill>
                <a:latin typeface="Calibri" pitchFamily="34" charset="0"/>
                <a:ea typeface="Calibri" pitchFamily="34" charset="-122"/>
                <a:cs typeface="Calibri" pitchFamily="34" charset="-120"/>
              </a:rPr>
              <a:t> et </a:t>
            </a:r>
            <a:pPr indent="0" marL="0">
              <a:buNone/>
            </a:pPr>
            <a:r>
              <a:rPr lang="en-US" sz="1500" dirty="0">
                <a:solidFill>
                  <a:srgbClr val="1F3A5F"/>
                </a:solidFill>
                <a:latin typeface="Courier New" pitchFamily="34" charset="0"/>
                <a:ea typeface="Courier New" pitchFamily="34" charset="-122"/>
                <a:cs typeface="Courier New" pitchFamily="34" charset="-120"/>
              </a:rPr>
              <a:t>ventes_consolidees.parquet</a:t>
            </a:r>
            <a:pPr indent="0" marL="0">
              <a:buNone/>
            </a:pPr>
            <a:r>
              <a:rPr lang="en-US" sz="1500" dirty="0">
                <a:solidFill>
                  <a:srgbClr val="1F2933"/>
                </a:solidFill>
                <a:latin typeface="Calibri" pitchFamily="34" charset="0"/>
                <a:ea typeface="Calibri" pitchFamily="34" charset="-122"/>
                <a:cs typeface="Calibri" pitchFamily="34" charset="-120"/>
              </a:rPr>
              <a:t>, pour le TP4 de cet après-midi.</a:t>
            </a:r>
            <a:endParaRPr lang="en-US" sz="1500" dirty="0"/>
          </a:p>
        </p:txBody>
      </p:sp>
      <p:sp>
        <p:nvSpPr>
          <p:cNvPr id="21" name="Shape 19"/>
          <p:cNvSpPr/>
          <p:nvPr/>
        </p:nvSpPr>
        <p:spPr>
          <a:xfrm>
            <a:off x="548640" y="4663440"/>
            <a:ext cx="11094415" cy="883920"/>
          </a:xfrm>
          <a:prstGeom prst="roundRect">
            <a:avLst>
              <a:gd name="adj" fmla="val 6207"/>
            </a:avLst>
          </a:prstGeom>
          <a:solidFill>
            <a:srgbClr val="E8F3EE"/>
          </a:solidFill>
          <a:ln/>
        </p:spPr>
      </p:sp>
      <p:sp>
        <p:nvSpPr>
          <p:cNvPr id="22" name="Text 20"/>
          <p:cNvSpPr txBox="1"/>
          <p:nvPr/>
        </p:nvSpPr>
        <p:spPr>
          <a:xfrm>
            <a:off x="822960" y="466344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Chaque partie commence sur de petits exemples, puis passe aux vraies données. Les cellules de vérification contrôlent les réponses avec </a:t>
            </a:r>
            <a:pPr indent="0" marL="0">
              <a:buNone/>
            </a:pPr>
            <a:r>
              <a:rPr lang="en-US" sz="1700" dirty="0">
                <a:solidFill>
                  <a:srgbClr val="2F7D62"/>
                </a:solidFill>
                <a:latin typeface="Courier New" pitchFamily="34" charset="0"/>
                <a:ea typeface="Courier New" pitchFamily="34" charset="-122"/>
                <a:cs typeface="Courier New" pitchFamily="34" charset="-120"/>
              </a:rPr>
              <a:t>assert</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À retenir</a:t>
            </a:r>
            <a:endParaRPr lang="en-US" sz="3400" dirty="0"/>
          </a:p>
        </p:txBody>
      </p:sp>
      <p:sp>
        <p:nvSpPr>
          <p:cNvPr id="3" name="Text 1"/>
          <p:cNvSpPr txBox="1"/>
          <p:nvPr/>
        </p:nvSpPr>
        <p:spPr>
          <a:xfrm>
            <a:off x="548640" y="1417320"/>
            <a:ext cx="5272888" cy="472440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pathlib</a:t>
            </a:r>
            <a:pPr indent="0" marL="0">
              <a:buNone/>
            </a:pPr>
            <a:r>
              <a:rPr lang="en-US" sz="1600" dirty="0">
                <a:solidFill>
                  <a:srgbClr val="FFFFFF"/>
                </a:solidFill>
                <a:latin typeface="Calibri" pitchFamily="34" charset="0"/>
                <a:ea typeface="Calibri" pitchFamily="34" charset="-122"/>
                <a:cs typeface="Calibri" pitchFamily="34" charset="-120"/>
              </a:rPr>
              <a:t> pour les chemins, </a:t>
            </a:r>
            <a:pPr indent="0" marL="0">
              <a:buNone/>
            </a:pPr>
            <a:r>
              <a:rPr lang="en-US" sz="1600" dirty="0">
                <a:solidFill>
                  <a:srgbClr val="8FD1B5"/>
                </a:solidFill>
                <a:latin typeface="Courier New" pitchFamily="34" charset="0"/>
                <a:ea typeface="Courier New" pitchFamily="34" charset="-122"/>
                <a:cs typeface="Courier New" pitchFamily="34" charset="-120"/>
              </a:rPr>
              <a:t>glob</a:t>
            </a:r>
            <a:pPr indent="0" marL="0">
              <a:buNone/>
            </a:pPr>
            <a:r>
              <a:rPr lang="en-US" sz="1600" dirty="0">
                <a:solidFill>
                  <a:srgbClr val="FFFFFF"/>
                </a:solidFill>
                <a:latin typeface="Calibri" pitchFamily="34" charset="0"/>
                <a:ea typeface="Calibri" pitchFamily="34" charset="-122"/>
                <a:cs typeface="Calibri" pitchFamily="34" charset="-120"/>
              </a:rPr>
              <a:t> et </a:t>
            </a:r>
            <a:pPr indent="0" marL="0">
              <a:buNone/>
            </a:pPr>
            <a:r>
              <a:rPr lang="en-US" sz="1600" dirty="0">
                <a:solidFill>
                  <a:srgbClr val="8FD1B5"/>
                </a:solidFill>
                <a:latin typeface="Courier New" pitchFamily="34" charset="0"/>
                <a:ea typeface="Courier New" pitchFamily="34" charset="-122"/>
                <a:cs typeface="Courier New" pitchFamily="34" charset="-120"/>
              </a:rPr>
              <a:t>sorted</a:t>
            </a:r>
            <a:pPr indent="0" marL="0">
              <a:buNone/>
            </a:pPr>
            <a:r>
              <a:rPr lang="en-US" sz="1600" dirty="0">
                <a:solidFill>
                  <a:srgbClr val="FFFFFF"/>
                </a:solidFill>
                <a:latin typeface="Calibri" pitchFamily="34" charset="0"/>
                <a:ea typeface="Calibri" pitchFamily="34" charset="-122"/>
                <a:cs typeface="Calibri" pitchFamily="34" charset="-120"/>
              </a:rPr>
              <a:t> pour lister</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Une liste de DataFrames, puis un seul </a:t>
            </a:r>
            <a:pPr indent="0" marL="0">
              <a:buNone/>
            </a:pPr>
            <a:r>
              <a:rPr lang="en-US" sz="1600" dirty="0">
                <a:solidFill>
                  <a:srgbClr val="8FD1B5"/>
                </a:solidFill>
                <a:latin typeface="Courier New" pitchFamily="34" charset="0"/>
                <a:ea typeface="Courier New" pitchFamily="34" charset="-122"/>
                <a:cs typeface="Courier New" pitchFamily="34" charset="-120"/>
              </a:rPr>
              <a:t>concat</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Garder le fichier d'origine, compter les lignes par fichier</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concat</a:t>
            </a:r>
            <a:pPr indent="0" marL="0">
              <a:buNone/>
            </a:pPr>
            <a:r>
              <a:rPr lang="en-US" sz="1600" dirty="0">
                <a:solidFill>
                  <a:srgbClr val="FFFFFF"/>
                </a:solidFill>
                <a:latin typeface="Calibri" pitchFamily="34" charset="0"/>
                <a:ea typeface="Calibri" pitchFamily="34" charset="-122"/>
                <a:cs typeface="Calibri" pitchFamily="34" charset="-120"/>
              </a:rPr>
              <a:t> aligne par nom : un nom mal écrit crée une colonne</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merge</a:t>
            </a:r>
            <a:pPr indent="0" marL="0">
              <a:buNone/>
            </a:pPr>
            <a:r>
              <a:rPr lang="en-US" sz="1600" dirty="0">
                <a:solidFill>
                  <a:srgbClr val="FFFFFF"/>
                </a:solidFill>
                <a:latin typeface="Calibri" pitchFamily="34" charset="0"/>
                <a:ea typeface="Calibri" pitchFamily="34" charset="-122"/>
                <a:cs typeface="Calibri" pitchFamily="34" charset="-120"/>
              </a:rPr>
              <a:t> en </a:t>
            </a:r>
            <a:pPr indent="0" marL="0">
              <a:buNone/>
            </a:pPr>
            <a:r>
              <a:rPr lang="en-US" sz="1600" dirty="0">
                <a:solidFill>
                  <a:srgbClr val="8FD1B5"/>
                </a:solidFill>
                <a:latin typeface="Courier New" pitchFamily="34" charset="0"/>
                <a:ea typeface="Courier New" pitchFamily="34" charset="-122"/>
                <a:cs typeface="Courier New" pitchFamily="34" charset="-120"/>
              </a:rPr>
              <a:t>left</a:t>
            </a:r>
            <a:pPr indent="0" marL="0">
              <a:buNone/>
            </a:pPr>
            <a:r>
              <a:rPr lang="en-US" sz="1600" dirty="0">
                <a:solidFill>
                  <a:srgbClr val="FFFFFF"/>
                </a:solidFill>
                <a:latin typeface="Calibri" pitchFamily="34" charset="0"/>
                <a:ea typeface="Calibri" pitchFamily="34" charset="-122"/>
                <a:cs typeface="Calibri" pitchFamily="34" charset="-120"/>
              </a:rPr>
              <a:t> pour enrichir, </a:t>
            </a:r>
            <a:pPr indent="0" marL="0">
              <a:buNone/>
            </a:pPr>
            <a:r>
              <a:rPr lang="en-US" sz="1600" dirty="0">
                <a:solidFill>
                  <a:srgbClr val="8FD1B5"/>
                </a:solidFill>
                <a:latin typeface="Courier New" pitchFamily="34" charset="0"/>
                <a:ea typeface="Courier New" pitchFamily="34" charset="-122"/>
                <a:cs typeface="Courier New" pitchFamily="34" charset="-120"/>
              </a:rPr>
              <a:t>indicator=True</a:t>
            </a:r>
            <a:pPr indent="0" marL="0">
              <a:buNone/>
            </a:pPr>
            <a:r>
              <a:rPr lang="en-US" sz="1600" dirty="0">
                <a:solidFill>
                  <a:srgbClr val="FFFFFF"/>
                </a:solidFill>
                <a:latin typeface="Calibri" pitchFamily="34" charset="0"/>
                <a:ea typeface="Calibri" pitchFamily="34" charset="-122"/>
                <a:cs typeface="Calibri" pitchFamily="34" charset="-120"/>
              </a:rPr>
              <a:t> pour vérifier</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Lignes avant et après, </a:t>
            </a:r>
            <a:pPr indent="0" marL="0">
              <a:buNone/>
            </a:pPr>
            <a:r>
              <a:rPr lang="en-US" sz="1600" dirty="0">
                <a:solidFill>
                  <a:srgbClr val="8FD1B5"/>
                </a:solidFill>
                <a:latin typeface="Courier New" pitchFamily="34" charset="0"/>
                <a:ea typeface="Courier New" pitchFamily="34" charset="-122"/>
                <a:cs typeface="Courier New" pitchFamily="34" charset="-120"/>
              </a:rPr>
              <a:t>validate</a:t>
            </a:r>
            <a:pPr indent="0" marL="0">
              <a:buNone/>
            </a:pPr>
            <a:r>
              <a:rPr lang="en-US" sz="1600" dirty="0">
                <a:solidFill>
                  <a:srgbClr val="FFFFFF"/>
                </a:solidFill>
                <a:latin typeface="Calibri" pitchFamily="34" charset="0"/>
                <a:ea typeface="Calibri" pitchFamily="34" charset="-122"/>
                <a:cs typeface="Calibri" pitchFamily="34" charset="-120"/>
              </a:rPr>
              <a:t> contre les doublons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 libellé explicite plutôt que de supprimer</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groupby</a:t>
            </a:r>
            <a:pPr indent="0" marL="0">
              <a:buNone/>
            </a:pPr>
            <a:r>
              <a:rPr lang="en-US" sz="1600" dirty="0">
                <a:solidFill>
                  <a:srgbClr val="FFFFFF"/>
                </a:solidFill>
                <a:latin typeface="Calibri" pitchFamily="34" charset="0"/>
                <a:ea typeface="Calibri" pitchFamily="34" charset="-122"/>
                <a:cs typeface="Calibri" pitchFamily="34" charset="-120"/>
              </a:rPr>
              <a:t> ignore les clés manquantes : comparer les totaux</a:t>
            </a:r>
            <a:endParaRPr lang="en-US" sz="1600" dirty="0"/>
          </a:p>
        </p:txBody>
      </p:sp>
      <p:sp>
        <p:nvSpPr>
          <p:cNvPr id="4" name="Text 2"/>
          <p:cNvSpPr txBox="1"/>
          <p:nvPr/>
        </p:nvSpPr>
        <p:spPr>
          <a:xfrm>
            <a:off x="6370168" y="1417320"/>
            <a:ext cx="5272888" cy="472440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agg</a:t>
            </a:r>
            <a:pPr indent="0" marL="0">
              <a:buNone/>
            </a:pPr>
            <a:r>
              <a:rPr lang="en-US" sz="1600" dirty="0">
                <a:solidFill>
                  <a:srgbClr val="FFFFFF"/>
                </a:solidFill>
                <a:latin typeface="Calibri" pitchFamily="34" charset="0"/>
                <a:ea typeface="Calibri" pitchFamily="34" charset="-122"/>
                <a:cs typeface="Calibri" pitchFamily="34" charset="-120"/>
              </a:rPr>
              <a:t> nommée ; </a:t>
            </a:r>
            <a:pPr indent="0" marL="0">
              <a:buNone/>
            </a:pPr>
            <a:r>
              <a:rPr lang="en-US" sz="1600" dirty="0">
                <a:solidFill>
                  <a:srgbClr val="8FD1B5"/>
                </a:solidFill>
                <a:latin typeface="Courier New" pitchFamily="34" charset="0"/>
                <a:ea typeface="Courier New" pitchFamily="34" charset="-122"/>
                <a:cs typeface="Courier New" pitchFamily="34" charset="-120"/>
              </a:rPr>
              <a:t>size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count</a:t>
            </a:r>
            <a:pPr indent="0" marL="0">
              <a:buNone/>
            </a:pPr>
            <a:r>
              <a:rPr lang="en-US" sz="1600" dirty="0">
                <a:solidFill>
                  <a:srgbClr val="FFFFFF"/>
                </a:solidFill>
                <a:latin typeface="Calibri" pitchFamily="34" charset="0"/>
                <a:ea typeface="Calibri" pitchFamily="34" charset="-122"/>
                <a:cs typeface="Calibri" pitchFamily="34" charset="-120"/>
              </a:rPr>
              <a:t> et </a:t>
            </a:r>
            <a:pPr indent="0" marL="0">
              <a:buNone/>
            </a:pPr>
            <a:r>
              <a:rPr lang="en-US" sz="1600" dirty="0">
                <a:solidFill>
                  <a:srgbClr val="8FD1B5"/>
                </a:solidFill>
                <a:latin typeface="Courier New" pitchFamily="34" charset="0"/>
                <a:ea typeface="Courier New" pitchFamily="34" charset="-122"/>
                <a:cs typeface="Courier New" pitchFamily="34" charset="-120"/>
              </a:rPr>
              <a:t>nunique</a:t>
            </a:r>
            <a:pPr indent="0" marL="0">
              <a:buNone/>
            </a:pPr>
            <a:r>
              <a:rPr lang="en-US" sz="1600" dirty="0">
                <a:solidFill>
                  <a:srgbClr val="FFFFFF"/>
                </a:solidFill>
                <a:latin typeface="Calibri" pitchFamily="34" charset="0"/>
                <a:ea typeface="Calibri" pitchFamily="34" charset="-122"/>
                <a:cs typeface="Calibri" pitchFamily="34" charset="-120"/>
              </a:rPr>
              <a:t> à distinguer</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transform</a:t>
            </a:r>
            <a:pPr indent="0" marL="0">
              <a:buNone/>
            </a:pPr>
            <a:r>
              <a:rPr lang="en-US" sz="1600" dirty="0">
                <a:solidFill>
                  <a:srgbClr val="FFFFFF"/>
                </a:solidFill>
                <a:latin typeface="Calibri" pitchFamily="34" charset="0"/>
                <a:ea typeface="Calibri" pitchFamily="34" charset="-122"/>
                <a:cs typeface="Calibri" pitchFamily="34" charset="-120"/>
              </a:rPr>
              <a:t> par ligne, tri puis </a:t>
            </a:r>
            <a:pPr indent="0" marL="0">
              <a:buNone/>
            </a:pPr>
            <a:r>
              <a:rPr lang="en-US" sz="1600" dirty="0">
                <a:solidFill>
                  <a:srgbClr val="8FD1B5"/>
                </a:solidFill>
                <a:latin typeface="Courier New" pitchFamily="34" charset="0"/>
                <a:ea typeface="Courier New" pitchFamily="34" charset="-122"/>
                <a:cs typeface="Courier New" pitchFamily="34" charset="-120"/>
              </a:rPr>
              <a:t>head(n)</a:t>
            </a:r>
            <a:pPr indent="0" marL="0">
              <a:buNone/>
            </a:pPr>
            <a:r>
              <a:rPr lang="en-US" sz="1600" dirty="0">
                <a:solidFill>
                  <a:srgbClr val="FFFFFF"/>
                </a:solidFill>
                <a:latin typeface="Calibri" pitchFamily="34" charset="0"/>
                <a:ea typeface="Calibri" pitchFamily="34" charset="-122"/>
                <a:cs typeface="Calibri" pitchFamily="34" charset="-120"/>
              </a:rPr>
              <a:t> par groupe</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pivot_table</a:t>
            </a:r>
            <a:pPr indent="0" marL="0">
              <a:buNone/>
            </a:pPr>
            <a:r>
              <a:rPr lang="en-US" sz="1600" dirty="0">
                <a:solidFill>
                  <a:srgbClr val="FFFFFF"/>
                </a:solidFill>
                <a:latin typeface="Calibri" pitchFamily="34" charset="0"/>
                <a:ea typeface="Calibri" pitchFamily="34" charset="-122"/>
                <a:cs typeface="Calibri" pitchFamily="34" charset="-120"/>
              </a:rPr>
              <a:t> pour croiser, </a:t>
            </a:r>
            <a:pPr indent="0" marL="0">
              <a:buNone/>
            </a:pPr>
            <a:r>
              <a:rPr lang="en-US" sz="1600" dirty="0">
                <a:solidFill>
                  <a:srgbClr val="8FD1B5"/>
                </a:solidFill>
                <a:latin typeface="Courier New" pitchFamily="34" charset="0"/>
                <a:ea typeface="Courier New" pitchFamily="34" charset="-122"/>
                <a:cs typeface="Courier New" pitchFamily="34" charset="-120"/>
              </a:rPr>
              <a:t>crosstab</a:t>
            </a:r>
            <a:pPr indent="0" marL="0">
              <a:buNone/>
            </a:pPr>
            <a:r>
              <a:rPr lang="en-US" sz="1600" dirty="0">
                <a:solidFill>
                  <a:srgbClr val="FFFFFF"/>
                </a:solidFill>
                <a:latin typeface="Calibri" pitchFamily="34" charset="0"/>
                <a:ea typeface="Calibri" pitchFamily="34" charset="-122"/>
                <a:cs typeface="Calibri" pitchFamily="34" charset="-120"/>
              </a:rPr>
              <a:t> pour compter</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.dt</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to_period("M")</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reindex</a:t>
            </a:r>
            <a:pPr indent="0" marL="0">
              <a:buNone/>
            </a:pPr>
            <a:r>
              <a:rPr lang="en-US" sz="1600" dirty="0">
                <a:solidFill>
                  <a:srgbClr val="FFFFFF"/>
                </a:solidFill>
                <a:latin typeface="Calibri" pitchFamily="34" charset="0"/>
                <a:ea typeface="Calibri" pitchFamily="34" charset="-122"/>
                <a:cs typeface="Calibri" pitchFamily="34" charset="-120"/>
              </a:rPr>
              <a:t> pour l'ordre des jours</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resample</a:t>
            </a:r>
            <a:pPr indent="0" marL="0">
              <a:buNone/>
            </a:pPr>
            <a:r>
              <a:rPr lang="en-US" sz="1600" dirty="0">
                <a:solidFill>
                  <a:srgbClr val="FFFFFF"/>
                </a:solidFill>
                <a:latin typeface="Calibri" pitchFamily="34" charset="0"/>
                <a:ea typeface="Calibri" pitchFamily="34" charset="-122"/>
                <a:cs typeface="Calibri" pitchFamily="34" charset="-120"/>
              </a:rPr>
              <a:t> crée les périodes vides ; attention aux semaines incomplètes</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shift</a:t>
            </a:r>
            <a:pPr indent="0" marL="0">
              <a:buNone/>
            </a:pPr>
            <a:r>
              <a:rPr lang="en-US" sz="1600" dirty="0">
                <a:solidFill>
                  <a:srgbClr val="FFFFFF"/>
                </a:solidFill>
                <a:latin typeface="Calibri" pitchFamily="34" charset="0"/>
                <a:ea typeface="Calibri" pitchFamily="34" charset="-122"/>
                <a:cs typeface="Calibri" pitchFamily="34" charset="-120"/>
              </a:rPr>
              <a:t> et </a:t>
            </a:r>
            <a:pPr indent="0" marL="0">
              <a:buNone/>
            </a:pPr>
            <a:r>
              <a:rPr lang="en-US" sz="1600" dirty="0">
                <a:solidFill>
                  <a:srgbClr val="8FD1B5"/>
                </a:solidFill>
                <a:latin typeface="Courier New" pitchFamily="34" charset="0"/>
                <a:ea typeface="Courier New" pitchFamily="34" charset="-122"/>
                <a:cs typeface="Courier New" pitchFamily="34" charset="-120"/>
              </a:rPr>
              <a:t>pct_change</a:t>
            </a:r>
            <a:pPr indent="0" marL="0">
              <a:buNone/>
            </a:pPr>
            <a:r>
              <a:rPr lang="en-US" sz="1600" dirty="0">
                <a:solidFill>
                  <a:srgbClr val="FFFFFF"/>
                </a:solidFill>
                <a:latin typeface="Calibri" pitchFamily="34" charset="0"/>
                <a:ea typeface="Calibri" pitchFamily="34" charset="-122"/>
                <a:cs typeface="Calibri" pitchFamily="34" charset="-120"/>
              </a:rPr>
              <a:t> comparent à la période précédente</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rolling</a:t>
            </a:r>
            <a:pPr indent="0" marL="0">
              <a:buNone/>
            </a:pPr>
            <a:r>
              <a:rPr lang="en-US" sz="1600" dirty="0">
                <a:solidFill>
                  <a:srgbClr val="FFFFFF"/>
                </a:solidFill>
                <a:latin typeface="Calibri" pitchFamily="34" charset="0"/>
                <a:ea typeface="Calibri" pitchFamily="34" charset="-122"/>
                <a:cs typeface="Calibri" pitchFamily="34" charset="-120"/>
              </a:rPr>
              <a:t> lisse, </a:t>
            </a:r>
            <a:pPr indent="0" marL="0">
              <a:buNone/>
            </a:pPr>
            <a:r>
              <a:rPr lang="en-US" sz="1600" dirty="0">
                <a:solidFill>
                  <a:srgbClr val="8FD1B5"/>
                </a:solidFill>
                <a:latin typeface="Courier New" pitchFamily="34" charset="0"/>
                <a:ea typeface="Courier New" pitchFamily="34" charset="-122"/>
                <a:cs typeface="Courier New" pitchFamily="34" charset="-120"/>
              </a:rPr>
              <a:t>cumsum</a:t>
            </a:r>
            <a:pPr indent="0" marL="0">
              <a:buNone/>
            </a:pPr>
            <a:r>
              <a:rPr lang="en-US" sz="1600" dirty="0">
                <a:solidFill>
                  <a:srgbClr val="FFFFFF"/>
                </a:solidFill>
                <a:latin typeface="Calibri" pitchFamily="34" charset="0"/>
                <a:ea typeface="Calibri" pitchFamily="34" charset="-122"/>
                <a:cs typeface="Calibri" pitchFamily="34" charset="-120"/>
              </a:rPr>
              <a:t> cumule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Exporter : </a:t>
            </a:r>
            <a:pPr indent="0" marL="0">
              <a:buNone/>
            </a:pPr>
            <a:r>
              <a:rPr lang="en-US" sz="1600" dirty="0">
                <a:solidFill>
                  <a:srgbClr val="8FD1B5"/>
                </a:solidFill>
                <a:latin typeface="Courier New" pitchFamily="34" charset="0"/>
                <a:ea typeface="Courier New" pitchFamily="34" charset="-122"/>
                <a:cs typeface="Courier New" pitchFamily="34" charset="-120"/>
              </a:rPr>
              <a:t>to_timestamp()</a:t>
            </a:r>
            <a:pPr indent="0" marL="0">
              <a:buNone/>
            </a:pPr>
            <a:r>
              <a:rPr lang="en-US" sz="1600" dirty="0">
                <a:solidFill>
                  <a:srgbClr val="FFFFFF"/>
                </a:solidFill>
                <a:latin typeface="Calibri" pitchFamily="34" charset="0"/>
                <a:ea typeface="Calibri" pitchFamily="34" charset="-122"/>
                <a:cs typeface="Calibri" pitchFamily="34" charset="-120"/>
              </a:rPr>
              <a:t>, colonnes choisies, relecture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données avec Python, jour 2 matin</dc:title>
  <dc:subject>PptxGenJS Presentation</dc:subject>
  <dc:creator/>
  <cp:lastModifiedBy/>
  <cp:revision>1</cp:revision>
  <dcterms:created xsi:type="dcterms:W3CDTF">2026-10-20T20:55:28Z</dcterms:created>
  <dcterms:modified xsi:type="dcterms:W3CDTF">2026-10-20T20:55:28Z</dcterms:modified>
</cp:coreProperties>
</file>