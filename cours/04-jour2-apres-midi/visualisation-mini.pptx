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condensée du jour 2 après-midi : environ 15 minutes de cours, puis 30 minutes de TP. On ne détaille pas chaque bibliothèque : on montre à quoi sert chacune, deux ou trois graphiques typiques, et on passe à la pratique. Le cours complet (visualisation.pptx) reste disponible pour approfondir.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rythme : un tour rapide des trois bibliothèques, puis tout se passe dans le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cohabitent dans un même projet : on explore souvent en interactif avec plotly, on restitue en statique avec matplotlib et seaborn.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tout lire : insister sur la ligne Entrée, qui explique pourquoi seaborn et plotly se ressemblent, et sur la ligne Sortie, qui guide le choix entre statique et interactif.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résultats proches, trois logiques. matplotlib trace ce qu'on lui donne : il faut agréger avant. seaborn part de la table brute et calcule la somme (estimator). plotly produit un objet interactif ; ses axes reprennent les noms de colonnes (region, value) tant qu'on ne les renomme pas avec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besoin d'importer autre chose que pandas (matplotlib doit seulement être installé). Les dates en abscisse et le nom des axes sont gérés tout seuls, mais l'axe ne part pas de zéro et les montants se chevauchent sur les barres : c'est la transition vers matplotlib. Pour un rendu interactif, pd.options.plotting.backend = "plotly" fait renvoyer à .plot() une figure plotly. C'est la question 0.1 du TP 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Toujours écrire fig, ax = plt.subplots() plutôt que plt.plot : c'est l'écriture qui reste lisible dès qu'il y a plusieurs graphiques. Raccourci pandas : mensuel.plot() appelle matplotlib.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boîte résume une distribution : médiane, moitié centrale des valeurs, points extrêmes. La heatmap croise deux dimensions (régions et mois) et fait ressortir l'été d'un coup d'œil. Ce sont les questions 2.1 et 2.2 du TP 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 démonstration en direct : survoler un point, zoomer sur une période, cliquer sur une région dans la légende pour la masquer. Six courbes superposées sont illisibles en statique, mais restent exploitables en interactif.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la question posée, pas du graphique. Comment ça évolue ? une courbe. Qui fait le plus ? des barres triées. Comment se répartissent les valeurs ? un histogramme ou une boîte. Deux grandeurs sont-elles liées ? un nuage. Deux dimensions croisées ? une heatmap.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L'axe tronqué est le piège le plus fréquent : c'est la question facultative 4.1 du TP 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30 minutes, à peu près 10 minutes par bibliothèque. Les agrégats mensuel et par_region sont fournis dans la cellule de chargement pour aller vite. Réponses : 2.1, le bureau a les commandes les plus élevées, jusqu'à près de 2 000 euros ; 2.2, en juillet et en août presque toutes les régions sont sous l'objectif, seule la Bretagne l'atteint en juillet ; 3.2, le HTML reste interactif ; 4.1, l'axe commence à 150 euros, le panier de la Nouvelle-Aquitaine paraît cinq fois plus grand que celui des Hauts-de-France alors qu'il n'est que 37 % plus élevé.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aller plus loin : le cours complet visualisation.pptx et le TP4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VERSION MINI</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Visualisation avec Python</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matplotlib, seaborn et plotly en un coup d'œil</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Un cours court, puis le TP4 mini : exercices/tp04-mini-visualisation/tp04_mini.ipynb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a:t>
            </a:r>
            <a:endParaRPr lang="en-US" sz="3000" dirty="0"/>
          </a:p>
        </p:txBody>
      </p:sp>
      <p:sp>
        <p:nvSpPr>
          <p:cNvPr id="3" name="Shape 1"/>
          <p:cNvSpPr/>
          <p:nvPr/>
        </p:nvSpPr>
        <p:spPr>
          <a:xfrm>
            <a:off x="1341098" y="2057400"/>
            <a:ext cx="9509499" cy="0"/>
          </a:xfrm>
          <a:prstGeom prst="line">
            <a:avLst/>
          </a:prstGeom>
          <a:noFill/>
          <a:ln w="25400">
            <a:solidFill>
              <a:srgbClr val="D5DCE3"/>
            </a:solidFill>
            <a:prstDash val="solid"/>
          </a:ln>
        </p:spPr>
      </p:sp>
      <p:sp>
        <p:nvSpPr>
          <p:cNvPr id="4" name="Shape 2"/>
          <p:cNvSpPr/>
          <p:nvPr/>
        </p:nvSpPr>
        <p:spPr>
          <a:xfrm>
            <a:off x="1112498" y="1828800"/>
            <a:ext cx="457200" cy="457200"/>
          </a:xfrm>
          <a:prstGeom prst="ellipse">
            <a:avLst/>
          </a:prstGeom>
          <a:solidFill>
            <a:srgbClr val="2F7D62"/>
          </a:solidFill>
          <a:ln/>
        </p:spPr>
      </p:sp>
      <p:sp>
        <p:nvSpPr>
          <p:cNvPr id="5" name="Text 3"/>
          <p:cNvSpPr txBox="1"/>
          <p:nvPr/>
        </p:nvSpPr>
        <p:spPr>
          <a:xfrm>
            <a:off x="111249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Panorama</a:t>
            </a:r>
            <a:endParaRPr lang="en-US" sz="1500" dirty="0"/>
          </a:p>
        </p:txBody>
      </p:sp>
      <p:sp>
        <p:nvSpPr>
          <p:cNvPr id="7" name="Text 5"/>
          <p:cNvSpPr txBox="1"/>
          <p:nvPr/>
        </p:nvSpPr>
        <p:spPr>
          <a:xfrm>
            <a:off x="594360"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trois bibliothèques, trois usages</a:t>
            </a:r>
            <a:endParaRPr lang="en-US" sz="1300" dirty="0"/>
          </a:p>
        </p:txBody>
      </p:sp>
      <p:sp>
        <p:nvSpPr>
          <p:cNvPr id="8" name="Shape 6"/>
          <p:cNvSpPr/>
          <p:nvPr/>
        </p:nvSpPr>
        <p:spPr>
          <a:xfrm>
            <a:off x="2697415" y="1828800"/>
            <a:ext cx="457200" cy="457200"/>
          </a:xfrm>
          <a:prstGeom prst="ellipse">
            <a:avLst/>
          </a:prstGeom>
          <a:solidFill>
            <a:srgbClr val="2F7D62"/>
          </a:solidFill>
          <a:ln/>
        </p:spPr>
      </p:sp>
      <p:sp>
        <p:nvSpPr>
          <p:cNvPr id="9" name="Text 7"/>
          <p:cNvSpPr txBox="1"/>
          <p:nvPr/>
        </p:nvSpPr>
        <p:spPr>
          <a:xfrm>
            <a:off x="269741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2179276"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pandas</a:t>
            </a:r>
            <a:endParaRPr lang="en-US" sz="1500" dirty="0"/>
          </a:p>
        </p:txBody>
      </p:sp>
      <p:sp>
        <p:nvSpPr>
          <p:cNvPr id="11" name="Text 9"/>
          <p:cNvSpPr txBox="1"/>
          <p:nvPr/>
        </p:nvSpPr>
        <p:spPr>
          <a:xfrm>
            <a:off x="2179276"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l'aperçu rapide</a:t>
            </a:r>
            <a:endParaRPr lang="en-US" sz="1300" dirty="0"/>
          </a:p>
        </p:txBody>
      </p:sp>
      <p:sp>
        <p:nvSpPr>
          <p:cNvPr id="12" name="Shape 10"/>
          <p:cNvSpPr/>
          <p:nvPr/>
        </p:nvSpPr>
        <p:spPr>
          <a:xfrm>
            <a:off x="4282331" y="1828800"/>
            <a:ext cx="457200" cy="457200"/>
          </a:xfrm>
          <a:prstGeom prst="ellipse">
            <a:avLst/>
          </a:prstGeom>
          <a:solidFill>
            <a:srgbClr val="2F7D62"/>
          </a:solidFill>
          <a:ln/>
        </p:spPr>
      </p:sp>
      <p:sp>
        <p:nvSpPr>
          <p:cNvPr id="13" name="Text 11"/>
          <p:cNvSpPr txBox="1"/>
          <p:nvPr/>
        </p:nvSpPr>
        <p:spPr>
          <a:xfrm>
            <a:off x="428233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3764193"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matplotlib</a:t>
            </a:r>
            <a:endParaRPr lang="en-US" sz="1500" dirty="0"/>
          </a:p>
        </p:txBody>
      </p:sp>
      <p:sp>
        <p:nvSpPr>
          <p:cNvPr id="15" name="Text 13"/>
          <p:cNvSpPr txBox="1"/>
          <p:nvPr/>
        </p:nvSpPr>
        <p:spPr>
          <a:xfrm>
            <a:off x="3764193"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la base</a:t>
            </a:r>
            <a:endParaRPr lang="en-US" sz="1300" dirty="0"/>
          </a:p>
        </p:txBody>
      </p:sp>
      <p:sp>
        <p:nvSpPr>
          <p:cNvPr id="16" name="Shape 14"/>
          <p:cNvSpPr/>
          <p:nvPr/>
        </p:nvSpPr>
        <p:spPr>
          <a:xfrm>
            <a:off x="5867248" y="1828800"/>
            <a:ext cx="457200" cy="457200"/>
          </a:xfrm>
          <a:prstGeom prst="ellipse">
            <a:avLst/>
          </a:prstGeom>
          <a:solidFill>
            <a:srgbClr val="2F7D62"/>
          </a:solidFill>
          <a:ln/>
        </p:spPr>
      </p:sp>
      <p:sp>
        <p:nvSpPr>
          <p:cNvPr id="17" name="Text 15"/>
          <p:cNvSpPr txBox="1"/>
          <p:nvPr/>
        </p:nvSpPr>
        <p:spPr>
          <a:xfrm>
            <a:off x="586724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349109"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seaborn</a:t>
            </a:r>
            <a:endParaRPr lang="en-US" sz="1500" dirty="0"/>
          </a:p>
        </p:txBody>
      </p:sp>
      <p:sp>
        <p:nvSpPr>
          <p:cNvPr id="19" name="Text 17"/>
          <p:cNvSpPr txBox="1"/>
          <p:nvPr/>
        </p:nvSpPr>
        <p:spPr>
          <a:xfrm>
            <a:off x="5349109"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les statistiques</a:t>
            </a:r>
            <a:endParaRPr lang="en-US" sz="1300" dirty="0"/>
          </a:p>
        </p:txBody>
      </p:sp>
      <p:sp>
        <p:nvSpPr>
          <p:cNvPr id="20" name="Shape 18"/>
          <p:cNvSpPr/>
          <p:nvPr/>
        </p:nvSpPr>
        <p:spPr>
          <a:xfrm>
            <a:off x="7452164" y="1828800"/>
            <a:ext cx="457200" cy="457200"/>
          </a:xfrm>
          <a:prstGeom prst="ellipse">
            <a:avLst/>
          </a:prstGeom>
          <a:solidFill>
            <a:srgbClr val="2F7D62"/>
          </a:solidFill>
          <a:ln/>
        </p:spPr>
      </p:sp>
      <p:sp>
        <p:nvSpPr>
          <p:cNvPr id="21" name="Text 19"/>
          <p:cNvSpPr txBox="1"/>
          <p:nvPr/>
        </p:nvSpPr>
        <p:spPr>
          <a:xfrm>
            <a:off x="745216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6934026"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plotly</a:t>
            </a:r>
            <a:endParaRPr lang="en-US" sz="1500" dirty="0"/>
          </a:p>
        </p:txBody>
      </p:sp>
      <p:sp>
        <p:nvSpPr>
          <p:cNvPr id="23" name="Text 21"/>
          <p:cNvSpPr txBox="1"/>
          <p:nvPr/>
        </p:nvSpPr>
        <p:spPr>
          <a:xfrm>
            <a:off x="6934026"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l'interactif</a:t>
            </a:r>
            <a:endParaRPr lang="en-US" sz="1300" dirty="0"/>
          </a:p>
        </p:txBody>
      </p:sp>
      <p:sp>
        <p:nvSpPr>
          <p:cNvPr id="24" name="Shape 22"/>
          <p:cNvSpPr/>
          <p:nvPr/>
        </p:nvSpPr>
        <p:spPr>
          <a:xfrm>
            <a:off x="9037081" y="1828800"/>
            <a:ext cx="457200" cy="457200"/>
          </a:xfrm>
          <a:prstGeom prst="ellipse">
            <a:avLst/>
          </a:prstGeom>
          <a:solidFill>
            <a:srgbClr val="2F7D62"/>
          </a:solidFill>
          <a:ln/>
        </p:spPr>
      </p:sp>
      <p:sp>
        <p:nvSpPr>
          <p:cNvPr id="25" name="Text 23"/>
          <p:cNvSpPr txBox="1"/>
          <p:nvPr/>
        </p:nvSpPr>
        <p:spPr>
          <a:xfrm>
            <a:off x="903708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8518942"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Bien choisir</a:t>
            </a:r>
            <a:endParaRPr lang="en-US" sz="1500" dirty="0"/>
          </a:p>
        </p:txBody>
      </p:sp>
      <p:sp>
        <p:nvSpPr>
          <p:cNvPr id="27" name="Text 25"/>
          <p:cNvSpPr txBox="1"/>
          <p:nvPr/>
        </p:nvSpPr>
        <p:spPr>
          <a:xfrm>
            <a:off x="8518942"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 graphique et sa lisibilité</a:t>
            </a:r>
            <a:endParaRPr lang="en-US" sz="1300" dirty="0"/>
          </a:p>
        </p:txBody>
      </p:sp>
      <p:sp>
        <p:nvSpPr>
          <p:cNvPr id="28" name="Shape 26"/>
          <p:cNvSpPr/>
          <p:nvPr/>
        </p:nvSpPr>
        <p:spPr>
          <a:xfrm>
            <a:off x="10621997" y="1828800"/>
            <a:ext cx="457200" cy="457200"/>
          </a:xfrm>
          <a:prstGeom prst="ellipse">
            <a:avLst/>
          </a:prstGeom>
          <a:solidFill>
            <a:srgbClr val="2F7D62"/>
          </a:solidFill>
          <a:ln/>
        </p:spPr>
      </p:sp>
      <p:sp>
        <p:nvSpPr>
          <p:cNvPr id="29" name="Text 27"/>
          <p:cNvSpPr txBox="1"/>
          <p:nvPr/>
        </p:nvSpPr>
        <p:spPr>
          <a:xfrm>
            <a:off x="10621997"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0" name="Text 28"/>
          <p:cNvSpPr txBox="1"/>
          <p:nvPr/>
        </p:nvSpPr>
        <p:spPr>
          <a:xfrm>
            <a:off x="10103859" y="2423160"/>
            <a:ext cx="1493476"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TP4 mini</a:t>
            </a:r>
            <a:endParaRPr lang="en-US" sz="1500" dirty="0"/>
          </a:p>
        </p:txBody>
      </p:sp>
      <p:sp>
        <p:nvSpPr>
          <p:cNvPr id="31" name="Text 29"/>
          <p:cNvSpPr txBox="1"/>
          <p:nvPr/>
        </p:nvSpPr>
        <p:spPr>
          <a:xfrm>
            <a:off x="10103859"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parties 1 à 3</a:t>
            </a:r>
            <a:endParaRPr lang="en-US" sz="1300" dirty="0"/>
          </a:p>
        </p:txBody>
      </p:sp>
      <p:sp>
        <p:nvSpPr>
          <p:cNvPr id="32" name="Shape 30"/>
          <p:cNvSpPr/>
          <p:nvPr/>
        </p:nvSpPr>
        <p:spPr>
          <a:xfrm>
            <a:off x="548640" y="3657600"/>
            <a:ext cx="11094415" cy="883920"/>
          </a:xfrm>
          <a:prstGeom prst="roundRect">
            <a:avLst>
              <a:gd name="adj" fmla="val 6207"/>
            </a:avLst>
          </a:prstGeom>
          <a:solidFill>
            <a:srgbClr val="E8F3EE"/>
          </a:solidFill>
          <a:ln/>
        </p:spPr>
      </p:sp>
      <p:sp>
        <p:nvSpPr>
          <p:cNvPr id="33" name="Text 31"/>
          <p:cNvSpPr txBox="1"/>
          <p:nvPr/>
        </p:nvSpPr>
        <p:spPr>
          <a:xfrm>
            <a:off x="822960" y="365760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Objectif : savoir quelle bibliothèque ouvrir, et produire un premier graphique lisible avec chacune.</a:t>
            </a:r>
            <a:endParaRPr lang="en-US" sz="1700" dirty="0"/>
          </a:p>
        </p:txBody>
      </p:sp>
      <p:sp>
        <p:nvSpPr>
          <p:cNvPr id="34" name="Text 3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Trois bibliothèques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Rôles   |   Comparatif   |   Le même graphique trois fois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TROIS BIBLIOTHÈQUES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Trois bibliothèques, trois usages</a:t>
            </a:r>
            <a:endParaRPr lang="en-US" sz="3000" dirty="0"/>
          </a:p>
        </p:txBody>
      </p:sp>
      <p:sp>
        <p:nvSpPr>
          <p:cNvPr id="6" name="Shape 4"/>
          <p:cNvSpPr/>
          <p:nvPr/>
        </p:nvSpPr>
        <p:spPr>
          <a:xfrm>
            <a:off x="548640" y="1417320"/>
            <a:ext cx="3515258" cy="2560320"/>
          </a:xfrm>
          <a:prstGeom prst="roundRect">
            <a:avLst>
              <a:gd name="adj" fmla="val 285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matplotlib</a:t>
            </a:r>
            <a:endParaRPr lang="en-US" sz="1800" dirty="0"/>
          </a:p>
        </p:txBody>
      </p:sp>
      <p:sp>
        <p:nvSpPr>
          <p:cNvPr id="10" name="Text 8"/>
          <p:cNvSpPr txBox="1"/>
          <p:nvPr/>
        </p:nvSpPr>
        <p:spPr>
          <a:xfrm>
            <a:off x="777240" y="2606040"/>
            <a:ext cx="3058058"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fondation. Chaque détail se règle : titres, axes, couleurs, annotations. seaborn et le </a:t>
            </a:r>
            <a:pPr indent="0" marL="0">
              <a:buNone/>
            </a:pPr>
            <a:r>
              <a:rPr lang="en-US" sz="1500" dirty="0">
                <a:solidFill>
                  <a:srgbClr val="1F3A5F"/>
                </a:solidFill>
                <a:latin typeface="Courier New" pitchFamily="34" charset="0"/>
                <a:ea typeface="Courier New" pitchFamily="34" charset="-122"/>
                <a:cs typeface="Courier New" pitchFamily="34" charset="-120"/>
              </a:rPr>
              <a:t>.plot()</a:t>
            </a:r>
            <a:pPr indent="0" marL="0">
              <a:buNone/>
            </a:pPr>
            <a:r>
              <a:rPr lang="en-US" sz="1500" dirty="0">
                <a:solidFill>
                  <a:srgbClr val="1F2933"/>
                </a:solidFill>
                <a:latin typeface="Calibri" pitchFamily="34" charset="0"/>
                <a:ea typeface="Calibri" pitchFamily="34" charset="-122"/>
                <a:cs typeface="Calibri" pitchFamily="34" charset="-120"/>
              </a:rPr>
              <a:t> de pandas reposent dessus.</a:t>
            </a:r>
            <a:endParaRPr lang="en-US" sz="1500" dirty="0"/>
          </a:p>
        </p:txBody>
      </p:sp>
      <p:sp>
        <p:nvSpPr>
          <p:cNvPr id="11" name="Shape 9"/>
          <p:cNvSpPr/>
          <p:nvPr/>
        </p:nvSpPr>
        <p:spPr>
          <a:xfrm>
            <a:off x="4338218" y="1417320"/>
            <a:ext cx="3515258" cy="2560320"/>
          </a:xfrm>
          <a:prstGeom prst="roundRect">
            <a:avLst>
              <a:gd name="adj" fmla="val 285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seaborn</a:t>
            </a:r>
            <a:endParaRPr lang="en-US" sz="1800" dirty="0"/>
          </a:p>
        </p:txBody>
      </p:sp>
      <p:sp>
        <p:nvSpPr>
          <p:cNvPr id="15" name="Text 13"/>
          <p:cNvSpPr txBox="1"/>
          <p:nvPr/>
        </p:nvSpPr>
        <p:spPr>
          <a:xfrm>
            <a:off x="4566818" y="2606040"/>
            <a:ext cx="3058058"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Des graphiques statistiques en une ligne, à partir d'un DataFrame et de noms de colonnes : distributions, comparaisons, heatmaps.</a:t>
            </a:r>
            <a:endParaRPr lang="en-US" sz="1500" dirty="0"/>
          </a:p>
        </p:txBody>
      </p:sp>
      <p:sp>
        <p:nvSpPr>
          <p:cNvPr id="16" name="Shape 14"/>
          <p:cNvSpPr/>
          <p:nvPr/>
        </p:nvSpPr>
        <p:spPr>
          <a:xfrm>
            <a:off x="8127797" y="1417320"/>
            <a:ext cx="3515258" cy="2560320"/>
          </a:xfrm>
          <a:prstGeom prst="roundRect">
            <a:avLst>
              <a:gd name="adj" fmla="val 285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plotly</a:t>
            </a:r>
            <a:endParaRPr lang="en-US" sz="1800" dirty="0"/>
          </a:p>
        </p:txBody>
      </p:sp>
      <p:sp>
        <p:nvSpPr>
          <p:cNvPr id="20" name="Text 18"/>
          <p:cNvSpPr txBox="1"/>
          <p:nvPr/>
        </p:nvSpPr>
        <p:spPr>
          <a:xfrm>
            <a:off x="8356397" y="2606040"/>
            <a:ext cx="3058058"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Des graphiques interactifs : survol, zoom, légende cliquable. Ils s'exportent en HTML et s'ouvrent dans un navigateur.</a:t>
            </a:r>
            <a:endParaRPr lang="en-US" sz="1500" dirty="0"/>
          </a:p>
        </p:txBody>
      </p:sp>
      <p:sp>
        <p:nvSpPr>
          <p:cNvPr id="21" name="Shape 19"/>
          <p:cNvSpPr/>
          <p:nvPr/>
        </p:nvSpPr>
        <p:spPr>
          <a:xfrm>
            <a:off x="548640" y="4297680"/>
            <a:ext cx="11094415" cy="517398"/>
          </a:xfrm>
          <a:prstGeom prst="rect">
            <a:avLst/>
          </a:prstGeom>
          <a:solidFill>
            <a:srgbClr val="F3F4F6"/>
          </a:solidFill>
          <a:ln/>
        </p:spPr>
      </p:sp>
      <p:sp>
        <p:nvSpPr>
          <p:cNvPr id="22" name="Text 20"/>
          <p:cNvSpPr txBox="1"/>
          <p:nvPr/>
        </p:nvSpPr>
        <p:spPr>
          <a:xfrm>
            <a:off x="731520" y="4443984"/>
            <a:ext cx="10728655"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install matplotlib seaborn plotly</a:t>
            </a:r>
            <a:endParaRPr lang="en-US" sz="15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TROIS BIBLIOTHÈQUES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comparatif</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7166"/>
                <a:gridCol w="3025750"/>
                <a:gridCol w="3025750"/>
                <a:gridCol w="3025750"/>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matplotlib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seaborn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plotly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Point fort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contrôle total de chaque élément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statistiques en une ligne, style soigné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interactivité, partage en HTML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Point faible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code verbeux pour un beau rendu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moins souple hors des graphiques prévus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moins adapté à l'impression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Entrée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des listes, des Series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DataFrame et des noms de colonnes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DataFrame et des noms de colonnes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Sortie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image PNG, PDF, SVG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image (c'est du matplotlib)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page HTML interactive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Idéal pour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rapport, figure sur mesure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explorer une distribution, comparer des groupes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tableau de bord, exploration à la souris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TROIS BIBLIOTHÈQUES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même graphique, trois écritures</a:t>
            </a:r>
            <a:endParaRPr lang="en-US" sz="3000" dirty="0"/>
          </a:p>
        </p:txBody>
      </p:sp>
      <p:sp>
        <p:nvSpPr>
          <p:cNvPr id="6" name="Text 4"/>
          <p:cNvSpPr txBox="1"/>
          <p:nvPr/>
        </p:nvSpPr>
        <p:spPr>
          <a:xfrm>
            <a:off x="548640" y="1417320"/>
            <a:ext cx="339333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matplotlib : on agrège, puis on trace</a:t>
            </a:r>
            <a:endParaRPr lang="en-US" sz="1200" dirty="0"/>
          </a:p>
        </p:txBody>
      </p:sp>
      <p:sp>
        <p:nvSpPr>
          <p:cNvPr id="7" name="Shape 5"/>
          <p:cNvSpPr/>
          <p:nvPr/>
        </p:nvSpPr>
        <p:spPr>
          <a:xfrm>
            <a:off x="548640" y="1709928"/>
            <a:ext cx="3393338" cy="1071880"/>
          </a:xfrm>
          <a:prstGeom prst="rect">
            <a:avLst/>
          </a:prstGeom>
          <a:solidFill>
            <a:srgbClr val="F3F4F6"/>
          </a:solidFill>
          <a:ln/>
        </p:spPr>
      </p:sp>
      <p:sp>
        <p:nvSpPr>
          <p:cNvPr id="8" name="Text 6"/>
          <p:cNvSpPr txBox="1"/>
          <p:nvPr/>
        </p:nvSpPr>
        <p:spPr>
          <a:xfrm>
            <a:off x="731520" y="1856232"/>
            <a:ext cx="3027578"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fig, ax = plt.subplots()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ax.barh(par_region.index,</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par_region.values)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ax.set_title("CA par région")</a:t>
            </a:r>
            <a:endParaRPr lang="en-US" sz="1300" dirty="0"/>
          </a:p>
        </p:txBody>
      </p:sp>
      <p:pic>
        <p:nvPicPr>
          <p:cNvPr id="9" name="Image 0" descr="Barres horizontales du chiffre d'affaires par région, tracées avec matplotlib">    </p:cNvPr>
          <p:cNvPicPr>
            <a:picLocks noChangeAspect="1"/>
          </p:cNvPicPr>
          <p:nvPr/>
        </p:nvPicPr>
        <p:blipFill>
          <a:blip r:embed="rId1"/>
          <a:stretch>
            <a:fillRect/>
          </a:stretch>
        </p:blipFill>
        <p:spPr>
          <a:xfrm>
            <a:off x="592074" y="3101848"/>
            <a:ext cx="3306470" cy="1828800"/>
          </a:xfrm>
          <a:prstGeom prst="rect">
            <a:avLst/>
          </a:prstGeom>
        </p:spPr>
      </p:pic>
      <p:sp>
        <p:nvSpPr>
          <p:cNvPr id="10" name="Text 7"/>
          <p:cNvSpPr txBox="1"/>
          <p:nvPr/>
        </p:nvSpPr>
        <p:spPr>
          <a:xfrm>
            <a:off x="4399178" y="1417320"/>
            <a:ext cx="339333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seaborn : il agrège lui-même</a:t>
            </a:r>
            <a:endParaRPr lang="en-US" sz="1200" dirty="0"/>
          </a:p>
        </p:txBody>
      </p:sp>
      <p:sp>
        <p:nvSpPr>
          <p:cNvPr id="11" name="Shape 8"/>
          <p:cNvSpPr/>
          <p:nvPr/>
        </p:nvSpPr>
        <p:spPr>
          <a:xfrm>
            <a:off x="4399178" y="1709928"/>
            <a:ext cx="3393338" cy="1071880"/>
          </a:xfrm>
          <a:prstGeom prst="rect">
            <a:avLst/>
          </a:prstGeom>
          <a:solidFill>
            <a:srgbClr val="F3F4F6"/>
          </a:solidFill>
          <a:ln/>
        </p:spPr>
      </p:sp>
      <p:sp>
        <p:nvSpPr>
          <p:cNvPr id="12" name="Text 9"/>
          <p:cNvSpPr txBox="1"/>
          <p:nvPr/>
        </p:nvSpPr>
        <p:spPr>
          <a:xfrm>
            <a:off x="4582058" y="1856232"/>
            <a:ext cx="3027578"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sns.barplot(data=indicateurs,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x="ca", y="region",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estimator="sum",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errorbar=None, ax=ax)</a:t>
            </a:r>
            <a:endParaRPr lang="en-US" sz="1300" dirty="0"/>
          </a:p>
        </p:txBody>
      </p:sp>
      <p:pic>
        <p:nvPicPr>
          <p:cNvPr id="13" name="Image 1" descr="Le même graphique tracé avec seaborn, avec une grille">    </p:cNvPr>
          <p:cNvPicPr>
            <a:picLocks noChangeAspect="1"/>
          </p:cNvPicPr>
          <p:nvPr/>
        </p:nvPicPr>
        <p:blipFill>
          <a:blip r:embed="rId2"/>
          <a:stretch>
            <a:fillRect/>
          </a:stretch>
        </p:blipFill>
        <p:spPr>
          <a:xfrm>
            <a:off x="4516679" y="3101848"/>
            <a:ext cx="3158338" cy="1828800"/>
          </a:xfrm>
          <a:prstGeom prst="rect">
            <a:avLst/>
          </a:prstGeom>
        </p:spPr>
      </p:pic>
      <p:sp>
        <p:nvSpPr>
          <p:cNvPr id="14" name="Text 10"/>
          <p:cNvSpPr txBox="1"/>
          <p:nvPr/>
        </p:nvSpPr>
        <p:spPr>
          <a:xfrm>
            <a:off x="8249717" y="1417320"/>
            <a:ext cx="339333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plotly : interactif</a:t>
            </a:r>
            <a:endParaRPr lang="en-US" sz="1200" dirty="0"/>
          </a:p>
        </p:txBody>
      </p:sp>
      <p:sp>
        <p:nvSpPr>
          <p:cNvPr id="15" name="Shape 11"/>
          <p:cNvSpPr/>
          <p:nvPr/>
        </p:nvSpPr>
        <p:spPr>
          <a:xfrm>
            <a:off x="8249717" y="1709928"/>
            <a:ext cx="3393338" cy="1071880"/>
          </a:xfrm>
          <a:prstGeom prst="rect">
            <a:avLst/>
          </a:prstGeom>
          <a:solidFill>
            <a:srgbClr val="F3F4F6"/>
          </a:solidFill>
          <a:ln/>
        </p:spPr>
      </p:sp>
      <p:sp>
        <p:nvSpPr>
          <p:cNvPr id="16" name="Text 12"/>
          <p:cNvSpPr txBox="1"/>
          <p:nvPr/>
        </p:nvSpPr>
        <p:spPr>
          <a:xfrm>
            <a:off x="8432597" y="1856232"/>
            <a:ext cx="3027578"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fig = px.bar(par_region,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orientation="h",</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title="CA par région")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fig.show()</a:t>
            </a:r>
            <a:endParaRPr lang="en-US" sz="1300" dirty="0"/>
          </a:p>
        </p:txBody>
      </p:sp>
      <p:pic>
        <p:nvPicPr>
          <p:cNvPr id="17" name="Image 2" descr="Le même graphique tracé avec plotly, axes nommés region et value">    </p:cNvPr>
          <p:cNvPicPr>
            <a:picLocks noChangeAspect="1"/>
          </p:cNvPicPr>
          <p:nvPr/>
        </p:nvPicPr>
        <p:blipFill>
          <a:blip r:embed="rId3"/>
          <a:stretch>
            <a:fillRect/>
          </a:stretch>
        </p:blipFill>
        <p:spPr>
          <a:xfrm>
            <a:off x="8574786" y="3101848"/>
            <a:ext cx="2743200" cy="1828800"/>
          </a:xfrm>
          <a:prstGeom prst="rect">
            <a:avLst/>
          </a:prstGeom>
        </p:spPr>
      </p:pic>
      <p:sp>
        <p:nvSpPr>
          <p:cNvPr id="18"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L'essentiel de chaque bibliothèque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pandas   |   matplotlib   |   seaborn   |   plotly</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L'ESSENTIEL DE CHAQUE BIBLIOTHÈQUE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pandas : un aperçu en une ligne</a:t>
            </a:r>
            <a:endParaRPr lang="en-US" sz="3000" dirty="0"/>
          </a:p>
        </p:txBody>
      </p:sp>
      <p:sp>
        <p:nvSpPr>
          <p:cNvPr id="6" name="Shape 4"/>
          <p:cNvSpPr/>
          <p:nvPr/>
        </p:nvSpPr>
        <p:spPr>
          <a:xfrm>
            <a:off x="548640" y="1417320"/>
            <a:ext cx="3868078" cy="1191768"/>
          </a:xfrm>
          <a:prstGeom prst="rect">
            <a:avLst/>
          </a:prstGeom>
          <a:solidFill>
            <a:srgbClr val="F3F4F6"/>
          </a:solidFill>
          <a:ln/>
        </p:spPr>
      </p:sp>
      <p:sp>
        <p:nvSpPr>
          <p:cNvPr id="7" name="Text 5"/>
          <p:cNvSpPr txBox="1"/>
          <p:nvPr/>
        </p:nvSpPr>
        <p:spPr>
          <a:xfrm>
            <a:off x="731520" y="1563624"/>
            <a:ext cx="3502318" cy="899160"/>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mensuel.plot(marker="o")</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par_region.plot.barh()</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ventes["montant"].plot.hist(bins=40)</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indicateurs.plot.scatter(</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x="nb_commandes", y="ca")</a:t>
            </a:r>
            <a:endParaRPr lang="en-US" sz="1200" dirty="0"/>
          </a:p>
        </p:txBody>
      </p:sp>
      <p:sp>
        <p:nvSpPr>
          <p:cNvPr id="8" name="Text 6"/>
          <p:cNvSpPr txBox="1"/>
          <p:nvPr/>
        </p:nvSpPr>
        <p:spPr>
          <a:xfrm>
            <a:off x="548640" y="2929128"/>
            <a:ext cx="3868078" cy="10515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Toute Series ou DataFrame a une méthode </a:t>
            </a:r>
            <a:pPr indent="0" marL="0">
              <a:buNone/>
            </a:pPr>
            <a:r>
              <a:rPr lang="en-US" sz="1500" dirty="0">
                <a:solidFill>
                  <a:srgbClr val="1F3A5F"/>
                </a:solidFill>
                <a:latin typeface="Courier New" pitchFamily="34" charset="0"/>
                <a:ea typeface="Courier New" pitchFamily="34" charset="-122"/>
                <a:cs typeface="Courier New" pitchFamily="34" charset="-120"/>
              </a:rPr>
              <a:t>.plot()</a:t>
            </a:r>
            <a:pPr indent="0" marL="0">
              <a:buNone/>
            </a:pPr>
            <a:r>
              <a:rPr lang="en-US" sz="1500" dirty="0">
                <a:solidFill>
                  <a:srgbClr val="6B7280"/>
                </a:solidFill>
                <a:latin typeface="Calibri" pitchFamily="34" charset="0"/>
                <a:ea typeface="Calibri" pitchFamily="34" charset="-122"/>
                <a:cs typeface="Calibri" pitchFamily="34" charset="-120"/>
              </a:rPr>
              <a:t> : elle appelle matplotlib et renvoie un </a:t>
            </a:r>
            <a:pPr indent="0" marL="0">
              <a:buNone/>
            </a:pPr>
            <a:r>
              <a:rPr lang="en-US" sz="1500" dirty="0">
                <a:solidFill>
                  <a:srgbClr val="1F3A5F"/>
                </a:solidFill>
                <a:latin typeface="Courier New" pitchFamily="34" charset="0"/>
                <a:ea typeface="Courier New" pitchFamily="34" charset="-122"/>
                <a:cs typeface="Courier New" pitchFamily="34" charset="-120"/>
              </a:rPr>
              <a:t>ax</a:t>
            </a:r>
            <a:pPr indent="0" marL="0">
              <a:buNone/>
            </a:pPr>
            <a:r>
              <a:rPr lang="en-US" sz="1500" dirty="0">
                <a:solidFill>
                  <a:srgbClr val="6B7280"/>
                </a:solidFill>
                <a:latin typeface="Calibri" pitchFamily="34" charset="0"/>
                <a:ea typeface="Calibri" pitchFamily="34" charset="-122"/>
                <a:cs typeface="Calibri" pitchFamily="34" charset="-120"/>
              </a:rPr>
              <a:t>. Un DataFrame donne une courbe par colonne.</a:t>
            </a:r>
            <a:endParaRPr lang="en-US" sz="1500" dirty="0"/>
          </a:p>
        </p:txBody>
      </p:sp>
      <p:pic>
        <p:nvPicPr>
          <p:cNvPr id="9" name="Image 0" descr="Courbe du chiffre d'affaires mensuel et barres par région, tracées avec le .plot() de pandas, sans réglage">    </p:cNvPr>
          <p:cNvPicPr>
            <a:picLocks noChangeAspect="1"/>
          </p:cNvPicPr>
          <p:nvPr/>
        </p:nvPicPr>
        <p:blipFill>
          <a:blip r:embed="rId1"/>
          <a:stretch>
            <a:fillRect/>
          </a:stretch>
        </p:blipFill>
        <p:spPr>
          <a:xfrm>
            <a:off x="4930071" y="1417320"/>
            <a:ext cx="6656832" cy="2377440"/>
          </a:xfrm>
          <a:prstGeom prst="rect">
            <a:avLst/>
          </a:prstGeom>
        </p:spPr>
      </p:pic>
      <p:sp>
        <p:nvSpPr>
          <p:cNvPr id="10" name="Shape 7"/>
          <p:cNvSpPr/>
          <p:nvPr/>
        </p:nvSpPr>
        <p:spPr>
          <a:xfrm>
            <a:off x="4873918" y="4114800"/>
            <a:ext cx="6769137" cy="822960"/>
          </a:xfrm>
          <a:prstGeom prst="roundRect">
            <a:avLst>
              <a:gd name="adj" fmla="val 6667"/>
            </a:avLst>
          </a:prstGeom>
          <a:solidFill>
            <a:srgbClr val="E8F3EE"/>
          </a:solidFill>
          <a:ln/>
        </p:spPr>
      </p:sp>
      <p:sp>
        <p:nvSpPr>
          <p:cNvPr id="11" name="Text 8"/>
          <p:cNvSpPr txBox="1"/>
          <p:nvPr/>
        </p:nvSpPr>
        <p:spPr>
          <a:xfrm>
            <a:off x="5148238" y="4114800"/>
            <a:ext cx="6220497" cy="8229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Idéal pour explorer. Pour un graphique à montrer : titre, unité, axe à zéro, montants lisibles, avec matplotlib.</a:t>
            </a:r>
            <a:endParaRPr lang="en-US" sz="15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L'ESSENTIEL DE CHAQUE BIBLIOTHÈQUE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matplotlib : une figure, un Axes</a:t>
            </a:r>
            <a:endParaRPr lang="en-US" sz="3000" dirty="0"/>
          </a:p>
        </p:txBody>
      </p:sp>
      <p:sp>
        <p:nvSpPr>
          <p:cNvPr id="6" name="Shape 4"/>
          <p:cNvSpPr/>
          <p:nvPr/>
        </p:nvSpPr>
        <p:spPr>
          <a:xfrm>
            <a:off x="548640" y="1417320"/>
            <a:ext cx="4835098" cy="1461516"/>
          </a:xfrm>
          <a:prstGeom prst="rect">
            <a:avLst/>
          </a:prstGeom>
          <a:solidFill>
            <a:srgbClr val="F3F4F6"/>
          </a:solidFill>
          <a:ln/>
        </p:spPr>
      </p:sp>
      <p:sp>
        <p:nvSpPr>
          <p:cNvPr id="7" name="Text 5"/>
          <p:cNvSpPr txBox="1"/>
          <p:nvPr/>
        </p:nvSpPr>
        <p:spPr>
          <a:xfrm>
            <a:off x="731520" y="1563624"/>
            <a:ext cx="4469338" cy="116890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fig, ax = plt.subplots(figsize=(8, 4))</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ax.plot(mensuel.index, mensuel.values,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marker="o")</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ax.set_title("Chiffre d'affaires mensuel")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ax.set_ylabel("euros")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ax.set_ylim(0, 65000)</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198876"/>
          <a:ext cx="4835098" cy="914400"/>
        </p:xfrm>
        <a:graphic>
          <a:graphicData uri="http://schemas.openxmlformats.org/drawingml/2006/table">
            <a:tbl>
              <a:tblPr/>
              <a:tblGrid>
                <a:gridCol w="2417549"/>
                <a:gridCol w="241754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Méthode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Graphique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ax.plot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courbe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ax.bar</a:t>
                      </a:r>
                      <a:pPr indent="0" marL="0">
                        <a:buNone/>
                      </a:pPr>
                      <a:r>
                        <a:rPr lang="en-US" sz="1400" dirty="0">
                          <a:solidFill>
                            <a:srgbClr val="1F2933"/>
                          </a:solidFill>
                          <a:latin typeface="Calibri" pitchFamily="34" charset="0"/>
                          <a:ea typeface="Calibri" pitchFamily="34" charset="-122"/>
                          <a:cs typeface="Calibri" pitchFamily="34" charset="-120"/>
                        </a:rPr>
                        <a:t>, </a:t>
                      </a:r>
                      <a:pPr indent="0" marL="0">
                        <a:buNone/>
                      </a:pPr>
                      <a:r>
                        <a:rPr lang="en-US" sz="1400" dirty="0">
                          <a:solidFill>
                            <a:srgbClr val="1F3A5F"/>
                          </a:solidFill>
                          <a:latin typeface="Courier New" pitchFamily="34" charset="0"/>
                          <a:ea typeface="Courier New" pitchFamily="34" charset="-122"/>
                          <a:cs typeface="Courier New" pitchFamily="34" charset="-120"/>
                        </a:rPr>
                        <a:t>ax.barh</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barres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ax.hist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histogramme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ax.scatter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nuage de points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pic>
        <p:nvPicPr>
          <p:cNvPr id="9" name="Image 0" descr="Courbe du chiffre d'affaires mensuel avec titre, axe à partir de zéro et montants en milliers d'euros">    </p:cNvPr>
          <p:cNvPicPr>
            <a:picLocks noChangeAspect="1"/>
          </p:cNvPicPr>
          <p:nvPr/>
        </p:nvPicPr>
        <p:blipFill>
          <a:blip r:embed="rId1"/>
          <a:stretch>
            <a:fillRect/>
          </a:stretch>
        </p:blipFill>
        <p:spPr>
          <a:xfrm>
            <a:off x="6066736" y="1417320"/>
            <a:ext cx="5350520" cy="3108960"/>
          </a:xfrm>
          <a:prstGeom prst="rect">
            <a:avLst/>
          </a:prstGeom>
        </p:spPr>
      </p:pic>
      <p:sp>
        <p:nvSpPr>
          <p:cNvPr id="10" name="Shape 6"/>
          <p:cNvSpPr/>
          <p:nvPr/>
        </p:nvSpPr>
        <p:spPr>
          <a:xfrm>
            <a:off x="5840938" y="4846320"/>
            <a:ext cx="5802117" cy="822960"/>
          </a:xfrm>
          <a:prstGeom prst="roundRect">
            <a:avLst>
              <a:gd name="adj" fmla="val 6667"/>
            </a:avLst>
          </a:prstGeom>
          <a:solidFill>
            <a:srgbClr val="E8F3EE"/>
          </a:solidFill>
          <a:ln/>
        </p:spPr>
      </p:sp>
      <p:sp>
        <p:nvSpPr>
          <p:cNvPr id="11" name="Text 7"/>
          <p:cNvSpPr txBox="1"/>
          <p:nvPr/>
        </p:nvSpPr>
        <p:spPr>
          <a:xfrm>
            <a:off x="6115258" y="4846320"/>
            <a:ext cx="5253477" cy="822960"/>
          </a:xfrm>
          <a:prstGeom prst="rect">
            <a:avLst/>
          </a:prstGeom>
          <a:noFill/>
          <a:ln/>
        </p:spPr>
        <p:txBody>
          <a:bodyPr wrap="square" lIns="0" tIns="0" rIns="0" bIns="0" rtlCol="0" anchor="ctr"/>
          <a:lstStyle/>
          <a:p>
            <a:pPr indent="0" marL="0">
              <a:buNone/>
            </a:pPr>
            <a:r>
              <a:rPr lang="en-US" sz="1500" dirty="0">
                <a:solidFill>
                  <a:srgbClr val="2F7D62"/>
                </a:solidFill>
                <a:latin typeface="Courier New" pitchFamily="34" charset="0"/>
                <a:ea typeface="Courier New" pitchFamily="34" charset="-122"/>
                <a:cs typeface="Courier New" pitchFamily="34" charset="-120"/>
              </a:rPr>
              <a:t>plt.subplots()</a:t>
            </a:r>
            <a:pPr indent="0" marL="0">
              <a:buNone/>
            </a:pPr>
            <a:r>
              <a:rPr lang="en-US" sz="1500" dirty="0">
                <a:solidFill>
                  <a:srgbClr val="1F3A5F"/>
                </a:solidFill>
                <a:latin typeface="Calibri" pitchFamily="34" charset="0"/>
                <a:ea typeface="Calibri" pitchFamily="34" charset="-122"/>
                <a:cs typeface="Calibri" pitchFamily="34" charset="-120"/>
              </a:rPr>
              <a:t> renvoie la </a:t>
            </a:r>
            <a:pPr indent="0" marL="0">
              <a:buNone/>
            </a:pPr>
            <a:r>
              <a:rPr lang="en-US" sz="1500" dirty="0">
                <a:solidFill>
                  <a:srgbClr val="2F7D62"/>
                </a:solidFill>
                <a:latin typeface="Courier New" pitchFamily="34" charset="0"/>
                <a:ea typeface="Courier New" pitchFamily="34" charset="-122"/>
                <a:cs typeface="Courier New" pitchFamily="34" charset="-120"/>
              </a:rPr>
              <a:t>Figure</a:t>
            </a:r>
            <a:pPr indent="0" marL="0">
              <a:buNone/>
            </a:pPr>
            <a:r>
              <a:rPr lang="en-US" sz="1500" dirty="0">
                <a:solidFill>
                  <a:srgbClr val="1F3A5F"/>
                </a:solidFill>
                <a:latin typeface="Calibri" pitchFamily="34" charset="0"/>
                <a:ea typeface="Calibri" pitchFamily="34" charset="-122"/>
                <a:cs typeface="Calibri" pitchFamily="34" charset="-120"/>
              </a:rPr>
              <a:t> (l'image) et l'</a:t>
            </a:r>
            <a:pPr indent="0" marL="0">
              <a:buNone/>
            </a:pPr>
            <a:r>
              <a:rPr lang="en-US" sz="1500" dirty="0">
                <a:solidFill>
                  <a:srgbClr val="2F7D62"/>
                </a:solidFill>
                <a:latin typeface="Courier New" pitchFamily="34" charset="0"/>
                <a:ea typeface="Courier New" pitchFamily="34" charset="-122"/>
                <a:cs typeface="Courier New" pitchFamily="34" charset="-120"/>
              </a:rPr>
              <a:t>Axes</a:t>
            </a:r>
            <a:pPr indent="0" marL="0">
              <a:buNone/>
            </a:pPr>
            <a:r>
              <a:rPr lang="en-US" sz="1500" dirty="0">
                <a:solidFill>
                  <a:srgbClr val="1F3A5F"/>
                </a:solidFill>
                <a:latin typeface="Calibri" pitchFamily="34" charset="0"/>
                <a:ea typeface="Calibri" pitchFamily="34" charset="-122"/>
                <a:cs typeface="Calibri" pitchFamily="34" charset="-120"/>
              </a:rPr>
              <a:t> (le graphique) : on agit ensuite sur </a:t>
            </a:r>
            <a:pPr indent="0" marL="0">
              <a:buNone/>
            </a:pPr>
            <a:r>
              <a:rPr lang="en-US" sz="1500" dirty="0">
                <a:solidFill>
                  <a:srgbClr val="2F7D62"/>
                </a:solidFill>
                <a:latin typeface="Courier New" pitchFamily="34" charset="0"/>
                <a:ea typeface="Courier New" pitchFamily="34" charset="-122"/>
                <a:cs typeface="Courier New" pitchFamily="34" charset="-120"/>
              </a:rPr>
              <a:t>ax</a:t>
            </a:r>
            <a:pPr indent="0" marL="0">
              <a:buNone/>
            </a:pPr>
            <a:r>
              <a:rPr lang="en-US" sz="1500" dirty="0">
                <a:solidFill>
                  <a:srgbClr val="1F3A5F"/>
                </a:solidFill>
                <a:latin typeface="Calibri" pitchFamily="34" charset="0"/>
                <a:ea typeface="Calibri" pitchFamily="34" charset="-122"/>
                <a:cs typeface="Calibri" pitchFamily="34" charset="-120"/>
              </a:rPr>
              <a:t>.</a:t>
            </a:r>
            <a:endParaRPr lang="en-US" sz="1500" dirty="0"/>
          </a:p>
        </p:txBody>
      </p:sp>
      <p:sp>
        <p:nvSpPr>
          <p:cNvPr id="12"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L'ESSENTIEL DE CHAQUE BIBLIOTHÈQUE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seaborn : des statistiques en une ligne</a:t>
            </a:r>
            <a:endParaRPr lang="en-US" sz="3000" dirty="0"/>
          </a:p>
        </p:txBody>
      </p:sp>
      <p:sp>
        <p:nvSpPr>
          <p:cNvPr id="6" name="Shape 4"/>
          <p:cNvSpPr/>
          <p:nvPr/>
        </p:nvSpPr>
        <p:spPr>
          <a:xfrm>
            <a:off x="548640" y="1417320"/>
            <a:ext cx="5318608" cy="1131824"/>
          </a:xfrm>
          <a:prstGeom prst="rect">
            <a:avLst/>
          </a:prstGeom>
          <a:solidFill>
            <a:srgbClr val="F3F4F6"/>
          </a:solidFill>
          <a:ln/>
        </p:spPr>
      </p:sp>
      <p:sp>
        <p:nvSpPr>
          <p:cNvPr id="7" name="Text 5"/>
          <p:cNvSpPr txBox="1"/>
          <p:nvPr/>
        </p:nvSpPr>
        <p:spPr>
          <a:xfrm>
            <a:off x="731520" y="1563624"/>
            <a:ext cx="495284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sns.set_theme(style="whitegrid")</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sns.boxplot(data=ventes, x="categorie",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y="montant", ax=ax)</a:t>
            </a:r>
            <a:endParaRPr lang="en-US" sz="1400" dirty="0"/>
          </a:p>
        </p:txBody>
      </p:sp>
      <p:pic>
        <p:nvPicPr>
          <p:cNvPr id="8" name="Image 0" descr="Boîtes à moustaches du montant des commandes par catégorie">    </p:cNvPr>
          <p:cNvPicPr>
            <a:picLocks noChangeAspect="1"/>
          </p:cNvPicPr>
          <p:nvPr/>
        </p:nvPicPr>
        <p:blipFill>
          <a:blip r:embed="rId1"/>
          <a:stretch>
            <a:fillRect/>
          </a:stretch>
        </p:blipFill>
        <p:spPr>
          <a:xfrm>
            <a:off x="1191875" y="2869184"/>
            <a:ext cx="4032138" cy="2377440"/>
          </a:xfrm>
          <a:prstGeom prst="rect">
            <a:avLst/>
          </a:prstGeom>
        </p:spPr>
      </p:pic>
      <p:sp>
        <p:nvSpPr>
          <p:cNvPr id="9" name="Shape 6"/>
          <p:cNvSpPr/>
          <p:nvPr/>
        </p:nvSpPr>
        <p:spPr>
          <a:xfrm>
            <a:off x="6324448" y="1417320"/>
            <a:ext cx="5318608" cy="712216"/>
          </a:xfrm>
          <a:prstGeom prst="rect">
            <a:avLst/>
          </a:prstGeom>
          <a:solidFill>
            <a:srgbClr val="F3F4F6"/>
          </a:solidFill>
          <a:ln/>
        </p:spPr>
      </p:sp>
      <p:sp>
        <p:nvSpPr>
          <p:cNvPr id="10" name="Text 7"/>
          <p:cNvSpPr txBox="1"/>
          <p:nvPr/>
        </p:nvSpPr>
        <p:spPr>
          <a:xfrm>
            <a:off x="6507328" y="1563624"/>
            <a:ext cx="4952848" cy="41960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sns.heatmap(taux, annot=True, fmt=".0%",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cmap="RdBu", center=1, ax=ax)</a:t>
            </a:r>
            <a:endParaRPr lang="en-US" sz="1400" dirty="0"/>
          </a:p>
        </p:txBody>
      </p:sp>
      <p:pic>
        <p:nvPicPr>
          <p:cNvPr id="11" name="Image 1" descr="Heatmap du taux de réalisation de l'objectif par région et par mois">    </p:cNvPr>
          <p:cNvPicPr>
            <a:picLocks noChangeAspect="1"/>
          </p:cNvPicPr>
          <p:nvPr/>
        </p:nvPicPr>
        <p:blipFill>
          <a:blip r:embed="rId2"/>
          <a:stretch>
            <a:fillRect/>
          </a:stretch>
        </p:blipFill>
        <p:spPr>
          <a:xfrm>
            <a:off x="6324448" y="2449576"/>
            <a:ext cx="5318608" cy="2337849"/>
          </a:xfrm>
          <a:prstGeom prst="rect">
            <a:avLst/>
          </a:prstGeom>
        </p:spPr>
      </p:pic>
      <p:sp>
        <p:nvSpPr>
          <p:cNvPr id="12" name="Text 8"/>
          <p:cNvSpPr txBox="1"/>
          <p:nvPr/>
        </p:nvSpPr>
        <p:spPr>
          <a:xfrm>
            <a:off x="548640" y="5566664"/>
            <a:ext cx="11094415"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Autres classiques : </a:t>
            </a:r>
            <a:pPr indent="0" marL="0">
              <a:buNone/>
            </a:pPr>
            <a:r>
              <a:rPr lang="en-US" sz="1500" dirty="0">
                <a:solidFill>
                  <a:srgbClr val="1F3A5F"/>
                </a:solidFill>
                <a:latin typeface="Courier New" pitchFamily="34" charset="0"/>
                <a:ea typeface="Courier New" pitchFamily="34" charset="-122"/>
                <a:cs typeface="Courier New" pitchFamily="34" charset="-120"/>
              </a:rPr>
              <a:t>histplot</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countplot</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lineplot</a:t>
            </a:r>
            <a:pPr indent="0" marL="0">
              <a:buNone/>
            </a:pPr>
            <a:r>
              <a:rPr lang="en-US" sz="1500" dirty="0">
                <a:solidFill>
                  <a:srgbClr val="6B7280"/>
                </a:solidFill>
                <a:latin typeface="Calibri" pitchFamily="34" charset="0"/>
                <a:ea typeface="Calibri" pitchFamily="34" charset="-122"/>
                <a:cs typeface="Calibri" pitchFamily="34" charset="-120"/>
              </a:rPr>
              <a:t> avec </a:t>
            </a:r>
            <a:pPr indent="0" marL="0">
              <a:buNone/>
            </a:pPr>
            <a:r>
              <a:rPr lang="en-US" sz="1500" dirty="0">
                <a:solidFill>
                  <a:srgbClr val="1F3A5F"/>
                </a:solidFill>
                <a:latin typeface="Courier New" pitchFamily="34" charset="0"/>
                <a:ea typeface="Courier New" pitchFamily="34" charset="-122"/>
                <a:cs typeface="Courier New" pitchFamily="34" charset="-120"/>
              </a:rPr>
              <a:t>hue</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relplot</a:t>
            </a:r>
            <a:pPr indent="0" marL="0">
              <a:buNone/>
            </a:pPr>
            <a:r>
              <a:rPr lang="en-US" sz="1500" dirty="0">
                <a:solidFill>
                  <a:srgbClr val="6B7280"/>
                </a:solidFill>
                <a:latin typeface="Calibri" pitchFamily="34" charset="0"/>
                <a:ea typeface="Calibri" pitchFamily="34" charset="-122"/>
                <a:cs typeface="Calibri" pitchFamily="34" charset="-120"/>
              </a:rPr>
              <a:t> pour un graphique par groupe. Toujours passer </a:t>
            </a:r>
            <a:pPr indent="0" marL="0">
              <a:buNone/>
            </a:pPr>
            <a:r>
              <a:rPr lang="en-US" sz="1500" dirty="0">
                <a:solidFill>
                  <a:srgbClr val="1F3A5F"/>
                </a:solidFill>
                <a:latin typeface="Courier New" pitchFamily="34" charset="0"/>
                <a:ea typeface="Courier New" pitchFamily="34" charset="-122"/>
                <a:cs typeface="Courier New" pitchFamily="34" charset="-120"/>
              </a:rPr>
              <a:t>ax=ax</a:t>
            </a:r>
            <a:pP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13"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L'ESSENTIEL DE CHAQUE BIBLIOTHÈQUE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plotly : explorer à la souris</a:t>
            </a:r>
            <a:endParaRPr lang="en-US" sz="3000" dirty="0"/>
          </a:p>
        </p:txBody>
      </p:sp>
      <p:sp>
        <p:nvSpPr>
          <p:cNvPr id="6" name="Shape 4"/>
          <p:cNvSpPr/>
          <p:nvPr/>
        </p:nvSpPr>
        <p:spPr>
          <a:xfrm>
            <a:off x="548640" y="1417320"/>
            <a:ext cx="4835098" cy="2090928"/>
          </a:xfrm>
          <a:prstGeom prst="rect">
            <a:avLst/>
          </a:prstGeom>
          <a:solidFill>
            <a:srgbClr val="F3F4F6"/>
          </a:solidFill>
          <a:ln/>
        </p:spPr>
      </p:sp>
      <p:sp>
        <p:nvSpPr>
          <p:cNvPr id="7" name="Text 5"/>
          <p:cNvSpPr txBox="1"/>
          <p:nvPr/>
        </p:nvSpPr>
        <p:spPr>
          <a:xfrm>
            <a:off x="731520" y="1563624"/>
            <a:ext cx="4469338"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 = px.line(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indicateurs, x="mois", y="ca",</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color="region", markers=True,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hover_data=["nb_commandes"],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title="CA mensuel par région",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fig.show()</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fig.write_html("ca.html")</a:t>
            </a:r>
            <a:endParaRPr lang="en-US" sz="1500" dirty="0"/>
          </a:p>
        </p:txBody>
      </p:sp>
      <p:sp>
        <p:nvSpPr>
          <p:cNvPr id="8" name="Text 6"/>
          <p:cNvSpPr txBox="1"/>
          <p:nvPr/>
        </p:nvSpPr>
        <p:spPr>
          <a:xfrm>
            <a:off x="548640" y="3828288"/>
            <a:ext cx="483509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Aussi : </a:t>
            </a:r>
            <a:pPr indent="0" marL="0">
              <a:buNone/>
            </a:pPr>
            <a:r>
              <a:rPr lang="en-US" sz="1500" dirty="0">
                <a:solidFill>
                  <a:srgbClr val="1F3A5F"/>
                </a:solidFill>
                <a:latin typeface="Courier New" pitchFamily="34" charset="0"/>
                <a:ea typeface="Courier New" pitchFamily="34" charset="-122"/>
                <a:cs typeface="Courier New" pitchFamily="34" charset="-120"/>
              </a:rPr>
              <a:t>px.bar</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px.scatter</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px.histogram</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px.box</a:t>
            </a:r>
            <a:pPr indent="0" marL="0">
              <a:buNone/>
            </a:pPr>
            <a:r>
              <a:rPr lang="en-US" sz="1500" dirty="0">
                <a:solidFill>
                  <a:srgbClr val="6B7280"/>
                </a:solidFill>
                <a:latin typeface="Calibri" pitchFamily="34" charset="0"/>
                <a:ea typeface="Calibri" pitchFamily="34" charset="-122"/>
                <a:cs typeface="Calibri" pitchFamily="34" charset="-120"/>
              </a:rPr>
              <a:t>. Même logique que seaborn : un DataFrame et des noms de colonnes.</a:t>
            </a:r>
            <a:endParaRPr lang="en-US" sz="1500" dirty="0"/>
          </a:p>
        </p:txBody>
      </p:sp>
      <p:pic>
        <p:nvPicPr>
          <p:cNvPr id="9" name="Image 0" descr="Courbes plotly du chiffre d'affaires mensuel des six régions">    </p:cNvPr>
          <p:cNvPicPr>
            <a:picLocks noChangeAspect="1"/>
          </p:cNvPicPr>
          <p:nvPr/>
        </p:nvPicPr>
        <p:blipFill>
          <a:blip r:embed="rId1"/>
          <a:stretch>
            <a:fillRect/>
          </a:stretch>
        </p:blipFill>
        <p:spPr>
          <a:xfrm>
            <a:off x="5954905" y="1417320"/>
            <a:ext cx="5574182" cy="2926080"/>
          </a:xfrm>
          <a:prstGeom prst="rect">
            <a:avLst/>
          </a:prstGeom>
        </p:spPr>
      </p:pic>
      <p:sp>
        <p:nvSpPr>
          <p:cNvPr id="10" name="Shape 7"/>
          <p:cNvSpPr/>
          <p:nvPr/>
        </p:nvSpPr>
        <p:spPr>
          <a:xfrm>
            <a:off x="5840938" y="4663440"/>
            <a:ext cx="5802117" cy="822960"/>
          </a:xfrm>
          <a:prstGeom prst="roundRect">
            <a:avLst>
              <a:gd name="adj" fmla="val 6667"/>
            </a:avLst>
          </a:prstGeom>
          <a:solidFill>
            <a:srgbClr val="E8F3EE"/>
          </a:solidFill>
          <a:ln/>
        </p:spPr>
      </p:sp>
      <p:sp>
        <p:nvSpPr>
          <p:cNvPr id="11" name="Text 8"/>
          <p:cNvSpPr txBox="1"/>
          <p:nvPr/>
        </p:nvSpPr>
        <p:spPr>
          <a:xfrm>
            <a:off x="6115258" y="4663440"/>
            <a:ext cx="5253477" cy="8229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Le fichier HTML s'ouvre dans n'importe quel navigateur, sans Python, et reste interactif.</a:t>
            </a:r>
            <a:endParaRPr lang="en-US" sz="15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Bien choisir</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Le bon graphique   |   Trois règles de lisibilité</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BIEN CHOISIR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Quel graphique pour quelle question ?</a:t>
            </a:r>
            <a:endParaRPr lang="en-US" sz="3000" dirty="0"/>
          </a:p>
        </p:txBody>
      </p:sp>
      <p:pic>
        <p:nvPicPr>
          <p:cNvPr id="6" name="Image 0" descr="Six graphiques : courbe, barres, histogramme, boîte, nuage de points et heatmap">    </p:cNvPr>
          <p:cNvPicPr>
            <a:picLocks noChangeAspect="1"/>
          </p:cNvPicPr>
          <p:nvPr/>
        </p:nvPicPr>
        <p:blipFill>
          <a:blip r:embed="rId1"/>
          <a:stretch>
            <a:fillRect/>
          </a:stretch>
        </p:blipFill>
        <p:spPr>
          <a:xfrm>
            <a:off x="2515492" y="1417320"/>
            <a:ext cx="7160712" cy="3794760"/>
          </a:xfrm>
          <a:prstGeom prst="rect">
            <a:avLst/>
          </a:prstGeom>
        </p:spPr>
      </p:pic>
      <p:sp>
        <p:nvSpPr>
          <p:cNvPr id="7" name="Text 4"/>
          <p:cNvSpPr txBox="1"/>
          <p:nvPr/>
        </p:nvSpPr>
        <p:spPr>
          <a:xfrm>
            <a:off x="548640" y="5532120"/>
            <a:ext cx="11094415"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Et pour choisir la bibliothèque : statique pour un rapport ou une diapositive, interactif pour explorer ou partager un fichier HTML.</a:t>
            </a:r>
            <a:endParaRPr lang="en-US" sz="1500" dirty="0"/>
          </a:p>
        </p:txBody>
      </p:sp>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BIEN CHOISIR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Trois règles de lisibilité</a:t>
            </a:r>
            <a:endParaRPr lang="en-US" sz="3000" dirty="0"/>
          </a:p>
        </p:txBody>
      </p:sp>
      <p:sp>
        <p:nvSpPr>
          <p:cNvPr id="6" name="Shape 4"/>
          <p:cNvSpPr/>
          <p:nvPr/>
        </p:nvSpPr>
        <p:spPr>
          <a:xfrm>
            <a:off x="548640" y="1417320"/>
            <a:ext cx="3515258" cy="2606040"/>
          </a:xfrm>
          <a:prstGeom prst="roundRect">
            <a:avLst>
              <a:gd name="adj" fmla="val 280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Un titre qui dit le message</a:t>
            </a:r>
            <a:endParaRPr lang="en-US" sz="1800" dirty="0"/>
          </a:p>
        </p:txBody>
      </p:sp>
      <p:sp>
        <p:nvSpPr>
          <p:cNvPr id="10" name="Text 8"/>
          <p:cNvSpPr txBox="1"/>
          <p:nvPr/>
        </p:nvSpPr>
        <p:spPr>
          <a:xfrm>
            <a:off x="777240" y="288036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 L'Île-de-France réalise près d'un tiers du CA » plutôt que « CA par région ».</a:t>
            </a:r>
            <a:endParaRPr lang="en-US" sz="1500" dirty="0"/>
          </a:p>
        </p:txBody>
      </p:sp>
      <p:sp>
        <p:nvSpPr>
          <p:cNvPr id="11" name="Shape 9"/>
          <p:cNvSpPr/>
          <p:nvPr/>
        </p:nvSpPr>
        <p:spPr>
          <a:xfrm>
            <a:off x="4338218" y="1417320"/>
            <a:ext cx="3515258" cy="2606040"/>
          </a:xfrm>
          <a:prstGeom prst="roundRect">
            <a:avLst>
              <a:gd name="adj" fmla="val 280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Des axes honnêtes</a:t>
            </a:r>
            <a:endParaRPr lang="en-US" sz="1800" dirty="0"/>
          </a:p>
        </p:txBody>
      </p:sp>
      <p:sp>
        <p:nvSpPr>
          <p:cNvPr id="15" name="Text 13"/>
          <p:cNvSpPr txBox="1"/>
          <p:nvPr/>
        </p:nvSpPr>
        <p:spPr>
          <a:xfrm>
            <a:off x="4566818" y="2606040"/>
            <a:ext cx="3058058" cy="12344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Nommés avec leur unité ; des barres qui partent de zéro, sinon les écarts paraissent énormes.</a:t>
            </a:r>
            <a:endParaRPr lang="en-US" sz="1500" dirty="0"/>
          </a:p>
        </p:txBody>
      </p:sp>
      <p:sp>
        <p:nvSpPr>
          <p:cNvPr id="16" name="Shape 14"/>
          <p:cNvSpPr/>
          <p:nvPr/>
        </p:nvSpPr>
        <p:spPr>
          <a:xfrm>
            <a:off x="8127797" y="1417320"/>
            <a:ext cx="3515258" cy="2606040"/>
          </a:xfrm>
          <a:prstGeom prst="roundRect">
            <a:avLst>
              <a:gd name="adj" fmla="val 280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Une couleur pour le message</a:t>
            </a:r>
            <a:endParaRPr lang="en-US" sz="1800" dirty="0"/>
          </a:p>
        </p:txBody>
      </p:sp>
      <p:sp>
        <p:nvSpPr>
          <p:cNvPr id="20" name="Text 18"/>
          <p:cNvSpPr txBox="1"/>
          <p:nvPr/>
        </p:nvSpPr>
        <p:spPr>
          <a:xfrm>
            <a:off x="8356397" y="288036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Des barres triées, du gris pour le reste ; ni rouge contre vert, ni camembert à nombreuses parts.</a:t>
            </a:r>
            <a:endParaRPr lang="en-US" sz="1500" dirty="0"/>
          </a:p>
        </p:txBody>
      </p:sp>
      <p:pic>
        <p:nvPicPr>
          <p:cNvPr id="21" name="Image 0" descr="Le même écart de 6 % avec un axe tronqué, où il paraît énorme, puis avec un axe partant de zéro">    </p:cNvPr>
          <p:cNvPicPr>
            <a:picLocks noChangeAspect="1"/>
          </p:cNvPicPr>
          <p:nvPr/>
        </p:nvPicPr>
        <p:blipFill>
          <a:blip r:embed="rId1"/>
          <a:stretch>
            <a:fillRect/>
          </a:stretch>
        </p:blipFill>
        <p:spPr>
          <a:xfrm>
            <a:off x="3816180" y="4343400"/>
            <a:ext cx="4559336" cy="1783080"/>
          </a:xfrm>
          <a:prstGeom prst="rect">
            <a:avLst/>
          </a:prstGeom>
        </p:spPr>
      </p:pic>
      <p:sp>
        <p:nvSpPr>
          <p:cNvPr id="22"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TP4 mini</a:t>
            </a:r>
            <a:endParaRPr lang="en-US" sz="3000" dirty="0"/>
          </a:p>
        </p:txBody>
      </p:sp>
      <p:sp>
        <p:nvSpPr>
          <p:cNvPr id="3" name="Text 1"/>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Dans exercices/tp04-mini-visualisation/tp04_mini.ipynb</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479255"/>
                <a:gridCol w="2218883"/>
                <a:gridCol w="7396277"/>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Bibliothèque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À construire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 premier aperçu en une ligne avec </a:t>
                      </a:r>
                      <a:pPr indent="0" marL="0">
                        <a:buNone/>
                      </a:pPr>
                      <a:r>
                        <a:rPr lang="en-US" sz="1400" dirty="0">
                          <a:solidFill>
                            <a:srgbClr val="1F3A5F"/>
                          </a:solidFill>
                          <a:latin typeface="Courier New" pitchFamily="34" charset="0"/>
                          <a:ea typeface="Courier New" pitchFamily="34" charset="-122"/>
                          <a:cs typeface="Courier New" pitchFamily="34" charset="-120"/>
                        </a:rPr>
                        <a:t>.plot()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matplotlib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courbe du chiffre d'affaires mensuel, axe à partir de zéro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matplotlib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barres horizontales par région, triées, avec leurs valeurs (</a:t>
                      </a:r>
                      <a:pPr indent="0" marL="0">
                        <a:buNone/>
                      </a:pPr>
                      <a:r>
                        <a:rPr lang="en-US" sz="1400" dirty="0">
                          <a:solidFill>
                            <a:srgbClr val="1F3A5F"/>
                          </a:solidFill>
                          <a:latin typeface="Courier New" pitchFamily="34" charset="0"/>
                          <a:ea typeface="Courier New" pitchFamily="34" charset="-122"/>
                          <a:cs typeface="Courier New" pitchFamily="34" charset="-120"/>
                        </a:rPr>
                        <a:t>bar_label</a:t>
                      </a:r>
                      <a:pPr indent="0" marL="0">
                        <a:buNone/>
                      </a:pPr>
                      <a:r>
                        <a:rPr lang="en-US" sz="1400" dirty="0">
                          <a:solidFill>
                            <a:srgbClr val="1F2933"/>
                          </a:solidFill>
                          <a:latin typeface="Calibri" pitchFamily="34" charset="0"/>
                          <a:ea typeface="Calibri" pitchFamily="34" charset="-122"/>
                          <a:cs typeface="Calibri"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seaborn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boîte à moustaches du montant par catégorie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seaborn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heatmap du taux de réalisation, région par mois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3.1, 3.2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plotly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courbes interactives par région, puis l'export HTML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matplotlib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facultative : corriger un graphique trompeur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137912"/>
            <a:ext cx="11094415" cy="883920"/>
          </a:xfrm>
          <a:prstGeom prst="roundRect">
            <a:avLst>
              <a:gd name="adj" fmla="val 6207"/>
            </a:avLst>
          </a:prstGeom>
          <a:solidFill>
            <a:srgbClr val="E8F3EE"/>
          </a:solidFill>
          <a:ln/>
        </p:spPr>
      </p:sp>
      <p:sp>
        <p:nvSpPr>
          <p:cNvPr id="6" name="Text 3"/>
          <p:cNvSpPr txBox="1"/>
          <p:nvPr/>
        </p:nvSpPr>
        <p:spPr>
          <a:xfrm>
            <a:off x="822960" y="5137912"/>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chaque graphique, un </a:t>
            </a:r>
            <a:pPr indent="0" marL="0">
              <a:buNone/>
            </a:pPr>
            <a:r>
              <a:rPr lang="en-US" sz="1700" b="1" dirty="0">
                <a:solidFill>
                  <a:srgbClr val="1F3A5F"/>
                </a:solidFill>
                <a:latin typeface="Calibri" pitchFamily="34" charset="0"/>
                <a:ea typeface="Calibri" pitchFamily="34" charset="-122"/>
                <a:cs typeface="Calibri" pitchFamily="34" charset="-120"/>
              </a:rPr>
              <a:t>résultat attendu</a:t>
            </a:r>
            <a:pPr indent="0" marL="0">
              <a:buNone/>
            </a:pPr>
            <a:r>
              <a:rPr lang="en-US" sz="1700" dirty="0">
                <a:solidFill>
                  <a:srgbClr val="1F3A5F"/>
                </a:solidFill>
                <a:latin typeface="Calibri" pitchFamily="34" charset="0"/>
                <a:ea typeface="Calibri" pitchFamily="34" charset="-122"/>
                <a:cs typeface="Calibri" pitchFamily="34" charset="-120"/>
              </a:rPr>
              <a:t> en image ; les cellules </a:t>
            </a:r>
            <a:pPr indent="0" marL="0">
              <a:buNone/>
            </a:pPr>
            <a:r>
              <a:rPr lang="en-US" sz="1700" dirty="0">
                <a:solidFill>
                  <a:srgbClr val="2F7D62"/>
                </a:solidFill>
                <a:latin typeface="Courier New" pitchFamily="34" charset="0"/>
                <a:ea typeface="Courier New" pitchFamily="34" charset="-122"/>
                <a:cs typeface="Courier New" pitchFamily="34" charset="-120"/>
              </a:rPr>
              <a:t># Vérification</a:t>
            </a:r>
            <a:pPr indent="0" marL="0">
              <a:buNone/>
            </a:pPr>
            <a:r>
              <a:rPr lang="en-US" sz="1700" dirty="0">
                <a:solidFill>
                  <a:srgbClr val="1F3A5F"/>
                </a:solidFill>
                <a:latin typeface="Calibri" pitchFamily="34" charset="0"/>
                <a:ea typeface="Calibri" pitchFamily="34" charset="-122"/>
                <a:cs typeface="Calibri" pitchFamily="34" charset="-120"/>
              </a:rPr>
              <a:t> affichent </a:t>
            </a:r>
            <a:pPr indent="0" marL="0">
              <a:buNone/>
            </a:pPr>
            <a:r>
              <a:rPr lang="en-US" sz="1700" dirty="0">
                <a:solidFill>
                  <a:srgbClr val="2F7D62"/>
                </a:solidFill>
                <a:latin typeface="Courier New" pitchFamily="34" charset="0"/>
                <a:ea typeface="Courier New" pitchFamily="34" charset="-122"/>
                <a:cs typeface="Courier New" pitchFamily="34" charset="-120"/>
              </a:rPr>
              <a:t>OK</a:t>
            </a:r>
            <a:pPr indent="0" marL="0">
              <a:buNone/>
            </a:pPr>
            <a:r>
              <a:rPr lang="en-US" sz="1700" dirty="0">
                <a:solidFill>
                  <a:srgbClr val="1F3A5F"/>
                </a:solidFill>
                <a:latin typeface="Calibri" pitchFamily="34" charset="0"/>
                <a:ea typeface="Calibri" pitchFamily="34" charset="-122"/>
                <a:cs typeface="Calibri" pitchFamily="34" charset="-120"/>
              </a:rPr>
              <a:t> quand c'est juste.</a:t>
            </a:r>
            <a:endParaRPr lang="en-US" sz="1700" dirty="0"/>
          </a:p>
        </p:txBody>
      </p:sp>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Visualisation, version mini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2514600"/>
          </a:xfrm>
          <a:prstGeom prst="rect">
            <a:avLst/>
          </a:prstGeom>
          <a:noFill/>
          <a:ln/>
        </p:spPr>
        <p:txBody>
          <a:bodyPr wrap="square" lIns="0" tIns="0" rIns="0" bIns="0" rtlCol="0" anchor="t"/>
          <a:lstStyle/>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pandas : </a:t>
            </a:r>
            <a:pPr indent="0" marL="0">
              <a:buNone/>
            </a:pPr>
            <a:r>
              <a:rPr lang="en-US" sz="1700" dirty="0">
                <a:solidFill>
                  <a:srgbClr val="8FD1B5"/>
                </a:solidFill>
                <a:latin typeface="Courier New" pitchFamily="34" charset="0"/>
                <a:ea typeface="Courier New" pitchFamily="34" charset="-122"/>
                <a:cs typeface="Courier New" pitchFamily="34" charset="-120"/>
              </a:rPr>
              <a:t>serie.plot()</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.plot.barh()</a:t>
            </a:r>
            <a:pPr indent="0" marL="0">
              <a:buNone/>
            </a:pPr>
            <a:r>
              <a:rPr lang="en-US" sz="1700" dirty="0">
                <a:solidFill>
                  <a:srgbClr val="FFFFFF"/>
                </a:solidFill>
                <a:latin typeface="Calibri" pitchFamily="34" charset="0"/>
                <a:ea typeface="Calibri" pitchFamily="34" charset="-122"/>
                <a:cs typeface="Calibri" pitchFamily="34" charset="-120"/>
              </a:rPr>
              <a:t> pour un aperçu rapide</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matplotlib : </a:t>
            </a:r>
            <a:pPr indent="0" marL="0">
              <a:buNone/>
            </a:pPr>
            <a:r>
              <a:rPr lang="en-US" sz="1700" dirty="0">
                <a:solidFill>
                  <a:srgbClr val="8FD1B5"/>
                </a:solidFill>
                <a:latin typeface="Courier New" pitchFamily="34" charset="0"/>
                <a:ea typeface="Courier New" pitchFamily="34" charset="-122"/>
                <a:cs typeface="Courier New" pitchFamily="34" charset="-120"/>
              </a:rPr>
              <a:t>fig, ax = plt.subplots()</a:t>
            </a:r>
            <a:pPr indent="0" marL="0">
              <a:buNone/>
            </a:pPr>
            <a:r>
              <a:rPr lang="en-US" sz="1700" dirty="0">
                <a:solidFill>
                  <a:srgbClr val="FFFFFF"/>
                </a:solidFill>
                <a:latin typeface="Calibri" pitchFamily="34" charset="0"/>
                <a:ea typeface="Calibri" pitchFamily="34" charset="-122"/>
                <a:cs typeface="Calibri" pitchFamily="34" charset="-120"/>
              </a:rPr>
              <a:t>, puis </a:t>
            </a:r>
            <a:pPr indent="0" marL="0">
              <a:buNone/>
            </a:pPr>
            <a:r>
              <a:rPr lang="en-US" sz="1700" dirty="0">
                <a:solidFill>
                  <a:srgbClr val="8FD1B5"/>
                </a:solidFill>
                <a:latin typeface="Courier New" pitchFamily="34" charset="0"/>
                <a:ea typeface="Courier New" pitchFamily="34" charset="-122"/>
                <a:cs typeface="Courier New" pitchFamily="34" charset="-120"/>
              </a:rPr>
              <a:t>ax.plot</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ax.barh</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ax.set_title</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seaborn : </a:t>
            </a:r>
            <a:pPr indent="0" marL="0">
              <a:buNone/>
            </a:pPr>
            <a:r>
              <a:rPr lang="en-US" sz="1700" dirty="0">
                <a:solidFill>
                  <a:srgbClr val="8FD1B5"/>
                </a:solidFill>
                <a:latin typeface="Courier New" pitchFamily="34" charset="0"/>
                <a:ea typeface="Courier New" pitchFamily="34" charset="-122"/>
                <a:cs typeface="Courier New" pitchFamily="34" charset="-120"/>
              </a:rPr>
              <a:t>data</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x</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y</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hue</a:t>
            </a:r>
            <a:pPr indent="0" marL="0">
              <a:buNone/>
            </a:pPr>
            <a:r>
              <a:rPr lang="en-US" sz="1700" dirty="0">
                <a:solidFill>
                  <a:srgbClr val="FFFFFF"/>
                </a:solidFill>
                <a:latin typeface="Calibri" pitchFamily="34" charset="0"/>
                <a:ea typeface="Calibri" pitchFamily="34" charset="-122"/>
                <a:cs typeface="Calibri" pitchFamily="34" charset="-120"/>
              </a:rPr>
              <a:t>, et toujours </a:t>
            </a:r>
            <a:pPr indent="0" marL="0">
              <a:buNone/>
            </a:pPr>
            <a:r>
              <a:rPr lang="en-US" sz="1700" dirty="0">
                <a:solidFill>
                  <a:srgbClr val="8FD1B5"/>
                </a:solidFill>
                <a:latin typeface="Courier New" pitchFamily="34" charset="0"/>
                <a:ea typeface="Courier New" pitchFamily="34" charset="-122"/>
                <a:cs typeface="Courier New" pitchFamily="34" charset="-120"/>
              </a:rPr>
              <a:t>ax=ax</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plotly : </a:t>
            </a:r>
            <a:pPr indent="0" marL="0">
              <a:buNone/>
            </a:pPr>
            <a:r>
              <a:rPr lang="en-US" sz="1700" dirty="0">
                <a:solidFill>
                  <a:srgbClr val="8FD1B5"/>
                </a:solidFill>
                <a:latin typeface="Courier New" pitchFamily="34" charset="0"/>
                <a:ea typeface="Courier New" pitchFamily="34" charset="-122"/>
                <a:cs typeface="Courier New" pitchFamily="34" charset="-120"/>
              </a:rPr>
              <a:t>px.line</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color</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hover_data</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write_html</a:t>
            </a:r>
            <a:endParaRPr lang="en-US" sz="1700" dirty="0"/>
          </a:p>
        </p:txBody>
      </p:sp>
      <p:sp>
        <p:nvSpPr>
          <p:cNvPr id="4" name="Text 2"/>
          <p:cNvSpPr txBox="1"/>
          <p:nvPr/>
        </p:nvSpPr>
        <p:spPr>
          <a:xfrm>
            <a:off x="6370168" y="1417320"/>
            <a:ext cx="5272888" cy="2362200"/>
          </a:xfrm>
          <a:prstGeom prst="rect">
            <a:avLst/>
          </a:prstGeom>
          <a:noFill/>
          <a:ln/>
        </p:spPr>
        <p:txBody>
          <a:bodyPr wrap="square" lIns="0" tIns="0" rIns="0" bIns="0" rtlCol="0" anchor="t"/>
          <a:lstStyle/>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Statique pour restituer, interactif pour explorer et partager</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Partir de la question pour choisir le graphique</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Un titre qui énonce le message, des axes nommés qui partent de zéro, une couleur pour le message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visualisation (version mini)</dc:title>
  <dc:subject>PptxGenJS Presentation</dc:subject>
  <dc:creator/>
  <cp:lastModifiedBy/>
  <cp:revision>1</cp:revision>
  <dcterms:created xsi:type="dcterms:W3CDTF">2026-10-22T11:43:54Z</dcterms:created>
  <dcterms:modified xsi:type="dcterms:W3CDTF">2026-10-22T11:43:54Z</dcterms:modified>
</cp:coreProperties>
</file>