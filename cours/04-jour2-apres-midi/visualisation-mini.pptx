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Version condensée du jour 2 après-midi : environ 15 minutes de cours, puis 30 minutes de TP. On ne détaille pas chaque bibliothèque : on montre à quoi sert chacune, deux ou trois graphiques typiques, et on passe à la pratique. Le cours complet (visualisation.pptx) reste disponible pour approfondir.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Annoncer le rythme : un tour rapide des trois bibliothèques, puis tout se passe dans le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trois cohabitent dans un même projet : on explore souvent en interactif avec plotly, on restitue en statique avec matplotlib et seaborn.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 pas tout lire : insister sur la ligne Entrée, qui explique pourquoi seaborn et plotly se ressemblent, et sur la ligne Sortie, qui guide le choix entre statique et interactif.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résultats proches, trois logiques. matplotlib trace ce qu'on lui donne : il faut agréger avant. seaborn part de la table brute et calcule la somme (estimator). plotly produit un objet interactif ; ses axes reprennent les noms de colonnes (region, value) tant qu'on ne les renomme pas avec labels.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Toujours écrire fig, ax = plt.subplots() plutôt que plt.plot : c'est l'écriture qui reste lisible dès qu'il y a plusieurs graphiques. Raccourci pandas : mensuel.plot() appelle matplotlib.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boîte résume une distribution : médiane, moitié centrale des valeurs, points extrêmes. La heatmap croise deux dimensions (régions et mois) et fait ressortir l'été d'un coup d'œil. Ce sont les questions 2.1 et 2.2 du TP mini.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Faire la démonstration en direct : survoler un point, zoomer sur une période, cliquer sur une région dans la légende pour la masquer. Six courbes superposées sont illisibles en statique, mais restent exploitables en interactif.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Partir de la question posée, pas du graphique. Comment ça évolue ? une courbe. Qui fait le plus ? des barres triées. Comment se répartissent les valeurs ? un histogramme ou une boîte. Deux grandeurs sont-elles liées ? un nuage. Deux dimensions croisées ? une heatmap.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L'axe tronqué est le piège le plus fréquent : c'est la question facultative 4.1 du TP mini.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Environ 30 minutes, à peu près 10 minutes par bibliothèque. Les agrégats mensuel et par_region sont fournis dans la cellule de chargement pour aller vite. Réponses : 2.1, le bureau a les commandes les plus élevées, jusqu'à près de 2 000 euros ; 2.2, en juillet et en août presque toutes les régions sont sous l'objectif, seule la Bretagne l'atteint en juillet ; 3.2, le HTML reste interactif ; 4.1, l'axe commence à 150 euros, le panier de la Nouvelle-Aquitaine paraît cinq fois plus grand que celui des Hauts-de-France alors qu'il n'est que 37 % plus élevé.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aller plus loin : le cours complet visualisation.pptx et le TP4 tableau de bord.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A5F"/>
        </a:solidFill>
      </p:bgPr>
    </p:bg>
    <p:spTree>
      <p:nvGrpSpPr>
        <p:cNvPr id="1" name=""/>
        <p:cNvGrpSpPr/>
        <p:nvPr/>
      </p:nvGrpSpPr>
      <p:grpSpPr>
        <a:xfrm>
          <a:off x="0" y="0"/>
          <a:ext cx="0" cy="0"/>
          <a:chOff x="0" y="0"/>
          <a:chExt cx="0" cy="0"/>
        </a:xfrm>
      </p:grpSpPr>
      <p:sp>
        <p:nvSpPr>
          <p:cNvPr id="2" name="Text 0"/>
          <p:cNvSpPr txBox="1"/>
          <p:nvPr/>
        </p:nvSpPr>
        <p:spPr>
          <a:xfrm>
            <a:off x="731520" y="1737360"/>
            <a:ext cx="9144000" cy="365760"/>
          </a:xfrm>
          <a:prstGeom prst="rect">
            <a:avLst/>
          </a:prstGeom>
          <a:noFill/>
          <a:ln/>
        </p:spPr>
        <p:txBody>
          <a:bodyPr wrap="square" lIns="0" tIns="0" rIns="0" bIns="0" rtlCol="0" anchor="ctr"/>
          <a:lstStyle/>
          <a:p>
            <a:pPr indent="0" marL="0">
              <a:buNone/>
            </a:pPr>
            <a:r>
              <a:rPr lang="en-US" sz="1400" b="1" spc="400" kern="0" dirty="0">
                <a:solidFill>
                  <a:srgbClr val="8FD1B5"/>
                </a:solidFill>
                <a:latin typeface="Calibri" pitchFamily="34" charset="0"/>
                <a:ea typeface="Calibri" pitchFamily="34" charset="-122"/>
                <a:cs typeface="Calibri" pitchFamily="34" charset="-120"/>
              </a:rPr>
              <a:t>VERSION MINI</a:t>
            </a:r>
            <a:endParaRPr lang="en-US" sz="1400" dirty="0"/>
          </a:p>
        </p:txBody>
      </p:sp>
      <p:sp>
        <p:nvSpPr>
          <p:cNvPr id="3" name="Text 1"/>
          <p:cNvSpPr txBox="1"/>
          <p:nvPr/>
        </p:nvSpPr>
        <p:spPr>
          <a:xfrm>
            <a:off x="731520" y="2148840"/>
            <a:ext cx="10515600" cy="1097280"/>
          </a:xfrm>
          <a:prstGeom prst="rect">
            <a:avLst/>
          </a:prstGeom>
          <a:noFill/>
          <a:ln/>
        </p:spPr>
        <p:txBody>
          <a:bodyPr wrap="square" lIns="0" tIns="0" rIns="0" bIns="0" rtlCol="0" anchor="t"/>
          <a:lstStyle/>
          <a:p>
            <a:pPr indent="0" marL="0">
              <a:buNone/>
            </a:pPr>
            <a:r>
              <a:rPr lang="en-US" sz="4600" b="1" dirty="0">
                <a:solidFill>
                  <a:srgbClr val="FFFFFF"/>
                </a:solidFill>
                <a:latin typeface="Cambria" pitchFamily="34" charset="0"/>
                <a:ea typeface="Cambria" pitchFamily="34" charset="-122"/>
                <a:cs typeface="Cambria" pitchFamily="34" charset="-120"/>
              </a:rPr>
              <a:t>Visualisation avec Python</a:t>
            </a:r>
            <a:endParaRPr lang="en-US" sz="4600" dirty="0"/>
          </a:p>
        </p:txBody>
      </p:sp>
      <p:sp>
        <p:nvSpPr>
          <p:cNvPr id="4" name="Text 2"/>
          <p:cNvSpPr txBox="1"/>
          <p:nvPr/>
        </p:nvSpPr>
        <p:spPr>
          <a:xfrm>
            <a:off x="731520" y="3337560"/>
            <a:ext cx="10058400" cy="914400"/>
          </a:xfrm>
          <a:prstGeom prst="rect">
            <a:avLst/>
          </a:prstGeom>
          <a:noFill/>
          <a:ln/>
        </p:spPr>
        <p:txBody>
          <a:bodyPr wrap="square" lIns="0" tIns="0" rIns="0" bIns="0" rtlCol="0" anchor="t"/>
          <a:lstStyle/>
          <a:p>
            <a:pPr indent="0" marL="0">
              <a:buNone/>
            </a:pPr>
            <a:r>
              <a:rPr lang="en-US" sz="2200" dirty="0">
                <a:solidFill>
                  <a:srgbClr val="C9D6E3"/>
                </a:solidFill>
                <a:latin typeface="Calibri" pitchFamily="34" charset="0"/>
                <a:ea typeface="Calibri" pitchFamily="34" charset="-122"/>
                <a:cs typeface="Calibri" pitchFamily="34" charset="-120"/>
              </a:rPr>
              <a:t>matplotlib, seaborn et plotly en un coup d'œil</a:t>
            </a:r>
            <a:endParaRPr lang="en-US" sz="2200" dirty="0"/>
          </a:p>
        </p:txBody>
      </p:sp>
      <p:sp>
        <p:nvSpPr>
          <p:cNvPr id="5" name="Text 3"/>
          <p:cNvSpPr txBox="1"/>
          <p:nvPr/>
        </p:nvSpPr>
        <p:spPr>
          <a:xfrm>
            <a:off x="731520" y="5669280"/>
            <a:ext cx="10058400" cy="365760"/>
          </a:xfrm>
          <a:prstGeom prst="rect">
            <a:avLst/>
          </a:prstGeom>
          <a:noFill/>
          <a:ln/>
        </p:spPr>
        <p:txBody>
          <a:bodyPr wrap="square" lIns="0" tIns="0" rIns="0" bIns="0" rtlCol="0" anchor="ctr"/>
          <a:lstStyle/>
          <a:p>
            <a:pPr indent="0" marL="0">
              <a:buNone/>
            </a:pPr>
            <a:r>
              <a:rPr lang="en-US" sz="1400" dirty="0">
                <a:solidFill>
                  <a:srgbClr val="C9D6E3"/>
                </a:solidFill>
                <a:latin typeface="Calibri" pitchFamily="34" charset="0"/>
                <a:ea typeface="Calibri" pitchFamily="34" charset="-122"/>
                <a:cs typeface="Calibri" pitchFamily="34" charset="-120"/>
              </a:rPr>
              <a:t>Un cours court, puis le TP4 mini : exercices/tp04-mini-visualisation/tp04_mini.ipynb</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11094415" cy="694944"/>
          </a:xfrm>
          <a:prstGeom prst="rect">
            <a:avLst/>
          </a:prstGeom>
          <a:noFill/>
          <a:ln/>
        </p:spPr>
        <p:txBody>
          <a:bodyPr wrap="square" lIns="0" tIns="0" rIns="0" bIns="0" rtlCol="0" anchor="ctr"/>
          <a:lstStyle/>
          <a:p>
            <a:pPr indent="0" marL="0">
              <a:buNone/>
            </a:pPr>
            <a:r>
              <a:rPr lang="en-US" sz="3000" b="1" dirty="0">
                <a:solidFill>
                  <a:srgbClr val="1F3A5F"/>
                </a:solidFill>
                <a:latin typeface="Cambria" pitchFamily="34" charset="0"/>
                <a:ea typeface="Cambria" pitchFamily="34" charset="-122"/>
                <a:cs typeface="Cambria" pitchFamily="34" charset="-120"/>
              </a:rPr>
              <a:t>Le déroulé</a:t>
            </a:r>
            <a:endParaRPr lang="en-US" sz="3000" dirty="0"/>
          </a:p>
        </p:txBody>
      </p:sp>
      <p:sp>
        <p:nvSpPr>
          <p:cNvPr id="3" name="Shape 1"/>
          <p:cNvSpPr/>
          <p:nvPr/>
        </p:nvSpPr>
        <p:spPr>
          <a:xfrm>
            <a:off x="1473175" y="2057400"/>
            <a:ext cx="9245346" cy="0"/>
          </a:xfrm>
          <a:prstGeom prst="line">
            <a:avLst/>
          </a:prstGeom>
          <a:noFill/>
          <a:ln w="25400">
            <a:solidFill>
              <a:srgbClr val="D5DCE3"/>
            </a:solidFill>
            <a:prstDash val="solid"/>
          </a:ln>
        </p:spPr>
      </p:sp>
      <p:sp>
        <p:nvSpPr>
          <p:cNvPr id="4" name="Shape 2"/>
          <p:cNvSpPr/>
          <p:nvPr/>
        </p:nvSpPr>
        <p:spPr>
          <a:xfrm>
            <a:off x="1244575" y="1828800"/>
            <a:ext cx="457200" cy="457200"/>
          </a:xfrm>
          <a:prstGeom prst="ellipse">
            <a:avLst/>
          </a:prstGeom>
          <a:solidFill>
            <a:srgbClr val="2F7D62"/>
          </a:solidFill>
          <a:ln/>
        </p:spPr>
      </p:sp>
      <p:sp>
        <p:nvSpPr>
          <p:cNvPr id="5" name="Text 3"/>
          <p:cNvSpPr txBox="1"/>
          <p:nvPr/>
        </p:nvSpPr>
        <p:spPr>
          <a:xfrm>
            <a:off x="1244575" y="18288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594360" y="2423160"/>
            <a:ext cx="1757629" cy="502920"/>
          </a:xfrm>
          <a:prstGeom prst="rect">
            <a:avLst/>
          </a:prstGeom>
          <a:noFill/>
          <a:ln/>
        </p:spPr>
        <p:txBody>
          <a:bodyPr wrap="square" lIns="0" tIns="0" rIns="0" bIns="0" rtlCol="0" anchor="t"/>
          <a:lstStyle/>
          <a:p>
            <a:pPr algn="ctr" indent="0" marL="0">
              <a:buNone/>
            </a:pPr>
            <a:r>
              <a:rPr lang="en-US" sz="1500" b="1" dirty="0">
                <a:solidFill>
                  <a:srgbClr val="1F3A5F"/>
                </a:solidFill>
                <a:latin typeface="Calibri" pitchFamily="34" charset="0"/>
                <a:ea typeface="Calibri" pitchFamily="34" charset="-122"/>
                <a:cs typeface="Calibri" pitchFamily="34" charset="-120"/>
              </a:rPr>
              <a:t>Panorama</a:t>
            </a:r>
            <a:endParaRPr lang="en-US" sz="1500" dirty="0"/>
          </a:p>
        </p:txBody>
      </p:sp>
      <p:sp>
        <p:nvSpPr>
          <p:cNvPr id="7" name="Text 5"/>
          <p:cNvSpPr txBox="1"/>
          <p:nvPr/>
        </p:nvSpPr>
        <p:spPr>
          <a:xfrm>
            <a:off x="594360" y="2926080"/>
            <a:ext cx="1757629" cy="685800"/>
          </a:xfrm>
          <a:prstGeom prst="rect">
            <a:avLst/>
          </a:prstGeom>
          <a:noFill/>
          <a:ln/>
        </p:spPr>
        <p:txBody>
          <a:bodyPr wrap="square" lIns="0" tIns="0" rIns="0" bIns="0" rtlCol="0" anchor="t"/>
          <a:lstStyle/>
          <a:p>
            <a:pPr algn="ctr" indent="0" marL="0">
              <a:buNone/>
            </a:pPr>
            <a:r>
              <a:rPr lang="en-US" sz="1300" dirty="0">
                <a:solidFill>
                  <a:srgbClr val="6B7280"/>
                </a:solidFill>
                <a:latin typeface="Calibri" pitchFamily="34" charset="0"/>
                <a:ea typeface="Calibri" pitchFamily="34" charset="-122"/>
                <a:cs typeface="Calibri" pitchFamily="34" charset="-120"/>
              </a:rPr>
              <a:t>trois bibliothèques, trois usages</a:t>
            </a:r>
            <a:endParaRPr lang="en-US" sz="1300" dirty="0"/>
          </a:p>
        </p:txBody>
      </p:sp>
      <p:sp>
        <p:nvSpPr>
          <p:cNvPr id="8" name="Shape 6"/>
          <p:cNvSpPr/>
          <p:nvPr/>
        </p:nvSpPr>
        <p:spPr>
          <a:xfrm>
            <a:off x="3093644" y="1828800"/>
            <a:ext cx="457200" cy="457200"/>
          </a:xfrm>
          <a:prstGeom prst="ellipse">
            <a:avLst/>
          </a:prstGeom>
          <a:solidFill>
            <a:srgbClr val="2F7D62"/>
          </a:solidFill>
          <a:ln/>
        </p:spPr>
      </p:sp>
      <p:sp>
        <p:nvSpPr>
          <p:cNvPr id="9" name="Text 7"/>
          <p:cNvSpPr txBox="1"/>
          <p:nvPr/>
        </p:nvSpPr>
        <p:spPr>
          <a:xfrm>
            <a:off x="3093644" y="18288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0" name="Text 8"/>
          <p:cNvSpPr txBox="1"/>
          <p:nvPr/>
        </p:nvSpPr>
        <p:spPr>
          <a:xfrm>
            <a:off x="2443429" y="2423160"/>
            <a:ext cx="1757629" cy="502920"/>
          </a:xfrm>
          <a:prstGeom prst="rect">
            <a:avLst/>
          </a:prstGeom>
          <a:noFill/>
          <a:ln/>
        </p:spPr>
        <p:txBody>
          <a:bodyPr wrap="square" lIns="0" tIns="0" rIns="0" bIns="0" rtlCol="0" anchor="t"/>
          <a:lstStyle/>
          <a:p>
            <a:pPr algn="ctr" indent="0" marL="0">
              <a:buNone/>
            </a:pPr>
            <a:r>
              <a:rPr lang="en-US" sz="1500" b="1" dirty="0">
                <a:solidFill>
                  <a:srgbClr val="1F3A5F"/>
                </a:solidFill>
                <a:latin typeface="Calibri" pitchFamily="34" charset="0"/>
                <a:ea typeface="Calibri" pitchFamily="34" charset="-122"/>
                <a:cs typeface="Calibri" pitchFamily="34" charset="-120"/>
              </a:rPr>
              <a:t>matplotlib</a:t>
            </a:r>
            <a:endParaRPr lang="en-US" sz="1500" dirty="0"/>
          </a:p>
        </p:txBody>
      </p:sp>
      <p:sp>
        <p:nvSpPr>
          <p:cNvPr id="11" name="Text 9"/>
          <p:cNvSpPr txBox="1"/>
          <p:nvPr/>
        </p:nvSpPr>
        <p:spPr>
          <a:xfrm>
            <a:off x="2443429" y="2926080"/>
            <a:ext cx="1757629" cy="685800"/>
          </a:xfrm>
          <a:prstGeom prst="rect">
            <a:avLst/>
          </a:prstGeom>
          <a:noFill/>
          <a:ln/>
        </p:spPr>
        <p:txBody>
          <a:bodyPr wrap="square" lIns="0" tIns="0" rIns="0" bIns="0" rtlCol="0" anchor="t"/>
          <a:lstStyle/>
          <a:p>
            <a:pPr algn="ctr" indent="0" marL="0">
              <a:buNone/>
            </a:pPr>
            <a:r>
              <a:rPr lang="en-US" sz="1300" dirty="0">
                <a:solidFill>
                  <a:srgbClr val="6B7280"/>
                </a:solidFill>
                <a:latin typeface="Calibri" pitchFamily="34" charset="0"/>
                <a:ea typeface="Calibri" pitchFamily="34" charset="-122"/>
                <a:cs typeface="Calibri" pitchFamily="34" charset="-120"/>
              </a:rPr>
              <a:t>la base</a:t>
            </a:r>
            <a:endParaRPr lang="en-US" sz="1300" dirty="0"/>
          </a:p>
        </p:txBody>
      </p:sp>
      <p:sp>
        <p:nvSpPr>
          <p:cNvPr id="12" name="Shape 10"/>
          <p:cNvSpPr/>
          <p:nvPr/>
        </p:nvSpPr>
        <p:spPr>
          <a:xfrm>
            <a:off x="4942713" y="1828800"/>
            <a:ext cx="457200" cy="457200"/>
          </a:xfrm>
          <a:prstGeom prst="ellipse">
            <a:avLst/>
          </a:prstGeom>
          <a:solidFill>
            <a:srgbClr val="2F7D62"/>
          </a:solidFill>
          <a:ln/>
        </p:spPr>
      </p:sp>
      <p:sp>
        <p:nvSpPr>
          <p:cNvPr id="13" name="Text 11"/>
          <p:cNvSpPr txBox="1"/>
          <p:nvPr/>
        </p:nvSpPr>
        <p:spPr>
          <a:xfrm>
            <a:off x="4942713" y="18288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4" name="Text 12"/>
          <p:cNvSpPr txBox="1"/>
          <p:nvPr/>
        </p:nvSpPr>
        <p:spPr>
          <a:xfrm>
            <a:off x="4292498" y="2423160"/>
            <a:ext cx="1757629" cy="502920"/>
          </a:xfrm>
          <a:prstGeom prst="rect">
            <a:avLst/>
          </a:prstGeom>
          <a:noFill/>
          <a:ln/>
        </p:spPr>
        <p:txBody>
          <a:bodyPr wrap="square" lIns="0" tIns="0" rIns="0" bIns="0" rtlCol="0" anchor="t"/>
          <a:lstStyle/>
          <a:p>
            <a:pPr algn="ctr" indent="0" marL="0">
              <a:buNone/>
            </a:pPr>
            <a:r>
              <a:rPr lang="en-US" sz="1500" b="1" dirty="0">
                <a:solidFill>
                  <a:srgbClr val="1F3A5F"/>
                </a:solidFill>
                <a:latin typeface="Calibri" pitchFamily="34" charset="0"/>
                <a:ea typeface="Calibri" pitchFamily="34" charset="-122"/>
                <a:cs typeface="Calibri" pitchFamily="34" charset="-120"/>
              </a:rPr>
              <a:t>seaborn</a:t>
            </a:r>
            <a:endParaRPr lang="en-US" sz="1500" dirty="0"/>
          </a:p>
        </p:txBody>
      </p:sp>
      <p:sp>
        <p:nvSpPr>
          <p:cNvPr id="15" name="Text 13"/>
          <p:cNvSpPr txBox="1"/>
          <p:nvPr/>
        </p:nvSpPr>
        <p:spPr>
          <a:xfrm>
            <a:off x="4292498" y="2926080"/>
            <a:ext cx="1757629" cy="685800"/>
          </a:xfrm>
          <a:prstGeom prst="rect">
            <a:avLst/>
          </a:prstGeom>
          <a:noFill/>
          <a:ln/>
        </p:spPr>
        <p:txBody>
          <a:bodyPr wrap="square" lIns="0" tIns="0" rIns="0" bIns="0" rtlCol="0" anchor="t"/>
          <a:lstStyle/>
          <a:p>
            <a:pPr algn="ctr" indent="0" marL="0">
              <a:buNone/>
            </a:pPr>
            <a:r>
              <a:rPr lang="en-US" sz="1300" dirty="0">
                <a:solidFill>
                  <a:srgbClr val="6B7280"/>
                </a:solidFill>
                <a:latin typeface="Calibri" pitchFamily="34" charset="0"/>
                <a:ea typeface="Calibri" pitchFamily="34" charset="-122"/>
                <a:cs typeface="Calibri" pitchFamily="34" charset="-120"/>
              </a:rPr>
              <a:t>les statistiques</a:t>
            </a:r>
            <a:endParaRPr lang="en-US" sz="1300" dirty="0"/>
          </a:p>
        </p:txBody>
      </p:sp>
      <p:sp>
        <p:nvSpPr>
          <p:cNvPr id="16" name="Shape 14"/>
          <p:cNvSpPr/>
          <p:nvPr/>
        </p:nvSpPr>
        <p:spPr>
          <a:xfrm>
            <a:off x="6791782" y="1828800"/>
            <a:ext cx="457200" cy="457200"/>
          </a:xfrm>
          <a:prstGeom prst="ellipse">
            <a:avLst/>
          </a:prstGeom>
          <a:solidFill>
            <a:srgbClr val="2F7D62"/>
          </a:solidFill>
          <a:ln/>
        </p:spPr>
      </p:sp>
      <p:sp>
        <p:nvSpPr>
          <p:cNvPr id="17" name="Text 15"/>
          <p:cNvSpPr txBox="1"/>
          <p:nvPr/>
        </p:nvSpPr>
        <p:spPr>
          <a:xfrm>
            <a:off x="6791782" y="18288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8" name="Text 16"/>
          <p:cNvSpPr txBox="1"/>
          <p:nvPr/>
        </p:nvSpPr>
        <p:spPr>
          <a:xfrm>
            <a:off x="6141568" y="2423160"/>
            <a:ext cx="1757629" cy="502920"/>
          </a:xfrm>
          <a:prstGeom prst="rect">
            <a:avLst/>
          </a:prstGeom>
          <a:noFill/>
          <a:ln/>
        </p:spPr>
        <p:txBody>
          <a:bodyPr wrap="square" lIns="0" tIns="0" rIns="0" bIns="0" rtlCol="0" anchor="t"/>
          <a:lstStyle/>
          <a:p>
            <a:pPr algn="ctr" indent="0" marL="0">
              <a:buNone/>
            </a:pPr>
            <a:r>
              <a:rPr lang="en-US" sz="1500" b="1" dirty="0">
                <a:solidFill>
                  <a:srgbClr val="1F3A5F"/>
                </a:solidFill>
                <a:latin typeface="Calibri" pitchFamily="34" charset="0"/>
                <a:ea typeface="Calibri" pitchFamily="34" charset="-122"/>
                <a:cs typeface="Calibri" pitchFamily="34" charset="-120"/>
              </a:rPr>
              <a:t>plotly</a:t>
            </a:r>
            <a:endParaRPr lang="en-US" sz="1500" dirty="0"/>
          </a:p>
        </p:txBody>
      </p:sp>
      <p:sp>
        <p:nvSpPr>
          <p:cNvPr id="19" name="Text 17"/>
          <p:cNvSpPr txBox="1"/>
          <p:nvPr/>
        </p:nvSpPr>
        <p:spPr>
          <a:xfrm>
            <a:off x="6141568" y="2926080"/>
            <a:ext cx="1757629" cy="685800"/>
          </a:xfrm>
          <a:prstGeom prst="rect">
            <a:avLst/>
          </a:prstGeom>
          <a:noFill/>
          <a:ln/>
        </p:spPr>
        <p:txBody>
          <a:bodyPr wrap="square" lIns="0" tIns="0" rIns="0" bIns="0" rtlCol="0" anchor="t"/>
          <a:lstStyle/>
          <a:p>
            <a:pPr algn="ctr" indent="0" marL="0">
              <a:buNone/>
            </a:pPr>
            <a:r>
              <a:rPr lang="en-US" sz="1300" dirty="0">
                <a:solidFill>
                  <a:srgbClr val="6B7280"/>
                </a:solidFill>
                <a:latin typeface="Calibri" pitchFamily="34" charset="0"/>
                <a:ea typeface="Calibri" pitchFamily="34" charset="-122"/>
                <a:cs typeface="Calibri" pitchFamily="34" charset="-120"/>
              </a:rPr>
              <a:t>l'interactif</a:t>
            </a:r>
            <a:endParaRPr lang="en-US" sz="1300" dirty="0"/>
          </a:p>
        </p:txBody>
      </p:sp>
      <p:sp>
        <p:nvSpPr>
          <p:cNvPr id="20" name="Shape 18"/>
          <p:cNvSpPr/>
          <p:nvPr/>
        </p:nvSpPr>
        <p:spPr>
          <a:xfrm>
            <a:off x="8640851" y="1828800"/>
            <a:ext cx="457200" cy="457200"/>
          </a:xfrm>
          <a:prstGeom prst="ellipse">
            <a:avLst/>
          </a:prstGeom>
          <a:solidFill>
            <a:srgbClr val="2F7D62"/>
          </a:solidFill>
          <a:ln/>
        </p:spPr>
      </p:sp>
      <p:sp>
        <p:nvSpPr>
          <p:cNvPr id="21" name="Text 19"/>
          <p:cNvSpPr txBox="1"/>
          <p:nvPr/>
        </p:nvSpPr>
        <p:spPr>
          <a:xfrm>
            <a:off x="8640851" y="18288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22" name="Text 20"/>
          <p:cNvSpPr txBox="1"/>
          <p:nvPr/>
        </p:nvSpPr>
        <p:spPr>
          <a:xfrm>
            <a:off x="7990637" y="2423160"/>
            <a:ext cx="1757629" cy="502920"/>
          </a:xfrm>
          <a:prstGeom prst="rect">
            <a:avLst/>
          </a:prstGeom>
          <a:noFill/>
          <a:ln/>
        </p:spPr>
        <p:txBody>
          <a:bodyPr wrap="square" lIns="0" tIns="0" rIns="0" bIns="0" rtlCol="0" anchor="t"/>
          <a:lstStyle/>
          <a:p>
            <a:pPr algn="ctr" indent="0" marL="0">
              <a:buNone/>
            </a:pPr>
            <a:r>
              <a:rPr lang="en-US" sz="1500" b="1" dirty="0">
                <a:solidFill>
                  <a:srgbClr val="1F3A5F"/>
                </a:solidFill>
                <a:latin typeface="Calibri" pitchFamily="34" charset="0"/>
                <a:ea typeface="Calibri" pitchFamily="34" charset="-122"/>
                <a:cs typeface="Calibri" pitchFamily="34" charset="-120"/>
              </a:rPr>
              <a:t>Bien choisir</a:t>
            </a:r>
            <a:endParaRPr lang="en-US" sz="1500" dirty="0"/>
          </a:p>
        </p:txBody>
      </p:sp>
      <p:sp>
        <p:nvSpPr>
          <p:cNvPr id="23" name="Text 21"/>
          <p:cNvSpPr txBox="1"/>
          <p:nvPr/>
        </p:nvSpPr>
        <p:spPr>
          <a:xfrm>
            <a:off x="7990637" y="2926080"/>
            <a:ext cx="1757629" cy="685800"/>
          </a:xfrm>
          <a:prstGeom prst="rect">
            <a:avLst/>
          </a:prstGeom>
          <a:noFill/>
          <a:ln/>
        </p:spPr>
        <p:txBody>
          <a:bodyPr wrap="square" lIns="0" tIns="0" rIns="0" bIns="0" rtlCol="0" anchor="t"/>
          <a:lstStyle/>
          <a:p>
            <a:pPr algn="ctr" indent="0" marL="0">
              <a:buNone/>
            </a:pPr>
            <a:r>
              <a:rPr lang="en-US" sz="1300" dirty="0">
                <a:solidFill>
                  <a:srgbClr val="6B7280"/>
                </a:solidFill>
                <a:latin typeface="Calibri" pitchFamily="34" charset="0"/>
                <a:ea typeface="Calibri" pitchFamily="34" charset="-122"/>
                <a:cs typeface="Calibri" pitchFamily="34" charset="-120"/>
              </a:rPr>
              <a:t>le graphique et sa lisibilité</a:t>
            </a:r>
            <a:endParaRPr lang="en-US" sz="1300" dirty="0"/>
          </a:p>
        </p:txBody>
      </p:sp>
      <p:sp>
        <p:nvSpPr>
          <p:cNvPr id="24" name="Shape 22"/>
          <p:cNvSpPr/>
          <p:nvPr/>
        </p:nvSpPr>
        <p:spPr>
          <a:xfrm>
            <a:off x="10489921" y="1828800"/>
            <a:ext cx="457200" cy="457200"/>
          </a:xfrm>
          <a:prstGeom prst="ellipse">
            <a:avLst/>
          </a:prstGeom>
          <a:solidFill>
            <a:srgbClr val="2F7D62"/>
          </a:solidFill>
          <a:ln/>
        </p:spPr>
      </p:sp>
      <p:sp>
        <p:nvSpPr>
          <p:cNvPr id="25" name="Text 23"/>
          <p:cNvSpPr txBox="1"/>
          <p:nvPr/>
        </p:nvSpPr>
        <p:spPr>
          <a:xfrm>
            <a:off x="10489921" y="18288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26" name="Text 24"/>
          <p:cNvSpPr txBox="1"/>
          <p:nvPr/>
        </p:nvSpPr>
        <p:spPr>
          <a:xfrm>
            <a:off x="9839706" y="2423160"/>
            <a:ext cx="1757629" cy="502920"/>
          </a:xfrm>
          <a:prstGeom prst="rect">
            <a:avLst/>
          </a:prstGeom>
          <a:noFill/>
          <a:ln/>
        </p:spPr>
        <p:txBody>
          <a:bodyPr wrap="square" lIns="0" tIns="0" rIns="0" bIns="0" rtlCol="0" anchor="t"/>
          <a:lstStyle/>
          <a:p>
            <a:pPr algn="ctr" indent="0" marL="0">
              <a:buNone/>
            </a:pPr>
            <a:r>
              <a:rPr lang="en-US" sz="1500" b="1" dirty="0">
                <a:solidFill>
                  <a:srgbClr val="1F3A5F"/>
                </a:solidFill>
                <a:latin typeface="Calibri" pitchFamily="34" charset="0"/>
                <a:ea typeface="Calibri" pitchFamily="34" charset="-122"/>
                <a:cs typeface="Calibri" pitchFamily="34" charset="-120"/>
              </a:rPr>
              <a:t>TP4 mini</a:t>
            </a:r>
            <a:endParaRPr lang="en-US" sz="1500" dirty="0"/>
          </a:p>
        </p:txBody>
      </p:sp>
      <p:sp>
        <p:nvSpPr>
          <p:cNvPr id="27" name="Text 25"/>
          <p:cNvSpPr txBox="1"/>
          <p:nvPr/>
        </p:nvSpPr>
        <p:spPr>
          <a:xfrm>
            <a:off x="9839706" y="2926080"/>
            <a:ext cx="1757629" cy="685800"/>
          </a:xfrm>
          <a:prstGeom prst="rect">
            <a:avLst/>
          </a:prstGeom>
          <a:noFill/>
          <a:ln/>
        </p:spPr>
        <p:txBody>
          <a:bodyPr wrap="square" lIns="0" tIns="0" rIns="0" bIns="0" rtlCol="0" anchor="t"/>
          <a:lstStyle/>
          <a:p>
            <a:pPr algn="ctr" indent="0" marL="0">
              <a:buNone/>
            </a:pPr>
            <a:r>
              <a:rPr lang="en-US" sz="1300" dirty="0">
                <a:solidFill>
                  <a:srgbClr val="6B7280"/>
                </a:solidFill>
                <a:latin typeface="Calibri" pitchFamily="34" charset="0"/>
                <a:ea typeface="Calibri" pitchFamily="34" charset="-122"/>
                <a:cs typeface="Calibri" pitchFamily="34" charset="-120"/>
              </a:rPr>
              <a:t>parties 1 à 3</a:t>
            </a:r>
            <a:endParaRPr lang="en-US" sz="1300" dirty="0"/>
          </a:p>
        </p:txBody>
      </p:sp>
      <p:sp>
        <p:nvSpPr>
          <p:cNvPr id="28" name="Shape 26"/>
          <p:cNvSpPr/>
          <p:nvPr/>
        </p:nvSpPr>
        <p:spPr>
          <a:xfrm>
            <a:off x="548640" y="3657600"/>
            <a:ext cx="11094415" cy="883920"/>
          </a:xfrm>
          <a:prstGeom prst="roundRect">
            <a:avLst>
              <a:gd name="adj" fmla="val 6207"/>
            </a:avLst>
          </a:prstGeom>
          <a:solidFill>
            <a:srgbClr val="E8F3EE"/>
          </a:solidFill>
          <a:ln/>
        </p:spPr>
      </p:sp>
      <p:sp>
        <p:nvSpPr>
          <p:cNvPr id="29" name="Text 27"/>
          <p:cNvSpPr txBox="1"/>
          <p:nvPr/>
        </p:nvSpPr>
        <p:spPr>
          <a:xfrm>
            <a:off x="822960" y="3657600"/>
            <a:ext cx="10545775" cy="883920"/>
          </a:xfrm>
          <a:prstGeom prst="rect">
            <a:avLst/>
          </a:prstGeom>
          <a:noFill/>
          <a:ln/>
        </p:spPr>
        <p:txBody>
          <a:bodyPr wrap="square" lIns="0" tIns="0" rIns="0" bIns="0" rtlCol="0" anchor="ctr"/>
          <a:lstStyle/>
          <a:p>
            <a:pPr indent="0" marL="0">
              <a:buNone/>
            </a:pPr>
            <a:r>
              <a:rPr lang="en-US" sz="1700" dirty="0">
                <a:solidFill>
                  <a:srgbClr val="1F3A5F"/>
                </a:solidFill>
                <a:latin typeface="Calibri" pitchFamily="34" charset="0"/>
                <a:ea typeface="Calibri" pitchFamily="34" charset="-122"/>
                <a:cs typeface="Calibri" pitchFamily="34" charset="-120"/>
              </a:rPr>
              <a:t>Objectif : savoir quelle bibliothèque ouvrir, et produire un premier graphique lisible avec chacune.</a:t>
            </a:r>
            <a:endParaRPr lang="en-US" sz="1700" dirty="0"/>
          </a:p>
        </p:txBody>
      </p:sp>
      <p:sp>
        <p:nvSpPr>
          <p:cNvPr id="30" name="Text 28"/>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Analyse de données avec Python   |   Visualisation, version mini</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F3A5F"/>
        </a:solidFill>
      </p:bgPr>
    </p:bg>
    <p:spTree>
      <p:nvGrpSpPr>
        <p:cNvPr id="1" name=""/>
        <p:cNvGrpSpPr/>
        <p:nvPr/>
      </p:nvGrpSpPr>
      <p:grpSpPr>
        <a:xfrm>
          <a:off x="0" y="0"/>
          <a:ext cx="0" cy="0"/>
          <a:chOff x="0" y="0"/>
          <a:chExt cx="0" cy="0"/>
        </a:xfrm>
      </p:grpSpPr>
      <p:sp>
        <p:nvSpPr>
          <p:cNvPr id="2" name="Text 0"/>
          <p:cNvSpPr txBox="1"/>
          <p:nvPr/>
        </p:nvSpPr>
        <p:spPr>
          <a:xfrm>
            <a:off x="731520" y="1737360"/>
            <a:ext cx="2743200" cy="1188720"/>
          </a:xfrm>
          <a:prstGeom prst="rect">
            <a:avLst/>
          </a:prstGeom>
          <a:noFill/>
          <a:ln/>
        </p:spPr>
        <p:txBody>
          <a:bodyPr wrap="square" lIns="0" tIns="0" rIns="0" bIns="0" rtlCol="0" anchor="ctr"/>
          <a:lstStyle/>
          <a:p>
            <a:pPr indent="0" marL="0">
              <a:buNone/>
            </a:pPr>
            <a:r>
              <a:rPr lang="en-US" sz="8000" b="1" dirty="0">
                <a:solidFill>
                  <a:srgbClr val="8FD1B5"/>
                </a:solidFill>
                <a:latin typeface="Cambria" pitchFamily="34" charset="0"/>
                <a:ea typeface="Cambria" pitchFamily="34" charset="-122"/>
                <a:cs typeface="Cambria" pitchFamily="34" charset="-120"/>
              </a:rPr>
              <a:t>01</a:t>
            </a:r>
            <a:endParaRPr lang="en-US" sz="8000" dirty="0"/>
          </a:p>
        </p:txBody>
      </p:sp>
      <p:sp>
        <p:nvSpPr>
          <p:cNvPr id="3" name="Text 1"/>
          <p:cNvSpPr txBox="1"/>
          <p:nvPr/>
        </p:nvSpPr>
        <p:spPr>
          <a:xfrm>
            <a:off x="731520" y="3017520"/>
            <a:ext cx="10515600" cy="822960"/>
          </a:xfrm>
          <a:prstGeom prst="rect">
            <a:avLst/>
          </a:prstGeom>
          <a:noFill/>
          <a:ln/>
        </p:spPr>
        <p:txBody>
          <a:bodyPr wrap="square" lIns="0" tIns="0" rIns="0" bIns="0" rtlCol="0" anchor="t"/>
          <a:lstStyle/>
          <a:p>
            <a:pPr indent="0" marL="0">
              <a:buNone/>
            </a:pPr>
            <a:r>
              <a:rPr lang="en-US" sz="4000" b="1" dirty="0">
                <a:solidFill>
                  <a:srgbClr val="FFFFFF"/>
                </a:solidFill>
                <a:latin typeface="Cambria" pitchFamily="34" charset="0"/>
                <a:ea typeface="Cambria" pitchFamily="34" charset="-122"/>
                <a:cs typeface="Cambria" pitchFamily="34" charset="-120"/>
              </a:rPr>
              <a:t>Trois bibliothèques</a:t>
            </a:r>
            <a:endParaRPr lang="en-US" sz="4000" dirty="0"/>
          </a:p>
        </p:txBody>
      </p:sp>
      <p:sp>
        <p:nvSpPr>
          <p:cNvPr id="4" name="Text 2"/>
          <p:cNvSpPr txBox="1"/>
          <p:nvPr/>
        </p:nvSpPr>
        <p:spPr>
          <a:xfrm>
            <a:off x="731520" y="3977640"/>
            <a:ext cx="10515600" cy="548640"/>
          </a:xfrm>
          <a:prstGeom prst="rect">
            <a:avLst/>
          </a:prstGeom>
          <a:noFill/>
          <a:ln/>
        </p:spPr>
        <p:txBody>
          <a:bodyPr wrap="square" lIns="0" tIns="0" rIns="0" bIns="0" rtlCol="0" anchor="t"/>
          <a:lstStyle/>
          <a:p>
            <a:pPr indent="0" marL="0">
              <a:buNone/>
            </a:pPr>
            <a:r>
              <a:rPr lang="en-US" sz="2000" dirty="0">
                <a:solidFill>
                  <a:srgbClr val="C9D6E3"/>
                </a:solidFill>
                <a:latin typeface="Calibri" pitchFamily="34" charset="0"/>
                <a:ea typeface="Calibri" pitchFamily="34" charset="-122"/>
                <a:cs typeface="Calibri" pitchFamily="34" charset="-120"/>
              </a:rPr>
              <a:t>Rôles   |   Comparatif   |   Le même graphique trois fois</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475488" cy="475488"/>
          </a:xfrm>
          <a:prstGeom prst="ellipse">
            <a:avLst/>
          </a:prstGeom>
          <a:solidFill>
            <a:srgbClr val="2F7D62"/>
          </a:solidFill>
          <a:ln/>
        </p:spPr>
      </p:sp>
      <p:sp>
        <p:nvSpPr>
          <p:cNvPr id="3" name="Text 1"/>
          <p:cNvSpPr txBox="1"/>
          <p:nvPr/>
        </p:nvSpPr>
        <p:spPr>
          <a:xfrm>
            <a:off x="548640" y="56692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4" name="Text 2"/>
          <p:cNvSpPr txBox="1"/>
          <p:nvPr/>
        </p:nvSpPr>
        <p:spPr>
          <a:xfrm>
            <a:off x="1280160" y="164592"/>
            <a:ext cx="10362895" cy="274320"/>
          </a:xfrm>
          <a:prstGeom prst="rect">
            <a:avLst/>
          </a:prstGeom>
          <a:noFill/>
          <a:ln/>
        </p:spPr>
        <p:txBody>
          <a:bodyPr wrap="square" lIns="0" tIns="0" rIns="0" bIns="0" rtlCol="0" anchor="ctr"/>
          <a:lstStyle/>
          <a:p>
            <a:pPr indent="0" marL="0">
              <a:buNone/>
            </a:pPr>
            <a:r>
              <a:rPr lang="en-US" sz="1200" b="1" spc="200" kern="0" dirty="0">
                <a:solidFill>
                  <a:srgbClr val="2F7D62"/>
                </a:solidFill>
                <a:latin typeface="Calibri" pitchFamily="34" charset="0"/>
                <a:ea typeface="Calibri" pitchFamily="34" charset="-122"/>
                <a:cs typeface="Calibri" pitchFamily="34" charset="-120"/>
              </a:rPr>
              <a:t>TROIS BIBLIOTHÈQUES</a:t>
            </a:r>
            <a:endParaRPr lang="en-US" sz="1200" dirty="0"/>
          </a:p>
        </p:txBody>
      </p:sp>
      <p:sp>
        <p:nvSpPr>
          <p:cNvPr id="5" name="Text 3"/>
          <p:cNvSpPr txBox="1"/>
          <p:nvPr/>
        </p:nvSpPr>
        <p:spPr>
          <a:xfrm>
            <a:off x="1280160" y="457200"/>
            <a:ext cx="10362895" cy="694944"/>
          </a:xfrm>
          <a:prstGeom prst="rect">
            <a:avLst/>
          </a:prstGeom>
          <a:noFill/>
          <a:ln/>
        </p:spPr>
        <p:txBody>
          <a:bodyPr wrap="square" lIns="0" tIns="0" rIns="0" bIns="0" rtlCol="0" anchor="ctr"/>
          <a:lstStyle/>
          <a:p>
            <a:pPr indent="0" marL="0">
              <a:buNone/>
            </a:pPr>
            <a:r>
              <a:rPr lang="en-US" sz="3000" b="1" dirty="0">
                <a:solidFill>
                  <a:srgbClr val="1F3A5F"/>
                </a:solidFill>
                <a:latin typeface="Cambria" pitchFamily="34" charset="0"/>
                <a:ea typeface="Cambria" pitchFamily="34" charset="-122"/>
                <a:cs typeface="Cambria" pitchFamily="34" charset="-120"/>
              </a:rPr>
              <a:t>Trois bibliothèques, trois usages</a:t>
            </a:r>
            <a:endParaRPr lang="en-US" sz="3000" dirty="0"/>
          </a:p>
        </p:txBody>
      </p:sp>
      <p:sp>
        <p:nvSpPr>
          <p:cNvPr id="6" name="Shape 4"/>
          <p:cNvSpPr/>
          <p:nvPr/>
        </p:nvSpPr>
        <p:spPr>
          <a:xfrm>
            <a:off x="548640" y="1417320"/>
            <a:ext cx="3515258" cy="2560320"/>
          </a:xfrm>
          <a:prstGeom prst="roundRect">
            <a:avLst>
              <a:gd name="adj" fmla="val 2857"/>
            </a:avLst>
          </a:prstGeom>
          <a:solidFill>
            <a:srgbClr val="EEF3F7"/>
          </a:solidFill>
          <a:ln/>
        </p:spPr>
      </p:sp>
      <p:sp>
        <p:nvSpPr>
          <p:cNvPr id="7" name="Shape 5"/>
          <p:cNvSpPr/>
          <p:nvPr/>
        </p:nvSpPr>
        <p:spPr>
          <a:xfrm>
            <a:off x="777240" y="1691640"/>
            <a:ext cx="402336" cy="402336"/>
          </a:xfrm>
          <a:prstGeom prst="ellipse">
            <a:avLst/>
          </a:prstGeom>
          <a:solidFill>
            <a:srgbClr val="2F7D62"/>
          </a:solidFill>
          <a:ln/>
        </p:spPr>
      </p:sp>
      <p:sp>
        <p:nvSpPr>
          <p:cNvPr id="8" name="Text 6"/>
          <p:cNvSpPr txBox="1"/>
          <p:nvPr/>
        </p:nvSpPr>
        <p:spPr>
          <a:xfrm>
            <a:off x="777240" y="169164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a:t>
            </a:r>
            <a:endParaRPr lang="en-US" sz="1500" dirty="0"/>
          </a:p>
        </p:txBody>
      </p:sp>
      <p:sp>
        <p:nvSpPr>
          <p:cNvPr id="9" name="Text 7"/>
          <p:cNvSpPr txBox="1"/>
          <p:nvPr/>
        </p:nvSpPr>
        <p:spPr>
          <a:xfrm>
            <a:off x="777240" y="2240280"/>
            <a:ext cx="3058058" cy="274320"/>
          </a:xfrm>
          <a:prstGeom prst="rect">
            <a:avLst/>
          </a:prstGeom>
          <a:noFill/>
          <a:ln/>
        </p:spPr>
        <p:txBody>
          <a:bodyPr wrap="square" lIns="0" tIns="0" rIns="0" bIns="0" rtlCol="0" anchor="t"/>
          <a:lstStyle/>
          <a:p>
            <a:pPr indent="0" marL="0">
              <a:buNone/>
            </a:pPr>
            <a:r>
              <a:rPr lang="en-US" sz="1800" b="1" dirty="0">
                <a:solidFill>
                  <a:srgbClr val="1F3A5F"/>
                </a:solidFill>
                <a:latin typeface="Calibri" pitchFamily="34" charset="0"/>
                <a:ea typeface="Calibri" pitchFamily="34" charset="-122"/>
                <a:cs typeface="Calibri" pitchFamily="34" charset="-120"/>
              </a:rPr>
              <a:t>matplotlib</a:t>
            </a:r>
            <a:endParaRPr lang="en-US" sz="1800" dirty="0"/>
          </a:p>
        </p:txBody>
      </p:sp>
      <p:sp>
        <p:nvSpPr>
          <p:cNvPr id="10" name="Text 8"/>
          <p:cNvSpPr txBox="1"/>
          <p:nvPr/>
        </p:nvSpPr>
        <p:spPr>
          <a:xfrm>
            <a:off x="777240" y="2606040"/>
            <a:ext cx="3058058" cy="1188720"/>
          </a:xfrm>
          <a:prstGeom prst="rect">
            <a:avLst/>
          </a:prstGeom>
          <a:noFill/>
          <a:ln/>
        </p:spPr>
        <p:txBody>
          <a:bodyPr wrap="square" lIns="0" tIns="0" rIns="0" bIns="0" rtlCol="0" anchor="t"/>
          <a:lstStyle/>
          <a:p>
            <a:pPr indent="0" marL="0">
              <a:buNone/>
            </a:pPr>
            <a:r>
              <a:rPr lang="en-US" sz="1500" dirty="0">
                <a:solidFill>
                  <a:srgbClr val="1F2933"/>
                </a:solidFill>
                <a:latin typeface="Calibri" pitchFamily="34" charset="0"/>
                <a:ea typeface="Calibri" pitchFamily="34" charset="-122"/>
                <a:cs typeface="Calibri" pitchFamily="34" charset="-120"/>
              </a:rPr>
              <a:t>La fondation. Chaque détail se règle : titres, axes, couleurs, annotations. seaborn et le </a:t>
            </a:r>
            <a:pPr indent="0" marL="0">
              <a:buNone/>
            </a:pPr>
            <a:r>
              <a:rPr lang="en-US" sz="1500" dirty="0">
                <a:solidFill>
                  <a:srgbClr val="1F3A5F"/>
                </a:solidFill>
                <a:latin typeface="Courier New" pitchFamily="34" charset="0"/>
                <a:ea typeface="Courier New" pitchFamily="34" charset="-122"/>
                <a:cs typeface="Courier New" pitchFamily="34" charset="-120"/>
              </a:rPr>
              <a:t>.plot()</a:t>
            </a:r>
            <a:pPr indent="0" marL="0">
              <a:buNone/>
            </a:pPr>
            <a:r>
              <a:rPr lang="en-US" sz="1500" dirty="0">
                <a:solidFill>
                  <a:srgbClr val="1F2933"/>
                </a:solidFill>
                <a:latin typeface="Calibri" pitchFamily="34" charset="0"/>
                <a:ea typeface="Calibri" pitchFamily="34" charset="-122"/>
                <a:cs typeface="Calibri" pitchFamily="34" charset="-120"/>
              </a:rPr>
              <a:t> de pandas reposent dessus.</a:t>
            </a:r>
            <a:endParaRPr lang="en-US" sz="1500" dirty="0"/>
          </a:p>
        </p:txBody>
      </p:sp>
      <p:sp>
        <p:nvSpPr>
          <p:cNvPr id="11" name="Shape 9"/>
          <p:cNvSpPr/>
          <p:nvPr/>
        </p:nvSpPr>
        <p:spPr>
          <a:xfrm>
            <a:off x="4338218" y="1417320"/>
            <a:ext cx="3515258" cy="2560320"/>
          </a:xfrm>
          <a:prstGeom prst="roundRect">
            <a:avLst>
              <a:gd name="adj" fmla="val 2857"/>
            </a:avLst>
          </a:prstGeom>
          <a:solidFill>
            <a:srgbClr val="EEF3F7"/>
          </a:solidFill>
          <a:ln/>
        </p:spPr>
      </p:sp>
      <p:sp>
        <p:nvSpPr>
          <p:cNvPr id="12" name="Shape 10"/>
          <p:cNvSpPr/>
          <p:nvPr/>
        </p:nvSpPr>
        <p:spPr>
          <a:xfrm>
            <a:off x="4566818" y="1691640"/>
            <a:ext cx="402336" cy="402336"/>
          </a:xfrm>
          <a:prstGeom prst="ellipse">
            <a:avLst/>
          </a:prstGeom>
          <a:solidFill>
            <a:srgbClr val="2F7D62"/>
          </a:solidFill>
          <a:ln/>
        </p:spPr>
      </p:sp>
      <p:sp>
        <p:nvSpPr>
          <p:cNvPr id="13" name="Text 11"/>
          <p:cNvSpPr txBox="1"/>
          <p:nvPr/>
        </p:nvSpPr>
        <p:spPr>
          <a:xfrm>
            <a:off x="4566818" y="169164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S</a:t>
            </a:r>
            <a:endParaRPr lang="en-US" sz="1500" dirty="0"/>
          </a:p>
        </p:txBody>
      </p:sp>
      <p:sp>
        <p:nvSpPr>
          <p:cNvPr id="14" name="Text 12"/>
          <p:cNvSpPr txBox="1"/>
          <p:nvPr/>
        </p:nvSpPr>
        <p:spPr>
          <a:xfrm>
            <a:off x="4566818" y="2240280"/>
            <a:ext cx="3058058" cy="274320"/>
          </a:xfrm>
          <a:prstGeom prst="rect">
            <a:avLst/>
          </a:prstGeom>
          <a:noFill/>
          <a:ln/>
        </p:spPr>
        <p:txBody>
          <a:bodyPr wrap="square" lIns="0" tIns="0" rIns="0" bIns="0" rtlCol="0" anchor="t"/>
          <a:lstStyle/>
          <a:p>
            <a:pPr indent="0" marL="0">
              <a:buNone/>
            </a:pPr>
            <a:r>
              <a:rPr lang="en-US" sz="1800" b="1" dirty="0">
                <a:solidFill>
                  <a:srgbClr val="1F3A5F"/>
                </a:solidFill>
                <a:latin typeface="Calibri" pitchFamily="34" charset="0"/>
                <a:ea typeface="Calibri" pitchFamily="34" charset="-122"/>
                <a:cs typeface="Calibri" pitchFamily="34" charset="-120"/>
              </a:rPr>
              <a:t>seaborn</a:t>
            </a:r>
            <a:endParaRPr lang="en-US" sz="1800" dirty="0"/>
          </a:p>
        </p:txBody>
      </p:sp>
      <p:sp>
        <p:nvSpPr>
          <p:cNvPr id="15" name="Text 13"/>
          <p:cNvSpPr txBox="1"/>
          <p:nvPr/>
        </p:nvSpPr>
        <p:spPr>
          <a:xfrm>
            <a:off x="4566818" y="2606040"/>
            <a:ext cx="3058058" cy="1188720"/>
          </a:xfrm>
          <a:prstGeom prst="rect">
            <a:avLst/>
          </a:prstGeom>
          <a:noFill/>
          <a:ln/>
        </p:spPr>
        <p:txBody>
          <a:bodyPr wrap="square" lIns="0" tIns="0" rIns="0" bIns="0" rtlCol="0" anchor="t"/>
          <a:lstStyle/>
          <a:p>
            <a:pPr indent="0" marL="0">
              <a:buNone/>
            </a:pPr>
            <a:r>
              <a:rPr lang="en-US" sz="1500" dirty="0">
                <a:solidFill>
                  <a:srgbClr val="1F2933"/>
                </a:solidFill>
                <a:latin typeface="Calibri" pitchFamily="34" charset="0"/>
                <a:ea typeface="Calibri" pitchFamily="34" charset="-122"/>
                <a:cs typeface="Calibri" pitchFamily="34" charset="-120"/>
              </a:rPr>
              <a:t>Des graphiques statistiques en une ligne, à partir d'un DataFrame et de noms de colonnes : distributions, comparaisons, heatmaps.</a:t>
            </a:r>
            <a:endParaRPr lang="en-US" sz="1500" dirty="0"/>
          </a:p>
        </p:txBody>
      </p:sp>
      <p:sp>
        <p:nvSpPr>
          <p:cNvPr id="16" name="Shape 14"/>
          <p:cNvSpPr/>
          <p:nvPr/>
        </p:nvSpPr>
        <p:spPr>
          <a:xfrm>
            <a:off x="8127797" y="1417320"/>
            <a:ext cx="3515258" cy="2560320"/>
          </a:xfrm>
          <a:prstGeom prst="roundRect">
            <a:avLst>
              <a:gd name="adj" fmla="val 2857"/>
            </a:avLst>
          </a:prstGeom>
          <a:solidFill>
            <a:srgbClr val="EEF3F7"/>
          </a:solidFill>
          <a:ln/>
        </p:spPr>
      </p:sp>
      <p:sp>
        <p:nvSpPr>
          <p:cNvPr id="17" name="Shape 15"/>
          <p:cNvSpPr/>
          <p:nvPr/>
        </p:nvSpPr>
        <p:spPr>
          <a:xfrm>
            <a:off x="8356397" y="1691640"/>
            <a:ext cx="402336" cy="402336"/>
          </a:xfrm>
          <a:prstGeom prst="ellipse">
            <a:avLst/>
          </a:prstGeom>
          <a:solidFill>
            <a:srgbClr val="2F7D62"/>
          </a:solidFill>
          <a:ln/>
        </p:spPr>
      </p:sp>
      <p:sp>
        <p:nvSpPr>
          <p:cNvPr id="18" name="Text 16"/>
          <p:cNvSpPr txBox="1"/>
          <p:nvPr/>
        </p:nvSpPr>
        <p:spPr>
          <a:xfrm>
            <a:off x="8356397" y="169164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a:t>
            </a:r>
            <a:endParaRPr lang="en-US" sz="1500" dirty="0"/>
          </a:p>
        </p:txBody>
      </p:sp>
      <p:sp>
        <p:nvSpPr>
          <p:cNvPr id="19" name="Text 17"/>
          <p:cNvSpPr txBox="1"/>
          <p:nvPr/>
        </p:nvSpPr>
        <p:spPr>
          <a:xfrm>
            <a:off x="8356397" y="2240280"/>
            <a:ext cx="3058058" cy="274320"/>
          </a:xfrm>
          <a:prstGeom prst="rect">
            <a:avLst/>
          </a:prstGeom>
          <a:noFill/>
          <a:ln/>
        </p:spPr>
        <p:txBody>
          <a:bodyPr wrap="square" lIns="0" tIns="0" rIns="0" bIns="0" rtlCol="0" anchor="t"/>
          <a:lstStyle/>
          <a:p>
            <a:pPr indent="0" marL="0">
              <a:buNone/>
            </a:pPr>
            <a:r>
              <a:rPr lang="en-US" sz="1800" b="1" dirty="0">
                <a:solidFill>
                  <a:srgbClr val="1F3A5F"/>
                </a:solidFill>
                <a:latin typeface="Calibri" pitchFamily="34" charset="0"/>
                <a:ea typeface="Calibri" pitchFamily="34" charset="-122"/>
                <a:cs typeface="Calibri" pitchFamily="34" charset="-120"/>
              </a:rPr>
              <a:t>plotly</a:t>
            </a:r>
            <a:endParaRPr lang="en-US" sz="1800" dirty="0"/>
          </a:p>
        </p:txBody>
      </p:sp>
      <p:sp>
        <p:nvSpPr>
          <p:cNvPr id="20" name="Text 18"/>
          <p:cNvSpPr txBox="1"/>
          <p:nvPr/>
        </p:nvSpPr>
        <p:spPr>
          <a:xfrm>
            <a:off x="8356397" y="2606040"/>
            <a:ext cx="3058058" cy="1188720"/>
          </a:xfrm>
          <a:prstGeom prst="rect">
            <a:avLst/>
          </a:prstGeom>
          <a:noFill/>
          <a:ln/>
        </p:spPr>
        <p:txBody>
          <a:bodyPr wrap="square" lIns="0" tIns="0" rIns="0" bIns="0" rtlCol="0" anchor="t"/>
          <a:lstStyle/>
          <a:p>
            <a:pPr indent="0" marL="0">
              <a:buNone/>
            </a:pPr>
            <a:r>
              <a:rPr lang="en-US" sz="1500" dirty="0">
                <a:solidFill>
                  <a:srgbClr val="1F2933"/>
                </a:solidFill>
                <a:latin typeface="Calibri" pitchFamily="34" charset="0"/>
                <a:ea typeface="Calibri" pitchFamily="34" charset="-122"/>
                <a:cs typeface="Calibri" pitchFamily="34" charset="-120"/>
              </a:rPr>
              <a:t>Des graphiques interactifs : survol, zoom, légende cliquable. Ils s'exportent en HTML et s'ouvrent dans un navigateur.</a:t>
            </a:r>
            <a:endParaRPr lang="en-US" sz="1500" dirty="0"/>
          </a:p>
        </p:txBody>
      </p:sp>
      <p:sp>
        <p:nvSpPr>
          <p:cNvPr id="21" name="Shape 19"/>
          <p:cNvSpPr/>
          <p:nvPr/>
        </p:nvSpPr>
        <p:spPr>
          <a:xfrm>
            <a:off x="548640" y="4297680"/>
            <a:ext cx="11094415" cy="517398"/>
          </a:xfrm>
          <a:prstGeom prst="rect">
            <a:avLst/>
          </a:prstGeom>
          <a:solidFill>
            <a:srgbClr val="F3F4F6"/>
          </a:solidFill>
          <a:ln/>
        </p:spPr>
      </p:sp>
      <p:sp>
        <p:nvSpPr>
          <p:cNvPr id="22" name="Text 20"/>
          <p:cNvSpPr txBox="1"/>
          <p:nvPr/>
        </p:nvSpPr>
        <p:spPr>
          <a:xfrm>
            <a:off x="731520" y="4443984"/>
            <a:ext cx="10728655" cy="224790"/>
          </a:xfrm>
          <a:prstGeom prst="rect">
            <a:avLst/>
          </a:prstGeom>
          <a:noFill/>
          <a:ln/>
        </p:spPr>
        <p:txBody>
          <a:bodyPr wrap="square" lIns="0" tIns="0" rIns="0" bIns="0" rtlCol="0" anchor="t"/>
          <a:lstStyle/>
          <a:p>
            <a:pPr indent="0" marL="0">
              <a:lnSpc>
                <a:spcPct val="100000"/>
              </a:lnSpc>
              <a:buNone/>
            </a:pPr>
            <a:r>
              <a:rPr lang="en-US" sz="1500" dirty="0">
                <a:solidFill>
                  <a:srgbClr val="1F2933"/>
                </a:solidFill>
                <a:latin typeface="Courier New" pitchFamily="34" charset="0"/>
                <a:ea typeface="Courier New" pitchFamily="34" charset="-122"/>
                <a:cs typeface="Courier New" pitchFamily="34" charset="-120"/>
              </a:rPr>
              <a:t>python -m pip install matplotlib seaborn plotly</a:t>
            </a:r>
            <a:endParaRPr lang="en-US" sz="1500" dirty="0"/>
          </a:p>
        </p:txBody>
      </p:sp>
      <p:sp>
        <p:nvSpPr>
          <p:cNvPr id="23" name="Text 2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Analyse de données avec Python   |   Visualisation, version mini</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475488" cy="475488"/>
          </a:xfrm>
          <a:prstGeom prst="ellipse">
            <a:avLst/>
          </a:prstGeom>
          <a:solidFill>
            <a:srgbClr val="2F7D62"/>
          </a:solidFill>
          <a:ln/>
        </p:spPr>
      </p:sp>
      <p:sp>
        <p:nvSpPr>
          <p:cNvPr id="3" name="Text 1"/>
          <p:cNvSpPr txBox="1"/>
          <p:nvPr/>
        </p:nvSpPr>
        <p:spPr>
          <a:xfrm>
            <a:off x="548640" y="56692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4" name="Text 2"/>
          <p:cNvSpPr txBox="1"/>
          <p:nvPr/>
        </p:nvSpPr>
        <p:spPr>
          <a:xfrm>
            <a:off x="1280160" y="164592"/>
            <a:ext cx="10362895" cy="274320"/>
          </a:xfrm>
          <a:prstGeom prst="rect">
            <a:avLst/>
          </a:prstGeom>
          <a:noFill/>
          <a:ln/>
        </p:spPr>
        <p:txBody>
          <a:bodyPr wrap="square" lIns="0" tIns="0" rIns="0" bIns="0" rtlCol="0" anchor="ctr"/>
          <a:lstStyle/>
          <a:p>
            <a:pPr indent="0" marL="0">
              <a:buNone/>
            </a:pPr>
            <a:r>
              <a:rPr lang="en-US" sz="1200" b="1" spc="200" kern="0" dirty="0">
                <a:solidFill>
                  <a:srgbClr val="2F7D62"/>
                </a:solidFill>
                <a:latin typeface="Calibri" pitchFamily="34" charset="0"/>
                <a:ea typeface="Calibri" pitchFamily="34" charset="-122"/>
                <a:cs typeface="Calibri" pitchFamily="34" charset="-120"/>
              </a:rPr>
              <a:t>TROIS BIBLIOTHÈQUES</a:t>
            </a:r>
            <a:endParaRPr lang="en-US" sz="1200" dirty="0"/>
          </a:p>
        </p:txBody>
      </p:sp>
      <p:sp>
        <p:nvSpPr>
          <p:cNvPr id="5" name="Text 3"/>
          <p:cNvSpPr txBox="1"/>
          <p:nvPr/>
        </p:nvSpPr>
        <p:spPr>
          <a:xfrm>
            <a:off x="1280160" y="457200"/>
            <a:ext cx="10362895" cy="694944"/>
          </a:xfrm>
          <a:prstGeom prst="rect">
            <a:avLst/>
          </a:prstGeom>
          <a:noFill/>
          <a:ln/>
        </p:spPr>
        <p:txBody>
          <a:bodyPr wrap="square" lIns="0" tIns="0" rIns="0" bIns="0" rtlCol="0" anchor="ctr"/>
          <a:lstStyle/>
          <a:p>
            <a:pPr indent="0" marL="0">
              <a:buNone/>
            </a:pPr>
            <a:r>
              <a:rPr lang="en-US" sz="3000" b="1" dirty="0">
                <a:solidFill>
                  <a:srgbClr val="1F3A5F"/>
                </a:solidFill>
                <a:latin typeface="Cambria" pitchFamily="34" charset="0"/>
                <a:ea typeface="Cambria" pitchFamily="34" charset="-122"/>
                <a:cs typeface="Cambria" pitchFamily="34" charset="-120"/>
              </a:rPr>
              <a:t>Le comparatif</a:t>
            </a:r>
            <a:endParaRPr lang="en-US" sz="3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017166"/>
                <a:gridCol w="3025750"/>
                <a:gridCol w="3025750"/>
                <a:gridCol w="3025750"/>
              </a:tblGrid>
              <a:tr h="365379">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 </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1F3A5F"/>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matplotlib</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1F3A5F"/>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seaborn</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1F3A5F"/>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plotly</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1F3A5F"/>
                    </a:solidFill>
                  </a:tcPr>
                </a:tc>
              </a:tr>
              <a:tr h="584454">
                <a:tc>
                  <a:txBody>
                    <a:bodyPr/>
                    <a:lstStyle/>
                    <a:p>
                      <a:pPr indent="0" marL="0">
                        <a:buNone/>
                      </a:pPr>
                      <a:r>
                        <a:rPr lang="en-US" sz="1500" b="1" dirty="0">
                          <a:solidFill>
                            <a:srgbClr val="1F2933"/>
                          </a:solidFill>
                          <a:latin typeface="Calibri" pitchFamily="34" charset="0"/>
                          <a:ea typeface="Calibri" pitchFamily="34" charset="-122"/>
                          <a:cs typeface="Calibri" pitchFamily="34" charset="-120"/>
                        </a:rPr>
                        <a:t>Point fort</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EEF3F7"/>
                    </a:solidFill>
                  </a:tcPr>
                </a:tc>
                <a:tc>
                  <a:txBody>
                    <a:bodyPr/>
                    <a:lstStyle/>
                    <a:p>
                      <a:pPr indent="0" marL="0">
                        <a:buNone/>
                      </a:pPr>
                      <a:r>
                        <a:rPr lang="en-US" sz="1500" dirty="0">
                          <a:solidFill>
                            <a:srgbClr val="1F2933"/>
                          </a:solidFill>
                          <a:latin typeface="Calibri" pitchFamily="34" charset="0"/>
                          <a:ea typeface="Calibri" pitchFamily="34" charset="-122"/>
                          <a:cs typeface="Calibri" pitchFamily="34" charset="-120"/>
                        </a:rPr>
                        <a:t>contrôle total de chaque élément</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c>
                  <a:txBody>
                    <a:bodyPr/>
                    <a:lstStyle/>
                    <a:p>
                      <a:pPr indent="0" marL="0">
                        <a:buNone/>
                      </a:pPr>
                      <a:r>
                        <a:rPr lang="en-US" sz="1500" dirty="0">
                          <a:solidFill>
                            <a:srgbClr val="1F2933"/>
                          </a:solidFill>
                          <a:latin typeface="Calibri" pitchFamily="34" charset="0"/>
                          <a:ea typeface="Calibri" pitchFamily="34" charset="-122"/>
                          <a:cs typeface="Calibri" pitchFamily="34" charset="-120"/>
                        </a:rPr>
                        <a:t>statistiques en une ligne, style soigné</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c>
                  <a:txBody>
                    <a:bodyPr/>
                    <a:lstStyle/>
                    <a:p>
                      <a:pPr indent="0" marL="0">
                        <a:buNone/>
                      </a:pPr>
                      <a:r>
                        <a:rPr lang="en-US" sz="1500" dirty="0">
                          <a:solidFill>
                            <a:srgbClr val="1F2933"/>
                          </a:solidFill>
                          <a:latin typeface="Calibri" pitchFamily="34" charset="0"/>
                          <a:ea typeface="Calibri" pitchFamily="34" charset="-122"/>
                          <a:cs typeface="Calibri" pitchFamily="34" charset="-120"/>
                        </a:rPr>
                        <a:t>interactivité, partage en HTML</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r>
              <a:tr h="584454">
                <a:tc>
                  <a:txBody>
                    <a:bodyPr/>
                    <a:lstStyle/>
                    <a:p>
                      <a:pPr indent="0" marL="0">
                        <a:buNone/>
                      </a:pPr>
                      <a:r>
                        <a:rPr lang="en-US" sz="1500" b="1" dirty="0">
                          <a:solidFill>
                            <a:srgbClr val="1F2933"/>
                          </a:solidFill>
                          <a:latin typeface="Calibri" pitchFamily="34" charset="0"/>
                          <a:ea typeface="Calibri" pitchFamily="34" charset="-122"/>
                          <a:cs typeface="Calibri" pitchFamily="34" charset="-120"/>
                        </a:rPr>
                        <a:t>Point faible</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EEF3F7"/>
                    </a:solidFill>
                  </a:tcPr>
                </a:tc>
                <a:tc>
                  <a:txBody>
                    <a:bodyPr/>
                    <a:lstStyle/>
                    <a:p>
                      <a:pPr indent="0" marL="0">
                        <a:buNone/>
                      </a:pPr>
                      <a:r>
                        <a:rPr lang="en-US" sz="1500" dirty="0">
                          <a:solidFill>
                            <a:srgbClr val="1F2933"/>
                          </a:solidFill>
                          <a:latin typeface="Calibri" pitchFamily="34" charset="0"/>
                          <a:ea typeface="Calibri" pitchFamily="34" charset="-122"/>
                          <a:cs typeface="Calibri" pitchFamily="34" charset="-120"/>
                        </a:rPr>
                        <a:t>code verbeux pour un beau rendu</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7F9FB"/>
                    </a:solidFill>
                  </a:tcPr>
                </a:tc>
                <a:tc>
                  <a:txBody>
                    <a:bodyPr/>
                    <a:lstStyle/>
                    <a:p>
                      <a:pPr indent="0" marL="0">
                        <a:buNone/>
                      </a:pPr>
                      <a:r>
                        <a:rPr lang="en-US" sz="1500" dirty="0">
                          <a:solidFill>
                            <a:srgbClr val="1F2933"/>
                          </a:solidFill>
                          <a:latin typeface="Calibri" pitchFamily="34" charset="0"/>
                          <a:ea typeface="Calibri" pitchFamily="34" charset="-122"/>
                          <a:cs typeface="Calibri" pitchFamily="34" charset="-120"/>
                        </a:rPr>
                        <a:t>moins souple hors des graphiques prévus</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7F9FB"/>
                    </a:solidFill>
                  </a:tcPr>
                </a:tc>
                <a:tc>
                  <a:txBody>
                    <a:bodyPr/>
                    <a:lstStyle/>
                    <a:p>
                      <a:pPr indent="0" marL="0">
                        <a:buNone/>
                      </a:pPr>
                      <a:r>
                        <a:rPr lang="en-US" sz="1500" dirty="0">
                          <a:solidFill>
                            <a:srgbClr val="1F2933"/>
                          </a:solidFill>
                          <a:latin typeface="Calibri" pitchFamily="34" charset="0"/>
                          <a:ea typeface="Calibri" pitchFamily="34" charset="-122"/>
                          <a:cs typeface="Calibri" pitchFamily="34" charset="-120"/>
                        </a:rPr>
                        <a:t>moins adapté à l'impression</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7F9FB"/>
                    </a:solidFill>
                  </a:tcPr>
                </a:tc>
              </a:tr>
              <a:tr h="584454">
                <a:tc>
                  <a:txBody>
                    <a:bodyPr/>
                    <a:lstStyle/>
                    <a:p>
                      <a:pPr indent="0" marL="0">
                        <a:buNone/>
                      </a:pPr>
                      <a:r>
                        <a:rPr lang="en-US" sz="1500" b="1" dirty="0">
                          <a:solidFill>
                            <a:srgbClr val="1F2933"/>
                          </a:solidFill>
                          <a:latin typeface="Calibri" pitchFamily="34" charset="0"/>
                          <a:ea typeface="Calibri" pitchFamily="34" charset="-122"/>
                          <a:cs typeface="Calibri" pitchFamily="34" charset="-120"/>
                        </a:rPr>
                        <a:t>Entrée</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EEF3F7"/>
                    </a:solidFill>
                  </a:tcPr>
                </a:tc>
                <a:tc>
                  <a:txBody>
                    <a:bodyPr/>
                    <a:lstStyle/>
                    <a:p>
                      <a:pPr indent="0" marL="0">
                        <a:buNone/>
                      </a:pPr>
                      <a:r>
                        <a:rPr lang="en-US" sz="1500" dirty="0">
                          <a:solidFill>
                            <a:srgbClr val="1F2933"/>
                          </a:solidFill>
                          <a:latin typeface="Calibri" pitchFamily="34" charset="0"/>
                          <a:ea typeface="Calibri" pitchFamily="34" charset="-122"/>
                          <a:cs typeface="Calibri" pitchFamily="34" charset="-120"/>
                        </a:rPr>
                        <a:t>des listes, des Series</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c>
                  <a:txBody>
                    <a:bodyPr/>
                    <a:lstStyle/>
                    <a:p>
                      <a:pPr indent="0" marL="0">
                        <a:buNone/>
                      </a:pPr>
                      <a:r>
                        <a:rPr lang="en-US" sz="1500" dirty="0">
                          <a:solidFill>
                            <a:srgbClr val="1F2933"/>
                          </a:solidFill>
                          <a:latin typeface="Calibri" pitchFamily="34" charset="0"/>
                          <a:ea typeface="Calibri" pitchFamily="34" charset="-122"/>
                          <a:cs typeface="Calibri" pitchFamily="34" charset="-120"/>
                        </a:rPr>
                        <a:t>un DataFrame et des noms de colonnes</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c>
                  <a:txBody>
                    <a:bodyPr/>
                    <a:lstStyle/>
                    <a:p>
                      <a:pPr indent="0" marL="0">
                        <a:buNone/>
                      </a:pPr>
                      <a:r>
                        <a:rPr lang="en-US" sz="1500" dirty="0">
                          <a:solidFill>
                            <a:srgbClr val="1F2933"/>
                          </a:solidFill>
                          <a:latin typeface="Calibri" pitchFamily="34" charset="0"/>
                          <a:ea typeface="Calibri" pitchFamily="34" charset="-122"/>
                          <a:cs typeface="Calibri" pitchFamily="34" charset="-120"/>
                        </a:rPr>
                        <a:t>un DataFrame et des noms de colonnes</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r>
              <a:tr h="365379">
                <a:tc>
                  <a:txBody>
                    <a:bodyPr/>
                    <a:lstStyle/>
                    <a:p>
                      <a:pPr indent="0" marL="0">
                        <a:buNone/>
                      </a:pPr>
                      <a:r>
                        <a:rPr lang="en-US" sz="1500" b="1" dirty="0">
                          <a:solidFill>
                            <a:srgbClr val="1F2933"/>
                          </a:solidFill>
                          <a:latin typeface="Calibri" pitchFamily="34" charset="0"/>
                          <a:ea typeface="Calibri" pitchFamily="34" charset="-122"/>
                          <a:cs typeface="Calibri" pitchFamily="34" charset="-120"/>
                        </a:rPr>
                        <a:t>Sortie</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EEF3F7"/>
                    </a:solidFill>
                  </a:tcPr>
                </a:tc>
                <a:tc>
                  <a:txBody>
                    <a:bodyPr/>
                    <a:lstStyle/>
                    <a:p>
                      <a:pPr indent="0" marL="0">
                        <a:buNone/>
                      </a:pPr>
                      <a:r>
                        <a:rPr lang="en-US" sz="1500" dirty="0">
                          <a:solidFill>
                            <a:srgbClr val="1F2933"/>
                          </a:solidFill>
                          <a:latin typeface="Calibri" pitchFamily="34" charset="0"/>
                          <a:ea typeface="Calibri" pitchFamily="34" charset="-122"/>
                          <a:cs typeface="Calibri" pitchFamily="34" charset="-120"/>
                        </a:rPr>
                        <a:t>image PNG, PDF, SVG</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7F9FB"/>
                    </a:solidFill>
                  </a:tcPr>
                </a:tc>
                <a:tc>
                  <a:txBody>
                    <a:bodyPr/>
                    <a:lstStyle/>
                    <a:p>
                      <a:pPr indent="0" marL="0">
                        <a:buNone/>
                      </a:pPr>
                      <a:r>
                        <a:rPr lang="en-US" sz="1500" dirty="0">
                          <a:solidFill>
                            <a:srgbClr val="1F2933"/>
                          </a:solidFill>
                          <a:latin typeface="Calibri" pitchFamily="34" charset="0"/>
                          <a:ea typeface="Calibri" pitchFamily="34" charset="-122"/>
                          <a:cs typeface="Calibri" pitchFamily="34" charset="-120"/>
                        </a:rPr>
                        <a:t>image (c'est du matplotlib)</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7F9FB"/>
                    </a:solidFill>
                  </a:tcPr>
                </a:tc>
                <a:tc>
                  <a:txBody>
                    <a:bodyPr/>
                    <a:lstStyle/>
                    <a:p>
                      <a:pPr indent="0" marL="0">
                        <a:buNone/>
                      </a:pPr>
                      <a:r>
                        <a:rPr lang="en-US" sz="1500" dirty="0">
                          <a:solidFill>
                            <a:srgbClr val="1F2933"/>
                          </a:solidFill>
                          <a:latin typeface="Calibri" pitchFamily="34" charset="0"/>
                          <a:ea typeface="Calibri" pitchFamily="34" charset="-122"/>
                          <a:cs typeface="Calibri" pitchFamily="34" charset="-120"/>
                        </a:rPr>
                        <a:t>page HTML interactive</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7F9FB"/>
                    </a:solidFill>
                  </a:tcPr>
                </a:tc>
              </a:tr>
              <a:tr h="584454">
                <a:tc>
                  <a:txBody>
                    <a:bodyPr/>
                    <a:lstStyle/>
                    <a:p>
                      <a:pPr indent="0" marL="0">
                        <a:buNone/>
                      </a:pPr>
                      <a:r>
                        <a:rPr lang="en-US" sz="1500" b="1" dirty="0">
                          <a:solidFill>
                            <a:srgbClr val="1F2933"/>
                          </a:solidFill>
                          <a:latin typeface="Calibri" pitchFamily="34" charset="0"/>
                          <a:ea typeface="Calibri" pitchFamily="34" charset="-122"/>
                          <a:cs typeface="Calibri" pitchFamily="34" charset="-120"/>
                        </a:rPr>
                        <a:t>Idéal pour</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EEF3F7"/>
                    </a:solidFill>
                  </a:tcPr>
                </a:tc>
                <a:tc>
                  <a:txBody>
                    <a:bodyPr/>
                    <a:lstStyle/>
                    <a:p>
                      <a:pPr indent="0" marL="0">
                        <a:buNone/>
                      </a:pPr>
                      <a:r>
                        <a:rPr lang="en-US" sz="1500" dirty="0">
                          <a:solidFill>
                            <a:srgbClr val="1F2933"/>
                          </a:solidFill>
                          <a:latin typeface="Calibri" pitchFamily="34" charset="0"/>
                          <a:ea typeface="Calibri" pitchFamily="34" charset="-122"/>
                          <a:cs typeface="Calibri" pitchFamily="34" charset="-120"/>
                        </a:rPr>
                        <a:t>rapport, figure sur mesure</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c>
                  <a:txBody>
                    <a:bodyPr/>
                    <a:lstStyle/>
                    <a:p>
                      <a:pPr indent="0" marL="0">
                        <a:buNone/>
                      </a:pPr>
                      <a:r>
                        <a:rPr lang="en-US" sz="1500" dirty="0">
                          <a:solidFill>
                            <a:srgbClr val="1F2933"/>
                          </a:solidFill>
                          <a:latin typeface="Calibri" pitchFamily="34" charset="0"/>
                          <a:ea typeface="Calibri" pitchFamily="34" charset="-122"/>
                          <a:cs typeface="Calibri" pitchFamily="34" charset="-120"/>
                        </a:rPr>
                        <a:t>explorer une distribution, comparer des groupes</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c>
                  <a:txBody>
                    <a:bodyPr/>
                    <a:lstStyle/>
                    <a:p>
                      <a:pPr indent="0" marL="0">
                        <a:buNone/>
                      </a:pPr>
                      <a:r>
                        <a:rPr lang="en-US" sz="1500" dirty="0">
                          <a:solidFill>
                            <a:srgbClr val="1F2933"/>
                          </a:solidFill>
                          <a:latin typeface="Calibri" pitchFamily="34" charset="0"/>
                          <a:ea typeface="Calibri" pitchFamily="34" charset="-122"/>
                          <a:cs typeface="Calibri" pitchFamily="34" charset="-120"/>
                        </a:rPr>
                        <a:t>tableau de bord, exploration à la souris</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Analyse de données avec Python   |   Visualisation, version mini</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475488" cy="475488"/>
          </a:xfrm>
          <a:prstGeom prst="ellipse">
            <a:avLst/>
          </a:prstGeom>
          <a:solidFill>
            <a:srgbClr val="2F7D62"/>
          </a:solidFill>
          <a:ln/>
        </p:spPr>
      </p:sp>
      <p:sp>
        <p:nvSpPr>
          <p:cNvPr id="3" name="Text 1"/>
          <p:cNvSpPr txBox="1"/>
          <p:nvPr/>
        </p:nvSpPr>
        <p:spPr>
          <a:xfrm>
            <a:off x="548640" y="56692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4" name="Text 2"/>
          <p:cNvSpPr txBox="1"/>
          <p:nvPr/>
        </p:nvSpPr>
        <p:spPr>
          <a:xfrm>
            <a:off x="1280160" y="164592"/>
            <a:ext cx="10362895" cy="274320"/>
          </a:xfrm>
          <a:prstGeom prst="rect">
            <a:avLst/>
          </a:prstGeom>
          <a:noFill/>
          <a:ln/>
        </p:spPr>
        <p:txBody>
          <a:bodyPr wrap="square" lIns="0" tIns="0" rIns="0" bIns="0" rtlCol="0" anchor="ctr"/>
          <a:lstStyle/>
          <a:p>
            <a:pPr indent="0" marL="0">
              <a:buNone/>
            </a:pPr>
            <a:r>
              <a:rPr lang="en-US" sz="1200" b="1" spc="200" kern="0" dirty="0">
                <a:solidFill>
                  <a:srgbClr val="2F7D62"/>
                </a:solidFill>
                <a:latin typeface="Calibri" pitchFamily="34" charset="0"/>
                <a:ea typeface="Calibri" pitchFamily="34" charset="-122"/>
                <a:cs typeface="Calibri" pitchFamily="34" charset="-120"/>
              </a:rPr>
              <a:t>TROIS BIBLIOTHÈQUES</a:t>
            </a:r>
            <a:endParaRPr lang="en-US" sz="1200" dirty="0"/>
          </a:p>
        </p:txBody>
      </p:sp>
      <p:sp>
        <p:nvSpPr>
          <p:cNvPr id="5" name="Text 3"/>
          <p:cNvSpPr txBox="1"/>
          <p:nvPr/>
        </p:nvSpPr>
        <p:spPr>
          <a:xfrm>
            <a:off x="1280160" y="457200"/>
            <a:ext cx="10362895" cy="694944"/>
          </a:xfrm>
          <a:prstGeom prst="rect">
            <a:avLst/>
          </a:prstGeom>
          <a:noFill/>
          <a:ln/>
        </p:spPr>
        <p:txBody>
          <a:bodyPr wrap="square" lIns="0" tIns="0" rIns="0" bIns="0" rtlCol="0" anchor="ctr"/>
          <a:lstStyle/>
          <a:p>
            <a:pPr indent="0" marL="0">
              <a:buNone/>
            </a:pPr>
            <a:r>
              <a:rPr lang="en-US" sz="3000" b="1" dirty="0">
                <a:solidFill>
                  <a:srgbClr val="1F3A5F"/>
                </a:solidFill>
                <a:latin typeface="Cambria" pitchFamily="34" charset="0"/>
                <a:ea typeface="Cambria" pitchFamily="34" charset="-122"/>
                <a:cs typeface="Cambria" pitchFamily="34" charset="-120"/>
              </a:rPr>
              <a:t>Le même graphique, trois écritures</a:t>
            </a:r>
            <a:endParaRPr lang="en-US" sz="3000" dirty="0"/>
          </a:p>
        </p:txBody>
      </p:sp>
      <p:sp>
        <p:nvSpPr>
          <p:cNvPr id="6" name="Text 4"/>
          <p:cNvSpPr txBox="1"/>
          <p:nvPr/>
        </p:nvSpPr>
        <p:spPr>
          <a:xfrm>
            <a:off x="548640" y="1417320"/>
            <a:ext cx="3393338" cy="256032"/>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matplotlib : on agrège, puis on trace</a:t>
            </a:r>
            <a:endParaRPr lang="en-US" sz="1200" dirty="0"/>
          </a:p>
        </p:txBody>
      </p:sp>
      <p:sp>
        <p:nvSpPr>
          <p:cNvPr id="7" name="Shape 5"/>
          <p:cNvSpPr/>
          <p:nvPr/>
        </p:nvSpPr>
        <p:spPr>
          <a:xfrm>
            <a:off x="548640" y="1709928"/>
            <a:ext cx="3393338" cy="1071880"/>
          </a:xfrm>
          <a:prstGeom prst="rect">
            <a:avLst/>
          </a:prstGeom>
          <a:solidFill>
            <a:srgbClr val="F3F4F6"/>
          </a:solidFill>
          <a:ln/>
        </p:spPr>
      </p:sp>
      <p:sp>
        <p:nvSpPr>
          <p:cNvPr id="8" name="Text 6"/>
          <p:cNvSpPr txBox="1"/>
          <p:nvPr/>
        </p:nvSpPr>
        <p:spPr>
          <a:xfrm>
            <a:off x="731520" y="1856232"/>
            <a:ext cx="3027578" cy="779272"/>
          </a:xfrm>
          <a:prstGeom prst="rect">
            <a:avLst/>
          </a:prstGeom>
          <a:noFill/>
          <a:ln/>
        </p:spPr>
        <p:txBody>
          <a:bodyPr wrap="square" lIns="0" tIns="0" rIns="0" bIns="0" rtlCol="0" anchor="t"/>
          <a:lstStyle/>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fig, ax = plt.subplots()</a:t>
            </a:r>
            <a:endParaRPr lang="en-US" sz="1300" dirty="0"/>
          </a:p>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ax.barh(par_region.index,</a:t>
            </a:r>
            <a:endParaRPr lang="en-US" sz="1300" dirty="0"/>
          </a:p>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        par_region.values)</a:t>
            </a:r>
            <a:endParaRPr lang="en-US" sz="1300" dirty="0"/>
          </a:p>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ax.set_title("CA par région")</a:t>
            </a:r>
            <a:endParaRPr lang="en-US" sz="1300" dirty="0"/>
          </a:p>
        </p:txBody>
      </p:sp>
      <p:pic>
        <p:nvPicPr>
          <p:cNvPr id="9" name="Image 0" descr="Barres horizontales du chiffre d'affaires par région, tracées avec matplotlib">    </p:cNvPr>
          <p:cNvPicPr>
            <a:picLocks noChangeAspect="1"/>
          </p:cNvPicPr>
          <p:nvPr/>
        </p:nvPicPr>
        <p:blipFill>
          <a:blip r:embed="rId1"/>
          <a:stretch>
            <a:fillRect/>
          </a:stretch>
        </p:blipFill>
        <p:spPr>
          <a:xfrm>
            <a:off x="592074" y="3101848"/>
            <a:ext cx="3306470" cy="1828800"/>
          </a:xfrm>
          <a:prstGeom prst="rect">
            <a:avLst/>
          </a:prstGeom>
        </p:spPr>
      </p:pic>
      <p:sp>
        <p:nvSpPr>
          <p:cNvPr id="10" name="Text 7"/>
          <p:cNvSpPr txBox="1"/>
          <p:nvPr/>
        </p:nvSpPr>
        <p:spPr>
          <a:xfrm>
            <a:off x="4399178" y="1417320"/>
            <a:ext cx="3393338" cy="256032"/>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seaborn : il agrège lui-même</a:t>
            </a:r>
            <a:endParaRPr lang="en-US" sz="1200" dirty="0"/>
          </a:p>
        </p:txBody>
      </p:sp>
      <p:sp>
        <p:nvSpPr>
          <p:cNvPr id="11" name="Shape 8"/>
          <p:cNvSpPr/>
          <p:nvPr/>
        </p:nvSpPr>
        <p:spPr>
          <a:xfrm>
            <a:off x="4399178" y="1709928"/>
            <a:ext cx="3393338" cy="1071880"/>
          </a:xfrm>
          <a:prstGeom prst="rect">
            <a:avLst/>
          </a:prstGeom>
          <a:solidFill>
            <a:srgbClr val="F3F4F6"/>
          </a:solidFill>
          <a:ln/>
        </p:spPr>
      </p:sp>
      <p:sp>
        <p:nvSpPr>
          <p:cNvPr id="12" name="Text 9"/>
          <p:cNvSpPr txBox="1"/>
          <p:nvPr/>
        </p:nvSpPr>
        <p:spPr>
          <a:xfrm>
            <a:off x="4582058" y="1856232"/>
            <a:ext cx="3027578" cy="779272"/>
          </a:xfrm>
          <a:prstGeom prst="rect">
            <a:avLst/>
          </a:prstGeom>
          <a:noFill/>
          <a:ln/>
        </p:spPr>
        <p:txBody>
          <a:bodyPr wrap="square" lIns="0" tIns="0" rIns="0" bIns="0" rtlCol="0" anchor="t"/>
          <a:lstStyle/>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sns.barplot(data=indicateurs,</a:t>
            </a:r>
            <a:endParaRPr lang="en-US" sz="1300" dirty="0"/>
          </a:p>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    x="ca", y="region",</a:t>
            </a:r>
            <a:endParaRPr lang="en-US" sz="1300" dirty="0"/>
          </a:p>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    estimator="sum",</a:t>
            </a:r>
            <a:endParaRPr lang="en-US" sz="1300" dirty="0"/>
          </a:p>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    errorbar=None, ax=ax)</a:t>
            </a:r>
            <a:endParaRPr lang="en-US" sz="1300" dirty="0"/>
          </a:p>
        </p:txBody>
      </p:sp>
      <p:pic>
        <p:nvPicPr>
          <p:cNvPr id="13" name="Image 1" descr="Le même graphique tracé avec seaborn, avec une grille">    </p:cNvPr>
          <p:cNvPicPr>
            <a:picLocks noChangeAspect="1"/>
          </p:cNvPicPr>
          <p:nvPr/>
        </p:nvPicPr>
        <p:blipFill>
          <a:blip r:embed="rId2"/>
          <a:stretch>
            <a:fillRect/>
          </a:stretch>
        </p:blipFill>
        <p:spPr>
          <a:xfrm>
            <a:off x="4516679" y="3101848"/>
            <a:ext cx="3158338" cy="1828800"/>
          </a:xfrm>
          <a:prstGeom prst="rect">
            <a:avLst/>
          </a:prstGeom>
        </p:spPr>
      </p:pic>
      <p:sp>
        <p:nvSpPr>
          <p:cNvPr id="14" name="Text 10"/>
          <p:cNvSpPr txBox="1"/>
          <p:nvPr/>
        </p:nvSpPr>
        <p:spPr>
          <a:xfrm>
            <a:off x="8249717" y="1417320"/>
            <a:ext cx="3393338" cy="256032"/>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plotly : interactif</a:t>
            </a:r>
            <a:endParaRPr lang="en-US" sz="1200" dirty="0"/>
          </a:p>
        </p:txBody>
      </p:sp>
      <p:sp>
        <p:nvSpPr>
          <p:cNvPr id="15" name="Shape 11"/>
          <p:cNvSpPr/>
          <p:nvPr/>
        </p:nvSpPr>
        <p:spPr>
          <a:xfrm>
            <a:off x="8249717" y="1709928"/>
            <a:ext cx="3393338" cy="1071880"/>
          </a:xfrm>
          <a:prstGeom prst="rect">
            <a:avLst/>
          </a:prstGeom>
          <a:solidFill>
            <a:srgbClr val="F3F4F6"/>
          </a:solidFill>
          <a:ln/>
        </p:spPr>
      </p:sp>
      <p:sp>
        <p:nvSpPr>
          <p:cNvPr id="16" name="Text 12"/>
          <p:cNvSpPr txBox="1"/>
          <p:nvPr/>
        </p:nvSpPr>
        <p:spPr>
          <a:xfrm>
            <a:off x="8432597" y="1856232"/>
            <a:ext cx="3027578" cy="779272"/>
          </a:xfrm>
          <a:prstGeom prst="rect">
            <a:avLst/>
          </a:prstGeom>
          <a:noFill/>
          <a:ln/>
        </p:spPr>
        <p:txBody>
          <a:bodyPr wrap="square" lIns="0" tIns="0" rIns="0" bIns="0" rtlCol="0" anchor="t"/>
          <a:lstStyle/>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fig = px.bar(par_region,</a:t>
            </a:r>
            <a:endParaRPr lang="en-US" sz="1300" dirty="0"/>
          </a:p>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    orientation="h",</a:t>
            </a:r>
            <a:endParaRPr lang="en-US" sz="1300" dirty="0"/>
          </a:p>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    title="CA par région")</a:t>
            </a:r>
            <a:endParaRPr lang="en-US" sz="1300" dirty="0"/>
          </a:p>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fig.show()</a:t>
            </a:r>
            <a:endParaRPr lang="en-US" sz="1300" dirty="0"/>
          </a:p>
        </p:txBody>
      </p:sp>
      <p:pic>
        <p:nvPicPr>
          <p:cNvPr id="17" name="Image 2" descr="Le même graphique tracé avec plotly, axes nommés region et value">    </p:cNvPr>
          <p:cNvPicPr>
            <a:picLocks noChangeAspect="1"/>
          </p:cNvPicPr>
          <p:nvPr/>
        </p:nvPicPr>
        <p:blipFill>
          <a:blip r:embed="rId3"/>
          <a:stretch>
            <a:fillRect/>
          </a:stretch>
        </p:blipFill>
        <p:spPr>
          <a:xfrm>
            <a:off x="8574786" y="3101848"/>
            <a:ext cx="2743200" cy="1828800"/>
          </a:xfrm>
          <a:prstGeom prst="rect">
            <a:avLst/>
          </a:prstGeom>
        </p:spPr>
      </p:pic>
      <p:sp>
        <p:nvSpPr>
          <p:cNvPr id="18" name="Text 13"/>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Analyse de données avec Python   |   Visualisation, version mini</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F3A5F"/>
        </a:solidFill>
      </p:bgPr>
    </p:bg>
    <p:spTree>
      <p:nvGrpSpPr>
        <p:cNvPr id="1" name=""/>
        <p:cNvGrpSpPr/>
        <p:nvPr/>
      </p:nvGrpSpPr>
      <p:grpSpPr>
        <a:xfrm>
          <a:off x="0" y="0"/>
          <a:ext cx="0" cy="0"/>
          <a:chOff x="0" y="0"/>
          <a:chExt cx="0" cy="0"/>
        </a:xfrm>
      </p:grpSpPr>
      <p:sp>
        <p:nvSpPr>
          <p:cNvPr id="2" name="Text 0"/>
          <p:cNvSpPr txBox="1"/>
          <p:nvPr/>
        </p:nvSpPr>
        <p:spPr>
          <a:xfrm>
            <a:off x="731520" y="1737360"/>
            <a:ext cx="2743200" cy="1188720"/>
          </a:xfrm>
          <a:prstGeom prst="rect">
            <a:avLst/>
          </a:prstGeom>
          <a:noFill/>
          <a:ln/>
        </p:spPr>
        <p:txBody>
          <a:bodyPr wrap="square" lIns="0" tIns="0" rIns="0" bIns="0" rtlCol="0" anchor="ctr"/>
          <a:lstStyle/>
          <a:p>
            <a:pPr indent="0" marL="0">
              <a:buNone/>
            </a:pPr>
            <a:r>
              <a:rPr lang="en-US" sz="8000" b="1" dirty="0">
                <a:solidFill>
                  <a:srgbClr val="8FD1B5"/>
                </a:solidFill>
                <a:latin typeface="Cambria" pitchFamily="34" charset="0"/>
                <a:ea typeface="Cambria" pitchFamily="34" charset="-122"/>
                <a:cs typeface="Cambria" pitchFamily="34" charset="-120"/>
              </a:rPr>
              <a:t>02</a:t>
            </a:r>
            <a:endParaRPr lang="en-US" sz="8000" dirty="0"/>
          </a:p>
        </p:txBody>
      </p:sp>
      <p:sp>
        <p:nvSpPr>
          <p:cNvPr id="3" name="Text 1"/>
          <p:cNvSpPr txBox="1"/>
          <p:nvPr/>
        </p:nvSpPr>
        <p:spPr>
          <a:xfrm>
            <a:off x="731520" y="3017520"/>
            <a:ext cx="10515600" cy="822960"/>
          </a:xfrm>
          <a:prstGeom prst="rect">
            <a:avLst/>
          </a:prstGeom>
          <a:noFill/>
          <a:ln/>
        </p:spPr>
        <p:txBody>
          <a:bodyPr wrap="square" lIns="0" tIns="0" rIns="0" bIns="0" rtlCol="0" anchor="t"/>
          <a:lstStyle/>
          <a:p>
            <a:pPr indent="0" marL="0">
              <a:buNone/>
            </a:pPr>
            <a:r>
              <a:rPr lang="en-US" sz="4000" b="1" dirty="0">
                <a:solidFill>
                  <a:srgbClr val="FFFFFF"/>
                </a:solidFill>
                <a:latin typeface="Cambria" pitchFamily="34" charset="0"/>
                <a:ea typeface="Cambria" pitchFamily="34" charset="-122"/>
                <a:cs typeface="Cambria" pitchFamily="34" charset="-120"/>
              </a:rPr>
              <a:t>L'essentiel de chaque bibliothèque</a:t>
            </a:r>
            <a:endParaRPr lang="en-US" sz="4000" dirty="0"/>
          </a:p>
        </p:txBody>
      </p:sp>
      <p:sp>
        <p:nvSpPr>
          <p:cNvPr id="4" name="Text 2"/>
          <p:cNvSpPr txBox="1"/>
          <p:nvPr/>
        </p:nvSpPr>
        <p:spPr>
          <a:xfrm>
            <a:off x="731520" y="3977640"/>
            <a:ext cx="10515600" cy="548640"/>
          </a:xfrm>
          <a:prstGeom prst="rect">
            <a:avLst/>
          </a:prstGeom>
          <a:noFill/>
          <a:ln/>
        </p:spPr>
        <p:txBody>
          <a:bodyPr wrap="square" lIns="0" tIns="0" rIns="0" bIns="0" rtlCol="0" anchor="t"/>
          <a:lstStyle/>
          <a:p>
            <a:pPr indent="0" marL="0">
              <a:buNone/>
            </a:pPr>
            <a:r>
              <a:rPr lang="en-US" sz="2000" dirty="0">
                <a:solidFill>
                  <a:srgbClr val="C9D6E3"/>
                </a:solidFill>
                <a:latin typeface="Calibri" pitchFamily="34" charset="0"/>
                <a:ea typeface="Calibri" pitchFamily="34" charset="-122"/>
                <a:cs typeface="Calibri" pitchFamily="34" charset="-120"/>
              </a:rPr>
              <a:t>matplotlib   |   seaborn   |   plotly</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475488" cy="475488"/>
          </a:xfrm>
          <a:prstGeom prst="ellipse">
            <a:avLst/>
          </a:prstGeom>
          <a:solidFill>
            <a:srgbClr val="2F7D62"/>
          </a:solidFill>
          <a:ln/>
        </p:spPr>
      </p:sp>
      <p:sp>
        <p:nvSpPr>
          <p:cNvPr id="3" name="Text 1"/>
          <p:cNvSpPr txBox="1"/>
          <p:nvPr/>
        </p:nvSpPr>
        <p:spPr>
          <a:xfrm>
            <a:off x="548640" y="56692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4" name="Text 2"/>
          <p:cNvSpPr txBox="1"/>
          <p:nvPr/>
        </p:nvSpPr>
        <p:spPr>
          <a:xfrm>
            <a:off x="1280160" y="164592"/>
            <a:ext cx="10362895" cy="274320"/>
          </a:xfrm>
          <a:prstGeom prst="rect">
            <a:avLst/>
          </a:prstGeom>
          <a:noFill/>
          <a:ln/>
        </p:spPr>
        <p:txBody>
          <a:bodyPr wrap="square" lIns="0" tIns="0" rIns="0" bIns="0" rtlCol="0" anchor="ctr"/>
          <a:lstStyle/>
          <a:p>
            <a:pPr indent="0" marL="0">
              <a:buNone/>
            </a:pPr>
            <a:r>
              <a:rPr lang="en-US" sz="1200" b="1" spc="200" kern="0" dirty="0">
                <a:solidFill>
                  <a:srgbClr val="2F7D62"/>
                </a:solidFill>
                <a:latin typeface="Calibri" pitchFamily="34" charset="0"/>
                <a:ea typeface="Calibri" pitchFamily="34" charset="-122"/>
                <a:cs typeface="Calibri" pitchFamily="34" charset="-120"/>
              </a:rPr>
              <a:t>L'ESSENTIEL DE CHAQUE BIBLIOTHÈQUE</a:t>
            </a:r>
            <a:endParaRPr lang="en-US" sz="1200" dirty="0"/>
          </a:p>
        </p:txBody>
      </p:sp>
      <p:sp>
        <p:nvSpPr>
          <p:cNvPr id="5" name="Text 3"/>
          <p:cNvSpPr txBox="1"/>
          <p:nvPr/>
        </p:nvSpPr>
        <p:spPr>
          <a:xfrm>
            <a:off x="1280160" y="457200"/>
            <a:ext cx="10362895" cy="694944"/>
          </a:xfrm>
          <a:prstGeom prst="rect">
            <a:avLst/>
          </a:prstGeom>
          <a:noFill/>
          <a:ln/>
        </p:spPr>
        <p:txBody>
          <a:bodyPr wrap="square" lIns="0" tIns="0" rIns="0" bIns="0" rtlCol="0" anchor="ctr"/>
          <a:lstStyle/>
          <a:p>
            <a:pPr indent="0" marL="0">
              <a:buNone/>
            </a:pPr>
            <a:r>
              <a:rPr lang="en-US" sz="3000" b="1" dirty="0">
                <a:solidFill>
                  <a:srgbClr val="1F3A5F"/>
                </a:solidFill>
                <a:latin typeface="Cambria" pitchFamily="34" charset="0"/>
                <a:ea typeface="Cambria" pitchFamily="34" charset="-122"/>
                <a:cs typeface="Cambria" pitchFamily="34" charset="-120"/>
              </a:rPr>
              <a:t>matplotlib : une figure, un Axes</a:t>
            </a:r>
            <a:endParaRPr lang="en-US" sz="3000" dirty="0"/>
          </a:p>
        </p:txBody>
      </p:sp>
      <p:sp>
        <p:nvSpPr>
          <p:cNvPr id="6" name="Shape 4"/>
          <p:cNvSpPr/>
          <p:nvPr/>
        </p:nvSpPr>
        <p:spPr>
          <a:xfrm>
            <a:off x="548640" y="1417320"/>
            <a:ext cx="4835098" cy="1461516"/>
          </a:xfrm>
          <a:prstGeom prst="rect">
            <a:avLst/>
          </a:prstGeom>
          <a:solidFill>
            <a:srgbClr val="F3F4F6"/>
          </a:solidFill>
          <a:ln/>
        </p:spPr>
      </p:sp>
      <p:sp>
        <p:nvSpPr>
          <p:cNvPr id="7" name="Text 5"/>
          <p:cNvSpPr txBox="1"/>
          <p:nvPr/>
        </p:nvSpPr>
        <p:spPr>
          <a:xfrm>
            <a:off x="731520" y="1563624"/>
            <a:ext cx="4469338" cy="1168908"/>
          </a:xfrm>
          <a:prstGeom prst="rect">
            <a:avLst/>
          </a:prstGeom>
          <a:noFill/>
          <a:ln/>
        </p:spPr>
        <p:txBody>
          <a:bodyPr wrap="square" lIns="0" tIns="0" rIns="0" bIns="0" rtlCol="0" anchor="t"/>
          <a:lstStyle/>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fig, ax = plt.subplots(figsize=(8, 4))</a:t>
            </a:r>
            <a:endParaRPr lang="en-US" sz="1300" dirty="0"/>
          </a:p>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ax.plot(mensuel.index, mensuel.values,</a:t>
            </a:r>
            <a:endParaRPr lang="en-US" sz="1300" dirty="0"/>
          </a:p>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        marker="o")</a:t>
            </a:r>
            <a:endParaRPr lang="en-US" sz="1300" dirty="0"/>
          </a:p>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ax.set_title("Chiffre d'affaires mensuel")</a:t>
            </a:r>
            <a:endParaRPr lang="en-US" sz="1300" dirty="0"/>
          </a:p>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ax.set_ylabel("euros")</a:t>
            </a:r>
            <a:endParaRPr lang="en-US" sz="1300" dirty="0"/>
          </a:p>
          <a:p>
            <a:pPr indent="0" marL="0">
              <a:lnSpc>
                <a:spcPct val="100000"/>
              </a:lnSpc>
              <a:buNone/>
            </a:pPr>
            <a:r>
              <a:rPr lang="en-US" sz="1300" dirty="0">
                <a:solidFill>
                  <a:srgbClr val="1F2933"/>
                </a:solidFill>
                <a:latin typeface="Courier New" pitchFamily="34" charset="0"/>
                <a:ea typeface="Courier New" pitchFamily="34" charset="-122"/>
                <a:cs typeface="Courier New" pitchFamily="34" charset="-120"/>
              </a:rPr>
              <a:t>ax.set_ylim(0, 65000)</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3198876"/>
          <a:ext cx="4835098" cy="914400"/>
        </p:xfrm>
        <a:graphic>
          <a:graphicData uri="http://schemas.openxmlformats.org/drawingml/2006/table">
            <a:tbl>
              <a:tblPr/>
              <a:tblGrid>
                <a:gridCol w="2417549"/>
                <a:gridCol w="2417549"/>
              </a:tblGrid>
              <a:tr h="350774">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Méthode</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Graphique</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1F3A5F"/>
                    </a:solidFill>
                  </a:tcPr>
                </a:tc>
              </a:tr>
              <a:tr h="350774">
                <a:tc>
                  <a:txBody>
                    <a:bodyPr/>
                    <a:lstStyle/>
                    <a:p>
                      <a:pPr indent="0" marL="0">
                        <a:buNone/>
                      </a:pPr>
                      <a:r>
                        <a:rPr lang="en-US" sz="1400" dirty="0">
                          <a:solidFill>
                            <a:srgbClr val="1F3A5F"/>
                          </a:solidFill>
                          <a:latin typeface="Courier New" pitchFamily="34" charset="0"/>
                          <a:ea typeface="Courier New" pitchFamily="34" charset="-122"/>
                          <a:cs typeface="Courier New" pitchFamily="34" charset="-120"/>
                        </a:rPr>
                        <a:t>ax.plot</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courbe</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r>
              <a:tr h="350774">
                <a:tc>
                  <a:txBody>
                    <a:bodyPr/>
                    <a:lstStyle/>
                    <a:p>
                      <a:pPr indent="0" marL="0">
                        <a:buNone/>
                      </a:pPr>
                      <a:r>
                        <a:rPr lang="en-US" sz="1400" dirty="0">
                          <a:solidFill>
                            <a:srgbClr val="1F3A5F"/>
                          </a:solidFill>
                          <a:latin typeface="Courier New" pitchFamily="34" charset="0"/>
                          <a:ea typeface="Courier New" pitchFamily="34" charset="-122"/>
                          <a:cs typeface="Courier New" pitchFamily="34" charset="-120"/>
                        </a:rPr>
                        <a:t>ax.bar</a:t>
                      </a:r>
                      <a:pPr indent="0" marL="0">
                        <a:buNone/>
                      </a:pPr>
                      <a:r>
                        <a:rPr lang="en-US" sz="1400" dirty="0">
                          <a:solidFill>
                            <a:srgbClr val="1F2933"/>
                          </a:solidFill>
                          <a:latin typeface="Calibri" pitchFamily="34" charset="0"/>
                          <a:ea typeface="Calibri" pitchFamily="34" charset="-122"/>
                          <a:cs typeface="Calibri" pitchFamily="34" charset="-120"/>
                        </a:rPr>
                        <a:t>, </a:t>
                      </a:r>
                      <a:pPr indent="0" marL="0">
                        <a:buNone/>
                      </a:pPr>
                      <a:r>
                        <a:rPr lang="en-US" sz="1400" dirty="0">
                          <a:solidFill>
                            <a:srgbClr val="1F3A5F"/>
                          </a:solidFill>
                          <a:latin typeface="Courier New" pitchFamily="34" charset="0"/>
                          <a:ea typeface="Courier New" pitchFamily="34" charset="-122"/>
                          <a:cs typeface="Courier New" pitchFamily="34" charset="-120"/>
                        </a:rPr>
                        <a:t>ax.barh</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7F9FB"/>
                    </a:solidFill>
                  </a:tcPr>
                </a:tc>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barres</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7F9FB"/>
                    </a:solidFill>
                  </a:tcPr>
                </a:tc>
              </a:tr>
              <a:tr h="350774">
                <a:tc>
                  <a:txBody>
                    <a:bodyPr/>
                    <a:lstStyle/>
                    <a:p>
                      <a:pPr indent="0" marL="0">
                        <a:buNone/>
                      </a:pPr>
                      <a:r>
                        <a:rPr lang="en-US" sz="1400" dirty="0">
                          <a:solidFill>
                            <a:srgbClr val="1F3A5F"/>
                          </a:solidFill>
                          <a:latin typeface="Courier New" pitchFamily="34" charset="0"/>
                          <a:ea typeface="Courier New" pitchFamily="34" charset="-122"/>
                          <a:cs typeface="Courier New" pitchFamily="34" charset="-120"/>
                        </a:rPr>
                        <a:t>ax.hist</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histogramme</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r>
              <a:tr h="350774">
                <a:tc>
                  <a:txBody>
                    <a:bodyPr/>
                    <a:lstStyle/>
                    <a:p>
                      <a:pPr indent="0" marL="0">
                        <a:buNone/>
                      </a:pPr>
                      <a:r>
                        <a:rPr lang="en-US" sz="1400" dirty="0">
                          <a:solidFill>
                            <a:srgbClr val="1F3A5F"/>
                          </a:solidFill>
                          <a:latin typeface="Courier New" pitchFamily="34" charset="0"/>
                          <a:ea typeface="Courier New" pitchFamily="34" charset="-122"/>
                          <a:cs typeface="Courier New" pitchFamily="34" charset="-120"/>
                        </a:rPr>
                        <a:t>ax.scatter</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7F9FB"/>
                    </a:solidFill>
                  </a:tcPr>
                </a:tc>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nuage de points</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7F9FB"/>
                    </a:solidFill>
                  </a:tcPr>
                </a:tc>
              </a:tr>
            </a:tbl>
          </a:graphicData>
        </a:graphic>
      </p:graphicFrame>
      <p:pic>
        <p:nvPicPr>
          <p:cNvPr id="9" name="Image 0" descr="Courbe du chiffre d'affaires mensuel avec titre, axe à partir de zéro et montants en milliers d'euros">    </p:cNvPr>
          <p:cNvPicPr>
            <a:picLocks noChangeAspect="1"/>
          </p:cNvPicPr>
          <p:nvPr/>
        </p:nvPicPr>
        <p:blipFill>
          <a:blip r:embed="rId1"/>
          <a:stretch>
            <a:fillRect/>
          </a:stretch>
        </p:blipFill>
        <p:spPr>
          <a:xfrm>
            <a:off x="6066736" y="1417320"/>
            <a:ext cx="5350520" cy="3108960"/>
          </a:xfrm>
          <a:prstGeom prst="rect">
            <a:avLst/>
          </a:prstGeom>
        </p:spPr>
      </p:pic>
      <p:sp>
        <p:nvSpPr>
          <p:cNvPr id="10" name="Shape 6"/>
          <p:cNvSpPr/>
          <p:nvPr/>
        </p:nvSpPr>
        <p:spPr>
          <a:xfrm>
            <a:off x="5840938" y="4846320"/>
            <a:ext cx="5802117" cy="822960"/>
          </a:xfrm>
          <a:prstGeom prst="roundRect">
            <a:avLst>
              <a:gd name="adj" fmla="val 6667"/>
            </a:avLst>
          </a:prstGeom>
          <a:solidFill>
            <a:srgbClr val="E8F3EE"/>
          </a:solidFill>
          <a:ln/>
        </p:spPr>
      </p:sp>
      <p:sp>
        <p:nvSpPr>
          <p:cNvPr id="11" name="Text 7"/>
          <p:cNvSpPr txBox="1"/>
          <p:nvPr/>
        </p:nvSpPr>
        <p:spPr>
          <a:xfrm>
            <a:off x="6115258" y="4846320"/>
            <a:ext cx="5253477" cy="822960"/>
          </a:xfrm>
          <a:prstGeom prst="rect">
            <a:avLst/>
          </a:prstGeom>
          <a:noFill/>
          <a:ln/>
        </p:spPr>
        <p:txBody>
          <a:bodyPr wrap="square" lIns="0" tIns="0" rIns="0" bIns="0" rtlCol="0" anchor="ctr"/>
          <a:lstStyle/>
          <a:p>
            <a:pPr indent="0" marL="0">
              <a:buNone/>
            </a:pPr>
            <a:r>
              <a:rPr lang="en-US" sz="1500" dirty="0">
                <a:solidFill>
                  <a:srgbClr val="2F7D62"/>
                </a:solidFill>
                <a:latin typeface="Courier New" pitchFamily="34" charset="0"/>
                <a:ea typeface="Courier New" pitchFamily="34" charset="-122"/>
                <a:cs typeface="Courier New" pitchFamily="34" charset="-120"/>
              </a:rPr>
              <a:t>plt.subplots()</a:t>
            </a:r>
            <a:pPr indent="0" marL="0">
              <a:buNone/>
            </a:pPr>
            <a:r>
              <a:rPr lang="en-US" sz="1500" dirty="0">
                <a:solidFill>
                  <a:srgbClr val="1F3A5F"/>
                </a:solidFill>
                <a:latin typeface="Calibri" pitchFamily="34" charset="0"/>
                <a:ea typeface="Calibri" pitchFamily="34" charset="-122"/>
                <a:cs typeface="Calibri" pitchFamily="34" charset="-120"/>
              </a:rPr>
              <a:t> renvoie la </a:t>
            </a:r>
            <a:pPr indent="0" marL="0">
              <a:buNone/>
            </a:pPr>
            <a:r>
              <a:rPr lang="en-US" sz="1500" dirty="0">
                <a:solidFill>
                  <a:srgbClr val="2F7D62"/>
                </a:solidFill>
                <a:latin typeface="Courier New" pitchFamily="34" charset="0"/>
                <a:ea typeface="Courier New" pitchFamily="34" charset="-122"/>
                <a:cs typeface="Courier New" pitchFamily="34" charset="-120"/>
              </a:rPr>
              <a:t>Figure</a:t>
            </a:r>
            <a:pPr indent="0" marL="0">
              <a:buNone/>
            </a:pPr>
            <a:r>
              <a:rPr lang="en-US" sz="1500" dirty="0">
                <a:solidFill>
                  <a:srgbClr val="1F3A5F"/>
                </a:solidFill>
                <a:latin typeface="Calibri" pitchFamily="34" charset="0"/>
                <a:ea typeface="Calibri" pitchFamily="34" charset="-122"/>
                <a:cs typeface="Calibri" pitchFamily="34" charset="-120"/>
              </a:rPr>
              <a:t> (l'image) et l'</a:t>
            </a:r>
            <a:pPr indent="0" marL="0">
              <a:buNone/>
            </a:pPr>
            <a:r>
              <a:rPr lang="en-US" sz="1500" dirty="0">
                <a:solidFill>
                  <a:srgbClr val="2F7D62"/>
                </a:solidFill>
                <a:latin typeface="Courier New" pitchFamily="34" charset="0"/>
                <a:ea typeface="Courier New" pitchFamily="34" charset="-122"/>
                <a:cs typeface="Courier New" pitchFamily="34" charset="-120"/>
              </a:rPr>
              <a:t>Axes</a:t>
            </a:r>
            <a:pPr indent="0" marL="0">
              <a:buNone/>
            </a:pPr>
            <a:r>
              <a:rPr lang="en-US" sz="1500" dirty="0">
                <a:solidFill>
                  <a:srgbClr val="1F3A5F"/>
                </a:solidFill>
                <a:latin typeface="Calibri" pitchFamily="34" charset="0"/>
                <a:ea typeface="Calibri" pitchFamily="34" charset="-122"/>
                <a:cs typeface="Calibri" pitchFamily="34" charset="-120"/>
              </a:rPr>
              <a:t> (le graphique) : on agit ensuite sur </a:t>
            </a:r>
            <a:pPr indent="0" marL="0">
              <a:buNone/>
            </a:pPr>
            <a:r>
              <a:rPr lang="en-US" sz="1500" dirty="0">
                <a:solidFill>
                  <a:srgbClr val="2F7D62"/>
                </a:solidFill>
                <a:latin typeface="Courier New" pitchFamily="34" charset="0"/>
                <a:ea typeface="Courier New" pitchFamily="34" charset="-122"/>
                <a:cs typeface="Courier New" pitchFamily="34" charset="-120"/>
              </a:rPr>
              <a:t>ax</a:t>
            </a:r>
            <a:pPr indent="0" marL="0">
              <a:buNone/>
            </a:pPr>
            <a:r>
              <a:rPr lang="en-US" sz="1500" dirty="0">
                <a:solidFill>
                  <a:srgbClr val="1F3A5F"/>
                </a:solidFill>
                <a:latin typeface="Calibri" pitchFamily="34" charset="0"/>
                <a:ea typeface="Calibri" pitchFamily="34" charset="-122"/>
                <a:cs typeface="Calibri" pitchFamily="34" charset="-120"/>
              </a:rPr>
              <a:t>.</a:t>
            </a:r>
            <a:endParaRPr lang="en-US" sz="1500" dirty="0"/>
          </a:p>
        </p:txBody>
      </p:sp>
      <p:sp>
        <p:nvSpPr>
          <p:cNvPr id="12" name="Text 8"/>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Analyse de données avec Python   |   Visualisation, version mini</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475488" cy="475488"/>
          </a:xfrm>
          <a:prstGeom prst="ellipse">
            <a:avLst/>
          </a:prstGeom>
          <a:solidFill>
            <a:srgbClr val="2F7D62"/>
          </a:solidFill>
          <a:ln/>
        </p:spPr>
      </p:sp>
      <p:sp>
        <p:nvSpPr>
          <p:cNvPr id="3" name="Text 1"/>
          <p:cNvSpPr txBox="1"/>
          <p:nvPr/>
        </p:nvSpPr>
        <p:spPr>
          <a:xfrm>
            <a:off x="548640" y="56692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4" name="Text 2"/>
          <p:cNvSpPr txBox="1"/>
          <p:nvPr/>
        </p:nvSpPr>
        <p:spPr>
          <a:xfrm>
            <a:off x="1280160" y="164592"/>
            <a:ext cx="10362895" cy="274320"/>
          </a:xfrm>
          <a:prstGeom prst="rect">
            <a:avLst/>
          </a:prstGeom>
          <a:noFill/>
          <a:ln/>
        </p:spPr>
        <p:txBody>
          <a:bodyPr wrap="square" lIns="0" tIns="0" rIns="0" bIns="0" rtlCol="0" anchor="ctr"/>
          <a:lstStyle/>
          <a:p>
            <a:pPr indent="0" marL="0">
              <a:buNone/>
            </a:pPr>
            <a:r>
              <a:rPr lang="en-US" sz="1200" b="1" spc="200" kern="0" dirty="0">
                <a:solidFill>
                  <a:srgbClr val="2F7D62"/>
                </a:solidFill>
                <a:latin typeface="Calibri" pitchFamily="34" charset="0"/>
                <a:ea typeface="Calibri" pitchFamily="34" charset="-122"/>
                <a:cs typeface="Calibri" pitchFamily="34" charset="-120"/>
              </a:rPr>
              <a:t>L'ESSENTIEL DE CHAQUE BIBLIOTHÈQUE</a:t>
            </a:r>
            <a:endParaRPr lang="en-US" sz="1200" dirty="0"/>
          </a:p>
        </p:txBody>
      </p:sp>
      <p:sp>
        <p:nvSpPr>
          <p:cNvPr id="5" name="Text 3"/>
          <p:cNvSpPr txBox="1"/>
          <p:nvPr/>
        </p:nvSpPr>
        <p:spPr>
          <a:xfrm>
            <a:off x="1280160" y="457200"/>
            <a:ext cx="10362895" cy="694944"/>
          </a:xfrm>
          <a:prstGeom prst="rect">
            <a:avLst/>
          </a:prstGeom>
          <a:noFill/>
          <a:ln/>
        </p:spPr>
        <p:txBody>
          <a:bodyPr wrap="square" lIns="0" tIns="0" rIns="0" bIns="0" rtlCol="0" anchor="ctr"/>
          <a:lstStyle/>
          <a:p>
            <a:pPr indent="0" marL="0">
              <a:buNone/>
            </a:pPr>
            <a:r>
              <a:rPr lang="en-US" sz="3000" b="1" dirty="0">
                <a:solidFill>
                  <a:srgbClr val="1F3A5F"/>
                </a:solidFill>
                <a:latin typeface="Cambria" pitchFamily="34" charset="0"/>
                <a:ea typeface="Cambria" pitchFamily="34" charset="-122"/>
                <a:cs typeface="Cambria" pitchFamily="34" charset="-120"/>
              </a:rPr>
              <a:t>seaborn : des statistiques en une ligne</a:t>
            </a:r>
            <a:endParaRPr lang="en-US" sz="3000" dirty="0"/>
          </a:p>
        </p:txBody>
      </p:sp>
      <p:sp>
        <p:nvSpPr>
          <p:cNvPr id="6" name="Shape 4"/>
          <p:cNvSpPr/>
          <p:nvPr/>
        </p:nvSpPr>
        <p:spPr>
          <a:xfrm>
            <a:off x="548640" y="1417320"/>
            <a:ext cx="5318608" cy="1131824"/>
          </a:xfrm>
          <a:prstGeom prst="rect">
            <a:avLst/>
          </a:prstGeom>
          <a:solidFill>
            <a:srgbClr val="F3F4F6"/>
          </a:solidFill>
          <a:ln/>
        </p:spPr>
      </p:sp>
      <p:sp>
        <p:nvSpPr>
          <p:cNvPr id="7" name="Text 5"/>
          <p:cNvSpPr txBox="1"/>
          <p:nvPr/>
        </p:nvSpPr>
        <p:spPr>
          <a:xfrm>
            <a:off x="731520" y="1563624"/>
            <a:ext cx="4952848" cy="839216"/>
          </a:xfrm>
          <a:prstGeom prst="rect">
            <a:avLst/>
          </a:prstGeom>
          <a:noFill/>
          <a:ln/>
        </p:spPr>
        <p:txBody>
          <a:bodyPr wrap="square" lIns="0" tIns="0" rIns="0" bIns="0" rtlCol="0" anchor="t"/>
          <a:lstStyle/>
          <a:p>
            <a:pPr indent="0" marL="0">
              <a:lnSpc>
                <a:spcPct val="100000"/>
              </a:lnSpc>
              <a:buNone/>
            </a:pPr>
            <a:r>
              <a:rPr lang="en-US" sz="1400" dirty="0">
                <a:solidFill>
                  <a:srgbClr val="1F2933"/>
                </a:solidFill>
                <a:latin typeface="Courier New" pitchFamily="34" charset="0"/>
                <a:ea typeface="Courier New" pitchFamily="34" charset="-122"/>
                <a:cs typeface="Courier New" pitchFamily="34" charset="-120"/>
              </a:rPr>
              <a:t>sns.set_theme(style="whitegrid")</a:t>
            </a:r>
            <a:endParaRPr lang="en-US" sz="1400" dirty="0"/>
          </a:p>
          <a:p>
            <a:pPr indent="0" marL="0">
              <a:lnSpc>
                <a:spcPct val="100000"/>
              </a:lnSpc>
              <a:buNone/>
            </a:pPr>
            <a:r>
              <a:rPr lang="en-US" sz="1400" dirty="0">
                <a:solidFill>
                  <a:srgbClr val="1F2933"/>
                </a:solidFill>
                <a:latin typeface="Courier New" pitchFamily="34" charset="0"/>
                <a:ea typeface="Courier New" pitchFamily="34" charset="-122"/>
                <a:cs typeface="Courier New" pitchFamily="34" charset="-120"/>
              </a:rPr>
              <a:t> </a:t>
            </a:r>
            <a:endParaRPr lang="en-US" sz="1400" dirty="0"/>
          </a:p>
          <a:p>
            <a:pPr indent="0" marL="0">
              <a:lnSpc>
                <a:spcPct val="100000"/>
              </a:lnSpc>
              <a:buNone/>
            </a:pPr>
            <a:r>
              <a:rPr lang="en-US" sz="1400" dirty="0">
                <a:solidFill>
                  <a:srgbClr val="1F2933"/>
                </a:solidFill>
                <a:latin typeface="Courier New" pitchFamily="34" charset="0"/>
                <a:ea typeface="Courier New" pitchFamily="34" charset="-122"/>
                <a:cs typeface="Courier New" pitchFamily="34" charset="-120"/>
              </a:rPr>
              <a:t>sns.boxplot(data=ventes, x="categorie",</a:t>
            </a:r>
            <a:endParaRPr lang="en-US" sz="1400" dirty="0"/>
          </a:p>
          <a:p>
            <a:pPr indent="0" marL="0">
              <a:lnSpc>
                <a:spcPct val="100000"/>
              </a:lnSpc>
              <a:buNone/>
            </a:pPr>
            <a:r>
              <a:rPr lang="en-US" sz="1400" dirty="0">
                <a:solidFill>
                  <a:srgbClr val="1F2933"/>
                </a:solidFill>
                <a:latin typeface="Courier New" pitchFamily="34" charset="0"/>
                <a:ea typeface="Courier New" pitchFamily="34" charset="-122"/>
                <a:cs typeface="Courier New" pitchFamily="34" charset="-120"/>
              </a:rPr>
              <a:t>            y="montant", ax=ax)</a:t>
            </a:r>
            <a:endParaRPr lang="en-US" sz="1400" dirty="0"/>
          </a:p>
        </p:txBody>
      </p:sp>
      <p:pic>
        <p:nvPicPr>
          <p:cNvPr id="8" name="Image 0" descr="Boîtes à moustaches du montant des commandes par catégorie">    </p:cNvPr>
          <p:cNvPicPr>
            <a:picLocks noChangeAspect="1"/>
          </p:cNvPicPr>
          <p:nvPr/>
        </p:nvPicPr>
        <p:blipFill>
          <a:blip r:embed="rId1"/>
          <a:stretch>
            <a:fillRect/>
          </a:stretch>
        </p:blipFill>
        <p:spPr>
          <a:xfrm>
            <a:off x="1191875" y="2869184"/>
            <a:ext cx="4032138" cy="2377440"/>
          </a:xfrm>
          <a:prstGeom prst="rect">
            <a:avLst/>
          </a:prstGeom>
        </p:spPr>
      </p:pic>
      <p:sp>
        <p:nvSpPr>
          <p:cNvPr id="9" name="Shape 6"/>
          <p:cNvSpPr/>
          <p:nvPr/>
        </p:nvSpPr>
        <p:spPr>
          <a:xfrm>
            <a:off x="6324448" y="1417320"/>
            <a:ext cx="5318608" cy="712216"/>
          </a:xfrm>
          <a:prstGeom prst="rect">
            <a:avLst/>
          </a:prstGeom>
          <a:solidFill>
            <a:srgbClr val="F3F4F6"/>
          </a:solidFill>
          <a:ln/>
        </p:spPr>
      </p:sp>
      <p:sp>
        <p:nvSpPr>
          <p:cNvPr id="10" name="Text 7"/>
          <p:cNvSpPr txBox="1"/>
          <p:nvPr/>
        </p:nvSpPr>
        <p:spPr>
          <a:xfrm>
            <a:off x="6507328" y="1563624"/>
            <a:ext cx="4952848" cy="419608"/>
          </a:xfrm>
          <a:prstGeom prst="rect">
            <a:avLst/>
          </a:prstGeom>
          <a:noFill/>
          <a:ln/>
        </p:spPr>
        <p:txBody>
          <a:bodyPr wrap="square" lIns="0" tIns="0" rIns="0" bIns="0" rtlCol="0" anchor="t"/>
          <a:lstStyle/>
          <a:p>
            <a:pPr indent="0" marL="0">
              <a:lnSpc>
                <a:spcPct val="100000"/>
              </a:lnSpc>
              <a:buNone/>
            </a:pPr>
            <a:r>
              <a:rPr lang="en-US" sz="1400" dirty="0">
                <a:solidFill>
                  <a:srgbClr val="1F2933"/>
                </a:solidFill>
                <a:latin typeface="Courier New" pitchFamily="34" charset="0"/>
                <a:ea typeface="Courier New" pitchFamily="34" charset="-122"/>
                <a:cs typeface="Courier New" pitchFamily="34" charset="-120"/>
              </a:rPr>
              <a:t>sns.heatmap(taux, annot=True, fmt=".0%",</a:t>
            </a:r>
            <a:endParaRPr lang="en-US" sz="1400" dirty="0"/>
          </a:p>
          <a:p>
            <a:pPr indent="0" marL="0">
              <a:lnSpc>
                <a:spcPct val="100000"/>
              </a:lnSpc>
              <a:buNone/>
            </a:pPr>
            <a:r>
              <a:rPr lang="en-US" sz="1400" dirty="0">
                <a:solidFill>
                  <a:srgbClr val="1F2933"/>
                </a:solidFill>
                <a:latin typeface="Courier New" pitchFamily="34" charset="0"/>
                <a:ea typeface="Courier New" pitchFamily="34" charset="-122"/>
                <a:cs typeface="Courier New" pitchFamily="34" charset="-120"/>
              </a:rPr>
              <a:t>            cmap="RdBu", center=1, ax=ax)</a:t>
            </a:r>
            <a:endParaRPr lang="en-US" sz="1400" dirty="0"/>
          </a:p>
        </p:txBody>
      </p:sp>
      <p:pic>
        <p:nvPicPr>
          <p:cNvPr id="11" name="Image 1" descr="Heatmap du taux de réalisation de l'objectif par région et par mois">    </p:cNvPr>
          <p:cNvPicPr>
            <a:picLocks noChangeAspect="1"/>
          </p:cNvPicPr>
          <p:nvPr/>
        </p:nvPicPr>
        <p:blipFill>
          <a:blip r:embed="rId2"/>
          <a:stretch>
            <a:fillRect/>
          </a:stretch>
        </p:blipFill>
        <p:spPr>
          <a:xfrm>
            <a:off x="6324448" y="2449576"/>
            <a:ext cx="5318608" cy="2337849"/>
          </a:xfrm>
          <a:prstGeom prst="rect">
            <a:avLst/>
          </a:prstGeom>
        </p:spPr>
      </p:pic>
      <p:sp>
        <p:nvSpPr>
          <p:cNvPr id="12" name="Text 8"/>
          <p:cNvSpPr txBox="1"/>
          <p:nvPr/>
        </p:nvSpPr>
        <p:spPr>
          <a:xfrm>
            <a:off x="548640" y="5566664"/>
            <a:ext cx="11094415" cy="594360"/>
          </a:xfrm>
          <a:prstGeom prst="rect">
            <a:avLst/>
          </a:prstGeom>
          <a:noFill/>
          <a:ln/>
        </p:spPr>
        <p:txBody>
          <a:bodyPr wrap="square" lIns="0" tIns="0" rIns="0" bIns="0" rtlCol="0" anchor="t"/>
          <a:lstStyle/>
          <a:p>
            <a:pPr indent="0" marL="0">
              <a:buNone/>
            </a:pPr>
            <a:r>
              <a:rPr lang="en-US" sz="1500" dirty="0">
                <a:solidFill>
                  <a:srgbClr val="6B7280"/>
                </a:solidFill>
                <a:latin typeface="Calibri" pitchFamily="34" charset="0"/>
                <a:ea typeface="Calibri" pitchFamily="34" charset="-122"/>
                <a:cs typeface="Calibri" pitchFamily="34" charset="-120"/>
              </a:rPr>
              <a:t>Autres classiques : </a:t>
            </a:r>
            <a:pPr indent="0" marL="0">
              <a:buNone/>
            </a:pPr>
            <a:r>
              <a:rPr lang="en-US" sz="1500" dirty="0">
                <a:solidFill>
                  <a:srgbClr val="1F3A5F"/>
                </a:solidFill>
                <a:latin typeface="Courier New" pitchFamily="34" charset="0"/>
                <a:ea typeface="Courier New" pitchFamily="34" charset="-122"/>
                <a:cs typeface="Courier New" pitchFamily="34" charset="-120"/>
              </a:rPr>
              <a:t>histplot</a:t>
            </a:r>
            <a:pPr indent="0" marL="0">
              <a:buNone/>
            </a:pPr>
            <a:r>
              <a:rPr lang="en-US" sz="1500" dirty="0">
                <a:solidFill>
                  <a:srgbClr val="6B7280"/>
                </a:solidFill>
                <a:latin typeface="Calibri" pitchFamily="34" charset="0"/>
                <a:ea typeface="Calibri" pitchFamily="34" charset="-122"/>
                <a:cs typeface="Calibri" pitchFamily="34" charset="-120"/>
              </a:rPr>
              <a:t>, </a:t>
            </a:r>
            <a:pPr indent="0" marL="0">
              <a:buNone/>
            </a:pPr>
            <a:r>
              <a:rPr lang="en-US" sz="1500" dirty="0">
                <a:solidFill>
                  <a:srgbClr val="1F3A5F"/>
                </a:solidFill>
                <a:latin typeface="Courier New" pitchFamily="34" charset="0"/>
                <a:ea typeface="Courier New" pitchFamily="34" charset="-122"/>
                <a:cs typeface="Courier New" pitchFamily="34" charset="-120"/>
              </a:rPr>
              <a:t>countplot</a:t>
            </a:r>
            <a:pPr indent="0" marL="0">
              <a:buNone/>
            </a:pPr>
            <a:r>
              <a:rPr lang="en-US" sz="1500" dirty="0">
                <a:solidFill>
                  <a:srgbClr val="6B7280"/>
                </a:solidFill>
                <a:latin typeface="Calibri" pitchFamily="34" charset="0"/>
                <a:ea typeface="Calibri" pitchFamily="34" charset="-122"/>
                <a:cs typeface="Calibri" pitchFamily="34" charset="-120"/>
              </a:rPr>
              <a:t>, </a:t>
            </a:r>
            <a:pPr indent="0" marL="0">
              <a:buNone/>
            </a:pPr>
            <a:r>
              <a:rPr lang="en-US" sz="1500" dirty="0">
                <a:solidFill>
                  <a:srgbClr val="1F3A5F"/>
                </a:solidFill>
                <a:latin typeface="Courier New" pitchFamily="34" charset="0"/>
                <a:ea typeface="Courier New" pitchFamily="34" charset="-122"/>
                <a:cs typeface="Courier New" pitchFamily="34" charset="-120"/>
              </a:rPr>
              <a:t>lineplot</a:t>
            </a:r>
            <a:pPr indent="0" marL="0">
              <a:buNone/>
            </a:pPr>
            <a:r>
              <a:rPr lang="en-US" sz="1500" dirty="0">
                <a:solidFill>
                  <a:srgbClr val="6B7280"/>
                </a:solidFill>
                <a:latin typeface="Calibri" pitchFamily="34" charset="0"/>
                <a:ea typeface="Calibri" pitchFamily="34" charset="-122"/>
                <a:cs typeface="Calibri" pitchFamily="34" charset="-120"/>
              </a:rPr>
              <a:t> avec </a:t>
            </a:r>
            <a:pPr indent="0" marL="0">
              <a:buNone/>
            </a:pPr>
            <a:r>
              <a:rPr lang="en-US" sz="1500" dirty="0">
                <a:solidFill>
                  <a:srgbClr val="1F3A5F"/>
                </a:solidFill>
                <a:latin typeface="Courier New" pitchFamily="34" charset="0"/>
                <a:ea typeface="Courier New" pitchFamily="34" charset="-122"/>
                <a:cs typeface="Courier New" pitchFamily="34" charset="-120"/>
              </a:rPr>
              <a:t>hue</a:t>
            </a:r>
            <a:pPr indent="0" marL="0">
              <a:buNone/>
            </a:pPr>
            <a:r>
              <a:rPr lang="en-US" sz="1500" dirty="0">
                <a:solidFill>
                  <a:srgbClr val="6B7280"/>
                </a:solidFill>
                <a:latin typeface="Calibri" pitchFamily="34" charset="0"/>
                <a:ea typeface="Calibri" pitchFamily="34" charset="-122"/>
                <a:cs typeface="Calibri" pitchFamily="34" charset="-120"/>
              </a:rPr>
              <a:t>, </a:t>
            </a:r>
            <a:pPr indent="0" marL="0">
              <a:buNone/>
            </a:pPr>
            <a:r>
              <a:rPr lang="en-US" sz="1500" dirty="0">
                <a:solidFill>
                  <a:srgbClr val="1F3A5F"/>
                </a:solidFill>
                <a:latin typeface="Courier New" pitchFamily="34" charset="0"/>
                <a:ea typeface="Courier New" pitchFamily="34" charset="-122"/>
                <a:cs typeface="Courier New" pitchFamily="34" charset="-120"/>
              </a:rPr>
              <a:t>relplot</a:t>
            </a:r>
            <a:pPr indent="0" marL="0">
              <a:buNone/>
            </a:pPr>
            <a:r>
              <a:rPr lang="en-US" sz="1500" dirty="0">
                <a:solidFill>
                  <a:srgbClr val="6B7280"/>
                </a:solidFill>
                <a:latin typeface="Calibri" pitchFamily="34" charset="0"/>
                <a:ea typeface="Calibri" pitchFamily="34" charset="-122"/>
                <a:cs typeface="Calibri" pitchFamily="34" charset="-120"/>
              </a:rPr>
              <a:t> pour un graphique par groupe. Toujours passer </a:t>
            </a:r>
            <a:pPr indent="0" marL="0">
              <a:buNone/>
            </a:pPr>
            <a:r>
              <a:rPr lang="en-US" sz="1500" dirty="0">
                <a:solidFill>
                  <a:srgbClr val="1F3A5F"/>
                </a:solidFill>
                <a:latin typeface="Courier New" pitchFamily="34" charset="0"/>
                <a:ea typeface="Courier New" pitchFamily="34" charset="-122"/>
                <a:cs typeface="Courier New" pitchFamily="34" charset="-120"/>
              </a:rPr>
              <a:t>ax=ax</a:t>
            </a:r>
            <a:pPr indent="0" marL="0">
              <a:buNone/>
            </a:pPr>
            <a:r>
              <a:rPr lang="en-US" sz="1500" dirty="0">
                <a:solidFill>
                  <a:srgbClr val="6B7280"/>
                </a:solidFill>
                <a:latin typeface="Calibri" pitchFamily="34" charset="0"/>
                <a:ea typeface="Calibri" pitchFamily="34" charset="-122"/>
                <a:cs typeface="Calibri" pitchFamily="34" charset="-120"/>
              </a:rPr>
              <a:t>.</a:t>
            </a:r>
            <a:endParaRPr lang="en-US" sz="1500" dirty="0"/>
          </a:p>
        </p:txBody>
      </p:sp>
      <p:sp>
        <p:nvSpPr>
          <p:cNvPr id="13" name="Text 9"/>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Analyse de données avec Python   |   Visualisation, version mini</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475488" cy="475488"/>
          </a:xfrm>
          <a:prstGeom prst="ellipse">
            <a:avLst/>
          </a:prstGeom>
          <a:solidFill>
            <a:srgbClr val="2F7D62"/>
          </a:solidFill>
          <a:ln/>
        </p:spPr>
      </p:sp>
      <p:sp>
        <p:nvSpPr>
          <p:cNvPr id="3" name="Text 1"/>
          <p:cNvSpPr txBox="1"/>
          <p:nvPr/>
        </p:nvSpPr>
        <p:spPr>
          <a:xfrm>
            <a:off x="548640" y="56692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4" name="Text 2"/>
          <p:cNvSpPr txBox="1"/>
          <p:nvPr/>
        </p:nvSpPr>
        <p:spPr>
          <a:xfrm>
            <a:off x="1280160" y="164592"/>
            <a:ext cx="10362895" cy="274320"/>
          </a:xfrm>
          <a:prstGeom prst="rect">
            <a:avLst/>
          </a:prstGeom>
          <a:noFill/>
          <a:ln/>
        </p:spPr>
        <p:txBody>
          <a:bodyPr wrap="square" lIns="0" tIns="0" rIns="0" bIns="0" rtlCol="0" anchor="ctr"/>
          <a:lstStyle/>
          <a:p>
            <a:pPr indent="0" marL="0">
              <a:buNone/>
            </a:pPr>
            <a:r>
              <a:rPr lang="en-US" sz="1200" b="1" spc="200" kern="0" dirty="0">
                <a:solidFill>
                  <a:srgbClr val="2F7D62"/>
                </a:solidFill>
                <a:latin typeface="Calibri" pitchFamily="34" charset="0"/>
                <a:ea typeface="Calibri" pitchFamily="34" charset="-122"/>
                <a:cs typeface="Calibri" pitchFamily="34" charset="-120"/>
              </a:rPr>
              <a:t>L'ESSENTIEL DE CHAQUE BIBLIOTHÈQUE</a:t>
            </a:r>
            <a:endParaRPr lang="en-US" sz="1200" dirty="0"/>
          </a:p>
        </p:txBody>
      </p:sp>
      <p:sp>
        <p:nvSpPr>
          <p:cNvPr id="5" name="Text 3"/>
          <p:cNvSpPr txBox="1"/>
          <p:nvPr/>
        </p:nvSpPr>
        <p:spPr>
          <a:xfrm>
            <a:off x="1280160" y="457200"/>
            <a:ext cx="10362895" cy="694944"/>
          </a:xfrm>
          <a:prstGeom prst="rect">
            <a:avLst/>
          </a:prstGeom>
          <a:noFill/>
          <a:ln/>
        </p:spPr>
        <p:txBody>
          <a:bodyPr wrap="square" lIns="0" tIns="0" rIns="0" bIns="0" rtlCol="0" anchor="ctr"/>
          <a:lstStyle/>
          <a:p>
            <a:pPr indent="0" marL="0">
              <a:buNone/>
            </a:pPr>
            <a:r>
              <a:rPr lang="en-US" sz="3000" b="1" dirty="0">
                <a:solidFill>
                  <a:srgbClr val="1F3A5F"/>
                </a:solidFill>
                <a:latin typeface="Cambria" pitchFamily="34" charset="0"/>
                <a:ea typeface="Cambria" pitchFamily="34" charset="-122"/>
                <a:cs typeface="Cambria" pitchFamily="34" charset="-120"/>
              </a:rPr>
              <a:t>plotly : explorer à la souris</a:t>
            </a:r>
            <a:endParaRPr lang="en-US" sz="3000" dirty="0"/>
          </a:p>
        </p:txBody>
      </p:sp>
      <p:sp>
        <p:nvSpPr>
          <p:cNvPr id="6" name="Shape 4"/>
          <p:cNvSpPr/>
          <p:nvPr/>
        </p:nvSpPr>
        <p:spPr>
          <a:xfrm>
            <a:off x="548640" y="1417320"/>
            <a:ext cx="4835098" cy="2090928"/>
          </a:xfrm>
          <a:prstGeom prst="rect">
            <a:avLst/>
          </a:prstGeom>
          <a:solidFill>
            <a:srgbClr val="F3F4F6"/>
          </a:solidFill>
          <a:ln/>
        </p:spPr>
      </p:sp>
      <p:sp>
        <p:nvSpPr>
          <p:cNvPr id="7" name="Text 5"/>
          <p:cNvSpPr txBox="1"/>
          <p:nvPr/>
        </p:nvSpPr>
        <p:spPr>
          <a:xfrm>
            <a:off x="731520" y="1563624"/>
            <a:ext cx="4469338" cy="1798320"/>
          </a:xfrm>
          <a:prstGeom prst="rect">
            <a:avLst/>
          </a:prstGeom>
          <a:noFill/>
          <a:ln/>
        </p:spPr>
        <p:txBody>
          <a:bodyPr wrap="square" lIns="0" tIns="0" rIns="0" bIns="0" rtlCol="0" anchor="t"/>
          <a:lstStyle/>
          <a:p>
            <a:pPr indent="0" marL="0">
              <a:lnSpc>
                <a:spcPct val="100000"/>
              </a:lnSpc>
              <a:buNone/>
            </a:pPr>
            <a:r>
              <a:rPr lang="en-US" sz="1500" dirty="0">
                <a:solidFill>
                  <a:srgbClr val="1F2933"/>
                </a:solidFill>
                <a:latin typeface="Courier New" pitchFamily="34" charset="0"/>
                <a:ea typeface="Courier New" pitchFamily="34" charset="-122"/>
                <a:cs typeface="Courier New" pitchFamily="34" charset="-120"/>
              </a:rPr>
              <a:t>fig = px.line(</a:t>
            </a:r>
            <a:endParaRPr lang="en-US" sz="1500" dirty="0"/>
          </a:p>
          <a:p>
            <a:pPr indent="0" marL="0">
              <a:lnSpc>
                <a:spcPct val="100000"/>
              </a:lnSpc>
              <a:buNone/>
            </a:pPr>
            <a:r>
              <a:rPr lang="en-US" sz="1500" dirty="0">
                <a:solidFill>
                  <a:srgbClr val="1F2933"/>
                </a:solidFill>
                <a:latin typeface="Courier New" pitchFamily="34" charset="0"/>
                <a:ea typeface="Courier New" pitchFamily="34" charset="-122"/>
                <a:cs typeface="Courier New" pitchFamily="34" charset="-120"/>
              </a:rPr>
              <a:t>    indicateurs, x="mois", y="ca",</a:t>
            </a:r>
            <a:endParaRPr lang="en-US" sz="1500" dirty="0"/>
          </a:p>
          <a:p>
            <a:pPr indent="0" marL="0">
              <a:lnSpc>
                <a:spcPct val="100000"/>
              </a:lnSpc>
              <a:buNone/>
            </a:pPr>
            <a:r>
              <a:rPr lang="en-US" sz="1500" dirty="0">
                <a:solidFill>
                  <a:srgbClr val="1F2933"/>
                </a:solidFill>
                <a:latin typeface="Courier New" pitchFamily="34" charset="0"/>
                <a:ea typeface="Courier New" pitchFamily="34" charset="-122"/>
                <a:cs typeface="Courier New" pitchFamily="34" charset="-120"/>
              </a:rPr>
              <a:t>    color="region", markers=True,</a:t>
            </a:r>
            <a:endParaRPr lang="en-US" sz="1500" dirty="0"/>
          </a:p>
          <a:p>
            <a:pPr indent="0" marL="0">
              <a:lnSpc>
                <a:spcPct val="100000"/>
              </a:lnSpc>
              <a:buNone/>
            </a:pPr>
            <a:r>
              <a:rPr lang="en-US" sz="1500" dirty="0">
                <a:solidFill>
                  <a:srgbClr val="1F2933"/>
                </a:solidFill>
                <a:latin typeface="Courier New" pitchFamily="34" charset="0"/>
                <a:ea typeface="Courier New" pitchFamily="34" charset="-122"/>
                <a:cs typeface="Courier New" pitchFamily="34" charset="-120"/>
              </a:rPr>
              <a:t>    hover_data=["nb_commandes"],</a:t>
            </a:r>
            <a:endParaRPr lang="en-US" sz="1500" dirty="0"/>
          </a:p>
          <a:p>
            <a:pPr indent="0" marL="0">
              <a:lnSpc>
                <a:spcPct val="100000"/>
              </a:lnSpc>
              <a:buNone/>
            </a:pPr>
            <a:r>
              <a:rPr lang="en-US" sz="1500" dirty="0">
                <a:solidFill>
                  <a:srgbClr val="1F2933"/>
                </a:solidFill>
                <a:latin typeface="Courier New" pitchFamily="34" charset="0"/>
                <a:ea typeface="Courier New" pitchFamily="34" charset="-122"/>
                <a:cs typeface="Courier New" pitchFamily="34" charset="-120"/>
              </a:rPr>
              <a:t>    title="CA mensuel par région",</a:t>
            </a:r>
            <a:endParaRPr lang="en-US" sz="1500" dirty="0"/>
          </a:p>
          <a:p>
            <a:pPr indent="0" marL="0">
              <a:lnSpc>
                <a:spcPct val="100000"/>
              </a:lnSpc>
              <a:buNone/>
            </a:pPr>
            <a:r>
              <a:rPr lang="en-US" sz="1500" dirty="0">
                <a:solidFill>
                  <a:srgbClr val="1F2933"/>
                </a:solidFill>
                <a:latin typeface="Courier New" pitchFamily="34" charset="0"/>
                <a:ea typeface="Courier New" pitchFamily="34" charset="-122"/>
                <a:cs typeface="Courier New" pitchFamily="34" charset="-120"/>
              </a:rPr>
              <a:t>)</a:t>
            </a:r>
            <a:endParaRPr lang="en-US" sz="1500" dirty="0"/>
          </a:p>
          <a:p>
            <a:pPr indent="0" marL="0">
              <a:lnSpc>
                <a:spcPct val="100000"/>
              </a:lnSpc>
              <a:buNone/>
            </a:pPr>
            <a:r>
              <a:rPr lang="en-US" sz="1500" dirty="0">
                <a:solidFill>
                  <a:srgbClr val="1F2933"/>
                </a:solidFill>
                <a:latin typeface="Courier New" pitchFamily="34" charset="0"/>
                <a:ea typeface="Courier New" pitchFamily="34" charset="-122"/>
                <a:cs typeface="Courier New" pitchFamily="34" charset="-120"/>
              </a:rPr>
              <a:t>fig.show()</a:t>
            </a:r>
            <a:endParaRPr lang="en-US" sz="1500" dirty="0"/>
          </a:p>
          <a:p>
            <a:pPr indent="0" marL="0">
              <a:lnSpc>
                <a:spcPct val="100000"/>
              </a:lnSpc>
              <a:buNone/>
            </a:pPr>
            <a:r>
              <a:rPr lang="en-US" sz="1500" dirty="0">
                <a:solidFill>
                  <a:srgbClr val="1F2933"/>
                </a:solidFill>
                <a:latin typeface="Courier New" pitchFamily="34" charset="0"/>
                <a:ea typeface="Courier New" pitchFamily="34" charset="-122"/>
                <a:cs typeface="Courier New" pitchFamily="34" charset="-120"/>
              </a:rPr>
              <a:t>fig.write_html("ca.html")</a:t>
            </a:r>
            <a:endParaRPr lang="en-US" sz="1500" dirty="0"/>
          </a:p>
        </p:txBody>
      </p:sp>
      <p:sp>
        <p:nvSpPr>
          <p:cNvPr id="8" name="Text 6"/>
          <p:cNvSpPr txBox="1"/>
          <p:nvPr/>
        </p:nvSpPr>
        <p:spPr>
          <a:xfrm>
            <a:off x="548640" y="3828288"/>
            <a:ext cx="4835098" cy="822960"/>
          </a:xfrm>
          <a:prstGeom prst="rect">
            <a:avLst/>
          </a:prstGeom>
          <a:noFill/>
          <a:ln/>
        </p:spPr>
        <p:txBody>
          <a:bodyPr wrap="square" lIns="0" tIns="0" rIns="0" bIns="0" rtlCol="0" anchor="t"/>
          <a:lstStyle/>
          <a:p>
            <a:pPr indent="0" marL="0">
              <a:buNone/>
            </a:pPr>
            <a:r>
              <a:rPr lang="en-US" sz="1500" dirty="0">
                <a:solidFill>
                  <a:srgbClr val="6B7280"/>
                </a:solidFill>
                <a:latin typeface="Calibri" pitchFamily="34" charset="0"/>
                <a:ea typeface="Calibri" pitchFamily="34" charset="-122"/>
                <a:cs typeface="Calibri" pitchFamily="34" charset="-120"/>
              </a:rPr>
              <a:t>Aussi : </a:t>
            </a:r>
            <a:pPr indent="0" marL="0">
              <a:buNone/>
            </a:pPr>
            <a:r>
              <a:rPr lang="en-US" sz="1500" dirty="0">
                <a:solidFill>
                  <a:srgbClr val="1F3A5F"/>
                </a:solidFill>
                <a:latin typeface="Courier New" pitchFamily="34" charset="0"/>
                <a:ea typeface="Courier New" pitchFamily="34" charset="-122"/>
                <a:cs typeface="Courier New" pitchFamily="34" charset="-120"/>
              </a:rPr>
              <a:t>px.bar</a:t>
            </a:r>
            <a:pPr indent="0" marL="0">
              <a:buNone/>
            </a:pPr>
            <a:r>
              <a:rPr lang="en-US" sz="1500" dirty="0">
                <a:solidFill>
                  <a:srgbClr val="6B7280"/>
                </a:solidFill>
                <a:latin typeface="Calibri" pitchFamily="34" charset="0"/>
                <a:ea typeface="Calibri" pitchFamily="34" charset="-122"/>
                <a:cs typeface="Calibri" pitchFamily="34" charset="-120"/>
              </a:rPr>
              <a:t>, </a:t>
            </a:r>
            <a:pPr indent="0" marL="0">
              <a:buNone/>
            </a:pPr>
            <a:r>
              <a:rPr lang="en-US" sz="1500" dirty="0">
                <a:solidFill>
                  <a:srgbClr val="1F3A5F"/>
                </a:solidFill>
                <a:latin typeface="Courier New" pitchFamily="34" charset="0"/>
                <a:ea typeface="Courier New" pitchFamily="34" charset="-122"/>
                <a:cs typeface="Courier New" pitchFamily="34" charset="-120"/>
              </a:rPr>
              <a:t>px.scatter</a:t>
            </a:r>
            <a:pPr indent="0" marL="0">
              <a:buNone/>
            </a:pPr>
            <a:r>
              <a:rPr lang="en-US" sz="1500" dirty="0">
                <a:solidFill>
                  <a:srgbClr val="6B7280"/>
                </a:solidFill>
                <a:latin typeface="Calibri" pitchFamily="34" charset="0"/>
                <a:ea typeface="Calibri" pitchFamily="34" charset="-122"/>
                <a:cs typeface="Calibri" pitchFamily="34" charset="-120"/>
              </a:rPr>
              <a:t>, </a:t>
            </a:r>
            <a:pPr indent="0" marL="0">
              <a:buNone/>
            </a:pPr>
            <a:r>
              <a:rPr lang="en-US" sz="1500" dirty="0">
                <a:solidFill>
                  <a:srgbClr val="1F3A5F"/>
                </a:solidFill>
                <a:latin typeface="Courier New" pitchFamily="34" charset="0"/>
                <a:ea typeface="Courier New" pitchFamily="34" charset="-122"/>
                <a:cs typeface="Courier New" pitchFamily="34" charset="-120"/>
              </a:rPr>
              <a:t>px.histogram</a:t>
            </a:r>
            <a:pPr indent="0" marL="0">
              <a:buNone/>
            </a:pPr>
            <a:r>
              <a:rPr lang="en-US" sz="1500" dirty="0">
                <a:solidFill>
                  <a:srgbClr val="6B7280"/>
                </a:solidFill>
                <a:latin typeface="Calibri" pitchFamily="34" charset="0"/>
                <a:ea typeface="Calibri" pitchFamily="34" charset="-122"/>
                <a:cs typeface="Calibri" pitchFamily="34" charset="-120"/>
              </a:rPr>
              <a:t>, </a:t>
            </a:r>
            <a:pPr indent="0" marL="0">
              <a:buNone/>
            </a:pPr>
            <a:r>
              <a:rPr lang="en-US" sz="1500" dirty="0">
                <a:solidFill>
                  <a:srgbClr val="1F3A5F"/>
                </a:solidFill>
                <a:latin typeface="Courier New" pitchFamily="34" charset="0"/>
                <a:ea typeface="Courier New" pitchFamily="34" charset="-122"/>
                <a:cs typeface="Courier New" pitchFamily="34" charset="-120"/>
              </a:rPr>
              <a:t>px.box</a:t>
            </a:r>
            <a:pPr indent="0" marL="0">
              <a:buNone/>
            </a:pPr>
            <a:r>
              <a:rPr lang="en-US" sz="1500" dirty="0">
                <a:solidFill>
                  <a:srgbClr val="6B7280"/>
                </a:solidFill>
                <a:latin typeface="Calibri" pitchFamily="34" charset="0"/>
                <a:ea typeface="Calibri" pitchFamily="34" charset="-122"/>
                <a:cs typeface="Calibri" pitchFamily="34" charset="-120"/>
              </a:rPr>
              <a:t>. Même logique que seaborn : un DataFrame et des noms de colonnes.</a:t>
            </a:r>
            <a:endParaRPr lang="en-US" sz="1500" dirty="0"/>
          </a:p>
        </p:txBody>
      </p:sp>
      <p:pic>
        <p:nvPicPr>
          <p:cNvPr id="9" name="Image 0" descr="Courbes plotly du chiffre d'affaires mensuel des six régions">    </p:cNvPr>
          <p:cNvPicPr>
            <a:picLocks noChangeAspect="1"/>
          </p:cNvPicPr>
          <p:nvPr/>
        </p:nvPicPr>
        <p:blipFill>
          <a:blip r:embed="rId1"/>
          <a:stretch>
            <a:fillRect/>
          </a:stretch>
        </p:blipFill>
        <p:spPr>
          <a:xfrm>
            <a:off x="5954905" y="1417320"/>
            <a:ext cx="5574182" cy="2926080"/>
          </a:xfrm>
          <a:prstGeom prst="rect">
            <a:avLst/>
          </a:prstGeom>
        </p:spPr>
      </p:pic>
      <p:sp>
        <p:nvSpPr>
          <p:cNvPr id="10" name="Shape 7"/>
          <p:cNvSpPr/>
          <p:nvPr/>
        </p:nvSpPr>
        <p:spPr>
          <a:xfrm>
            <a:off x="5840938" y="4663440"/>
            <a:ext cx="5802117" cy="822960"/>
          </a:xfrm>
          <a:prstGeom prst="roundRect">
            <a:avLst>
              <a:gd name="adj" fmla="val 6667"/>
            </a:avLst>
          </a:prstGeom>
          <a:solidFill>
            <a:srgbClr val="E8F3EE"/>
          </a:solidFill>
          <a:ln/>
        </p:spPr>
      </p:sp>
      <p:sp>
        <p:nvSpPr>
          <p:cNvPr id="11" name="Text 8"/>
          <p:cNvSpPr txBox="1"/>
          <p:nvPr/>
        </p:nvSpPr>
        <p:spPr>
          <a:xfrm>
            <a:off x="6115258" y="4663440"/>
            <a:ext cx="5253477" cy="822960"/>
          </a:xfrm>
          <a:prstGeom prst="rect">
            <a:avLst/>
          </a:prstGeom>
          <a:noFill/>
          <a:ln/>
        </p:spPr>
        <p:txBody>
          <a:bodyPr wrap="square" lIns="0" tIns="0" rIns="0" bIns="0" rtlCol="0" anchor="ctr"/>
          <a:lstStyle/>
          <a:p>
            <a:pPr indent="0" marL="0">
              <a:buNone/>
            </a:pPr>
            <a:r>
              <a:rPr lang="en-US" sz="1500" dirty="0">
                <a:solidFill>
                  <a:srgbClr val="1F3A5F"/>
                </a:solidFill>
                <a:latin typeface="Calibri" pitchFamily="34" charset="0"/>
                <a:ea typeface="Calibri" pitchFamily="34" charset="-122"/>
                <a:cs typeface="Calibri" pitchFamily="34" charset="-120"/>
              </a:rPr>
              <a:t>Le fichier HTML s'ouvre dans n'importe quel navigateur, sans Python, et reste interactif.</a:t>
            </a:r>
            <a:endParaRPr lang="en-US" sz="1500" dirty="0"/>
          </a:p>
        </p:txBody>
      </p:sp>
      <p:sp>
        <p:nvSpPr>
          <p:cNvPr id="12" name="Text 9"/>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Analyse de données avec Python   |   Visualisation, version mini</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F3A5F"/>
        </a:solidFill>
      </p:bgPr>
    </p:bg>
    <p:spTree>
      <p:nvGrpSpPr>
        <p:cNvPr id="1" name=""/>
        <p:cNvGrpSpPr/>
        <p:nvPr/>
      </p:nvGrpSpPr>
      <p:grpSpPr>
        <a:xfrm>
          <a:off x="0" y="0"/>
          <a:ext cx="0" cy="0"/>
          <a:chOff x="0" y="0"/>
          <a:chExt cx="0" cy="0"/>
        </a:xfrm>
      </p:grpSpPr>
      <p:sp>
        <p:nvSpPr>
          <p:cNvPr id="2" name="Text 0"/>
          <p:cNvSpPr txBox="1"/>
          <p:nvPr/>
        </p:nvSpPr>
        <p:spPr>
          <a:xfrm>
            <a:off x="731520" y="1737360"/>
            <a:ext cx="2743200" cy="1188720"/>
          </a:xfrm>
          <a:prstGeom prst="rect">
            <a:avLst/>
          </a:prstGeom>
          <a:noFill/>
          <a:ln/>
        </p:spPr>
        <p:txBody>
          <a:bodyPr wrap="square" lIns="0" tIns="0" rIns="0" bIns="0" rtlCol="0" anchor="ctr"/>
          <a:lstStyle/>
          <a:p>
            <a:pPr indent="0" marL="0">
              <a:buNone/>
            </a:pPr>
            <a:r>
              <a:rPr lang="en-US" sz="8000" b="1" dirty="0">
                <a:solidFill>
                  <a:srgbClr val="8FD1B5"/>
                </a:solidFill>
                <a:latin typeface="Cambria" pitchFamily="34" charset="0"/>
                <a:ea typeface="Cambria" pitchFamily="34" charset="-122"/>
                <a:cs typeface="Cambria" pitchFamily="34" charset="-120"/>
              </a:rPr>
              <a:t>03</a:t>
            </a:r>
            <a:endParaRPr lang="en-US" sz="8000" dirty="0"/>
          </a:p>
        </p:txBody>
      </p:sp>
      <p:sp>
        <p:nvSpPr>
          <p:cNvPr id="3" name="Text 1"/>
          <p:cNvSpPr txBox="1"/>
          <p:nvPr/>
        </p:nvSpPr>
        <p:spPr>
          <a:xfrm>
            <a:off x="731520" y="3017520"/>
            <a:ext cx="10515600" cy="822960"/>
          </a:xfrm>
          <a:prstGeom prst="rect">
            <a:avLst/>
          </a:prstGeom>
          <a:noFill/>
          <a:ln/>
        </p:spPr>
        <p:txBody>
          <a:bodyPr wrap="square" lIns="0" tIns="0" rIns="0" bIns="0" rtlCol="0" anchor="t"/>
          <a:lstStyle/>
          <a:p>
            <a:pPr indent="0" marL="0">
              <a:buNone/>
            </a:pPr>
            <a:r>
              <a:rPr lang="en-US" sz="4000" b="1" dirty="0">
                <a:solidFill>
                  <a:srgbClr val="FFFFFF"/>
                </a:solidFill>
                <a:latin typeface="Cambria" pitchFamily="34" charset="0"/>
                <a:ea typeface="Cambria" pitchFamily="34" charset="-122"/>
                <a:cs typeface="Cambria" pitchFamily="34" charset="-120"/>
              </a:rPr>
              <a:t>Bien choisir</a:t>
            </a:r>
            <a:endParaRPr lang="en-US" sz="4000" dirty="0"/>
          </a:p>
        </p:txBody>
      </p:sp>
      <p:sp>
        <p:nvSpPr>
          <p:cNvPr id="4" name="Text 2"/>
          <p:cNvSpPr txBox="1"/>
          <p:nvPr/>
        </p:nvSpPr>
        <p:spPr>
          <a:xfrm>
            <a:off x="731520" y="3977640"/>
            <a:ext cx="10515600" cy="548640"/>
          </a:xfrm>
          <a:prstGeom prst="rect">
            <a:avLst/>
          </a:prstGeom>
          <a:noFill/>
          <a:ln/>
        </p:spPr>
        <p:txBody>
          <a:bodyPr wrap="square" lIns="0" tIns="0" rIns="0" bIns="0" rtlCol="0" anchor="t"/>
          <a:lstStyle/>
          <a:p>
            <a:pPr indent="0" marL="0">
              <a:buNone/>
            </a:pPr>
            <a:r>
              <a:rPr lang="en-US" sz="2000" dirty="0">
                <a:solidFill>
                  <a:srgbClr val="C9D6E3"/>
                </a:solidFill>
                <a:latin typeface="Calibri" pitchFamily="34" charset="0"/>
                <a:ea typeface="Calibri" pitchFamily="34" charset="-122"/>
                <a:cs typeface="Calibri" pitchFamily="34" charset="-120"/>
              </a:rPr>
              <a:t>Le bon graphique   |   Trois règles de lisibilité</a:t>
            </a:r>
            <a:endParaRPr lang="en-US" sz="2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475488" cy="475488"/>
          </a:xfrm>
          <a:prstGeom prst="ellipse">
            <a:avLst/>
          </a:prstGeom>
          <a:solidFill>
            <a:srgbClr val="2F7D62"/>
          </a:solidFill>
          <a:ln/>
        </p:spPr>
      </p:sp>
      <p:sp>
        <p:nvSpPr>
          <p:cNvPr id="3" name="Text 1"/>
          <p:cNvSpPr txBox="1"/>
          <p:nvPr/>
        </p:nvSpPr>
        <p:spPr>
          <a:xfrm>
            <a:off x="548640" y="56692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4" name="Text 2"/>
          <p:cNvSpPr txBox="1"/>
          <p:nvPr/>
        </p:nvSpPr>
        <p:spPr>
          <a:xfrm>
            <a:off x="1280160" y="164592"/>
            <a:ext cx="10362895" cy="274320"/>
          </a:xfrm>
          <a:prstGeom prst="rect">
            <a:avLst/>
          </a:prstGeom>
          <a:noFill/>
          <a:ln/>
        </p:spPr>
        <p:txBody>
          <a:bodyPr wrap="square" lIns="0" tIns="0" rIns="0" bIns="0" rtlCol="0" anchor="ctr"/>
          <a:lstStyle/>
          <a:p>
            <a:pPr indent="0" marL="0">
              <a:buNone/>
            </a:pPr>
            <a:r>
              <a:rPr lang="en-US" sz="1200" b="1" spc="200" kern="0" dirty="0">
                <a:solidFill>
                  <a:srgbClr val="2F7D62"/>
                </a:solidFill>
                <a:latin typeface="Calibri" pitchFamily="34" charset="0"/>
                <a:ea typeface="Calibri" pitchFamily="34" charset="-122"/>
                <a:cs typeface="Calibri" pitchFamily="34" charset="-120"/>
              </a:rPr>
              <a:t>BIEN CHOISIR</a:t>
            </a:r>
            <a:endParaRPr lang="en-US" sz="1200" dirty="0"/>
          </a:p>
        </p:txBody>
      </p:sp>
      <p:sp>
        <p:nvSpPr>
          <p:cNvPr id="5" name="Text 3"/>
          <p:cNvSpPr txBox="1"/>
          <p:nvPr/>
        </p:nvSpPr>
        <p:spPr>
          <a:xfrm>
            <a:off x="1280160" y="457200"/>
            <a:ext cx="10362895" cy="694944"/>
          </a:xfrm>
          <a:prstGeom prst="rect">
            <a:avLst/>
          </a:prstGeom>
          <a:noFill/>
          <a:ln/>
        </p:spPr>
        <p:txBody>
          <a:bodyPr wrap="square" lIns="0" tIns="0" rIns="0" bIns="0" rtlCol="0" anchor="ctr"/>
          <a:lstStyle/>
          <a:p>
            <a:pPr indent="0" marL="0">
              <a:buNone/>
            </a:pPr>
            <a:r>
              <a:rPr lang="en-US" sz="3000" b="1" dirty="0">
                <a:solidFill>
                  <a:srgbClr val="1F3A5F"/>
                </a:solidFill>
                <a:latin typeface="Cambria" pitchFamily="34" charset="0"/>
                <a:ea typeface="Cambria" pitchFamily="34" charset="-122"/>
                <a:cs typeface="Cambria" pitchFamily="34" charset="-120"/>
              </a:rPr>
              <a:t>Quel graphique pour quelle question ?</a:t>
            </a:r>
            <a:endParaRPr lang="en-US" sz="3000" dirty="0"/>
          </a:p>
        </p:txBody>
      </p:sp>
      <p:pic>
        <p:nvPicPr>
          <p:cNvPr id="6" name="Image 0" descr="Six graphiques : courbe, barres, histogramme, boîte, nuage de points et heatmap">    </p:cNvPr>
          <p:cNvPicPr>
            <a:picLocks noChangeAspect="1"/>
          </p:cNvPicPr>
          <p:nvPr/>
        </p:nvPicPr>
        <p:blipFill>
          <a:blip r:embed="rId1"/>
          <a:stretch>
            <a:fillRect/>
          </a:stretch>
        </p:blipFill>
        <p:spPr>
          <a:xfrm>
            <a:off x="2515492" y="1417320"/>
            <a:ext cx="7160712" cy="3794760"/>
          </a:xfrm>
          <a:prstGeom prst="rect">
            <a:avLst/>
          </a:prstGeom>
        </p:spPr>
      </p:pic>
      <p:sp>
        <p:nvSpPr>
          <p:cNvPr id="7" name="Text 4"/>
          <p:cNvSpPr txBox="1"/>
          <p:nvPr/>
        </p:nvSpPr>
        <p:spPr>
          <a:xfrm>
            <a:off x="548640" y="5532120"/>
            <a:ext cx="11094415" cy="594360"/>
          </a:xfrm>
          <a:prstGeom prst="rect">
            <a:avLst/>
          </a:prstGeom>
          <a:noFill/>
          <a:ln/>
        </p:spPr>
        <p:txBody>
          <a:bodyPr wrap="square" lIns="0" tIns="0" rIns="0" bIns="0" rtlCol="0" anchor="t"/>
          <a:lstStyle/>
          <a:p>
            <a:pPr indent="0" marL="0">
              <a:buNone/>
            </a:pPr>
            <a:r>
              <a:rPr lang="en-US" sz="1500" dirty="0">
                <a:solidFill>
                  <a:srgbClr val="6B7280"/>
                </a:solidFill>
                <a:latin typeface="Calibri" pitchFamily="34" charset="0"/>
                <a:ea typeface="Calibri" pitchFamily="34" charset="-122"/>
                <a:cs typeface="Calibri" pitchFamily="34" charset="-120"/>
              </a:rPr>
              <a:t>Et pour choisir la bibliothèque : statique pour un rapport ou une diapositive, interactif pour explorer ou partager un fichier HTML.</a:t>
            </a:r>
            <a:endParaRPr lang="en-US" sz="1500" dirty="0"/>
          </a:p>
        </p:txBody>
      </p:sp>
      <p:sp>
        <p:nvSpPr>
          <p:cNvPr id="8" name="Text 5"/>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Analyse de données avec Python   |   Visualisation, version mini</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475488" cy="475488"/>
          </a:xfrm>
          <a:prstGeom prst="ellipse">
            <a:avLst/>
          </a:prstGeom>
          <a:solidFill>
            <a:srgbClr val="2F7D62"/>
          </a:solidFill>
          <a:ln/>
        </p:spPr>
      </p:sp>
      <p:sp>
        <p:nvSpPr>
          <p:cNvPr id="3" name="Text 1"/>
          <p:cNvSpPr txBox="1"/>
          <p:nvPr/>
        </p:nvSpPr>
        <p:spPr>
          <a:xfrm>
            <a:off x="548640" y="56692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4" name="Text 2"/>
          <p:cNvSpPr txBox="1"/>
          <p:nvPr/>
        </p:nvSpPr>
        <p:spPr>
          <a:xfrm>
            <a:off x="1280160" y="164592"/>
            <a:ext cx="10362895" cy="274320"/>
          </a:xfrm>
          <a:prstGeom prst="rect">
            <a:avLst/>
          </a:prstGeom>
          <a:noFill/>
          <a:ln/>
        </p:spPr>
        <p:txBody>
          <a:bodyPr wrap="square" lIns="0" tIns="0" rIns="0" bIns="0" rtlCol="0" anchor="ctr"/>
          <a:lstStyle/>
          <a:p>
            <a:pPr indent="0" marL="0">
              <a:buNone/>
            </a:pPr>
            <a:r>
              <a:rPr lang="en-US" sz="1200" b="1" spc="200" kern="0" dirty="0">
                <a:solidFill>
                  <a:srgbClr val="2F7D62"/>
                </a:solidFill>
                <a:latin typeface="Calibri" pitchFamily="34" charset="0"/>
                <a:ea typeface="Calibri" pitchFamily="34" charset="-122"/>
                <a:cs typeface="Calibri" pitchFamily="34" charset="-120"/>
              </a:rPr>
              <a:t>BIEN CHOISIR</a:t>
            </a:r>
            <a:endParaRPr lang="en-US" sz="1200" dirty="0"/>
          </a:p>
        </p:txBody>
      </p:sp>
      <p:sp>
        <p:nvSpPr>
          <p:cNvPr id="5" name="Text 3"/>
          <p:cNvSpPr txBox="1"/>
          <p:nvPr/>
        </p:nvSpPr>
        <p:spPr>
          <a:xfrm>
            <a:off x="1280160" y="457200"/>
            <a:ext cx="10362895" cy="694944"/>
          </a:xfrm>
          <a:prstGeom prst="rect">
            <a:avLst/>
          </a:prstGeom>
          <a:noFill/>
          <a:ln/>
        </p:spPr>
        <p:txBody>
          <a:bodyPr wrap="square" lIns="0" tIns="0" rIns="0" bIns="0" rtlCol="0" anchor="ctr"/>
          <a:lstStyle/>
          <a:p>
            <a:pPr indent="0" marL="0">
              <a:buNone/>
            </a:pPr>
            <a:r>
              <a:rPr lang="en-US" sz="3000" b="1" dirty="0">
                <a:solidFill>
                  <a:srgbClr val="1F3A5F"/>
                </a:solidFill>
                <a:latin typeface="Cambria" pitchFamily="34" charset="0"/>
                <a:ea typeface="Cambria" pitchFamily="34" charset="-122"/>
                <a:cs typeface="Cambria" pitchFamily="34" charset="-120"/>
              </a:rPr>
              <a:t>Trois règles de lisibilité</a:t>
            </a:r>
            <a:endParaRPr lang="en-US" sz="3000" dirty="0"/>
          </a:p>
        </p:txBody>
      </p:sp>
      <p:sp>
        <p:nvSpPr>
          <p:cNvPr id="6" name="Shape 4"/>
          <p:cNvSpPr/>
          <p:nvPr/>
        </p:nvSpPr>
        <p:spPr>
          <a:xfrm>
            <a:off x="548640" y="1417320"/>
            <a:ext cx="3515258" cy="2606040"/>
          </a:xfrm>
          <a:prstGeom prst="roundRect">
            <a:avLst>
              <a:gd name="adj" fmla="val 2807"/>
            </a:avLst>
          </a:prstGeom>
          <a:solidFill>
            <a:srgbClr val="EEF3F7"/>
          </a:solidFill>
          <a:ln/>
        </p:spPr>
      </p:sp>
      <p:sp>
        <p:nvSpPr>
          <p:cNvPr id="7" name="Shape 5"/>
          <p:cNvSpPr/>
          <p:nvPr/>
        </p:nvSpPr>
        <p:spPr>
          <a:xfrm>
            <a:off x="777240" y="1691640"/>
            <a:ext cx="402336" cy="402336"/>
          </a:xfrm>
          <a:prstGeom prst="ellipse">
            <a:avLst/>
          </a:prstGeom>
          <a:solidFill>
            <a:srgbClr val="2F7D62"/>
          </a:solidFill>
          <a:ln/>
        </p:spPr>
      </p:sp>
      <p:sp>
        <p:nvSpPr>
          <p:cNvPr id="8" name="Text 6"/>
          <p:cNvSpPr txBox="1"/>
          <p:nvPr/>
        </p:nvSpPr>
        <p:spPr>
          <a:xfrm>
            <a:off x="777240" y="169164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9" name="Text 7"/>
          <p:cNvSpPr txBox="1"/>
          <p:nvPr/>
        </p:nvSpPr>
        <p:spPr>
          <a:xfrm>
            <a:off x="777240" y="2240280"/>
            <a:ext cx="3058058" cy="548640"/>
          </a:xfrm>
          <a:prstGeom prst="rect">
            <a:avLst/>
          </a:prstGeom>
          <a:noFill/>
          <a:ln/>
        </p:spPr>
        <p:txBody>
          <a:bodyPr wrap="square" lIns="0" tIns="0" rIns="0" bIns="0" rtlCol="0" anchor="t"/>
          <a:lstStyle/>
          <a:p>
            <a:pPr indent="0" marL="0">
              <a:buNone/>
            </a:pPr>
            <a:r>
              <a:rPr lang="en-US" sz="1800" b="1" dirty="0">
                <a:solidFill>
                  <a:srgbClr val="1F3A5F"/>
                </a:solidFill>
                <a:latin typeface="Calibri" pitchFamily="34" charset="0"/>
                <a:ea typeface="Calibri" pitchFamily="34" charset="-122"/>
                <a:cs typeface="Calibri" pitchFamily="34" charset="-120"/>
              </a:rPr>
              <a:t>Un titre qui dit le message</a:t>
            </a:r>
            <a:endParaRPr lang="en-US" sz="1800" dirty="0"/>
          </a:p>
        </p:txBody>
      </p:sp>
      <p:sp>
        <p:nvSpPr>
          <p:cNvPr id="10" name="Text 8"/>
          <p:cNvSpPr txBox="1"/>
          <p:nvPr/>
        </p:nvSpPr>
        <p:spPr>
          <a:xfrm>
            <a:off x="777240" y="2880360"/>
            <a:ext cx="3058058" cy="960120"/>
          </a:xfrm>
          <a:prstGeom prst="rect">
            <a:avLst/>
          </a:prstGeom>
          <a:noFill/>
          <a:ln/>
        </p:spPr>
        <p:txBody>
          <a:bodyPr wrap="square" lIns="0" tIns="0" rIns="0" bIns="0" rtlCol="0" anchor="t"/>
          <a:lstStyle/>
          <a:p>
            <a:pPr indent="0" marL="0">
              <a:buNone/>
            </a:pPr>
            <a:r>
              <a:rPr lang="en-US" sz="1500" dirty="0">
                <a:solidFill>
                  <a:srgbClr val="1F2933"/>
                </a:solidFill>
                <a:latin typeface="Calibri" pitchFamily="34" charset="0"/>
                <a:ea typeface="Calibri" pitchFamily="34" charset="-122"/>
                <a:cs typeface="Calibri" pitchFamily="34" charset="-120"/>
              </a:rPr>
              <a:t>« L'Île-de-France réalise près d'un tiers du CA » plutôt que « CA par région ».</a:t>
            </a:r>
            <a:endParaRPr lang="en-US" sz="1500" dirty="0"/>
          </a:p>
        </p:txBody>
      </p:sp>
      <p:sp>
        <p:nvSpPr>
          <p:cNvPr id="11" name="Shape 9"/>
          <p:cNvSpPr/>
          <p:nvPr/>
        </p:nvSpPr>
        <p:spPr>
          <a:xfrm>
            <a:off x="4338218" y="1417320"/>
            <a:ext cx="3515258" cy="2606040"/>
          </a:xfrm>
          <a:prstGeom prst="roundRect">
            <a:avLst>
              <a:gd name="adj" fmla="val 2807"/>
            </a:avLst>
          </a:prstGeom>
          <a:solidFill>
            <a:srgbClr val="EEF3F7"/>
          </a:solidFill>
          <a:ln/>
        </p:spPr>
      </p:sp>
      <p:sp>
        <p:nvSpPr>
          <p:cNvPr id="12" name="Shape 10"/>
          <p:cNvSpPr/>
          <p:nvPr/>
        </p:nvSpPr>
        <p:spPr>
          <a:xfrm>
            <a:off x="4566818" y="1691640"/>
            <a:ext cx="402336" cy="402336"/>
          </a:xfrm>
          <a:prstGeom prst="ellipse">
            <a:avLst/>
          </a:prstGeom>
          <a:solidFill>
            <a:srgbClr val="2F7D62"/>
          </a:solidFill>
          <a:ln/>
        </p:spPr>
      </p:sp>
      <p:sp>
        <p:nvSpPr>
          <p:cNvPr id="13" name="Text 11"/>
          <p:cNvSpPr txBox="1"/>
          <p:nvPr/>
        </p:nvSpPr>
        <p:spPr>
          <a:xfrm>
            <a:off x="4566818" y="169164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4" name="Text 12"/>
          <p:cNvSpPr txBox="1"/>
          <p:nvPr/>
        </p:nvSpPr>
        <p:spPr>
          <a:xfrm>
            <a:off x="4566818" y="2240280"/>
            <a:ext cx="3058058" cy="274320"/>
          </a:xfrm>
          <a:prstGeom prst="rect">
            <a:avLst/>
          </a:prstGeom>
          <a:noFill/>
          <a:ln/>
        </p:spPr>
        <p:txBody>
          <a:bodyPr wrap="square" lIns="0" tIns="0" rIns="0" bIns="0" rtlCol="0" anchor="t"/>
          <a:lstStyle/>
          <a:p>
            <a:pPr indent="0" marL="0">
              <a:buNone/>
            </a:pPr>
            <a:r>
              <a:rPr lang="en-US" sz="1800" b="1" dirty="0">
                <a:solidFill>
                  <a:srgbClr val="1F3A5F"/>
                </a:solidFill>
                <a:latin typeface="Calibri" pitchFamily="34" charset="0"/>
                <a:ea typeface="Calibri" pitchFamily="34" charset="-122"/>
                <a:cs typeface="Calibri" pitchFamily="34" charset="-120"/>
              </a:rPr>
              <a:t>Des axes honnêtes</a:t>
            </a:r>
            <a:endParaRPr lang="en-US" sz="1800" dirty="0"/>
          </a:p>
        </p:txBody>
      </p:sp>
      <p:sp>
        <p:nvSpPr>
          <p:cNvPr id="15" name="Text 13"/>
          <p:cNvSpPr txBox="1"/>
          <p:nvPr/>
        </p:nvSpPr>
        <p:spPr>
          <a:xfrm>
            <a:off x="4566818" y="2606040"/>
            <a:ext cx="3058058" cy="1234440"/>
          </a:xfrm>
          <a:prstGeom prst="rect">
            <a:avLst/>
          </a:prstGeom>
          <a:noFill/>
          <a:ln/>
        </p:spPr>
        <p:txBody>
          <a:bodyPr wrap="square" lIns="0" tIns="0" rIns="0" bIns="0" rtlCol="0" anchor="t"/>
          <a:lstStyle/>
          <a:p>
            <a:pPr indent="0" marL="0">
              <a:buNone/>
            </a:pPr>
            <a:r>
              <a:rPr lang="en-US" sz="1500" dirty="0">
                <a:solidFill>
                  <a:srgbClr val="1F2933"/>
                </a:solidFill>
                <a:latin typeface="Calibri" pitchFamily="34" charset="0"/>
                <a:ea typeface="Calibri" pitchFamily="34" charset="-122"/>
                <a:cs typeface="Calibri" pitchFamily="34" charset="-120"/>
              </a:rPr>
              <a:t>Nommés avec leur unité ; des barres qui partent de zéro, sinon les écarts paraissent énormes.</a:t>
            </a:r>
            <a:endParaRPr lang="en-US" sz="1500" dirty="0"/>
          </a:p>
        </p:txBody>
      </p:sp>
      <p:sp>
        <p:nvSpPr>
          <p:cNvPr id="16" name="Shape 14"/>
          <p:cNvSpPr/>
          <p:nvPr/>
        </p:nvSpPr>
        <p:spPr>
          <a:xfrm>
            <a:off x="8127797" y="1417320"/>
            <a:ext cx="3515258" cy="2606040"/>
          </a:xfrm>
          <a:prstGeom prst="roundRect">
            <a:avLst>
              <a:gd name="adj" fmla="val 2807"/>
            </a:avLst>
          </a:prstGeom>
          <a:solidFill>
            <a:srgbClr val="EEF3F7"/>
          </a:solidFill>
          <a:ln/>
        </p:spPr>
      </p:sp>
      <p:sp>
        <p:nvSpPr>
          <p:cNvPr id="17" name="Shape 15"/>
          <p:cNvSpPr/>
          <p:nvPr/>
        </p:nvSpPr>
        <p:spPr>
          <a:xfrm>
            <a:off x="8356397" y="1691640"/>
            <a:ext cx="402336" cy="402336"/>
          </a:xfrm>
          <a:prstGeom prst="ellipse">
            <a:avLst/>
          </a:prstGeom>
          <a:solidFill>
            <a:srgbClr val="2F7D62"/>
          </a:solidFill>
          <a:ln/>
        </p:spPr>
      </p:sp>
      <p:sp>
        <p:nvSpPr>
          <p:cNvPr id="18" name="Text 16"/>
          <p:cNvSpPr txBox="1"/>
          <p:nvPr/>
        </p:nvSpPr>
        <p:spPr>
          <a:xfrm>
            <a:off x="8356397" y="169164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9" name="Text 17"/>
          <p:cNvSpPr txBox="1"/>
          <p:nvPr/>
        </p:nvSpPr>
        <p:spPr>
          <a:xfrm>
            <a:off x="8356397" y="2240280"/>
            <a:ext cx="3058058" cy="548640"/>
          </a:xfrm>
          <a:prstGeom prst="rect">
            <a:avLst/>
          </a:prstGeom>
          <a:noFill/>
          <a:ln/>
        </p:spPr>
        <p:txBody>
          <a:bodyPr wrap="square" lIns="0" tIns="0" rIns="0" bIns="0" rtlCol="0" anchor="t"/>
          <a:lstStyle/>
          <a:p>
            <a:pPr indent="0" marL="0">
              <a:buNone/>
            </a:pPr>
            <a:r>
              <a:rPr lang="en-US" sz="1800" b="1" dirty="0">
                <a:solidFill>
                  <a:srgbClr val="1F3A5F"/>
                </a:solidFill>
                <a:latin typeface="Calibri" pitchFamily="34" charset="0"/>
                <a:ea typeface="Calibri" pitchFamily="34" charset="-122"/>
                <a:cs typeface="Calibri" pitchFamily="34" charset="-120"/>
              </a:rPr>
              <a:t>Une couleur pour le message</a:t>
            </a:r>
            <a:endParaRPr lang="en-US" sz="1800" dirty="0"/>
          </a:p>
        </p:txBody>
      </p:sp>
      <p:sp>
        <p:nvSpPr>
          <p:cNvPr id="20" name="Text 18"/>
          <p:cNvSpPr txBox="1"/>
          <p:nvPr/>
        </p:nvSpPr>
        <p:spPr>
          <a:xfrm>
            <a:off x="8356397" y="2880360"/>
            <a:ext cx="3058058" cy="960120"/>
          </a:xfrm>
          <a:prstGeom prst="rect">
            <a:avLst/>
          </a:prstGeom>
          <a:noFill/>
          <a:ln/>
        </p:spPr>
        <p:txBody>
          <a:bodyPr wrap="square" lIns="0" tIns="0" rIns="0" bIns="0" rtlCol="0" anchor="t"/>
          <a:lstStyle/>
          <a:p>
            <a:pPr indent="0" marL="0">
              <a:buNone/>
            </a:pPr>
            <a:r>
              <a:rPr lang="en-US" sz="1500" dirty="0">
                <a:solidFill>
                  <a:srgbClr val="1F2933"/>
                </a:solidFill>
                <a:latin typeface="Calibri" pitchFamily="34" charset="0"/>
                <a:ea typeface="Calibri" pitchFamily="34" charset="-122"/>
                <a:cs typeface="Calibri" pitchFamily="34" charset="-120"/>
              </a:rPr>
              <a:t>Des barres triées, du gris pour le reste ; ni rouge contre vert, ni camembert à nombreuses parts.</a:t>
            </a:r>
            <a:endParaRPr lang="en-US" sz="1500" dirty="0"/>
          </a:p>
        </p:txBody>
      </p:sp>
      <p:pic>
        <p:nvPicPr>
          <p:cNvPr id="21" name="Image 0" descr="Le même écart de 6 % avec un axe tronqué, où il paraît énorme, puis avec un axe partant de zéro">    </p:cNvPr>
          <p:cNvPicPr>
            <a:picLocks noChangeAspect="1"/>
          </p:cNvPicPr>
          <p:nvPr/>
        </p:nvPicPr>
        <p:blipFill>
          <a:blip r:embed="rId1"/>
          <a:stretch>
            <a:fillRect/>
          </a:stretch>
        </p:blipFill>
        <p:spPr>
          <a:xfrm>
            <a:off x="3816180" y="4343400"/>
            <a:ext cx="4559336" cy="1783080"/>
          </a:xfrm>
          <a:prstGeom prst="rect">
            <a:avLst/>
          </a:prstGeom>
        </p:spPr>
      </p:pic>
      <p:sp>
        <p:nvSpPr>
          <p:cNvPr id="22" name="Text 19"/>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Analyse de données avec Python   |   Visualisation, version mini</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11094415" cy="694944"/>
          </a:xfrm>
          <a:prstGeom prst="rect">
            <a:avLst/>
          </a:prstGeom>
          <a:noFill/>
          <a:ln/>
        </p:spPr>
        <p:txBody>
          <a:bodyPr wrap="square" lIns="0" tIns="0" rIns="0" bIns="0" rtlCol="0" anchor="ctr"/>
          <a:lstStyle/>
          <a:p>
            <a:pPr indent="0" marL="0">
              <a:buNone/>
            </a:pPr>
            <a:r>
              <a:rPr lang="en-US" sz="3000" b="1" dirty="0">
                <a:solidFill>
                  <a:srgbClr val="1F3A5F"/>
                </a:solidFill>
                <a:latin typeface="Cambria" pitchFamily="34" charset="0"/>
                <a:ea typeface="Cambria" pitchFamily="34" charset="-122"/>
                <a:cs typeface="Cambria" pitchFamily="34" charset="-120"/>
              </a:rPr>
              <a:t>Pratique : TP4 mini</a:t>
            </a:r>
            <a:endParaRPr lang="en-US" sz="3000" dirty="0"/>
          </a:p>
        </p:txBody>
      </p:sp>
      <p:sp>
        <p:nvSpPr>
          <p:cNvPr id="3" name="Text 1"/>
          <p:cNvSpPr txBox="1"/>
          <p:nvPr/>
        </p:nvSpPr>
        <p:spPr>
          <a:xfrm>
            <a:off x="548640" y="1417320"/>
            <a:ext cx="11094415" cy="411480"/>
          </a:xfrm>
          <a:prstGeom prst="rect">
            <a:avLst/>
          </a:prstGeom>
          <a:noFill/>
          <a:ln/>
        </p:spPr>
        <p:txBody>
          <a:bodyPr wrap="square" lIns="0" tIns="0" rIns="0" bIns="0" rtlCol="0" anchor="t"/>
          <a:lstStyle/>
          <a:p>
            <a:pPr indent="0" marL="0">
              <a:buNone/>
            </a:pPr>
            <a:r>
              <a:rPr lang="en-US" sz="1800" dirty="0">
                <a:solidFill>
                  <a:srgbClr val="6B7280"/>
                </a:solidFill>
                <a:latin typeface="Calibri" pitchFamily="34" charset="0"/>
                <a:ea typeface="Calibri" pitchFamily="34" charset="-122"/>
                <a:cs typeface="Calibri" pitchFamily="34" charset="-120"/>
              </a:rPr>
              <a:t>Dans exercices/tp04-mini-visualisation/tp04_mini.ipynb</a:t>
            </a:r>
            <a:endParaRPr lang="en-US" sz="18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2011680"/>
          <a:ext cx="11094415" cy="914400"/>
        </p:xfrm>
        <a:graphic>
          <a:graphicData uri="http://schemas.openxmlformats.org/drawingml/2006/table">
            <a:tbl>
              <a:tblPr/>
              <a:tblGrid>
                <a:gridCol w="1479255"/>
                <a:gridCol w="2218883"/>
                <a:gridCol w="7396277"/>
              </a:tblGrid>
              <a:tr h="365379">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Question</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1F3A5F"/>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Bibliothèque</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1F3A5F"/>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À construire</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1F3A5F"/>
                    </a:solidFill>
                  </a:tcPr>
                </a:tc>
              </a:tr>
              <a:tr h="365379">
                <a:tc>
                  <a:txBody>
                    <a:bodyPr/>
                    <a:lstStyle/>
                    <a:p>
                      <a:pPr indent="0" marL="0">
                        <a:buNone/>
                      </a:pPr>
                      <a:r>
                        <a:rPr lang="en-US" sz="1500" dirty="0">
                          <a:solidFill>
                            <a:srgbClr val="1F2933"/>
                          </a:solidFill>
                          <a:latin typeface="Calibri" pitchFamily="34" charset="0"/>
                          <a:ea typeface="Calibri" pitchFamily="34" charset="-122"/>
                          <a:cs typeface="Calibri" pitchFamily="34" charset="-120"/>
                        </a:rPr>
                        <a:t>1.1</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c>
                  <a:txBody>
                    <a:bodyPr/>
                    <a:lstStyle/>
                    <a:p>
                      <a:pPr indent="0" marL="0">
                        <a:buNone/>
                      </a:pPr>
                      <a:r>
                        <a:rPr lang="en-US" sz="1500" dirty="0">
                          <a:solidFill>
                            <a:srgbClr val="1F2933"/>
                          </a:solidFill>
                          <a:latin typeface="Calibri" pitchFamily="34" charset="0"/>
                          <a:ea typeface="Calibri" pitchFamily="34" charset="-122"/>
                          <a:cs typeface="Calibri" pitchFamily="34" charset="-120"/>
                        </a:rPr>
                        <a:t>matplotlib</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c>
                  <a:txBody>
                    <a:bodyPr/>
                    <a:lstStyle/>
                    <a:p>
                      <a:pPr indent="0" marL="0">
                        <a:buNone/>
                      </a:pPr>
                      <a:r>
                        <a:rPr lang="en-US" sz="1500" dirty="0">
                          <a:solidFill>
                            <a:srgbClr val="1F2933"/>
                          </a:solidFill>
                          <a:latin typeface="Calibri" pitchFamily="34" charset="0"/>
                          <a:ea typeface="Calibri" pitchFamily="34" charset="-122"/>
                          <a:cs typeface="Calibri" pitchFamily="34" charset="-120"/>
                        </a:rPr>
                        <a:t>la courbe du chiffre d'affaires mensuel, axe à partir de zéro</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r>
              <a:tr h="584454">
                <a:tc>
                  <a:txBody>
                    <a:bodyPr/>
                    <a:lstStyle/>
                    <a:p>
                      <a:pPr indent="0" marL="0">
                        <a:buNone/>
                      </a:pPr>
                      <a:r>
                        <a:rPr lang="en-US" sz="1500" dirty="0">
                          <a:solidFill>
                            <a:srgbClr val="1F2933"/>
                          </a:solidFill>
                          <a:latin typeface="Calibri" pitchFamily="34" charset="0"/>
                          <a:ea typeface="Calibri" pitchFamily="34" charset="-122"/>
                          <a:cs typeface="Calibri" pitchFamily="34" charset="-120"/>
                        </a:rPr>
                        <a:t>1.2</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7F9FB"/>
                    </a:solidFill>
                  </a:tcPr>
                </a:tc>
                <a:tc>
                  <a:txBody>
                    <a:bodyPr/>
                    <a:lstStyle/>
                    <a:p>
                      <a:pPr indent="0" marL="0">
                        <a:buNone/>
                      </a:pPr>
                      <a:r>
                        <a:rPr lang="en-US" sz="1500" dirty="0">
                          <a:solidFill>
                            <a:srgbClr val="1F2933"/>
                          </a:solidFill>
                          <a:latin typeface="Calibri" pitchFamily="34" charset="0"/>
                          <a:ea typeface="Calibri" pitchFamily="34" charset="-122"/>
                          <a:cs typeface="Calibri" pitchFamily="34" charset="-120"/>
                        </a:rPr>
                        <a:t>matplotlib</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7F9FB"/>
                    </a:solidFill>
                  </a:tcPr>
                </a:tc>
                <a:tc>
                  <a:txBody>
                    <a:bodyPr/>
                    <a:lstStyle/>
                    <a:p>
                      <a:pPr indent="0" marL="0">
                        <a:buNone/>
                      </a:pPr>
                      <a:r>
                        <a:rPr lang="en-US" sz="1500" dirty="0">
                          <a:solidFill>
                            <a:srgbClr val="1F2933"/>
                          </a:solidFill>
                          <a:latin typeface="Calibri" pitchFamily="34" charset="0"/>
                          <a:ea typeface="Calibri" pitchFamily="34" charset="-122"/>
                          <a:cs typeface="Calibri" pitchFamily="34" charset="-120"/>
                        </a:rPr>
                        <a:t>les barres horizontales par région, triées, avec leurs valeurs (</a:t>
                      </a:r>
                      <a:pPr indent="0" marL="0">
                        <a:buNone/>
                      </a:pPr>
                      <a:r>
                        <a:rPr lang="en-US" sz="1500" dirty="0">
                          <a:solidFill>
                            <a:srgbClr val="1F3A5F"/>
                          </a:solidFill>
                          <a:latin typeface="Courier New" pitchFamily="34" charset="0"/>
                          <a:ea typeface="Courier New" pitchFamily="34" charset="-122"/>
                          <a:cs typeface="Courier New" pitchFamily="34" charset="-120"/>
                        </a:rPr>
                        <a:t>bar_label</a:t>
                      </a:r>
                      <a:pPr indent="0" marL="0">
                        <a:buNone/>
                      </a:pPr>
                      <a:r>
                        <a:rPr lang="en-US" sz="1500" dirty="0">
                          <a:solidFill>
                            <a:srgbClr val="1F2933"/>
                          </a:solidFill>
                          <a:latin typeface="Calibri" pitchFamily="34" charset="0"/>
                          <a:ea typeface="Calibri" pitchFamily="34" charset="-122"/>
                          <a:cs typeface="Calibri" pitchFamily="34" charset="-120"/>
                        </a:rPr>
                        <a:t>)</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7F9FB"/>
                    </a:solidFill>
                  </a:tcPr>
                </a:tc>
              </a:tr>
              <a:tr h="365379">
                <a:tc>
                  <a:txBody>
                    <a:bodyPr/>
                    <a:lstStyle/>
                    <a:p>
                      <a:pPr indent="0" marL="0">
                        <a:buNone/>
                      </a:pPr>
                      <a:r>
                        <a:rPr lang="en-US" sz="1500" dirty="0">
                          <a:solidFill>
                            <a:srgbClr val="1F2933"/>
                          </a:solidFill>
                          <a:latin typeface="Calibri" pitchFamily="34" charset="0"/>
                          <a:ea typeface="Calibri" pitchFamily="34" charset="-122"/>
                          <a:cs typeface="Calibri" pitchFamily="34" charset="-120"/>
                        </a:rPr>
                        <a:t>2.1</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c>
                  <a:txBody>
                    <a:bodyPr/>
                    <a:lstStyle/>
                    <a:p>
                      <a:pPr indent="0" marL="0">
                        <a:buNone/>
                      </a:pPr>
                      <a:r>
                        <a:rPr lang="en-US" sz="1500" dirty="0">
                          <a:solidFill>
                            <a:srgbClr val="1F2933"/>
                          </a:solidFill>
                          <a:latin typeface="Calibri" pitchFamily="34" charset="0"/>
                          <a:ea typeface="Calibri" pitchFamily="34" charset="-122"/>
                          <a:cs typeface="Calibri" pitchFamily="34" charset="-120"/>
                        </a:rPr>
                        <a:t>seaborn</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c>
                  <a:txBody>
                    <a:bodyPr/>
                    <a:lstStyle/>
                    <a:p>
                      <a:pPr indent="0" marL="0">
                        <a:buNone/>
                      </a:pPr>
                      <a:r>
                        <a:rPr lang="en-US" sz="1500" dirty="0">
                          <a:solidFill>
                            <a:srgbClr val="1F2933"/>
                          </a:solidFill>
                          <a:latin typeface="Calibri" pitchFamily="34" charset="0"/>
                          <a:ea typeface="Calibri" pitchFamily="34" charset="-122"/>
                          <a:cs typeface="Calibri" pitchFamily="34" charset="-120"/>
                        </a:rPr>
                        <a:t>la boîte à moustaches du montant par catégorie</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r>
              <a:tr h="365379">
                <a:tc>
                  <a:txBody>
                    <a:bodyPr/>
                    <a:lstStyle/>
                    <a:p>
                      <a:pPr indent="0" marL="0">
                        <a:buNone/>
                      </a:pPr>
                      <a:r>
                        <a:rPr lang="en-US" sz="1500" dirty="0">
                          <a:solidFill>
                            <a:srgbClr val="1F2933"/>
                          </a:solidFill>
                          <a:latin typeface="Calibri" pitchFamily="34" charset="0"/>
                          <a:ea typeface="Calibri" pitchFamily="34" charset="-122"/>
                          <a:cs typeface="Calibri" pitchFamily="34" charset="-120"/>
                        </a:rPr>
                        <a:t>2.2</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7F9FB"/>
                    </a:solidFill>
                  </a:tcPr>
                </a:tc>
                <a:tc>
                  <a:txBody>
                    <a:bodyPr/>
                    <a:lstStyle/>
                    <a:p>
                      <a:pPr indent="0" marL="0">
                        <a:buNone/>
                      </a:pPr>
                      <a:r>
                        <a:rPr lang="en-US" sz="1500" dirty="0">
                          <a:solidFill>
                            <a:srgbClr val="1F2933"/>
                          </a:solidFill>
                          <a:latin typeface="Calibri" pitchFamily="34" charset="0"/>
                          <a:ea typeface="Calibri" pitchFamily="34" charset="-122"/>
                          <a:cs typeface="Calibri" pitchFamily="34" charset="-120"/>
                        </a:rPr>
                        <a:t>seaborn</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7F9FB"/>
                    </a:solidFill>
                  </a:tcPr>
                </a:tc>
                <a:tc>
                  <a:txBody>
                    <a:bodyPr/>
                    <a:lstStyle/>
                    <a:p>
                      <a:pPr indent="0" marL="0">
                        <a:buNone/>
                      </a:pPr>
                      <a:r>
                        <a:rPr lang="en-US" sz="1500" dirty="0">
                          <a:solidFill>
                            <a:srgbClr val="1F2933"/>
                          </a:solidFill>
                          <a:latin typeface="Calibri" pitchFamily="34" charset="0"/>
                          <a:ea typeface="Calibri" pitchFamily="34" charset="-122"/>
                          <a:cs typeface="Calibri" pitchFamily="34" charset="-120"/>
                        </a:rPr>
                        <a:t>la heatmap du taux de réalisation, région par mois</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7F9FB"/>
                    </a:solidFill>
                  </a:tcPr>
                </a:tc>
              </a:tr>
              <a:tr h="365379">
                <a:tc>
                  <a:txBody>
                    <a:bodyPr/>
                    <a:lstStyle/>
                    <a:p>
                      <a:pPr indent="0" marL="0">
                        <a:buNone/>
                      </a:pPr>
                      <a:r>
                        <a:rPr lang="en-US" sz="1500" dirty="0">
                          <a:solidFill>
                            <a:srgbClr val="1F2933"/>
                          </a:solidFill>
                          <a:latin typeface="Calibri" pitchFamily="34" charset="0"/>
                          <a:ea typeface="Calibri" pitchFamily="34" charset="-122"/>
                          <a:cs typeface="Calibri" pitchFamily="34" charset="-120"/>
                        </a:rPr>
                        <a:t>3.1, 3.2</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c>
                  <a:txBody>
                    <a:bodyPr/>
                    <a:lstStyle/>
                    <a:p>
                      <a:pPr indent="0" marL="0">
                        <a:buNone/>
                      </a:pPr>
                      <a:r>
                        <a:rPr lang="en-US" sz="1500" dirty="0">
                          <a:solidFill>
                            <a:srgbClr val="1F2933"/>
                          </a:solidFill>
                          <a:latin typeface="Calibri" pitchFamily="34" charset="0"/>
                          <a:ea typeface="Calibri" pitchFamily="34" charset="-122"/>
                          <a:cs typeface="Calibri" pitchFamily="34" charset="-120"/>
                        </a:rPr>
                        <a:t>plotly</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c>
                  <a:txBody>
                    <a:bodyPr/>
                    <a:lstStyle/>
                    <a:p>
                      <a:pPr indent="0" marL="0">
                        <a:buNone/>
                      </a:pPr>
                      <a:r>
                        <a:rPr lang="en-US" sz="1500" dirty="0">
                          <a:solidFill>
                            <a:srgbClr val="1F2933"/>
                          </a:solidFill>
                          <a:latin typeface="Calibri" pitchFamily="34" charset="0"/>
                          <a:ea typeface="Calibri" pitchFamily="34" charset="-122"/>
                          <a:cs typeface="Calibri" pitchFamily="34" charset="-120"/>
                        </a:rPr>
                        <a:t>les courbes interactives par région, puis l'export HTML</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r>
              <a:tr h="365379">
                <a:tc>
                  <a:txBody>
                    <a:bodyPr/>
                    <a:lstStyle/>
                    <a:p>
                      <a:pPr indent="0" marL="0">
                        <a:buNone/>
                      </a:pPr>
                      <a:r>
                        <a:rPr lang="en-US" sz="1500" dirty="0">
                          <a:solidFill>
                            <a:srgbClr val="1F2933"/>
                          </a:solidFill>
                          <a:latin typeface="Calibri" pitchFamily="34" charset="0"/>
                          <a:ea typeface="Calibri" pitchFamily="34" charset="-122"/>
                          <a:cs typeface="Calibri" pitchFamily="34" charset="-120"/>
                        </a:rPr>
                        <a:t>4.1</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7F9FB"/>
                    </a:solidFill>
                  </a:tcPr>
                </a:tc>
                <a:tc>
                  <a:txBody>
                    <a:bodyPr/>
                    <a:lstStyle/>
                    <a:p>
                      <a:pPr indent="0" marL="0">
                        <a:buNone/>
                      </a:pPr>
                      <a:r>
                        <a:rPr lang="en-US" sz="1500" dirty="0">
                          <a:solidFill>
                            <a:srgbClr val="1F2933"/>
                          </a:solidFill>
                          <a:latin typeface="Calibri" pitchFamily="34" charset="0"/>
                          <a:ea typeface="Calibri" pitchFamily="34" charset="-122"/>
                          <a:cs typeface="Calibri" pitchFamily="34" charset="-120"/>
                        </a:rPr>
                        <a:t>matplotlib</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7F9FB"/>
                    </a:solidFill>
                  </a:tcPr>
                </a:tc>
                <a:tc>
                  <a:txBody>
                    <a:bodyPr/>
                    <a:lstStyle/>
                    <a:p>
                      <a:pPr indent="0" marL="0">
                        <a:buNone/>
                      </a:pPr>
                      <a:r>
                        <a:rPr lang="en-US" sz="1500" dirty="0">
                          <a:solidFill>
                            <a:srgbClr val="1F2933"/>
                          </a:solidFill>
                          <a:latin typeface="Calibri" pitchFamily="34" charset="0"/>
                          <a:ea typeface="Calibri" pitchFamily="34" charset="-122"/>
                          <a:cs typeface="Calibri" pitchFamily="34" charset="-120"/>
                        </a:rPr>
                        <a:t>facultative : corriger un graphique trompeur</a:t>
                      </a:r>
                      <a:endParaRPr lang="en-US" sz="1200" dirty="0"/>
                    </a:p>
                  </a:txBody>
                  <a:tcPr marL="109728" marR="109728" marT="54864" marB="54864"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7F9FB"/>
                    </a:solidFill>
                  </a:tcPr>
                </a:tc>
              </a:tr>
            </a:tbl>
          </a:graphicData>
        </a:graphic>
      </p:graphicFrame>
      <p:sp>
        <p:nvSpPr>
          <p:cNvPr id="5" name="Shape 2"/>
          <p:cNvSpPr/>
          <p:nvPr/>
        </p:nvSpPr>
        <p:spPr>
          <a:xfrm>
            <a:off x="548640" y="5108448"/>
            <a:ext cx="11094415" cy="883920"/>
          </a:xfrm>
          <a:prstGeom prst="roundRect">
            <a:avLst>
              <a:gd name="adj" fmla="val 6207"/>
            </a:avLst>
          </a:prstGeom>
          <a:solidFill>
            <a:srgbClr val="E8F3EE"/>
          </a:solidFill>
          <a:ln/>
        </p:spPr>
      </p:sp>
      <p:sp>
        <p:nvSpPr>
          <p:cNvPr id="6" name="Text 3"/>
          <p:cNvSpPr txBox="1"/>
          <p:nvPr/>
        </p:nvSpPr>
        <p:spPr>
          <a:xfrm>
            <a:off x="822960" y="5108448"/>
            <a:ext cx="10545775" cy="883920"/>
          </a:xfrm>
          <a:prstGeom prst="rect">
            <a:avLst/>
          </a:prstGeom>
          <a:noFill/>
          <a:ln/>
        </p:spPr>
        <p:txBody>
          <a:bodyPr wrap="square" lIns="0" tIns="0" rIns="0" bIns="0" rtlCol="0" anchor="ctr"/>
          <a:lstStyle/>
          <a:p>
            <a:pPr indent="0" marL="0">
              <a:buNone/>
            </a:pPr>
            <a:r>
              <a:rPr lang="en-US" sz="1700" dirty="0">
                <a:solidFill>
                  <a:srgbClr val="1F3A5F"/>
                </a:solidFill>
                <a:latin typeface="Calibri" pitchFamily="34" charset="0"/>
                <a:ea typeface="Calibri" pitchFamily="34" charset="-122"/>
                <a:cs typeface="Calibri" pitchFamily="34" charset="-120"/>
              </a:rPr>
              <a:t>Pour chaque graphique, un </a:t>
            </a:r>
            <a:pPr indent="0" marL="0">
              <a:buNone/>
            </a:pPr>
            <a:r>
              <a:rPr lang="en-US" sz="1700" b="1" dirty="0">
                <a:solidFill>
                  <a:srgbClr val="1F3A5F"/>
                </a:solidFill>
                <a:latin typeface="Calibri" pitchFamily="34" charset="0"/>
                <a:ea typeface="Calibri" pitchFamily="34" charset="-122"/>
                <a:cs typeface="Calibri" pitchFamily="34" charset="-120"/>
              </a:rPr>
              <a:t>résultat attendu</a:t>
            </a:r>
            <a:pPr indent="0" marL="0">
              <a:buNone/>
            </a:pPr>
            <a:r>
              <a:rPr lang="en-US" sz="1700" dirty="0">
                <a:solidFill>
                  <a:srgbClr val="1F3A5F"/>
                </a:solidFill>
                <a:latin typeface="Calibri" pitchFamily="34" charset="0"/>
                <a:ea typeface="Calibri" pitchFamily="34" charset="-122"/>
                <a:cs typeface="Calibri" pitchFamily="34" charset="-120"/>
              </a:rPr>
              <a:t> en image ; les cellules </a:t>
            </a:r>
            <a:pPr indent="0" marL="0">
              <a:buNone/>
            </a:pPr>
            <a:r>
              <a:rPr lang="en-US" sz="1700" dirty="0">
                <a:solidFill>
                  <a:srgbClr val="2F7D62"/>
                </a:solidFill>
                <a:latin typeface="Courier New" pitchFamily="34" charset="0"/>
                <a:ea typeface="Courier New" pitchFamily="34" charset="-122"/>
                <a:cs typeface="Courier New" pitchFamily="34" charset="-120"/>
              </a:rPr>
              <a:t># Vérification</a:t>
            </a:r>
            <a:pPr indent="0" marL="0">
              <a:buNone/>
            </a:pPr>
            <a:r>
              <a:rPr lang="en-US" sz="1700" dirty="0">
                <a:solidFill>
                  <a:srgbClr val="1F3A5F"/>
                </a:solidFill>
                <a:latin typeface="Calibri" pitchFamily="34" charset="0"/>
                <a:ea typeface="Calibri" pitchFamily="34" charset="-122"/>
                <a:cs typeface="Calibri" pitchFamily="34" charset="-120"/>
              </a:rPr>
              <a:t> affichent </a:t>
            </a:r>
            <a:pPr indent="0" marL="0">
              <a:buNone/>
            </a:pPr>
            <a:r>
              <a:rPr lang="en-US" sz="1700" dirty="0">
                <a:solidFill>
                  <a:srgbClr val="2F7D62"/>
                </a:solidFill>
                <a:latin typeface="Courier New" pitchFamily="34" charset="0"/>
                <a:ea typeface="Courier New" pitchFamily="34" charset="-122"/>
                <a:cs typeface="Courier New" pitchFamily="34" charset="-120"/>
              </a:rPr>
              <a:t>OK</a:t>
            </a:r>
            <a:pPr indent="0" marL="0">
              <a:buNone/>
            </a:pPr>
            <a:r>
              <a:rPr lang="en-US" sz="1700" dirty="0">
                <a:solidFill>
                  <a:srgbClr val="1F3A5F"/>
                </a:solidFill>
                <a:latin typeface="Calibri" pitchFamily="34" charset="0"/>
                <a:ea typeface="Calibri" pitchFamily="34" charset="-122"/>
                <a:cs typeface="Calibri" pitchFamily="34" charset="-120"/>
              </a:rPr>
              <a:t> quand c'est juste.</a:t>
            </a:r>
            <a:endParaRPr lang="en-US" sz="1700" dirty="0"/>
          </a:p>
        </p:txBody>
      </p:sp>
      <p:sp>
        <p:nvSpPr>
          <p:cNvPr id="7" name="Text 4"/>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Analyse de données avec Python   |   Visualisation, version mini</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F3A5F"/>
        </a:solidFill>
      </p:bgPr>
    </p:bg>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À retenir</a:t>
            </a:r>
            <a:endParaRPr lang="en-US" sz="3400" dirty="0"/>
          </a:p>
        </p:txBody>
      </p:sp>
      <p:sp>
        <p:nvSpPr>
          <p:cNvPr id="3" name="Text 1"/>
          <p:cNvSpPr txBox="1"/>
          <p:nvPr/>
        </p:nvSpPr>
        <p:spPr>
          <a:xfrm>
            <a:off x="548640" y="1417320"/>
            <a:ext cx="5272888" cy="1844040"/>
          </a:xfrm>
          <a:prstGeom prst="rect">
            <a:avLst/>
          </a:prstGeom>
          <a:noFill/>
          <a:ln/>
        </p:spPr>
        <p:txBody>
          <a:bodyPr wrap="square" lIns="0" tIns="0" rIns="0" bIns="0" rtlCol="0" anchor="t"/>
          <a:lstStyle/>
          <a:p>
            <a:pPr marL="254000" indent="-254000">
              <a:spcAft>
                <a:spcPts val="1200"/>
              </a:spcAft>
              <a:buSzPct val="100000"/>
              <a:buChar char="•"/>
            </a:pPr>
            <a:r>
              <a:rPr lang="en-US" sz="1700" dirty="0">
                <a:solidFill>
                  <a:srgbClr val="FFFFFF"/>
                </a:solidFill>
                <a:latin typeface="Calibri" pitchFamily="34" charset="0"/>
                <a:ea typeface="Calibri" pitchFamily="34" charset="-122"/>
                <a:cs typeface="Calibri" pitchFamily="34" charset="-120"/>
              </a:rPr>
              <a:t>matplotlib : </a:t>
            </a:r>
            <a:pPr indent="0" marL="0">
              <a:buNone/>
            </a:pPr>
            <a:r>
              <a:rPr lang="en-US" sz="1700" dirty="0">
                <a:solidFill>
                  <a:srgbClr val="8FD1B5"/>
                </a:solidFill>
                <a:latin typeface="Courier New" pitchFamily="34" charset="0"/>
                <a:ea typeface="Courier New" pitchFamily="34" charset="-122"/>
                <a:cs typeface="Courier New" pitchFamily="34" charset="-120"/>
              </a:rPr>
              <a:t>fig, ax = plt.subplots()</a:t>
            </a:r>
            <a:pPr indent="0" marL="0">
              <a:buNone/>
            </a:pPr>
            <a:r>
              <a:rPr lang="en-US" sz="1700" dirty="0">
                <a:solidFill>
                  <a:srgbClr val="FFFFFF"/>
                </a:solidFill>
                <a:latin typeface="Calibri" pitchFamily="34" charset="0"/>
                <a:ea typeface="Calibri" pitchFamily="34" charset="-122"/>
                <a:cs typeface="Calibri" pitchFamily="34" charset="-120"/>
              </a:rPr>
              <a:t>, puis </a:t>
            </a:r>
            <a:pPr indent="0" marL="0">
              <a:buNone/>
            </a:pPr>
            <a:r>
              <a:rPr lang="en-US" sz="1700" dirty="0">
                <a:solidFill>
                  <a:srgbClr val="8FD1B5"/>
                </a:solidFill>
                <a:latin typeface="Courier New" pitchFamily="34" charset="0"/>
                <a:ea typeface="Courier New" pitchFamily="34" charset="-122"/>
                <a:cs typeface="Courier New" pitchFamily="34" charset="-120"/>
              </a:rPr>
              <a:t>ax.plot</a:t>
            </a:r>
            <a:pPr indent="0" marL="0">
              <a:buNone/>
            </a:pPr>
            <a:r>
              <a:rPr lang="en-US" sz="1700" dirty="0">
                <a:solidFill>
                  <a:srgbClr val="FFFFFF"/>
                </a:solidFill>
                <a:latin typeface="Calibri" pitchFamily="34" charset="0"/>
                <a:ea typeface="Calibri" pitchFamily="34" charset="-122"/>
                <a:cs typeface="Calibri" pitchFamily="34" charset="-120"/>
              </a:rPr>
              <a:t>, </a:t>
            </a:r>
            <a:pPr indent="0" marL="0">
              <a:buNone/>
            </a:pPr>
            <a:r>
              <a:rPr lang="en-US" sz="1700" dirty="0">
                <a:solidFill>
                  <a:srgbClr val="8FD1B5"/>
                </a:solidFill>
                <a:latin typeface="Courier New" pitchFamily="34" charset="0"/>
                <a:ea typeface="Courier New" pitchFamily="34" charset="-122"/>
                <a:cs typeface="Courier New" pitchFamily="34" charset="-120"/>
              </a:rPr>
              <a:t>ax.barh</a:t>
            </a:r>
            <a:pPr indent="0" marL="0">
              <a:buNone/>
            </a:pPr>
            <a:r>
              <a:rPr lang="en-US" sz="1700" dirty="0">
                <a:solidFill>
                  <a:srgbClr val="FFFFFF"/>
                </a:solidFill>
                <a:latin typeface="Calibri" pitchFamily="34" charset="0"/>
                <a:ea typeface="Calibri" pitchFamily="34" charset="-122"/>
                <a:cs typeface="Calibri" pitchFamily="34" charset="-120"/>
              </a:rPr>
              <a:t>, </a:t>
            </a:r>
            <a:pPr indent="0" marL="0">
              <a:buNone/>
            </a:pPr>
            <a:r>
              <a:rPr lang="en-US" sz="1700" dirty="0">
                <a:solidFill>
                  <a:srgbClr val="8FD1B5"/>
                </a:solidFill>
                <a:latin typeface="Courier New" pitchFamily="34" charset="0"/>
                <a:ea typeface="Courier New" pitchFamily="34" charset="-122"/>
                <a:cs typeface="Courier New" pitchFamily="34" charset="-120"/>
              </a:rPr>
              <a:t>ax.set_title</a:t>
            </a:r>
            <a:endParaRPr lang="en-US" sz="1700" dirty="0"/>
          </a:p>
          <a:p>
            <a:pPr marL="254000" indent="-254000">
              <a:spcAft>
                <a:spcPts val="1200"/>
              </a:spcAft>
              <a:buSzPct val="100000"/>
              <a:buChar char="•"/>
            </a:pPr>
            <a:r>
              <a:rPr lang="en-US" sz="1700" dirty="0">
                <a:solidFill>
                  <a:srgbClr val="FFFFFF"/>
                </a:solidFill>
                <a:latin typeface="Calibri" pitchFamily="34" charset="0"/>
                <a:ea typeface="Calibri" pitchFamily="34" charset="-122"/>
                <a:cs typeface="Calibri" pitchFamily="34" charset="-120"/>
              </a:rPr>
              <a:t>seaborn : </a:t>
            </a:r>
            <a:pPr indent="0" marL="0">
              <a:buNone/>
            </a:pPr>
            <a:r>
              <a:rPr lang="en-US" sz="1700" dirty="0">
                <a:solidFill>
                  <a:srgbClr val="8FD1B5"/>
                </a:solidFill>
                <a:latin typeface="Courier New" pitchFamily="34" charset="0"/>
                <a:ea typeface="Courier New" pitchFamily="34" charset="-122"/>
                <a:cs typeface="Courier New" pitchFamily="34" charset="-120"/>
              </a:rPr>
              <a:t>data</a:t>
            </a:r>
            <a:pPr indent="0" marL="0">
              <a:buNone/>
            </a:pPr>
            <a:r>
              <a:rPr lang="en-US" sz="1700" dirty="0">
                <a:solidFill>
                  <a:srgbClr val="FFFFFF"/>
                </a:solidFill>
                <a:latin typeface="Calibri" pitchFamily="34" charset="0"/>
                <a:ea typeface="Calibri" pitchFamily="34" charset="-122"/>
                <a:cs typeface="Calibri" pitchFamily="34" charset="-120"/>
              </a:rPr>
              <a:t>, </a:t>
            </a:r>
            <a:pPr indent="0" marL="0">
              <a:buNone/>
            </a:pPr>
            <a:r>
              <a:rPr lang="en-US" sz="1700" dirty="0">
                <a:solidFill>
                  <a:srgbClr val="8FD1B5"/>
                </a:solidFill>
                <a:latin typeface="Courier New" pitchFamily="34" charset="0"/>
                <a:ea typeface="Courier New" pitchFamily="34" charset="-122"/>
                <a:cs typeface="Courier New" pitchFamily="34" charset="-120"/>
              </a:rPr>
              <a:t>x</a:t>
            </a:r>
            <a:pPr indent="0" marL="0">
              <a:buNone/>
            </a:pPr>
            <a:r>
              <a:rPr lang="en-US" sz="1700" dirty="0">
                <a:solidFill>
                  <a:srgbClr val="FFFFFF"/>
                </a:solidFill>
                <a:latin typeface="Calibri" pitchFamily="34" charset="0"/>
                <a:ea typeface="Calibri" pitchFamily="34" charset="-122"/>
                <a:cs typeface="Calibri" pitchFamily="34" charset="-120"/>
              </a:rPr>
              <a:t>, </a:t>
            </a:r>
            <a:pPr indent="0" marL="0">
              <a:buNone/>
            </a:pPr>
            <a:r>
              <a:rPr lang="en-US" sz="1700" dirty="0">
                <a:solidFill>
                  <a:srgbClr val="8FD1B5"/>
                </a:solidFill>
                <a:latin typeface="Courier New" pitchFamily="34" charset="0"/>
                <a:ea typeface="Courier New" pitchFamily="34" charset="-122"/>
                <a:cs typeface="Courier New" pitchFamily="34" charset="-120"/>
              </a:rPr>
              <a:t>y</a:t>
            </a:r>
            <a:pPr indent="0" marL="0">
              <a:buNone/>
            </a:pPr>
            <a:r>
              <a:rPr lang="en-US" sz="1700" dirty="0">
                <a:solidFill>
                  <a:srgbClr val="FFFFFF"/>
                </a:solidFill>
                <a:latin typeface="Calibri" pitchFamily="34" charset="0"/>
                <a:ea typeface="Calibri" pitchFamily="34" charset="-122"/>
                <a:cs typeface="Calibri" pitchFamily="34" charset="-120"/>
              </a:rPr>
              <a:t>, </a:t>
            </a:r>
            <a:pPr indent="0" marL="0">
              <a:buNone/>
            </a:pPr>
            <a:r>
              <a:rPr lang="en-US" sz="1700" dirty="0">
                <a:solidFill>
                  <a:srgbClr val="8FD1B5"/>
                </a:solidFill>
                <a:latin typeface="Courier New" pitchFamily="34" charset="0"/>
                <a:ea typeface="Courier New" pitchFamily="34" charset="-122"/>
                <a:cs typeface="Courier New" pitchFamily="34" charset="-120"/>
              </a:rPr>
              <a:t>hue</a:t>
            </a:r>
            <a:pPr indent="0" marL="0">
              <a:buNone/>
            </a:pPr>
            <a:r>
              <a:rPr lang="en-US" sz="1700" dirty="0">
                <a:solidFill>
                  <a:srgbClr val="FFFFFF"/>
                </a:solidFill>
                <a:latin typeface="Calibri" pitchFamily="34" charset="0"/>
                <a:ea typeface="Calibri" pitchFamily="34" charset="-122"/>
                <a:cs typeface="Calibri" pitchFamily="34" charset="-120"/>
              </a:rPr>
              <a:t>, et toujours </a:t>
            </a:r>
            <a:pPr indent="0" marL="0">
              <a:buNone/>
            </a:pPr>
            <a:r>
              <a:rPr lang="en-US" sz="1700" dirty="0">
                <a:solidFill>
                  <a:srgbClr val="8FD1B5"/>
                </a:solidFill>
                <a:latin typeface="Courier New" pitchFamily="34" charset="0"/>
                <a:ea typeface="Courier New" pitchFamily="34" charset="-122"/>
                <a:cs typeface="Courier New" pitchFamily="34" charset="-120"/>
              </a:rPr>
              <a:t>ax=ax</a:t>
            </a:r>
            <a:endParaRPr lang="en-US" sz="1700" dirty="0"/>
          </a:p>
          <a:p>
            <a:pPr marL="254000" indent="-254000">
              <a:spcAft>
                <a:spcPts val="1200"/>
              </a:spcAft>
              <a:buSzPct val="100000"/>
              <a:buChar char="•"/>
            </a:pPr>
            <a:r>
              <a:rPr lang="en-US" sz="1700" dirty="0">
                <a:solidFill>
                  <a:srgbClr val="FFFFFF"/>
                </a:solidFill>
                <a:latin typeface="Calibri" pitchFamily="34" charset="0"/>
                <a:ea typeface="Calibri" pitchFamily="34" charset="-122"/>
                <a:cs typeface="Calibri" pitchFamily="34" charset="-120"/>
              </a:rPr>
              <a:t>plotly : </a:t>
            </a:r>
            <a:pPr indent="0" marL="0">
              <a:buNone/>
            </a:pPr>
            <a:r>
              <a:rPr lang="en-US" sz="1700" dirty="0">
                <a:solidFill>
                  <a:srgbClr val="8FD1B5"/>
                </a:solidFill>
                <a:latin typeface="Courier New" pitchFamily="34" charset="0"/>
                <a:ea typeface="Courier New" pitchFamily="34" charset="-122"/>
                <a:cs typeface="Courier New" pitchFamily="34" charset="-120"/>
              </a:rPr>
              <a:t>px.line</a:t>
            </a:r>
            <a:pPr indent="0" marL="0">
              <a:buNone/>
            </a:pPr>
            <a:r>
              <a:rPr lang="en-US" sz="1700" dirty="0">
                <a:solidFill>
                  <a:srgbClr val="FFFFFF"/>
                </a:solidFill>
                <a:latin typeface="Calibri" pitchFamily="34" charset="0"/>
                <a:ea typeface="Calibri" pitchFamily="34" charset="-122"/>
                <a:cs typeface="Calibri" pitchFamily="34" charset="-120"/>
              </a:rPr>
              <a:t>, </a:t>
            </a:r>
            <a:pPr indent="0" marL="0">
              <a:buNone/>
            </a:pPr>
            <a:r>
              <a:rPr lang="en-US" sz="1700" dirty="0">
                <a:solidFill>
                  <a:srgbClr val="8FD1B5"/>
                </a:solidFill>
                <a:latin typeface="Courier New" pitchFamily="34" charset="0"/>
                <a:ea typeface="Courier New" pitchFamily="34" charset="-122"/>
                <a:cs typeface="Courier New" pitchFamily="34" charset="-120"/>
              </a:rPr>
              <a:t>color</a:t>
            </a:r>
            <a:pPr indent="0" marL="0">
              <a:buNone/>
            </a:pPr>
            <a:r>
              <a:rPr lang="en-US" sz="1700" dirty="0">
                <a:solidFill>
                  <a:srgbClr val="FFFFFF"/>
                </a:solidFill>
                <a:latin typeface="Calibri" pitchFamily="34" charset="0"/>
                <a:ea typeface="Calibri" pitchFamily="34" charset="-122"/>
                <a:cs typeface="Calibri" pitchFamily="34" charset="-120"/>
              </a:rPr>
              <a:t>, </a:t>
            </a:r>
            <a:pPr indent="0" marL="0">
              <a:buNone/>
            </a:pPr>
            <a:r>
              <a:rPr lang="en-US" sz="1700" dirty="0">
                <a:solidFill>
                  <a:srgbClr val="8FD1B5"/>
                </a:solidFill>
                <a:latin typeface="Courier New" pitchFamily="34" charset="0"/>
                <a:ea typeface="Courier New" pitchFamily="34" charset="-122"/>
                <a:cs typeface="Courier New" pitchFamily="34" charset="-120"/>
              </a:rPr>
              <a:t>hover_data</a:t>
            </a:r>
            <a:pPr indent="0" marL="0">
              <a:buNone/>
            </a:pPr>
            <a:r>
              <a:rPr lang="en-US" sz="1700" dirty="0">
                <a:solidFill>
                  <a:srgbClr val="FFFFFF"/>
                </a:solidFill>
                <a:latin typeface="Calibri" pitchFamily="34" charset="0"/>
                <a:ea typeface="Calibri" pitchFamily="34" charset="-122"/>
                <a:cs typeface="Calibri" pitchFamily="34" charset="-120"/>
              </a:rPr>
              <a:t>, </a:t>
            </a:r>
            <a:pPr indent="0" marL="0">
              <a:buNone/>
            </a:pPr>
            <a:r>
              <a:rPr lang="en-US" sz="1700" dirty="0">
                <a:solidFill>
                  <a:srgbClr val="8FD1B5"/>
                </a:solidFill>
                <a:latin typeface="Courier New" pitchFamily="34" charset="0"/>
                <a:ea typeface="Courier New" pitchFamily="34" charset="-122"/>
                <a:cs typeface="Courier New" pitchFamily="34" charset="-120"/>
              </a:rPr>
              <a:t>write_html</a:t>
            </a:r>
            <a:endParaRPr lang="en-US" sz="1700" dirty="0"/>
          </a:p>
        </p:txBody>
      </p:sp>
      <p:sp>
        <p:nvSpPr>
          <p:cNvPr id="4" name="Text 2"/>
          <p:cNvSpPr txBox="1"/>
          <p:nvPr/>
        </p:nvSpPr>
        <p:spPr>
          <a:xfrm>
            <a:off x="6370168" y="1417320"/>
            <a:ext cx="5272888" cy="2362200"/>
          </a:xfrm>
          <a:prstGeom prst="rect">
            <a:avLst/>
          </a:prstGeom>
          <a:noFill/>
          <a:ln/>
        </p:spPr>
        <p:txBody>
          <a:bodyPr wrap="square" lIns="0" tIns="0" rIns="0" bIns="0" rtlCol="0" anchor="t"/>
          <a:lstStyle/>
          <a:p>
            <a:pPr marL="254000" indent="-254000">
              <a:spcAft>
                <a:spcPts val="1200"/>
              </a:spcAft>
              <a:buSzPct val="100000"/>
              <a:buChar char="•"/>
            </a:pPr>
            <a:r>
              <a:rPr lang="en-US" sz="1700" dirty="0">
                <a:solidFill>
                  <a:srgbClr val="FFFFFF"/>
                </a:solidFill>
                <a:latin typeface="Calibri" pitchFamily="34" charset="0"/>
                <a:ea typeface="Calibri" pitchFamily="34" charset="-122"/>
                <a:cs typeface="Calibri" pitchFamily="34" charset="-120"/>
              </a:rPr>
              <a:t>Statique pour restituer, interactif pour explorer et partager</a:t>
            </a:r>
            <a:endParaRPr lang="en-US" sz="1700" dirty="0"/>
          </a:p>
          <a:p>
            <a:pPr marL="254000" indent="-254000">
              <a:spcAft>
                <a:spcPts val="1200"/>
              </a:spcAft>
              <a:buSzPct val="100000"/>
              <a:buChar char="•"/>
            </a:pPr>
            <a:r>
              <a:rPr lang="en-US" sz="1700" dirty="0">
                <a:solidFill>
                  <a:srgbClr val="FFFFFF"/>
                </a:solidFill>
                <a:latin typeface="Calibri" pitchFamily="34" charset="0"/>
                <a:ea typeface="Calibri" pitchFamily="34" charset="-122"/>
                <a:cs typeface="Calibri" pitchFamily="34" charset="-120"/>
              </a:rPr>
              <a:t>Partir de la question pour choisir le graphique</a:t>
            </a:r>
            <a:endParaRPr lang="en-US" sz="1700" dirty="0"/>
          </a:p>
          <a:p>
            <a:pPr marL="254000" indent="-254000">
              <a:spcAft>
                <a:spcPts val="1200"/>
              </a:spcAft>
              <a:buSzPct val="100000"/>
              <a:buChar char="•"/>
            </a:pPr>
            <a:r>
              <a:rPr lang="en-US" sz="1700" dirty="0">
                <a:solidFill>
                  <a:srgbClr val="FFFFFF"/>
                </a:solidFill>
                <a:latin typeface="Calibri" pitchFamily="34" charset="0"/>
                <a:ea typeface="Calibri" pitchFamily="34" charset="-122"/>
                <a:cs typeface="Calibri" pitchFamily="34" charset="-120"/>
              </a:rPr>
              <a:t>Un titre qui énonce le message, des axes nommés qui partent de zéro, une couleur pour le message</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Analyse de données avec Python, visualisation (version mini)</dc:title>
  <dc:subject>PptxGenJS Presentation</dc:subject>
  <dc:creator/>
  <cp:lastModifiedBy/>
  <cp:revision>1</cp:revision>
  <dcterms:created xsi:type="dcterms:W3CDTF">2026-10-21T20:13:39Z</dcterms:created>
  <dcterms:modified xsi:type="dcterms:W3CDTF">2026-10-21T20:13:39Z</dcterms:modified>
</cp:coreProperties>
</file>