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Lst>
  <p:notesMasterIdLst>
    <p:notesMasterId r:id="rId5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notesMaster" Target="notesMasters/notesMaster1.xml"/><Relationship Id="rId57" Type="http://schemas.openxmlformats.org/officeDocument/2006/relationships/presProps" Target="presProps.xml"/><Relationship Id="rId58" Type="http://schemas.openxmlformats.org/officeDocument/2006/relationships/viewProps" Target="viewProps.xml"/><Relationship Id="rId59" Type="http://schemas.openxmlformats.org/officeDocument/2006/relationships/theme" Target="theme/theme1.xml"/><Relationship Id="rId6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rapide sur le TP3 : tout le monde a-t-il sa table d'indicateurs ? Sinon, une version est fournie dans les ressources du TP4.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Chaque section de cours est courte et suivie aussitôt de la partie du TP4 qui lui correspond : l'essentiel de l'après-midi se passe dans le notebook. Repères : données et partie 0 jusqu'à 13h45 environ, matplotlib et partie 1 jusqu'à 14h35, seaborn et partie 2 jusqu'à la pause ; après la pause, plotly et partie 3 en 30 minutes environ, bonnes pratiques et partie 4 en 35 minutes, tableau de bord et partie 5 jusqu'à 17h00. Le tableau de bord de la partie 5 reprend les graphiques des parties précédentes : plus ils sont soignés, plus il se construit vite. Si le groupe prend du retard, laisser de côté les questions facultatives pour garder du temps pour le tableau de bord.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Une section courte : on installe, on charge les données, puis on passe tout de suite au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Rappel du premier jour : mettre à jour le requirements.txt dès qu'on ajoute une bibliothèque. La première table sert aux évolutions et aux comparaisons, la seconde aux distributions. Les agrégats mensuel et par_region reviennent dans la plupart des graphiques de l'après-midi.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Environ 10 minutes. Les participants activent l'environnement virtuel des TP précédents, ou en recréent un dans le dossier du TP (python3 -m venv .venv, puis python -m pip install -r ../tp01-environnement-pandas/requirements.txt), installent matplotlib, seaborn et plotly, mettent à jour requirements.txt, lancent jupyter lab depuis le dossier du TP4 et exécutent la cellule de chargement. Question 0.1, résultat attendu : (54, 8) (2182, 15), de janvier à septembre 2025, six régions. Question 0.2 : mensuel compte 9 valeurs, par_region 6, trié par ordre croissant. Présenter le fonctionnement du notebook : cellules # TODO à compléter avec les noms de variables indiqués, résultat attendu à comparer, cellules de vérification à exécuter sans les modifier, questions Pour aller plus loin facultatives. Le notebook reste ouvert tout l'après-midi.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bibliothèque de référence. seaborn et pandas reposent dessus : la connaître permet de personnaliser n'importe quel graphique.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vocabulaire de matplotlib est trompeur : bien insister sur la différence entre Axes et Axis.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Beaucoup d'exemples en ligne mélangent les deux écritures. Toujours privilégier fig, ax. Dans un notebook, la figure s'affiche à la fin de la cellule.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choix du tracé dépend de la question posée : on y reviendra dans les bonnes pratiques. par_region a été calculé dans la partie 0, trié par ordre croissant : l'Île-de-France arrive en haut.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 sont les questions 1.5 et 1.6 du TP. Sur l'histogramme, 25 couples mois et région sur 54 atteignent leur objectif. Le nuage de points montre que le chiffre d'affaires suit le nombre de commandes.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legend() utilise les label= passés aux tracés. set_xlim fait pour l'axe horizontal ce que set_ylim fait pour l'axe vertical. Sur la figure, les montants s'affichent en milliers d'euros grâce à un formateur : diapositive suivante.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formateur milliers sert dans toute la suite du TP. La vérification de la question 1.1 contrôle qu'une graduation de 20 000 s'affiche bien en milliers.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L'objectif mensuel de l'ensemble des régions vaut 47 000 euros : la somme des objectifs des six régions pour un mois. C'est la question 1.2 : cinq mois sur neuf dépassent l'objectif (mars, avril, mai, juin et septembre). axvline sert à la question 1.5, pour marquer 100 % sur l'histogramme du taux de réalisation.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C'est la question 1.3 du TP, avec en plus une couleur pour la région la plus forte et du gris pour les autres, comme on le verra dans les bonnes pratiques. bar_label sert aussi à la question 4.5, pour écrire la part de chaque produit en pourcentage.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C'est la question facultative 1.8 : la bande de mi-juin à mi-août vient de axvspan, l'annotation pointe sur août. Une annotation se réserve au fait qu'on veut faire remarquer : en mettre partout brouille la lecture.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commandes vaut indicateurs.groupby("mois")["nb_commandes"].sum() : c'est la question 1.4. Les deux graphiques ont la même forme : le chiffre d'affaires suit le nombre de commandes, le panier moyen varie peu. Les barres sont tracées sur des labels texte : sur un axe de dates, chaque barre ne ferait qu'un jour de large.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fig.suptitle donne un titre à la figure entière, au-dessus des titres de chaque graphique. C'est la question 1.7 du TP : sans sharey=True, chaque graphique aurait sa propre échelle et les quatre catégories sembleraient de même niveau.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bbox_inches="tight" retire les marges blanches autour de la figure. Le raccourci pandas fait l'objet de la question facultative 1.9.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Montrer une cellule de vérification du TP4, par exemple celle de la question 1.1 : elle contrôle le titre, le nom de l'axe vertical, une seule courbe de 9 points, un axe qui part de zéro et un formateur en milliers. Si une vérification échoue, son message dit quoi corriger.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Environ 30 minutes, jusqu'à 14h35. Les participants créent chaque graphique avec fig, ax = plt.subplots(figsize=...) en reprenant la taille indiquée, comparent avec l'image attendue, puis exécutent la vérification. Réponses : 1.2, objectif_total vaut 47 000 euros et cinq mois le dépassent (mars, avril, mai, juin et septembre) ; 1.4, le creux de l'été vient d'une baisse du nombre de commandes, le panier moyen varie peu ; 1.5, 25 couples mois et région sur 54 atteignent leur objectif ; 1.6, les deux grandeurs sont nettement liées ; 1.7, sans sharey=True les quatre catégories sembleraient de même niveau, alors que l'informatique pèse environ cinq fois plus que l'électroménager. Les questions 1.8 et 1.9 sont pour ceux qui ont fini en avance.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Des graphiques statistiques en une ligne, à partir d'un DataFrame et de noms de colonnes.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Oublier ax=ax peut provoquer des erreurs de conversion difficiles à comprendre, quand seaborn dessine dans un graphique précédent qui avait un axe de dates. Six courbes superposées forment vite un « plat de spaghettis » : on verra avec relplot comment les séparer.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C'est la question 2.1 du TP, avec deux lignes verticales (axvline) à la moyenne et à la médiane.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C'est la question facultative 2.9 : 1 423 commandes de clients non fidèles contre 759 de clients fidèles. Les formes sont proches ; la médiane est un peu plus haute pour les clients fidèles (114 euros contre 100 euros environ), les moyennes sont presque égales (189 et 187 euros).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Bureau a une médiane basse mais les valeurs extrêmes les plus élevées : des commandes de plusieurs chaises ergonomiques ou bureaux assis-debout, à plus de 1 000 euros. La papeterie compte aussi beaucoup de points isolés, à des montants modestes : le nombre de points isolés dépend de la hauteur de la boîte, pas seulement de la taille des valeurs. Par défaut, seaborn place les catégories dans l'ordre où il les rencontre dans les données. C'est la question 2.2 du TP.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Piège fréquent : croire que barplot affiche un total alors qu'il affiche une moyenne ; c'est la question facultative 2.10. Questions 2.3 et 2.4 : la papeterie est deuxième en nombre de commandes (694) mais troisième en chiffre d'affaires ; le bureau, troisième en commandes (410), est deuxième en chiffre d'affaires. Le paramètre order fonctionne de la même façon avec barplot et boxplot.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Pour une relation entre deux grandeurs, seaborn propose aussi sns.scatterplot(data=indicateurs, x="nb_commandes", y="ca", hue="region", ax=ax). Sur la heatmap, l'été ressort immédiatement. L'Île-de-France atteint le plus souvent son objectif, six mois sur neuf. C'est la question 2.7 du TP ; la question facultative 4.7 fait corriger la même carte tracée avec une palette rouge, jaune et vert.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C'est la question facultative 2.8. La grandeur la plus liée au chiffre d'affaires est le nombre de commandes (0,92), suivie de la quantité (0,90). Le panier moyen n'est pas lié au nombre de commandes (-0,02). indicateurs.corr(numeric_only=True) calcule la matrice sur toutes les colonnes numériques.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 petits multiples sont presque toujours plus lisibles qu'un graphique surchargé. Ce sont les questions 2.5, les six courbes avec move_legend, puis 2.6, avec relplot.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C'est la question 2.6 du TP. set_titles("{col_name}") remplace le titre par défaut, region = Bretagne, par le seul nom de la région. relplot partage l'échelle verticale par défaut : la comparaison entre régions est juste.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Environ 20 minutes, puis la pause. Réponses : 2.1, moyenne 187,67 euros et médiane 104,70 euros, une distribution très asymétrique, tirée vers le haut par quelques grosses commandes ; 2.2, Bureau a les valeurs extrêmes les plus élevées, des chaises ergonomiques par 5 et des bureaux assis-debout par 3 à 5, et la boîte de la papeterie est si étroite que des commandes de 200 euros dépassent ses moustaches ; 2.4, la papeterie est deuxième en commandes mais troisième en chiffre d'affaires, le bureau l'inverse ; 2.5, six courbes superposées se lisent mal ; 2.6, une même échelle pour les six régions ; 2.7, l'Île-de-France atteint le plus souvent son objectif, six mois sur neuf, et juillet et août sont sous l'objectif presque partout. Les questions 2.8 à 2.10 sont facultatives.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Après la pause. Des graphiques qu'on explore à la souris.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Faire la démonstration en direct : survoler, zoomer, cliquer sur une région dans la légende. plotly express suit la même logique que seaborn : un DataFrame et des noms de colonnes.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Démonstration en direct : masquer une région dans la légende des barres empilées, survoler les valeurs extrêmes de la boîte Bureau. px.histogram sur la colonne jour compte les commandes de chaque jour, comme countplot. Les jours de la semaine ont un ordre qui a un sens : on ne trie pas ces barres par valeur.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C'est le principal intérêt de l'interactivité : montrer le détail à la demande. Le format de date sert à la question 3.4 : hover_data={"mois": "|%m/%Y"}.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 tailles sont celles du graphique du TP : près de 5 Mo par défaut, une quinzaine de kilo-octets avec cdn. st_size donne la taille en octets. Pour un envoi par mail à des personnes sans accès internet garanti, garder la version autonome.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 deux approches sont complémentaires : on explore souvent en interactif, on restitue souvent en statique.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Environ 20 minutes. Réponses : 3.2, masquer une région retire sa part des barres, qui se recalculent ; ce graphique montre à la fois le total du mois et sa décomposition par région ; 3.3, les points les plus hauts de Bureau sont les chaises ergonomiques par 5 et les bureaux assis-debout de la question 2.2 ; 3.4, les points en haut à droite sont ceux de l'Île-de-France, en janvier, de mars à juin et en septembre, autour de 16 000 euros ; 3.5, près de 5 Mo par défaut contre une quinzaine de kilo-octets avec cdn : la version autonome s'ouvre même sans connexion, la version cdn est plus légère mais a besoin d'internet. 3.6 est facultative : les jours ont un ordre qui a un sens, on ne les trie pas par valeur.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 graphique techniquement correct peut être illisible ou trompeur.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part de la question posée, pas du graphique qu'on sait faire. Le camembert ne se justifie que pour deux ou trois parts : l'œil compare mal des angles.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Demander au groupe de reformuler le titre d'un graphique vu plus tôt pour qu'il énonce un message.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graphique de gauche cumule deux défauts : des barres dans un ordre arbitraire et des couleurs décoratives. Tout ce qui n'aide pas à lire s'enlève : cadres, grille marquée, 3D, ombres, légende quand les labels suffisent.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Avec l'axe tronqué, la barre des Hauts-de-France paraît plus de trois fois plus haute que celle de l'Occitanie, pour 6 % d'écart réel.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Tous ces défauts se rencontrent dans des présentations réelles, souvent sans intention de tromper. Triées, les barres se lisent comme un classement. La partie 4 du TP fait corriger chacun de ces défauts.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Ces lignes viennent des graphiques à corriger de la partie 4 : set_ylim(150, 235) à la question 4.1, pie à la question 4.5, twinx à la question 4.6. autopct écrit le pourcentage de chaque part : %.0f%% donne un nombre sans décimale suivi du signe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heatmap vue plus tôt utilise RdBu pour cette raison, plutôt que la palette RdYlGn souvent utilisée. La question facultative 4.7 fait corriger une heatmap en RdYlGn.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Environ 20 minutes. Chaque cellule contient le code d'un graphique mal construit : les participants l'exécutent tel quel, expliquent son défaut dans la cellule de réponse, puis modifient le code en gardant les noms fig et ax (ou axes), et exécutent la vérification. Les questions 4.1, 4.2, 4.3 et 4.5 demandent aussi un titre qui énonce le message, par exemple « La Nouvelle-Aquitaine a le panier moyen le plus élevé, à 230 euros ». La question facultative 4.7 doit redonner la heatmap de la question 2.7.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 tableau de bord n'est pas une collection de graphiques : c'est une réponse, en quelques images, aux questions de la personne qui le lit.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Exemple pour la question des objectifs : la heatmap du taux de réalisation, titrée « L'Île-de-France atteint son objectif six mois sur neuf », et ce qu'on retient : « juillet et août sont sous l'objectif dans presque toutes les régions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va du général au détail : l'évolution globale de l'activité, puis sa répartition, puis le suivi des objectifs, et enfin le détail, que le lecteur explore lui-même dans un graphique interactif. C'est l'ordre des questions proposées dans la partie 5 du TP.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Chaque point renvoie à une section de l'après-midi : le choix du graphique et le titre aux bonnes pratiques, les axes et les formats à matplotlib, les barres triées, l'axe à zéro et la couleur aux corrections de la partie 4, la palette au daltonisme.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Environ 30 minutes, jusqu'à la fin de l'après-midi. Les participants reprennent et améliorent les graphiques des parties précédentes, par exemple la courbe annotée de la question 1.8 pour le graphique 1, les barres de la question 1.3 pour le graphique 2, la heatmap de la question 2.7 pour le graphique 3 et le graphique de la question 3.1 pour le graphique 4. Ils peuvent remplacer les questions proposées par d'autres s'ils les jugent plus utiles. Avant de rendre : activite_mensuelle.png et ca_mensuel_regions.html présents, toutes les vérifications à OK, chaque graphique avec sa question et son message, et le notebook qui s'exécute de haut en bas (menu Kernel, puis Restart Kernel and Run All Cells). Si le temps le permet, chacun présente un graphique au groupe en une minute.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Diapositive de synthèse : le TP s'est fait au fil de l'après-midi. Rappeler la liste « Avant de rendre » du notebook : activite_mensuelle.png et ca_mensuel_regions.html présents, le fichier HTML qui s'ouvre dans un navigateur en restant interactif, toutes les vérifications à OK, chaque graphique du tableau de bord avec sa question et son message, et le notebook qui s'exécute sans erreur de haut en bas.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Demain matin : organiser un projet Python et transformer le notebook en outil en ligne de commande.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b="0" lang="en-US"/>
              <a:t>1000</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1.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1.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F3A5F"/>
        </a:solidFill>
      </p:bgPr>
    </p:bg>
    <p:spTree>
      <p:nvGrpSpPr>
        <p:cNvPr id="1" name=""/>
        <p:cNvGrpSpPr/>
        <p:nvPr/>
      </p:nvGrpSpPr>
      <p:grpSpPr>
        <a:xfrm>
          <a:off x="0" y="0"/>
          <a:ext cx="0" cy="0"/>
          <a:chOff x="0" y="0"/>
          <a:chExt cx="0" cy="0"/>
        </a:xfrm>
      </p:grpSpPr>
      <p:sp>
        <p:nvSpPr>
          <p:cNvPr id="2" name="Text 0"/>
          <p:cNvSpPr txBox="1"/>
          <p:nvPr/>
        </p:nvSpPr>
        <p:spPr>
          <a:xfrm>
            <a:off x="731520" y="1737360"/>
            <a:ext cx="9144000" cy="365760"/>
          </a:xfrm>
          <a:prstGeom prst="rect">
            <a:avLst/>
          </a:prstGeom>
          <a:noFill/>
          <a:ln/>
        </p:spPr>
        <p:txBody>
          <a:bodyPr wrap="square" lIns="0" tIns="0" rIns="0" bIns="0" rtlCol="0" anchor="ctr"/>
          <a:lstStyle/>
          <a:p>
            <a:pPr indent="0" marL="0">
              <a:buNone/>
            </a:pPr>
            <a:r>
              <a:rPr lang="en-US" sz="1400" b="1" spc="400" kern="0" dirty="0">
                <a:solidFill>
                  <a:srgbClr val="8FD1B5"/>
                </a:solidFill>
                <a:latin typeface="Calibri" pitchFamily="34" charset="0"/>
                <a:ea typeface="Calibri" pitchFamily="34" charset="-122"/>
                <a:cs typeface="Calibri" pitchFamily="34" charset="-120"/>
              </a:rPr>
              <a:t>FORMATION</a:t>
            </a:r>
            <a:endParaRPr lang="en-US" sz="1400" dirty="0"/>
          </a:p>
        </p:txBody>
      </p:sp>
      <p:sp>
        <p:nvSpPr>
          <p:cNvPr id="3" name="Text 1"/>
          <p:cNvSpPr txBox="1"/>
          <p:nvPr/>
        </p:nvSpPr>
        <p:spPr>
          <a:xfrm>
            <a:off x="731520" y="2148840"/>
            <a:ext cx="10515600" cy="1097280"/>
          </a:xfrm>
          <a:prstGeom prst="rect">
            <a:avLst/>
          </a:prstGeom>
          <a:noFill/>
          <a:ln/>
        </p:spPr>
        <p:txBody>
          <a:bodyPr wrap="square" lIns="0" tIns="0" rIns="0" bIns="0" rtlCol="0" anchor="t"/>
          <a:lstStyle/>
          <a:p>
            <a:pPr indent="0" marL="0">
              <a:buNone/>
            </a:pPr>
            <a:r>
              <a:rPr lang="en-US" sz="4600" b="1" dirty="0">
                <a:solidFill>
                  <a:srgbClr val="FFFFFF"/>
                </a:solidFill>
                <a:latin typeface="Cambria" pitchFamily="34" charset="0"/>
                <a:ea typeface="Cambria" pitchFamily="34" charset="-122"/>
                <a:cs typeface="Cambria" pitchFamily="34" charset="-120"/>
              </a:rPr>
              <a:t>Analyse de données avec Python</a:t>
            </a:r>
            <a:endParaRPr lang="en-US" sz="4600" dirty="0"/>
          </a:p>
        </p:txBody>
      </p:sp>
      <p:sp>
        <p:nvSpPr>
          <p:cNvPr id="4" name="Text 2"/>
          <p:cNvSpPr txBox="1"/>
          <p:nvPr/>
        </p:nvSpPr>
        <p:spPr>
          <a:xfrm>
            <a:off x="731520" y="3337560"/>
            <a:ext cx="10058400" cy="914400"/>
          </a:xfrm>
          <a:prstGeom prst="rect">
            <a:avLst/>
          </a:prstGeom>
          <a:noFill/>
          <a:ln/>
        </p:spPr>
        <p:txBody>
          <a:bodyPr wrap="square" lIns="0" tIns="0" rIns="0" bIns="0" rtlCol="0" anchor="t"/>
          <a:lstStyle/>
          <a:p>
            <a:pPr indent="0" marL="0">
              <a:buNone/>
            </a:pPr>
            <a:r>
              <a:rPr lang="en-US" sz="2200" dirty="0">
                <a:solidFill>
                  <a:srgbClr val="C9D6E3"/>
                </a:solidFill>
                <a:latin typeface="Calibri" pitchFamily="34" charset="0"/>
                <a:ea typeface="Calibri" pitchFamily="34" charset="-122"/>
                <a:cs typeface="Calibri" pitchFamily="34" charset="-120"/>
              </a:rPr>
              <a:t>Jour 2, après-midi</a:t>
            </a:r>
            <a:endParaRPr lang="en-US" sz="2200" dirty="0"/>
          </a:p>
          <a:p>
            <a:pPr indent="0" marL="0">
              <a:buNone/>
            </a:pPr>
            <a:r>
              <a:rPr lang="en-US" sz="2200" dirty="0">
                <a:solidFill>
                  <a:srgbClr val="C9D6E3"/>
                </a:solidFill>
                <a:latin typeface="Calibri" pitchFamily="34" charset="0"/>
                <a:ea typeface="Calibri" pitchFamily="34" charset="-122"/>
                <a:cs typeface="Calibri" pitchFamily="34" charset="-120"/>
              </a:rPr>
              <a:t>Visualisation avec matplotlib, seaborn et plotly</a:t>
            </a:r>
            <a:endParaRPr lang="en-US" sz="2200" dirty="0"/>
          </a:p>
        </p:txBody>
      </p:sp>
      <p:sp>
        <p:nvSpPr>
          <p:cNvPr id="5" name="Text 3"/>
          <p:cNvSpPr txBox="1"/>
          <p:nvPr/>
        </p:nvSpPr>
        <p:spPr>
          <a:xfrm>
            <a:off x="731520" y="5669280"/>
            <a:ext cx="10058400" cy="365760"/>
          </a:xfrm>
          <a:prstGeom prst="rect">
            <a:avLst/>
          </a:prstGeom>
          <a:noFill/>
          <a:ln/>
        </p:spPr>
        <p:txBody>
          <a:bodyPr wrap="square" lIns="0" tIns="0" rIns="0" bIns="0" rtlCol="0" anchor="ctr"/>
          <a:lstStyle/>
          <a:p>
            <a:pPr indent="0" marL="0">
              <a:buNone/>
            </a:pPr>
            <a:r>
              <a:rPr lang="en-US" sz="1400" dirty="0">
                <a:solidFill>
                  <a:srgbClr val="C9D6E3"/>
                </a:solidFill>
                <a:latin typeface="Calibri" pitchFamily="34" charset="0"/>
                <a:ea typeface="Calibri" pitchFamily="34" charset="-122"/>
                <a:cs typeface="Calibri" pitchFamily="34" charset="-120"/>
              </a:rPr>
              <a:t>Cours et TP4 en alternance, sur les indicateurs consolidés du TP3</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57200"/>
            <a:ext cx="11094415" cy="694944"/>
          </a:xfrm>
          <a:prstGeom prst="rect">
            <a:avLst/>
          </a:prstGeom>
          <a:noFill/>
          <a:ln/>
        </p:spPr>
        <p:txBody>
          <a:bodyPr wrap="square" lIns="0" tIns="0" rIns="0" bIns="0" rtlCol="0" anchor="ctr"/>
          <a:lstStyle/>
          <a:p>
            <a:pPr indent="0" marL="0">
              <a:buNone/>
            </a:pPr>
            <a:r>
              <a:rPr lang="en-US" sz="3000" b="1" dirty="0">
                <a:solidFill>
                  <a:srgbClr val="1F3A5F"/>
                </a:solidFill>
                <a:latin typeface="Cambria" pitchFamily="34" charset="0"/>
                <a:ea typeface="Cambria" pitchFamily="34" charset="-122"/>
                <a:cs typeface="Cambria" pitchFamily="34" charset="-120"/>
              </a:rPr>
              <a:t>Le déroulé de l'après-midi</a:t>
            </a:r>
            <a:endParaRPr lang="en-US" sz="3000" dirty="0"/>
          </a:p>
        </p:txBody>
      </p:sp>
      <p:sp>
        <p:nvSpPr>
          <p:cNvPr id="3" name="Shape 1"/>
          <p:cNvSpPr/>
          <p:nvPr/>
        </p:nvSpPr>
        <p:spPr>
          <a:xfrm>
            <a:off x="1341098" y="2057400"/>
            <a:ext cx="9509499" cy="0"/>
          </a:xfrm>
          <a:prstGeom prst="line">
            <a:avLst/>
          </a:prstGeom>
          <a:noFill/>
          <a:ln w="25400">
            <a:solidFill>
              <a:srgbClr val="D5DCE3"/>
            </a:solidFill>
            <a:prstDash val="solid"/>
          </a:ln>
        </p:spPr>
      </p:sp>
      <p:sp>
        <p:nvSpPr>
          <p:cNvPr id="4" name="Shape 2"/>
          <p:cNvSpPr/>
          <p:nvPr/>
        </p:nvSpPr>
        <p:spPr>
          <a:xfrm>
            <a:off x="1112498" y="1828800"/>
            <a:ext cx="457200" cy="457200"/>
          </a:xfrm>
          <a:prstGeom prst="ellipse">
            <a:avLst/>
          </a:prstGeom>
          <a:solidFill>
            <a:srgbClr val="2F7D62"/>
          </a:solidFill>
          <a:ln/>
        </p:spPr>
      </p:sp>
      <p:sp>
        <p:nvSpPr>
          <p:cNvPr id="5" name="Text 3"/>
          <p:cNvSpPr txBox="1"/>
          <p:nvPr/>
        </p:nvSpPr>
        <p:spPr>
          <a:xfrm>
            <a:off x="1112498" y="182880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6" name="Text 4"/>
          <p:cNvSpPr txBox="1"/>
          <p:nvPr/>
        </p:nvSpPr>
        <p:spPr>
          <a:xfrm>
            <a:off x="594360" y="2423160"/>
            <a:ext cx="1493476" cy="502920"/>
          </a:xfrm>
          <a:prstGeom prst="rect">
            <a:avLst/>
          </a:prstGeom>
          <a:noFill/>
          <a:ln/>
        </p:spPr>
        <p:txBody>
          <a:bodyPr wrap="square" lIns="0" tIns="0" rIns="0" bIns="0" rtlCol="0" anchor="t"/>
          <a:lstStyle/>
          <a:p>
            <a:pPr algn="ctr" indent="0" marL="0">
              <a:buNone/>
            </a:pPr>
            <a:r>
              <a:rPr lang="en-US" sz="1400" b="1" dirty="0">
                <a:solidFill>
                  <a:srgbClr val="1F3A5F"/>
                </a:solidFill>
                <a:latin typeface="Calibri" pitchFamily="34" charset="0"/>
                <a:ea typeface="Calibri" pitchFamily="34" charset="-122"/>
                <a:cs typeface="Calibri" pitchFamily="34" charset="-120"/>
              </a:rPr>
              <a:t>Données</a:t>
            </a:r>
            <a:endParaRPr lang="en-US" sz="1400" dirty="0"/>
          </a:p>
        </p:txBody>
      </p:sp>
      <p:sp>
        <p:nvSpPr>
          <p:cNvPr id="7" name="Text 5"/>
          <p:cNvSpPr txBox="1"/>
          <p:nvPr/>
        </p:nvSpPr>
        <p:spPr>
          <a:xfrm>
            <a:off x="594360" y="2926080"/>
            <a:ext cx="1493476" cy="685800"/>
          </a:xfrm>
          <a:prstGeom prst="rect">
            <a:avLst/>
          </a:prstGeom>
          <a:noFill/>
          <a:ln/>
        </p:spPr>
        <p:txBody>
          <a:bodyPr wrap="square" lIns="0" tIns="0" rIns="0" bIns="0" rtlCol="0" anchor="t"/>
          <a:lstStyle/>
          <a:p>
            <a:pPr algn="ctr" indent="0" marL="0">
              <a:buNone/>
            </a:pPr>
            <a:r>
              <a:rPr lang="en-US" sz="1300" dirty="0">
                <a:solidFill>
                  <a:srgbClr val="6B7280"/>
                </a:solidFill>
                <a:latin typeface="Calibri" pitchFamily="34" charset="0"/>
                <a:ea typeface="Calibri" pitchFamily="34" charset="-122"/>
                <a:cs typeface="Calibri" pitchFamily="34" charset="-120"/>
              </a:rPr>
              <a:t>puis TP4, partie 0</a:t>
            </a:r>
            <a:endParaRPr lang="en-US" sz="1300" dirty="0"/>
          </a:p>
        </p:txBody>
      </p:sp>
      <p:sp>
        <p:nvSpPr>
          <p:cNvPr id="8" name="Shape 6"/>
          <p:cNvSpPr/>
          <p:nvPr/>
        </p:nvSpPr>
        <p:spPr>
          <a:xfrm>
            <a:off x="2697415" y="1828800"/>
            <a:ext cx="457200" cy="457200"/>
          </a:xfrm>
          <a:prstGeom prst="ellipse">
            <a:avLst/>
          </a:prstGeom>
          <a:solidFill>
            <a:srgbClr val="2F7D62"/>
          </a:solidFill>
          <a:ln/>
        </p:spPr>
      </p:sp>
      <p:sp>
        <p:nvSpPr>
          <p:cNvPr id="9" name="Text 7"/>
          <p:cNvSpPr txBox="1"/>
          <p:nvPr/>
        </p:nvSpPr>
        <p:spPr>
          <a:xfrm>
            <a:off x="2697415" y="182880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0" name="Text 8"/>
          <p:cNvSpPr txBox="1"/>
          <p:nvPr/>
        </p:nvSpPr>
        <p:spPr>
          <a:xfrm>
            <a:off x="2179276" y="2423160"/>
            <a:ext cx="1493476" cy="502920"/>
          </a:xfrm>
          <a:prstGeom prst="rect">
            <a:avLst/>
          </a:prstGeom>
          <a:noFill/>
          <a:ln/>
        </p:spPr>
        <p:txBody>
          <a:bodyPr wrap="square" lIns="0" tIns="0" rIns="0" bIns="0" rtlCol="0" anchor="t"/>
          <a:lstStyle/>
          <a:p>
            <a:pPr algn="ctr" indent="0" marL="0">
              <a:buNone/>
            </a:pPr>
            <a:r>
              <a:rPr lang="en-US" sz="1400" b="1" dirty="0">
                <a:solidFill>
                  <a:srgbClr val="1F3A5F"/>
                </a:solidFill>
                <a:latin typeface="Calibri" pitchFamily="34" charset="0"/>
                <a:ea typeface="Calibri" pitchFamily="34" charset="-122"/>
                <a:cs typeface="Calibri" pitchFamily="34" charset="-120"/>
              </a:rPr>
              <a:t>matplotlib</a:t>
            </a:r>
            <a:endParaRPr lang="en-US" sz="1400" dirty="0"/>
          </a:p>
        </p:txBody>
      </p:sp>
      <p:sp>
        <p:nvSpPr>
          <p:cNvPr id="11" name="Text 9"/>
          <p:cNvSpPr txBox="1"/>
          <p:nvPr/>
        </p:nvSpPr>
        <p:spPr>
          <a:xfrm>
            <a:off x="2179276" y="2926080"/>
            <a:ext cx="1493476" cy="685800"/>
          </a:xfrm>
          <a:prstGeom prst="rect">
            <a:avLst/>
          </a:prstGeom>
          <a:noFill/>
          <a:ln/>
        </p:spPr>
        <p:txBody>
          <a:bodyPr wrap="square" lIns="0" tIns="0" rIns="0" bIns="0" rtlCol="0" anchor="t"/>
          <a:lstStyle/>
          <a:p>
            <a:pPr algn="ctr" indent="0" marL="0">
              <a:buNone/>
            </a:pPr>
            <a:r>
              <a:rPr lang="en-US" sz="1300" dirty="0">
                <a:solidFill>
                  <a:srgbClr val="6B7280"/>
                </a:solidFill>
                <a:latin typeface="Calibri" pitchFamily="34" charset="0"/>
                <a:ea typeface="Calibri" pitchFamily="34" charset="-122"/>
                <a:cs typeface="Calibri" pitchFamily="34" charset="-120"/>
              </a:rPr>
              <a:t>puis TP4, partie 1</a:t>
            </a:r>
            <a:endParaRPr lang="en-US" sz="1300" dirty="0"/>
          </a:p>
        </p:txBody>
      </p:sp>
      <p:sp>
        <p:nvSpPr>
          <p:cNvPr id="12" name="Shape 10"/>
          <p:cNvSpPr/>
          <p:nvPr/>
        </p:nvSpPr>
        <p:spPr>
          <a:xfrm>
            <a:off x="4282331" y="1828800"/>
            <a:ext cx="457200" cy="457200"/>
          </a:xfrm>
          <a:prstGeom prst="ellipse">
            <a:avLst/>
          </a:prstGeom>
          <a:solidFill>
            <a:srgbClr val="2F7D62"/>
          </a:solidFill>
          <a:ln/>
        </p:spPr>
      </p:sp>
      <p:sp>
        <p:nvSpPr>
          <p:cNvPr id="13" name="Text 11"/>
          <p:cNvSpPr txBox="1"/>
          <p:nvPr/>
        </p:nvSpPr>
        <p:spPr>
          <a:xfrm>
            <a:off x="4282331" y="182880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4" name="Text 12"/>
          <p:cNvSpPr txBox="1"/>
          <p:nvPr/>
        </p:nvSpPr>
        <p:spPr>
          <a:xfrm>
            <a:off x="3764193" y="2423160"/>
            <a:ext cx="1493476" cy="502920"/>
          </a:xfrm>
          <a:prstGeom prst="rect">
            <a:avLst/>
          </a:prstGeom>
          <a:noFill/>
          <a:ln/>
        </p:spPr>
        <p:txBody>
          <a:bodyPr wrap="square" lIns="0" tIns="0" rIns="0" bIns="0" rtlCol="0" anchor="t"/>
          <a:lstStyle/>
          <a:p>
            <a:pPr algn="ctr" indent="0" marL="0">
              <a:buNone/>
            </a:pPr>
            <a:r>
              <a:rPr lang="en-US" sz="1400" b="1" dirty="0">
                <a:solidFill>
                  <a:srgbClr val="1F3A5F"/>
                </a:solidFill>
                <a:latin typeface="Calibri" pitchFamily="34" charset="0"/>
                <a:ea typeface="Calibri" pitchFamily="34" charset="-122"/>
                <a:cs typeface="Calibri" pitchFamily="34" charset="-120"/>
              </a:rPr>
              <a:t>seaborn</a:t>
            </a:r>
            <a:endParaRPr lang="en-US" sz="1400" dirty="0"/>
          </a:p>
        </p:txBody>
      </p:sp>
      <p:sp>
        <p:nvSpPr>
          <p:cNvPr id="15" name="Text 13"/>
          <p:cNvSpPr txBox="1"/>
          <p:nvPr/>
        </p:nvSpPr>
        <p:spPr>
          <a:xfrm>
            <a:off x="3764193" y="2926080"/>
            <a:ext cx="1493476" cy="685800"/>
          </a:xfrm>
          <a:prstGeom prst="rect">
            <a:avLst/>
          </a:prstGeom>
          <a:noFill/>
          <a:ln/>
        </p:spPr>
        <p:txBody>
          <a:bodyPr wrap="square" lIns="0" tIns="0" rIns="0" bIns="0" rtlCol="0" anchor="t"/>
          <a:lstStyle/>
          <a:p>
            <a:pPr algn="ctr" indent="0" marL="0">
              <a:buNone/>
            </a:pPr>
            <a:r>
              <a:rPr lang="en-US" sz="1300" dirty="0">
                <a:solidFill>
                  <a:srgbClr val="6B7280"/>
                </a:solidFill>
                <a:latin typeface="Calibri" pitchFamily="34" charset="0"/>
                <a:ea typeface="Calibri" pitchFamily="34" charset="-122"/>
                <a:cs typeface="Calibri" pitchFamily="34" charset="-120"/>
              </a:rPr>
              <a:t>puis TP4, partie 2</a:t>
            </a:r>
            <a:endParaRPr lang="en-US" sz="1300" dirty="0"/>
          </a:p>
        </p:txBody>
      </p:sp>
      <p:sp>
        <p:nvSpPr>
          <p:cNvPr id="16" name="Shape 14"/>
          <p:cNvSpPr/>
          <p:nvPr/>
        </p:nvSpPr>
        <p:spPr>
          <a:xfrm>
            <a:off x="5867248" y="1828800"/>
            <a:ext cx="457200" cy="457200"/>
          </a:xfrm>
          <a:prstGeom prst="ellipse">
            <a:avLst/>
          </a:prstGeom>
          <a:solidFill>
            <a:srgbClr val="D5DCE3"/>
          </a:solidFill>
          <a:ln/>
        </p:spPr>
      </p:sp>
      <p:sp>
        <p:nvSpPr>
          <p:cNvPr id="17" name="Text 15"/>
          <p:cNvSpPr txBox="1"/>
          <p:nvPr/>
        </p:nvSpPr>
        <p:spPr>
          <a:xfrm>
            <a:off x="5867248" y="1828800"/>
            <a:ext cx="457200" cy="457200"/>
          </a:xfrm>
          <a:prstGeom prst="rect">
            <a:avLst/>
          </a:prstGeom>
          <a:noFill/>
          <a:ln/>
        </p:spPr>
        <p:txBody>
          <a:bodyPr wrap="square" lIns="0" tIns="0" rIns="0" bIns="0" rtlCol="0" anchor="ctr"/>
          <a:lstStyle/>
          <a:p>
            <a:pPr algn="ctr" indent="0" marL="0">
              <a:buNone/>
            </a:pPr>
            <a:endParaRPr lang="en-US" sz="1500" dirty="0"/>
          </a:p>
        </p:txBody>
      </p:sp>
      <p:sp>
        <p:nvSpPr>
          <p:cNvPr id="18" name="Text 16"/>
          <p:cNvSpPr txBox="1"/>
          <p:nvPr/>
        </p:nvSpPr>
        <p:spPr>
          <a:xfrm>
            <a:off x="5349109" y="2423160"/>
            <a:ext cx="1493476" cy="502920"/>
          </a:xfrm>
          <a:prstGeom prst="rect">
            <a:avLst/>
          </a:prstGeom>
          <a:noFill/>
          <a:ln/>
        </p:spPr>
        <p:txBody>
          <a:bodyPr wrap="square" lIns="0" tIns="0" rIns="0" bIns="0" rtlCol="0" anchor="t"/>
          <a:lstStyle/>
          <a:p>
            <a:pPr algn="ctr" indent="0" marL="0">
              <a:buNone/>
            </a:pPr>
            <a:r>
              <a:rPr lang="en-US" sz="1400" b="1" dirty="0">
                <a:solidFill>
                  <a:srgbClr val="1F3A5F"/>
                </a:solidFill>
                <a:latin typeface="Calibri" pitchFamily="34" charset="0"/>
                <a:ea typeface="Calibri" pitchFamily="34" charset="-122"/>
                <a:cs typeface="Calibri" pitchFamily="34" charset="-120"/>
              </a:rPr>
              <a:t>Pause</a:t>
            </a:r>
            <a:endParaRPr lang="en-US" sz="1400" dirty="0"/>
          </a:p>
        </p:txBody>
      </p:sp>
      <p:sp>
        <p:nvSpPr>
          <p:cNvPr id="19" name="Shape 17"/>
          <p:cNvSpPr/>
          <p:nvPr/>
        </p:nvSpPr>
        <p:spPr>
          <a:xfrm>
            <a:off x="7452164" y="1828800"/>
            <a:ext cx="457200" cy="457200"/>
          </a:xfrm>
          <a:prstGeom prst="ellipse">
            <a:avLst/>
          </a:prstGeom>
          <a:solidFill>
            <a:srgbClr val="2F7D62"/>
          </a:solidFill>
          <a:ln/>
        </p:spPr>
      </p:sp>
      <p:sp>
        <p:nvSpPr>
          <p:cNvPr id="20" name="Text 18"/>
          <p:cNvSpPr txBox="1"/>
          <p:nvPr/>
        </p:nvSpPr>
        <p:spPr>
          <a:xfrm>
            <a:off x="7452164" y="182880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1" name="Text 19"/>
          <p:cNvSpPr txBox="1"/>
          <p:nvPr/>
        </p:nvSpPr>
        <p:spPr>
          <a:xfrm>
            <a:off x="6934026" y="2423160"/>
            <a:ext cx="1493476" cy="502920"/>
          </a:xfrm>
          <a:prstGeom prst="rect">
            <a:avLst/>
          </a:prstGeom>
          <a:noFill/>
          <a:ln/>
        </p:spPr>
        <p:txBody>
          <a:bodyPr wrap="square" lIns="0" tIns="0" rIns="0" bIns="0" rtlCol="0" anchor="t"/>
          <a:lstStyle/>
          <a:p>
            <a:pPr algn="ctr" indent="0" marL="0">
              <a:buNone/>
            </a:pPr>
            <a:r>
              <a:rPr lang="en-US" sz="1400" b="1" dirty="0">
                <a:solidFill>
                  <a:srgbClr val="1F3A5F"/>
                </a:solidFill>
                <a:latin typeface="Calibri" pitchFamily="34" charset="0"/>
                <a:ea typeface="Calibri" pitchFamily="34" charset="-122"/>
                <a:cs typeface="Calibri" pitchFamily="34" charset="-120"/>
              </a:rPr>
              <a:t>plotly</a:t>
            </a:r>
            <a:endParaRPr lang="en-US" sz="1400" dirty="0"/>
          </a:p>
        </p:txBody>
      </p:sp>
      <p:sp>
        <p:nvSpPr>
          <p:cNvPr id="22" name="Text 20"/>
          <p:cNvSpPr txBox="1"/>
          <p:nvPr/>
        </p:nvSpPr>
        <p:spPr>
          <a:xfrm>
            <a:off x="6934026" y="2926080"/>
            <a:ext cx="1493476" cy="685800"/>
          </a:xfrm>
          <a:prstGeom prst="rect">
            <a:avLst/>
          </a:prstGeom>
          <a:noFill/>
          <a:ln/>
        </p:spPr>
        <p:txBody>
          <a:bodyPr wrap="square" lIns="0" tIns="0" rIns="0" bIns="0" rtlCol="0" anchor="t"/>
          <a:lstStyle/>
          <a:p>
            <a:pPr algn="ctr" indent="0" marL="0">
              <a:buNone/>
            </a:pPr>
            <a:r>
              <a:rPr lang="en-US" sz="1300" dirty="0">
                <a:solidFill>
                  <a:srgbClr val="6B7280"/>
                </a:solidFill>
                <a:latin typeface="Calibri" pitchFamily="34" charset="0"/>
                <a:ea typeface="Calibri" pitchFamily="34" charset="-122"/>
                <a:cs typeface="Calibri" pitchFamily="34" charset="-120"/>
              </a:rPr>
              <a:t>puis TP4, partie 3</a:t>
            </a:r>
            <a:endParaRPr lang="en-US" sz="1300" dirty="0"/>
          </a:p>
        </p:txBody>
      </p:sp>
      <p:sp>
        <p:nvSpPr>
          <p:cNvPr id="23" name="Shape 21"/>
          <p:cNvSpPr/>
          <p:nvPr/>
        </p:nvSpPr>
        <p:spPr>
          <a:xfrm>
            <a:off x="9037081" y="1828800"/>
            <a:ext cx="457200" cy="457200"/>
          </a:xfrm>
          <a:prstGeom prst="ellipse">
            <a:avLst/>
          </a:prstGeom>
          <a:solidFill>
            <a:srgbClr val="2F7D62"/>
          </a:solidFill>
          <a:ln/>
        </p:spPr>
      </p:sp>
      <p:sp>
        <p:nvSpPr>
          <p:cNvPr id="24" name="Text 22"/>
          <p:cNvSpPr txBox="1"/>
          <p:nvPr/>
        </p:nvSpPr>
        <p:spPr>
          <a:xfrm>
            <a:off x="9037081" y="182880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25" name="Text 23"/>
          <p:cNvSpPr txBox="1"/>
          <p:nvPr/>
        </p:nvSpPr>
        <p:spPr>
          <a:xfrm>
            <a:off x="8518942" y="2423160"/>
            <a:ext cx="1493476" cy="502920"/>
          </a:xfrm>
          <a:prstGeom prst="rect">
            <a:avLst/>
          </a:prstGeom>
          <a:noFill/>
          <a:ln/>
        </p:spPr>
        <p:txBody>
          <a:bodyPr wrap="square" lIns="0" tIns="0" rIns="0" bIns="0" rtlCol="0" anchor="t"/>
          <a:lstStyle/>
          <a:p>
            <a:pPr algn="ctr" indent="0" marL="0">
              <a:buNone/>
            </a:pPr>
            <a:r>
              <a:rPr lang="en-US" sz="1400" b="1" dirty="0">
                <a:solidFill>
                  <a:srgbClr val="1F3A5F"/>
                </a:solidFill>
                <a:latin typeface="Calibri" pitchFamily="34" charset="0"/>
                <a:ea typeface="Calibri" pitchFamily="34" charset="-122"/>
                <a:cs typeface="Calibri" pitchFamily="34" charset="-120"/>
              </a:rPr>
              <a:t>Bonnes pratiques</a:t>
            </a:r>
            <a:endParaRPr lang="en-US" sz="1400" dirty="0"/>
          </a:p>
        </p:txBody>
      </p:sp>
      <p:sp>
        <p:nvSpPr>
          <p:cNvPr id="26" name="Text 24"/>
          <p:cNvSpPr txBox="1"/>
          <p:nvPr/>
        </p:nvSpPr>
        <p:spPr>
          <a:xfrm>
            <a:off x="8518942" y="2926080"/>
            <a:ext cx="1493476" cy="685800"/>
          </a:xfrm>
          <a:prstGeom prst="rect">
            <a:avLst/>
          </a:prstGeom>
          <a:noFill/>
          <a:ln/>
        </p:spPr>
        <p:txBody>
          <a:bodyPr wrap="square" lIns="0" tIns="0" rIns="0" bIns="0" rtlCol="0" anchor="t"/>
          <a:lstStyle/>
          <a:p>
            <a:pPr algn="ctr" indent="0" marL="0">
              <a:buNone/>
            </a:pPr>
            <a:r>
              <a:rPr lang="en-US" sz="1300" dirty="0">
                <a:solidFill>
                  <a:srgbClr val="6B7280"/>
                </a:solidFill>
                <a:latin typeface="Calibri" pitchFamily="34" charset="0"/>
                <a:ea typeface="Calibri" pitchFamily="34" charset="-122"/>
                <a:cs typeface="Calibri" pitchFamily="34" charset="-120"/>
              </a:rPr>
              <a:t>puis TP4, partie 4</a:t>
            </a:r>
            <a:endParaRPr lang="en-US" sz="1300" dirty="0"/>
          </a:p>
        </p:txBody>
      </p:sp>
      <p:sp>
        <p:nvSpPr>
          <p:cNvPr id="27" name="Shape 25"/>
          <p:cNvSpPr/>
          <p:nvPr/>
        </p:nvSpPr>
        <p:spPr>
          <a:xfrm>
            <a:off x="10621997" y="1828800"/>
            <a:ext cx="457200" cy="457200"/>
          </a:xfrm>
          <a:prstGeom prst="ellipse">
            <a:avLst/>
          </a:prstGeom>
          <a:solidFill>
            <a:srgbClr val="2F7D62"/>
          </a:solidFill>
          <a:ln/>
        </p:spPr>
      </p:sp>
      <p:sp>
        <p:nvSpPr>
          <p:cNvPr id="28" name="Text 26"/>
          <p:cNvSpPr txBox="1"/>
          <p:nvPr/>
        </p:nvSpPr>
        <p:spPr>
          <a:xfrm>
            <a:off x="10621997" y="182880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6</a:t>
            </a:r>
            <a:endParaRPr lang="en-US" sz="1500" dirty="0"/>
          </a:p>
        </p:txBody>
      </p:sp>
      <p:sp>
        <p:nvSpPr>
          <p:cNvPr id="29" name="Text 27"/>
          <p:cNvSpPr txBox="1"/>
          <p:nvPr/>
        </p:nvSpPr>
        <p:spPr>
          <a:xfrm>
            <a:off x="10103859" y="2423160"/>
            <a:ext cx="1493476" cy="502920"/>
          </a:xfrm>
          <a:prstGeom prst="rect">
            <a:avLst/>
          </a:prstGeom>
          <a:noFill/>
          <a:ln/>
        </p:spPr>
        <p:txBody>
          <a:bodyPr wrap="square" lIns="0" tIns="0" rIns="0" bIns="0" rtlCol="0" anchor="t"/>
          <a:lstStyle/>
          <a:p>
            <a:pPr algn="ctr" indent="0" marL="0">
              <a:buNone/>
            </a:pPr>
            <a:r>
              <a:rPr lang="en-US" sz="1400" b="1" dirty="0">
                <a:solidFill>
                  <a:srgbClr val="1F3A5F"/>
                </a:solidFill>
                <a:latin typeface="Calibri" pitchFamily="34" charset="0"/>
                <a:ea typeface="Calibri" pitchFamily="34" charset="-122"/>
                <a:cs typeface="Calibri" pitchFamily="34" charset="-120"/>
              </a:rPr>
              <a:t>Tableau de bord</a:t>
            </a:r>
            <a:endParaRPr lang="en-US" sz="1400" dirty="0"/>
          </a:p>
        </p:txBody>
      </p:sp>
      <p:sp>
        <p:nvSpPr>
          <p:cNvPr id="30" name="Text 28"/>
          <p:cNvSpPr txBox="1"/>
          <p:nvPr/>
        </p:nvSpPr>
        <p:spPr>
          <a:xfrm>
            <a:off x="10103859" y="2926080"/>
            <a:ext cx="1493476" cy="685800"/>
          </a:xfrm>
          <a:prstGeom prst="rect">
            <a:avLst/>
          </a:prstGeom>
          <a:noFill/>
          <a:ln/>
        </p:spPr>
        <p:txBody>
          <a:bodyPr wrap="square" lIns="0" tIns="0" rIns="0" bIns="0" rtlCol="0" anchor="t"/>
          <a:lstStyle/>
          <a:p>
            <a:pPr algn="ctr" indent="0" marL="0">
              <a:buNone/>
            </a:pPr>
            <a:r>
              <a:rPr lang="en-US" sz="1300" dirty="0">
                <a:solidFill>
                  <a:srgbClr val="6B7280"/>
                </a:solidFill>
                <a:latin typeface="Calibri" pitchFamily="34" charset="0"/>
                <a:ea typeface="Calibri" pitchFamily="34" charset="-122"/>
                <a:cs typeface="Calibri" pitchFamily="34" charset="-120"/>
              </a:rPr>
              <a:t>puis TP4, partie 5</a:t>
            </a:r>
            <a:endParaRPr lang="en-US" sz="1300" dirty="0"/>
          </a:p>
        </p:txBody>
      </p:sp>
      <p:sp>
        <p:nvSpPr>
          <p:cNvPr id="31" name="Shape 29"/>
          <p:cNvSpPr/>
          <p:nvPr/>
        </p:nvSpPr>
        <p:spPr>
          <a:xfrm>
            <a:off x="548640" y="3657600"/>
            <a:ext cx="3515258" cy="1600200"/>
          </a:xfrm>
          <a:prstGeom prst="roundRect">
            <a:avLst>
              <a:gd name="adj" fmla="val 4571"/>
            </a:avLst>
          </a:prstGeom>
          <a:solidFill>
            <a:srgbClr val="EEF3F7"/>
          </a:solidFill>
          <a:ln/>
        </p:spPr>
      </p:sp>
      <p:sp>
        <p:nvSpPr>
          <p:cNvPr id="32" name="Text 30"/>
          <p:cNvSpPr txBox="1"/>
          <p:nvPr/>
        </p:nvSpPr>
        <p:spPr>
          <a:xfrm>
            <a:off x="777240" y="3840480"/>
            <a:ext cx="3058058" cy="777240"/>
          </a:xfrm>
          <a:prstGeom prst="rect">
            <a:avLst/>
          </a:prstGeom>
          <a:noFill/>
          <a:ln/>
        </p:spPr>
        <p:txBody>
          <a:bodyPr wrap="square" lIns="0" tIns="0" rIns="0" bIns="0" rtlCol="0" anchor="ctr"/>
          <a:lstStyle/>
          <a:p>
            <a:pPr indent="0" marL="0">
              <a:buNone/>
            </a:pPr>
            <a:r>
              <a:rPr lang="en-US" sz="4000" b="1" dirty="0">
                <a:solidFill>
                  <a:srgbClr val="1F3A5F"/>
                </a:solidFill>
                <a:latin typeface="Cambria" pitchFamily="34" charset="0"/>
                <a:ea typeface="Cambria" pitchFamily="34" charset="-122"/>
                <a:cs typeface="Cambria" pitchFamily="34" charset="-120"/>
              </a:rPr>
              <a:t>13h30</a:t>
            </a:r>
            <a:endParaRPr lang="en-US" sz="4000" dirty="0"/>
          </a:p>
        </p:txBody>
      </p:sp>
      <p:sp>
        <p:nvSpPr>
          <p:cNvPr id="33" name="Text 31"/>
          <p:cNvSpPr txBox="1"/>
          <p:nvPr/>
        </p:nvSpPr>
        <p:spPr>
          <a:xfrm>
            <a:off x="777240" y="4663440"/>
            <a:ext cx="3058058" cy="457200"/>
          </a:xfrm>
          <a:prstGeom prst="rect">
            <a:avLst/>
          </a:prstGeom>
          <a:noFill/>
          <a:ln/>
        </p:spPr>
        <p:txBody>
          <a:bodyPr wrap="square" lIns="0" tIns="0" rIns="0" bIns="0" rtlCol="0" anchor="t"/>
          <a:lstStyle/>
          <a:p>
            <a:pPr indent="0" marL="0">
              <a:buNone/>
            </a:pPr>
            <a:r>
              <a:rPr lang="en-US" sz="1500" dirty="0">
                <a:solidFill>
                  <a:srgbClr val="6B7280"/>
                </a:solidFill>
                <a:latin typeface="Calibri" pitchFamily="34" charset="0"/>
                <a:ea typeface="Calibri" pitchFamily="34" charset="-122"/>
                <a:cs typeface="Calibri" pitchFamily="34" charset="-120"/>
              </a:rPr>
              <a:t>début</a:t>
            </a:r>
            <a:endParaRPr lang="en-US" sz="1500" dirty="0"/>
          </a:p>
        </p:txBody>
      </p:sp>
      <p:sp>
        <p:nvSpPr>
          <p:cNvPr id="34" name="Shape 32"/>
          <p:cNvSpPr/>
          <p:nvPr/>
        </p:nvSpPr>
        <p:spPr>
          <a:xfrm>
            <a:off x="4338218" y="3657600"/>
            <a:ext cx="3515258" cy="1600200"/>
          </a:xfrm>
          <a:prstGeom prst="roundRect">
            <a:avLst>
              <a:gd name="adj" fmla="val 4571"/>
            </a:avLst>
          </a:prstGeom>
          <a:solidFill>
            <a:srgbClr val="EEF3F7"/>
          </a:solidFill>
          <a:ln/>
        </p:spPr>
      </p:sp>
      <p:sp>
        <p:nvSpPr>
          <p:cNvPr id="35" name="Text 33"/>
          <p:cNvSpPr txBox="1"/>
          <p:nvPr/>
        </p:nvSpPr>
        <p:spPr>
          <a:xfrm>
            <a:off x="4566818" y="3840480"/>
            <a:ext cx="3058058" cy="777240"/>
          </a:xfrm>
          <a:prstGeom prst="rect">
            <a:avLst/>
          </a:prstGeom>
          <a:noFill/>
          <a:ln/>
        </p:spPr>
        <p:txBody>
          <a:bodyPr wrap="square" lIns="0" tIns="0" rIns="0" bIns="0" rtlCol="0" anchor="ctr"/>
          <a:lstStyle/>
          <a:p>
            <a:pPr indent="0" marL="0">
              <a:buNone/>
            </a:pPr>
            <a:r>
              <a:rPr lang="en-US" sz="4000" b="1" dirty="0">
                <a:solidFill>
                  <a:srgbClr val="1F3A5F"/>
                </a:solidFill>
                <a:latin typeface="Cambria" pitchFamily="34" charset="0"/>
                <a:ea typeface="Cambria" pitchFamily="34" charset="-122"/>
                <a:cs typeface="Cambria" pitchFamily="34" charset="-120"/>
              </a:rPr>
              <a:t>15h00</a:t>
            </a:r>
            <a:endParaRPr lang="en-US" sz="4000" dirty="0"/>
          </a:p>
        </p:txBody>
      </p:sp>
      <p:sp>
        <p:nvSpPr>
          <p:cNvPr id="36" name="Text 34"/>
          <p:cNvSpPr txBox="1"/>
          <p:nvPr/>
        </p:nvSpPr>
        <p:spPr>
          <a:xfrm>
            <a:off x="4566818" y="4663440"/>
            <a:ext cx="3058058" cy="457200"/>
          </a:xfrm>
          <a:prstGeom prst="rect">
            <a:avLst/>
          </a:prstGeom>
          <a:noFill/>
          <a:ln/>
        </p:spPr>
        <p:txBody>
          <a:bodyPr wrap="square" lIns="0" tIns="0" rIns="0" bIns="0" rtlCol="0" anchor="t"/>
          <a:lstStyle/>
          <a:p>
            <a:pPr indent="0" marL="0">
              <a:buNone/>
            </a:pPr>
            <a:r>
              <a:rPr lang="en-US" sz="1500" dirty="0">
                <a:solidFill>
                  <a:srgbClr val="6B7280"/>
                </a:solidFill>
                <a:latin typeface="Calibri" pitchFamily="34" charset="0"/>
                <a:ea typeface="Calibri" pitchFamily="34" charset="-122"/>
                <a:cs typeface="Calibri" pitchFamily="34" charset="-120"/>
              </a:rPr>
              <a:t>pause</a:t>
            </a:r>
            <a:endParaRPr lang="en-US" sz="1500" dirty="0"/>
          </a:p>
        </p:txBody>
      </p:sp>
      <p:sp>
        <p:nvSpPr>
          <p:cNvPr id="37" name="Shape 35"/>
          <p:cNvSpPr/>
          <p:nvPr/>
        </p:nvSpPr>
        <p:spPr>
          <a:xfrm>
            <a:off x="8127797" y="3657600"/>
            <a:ext cx="3515258" cy="1600200"/>
          </a:xfrm>
          <a:prstGeom prst="roundRect">
            <a:avLst>
              <a:gd name="adj" fmla="val 4571"/>
            </a:avLst>
          </a:prstGeom>
          <a:solidFill>
            <a:srgbClr val="EEF3F7"/>
          </a:solidFill>
          <a:ln/>
        </p:spPr>
      </p:sp>
      <p:sp>
        <p:nvSpPr>
          <p:cNvPr id="38" name="Text 36"/>
          <p:cNvSpPr txBox="1"/>
          <p:nvPr/>
        </p:nvSpPr>
        <p:spPr>
          <a:xfrm>
            <a:off x="8356397" y="3840480"/>
            <a:ext cx="3058058" cy="777240"/>
          </a:xfrm>
          <a:prstGeom prst="rect">
            <a:avLst/>
          </a:prstGeom>
          <a:noFill/>
          <a:ln/>
        </p:spPr>
        <p:txBody>
          <a:bodyPr wrap="square" lIns="0" tIns="0" rIns="0" bIns="0" rtlCol="0" anchor="ctr"/>
          <a:lstStyle/>
          <a:p>
            <a:pPr indent="0" marL="0">
              <a:buNone/>
            </a:pPr>
            <a:r>
              <a:rPr lang="en-US" sz="4000" b="1" dirty="0">
                <a:solidFill>
                  <a:srgbClr val="1F3A5F"/>
                </a:solidFill>
                <a:latin typeface="Cambria" pitchFamily="34" charset="0"/>
                <a:ea typeface="Cambria" pitchFamily="34" charset="-122"/>
                <a:cs typeface="Cambria" pitchFamily="34" charset="-120"/>
              </a:rPr>
              <a:t>17h00</a:t>
            </a:r>
            <a:endParaRPr lang="en-US" sz="4000" dirty="0"/>
          </a:p>
        </p:txBody>
      </p:sp>
      <p:sp>
        <p:nvSpPr>
          <p:cNvPr id="39" name="Text 37"/>
          <p:cNvSpPr txBox="1"/>
          <p:nvPr/>
        </p:nvSpPr>
        <p:spPr>
          <a:xfrm>
            <a:off x="8356397" y="4663440"/>
            <a:ext cx="3058058" cy="457200"/>
          </a:xfrm>
          <a:prstGeom prst="rect">
            <a:avLst/>
          </a:prstGeom>
          <a:noFill/>
          <a:ln/>
        </p:spPr>
        <p:txBody>
          <a:bodyPr wrap="square" lIns="0" tIns="0" rIns="0" bIns="0" rtlCol="0" anchor="t"/>
          <a:lstStyle/>
          <a:p>
            <a:pPr indent="0" marL="0">
              <a:buNone/>
            </a:pPr>
            <a:r>
              <a:rPr lang="en-US" sz="1500" dirty="0">
                <a:solidFill>
                  <a:srgbClr val="6B7280"/>
                </a:solidFill>
                <a:latin typeface="Calibri" pitchFamily="34" charset="0"/>
                <a:ea typeface="Calibri" pitchFamily="34" charset="-122"/>
                <a:cs typeface="Calibri" pitchFamily="34" charset="-120"/>
              </a:rPr>
              <a:t>fin</a:t>
            </a:r>
            <a:endParaRPr lang="en-US" sz="1500" dirty="0"/>
          </a:p>
        </p:txBody>
      </p:sp>
      <p:sp>
        <p:nvSpPr>
          <p:cNvPr id="40" name="Shape 38"/>
          <p:cNvSpPr/>
          <p:nvPr/>
        </p:nvSpPr>
        <p:spPr>
          <a:xfrm>
            <a:off x="548640" y="5577840"/>
            <a:ext cx="11094415" cy="624840"/>
          </a:xfrm>
          <a:prstGeom prst="roundRect">
            <a:avLst>
              <a:gd name="adj" fmla="val 8780"/>
            </a:avLst>
          </a:prstGeom>
          <a:solidFill>
            <a:srgbClr val="E8F3EE"/>
          </a:solidFill>
          <a:ln/>
        </p:spPr>
      </p:sp>
      <p:sp>
        <p:nvSpPr>
          <p:cNvPr id="41" name="Text 39"/>
          <p:cNvSpPr txBox="1"/>
          <p:nvPr/>
        </p:nvSpPr>
        <p:spPr>
          <a:xfrm>
            <a:off x="822960" y="5577840"/>
            <a:ext cx="10545775" cy="624840"/>
          </a:xfrm>
          <a:prstGeom prst="rect">
            <a:avLst/>
          </a:prstGeom>
          <a:noFill/>
          <a:ln/>
        </p:spPr>
        <p:txBody>
          <a:bodyPr wrap="square" lIns="0" tIns="0" rIns="0" bIns="0" rtlCol="0" anchor="ctr"/>
          <a:lstStyle/>
          <a:p>
            <a:pPr indent="0" marL="0">
              <a:buNone/>
            </a:pPr>
            <a:r>
              <a:rPr lang="en-US" sz="1700" dirty="0">
                <a:solidFill>
                  <a:srgbClr val="1F3A5F"/>
                </a:solidFill>
                <a:latin typeface="Calibri" pitchFamily="34" charset="0"/>
                <a:ea typeface="Calibri" pitchFamily="34" charset="-122"/>
                <a:cs typeface="Calibri" pitchFamily="34" charset="-120"/>
              </a:rPr>
              <a:t>Objectif : un tableau de bord de graphiques clairs, qui portent chacun un message.</a:t>
            </a:r>
            <a:endParaRPr lang="en-US" sz="1700" dirty="0"/>
          </a:p>
        </p:txBody>
      </p:sp>
      <p:sp>
        <p:nvSpPr>
          <p:cNvPr id="42" name="Text 40"/>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Analyse de données avec Python   |   Jour 2, après-midi</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F3A5F"/>
        </a:solidFill>
      </p:bgPr>
    </p:bg>
    <p:spTree>
      <p:nvGrpSpPr>
        <p:cNvPr id="1" name=""/>
        <p:cNvGrpSpPr/>
        <p:nvPr/>
      </p:nvGrpSpPr>
      <p:grpSpPr>
        <a:xfrm>
          <a:off x="0" y="0"/>
          <a:ext cx="0" cy="0"/>
          <a:chOff x="0" y="0"/>
          <a:chExt cx="0" cy="0"/>
        </a:xfrm>
      </p:grpSpPr>
      <p:sp>
        <p:nvSpPr>
          <p:cNvPr id="2" name="Text 0"/>
          <p:cNvSpPr txBox="1"/>
          <p:nvPr/>
        </p:nvSpPr>
        <p:spPr>
          <a:xfrm>
            <a:off x="731520" y="1737360"/>
            <a:ext cx="2743200" cy="1188720"/>
          </a:xfrm>
          <a:prstGeom prst="rect">
            <a:avLst/>
          </a:prstGeom>
          <a:noFill/>
          <a:ln/>
        </p:spPr>
        <p:txBody>
          <a:bodyPr wrap="square" lIns="0" tIns="0" rIns="0" bIns="0" rtlCol="0" anchor="ctr"/>
          <a:lstStyle/>
          <a:p>
            <a:pPr indent="0" marL="0">
              <a:buNone/>
            </a:pPr>
            <a:r>
              <a:rPr lang="en-US" sz="8000" b="1" dirty="0">
                <a:solidFill>
                  <a:srgbClr val="8FD1B5"/>
                </a:solidFill>
                <a:latin typeface="Cambria" pitchFamily="34" charset="0"/>
                <a:ea typeface="Cambria" pitchFamily="34" charset="-122"/>
                <a:cs typeface="Cambria" pitchFamily="34" charset="-120"/>
              </a:rPr>
              <a:t>01</a:t>
            </a:r>
            <a:endParaRPr lang="en-US" sz="8000" dirty="0"/>
          </a:p>
        </p:txBody>
      </p:sp>
      <p:sp>
        <p:nvSpPr>
          <p:cNvPr id="3" name="Text 1"/>
          <p:cNvSpPr txBox="1"/>
          <p:nvPr/>
        </p:nvSpPr>
        <p:spPr>
          <a:xfrm>
            <a:off x="731520" y="3017520"/>
            <a:ext cx="10515600" cy="822960"/>
          </a:xfrm>
          <a:prstGeom prst="rect">
            <a:avLst/>
          </a:prstGeom>
          <a:noFill/>
          <a:ln/>
        </p:spPr>
        <p:txBody>
          <a:bodyPr wrap="square" lIns="0" tIns="0" rIns="0" bIns="0" rtlCol="0" anchor="t"/>
          <a:lstStyle/>
          <a:p>
            <a:pPr indent="0" marL="0">
              <a:buNone/>
            </a:pPr>
            <a:r>
              <a:rPr lang="en-US" sz="4000" b="1" dirty="0">
                <a:solidFill>
                  <a:srgbClr val="FFFFFF"/>
                </a:solidFill>
                <a:latin typeface="Cambria" pitchFamily="34" charset="0"/>
                <a:ea typeface="Cambria" pitchFamily="34" charset="-122"/>
                <a:cs typeface="Cambria" pitchFamily="34" charset="-120"/>
              </a:rPr>
              <a:t>Les données et l'environnement</a:t>
            </a:r>
            <a:endParaRPr lang="en-US" sz="4000" dirty="0"/>
          </a:p>
        </p:txBody>
      </p:sp>
      <p:sp>
        <p:nvSpPr>
          <p:cNvPr id="4" name="Text 2"/>
          <p:cNvSpPr txBox="1"/>
          <p:nvPr/>
        </p:nvSpPr>
        <p:spPr>
          <a:xfrm>
            <a:off x="731520" y="3977640"/>
            <a:ext cx="10515600" cy="548640"/>
          </a:xfrm>
          <a:prstGeom prst="rect">
            <a:avLst/>
          </a:prstGeom>
          <a:noFill/>
          <a:ln/>
        </p:spPr>
        <p:txBody>
          <a:bodyPr wrap="square" lIns="0" tIns="0" rIns="0" bIns="0" rtlCol="0" anchor="t"/>
          <a:lstStyle/>
          <a:p>
            <a:pPr indent="0" marL="0">
              <a:buNone/>
            </a:pPr>
            <a:r>
              <a:rPr lang="en-US" sz="2000" dirty="0">
                <a:solidFill>
                  <a:srgbClr val="C9D6E3"/>
                </a:solidFill>
                <a:latin typeface="Calibri" pitchFamily="34" charset="0"/>
                <a:ea typeface="Calibri" pitchFamily="34" charset="-122"/>
                <a:cs typeface="Calibri" pitchFamily="34" charset="-120"/>
              </a:rPr>
              <a:t>Deux tables   |   Trois bibliothèques   |   Deux agrégats</a:t>
            </a:r>
            <a:endParaRPr lang="en-US" sz="2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66928"/>
            <a:ext cx="475488" cy="475488"/>
          </a:xfrm>
          <a:prstGeom prst="ellipse">
            <a:avLst/>
          </a:prstGeom>
          <a:solidFill>
            <a:srgbClr val="2F7D62"/>
          </a:solidFill>
          <a:ln/>
        </p:spPr>
      </p:sp>
      <p:sp>
        <p:nvSpPr>
          <p:cNvPr id="3" name="Text 1"/>
          <p:cNvSpPr txBox="1"/>
          <p:nvPr/>
        </p:nvSpPr>
        <p:spPr>
          <a:xfrm>
            <a:off x="548640" y="566928"/>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4" name="Text 2"/>
          <p:cNvSpPr txBox="1"/>
          <p:nvPr/>
        </p:nvSpPr>
        <p:spPr>
          <a:xfrm>
            <a:off x="1280160" y="164592"/>
            <a:ext cx="10362895" cy="274320"/>
          </a:xfrm>
          <a:prstGeom prst="rect">
            <a:avLst/>
          </a:prstGeom>
          <a:noFill/>
          <a:ln/>
        </p:spPr>
        <p:txBody>
          <a:bodyPr wrap="square" lIns="0" tIns="0" rIns="0" bIns="0" rtlCol="0" anchor="ctr"/>
          <a:lstStyle/>
          <a:p>
            <a:pPr indent="0" marL="0">
              <a:buNone/>
            </a:pPr>
            <a:r>
              <a:rPr lang="en-US" sz="1200" b="1" spc="200" kern="0" dirty="0">
                <a:solidFill>
                  <a:srgbClr val="2F7D62"/>
                </a:solidFill>
                <a:latin typeface="Calibri" pitchFamily="34" charset="0"/>
                <a:ea typeface="Calibri" pitchFamily="34" charset="-122"/>
                <a:cs typeface="Calibri" pitchFamily="34" charset="-120"/>
              </a:rPr>
              <a:t>LES DONNÉES ET L'ENVIRONNEMENT</a:t>
            </a:r>
            <a:endParaRPr lang="en-US" sz="1200" dirty="0"/>
          </a:p>
        </p:txBody>
      </p:sp>
      <p:sp>
        <p:nvSpPr>
          <p:cNvPr id="5" name="Text 3"/>
          <p:cNvSpPr txBox="1"/>
          <p:nvPr/>
        </p:nvSpPr>
        <p:spPr>
          <a:xfrm>
            <a:off x="1280160" y="457200"/>
            <a:ext cx="10362895" cy="694944"/>
          </a:xfrm>
          <a:prstGeom prst="rect">
            <a:avLst/>
          </a:prstGeom>
          <a:noFill/>
          <a:ln/>
        </p:spPr>
        <p:txBody>
          <a:bodyPr wrap="square" lIns="0" tIns="0" rIns="0" bIns="0" rtlCol="0" anchor="ctr"/>
          <a:lstStyle/>
          <a:p>
            <a:pPr indent="0" marL="0">
              <a:buNone/>
            </a:pPr>
            <a:r>
              <a:rPr lang="en-US" sz="3000" b="1" dirty="0">
                <a:solidFill>
                  <a:srgbClr val="1F3A5F"/>
                </a:solidFill>
                <a:latin typeface="Cambria" pitchFamily="34" charset="0"/>
                <a:ea typeface="Cambria" pitchFamily="34" charset="-122"/>
                <a:cs typeface="Cambria" pitchFamily="34" charset="-120"/>
              </a:rPr>
              <a:t>Les données et l'environnement</a:t>
            </a:r>
            <a:endParaRPr lang="en-US" sz="30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5318608" cy="914400"/>
        </p:xfrm>
        <a:graphic>
          <a:graphicData uri="http://schemas.openxmlformats.org/drawingml/2006/table">
            <a:tbl>
              <a:tblPr/>
              <a:tblGrid>
                <a:gridCol w="3191165"/>
                <a:gridCol w="2127443"/>
              </a:tblGrid>
              <a:tr h="365379">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Fichier</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1F3A5F"/>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Sert à</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1F3A5F"/>
                    </a:solidFill>
                  </a:tcPr>
                </a:tc>
              </a:tr>
              <a:tr h="584454">
                <a:tc>
                  <a:txBody>
                    <a:bodyPr/>
                    <a:lstStyle/>
                    <a:p>
                      <a:pPr indent="0" marL="0">
                        <a:buNone/>
                      </a:pPr>
                      <a:r>
                        <a:rPr lang="en-US" sz="1500" dirty="0">
                          <a:solidFill>
                            <a:srgbClr val="1F3A5F"/>
                          </a:solidFill>
                          <a:latin typeface="Courier New" pitchFamily="34" charset="0"/>
                          <a:ea typeface="Courier New" pitchFamily="34" charset="-122"/>
                          <a:cs typeface="Courier New" pitchFamily="34" charset="-120"/>
                        </a:rPr>
                        <a:t>indicateurs_mois_region.parquet</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500" dirty="0">
                          <a:solidFill>
                            <a:srgbClr val="1F2933"/>
                          </a:solidFill>
                          <a:latin typeface="Calibri" pitchFamily="34" charset="0"/>
                          <a:ea typeface="Calibri" pitchFamily="34" charset="-122"/>
                          <a:cs typeface="Calibri" pitchFamily="34" charset="-120"/>
                        </a:rPr>
                        <a:t>évolutions et comparaisons</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r>
              <a:tr h="365379">
                <a:tc>
                  <a:txBody>
                    <a:bodyPr/>
                    <a:lstStyle/>
                    <a:p>
                      <a:pPr indent="0" marL="0">
                        <a:buNone/>
                      </a:pPr>
                      <a:r>
                        <a:rPr lang="en-US" sz="1500" dirty="0">
                          <a:solidFill>
                            <a:srgbClr val="1F3A5F"/>
                          </a:solidFill>
                          <a:latin typeface="Courier New" pitchFamily="34" charset="0"/>
                          <a:ea typeface="Courier New" pitchFamily="34" charset="-122"/>
                          <a:cs typeface="Courier New" pitchFamily="34" charset="-120"/>
                        </a:rPr>
                        <a:t>ventes_consolidees.parquet</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7F9FB"/>
                    </a:solidFill>
                  </a:tcPr>
                </a:tc>
                <a:tc>
                  <a:txBody>
                    <a:bodyPr/>
                    <a:lstStyle/>
                    <a:p>
                      <a:pPr indent="0" marL="0">
                        <a:buNone/>
                      </a:pPr>
                      <a:r>
                        <a:rPr lang="en-US" sz="1500" dirty="0">
                          <a:solidFill>
                            <a:srgbClr val="1F2933"/>
                          </a:solidFill>
                          <a:latin typeface="Calibri" pitchFamily="34" charset="0"/>
                          <a:ea typeface="Calibri" pitchFamily="34" charset="-122"/>
                          <a:cs typeface="Calibri" pitchFamily="34" charset="-120"/>
                        </a:rPr>
                        <a:t>distributions</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7F9FB"/>
                    </a:solidFill>
                  </a:tcPr>
                </a:tc>
              </a:tr>
            </a:tbl>
          </a:graphicData>
        </a:graphic>
      </p:graphicFrame>
      <p:sp>
        <p:nvSpPr>
          <p:cNvPr id="7" name="Shape 4"/>
          <p:cNvSpPr/>
          <p:nvPr/>
        </p:nvSpPr>
        <p:spPr>
          <a:xfrm>
            <a:off x="548640" y="3052572"/>
            <a:ext cx="5318608" cy="1641348"/>
          </a:xfrm>
          <a:prstGeom prst="rect">
            <a:avLst/>
          </a:prstGeom>
          <a:solidFill>
            <a:srgbClr val="F3F4F6"/>
          </a:solidFill>
          <a:ln/>
        </p:spPr>
      </p:sp>
      <p:sp>
        <p:nvSpPr>
          <p:cNvPr id="8" name="Text 5"/>
          <p:cNvSpPr txBox="1"/>
          <p:nvPr/>
        </p:nvSpPr>
        <p:spPr>
          <a:xfrm>
            <a:off x="731520" y="3198876"/>
            <a:ext cx="4952848" cy="1348740"/>
          </a:xfrm>
          <a:prstGeom prst="rect">
            <a:avLst/>
          </a:prstGeom>
          <a:noFill/>
          <a:ln/>
        </p:spPr>
        <p:txBody>
          <a:bodyPr wrap="square" lIns="0" tIns="0" rIns="0" bIns="0" rtlCol="0" anchor="t"/>
          <a:lstStyle/>
          <a:p>
            <a:pPr indent="0" marL="0">
              <a:lnSpc>
                <a:spcPct val="100000"/>
              </a:lnSpc>
              <a:buNone/>
            </a:pPr>
            <a:r>
              <a:rPr lang="en-US" sz="1500" dirty="0">
                <a:solidFill>
                  <a:srgbClr val="1F2933"/>
                </a:solidFill>
                <a:latin typeface="Courier New" pitchFamily="34" charset="0"/>
                <a:ea typeface="Courier New" pitchFamily="34" charset="-122"/>
                <a:cs typeface="Courier New" pitchFamily="34" charset="-120"/>
              </a:rPr>
              <a:t>from pathlib import Path</a:t>
            </a:r>
            <a:endParaRPr lang="en-US" sz="1500" dirty="0"/>
          </a:p>
          <a:p>
            <a:pPr indent="0" marL="0">
              <a:lnSpc>
                <a:spcPct val="100000"/>
              </a:lnSpc>
              <a:buNone/>
            </a:pPr>
            <a:r>
              <a:rPr lang="en-US" sz="1500" dirty="0">
                <a:solidFill>
                  <a:srgbClr val="1F2933"/>
                </a:solidFill>
                <a:latin typeface="Courier New" pitchFamily="34" charset="0"/>
                <a:ea typeface="Courier New" pitchFamily="34" charset="-122"/>
                <a:cs typeface="Courier New" pitchFamily="34" charset="-120"/>
              </a:rPr>
              <a:t> </a:t>
            </a:r>
            <a:endParaRPr lang="en-US" sz="1500" dirty="0"/>
          </a:p>
          <a:p>
            <a:pPr indent="0" marL="0">
              <a:lnSpc>
                <a:spcPct val="100000"/>
              </a:lnSpc>
              <a:buNone/>
            </a:pPr>
            <a:r>
              <a:rPr lang="en-US" sz="1500" dirty="0">
                <a:solidFill>
                  <a:srgbClr val="1F2933"/>
                </a:solidFill>
                <a:latin typeface="Courier New" pitchFamily="34" charset="0"/>
                <a:ea typeface="Courier New" pitchFamily="34" charset="-122"/>
                <a:cs typeface="Courier New" pitchFamily="34" charset="-120"/>
              </a:rPr>
              <a:t>import matplotlib.pyplot as plt</a:t>
            </a:r>
            <a:endParaRPr lang="en-US" sz="1500" dirty="0"/>
          </a:p>
          <a:p>
            <a:pPr indent="0" marL="0">
              <a:lnSpc>
                <a:spcPct val="100000"/>
              </a:lnSpc>
              <a:buNone/>
            </a:pPr>
            <a:r>
              <a:rPr lang="en-US" sz="1500" dirty="0">
                <a:solidFill>
                  <a:srgbClr val="1F2933"/>
                </a:solidFill>
                <a:latin typeface="Courier New" pitchFamily="34" charset="0"/>
                <a:ea typeface="Courier New" pitchFamily="34" charset="-122"/>
                <a:cs typeface="Courier New" pitchFamily="34" charset="-120"/>
              </a:rPr>
              <a:t>import pandas as pd</a:t>
            </a:r>
            <a:endParaRPr lang="en-US" sz="1500" dirty="0"/>
          </a:p>
          <a:p>
            <a:pPr indent="0" marL="0">
              <a:lnSpc>
                <a:spcPct val="100000"/>
              </a:lnSpc>
              <a:buNone/>
            </a:pPr>
            <a:r>
              <a:rPr lang="en-US" sz="1500" dirty="0">
                <a:solidFill>
                  <a:srgbClr val="1F2933"/>
                </a:solidFill>
                <a:latin typeface="Courier New" pitchFamily="34" charset="0"/>
                <a:ea typeface="Courier New" pitchFamily="34" charset="-122"/>
                <a:cs typeface="Courier New" pitchFamily="34" charset="-120"/>
              </a:rPr>
              <a:t>import plotly.express as px</a:t>
            </a:r>
            <a:endParaRPr lang="en-US" sz="1500" dirty="0"/>
          </a:p>
          <a:p>
            <a:pPr indent="0" marL="0">
              <a:lnSpc>
                <a:spcPct val="100000"/>
              </a:lnSpc>
              <a:buNone/>
            </a:pPr>
            <a:r>
              <a:rPr lang="en-US" sz="1500" dirty="0">
                <a:solidFill>
                  <a:srgbClr val="1F2933"/>
                </a:solidFill>
                <a:latin typeface="Courier New" pitchFamily="34" charset="0"/>
                <a:ea typeface="Courier New" pitchFamily="34" charset="-122"/>
                <a:cs typeface="Courier New" pitchFamily="34" charset="-120"/>
              </a:rPr>
              <a:t>import seaborn as sns</a:t>
            </a:r>
            <a:endParaRPr lang="en-US" sz="1500" dirty="0"/>
          </a:p>
        </p:txBody>
      </p:sp>
      <p:sp>
        <p:nvSpPr>
          <p:cNvPr id="9" name="Text 6"/>
          <p:cNvSpPr txBox="1"/>
          <p:nvPr/>
        </p:nvSpPr>
        <p:spPr>
          <a:xfrm>
            <a:off x="548640" y="5013960"/>
            <a:ext cx="5318608" cy="624840"/>
          </a:xfrm>
          <a:prstGeom prst="rect">
            <a:avLst/>
          </a:prstGeom>
          <a:noFill/>
          <a:ln/>
        </p:spPr>
        <p:txBody>
          <a:bodyPr wrap="square" lIns="0" tIns="0" rIns="0" bIns="0" rtlCol="0" anchor="t"/>
          <a:lstStyle/>
          <a:p>
            <a:pPr indent="0" marL="0">
              <a:buNone/>
            </a:pPr>
            <a:r>
              <a:rPr lang="en-US" sz="1600" dirty="0">
                <a:solidFill>
                  <a:srgbClr val="6B7280"/>
                </a:solidFill>
                <a:latin typeface="Calibri" pitchFamily="34" charset="0"/>
                <a:ea typeface="Calibri" pitchFamily="34" charset="-122"/>
                <a:cs typeface="Calibri" pitchFamily="34" charset="-120"/>
              </a:rPr>
              <a:t>Grâce au Parquet, les dates sont déjà des dates : aucune conversion à refaire.</a:t>
            </a:r>
            <a:endParaRPr lang="en-US" sz="1600" dirty="0"/>
          </a:p>
        </p:txBody>
      </p:sp>
      <p:sp>
        <p:nvSpPr>
          <p:cNvPr id="10" name="Text 7"/>
          <p:cNvSpPr txBox="1"/>
          <p:nvPr/>
        </p:nvSpPr>
        <p:spPr>
          <a:xfrm>
            <a:off x="6324448" y="1417320"/>
            <a:ext cx="5318608" cy="256032"/>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Trois bibliothèques à ajouter</a:t>
            </a:r>
            <a:endParaRPr lang="en-US" sz="1200" dirty="0"/>
          </a:p>
        </p:txBody>
      </p:sp>
      <p:sp>
        <p:nvSpPr>
          <p:cNvPr id="11" name="Shape 8"/>
          <p:cNvSpPr/>
          <p:nvPr/>
        </p:nvSpPr>
        <p:spPr>
          <a:xfrm>
            <a:off x="6324448" y="1709928"/>
            <a:ext cx="5318608" cy="682244"/>
          </a:xfrm>
          <a:prstGeom prst="rect">
            <a:avLst/>
          </a:prstGeom>
          <a:solidFill>
            <a:srgbClr val="F3F4F6"/>
          </a:solidFill>
          <a:ln/>
        </p:spPr>
      </p:sp>
      <p:sp>
        <p:nvSpPr>
          <p:cNvPr id="12" name="Text 9"/>
          <p:cNvSpPr txBox="1"/>
          <p:nvPr/>
        </p:nvSpPr>
        <p:spPr>
          <a:xfrm>
            <a:off x="6507328" y="1856232"/>
            <a:ext cx="4952848" cy="389636"/>
          </a:xfrm>
          <a:prstGeom prst="rect">
            <a:avLst/>
          </a:prstGeom>
          <a:noFill/>
          <a:ln/>
        </p:spPr>
        <p:txBody>
          <a:bodyPr wrap="square" lIns="0" tIns="0" rIns="0" bIns="0" rtlCol="0" anchor="t"/>
          <a:lstStyle/>
          <a:p>
            <a:pPr indent="0" marL="0">
              <a:lnSpc>
                <a:spcPct val="100000"/>
              </a:lnSpc>
              <a:buNone/>
            </a:pPr>
            <a:r>
              <a:rPr lang="en-US" sz="1300" dirty="0">
                <a:solidFill>
                  <a:srgbClr val="1F2933"/>
                </a:solidFill>
                <a:latin typeface="Courier New" pitchFamily="34" charset="0"/>
                <a:ea typeface="Courier New" pitchFamily="34" charset="-122"/>
                <a:cs typeface="Courier New" pitchFamily="34" charset="-120"/>
              </a:rPr>
              <a:t>python -m pip install matplotlib seaborn plotly</a:t>
            </a:r>
            <a:endParaRPr lang="en-US" sz="1300" dirty="0"/>
          </a:p>
          <a:p>
            <a:pPr indent="0" marL="0">
              <a:lnSpc>
                <a:spcPct val="100000"/>
              </a:lnSpc>
              <a:buNone/>
            </a:pPr>
            <a:r>
              <a:rPr lang="en-US" sz="1300" dirty="0">
                <a:solidFill>
                  <a:srgbClr val="1F2933"/>
                </a:solidFill>
                <a:latin typeface="Courier New" pitchFamily="34" charset="0"/>
                <a:ea typeface="Courier New" pitchFamily="34" charset="-122"/>
                <a:cs typeface="Courier New" pitchFamily="34" charset="-120"/>
              </a:rPr>
              <a:t>python -m pip freeze &gt; requirements.txt</a:t>
            </a:r>
            <a:endParaRPr lang="en-US" sz="1300" dirty="0"/>
          </a:p>
        </p:txBody>
      </p:sp>
      <p:sp>
        <p:nvSpPr>
          <p:cNvPr id="13" name="Text 10"/>
          <p:cNvSpPr txBox="1"/>
          <p:nvPr/>
        </p:nvSpPr>
        <p:spPr>
          <a:xfrm>
            <a:off x="6324448" y="2712212"/>
            <a:ext cx="5318608" cy="256032"/>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Deux agrégats qui reviennent tout l'après-midi</a:t>
            </a:r>
            <a:endParaRPr lang="en-US" sz="1200" dirty="0"/>
          </a:p>
        </p:txBody>
      </p:sp>
      <p:sp>
        <p:nvSpPr>
          <p:cNvPr id="14" name="Shape 11"/>
          <p:cNvSpPr/>
          <p:nvPr/>
        </p:nvSpPr>
        <p:spPr>
          <a:xfrm>
            <a:off x="6324448" y="3004820"/>
            <a:ext cx="5318608" cy="877062"/>
          </a:xfrm>
          <a:prstGeom prst="rect">
            <a:avLst/>
          </a:prstGeom>
          <a:solidFill>
            <a:srgbClr val="F3F4F6"/>
          </a:solidFill>
          <a:ln/>
        </p:spPr>
      </p:sp>
      <p:sp>
        <p:nvSpPr>
          <p:cNvPr id="15" name="Text 12"/>
          <p:cNvSpPr txBox="1"/>
          <p:nvPr/>
        </p:nvSpPr>
        <p:spPr>
          <a:xfrm>
            <a:off x="6507328" y="3151124"/>
            <a:ext cx="4952848" cy="584454"/>
          </a:xfrm>
          <a:prstGeom prst="rect">
            <a:avLst/>
          </a:prstGeom>
          <a:noFill/>
          <a:ln/>
        </p:spPr>
        <p:txBody>
          <a:bodyPr wrap="square" lIns="0" tIns="0" rIns="0" bIns="0" rtlCol="0" anchor="t"/>
          <a:lstStyle/>
          <a:p>
            <a:pPr indent="0" marL="0">
              <a:lnSpc>
                <a:spcPct val="100000"/>
              </a:lnSpc>
              <a:buNone/>
            </a:pPr>
            <a:r>
              <a:rPr lang="en-US" sz="1300" dirty="0">
                <a:solidFill>
                  <a:srgbClr val="1F2933"/>
                </a:solidFill>
                <a:latin typeface="Courier New" pitchFamily="34" charset="0"/>
                <a:ea typeface="Courier New" pitchFamily="34" charset="-122"/>
                <a:cs typeface="Courier New" pitchFamily="34" charset="-120"/>
              </a:rPr>
              <a:t>mensuel = indicateurs.groupby("mois")["ca"].sum()</a:t>
            </a:r>
            <a:endParaRPr lang="en-US" sz="1300" dirty="0"/>
          </a:p>
          <a:p>
            <a:pPr indent="0" marL="0">
              <a:lnSpc>
                <a:spcPct val="100000"/>
              </a:lnSpc>
              <a:buNone/>
            </a:pPr>
            <a:r>
              <a:rPr lang="en-US" sz="1300" dirty="0">
                <a:solidFill>
                  <a:srgbClr val="1F2933"/>
                </a:solidFill>
                <a:latin typeface="Courier New" pitchFamily="34" charset="0"/>
                <a:ea typeface="Courier New" pitchFamily="34" charset="-122"/>
                <a:cs typeface="Courier New" pitchFamily="34" charset="-120"/>
              </a:rPr>
              <a:t>par_region = (indicateurs.groupby("region")["ca"]</a:t>
            </a:r>
            <a:endParaRPr lang="en-US" sz="1300" dirty="0"/>
          </a:p>
          <a:p>
            <a:pPr indent="0" marL="0">
              <a:lnSpc>
                <a:spcPct val="100000"/>
              </a:lnSpc>
              <a:buNone/>
            </a:pPr>
            <a:r>
              <a:rPr lang="en-US" sz="1300" dirty="0">
                <a:solidFill>
                  <a:srgbClr val="1F2933"/>
                </a:solidFill>
                <a:latin typeface="Courier New" pitchFamily="34" charset="0"/>
                <a:ea typeface="Courier New" pitchFamily="34" charset="-122"/>
                <a:cs typeface="Courier New" pitchFamily="34" charset="-120"/>
              </a:rPr>
              <a:t>              .sum().sort_values())</a:t>
            </a:r>
            <a:endParaRPr lang="en-US" sz="1300" dirty="0"/>
          </a:p>
        </p:txBody>
      </p:sp>
      <p:sp>
        <p:nvSpPr>
          <p:cNvPr id="16" name="Text 13"/>
          <p:cNvSpPr txBox="1"/>
          <p:nvPr/>
        </p:nvSpPr>
        <p:spPr>
          <a:xfrm>
            <a:off x="6324448" y="4201922"/>
            <a:ext cx="5318608" cy="868680"/>
          </a:xfrm>
          <a:prstGeom prst="rect">
            <a:avLst/>
          </a:prstGeom>
          <a:noFill/>
          <a:ln/>
        </p:spPr>
        <p:txBody>
          <a:bodyPr wrap="square" lIns="0" tIns="0" rIns="0" bIns="0" rtlCol="0" anchor="t"/>
          <a:lstStyle/>
          <a:p>
            <a:pPr indent="0" marL="0">
              <a:buNone/>
            </a:pPr>
            <a:r>
              <a:rPr lang="en-US" sz="1600" dirty="0">
                <a:solidFill>
                  <a:srgbClr val="1F3A5F"/>
                </a:solidFill>
                <a:latin typeface="Courier New" pitchFamily="34" charset="0"/>
                <a:ea typeface="Courier New" pitchFamily="34" charset="-122"/>
                <a:cs typeface="Courier New" pitchFamily="34" charset="-120"/>
              </a:rPr>
              <a:t>mensuel</a:t>
            </a:r>
            <a:pPr indent="0" marL="0">
              <a:buNone/>
            </a:pPr>
            <a:r>
              <a:rPr lang="en-US" sz="1600" dirty="0">
                <a:solidFill>
                  <a:srgbClr val="6B7280"/>
                </a:solidFill>
                <a:latin typeface="Calibri" pitchFamily="34" charset="0"/>
                <a:ea typeface="Calibri" pitchFamily="34" charset="-122"/>
                <a:cs typeface="Calibri" pitchFamily="34" charset="-120"/>
              </a:rPr>
              <a:t> : le chiffre d'affaires de chaque mois. </a:t>
            </a:r>
            <a:pPr indent="0" marL="0">
              <a:buNone/>
            </a:pPr>
            <a:r>
              <a:rPr lang="en-US" sz="1600" dirty="0">
                <a:solidFill>
                  <a:srgbClr val="1F3A5F"/>
                </a:solidFill>
                <a:latin typeface="Courier New" pitchFamily="34" charset="0"/>
                <a:ea typeface="Courier New" pitchFamily="34" charset="-122"/>
                <a:cs typeface="Courier New" pitchFamily="34" charset="-120"/>
              </a:rPr>
              <a:t>par_region</a:t>
            </a:r>
            <a:pPr indent="0" marL="0">
              <a:buNone/>
            </a:pPr>
            <a:r>
              <a:rPr lang="en-US" sz="1600" dirty="0">
                <a:solidFill>
                  <a:srgbClr val="6B7280"/>
                </a:solidFill>
                <a:latin typeface="Calibri" pitchFamily="34" charset="0"/>
                <a:ea typeface="Calibri" pitchFamily="34" charset="-122"/>
                <a:cs typeface="Calibri" pitchFamily="34" charset="-120"/>
              </a:rPr>
              <a:t> : celui de chaque région, trié par ordre croissant.</a:t>
            </a:r>
            <a:endParaRPr lang="en-US" sz="1600" dirty="0"/>
          </a:p>
        </p:txBody>
      </p:sp>
      <p:sp>
        <p:nvSpPr>
          <p:cNvPr id="17" name="Text 14"/>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Analyse de données avec Python   |   Jour 2, après-midi</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66928"/>
            <a:ext cx="475488" cy="475488"/>
          </a:xfrm>
          <a:prstGeom prst="ellipse">
            <a:avLst/>
          </a:prstGeom>
          <a:solidFill>
            <a:srgbClr val="2F7D62"/>
          </a:solidFill>
          <a:ln/>
        </p:spPr>
      </p:sp>
      <p:sp>
        <p:nvSpPr>
          <p:cNvPr id="3" name="Text 1"/>
          <p:cNvSpPr txBox="1"/>
          <p:nvPr/>
        </p:nvSpPr>
        <p:spPr>
          <a:xfrm>
            <a:off x="548640" y="566928"/>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4" name="Text 2"/>
          <p:cNvSpPr txBox="1"/>
          <p:nvPr/>
        </p:nvSpPr>
        <p:spPr>
          <a:xfrm>
            <a:off x="1280160" y="164592"/>
            <a:ext cx="10362895" cy="274320"/>
          </a:xfrm>
          <a:prstGeom prst="rect">
            <a:avLst/>
          </a:prstGeom>
          <a:noFill/>
          <a:ln/>
        </p:spPr>
        <p:txBody>
          <a:bodyPr wrap="square" lIns="0" tIns="0" rIns="0" bIns="0" rtlCol="0" anchor="ctr"/>
          <a:lstStyle/>
          <a:p>
            <a:pPr indent="0" marL="0">
              <a:buNone/>
            </a:pPr>
            <a:r>
              <a:rPr lang="en-US" sz="1200" b="1" spc="200" kern="0" dirty="0">
                <a:solidFill>
                  <a:srgbClr val="2F7D62"/>
                </a:solidFill>
                <a:latin typeface="Calibri" pitchFamily="34" charset="0"/>
                <a:ea typeface="Calibri" pitchFamily="34" charset="-122"/>
                <a:cs typeface="Calibri" pitchFamily="34" charset="-120"/>
              </a:rPr>
              <a:t>LES DONNÉES ET L'ENVIRONNEMENT</a:t>
            </a:r>
            <a:endParaRPr lang="en-US" sz="1200" dirty="0"/>
          </a:p>
        </p:txBody>
      </p:sp>
      <p:sp>
        <p:nvSpPr>
          <p:cNvPr id="5" name="Text 3"/>
          <p:cNvSpPr txBox="1"/>
          <p:nvPr/>
        </p:nvSpPr>
        <p:spPr>
          <a:xfrm>
            <a:off x="1280160" y="457200"/>
            <a:ext cx="10362895" cy="694944"/>
          </a:xfrm>
          <a:prstGeom prst="rect">
            <a:avLst/>
          </a:prstGeom>
          <a:noFill/>
          <a:ln/>
        </p:spPr>
        <p:txBody>
          <a:bodyPr wrap="square" lIns="0" tIns="0" rIns="0" bIns="0" rtlCol="0" anchor="ctr"/>
          <a:lstStyle/>
          <a:p>
            <a:pPr indent="0" marL="0">
              <a:buNone/>
            </a:pPr>
            <a:r>
              <a:rPr lang="en-US" sz="3000" b="1" dirty="0">
                <a:solidFill>
                  <a:srgbClr val="1F3A5F"/>
                </a:solidFill>
                <a:latin typeface="Cambria" pitchFamily="34" charset="0"/>
                <a:ea typeface="Cambria" pitchFamily="34" charset="-122"/>
                <a:cs typeface="Cambria" pitchFamily="34" charset="-120"/>
              </a:rPr>
              <a:t>Pratique : TP4, partie 0</a:t>
            </a:r>
            <a:endParaRPr lang="en-US" sz="3000" dirty="0"/>
          </a:p>
        </p:txBody>
      </p:sp>
      <p:sp>
        <p:nvSpPr>
          <p:cNvPr id="6" name="Text 4"/>
          <p:cNvSpPr txBox="1"/>
          <p:nvPr/>
        </p:nvSpPr>
        <p:spPr>
          <a:xfrm>
            <a:off x="548640" y="1417320"/>
            <a:ext cx="11094415" cy="411480"/>
          </a:xfrm>
          <a:prstGeom prst="rect">
            <a:avLst/>
          </a:prstGeom>
          <a:noFill/>
          <a:ln/>
        </p:spPr>
        <p:txBody>
          <a:bodyPr wrap="square" lIns="0" tIns="0" rIns="0" bIns="0" rtlCol="0" anchor="t"/>
          <a:lstStyle/>
          <a:p>
            <a:pPr indent="0" marL="0">
              <a:buNone/>
            </a:pPr>
            <a:r>
              <a:rPr lang="en-US" sz="1800" dirty="0">
                <a:solidFill>
                  <a:srgbClr val="6B7280"/>
                </a:solidFill>
                <a:latin typeface="Calibri" pitchFamily="34" charset="0"/>
                <a:ea typeface="Calibri" pitchFamily="34" charset="-122"/>
                <a:cs typeface="Calibri" pitchFamily="34" charset="-120"/>
              </a:rPr>
              <a:t>Dans exercices/tp04-tableau-de-bord/tp04.ipynb, à compléter au fil de l'après-midi</a:t>
            </a:r>
            <a:endParaRPr lang="en-US" sz="1800" dirty="0"/>
          </a:p>
        </p:txBody>
      </p:sp>
      <p:sp>
        <p:nvSpPr>
          <p:cNvPr id="7" name="Text 5"/>
          <p:cNvSpPr txBox="1"/>
          <p:nvPr/>
        </p:nvSpPr>
        <p:spPr>
          <a:xfrm>
            <a:off x="548640" y="2011680"/>
            <a:ext cx="5802117" cy="2204720"/>
          </a:xfrm>
          <a:prstGeom prst="rect">
            <a:avLst/>
          </a:prstGeom>
          <a:noFill/>
          <a:ln/>
        </p:spPr>
        <p:txBody>
          <a:bodyPr wrap="square" lIns="0" tIns="0" rIns="0" bIns="0" rtlCol="0" anchor="t"/>
          <a:lstStyle/>
          <a:p>
            <a:pPr marL="279400" indent="-279400">
              <a:spcAft>
                <a:spcPts val="800"/>
              </a:spcAft>
              <a:buSzPct val="100000"/>
              <a:buFont typeface="+mj-lt"/>
              <a:buAutoNum type="arabicPeriod" startAt="1"/>
            </a:pPr>
            <a:r>
              <a:rPr lang="en-US" sz="1600" dirty="0">
                <a:solidFill>
                  <a:srgbClr val="1F2933"/>
                </a:solidFill>
                <a:latin typeface="Calibri" pitchFamily="34" charset="0"/>
                <a:ea typeface="Calibri" pitchFamily="34" charset="-122"/>
                <a:cs typeface="Calibri" pitchFamily="34" charset="-120"/>
              </a:rPr>
              <a:t>Activer l'environnement, installer les trois bibliothèques, mettre à jour </a:t>
            </a:r>
            <a:pPr indent="0" marL="0">
              <a:buNone/>
            </a:pPr>
            <a:r>
              <a:rPr lang="en-US" sz="1600" dirty="0">
                <a:solidFill>
                  <a:srgbClr val="1F3A5F"/>
                </a:solidFill>
                <a:latin typeface="Courier New" pitchFamily="34" charset="0"/>
                <a:ea typeface="Courier New" pitchFamily="34" charset="-122"/>
                <a:cs typeface="Courier New" pitchFamily="34" charset="-120"/>
              </a:rPr>
              <a:t>requirements.txt</a:t>
            </a:r>
            <a:endParaRPr lang="en-US" sz="1600" dirty="0"/>
          </a:p>
          <a:p>
            <a:pPr marL="279400" indent="-279400">
              <a:spcAft>
                <a:spcPts val="800"/>
              </a:spcAft>
              <a:buSzPct val="100000"/>
              <a:buFont typeface="+mj-lt"/>
              <a:buAutoNum type="arabicPeriod" startAt="1"/>
            </a:pPr>
            <a:r>
              <a:rPr lang="en-US" sz="1600" dirty="0">
                <a:solidFill>
                  <a:srgbClr val="1F2933"/>
                </a:solidFill>
                <a:latin typeface="Calibri" pitchFamily="34" charset="0"/>
                <a:ea typeface="Calibri" pitchFamily="34" charset="-122"/>
                <a:cs typeface="Calibri" pitchFamily="34" charset="-120"/>
              </a:rPr>
              <a:t>Lancer </a:t>
            </a:r>
            <a:pPr indent="0" marL="0">
              <a:buNone/>
            </a:pPr>
            <a:r>
              <a:rPr lang="en-US" sz="1600" dirty="0">
                <a:solidFill>
                  <a:srgbClr val="1F3A5F"/>
                </a:solidFill>
                <a:latin typeface="Courier New" pitchFamily="34" charset="0"/>
                <a:ea typeface="Courier New" pitchFamily="34" charset="-122"/>
                <a:cs typeface="Courier New" pitchFamily="34" charset="-120"/>
              </a:rPr>
              <a:t>jupyter lab</a:t>
            </a:r>
            <a:pPr indent="0" marL="0">
              <a:buNone/>
            </a:pPr>
            <a:r>
              <a:rPr lang="en-US" sz="1600" dirty="0">
                <a:solidFill>
                  <a:srgbClr val="1F2933"/>
                </a:solidFill>
                <a:latin typeface="Calibri" pitchFamily="34" charset="0"/>
                <a:ea typeface="Calibri" pitchFamily="34" charset="-122"/>
                <a:cs typeface="Calibri" pitchFamily="34" charset="-120"/>
              </a:rPr>
              <a:t> dans le dossier du TP, exécuter la cellule de chargement</a:t>
            </a:r>
            <a:endParaRPr lang="en-US" sz="1600" dirty="0"/>
          </a:p>
          <a:p>
            <a:pPr marL="279400" indent="-279400">
              <a:spcAft>
                <a:spcPts val="800"/>
              </a:spcAft>
              <a:buSzPct val="100000"/>
              <a:buFont typeface="+mj-lt"/>
              <a:buAutoNum type="arabicPeriod" startAt="1"/>
            </a:pPr>
            <a:r>
              <a:rPr lang="en-US" sz="1600" dirty="0">
                <a:solidFill>
                  <a:srgbClr val="1F2933"/>
                </a:solidFill>
                <a:latin typeface="Calibri" pitchFamily="34" charset="0"/>
                <a:ea typeface="Calibri" pitchFamily="34" charset="-122"/>
                <a:cs typeface="Calibri" pitchFamily="34" charset="-120"/>
              </a:rPr>
              <a:t>Question 0.1 : dimensions, premier et dernier mois, liste des régions</a:t>
            </a:r>
            <a:endParaRPr lang="en-US" sz="1600" dirty="0"/>
          </a:p>
          <a:p>
            <a:pPr marL="279400" indent="-279400">
              <a:spcAft>
                <a:spcPts val="800"/>
              </a:spcAft>
              <a:buSzPct val="100000"/>
              <a:buFont typeface="+mj-lt"/>
              <a:buAutoNum type="arabicPeriod" startAt="1"/>
            </a:pPr>
            <a:r>
              <a:rPr lang="en-US" sz="1600" dirty="0">
                <a:solidFill>
                  <a:srgbClr val="1F2933"/>
                </a:solidFill>
                <a:latin typeface="Calibri" pitchFamily="34" charset="0"/>
                <a:ea typeface="Calibri" pitchFamily="34" charset="-122"/>
                <a:cs typeface="Calibri" pitchFamily="34" charset="-120"/>
              </a:rPr>
              <a:t>Question 0.2 : calculer </a:t>
            </a:r>
            <a:pPr indent="0" marL="0">
              <a:buNone/>
            </a:pPr>
            <a:r>
              <a:rPr lang="en-US" sz="1600" dirty="0">
                <a:solidFill>
                  <a:srgbClr val="1F3A5F"/>
                </a:solidFill>
                <a:latin typeface="Courier New" pitchFamily="34" charset="0"/>
                <a:ea typeface="Courier New" pitchFamily="34" charset="-122"/>
                <a:cs typeface="Courier New" pitchFamily="34" charset="-120"/>
              </a:rPr>
              <a:t>mensuel</a:t>
            </a:r>
            <a:pPr indent="0" marL="0">
              <a:buNone/>
            </a:pPr>
            <a:r>
              <a:rPr lang="en-US" sz="1600" dirty="0">
                <a:solidFill>
                  <a:srgbClr val="1F2933"/>
                </a:solidFill>
                <a:latin typeface="Calibri" pitchFamily="34" charset="0"/>
                <a:ea typeface="Calibri" pitchFamily="34" charset="-122"/>
                <a:cs typeface="Calibri" pitchFamily="34" charset="-120"/>
              </a:rPr>
              <a:t> et </a:t>
            </a:r>
            <a:pPr indent="0" marL="0">
              <a:buNone/>
            </a:pPr>
            <a:r>
              <a:rPr lang="en-US" sz="1600" dirty="0">
                <a:solidFill>
                  <a:srgbClr val="1F3A5F"/>
                </a:solidFill>
                <a:latin typeface="Courier New" pitchFamily="34" charset="0"/>
                <a:ea typeface="Courier New" pitchFamily="34" charset="-122"/>
                <a:cs typeface="Courier New" pitchFamily="34" charset="-120"/>
              </a:rPr>
              <a:t>par_region</a:t>
            </a:r>
            <a:endParaRPr lang="en-US" sz="1600" dirty="0"/>
          </a:p>
        </p:txBody>
      </p:sp>
      <p:sp>
        <p:nvSpPr>
          <p:cNvPr id="8" name="Shape 6"/>
          <p:cNvSpPr/>
          <p:nvPr/>
        </p:nvSpPr>
        <p:spPr>
          <a:xfrm>
            <a:off x="548640" y="4536440"/>
            <a:ext cx="5802117" cy="1051560"/>
          </a:xfrm>
          <a:prstGeom prst="roundRect">
            <a:avLst>
              <a:gd name="adj" fmla="val 5217"/>
            </a:avLst>
          </a:prstGeom>
          <a:solidFill>
            <a:srgbClr val="E8F3EE"/>
          </a:solidFill>
          <a:ln/>
        </p:spPr>
      </p:sp>
      <p:sp>
        <p:nvSpPr>
          <p:cNvPr id="9" name="Text 7"/>
          <p:cNvSpPr txBox="1"/>
          <p:nvPr/>
        </p:nvSpPr>
        <p:spPr>
          <a:xfrm>
            <a:off x="822960" y="4536440"/>
            <a:ext cx="5253477" cy="1051560"/>
          </a:xfrm>
          <a:prstGeom prst="rect">
            <a:avLst/>
          </a:prstGeom>
          <a:noFill/>
          <a:ln/>
        </p:spPr>
        <p:txBody>
          <a:bodyPr wrap="square" lIns="0" tIns="0" rIns="0" bIns="0" rtlCol="0" anchor="ctr"/>
          <a:lstStyle/>
          <a:p>
            <a:pPr indent="0" marL="0">
              <a:buNone/>
            </a:pPr>
            <a:r>
              <a:rPr lang="en-US" sz="1500" dirty="0">
                <a:solidFill>
                  <a:srgbClr val="1F3A5F"/>
                </a:solidFill>
                <a:latin typeface="Calibri" pitchFamily="34" charset="0"/>
                <a:ea typeface="Calibri" pitchFamily="34" charset="-122"/>
                <a:cs typeface="Calibri" pitchFamily="34" charset="-120"/>
              </a:rPr>
              <a:t>Dans tout le notebook : un </a:t>
            </a:r>
            <a:pPr indent="0" marL="0">
              <a:buNone/>
            </a:pPr>
            <a:r>
              <a:rPr lang="en-US" sz="1500" b="1" dirty="0">
                <a:solidFill>
                  <a:srgbClr val="1F3A5F"/>
                </a:solidFill>
                <a:latin typeface="Calibri" pitchFamily="34" charset="0"/>
                <a:ea typeface="Calibri" pitchFamily="34" charset="-122"/>
                <a:cs typeface="Calibri" pitchFamily="34" charset="-120"/>
              </a:rPr>
              <a:t>résultat attendu</a:t>
            </a:r>
            <a:pPr indent="0" marL="0">
              <a:buNone/>
            </a:pPr>
            <a:r>
              <a:rPr lang="en-US" sz="1500" dirty="0">
                <a:solidFill>
                  <a:srgbClr val="1F3A5F"/>
                </a:solidFill>
                <a:latin typeface="Calibri" pitchFamily="34" charset="0"/>
                <a:ea typeface="Calibri" pitchFamily="34" charset="-122"/>
                <a:cs typeface="Calibri" pitchFamily="34" charset="-120"/>
              </a:rPr>
              <a:t> par question, des cellules </a:t>
            </a:r>
            <a:pPr indent="0" marL="0">
              <a:buNone/>
            </a:pPr>
            <a:r>
              <a:rPr lang="en-US" sz="1500" dirty="0">
                <a:solidFill>
                  <a:srgbClr val="2F7D62"/>
                </a:solidFill>
                <a:latin typeface="Courier New" pitchFamily="34" charset="0"/>
                <a:ea typeface="Courier New" pitchFamily="34" charset="-122"/>
                <a:cs typeface="Courier New" pitchFamily="34" charset="-120"/>
              </a:rPr>
              <a:t># Vérification</a:t>
            </a:r>
            <a:pPr indent="0" marL="0">
              <a:buNone/>
            </a:pPr>
            <a:r>
              <a:rPr lang="en-US" sz="1500" dirty="0">
                <a:solidFill>
                  <a:srgbClr val="1F3A5F"/>
                </a:solidFill>
                <a:latin typeface="Calibri" pitchFamily="34" charset="0"/>
                <a:ea typeface="Calibri" pitchFamily="34" charset="-122"/>
                <a:cs typeface="Calibri" pitchFamily="34" charset="-120"/>
              </a:rPr>
              <a:t> qui affichent </a:t>
            </a:r>
            <a:pPr indent="0" marL="0">
              <a:buNone/>
            </a:pPr>
            <a:r>
              <a:rPr lang="en-US" sz="1500" dirty="0">
                <a:solidFill>
                  <a:srgbClr val="2F7D62"/>
                </a:solidFill>
                <a:latin typeface="Courier New" pitchFamily="34" charset="0"/>
                <a:ea typeface="Courier New" pitchFamily="34" charset="-122"/>
                <a:cs typeface="Courier New" pitchFamily="34" charset="-120"/>
              </a:rPr>
              <a:t>OK</a:t>
            </a:r>
            <a:pPr indent="0" marL="0">
              <a:buNone/>
            </a:pPr>
            <a:r>
              <a:rPr lang="en-US" sz="1500" dirty="0">
                <a:solidFill>
                  <a:srgbClr val="1F3A5F"/>
                </a:solidFill>
                <a:latin typeface="Calibri" pitchFamily="34" charset="0"/>
                <a:ea typeface="Calibri" pitchFamily="34" charset="-122"/>
                <a:cs typeface="Calibri" pitchFamily="34" charset="-120"/>
              </a:rPr>
              <a:t>, et des questions </a:t>
            </a:r>
            <a:pPr indent="0" marL="0">
              <a:buNone/>
            </a:pPr>
            <a:r>
              <a:rPr lang="en-US" sz="1500" b="1" dirty="0">
                <a:solidFill>
                  <a:srgbClr val="1F3A5F"/>
                </a:solidFill>
                <a:latin typeface="Calibri" pitchFamily="34" charset="0"/>
                <a:ea typeface="Calibri" pitchFamily="34" charset="-122"/>
                <a:cs typeface="Calibri" pitchFamily="34" charset="-120"/>
              </a:rPr>
              <a:t>Pour aller plus loin</a:t>
            </a:r>
            <a:pPr indent="0" marL="0">
              <a:buNone/>
            </a:pPr>
            <a:r>
              <a:rPr lang="en-US" sz="1500" dirty="0">
                <a:solidFill>
                  <a:srgbClr val="1F3A5F"/>
                </a:solidFill>
                <a:latin typeface="Calibri" pitchFamily="34" charset="0"/>
                <a:ea typeface="Calibri" pitchFamily="34" charset="-122"/>
                <a:cs typeface="Calibri" pitchFamily="34" charset="-120"/>
              </a:rPr>
              <a:t> facultatives.</a:t>
            </a:r>
            <a:endParaRPr lang="en-US" sz="1500" dirty="0"/>
          </a:p>
        </p:txBody>
      </p:sp>
      <p:sp>
        <p:nvSpPr>
          <p:cNvPr id="10" name="Text 8"/>
          <p:cNvSpPr txBox="1"/>
          <p:nvPr/>
        </p:nvSpPr>
        <p:spPr>
          <a:xfrm>
            <a:off x="6807957" y="2011680"/>
            <a:ext cx="4835098" cy="256032"/>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Résultat attendu de la question 0.2 : par_region</a:t>
            </a:r>
            <a:endParaRPr lang="en-US" sz="1200" dirty="0"/>
          </a:p>
        </p:txBody>
      </p:sp>
      <p:sp>
        <p:nvSpPr>
          <p:cNvPr id="11" name="Shape 9"/>
          <p:cNvSpPr/>
          <p:nvPr/>
        </p:nvSpPr>
        <p:spPr>
          <a:xfrm>
            <a:off x="6807957" y="2304288"/>
            <a:ext cx="4835098" cy="2090928"/>
          </a:xfrm>
          <a:prstGeom prst="rect">
            <a:avLst/>
          </a:prstGeom>
          <a:solidFill>
            <a:srgbClr val="FFFFFF"/>
          </a:solidFill>
          <a:ln w="12700">
            <a:solidFill>
              <a:srgbClr val="D5DCE3"/>
            </a:solidFill>
            <a:prstDash val="solid"/>
          </a:ln>
        </p:spPr>
      </p:sp>
      <p:sp>
        <p:nvSpPr>
          <p:cNvPr id="12" name="Text 10"/>
          <p:cNvSpPr txBox="1"/>
          <p:nvPr/>
        </p:nvSpPr>
        <p:spPr>
          <a:xfrm>
            <a:off x="6990837" y="2450592"/>
            <a:ext cx="4469338" cy="1798320"/>
          </a:xfrm>
          <a:prstGeom prst="rect">
            <a:avLst/>
          </a:prstGeom>
          <a:noFill/>
          <a:ln/>
        </p:spPr>
        <p:txBody>
          <a:bodyPr wrap="square" lIns="0" tIns="0" rIns="0" bIns="0" rtlCol="0" anchor="t"/>
          <a:lstStyle/>
          <a:p>
            <a:pPr indent="0" marL="0">
              <a:lnSpc>
                <a:spcPct val="100000"/>
              </a:lnSpc>
              <a:buNone/>
            </a:pPr>
            <a:r>
              <a:rPr lang="en-US" sz="1500" dirty="0">
                <a:solidFill>
                  <a:srgbClr val="1F2933"/>
                </a:solidFill>
                <a:latin typeface="Courier New" pitchFamily="34" charset="0"/>
                <a:ea typeface="Courier New" pitchFamily="34" charset="-122"/>
                <a:cs typeface="Courier New" pitchFamily="34" charset="-120"/>
              </a:rPr>
              <a:t>region</a:t>
            </a:r>
            <a:endParaRPr lang="en-US" sz="1500" dirty="0"/>
          </a:p>
          <a:p>
            <a:pPr indent="0" marL="0">
              <a:lnSpc>
                <a:spcPct val="100000"/>
              </a:lnSpc>
              <a:buNone/>
            </a:pPr>
            <a:r>
              <a:rPr lang="en-US" sz="1500" dirty="0">
                <a:solidFill>
                  <a:srgbClr val="1F2933"/>
                </a:solidFill>
                <a:latin typeface="Courier New" pitchFamily="34" charset="0"/>
                <a:ea typeface="Courier New" pitchFamily="34" charset="-122"/>
                <a:cs typeface="Courier New" pitchFamily="34" charset="-120"/>
              </a:rPr>
              <a:t>Bretagne                 41079.71</a:t>
            </a:r>
            <a:endParaRPr lang="en-US" sz="1500" dirty="0"/>
          </a:p>
          <a:p>
            <a:pPr indent="0" marL="0">
              <a:lnSpc>
                <a:spcPct val="100000"/>
              </a:lnSpc>
              <a:buNone/>
            </a:pPr>
            <a:r>
              <a:rPr lang="en-US" sz="1500" dirty="0">
                <a:solidFill>
                  <a:srgbClr val="1F2933"/>
                </a:solidFill>
                <a:latin typeface="Courier New" pitchFamily="34" charset="0"/>
                <a:ea typeface="Courier New" pitchFamily="34" charset="-122"/>
                <a:cs typeface="Courier New" pitchFamily="34" charset="-120"/>
              </a:rPr>
              <a:t>Occitanie                50318.18</a:t>
            </a:r>
            <a:endParaRPr lang="en-US" sz="1500" dirty="0"/>
          </a:p>
          <a:p>
            <a:pPr indent="0" marL="0">
              <a:lnSpc>
                <a:spcPct val="100000"/>
              </a:lnSpc>
              <a:buNone/>
            </a:pPr>
            <a:r>
              <a:rPr lang="en-US" sz="1500" dirty="0">
                <a:solidFill>
                  <a:srgbClr val="1F2933"/>
                </a:solidFill>
                <a:latin typeface="Courier New" pitchFamily="34" charset="0"/>
                <a:ea typeface="Courier New" pitchFamily="34" charset="-122"/>
                <a:cs typeface="Courier New" pitchFamily="34" charset="-120"/>
              </a:rPr>
              <a:t>Hauts-de-France          53467.33</a:t>
            </a:r>
            <a:endParaRPr lang="en-US" sz="1500" dirty="0"/>
          </a:p>
          <a:p>
            <a:pPr indent="0" marL="0">
              <a:lnSpc>
                <a:spcPct val="100000"/>
              </a:lnSpc>
              <a:buNone/>
            </a:pPr>
            <a:r>
              <a:rPr lang="en-US" sz="1500" dirty="0">
                <a:solidFill>
                  <a:srgbClr val="1F2933"/>
                </a:solidFill>
                <a:latin typeface="Courier New" pitchFamily="34" charset="0"/>
                <a:ea typeface="Courier New" pitchFamily="34" charset="-122"/>
                <a:cs typeface="Courier New" pitchFamily="34" charset="-120"/>
              </a:rPr>
              <a:t>Auvergne-Rhône-Alpes     64856.25</a:t>
            </a:r>
            <a:endParaRPr lang="en-US" sz="1500" dirty="0"/>
          </a:p>
          <a:p>
            <a:pPr indent="0" marL="0">
              <a:lnSpc>
                <a:spcPct val="100000"/>
              </a:lnSpc>
              <a:buNone/>
            </a:pPr>
            <a:r>
              <a:rPr lang="en-US" sz="1500" dirty="0">
                <a:solidFill>
                  <a:srgbClr val="1F2933"/>
                </a:solidFill>
                <a:latin typeface="Courier New" pitchFamily="34" charset="0"/>
                <a:ea typeface="Courier New" pitchFamily="34" charset="-122"/>
                <a:cs typeface="Courier New" pitchFamily="34" charset="-120"/>
              </a:rPr>
              <a:t>Nouvelle-Aquitaine       71843.18</a:t>
            </a:r>
            <a:endParaRPr lang="en-US" sz="1500" dirty="0"/>
          </a:p>
          <a:p>
            <a:pPr indent="0" marL="0">
              <a:lnSpc>
                <a:spcPct val="100000"/>
              </a:lnSpc>
              <a:buNone/>
            </a:pPr>
            <a:r>
              <a:rPr lang="en-US" sz="1500" dirty="0">
                <a:solidFill>
                  <a:srgbClr val="1F2933"/>
                </a:solidFill>
                <a:latin typeface="Courier New" pitchFamily="34" charset="0"/>
                <a:ea typeface="Courier New" pitchFamily="34" charset="-122"/>
                <a:cs typeface="Courier New" pitchFamily="34" charset="-120"/>
              </a:rPr>
              <a:t>Île-de-France           127936.94</a:t>
            </a:r>
            <a:endParaRPr lang="en-US" sz="1500" dirty="0"/>
          </a:p>
          <a:p>
            <a:pPr indent="0" marL="0">
              <a:lnSpc>
                <a:spcPct val="100000"/>
              </a:lnSpc>
              <a:buNone/>
            </a:pPr>
            <a:r>
              <a:rPr lang="en-US" sz="1500" dirty="0">
                <a:solidFill>
                  <a:srgbClr val="1F2933"/>
                </a:solidFill>
                <a:latin typeface="Courier New" pitchFamily="34" charset="0"/>
                <a:ea typeface="Courier New" pitchFamily="34" charset="-122"/>
                <a:cs typeface="Courier New" pitchFamily="34" charset="-120"/>
              </a:rPr>
              <a:t>Name: ca, dtype: float64</a:t>
            </a:r>
            <a:endParaRPr lang="en-US" sz="1500" dirty="0"/>
          </a:p>
        </p:txBody>
      </p:sp>
      <p:sp>
        <p:nvSpPr>
          <p:cNvPr id="13" name="Text 11"/>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Analyse de données avec Python   |   Jour 2, après-midi</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F3A5F"/>
        </a:solidFill>
      </p:bgPr>
    </p:bg>
    <p:spTree>
      <p:nvGrpSpPr>
        <p:cNvPr id="1" name=""/>
        <p:cNvGrpSpPr/>
        <p:nvPr/>
      </p:nvGrpSpPr>
      <p:grpSpPr>
        <a:xfrm>
          <a:off x="0" y="0"/>
          <a:ext cx="0" cy="0"/>
          <a:chOff x="0" y="0"/>
          <a:chExt cx="0" cy="0"/>
        </a:xfrm>
      </p:grpSpPr>
      <p:sp>
        <p:nvSpPr>
          <p:cNvPr id="2" name="Text 0"/>
          <p:cNvSpPr txBox="1"/>
          <p:nvPr/>
        </p:nvSpPr>
        <p:spPr>
          <a:xfrm>
            <a:off x="731520" y="1737360"/>
            <a:ext cx="2743200" cy="1188720"/>
          </a:xfrm>
          <a:prstGeom prst="rect">
            <a:avLst/>
          </a:prstGeom>
          <a:noFill/>
          <a:ln/>
        </p:spPr>
        <p:txBody>
          <a:bodyPr wrap="square" lIns="0" tIns="0" rIns="0" bIns="0" rtlCol="0" anchor="ctr"/>
          <a:lstStyle/>
          <a:p>
            <a:pPr indent="0" marL="0">
              <a:buNone/>
            </a:pPr>
            <a:r>
              <a:rPr lang="en-US" sz="8000" b="1" dirty="0">
                <a:solidFill>
                  <a:srgbClr val="8FD1B5"/>
                </a:solidFill>
                <a:latin typeface="Cambria" pitchFamily="34" charset="0"/>
                <a:ea typeface="Cambria" pitchFamily="34" charset="-122"/>
                <a:cs typeface="Cambria" pitchFamily="34" charset="-120"/>
              </a:rPr>
              <a:t>02</a:t>
            </a:r>
            <a:endParaRPr lang="en-US" sz="8000" dirty="0"/>
          </a:p>
        </p:txBody>
      </p:sp>
      <p:sp>
        <p:nvSpPr>
          <p:cNvPr id="3" name="Text 1"/>
          <p:cNvSpPr txBox="1"/>
          <p:nvPr/>
        </p:nvSpPr>
        <p:spPr>
          <a:xfrm>
            <a:off x="731520" y="3017520"/>
            <a:ext cx="10515600" cy="822960"/>
          </a:xfrm>
          <a:prstGeom prst="rect">
            <a:avLst/>
          </a:prstGeom>
          <a:noFill/>
          <a:ln/>
        </p:spPr>
        <p:txBody>
          <a:bodyPr wrap="square" lIns="0" tIns="0" rIns="0" bIns="0" rtlCol="0" anchor="t"/>
          <a:lstStyle/>
          <a:p>
            <a:pPr indent="0" marL="0">
              <a:buNone/>
            </a:pPr>
            <a:r>
              <a:rPr lang="en-US" sz="4000" b="1" dirty="0">
                <a:solidFill>
                  <a:srgbClr val="FFFFFF"/>
                </a:solidFill>
                <a:latin typeface="Cambria" pitchFamily="34" charset="0"/>
                <a:ea typeface="Cambria" pitchFamily="34" charset="-122"/>
                <a:cs typeface="Cambria" pitchFamily="34" charset="-120"/>
              </a:rPr>
              <a:t>matplotlib</a:t>
            </a:r>
            <a:endParaRPr lang="en-US" sz="4000" dirty="0"/>
          </a:p>
        </p:txBody>
      </p:sp>
      <p:sp>
        <p:nvSpPr>
          <p:cNvPr id="4" name="Text 2"/>
          <p:cNvSpPr txBox="1"/>
          <p:nvPr/>
        </p:nvSpPr>
        <p:spPr>
          <a:xfrm>
            <a:off x="731520" y="3977640"/>
            <a:ext cx="10515600" cy="548640"/>
          </a:xfrm>
          <a:prstGeom prst="rect">
            <a:avLst/>
          </a:prstGeom>
          <a:noFill/>
          <a:ln/>
        </p:spPr>
        <p:txBody>
          <a:bodyPr wrap="square" lIns="0" tIns="0" rIns="0" bIns="0" rtlCol="0" anchor="t"/>
          <a:lstStyle/>
          <a:p>
            <a:pPr indent="0" marL="0">
              <a:buNone/>
            </a:pPr>
            <a:r>
              <a:rPr lang="en-US" sz="2000" dirty="0">
                <a:solidFill>
                  <a:srgbClr val="C9D6E3"/>
                </a:solidFill>
                <a:latin typeface="Calibri" pitchFamily="34" charset="0"/>
                <a:ea typeface="Calibri" pitchFamily="34" charset="-122"/>
                <a:cs typeface="Calibri" pitchFamily="34" charset="-120"/>
              </a:rPr>
              <a:t>Anatomie   |   Tracés de base   |   Repères   |   Grilles   |   Inspection</a:t>
            </a:r>
            <a:endParaRPr lang="en-US" sz="2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66928"/>
            <a:ext cx="475488" cy="475488"/>
          </a:xfrm>
          <a:prstGeom prst="ellipse">
            <a:avLst/>
          </a:prstGeom>
          <a:solidFill>
            <a:srgbClr val="2F7D62"/>
          </a:solidFill>
          <a:ln/>
        </p:spPr>
      </p:sp>
      <p:sp>
        <p:nvSpPr>
          <p:cNvPr id="3" name="Text 1"/>
          <p:cNvSpPr txBox="1"/>
          <p:nvPr/>
        </p:nvSpPr>
        <p:spPr>
          <a:xfrm>
            <a:off x="548640" y="566928"/>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4" name="Text 2"/>
          <p:cNvSpPr txBox="1"/>
          <p:nvPr/>
        </p:nvSpPr>
        <p:spPr>
          <a:xfrm>
            <a:off x="1280160" y="164592"/>
            <a:ext cx="10362895" cy="274320"/>
          </a:xfrm>
          <a:prstGeom prst="rect">
            <a:avLst/>
          </a:prstGeom>
          <a:noFill/>
          <a:ln/>
        </p:spPr>
        <p:txBody>
          <a:bodyPr wrap="square" lIns="0" tIns="0" rIns="0" bIns="0" rtlCol="0" anchor="ctr"/>
          <a:lstStyle/>
          <a:p>
            <a:pPr indent="0" marL="0">
              <a:buNone/>
            </a:pPr>
            <a:r>
              <a:rPr lang="en-US" sz="1200" b="1" spc="200" kern="0" dirty="0">
                <a:solidFill>
                  <a:srgbClr val="2F7D62"/>
                </a:solidFill>
                <a:latin typeface="Calibri" pitchFamily="34" charset="0"/>
                <a:ea typeface="Calibri" pitchFamily="34" charset="-122"/>
                <a:cs typeface="Calibri" pitchFamily="34" charset="-120"/>
              </a:rPr>
              <a:t>MATPLOTLIB</a:t>
            </a:r>
            <a:endParaRPr lang="en-US" sz="1200" dirty="0"/>
          </a:p>
        </p:txBody>
      </p:sp>
      <p:sp>
        <p:nvSpPr>
          <p:cNvPr id="5" name="Text 3"/>
          <p:cNvSpPr txBox="1"/>
          <p:nvPr/>
        </p:nvSpPr>
        <p:spPr>
          <a:xfrm>
            <a:off x="1280160" y="457200"/>
            <a:ext cx="10362895" cy="694944"/>
          </a:xfrm>
          <a:prstGeom prst="rect">
            <a:avLst/>
          </a:prstGeom>
          <a:noFill/>
          <a:ln/>
        </p:spPr>
        <p:txBody>
          <a:bodyPr wrap="square" lIns="0" tIns="0" rIns="0" bIns="0" rtlCol="0" anchor="ctr"/>
          <a:lstStyle/>
          <a:p>
            <a:pPr indent="0" marL="0">
              <a:buNone/>
            </a:pPr>
            <a:r>
              <a:rPr lang="en-US" sz="3000" b="1" dirty="0">
                <a:solidFill>
                  <a:srgbClr val="1F3A5F"/>
                </a:solidFill>
                <a:latin typeface="Cambria" pitchFamily="34" charset="0"/>
                <a:ea typeface="Cambria" pitchFamily="34" charset="-122"/>
                <a:cs typeface="Cambria" pitchFamily="34" charset="-120"/>
              </a:rPr>
              <a:t>Anatomie d'une figure</a:t>
            </a:r>
            <a:endParaRPr lang="en-US" sz="3000" dirty="0"/>
          </a:p>
        </p:txBody>
      </p:sp>
      <p:pic>
        <p:nvPicPr>
          <p:cNvPr id="6" name="Image 0" descr="Graphique annoté montrant la figure, la zone de tracé, le titre, les axes et la légende">    </p:cNvPr>
          <p:cNvPicPr>
            <a:picLocks noChangeAspect="1"/>
          </p:cNvPicPr>
          <p:nvPr/>
        </p:nvPicPr>
        <p:blipFill>
          <a:blip r:embed="rId1"/>
          <a:stretch>
            <a:fillRect/>
          </a:stretch>
        </p:blipFill>
        <p:spPr>
          <a:xfrm>
            <a:off x="548640" y="1417320"/>
            <a:ext cx="6769137" cy="3766910"/>
          </a:xfrm>
          <a:prstGeom prst="rect">
            <a:avLst/>
          </a:prstGeom>
        </p:spPr>
      </p:pic>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7774977" y="1417320"/>
          <a:ext cx="3868078" cy="914400"/>
        </p:xfrm>
        <a:graphic>
          <a:graphicData uri="http://schemas.openxmlformats.org/drawingml/2006/table">
            <a:tbl>
              <a:tblPr/>
              <a:tblGrid>
                <a:gridCol w="1323290"/>
                <a:gridCol w="2544788"/>
              </a:tblGrid>
              <a:tr h="350774">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Élément</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1F3A5F"/>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Rôle</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1F3A5F"/>
                    </a:solidFill>
                  </a:tcPr>
                </a:tc>
              </a:tr>
              <a:tr h="350774">
                <a:tc>
                  <a:txBody>
                    <a:bodyPr/>
                    <a:lstStyle/>
                    <a:p>
                      <a:pPr indent="0" marL="0">
                        <a:buNone/>
                      </a:pPr>
                      <a:r>
                        <a:rPr lang="en-US" sz="1400" dirty="0">
                          <a:solidFill>
                            <a:srgbClr val="1F3A5F"/>
                          </a:solidFill>
                          <a:latin typeface="Courier New" pitchFamily="34" charset="0"/>
                          <a:ea typeface="Courier New" pitchFamily="34" charset="-122"/>
                          <a:cs typeface="Courier New" pitchFamily="34" charset="-120"/>
                        </a:rPr>
                        <a:t>Figure</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400" dirty="0">
                          <a:solidFill>
                            <a:srgbClr val="1F2933"/>
                          </a:solidFill>
                          <a:latin typeface="Calibri" pitchFamily="34" charset="0"/>
                          <a:ea typeface="Calibri" pitchFamily="34" charset="-122"/>
                          <a:cs typeface="Calibri" pitchFamily="34" charset="-120"/>
                        </a:rPr>
                        <a:t>l'image entière</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r>
              <a:tr h="555244">
                <a:tc>
                  <a:txBody>
                    <a:bodyPr/>
                    <a:lstStyle/>
                    <a:p>
                      <a:pPr indent="0" marL="0">
                        <a:buNone/>
                      </a:pPr>
                      <a:r>
                        <a:rPr lang="en-US" sz="1400" dirty="0">
                          <a:solidFill>
                            <a:srgbClr val="1F3A5F"/>
                          </a:solidFill>
                          <a:latin typeface="Courier New" pitchFamily="34" charset="0"/>
                          <a:ea typeface="Courier New" pitchFamily="34" charset="-122"/>
                          <a:cs typeface="Courier New" pitchFamily="34" charset="-120"/>
                        </a:rPr>
                        <a:t>Axes</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7F9FB"/>
                    </a:solidFill>
                  </a:tcPr>
                </a:tc>
                <a:tc>
                  <a:txBody>
                    <a:bodyPr/>
                    <a:lstStyle/>
                    <a:p>
                      <a:pPr indent="0" marL="0">
                        <a:buNone/>
                      </a:pPr>
                      <a:r>
                        <a:rPr lang="en-US" sz="1400" dirty="0">
                          <a:solidFill>
                            <a:srgbClr val="1F2933"/>
                          </a:solidFill>
                          <a:latin typeface="Calibri" pitchFamily="34" charset="0"/>
                          <a:ea typeface="Calibri" pitchFamily="34" charset="-122"/>
                          <a:cs typeface="Calibri" pitchFamily="34" charset="-120"/>
                        </a:rPr>
                        <a:t>une zone de tracé complète</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7F9FB"/>
                    </a:solidFill>
                  </a:tcPr>
                </a:tc>
              </a:tr>
              <a:tr h="350774">
                <a:tc>
                  <a:txBody>
                    <a:bodyPr/>
                    <a:lstStyle/>
                    <a:p>
                      <a:pPr indent="0" marL="0">
                        <a:buNone/>
                      </a:pPr>
                      <a:r>
                        <a:rPr lang="en-US" sz="1400" dirty="0">
                          <a:solidFill>
                            <a:srgbClr val="1F3A5F"/>
                          </a:solidFill>
                          <a:latin typeface="Courier New" pitchFamily="34" charset="0"/>
                          <a:ea typeface="Courier New" pitchFamily="34" charset="-122"/>
                          <a:cs typeface="Courier New" pitchFamily="34" charset="-120"/>
                        </a:rPr>
                        <a:t>Axis</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400" dirty="0">
                          <a:solidFill>
                            <a:srgbClr val="1F2933"/>
                          </a:solidFill>
                          <a:latin typeface="Calibri" pitchFamily="34" charset="0"/>
                          <a:ea typeface="Calibri" pitchFamily="34" charset="-122"/>
                          <a:cs typeface="Calibri" pitchFamily="34" charset="-120"/>
                        </a:rPr>
                        <a:t>un axe, x ou y</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r>
            </a:tbl>
          </a:graphicData>
        </a:graphic>
      </p:graphicFrame>
      <p:sp>
        <p:nvSpPr>
          <p:cNvPr id="8" name="Shape 4"/>
          <p:cNvSpPr/>
          <p:nvPr/>
        </p:nvSpPr>
        <p:spPr>
          <a:xfrm>
            <a:off x="7774977" y="3344926"/>
            <a:ext cx="3868078" cy="1051560"/>
          </a:xfrm>
          <a:prstGeom prst="roundRect">
            <a:avLst>
              <a:gd name="adj" fmla="val 5217"/>
            </a:avLst>
          </a:prstGeom>
          <a:solidFill>
            <a:srgbClr val="E8F3EE"/>
          </a:solidFill>
          <a:ln/>
        </p:spPr>
      </p:sp>
      <p:sp>
        <p:nvSpPr>
          <p:cNvPr id="9" name="Text 5"/>
          <p:cNvSpPr txBox="1"/>
          <p:nvPr/>
        </p:nvSpPr>
        <p:spPr>
          <a:xfrm>
            <a:off x="8049297" y="3344926"/>
            <a:ext cx="3319438" cy="1051560"/>
          </a:xfrm>
          <a:prstGeom prst="rect">
            <a:avLst/>
          </a:prstGeom>
          <a:noFill/>
          <a:ln/>
        </p:spPr>
        <p:txBody>
          <a:bodyPr wrap="square" lIns="0" tIns="0" rIns="0" bIns="0" rtlCol="0" anchor="ctr"/>
          <a:lstStyle/>
          <a:p>
            <a:pPr indent="0" marL="0">
              <a:buNone/>
            </a:pPr>
            <a:r>
              <a:rPr lang="en-US" sz="1500" dirty="0">
                <a:solidFill>
                  <a:srgbClr val="1F3A5F"/>
                </a:solidFill>
                <a:latin typeface="Calibri" pitchFamily="34" charset="0"/>
                <a:ea typeface="Calibri" pitchFamily="34" charset="-122"/>
                <a:cs typeface="Calibri" pitchFamily="34" charset="-120"/>
              </a:rPr>
              <a:t>Un </a:t>
            </a:r>
            <a:pPr indent="0" marL="0">
              <a:buNone/>
            </a:pPr>
            <a:r>
              <a:rPr lang="en-US" sz="1500" dirty="0">
                <a:solidFill>
                  <a:srgbClr val="2F7D62"/>
                </a:solidFill>
                <a:latin typeface="Courier New" pitchFamily="34" charset="0"/>
                <a:ea typeface="Courier New" pitchFamily="34" charset="-122"/>
                <a:cs typeface="Courier New" pitchFamily="34" charset="-120"/>
              </a:rPr>
              <a:t>Axes</a:t>
            </a:r>
            <a:pPr indent="0" marL="0">
              <a:buNone/>
            </a:pPr>
            <a:r>
              <a:rPr lang="en-US" sz="1500" dirty="0">
                <a:solidFill>
                  <a:srgbClr val="1F3A5F"/>
                </a:solidFill>
                <a:latin typeface="Calibri" pitchFamily="34" charset="0"/>
                <a:ea typeface="Calibri" pitchFamily="34" charset="-122"/>
                <a:cs typeface="Calibri" pitchFamily="34" charset="-120"/>
              </a:rPr>
              <a:t> est un graphique, pas un axe. Deux graphiques côte à côte : une </a:t>
            </a:r>
            <a:pPr indent="0" marL="0">
              <a:buNone/>
            </a:pPr>
            <a:r>
              <a:rPr lang="en-US" sz="1500" dirty="0">
                <a:solidFill>
                  <a:srgbClr val="2F7D62"/>
                </a:solidFill>
                <a:latin typeface="Courier New" pitchFamily="34" charset="0"/>
                <a:ea typeface="Courier New" pitchFamily="34" charset="-122"/>
                <a:cs typeface="Courier New" pitchFamily="34" charset="-120"/>
              </a:rPr>
              <a:t>Figure</a:t>
            </a:r>
            <a:pPr indent="0" marL="0">
              <a:buNone/>
            </a:pPr>
            <a:r>
              <a:rPr lang="en-US" sz="1500" dirty="0">
                <a:solidFill>
                  <a:srgbClr val="1F3A5F"/>
                </a:solidFill>
                <a:latin typeface="Calibri" pitchFamily="34" charset="0"/>
                <a:ea typeface="Calibri" pitchFamily="34" charset="-122"/>
                <a:cs typeface="Calibri" pitchFamily="34" charset="-120"/>
              </a:rPr>
              <a:t>, deux </a:t>
            </a:r>
            <a:pPr indent="0" marL="0">
              <a:buNone/>
            </a:pPr>
            <a:r>
              <a:rPr lang="en-US" sz="1500" dirty="0">
                <a:solidFill>
                  <a:srgbClr val="2F7D62"/>
                </a:solidFill>
                <a:latin typeface="Courier New" pitchFamily="34" charset="0"/>
                <a:ea typeface="Courier New" pitchFamily="34" charset="-122"/>
                <a:cs typeface="Courier New" pitchFamily="34" charset="-120"/>
              </a:rPr>
              <a:t>Axes</a:t>
            </a:r>
            <a:pPr indent="0" marL="0">
              <a:buNone/>
            </a:pPr>
            <a:r>
              <a:rPr lang="en-US" sz="1500" dirty="0">
                <a:solidFill>
                  <a:srgbClr val="1F3A5F"/>
                </a:solidFill>
                <a:latin typeface="Calibri" pitchFamily="34" charset="0"/>
                <a:ea typeface="Calibri" pitchFamily="34" charset="-122"/>
                <a:cs typeface="Calibri" pitchFamily="34" charset="-120"/>
              </a:rPr>
              <a:t>.</a:t>
            </a:r>
            <a:endParaRPr lang="en-US" sz="1500" dirty="0"/>
          </a:p>
        </p:txBody>
      </p:sp>
      <p:sp>
        <p:nvSpPr>
          <p:cNvPr id="10" name="Text 6"/>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Analyse de données avec Python   |   Jour 2, après-midi</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66928"/>
            <a:ext cx="475488" cy="475488"/>
          </a:xfrm>
          <a:prstGeom prst="ellipse">
            <a:avLst/>
          </a:prstGeom>
          <a:solidFill>
            <a:srgbClr val="2F7D62"/>
          </a:solidFill>
          <a:ln/>
        </p:spPr>
      </p:sp>
      <p:sp>
        <p:nvSpPr>
          <p:cNvPr id="3" name="Text 1"/>
          <p:cNvSpPr txBox="1"/>
          <p:nvPr/>
        </p:nvSpPr>
        <p:spPr>
          <a:xfrm>
            <a:off x="548640" y="566928"/>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4" name="Text 2"/>
          <p:cNvSpPr txBox="1"/>
          <p:nvPr/>
        </p:nvSpPr>
        <p:spPr>
          <a:xfrm>
            <a:off x="1280160" y="164592"/>
            <a:ext cx="10362895" cy="274320"/>
          </a:xfrm>
          <a:prstGeom prst="rect">
            <a:avLst/>
          </a:prstGeom>
          <a:noFill/>
          <a:ln/>
        </p:spPr>
        <p:txBody>
          <a:bodyPr wrap="square" lIns="0" tIns="0" rIns="0" bIns="0" rtlCol="0" anchor="ctr"/>
          <a:lstStyle/>
          <a:p>
            <a:pPr indent="0" marL="0">
              <a:buNone/>
            </a:pPr>
            <a:r>
              <a:rPr lang="en-US" sz="1200" b="1" spc="200" kern="0" dirty="0">
                <a:solidFill>
                  <a:srgbClr val="2F7D62"/>
                </a:solidFill>
                <a:latin typeface="Calibri" pitchFamily="34" charset="0"/>
                <a:ea typeface="Calibri" pitchFamily="34" charset="-122"/>
                <a:cs typeface="Calibri" pitchFamily="34" charset="-120"/>
              </a:rPr>
              <a:t>MATPLOTLIB</a:t>
            </a:r>
            <a:endParaRPr lang="en-US" sz="1200" dirty="0"/>
          </a:p>
        </p:txBody>
      </p:sp>
      <p:sp>
        <p:nvSpPr>
          <p:cNvPr id="5" name="Text 3"/>
          <p:cNvSpPr txBox="1"/>
          <p:nvPr/>
        </p:nvSpPr>
        <p:spPr>
          <a:xfrm>
            <a:off x="1280160" y="457200"/>
            <a:ext cx="10362895" cy="694944"/>
          </a:xfrm>
          <a:prstGeom prst="rect">
            <a:avLst/>
          </a:prstGeom>
          <a:noFill/>
          <a:ln/>
        </p:spPr>
        <p:txBody>
          <a:bodyPr wrap="square" lIns="0" tIns="0" rIns="0" bIns="0" rtlCol="0" anchor="ctr"/>
          <a:lstStyle/>
          <a:p>
            <a:pPr indent="0" marL="0">
              <a:buNone/>
            </a:pPr>
            <a:r>
              <a:rPr lang="en-US" sz="3000" b="1" dirty="0">
                <a:solidFill>
                  <a:srgbClr val="1F3A5F"/>
                </a:solidFill>
                <a:latin typeface="Cambria" pitchFamily="34" charset="0"/>
                <a:ea typeface="Cambria" pitchFamily="34" charset="-122"/>
                <a:cs typeface="Cambria" pitchFamily="34" charset="-120"/>
              </a:rPr>
              <a:t>Écrire avec des objets</a:t>
            </a:r>
            <a:endParaRPr lang="en-US" sz="3000" dirty="0"/>
          </a:p>
        </p:txBody>
      </p:sp>
      <p:sp>
        <p:nvSpPr>
          <p:cNvPr id="6" name="Shape 4"/>
          <p:cNvSpPr/>
          <p:nvPr/>
        </p:nvSpPr>
        <p:spPr>
          <a:xfrm>
            <a:off x="548640" y="1417320"/>
            <a:ext cx="5802117" cy="1191768"/>
          </a:xfrm>
          <a:prstGeom prst="rect">
            <a:avLst/>
          </a:prstGeom>
          <a:solidFill>
            <a:srgbClr val="F3F4F6"/>
          </a:solidFill>
          <a:ln/>
        </p:spPr>
      </p:sp>
      <p:sp>
        <p:nvSpPr>
          <p:cNvPr id="7" name="Text 5"/>
          <p:cNvSpPr txBox="1"/>
          <p:nvPr/>
        </p:nvSpPr>
        <p:spPr>
          <a:xfrm>
            <a:off x="731520" y="1563624"/>
            <a:ext cx="5436357" cy="899160"/>
          </a:xfrm>
          <a:prstGeom prst="rect">
            <a:avLst/>
          </a:prstGeom>
          <a:noFill/>
          <a:ln/>
        </p:spPr>
        <p:txBody>
          <a:bodyPr wrap="square" lIns="0" tIns="0" rIns="0" bIns="0" rtlCol="0" anchor="t"/>
          <a:lstStyle/>
          <a:p>
            <a:pPr indent="0" marL="0">
              <a:lnSpc>
                <a:spcPct val="100000"/>
              </a:lnSpc>
              <a:buNone/>
            </a:pPr>
            <a:r>
              <a:rPr lang="en-US" sz="1500" dirty="0">
                <a:solidFill>
                  <a:srgbClr val="6B7280"/>
                </a:solidFill>
                <a:latin typeface="Courier New" pitchFamily="34" charset="0"/>
                <a:ea typeface="Courier New" pitchFamily="34" charset="-122"/>
                <a:cs typeface="Courier New" pitchFamily="34" charset="-120"/>
              </a:rPr>
              <a:t># une figure de 8 pouces sur 4, un Axes</a:t>
            </a:r>
            <a:endParaRPr lang="en-US" sz="1500" dirty="0"/>
          </a:p>
          <a:p>
            <a:pPr indent="0" marL="0">
              <a:lnSpc>
                <a:spcPct val="100000"/>
              </a:lnSpc>
              <a:buNone/>
            </a:pPr>
            <a:r>
              <a:rPr lang="en-US" sz="1500" dirty="0">
                <a:solidFill>
                  <a:srgbClr val="1F2933"/>
                </a:solidFill>
                <a:latin typeface="Courier New" pitchFamily="34" charset="0"/>
                <a:ea typeface="Courier New" pitchFamily="34" charset="-122"/>
                <a:cs typeface="Courier New" pitchFamily="34" charset="-120"/>
              </a:rPr>
              <a:t>fig, ax = plt.subplots(figsize=(8, 4))</a:t>
            </a:r>
            <a:endParaRPr lang="en-US" sz="1500" dirty="0"/>
          </a:p>
          <a:p>
            <a:pPr indent="0" marL="0">
              <a:lnSpc>
                <a:spcPct val="100000"/>
              </a:lnSpc>
              <a:buNone/>
            </a:pPr>
            <a:r>
              <a:rPr lang="en-US" sz="1500" dirty="0">
                <a:solidFill>
                  <a:srgbClr val="1F2933"/>
                </a:solidFill>
                <a:latin typeface="Courier New" pitchFamily="34" charset="0"/>
                <a:ea typeface="Courier New" pitchFamily="34" charset="-122"/>
                <a:cs typeface="Courier New" pitchFamily="34" charset="-120"/>
              </a:rPr>
              <a:t>ax.plot(mensuel.index, mensuel.values)</a:t>
            </a:r>
            <a:endParaRPr lang="en-US" sz="1500" dirty="0"/>
          </a:p>
          <a:p>
            <a:pPr indent="0" marL="0">
              <a:lnSpc>
                <a:spcPct val="100000"/>
              </a:lnSpc>
              <a:buNone/>
            </a:pPr>
            <a:r>
              <a:rPr lang="en-US" sz="1500" dirty="0">
                <a:solidFill>
                  <a:srgbClr val="1F2933"/>
                </a:solidFill>
                <a:latin typeface="Courier New" pitchFamily="34" charset="0"/>
                <a:ea typeface="Courier New" pitchFamily="34" charset="-122"/>
                <a:cs typeface="Courier New" pitchFamily="34" charset="-120"/>
              </a:rPr>
              <a:t>ax.set_title("Chiffre d'affaires mensuel")</a:t>
            </a:r>
            <a:endParaRPr lang="en-US" sz="1500" dirty="0"/>
          </a:p>
        </p:txBody>
      </p:sp>
      <p:sp>
        <p:nvSpPr>
          <p:cNvPr id="8" name="Text 6"/>
          <p:cNvSpPr txBox="1"/>
          <p:nvPr/>
        </p:nvSpPr>
        <p:spPr>
          <a:xfrm>
            <a:off x="6807957" y="1417320"/>
            <a:ext cx="4835098" cy="2829560"/>
          </a:xfrm>
          <a:prstGeom prst="rect">
            <a:avLst/>
          </a:prstGeom>
          <a:noFill/>
          <a:ln/>
        </p:spPr>
        <p:txBody>
          <a:bodyPr wrap="square" lIns="0" tIns="0" rIns="0" bIns="0" rtlCol="0" anchor="t"/>
          <a:lstStyle/>
          <a:p>
            <a:pPr marL="254000" indent="-254000">
              <a:spcAft>
                <a:spcPts val="800"/>
              </a:spcAft>
              <a:buSzPct val="100000"/>
              <a:buChar char="•"/>
            </a:pPr>
            <a:r>
              <a:rPr lang="en-US" sz="1700" dirty="0">
                <a:solidFill>
                  <a:srgbClr val="1F3A5F"/>
                </a:solidFill>
                <a:latin typeface="Courier New" pitchFamily="34" charset="0"/>
                <a:ea typeface="Courier New" pitchFamily="34" charset="-122"/>
                <a:cs typeface="Courier New" pitchFamily="34" charset="-120"/>
              </a:rPr>
              <a:t>plt.subplots()</a:t>
            </a:r>
            <a:pPr indent="0" marL="0">
              <a:buNone/>
            </a:pPr>
            <a:r>
              <a:rPr lang="en-US" sz="1700" dirty="0">
                <a:solidFill>
                  <a:srgbClr val="1F2933"/>
                </a:solidFill>
                <a:latin typeface="Calibri" pitchFamily="34" charset="0"/>
                <a:ea typeface="Calibri" pitchFamily="34" charset="-122"/>
                <a:cs typeface="Calibri" pitchFamily="34" charset="-120"/>
              </a:rPr>
              <a:t> renvoie la figure et son </a:t>
            </a:r>
            <a:pPr indent="0" marL="0">
              <a:buNone/>
            </a:pPr>
            <a:r>
              <a:rPr lang="en-US" sz="1700" dirty="0">
                <a:solidFill>
                  <a:srgbClr val="1F3A5F"/>
                </a:solidFill>
                <a:latin typeface="Courier New" pitchFamily="34" charset="0"/>
                <a:ea typeface="Courier New" pitchFamily="34" charset="-122"/>
                <a:cs typeface="Courier New" pitchFamily="34" charset="-120"/>
              </a:rPr>
              <a:t>Axes</a:t>
            </a:r>
            <a:endParaRPr lang="en-US" sz="1700" dirty="0"/>
          </a:p>
          <a:p>
            <a:pPr marL="254000" indent="-254000">
              <a:spcAft>
                <a:spcPts val="800"/>
              </a:spcAft>
              <a:buSzPct val="100000"/>
              <a:buChar char="•"/>
            </a:pPr>
            <a:r>
              <a:rPr lang="en-US" sz="1700" dirty="0">
                <a:solidFill>
                  <a:srgbClr val="1F2933"/>
                </a:solidFill>
                <a:latin typeface="Calibri" pitchFamily="34" charset="0"/>
                <a:ea typeface="Calibri" pitchFamily="34" charset="-122"/>
                <a:cs typeface="Calibri" pitchFamily="34" charset="-120"/>
              </a:rPr>
              <a:t>On agit ensuite sur </a:t>
            </a:r>
            <a:pPr indent="0" marL="0">
              <a:buNone/>
            </a:pPr>
            <a:r>
              <a:rPr lang="en-US" sz="1700" dirty="0">
                <a:solidFill>
                  <a:srgbClr val="1F3A5F"/>
                </a:solidFill>
                <a:latin typeface="Courier New" pitchFamily="34" charset="0"/>
                <a:ea typeface="Courier New" pitchFamily="34" charset="-122"/>
                <a:cs typeface="Courier New" pitchFamily="34" charset="-120"/>
              </a:rPr>
              <a:t>ax</a:t>
            </a:r>
            <a:pPr indent="0" marL="0">
              <a:buNone/>
            </a:pPr>
            <a:r>
              <a:rPr lang="en-US" sz="1700" dirty="0">
                <a:solidFill>
                  <a:srgbClr val="1F2933"/>
                </a:solidFill>
                <a:latin typeface="Calibri" pitchFamily="34" charset="0"/>
                <a:ea typeface="Calibri" pitchFamily="34" charset="-122"/>
                <a:cs typeface="Calibri" pitchFamily="34" charset="-120"/>
              </a:rPr>
              <a:t> : claire, cette écriture reste lisible avec plusieurs graphiques</a:t>
            </a:r>
            <a:endParaRPr lang="en-US" sz="1700" dirty="0"/>
          </a:p>
          <a:p>
            <a:pPr marL="254000" indent="-254000">
              <a:spcAft>
                <a:spcPts val="800"/>
              </a:spcAft>
              <a:buSzPct val="100000"/>
              <a:buChar char="•"/>
            </a:pPr>
            <a:r>
              <a:rPr lang="en-US" sz="1700" dirty="0">
                <a:solidFill>
                  <a:srgbClr val="1F2933"/>
                </a:solidFill>
                <a:latin typeface="Calibri" pitchFamily="34" charset="0"/>
                <a:ea typeface="Calibri" pitchFamily="34" charset="-122"/>
                <a:cs typeface="Calibri" pitchFamily="34" charset="-120"/>
              </a:rPr>
              <a:t>L'écriture directe </a:t>
            </a:r>
            <a:pPr indent="0" marL="0">
              <a:buNone/>
            </a:pPr>
            <a:r>
              <a:rPr lang="en-US" sz="1700" dirty="0">
                <a:solidFill>
                  <a:srgbClr val="1F3A5F"/>
                </a:solidFill>
                <a:latin typeface="Courier New" pitchFamily="34" charset="0"/>
                <a:ea typeface="Courier New" pitchFamily="34" charset="-122"/>
                <a:cs typeface="Courier New" pitchFamily="34" charset="-120"/>
              </a:rPr>
              <a:t>plt.plot(...)</a:t>
            </a:r>
            <a:pPr indent="0" marL="0">
              <a:buNone/>
            </a:pPr>
            <a:r>
              <a:rPr lang="en-US" sz="1700" dirty="0">
                <a:solidFill>
                  <a:srgbClr val="1F2933"/>
                </a:solidFill>
                <a:latin typeface="Calibri" pitchFamily="34" charset="0"/>
                <a:ea typeface="Calibri" pitchFamily="34" charset="-122"/>
                <a:cs typeface="Calibri" pitchFamily="34" charset="-120"/>
              </a:rPr>
              <a:t> agit sur le « graphique courant » : réservée aux tracés rapides</a:t>
            </a:r>
            <a:endParaRPr lang="en-US" sz="1700" dirty="0"/>
          </a:p>
          <a:p>
            <a:pPr marL="254000" indent="-254000">
              <a:spcAft>
                <a:spcPts val="800"/>
              </a:spcAft>
              <a:buSzPct val="100000"/>
              <a:buChar char="•"/>
            </a:pPr>
            <a:r>
              <a:rPr lang="en-US" sz="1700" dirty="0">
                <a:solidFill>
                  <a:srgbClr val="1F2933"/>
                </a:solidFill>
                <a:latin typeface="Calibri" pitchFamily="34" charset="0"/>
                <a:ea typeface="Calibri" pitchFamily="34" charset="-122"/>
                <a:cs typeface="Calibri" pitchFamily="34" charset="-120"/>
              </a:rPr>
              <a:t>Dans un script, terminer par </a:t>
            </a:r>
            <a:pPr indent="0" marL="0">
              <a:buNone/>
            </a:pPr>
            <a:r>
              <a:rPr lang="en-US" sz="1700" dirty="0">
                <a:solidFill>
                  <a:srgbClr val="1F3A5F"/>
                </a:solidFill>
                <a:latin typeface="Courier New" pitchFamily="34" charset="0"/>
                <a:ea typeface="Courier New" pitchFamily="34" charset="-122"/>
                <a:cs typeface="Courier New" pitchFamily="34" charset="-120"/>
              </a:rPr>
              <a:t>plt.show()</a:t>
            </a:r>
            <a:endParaRPr lang="en-US" sz="1700" dirty="0"/>
          </a:p>
        </p:txBody>
      </p:sp>
      <p:sp>
        <p:nvSpPr>
          <p:cNvPr id="9" name="Text 7"/>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Analyse de données avec Python   |   Jour 2, après-midi</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66928"/>
            <a:ext cx="475488" cy="475488"/>
          </a:xfrm>
          <a:prstGeom prst="ellipse">
            <a:avLst/>
          </a:prstGeom>
          <a:solidFill>
            <a:srgbClr val="2F7D62"/>
          </a:solidFill>
          <a:ln/>
        </p:spPr>
      </p:sp>
      <p:sp>
        <p:nvSpPr>
          <p:cNvPr id="3" name="Text 1"/>
          <p:cNvSpPr txBox="1"/>
          <p:nvPr/>
        </p:nvSpPr>
        <p:spPr>
          <a:xfrm>
            <a:off x="548640" y="566928"/>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4" name="Text 2"/>
          <p:cNvSpPr txBox="1"/>
          <p:nvPr/>
        </p:nvSpPr>
        <p:spPr>
          <a:xfrm>
            <a:off x="1280160" y="164592"/>
            <a:ext cx="10362895" cy="274320"/>
          </a:xfrm>
          <a:prstGeom prst="rect">
            <a:avLst/>
          </a:prstGeom>
          <a:noFill/>
          <a:ln/>
        </p:spPr>
        <p:txBody>
          <a:bodyPr wrap="square" lIns="0" tIns="0" rIns="0" bIns="0" rtlCol="0" anchor="ctr"/>
          <a:lstStyle/>
          <a:p>
            <a:pPr indent="0" marL="0">
              <a:buNone/>
            </a:pPr>
            <a:r>
              <a:rPr lang="en-US" sz="1200" b="1" spc="200" kern="0" dirty="0">
                <a:solidFill>
                  <a:srgbClr val="2F7D62"/>
                </a:solidFill>
                <a:latin typeface="Calibri" pitchFamily="34" charset="0"/>
                <a:ea typeface="Calibri" pitchFamily="34" charset="-122"/>
                <a:cs typeface="Calibri" pitchFamily="34" charset="-120"/>
              </a:rPr>
              <a:t>MATPLOTLIB</a:t>
            </a:r>
            <a:endParaRPr lang="en-US" sz="1200" dirty="0"/>
          </a:p>
        </p:txBody>
      </p:sp>
      <p:sp>
        <p:nvSpPr>
          <p:cNvPr id="5" name="Text 3"/>
          <p:cNvSpPr txBox="1"/>
          <p:nvPr/>
        </p:nvSpPr>
        <p:spPr>
          <a:xfrm>
            <a:off x="1280160" y="457200"/>
            <a:ext cx="10362895" cy="694944"/>
          </a:xfrm>
          <a:prstGeom prst="rect">
            <a:avLst/>
          </a:prstGeom>
          <a:noFill/>
          <a:ln/>
        </p:spPr>
        <p:txBody>
          <a:bodyPr wrap="square" lIns="0" tIns="0" rIns="0" bIns="0" rtlCol="0" anchor="ctr"/>
          <a:lstStyle/>
          <a:p>
            <a:pPr indent="0" marL="0">
              <a:buNone/>
            </a:pPr>
            <a:r>
              <a:rPr lang="en-US" sz="3000" b="1" dirty="0">
                <a:solidFill>
                  <a:srgbClr val="1F3A5F"/>
                </a:solidFill>
                <a:latin typeface="Cambria" pitchFamily="34" charset="0"/>
                <a:ea typeface="Cambria" pitchFamily="34" charset="-122"/>
                <a:cs typeface="Cambria" pitchFamily="34" charset="-120"/>
              </a:rPr>
              <a:t>Les tracés de base</a:t>
            </a:r>
            <a:endParaRPr lang="en-US" sz="30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5318608" cy="914400"/>
        </p:xfrm>
        <a:graphic>
          <a:graphicData uri="http://schemas.openxmlformats.org/drawingml/2006/table">
            <a:tbl>
              <a:tblPr/>
              <a:tblGrid>
                <a:gridCol w="2127443"/>
                <a:gridCol w="3191165"/>
              </a:tblGrid>
              <a:tr h="365379">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Méthode</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1F3A5F"/>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Pour montrer</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1F3A5F"/>
                    </a:solidFill>
                  </a:tcPr>
                </a:tc>
              </a:tr>
              <a:tr h="365379">
                <a:tc>
                  <a:txBody>
                    <a:bodyPr/>
                    <a:lstStyle/>
                    <a:p>
                      <a:pPr indent="0" marL="0">
                        <a:buNone/>
                      </a:pPr>
                      <a:r>
                        <a:rPr lang="en-US" sz="1500" dirty="0">
                          <a:solidFill>
                            <a:srgbClr val="1F3A5F"/>
                          </a:solidFill>
                          <a:latin typeface="Courier New" pitchFamily="34" charset="0"/>
                          <a:ea typeface="Courier New" pitchFamily="34" charset="-122"/>
                          <a:cs typeface="Courier New" pitchFamily="34" charset="-120"/>
                        </a:rPr>
                        <a:t>ax.plot(x, y)</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500" dirty="0">
                          <a:solidFill>
                            <a:srgbClr val="1F2933"/>
                          </a:solidFill>
                          <a:latin typeface="Calibri" pitchFamily="34" charset="0"/>
                          <a:ea typeface="Calibri" pitchFamily="34" charset="-122"/>
                          <a:cs typeface="Calibri" pitchFamily="34" charset="-120"/>
                        </a:rPr>
                        <a:t>une évolution</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r>
              <a:tr h="584454">
                <a:tc>
                  <a:txBody>
                    <a:bodyPr/>
                    <a:lstStyle/>
                    <a:p>
                      <a:pPr indent="0" marL="0">
                        <a:buNone/>
                      </a:pPr>
                      <a:r>
                        <a:rPr lang="en-US" sz="1500" dirty="0">
                          <a:solidFill>
                            <a:srgbClr val="1F3A5F"/>
                          </a:solidFill>
                          <a:latin typeface="Courier New" pitchFamily="34" charset="0"/>
                          <a:ea typeface="Courier New" pitchFamily="34" charset="-122"/>
                          <a:cs typeface="Courier New" pitchFamily="34" charset="-120"/>
                        </a:rPr>
                        <a:t>ax.bar(x, h)</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7F9FB"/>
                    </a:solidFill>
                  </a:tcPr>
                </a:tc>
                <a:tc>
                  <a:txBody>
                    <a:bodyPr/>
                    <a:lstStyle/>
                    <a:p>
                      <a:pPr indent="0" marL="0">
                        <a:buNone/>
                      </a:pPr>
                      <a:r>
                        <a:rPr lang="en-US" sz="1500" dirty="0">
                          <a:solidFill>
                            <a:srgbClr val="1F2933"/>
                          </a:solidFill>
                          <a:latin typeface="Calibri" pitchFamily="34" charset="0"/>
                          <a:ea typeface="Calibri" pitchFamily="34" charset="-122"/>
                          <a:cs typeface="Calibri" pitchFamily="34" charset="-120"/>
                        </a:rPr>
                        <a:t>une comparaison entre catégories</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7F9FB"/>
                    </a:solidFill>
                  </a:tcPr>
                </a:tc>
              </a:tr>
              <a:tr h="365379">
                <a:tc>
                  <a:txBody>
                    <a:bodyPr/>
                    <a:lstStyle/>
                    <a:p>
                      <a:pPr indent="0" marL="0">
                        <a:buNone/>
                      </a:pPr>
                      <a:r>
                        <a:rPr lang="en-US" sz="1500" dirty="0">
                          <a:solidFill>
                            <a:srgbClr val="1F3A5F"/>
                          </a:solidFill>
                          <a:latin typeface="Courier New" pitchFamily="34" charset="0"/>
                          <a:ea typeface="Courier New" pitchFamily="34" charset="-122"/>
                          <a:cs typeface="Courier New" pitchFamily="34" charset="-120"/>
                        </a:rPr>
                        <a:t>ax.barh(y, l)</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500" dirty="0">
                          <a:solidFill>
                            <a:srgbClr val="1F2933"/>
                          </a:solidFill>
                          <a:latin typeface="Calibri" pitchFamily="34" charset="0"/>
                          <a:ea typeface="Calibri" pitchFamily="34" charset="-122"/>
                          <a:cs typeface="Calibri" pitchFamily="34" charset="-120"/>
                        </a:rPr>
                        <a:t>idem, avec des libellés longs</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r>
              <a:tr h="365379">
                <a:tc>
                  <a:txBody>
                    <a:bodyPr/>
                    <a:lstStyle/>
                    <a:p>
                      <a:pPr indent="0" marL="0">
                        <a:buNone/>
                      </a:pPr>
                      <a:r>
                        <a:rPr lang="en-US" sz="1500" dirty="0">
                          <a:solidFill>
                            <a:srgbClr val="1F3A5F"/>
                          </a:solidFill>
                          <a:latin typeface="Courier New" pitchFamily="34" charset="0"/>
                          <a:ea typeface="Courier New" pitchFamily="34" charset="-122"/>
                          <a:cs typeface="Courier New" pitchFamily="34" charset="-120"/>
                        </a:rPr>
                        <a:t>ax.hist(v, bins=30)</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7F9FB"/>
                    </a:solidFill>
                  </a:tcPr>
                </a:tc>
                <a:tc>
                  <a:txBody>
                    <a:bodyPr/>
                    <a:lstStyle/>
                    <a:p>
                      <a:pPr indent="0" marL="0">
                        <a:buNone/>
                      </a:pPr>
                      <a:r>
                        <a:rPr lang="en-US" sz="1500" dirty="0">
                          <a:solidFill>
                            <a:srgbClr val="1F2933"/>
                          </a:solidFill>
                          <a:latin typeface="Calibri" pitchFamily="34" charset="0"/>
                          <a:ea typeface="Calibri" pitchFamily="34" charset="-122"/>
                          <a:cs typeface="Calibri" pitchFamily="34" charset="-120"/>
                        </a:rPr>
                        <a:t>une distribution</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7F9FB"/>
                    </a:solidFill>
                  </a:tcPr>
                </a:tc>
              </a:tr>
              <a:tr h="365379">
                <a:tc>
                  <a:txBody>
                    <a:bodyPr/>
                    <a:lstStyle/>
                    <a:p>
                      <a:pPr indent="0" marL="0">
                        <a:buNone/>
                      </a:pPr>
                      <a:r>
                        <a:rPr lang="en-US" sz="1500" dirty="0">
                          <a:solidFill>
                            <a:srgbClr val="1F3A5F"/>
                          </a:solidFill>
                          <a:latin typeface="Courier New" pitchFamily="34" charset="0"/>
                          <a:ea typeface="Courier New" pitchFamily="34" charset="-122"/>
                          <a:cs typeface="Courier New" pitchFamily="34" charset="-120"/>
                        </a:rPr>
                        <a:t>ax.scatter(x, y)</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500" dirty="0">
                          <a:solidFill>
                            <a:srgbClr val="1F2933"/>
                          </a:solidFill>
                          <a:latin typeface="Calibri" pitchFamily="34" charset="0"/>
                          <a:ea typeface="Calibri" pitchFamily="34" charset="-122"/>
                          <a:cs typeface="Calibri" pitchFamily="34" charset="-120"/>
                        </a:rPr>
                        <a:t>une relation</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r>
            </a:tbl>
          </a:graphicData>
        </a:graphic>
      </p:graphicFrame>
      <p:sp>
        <p:nvSpPr>
          <p:cNvPr id="7" name="Shape 4"/>
          <p:cNvSpPr/>
          <p:nvPr/>
        </p:nvSpPr>
        <p:spPr>
          <a:xfrm>
            <a:off x="6324448" y="1417320"/>
            <a:ext cx="5318608" cy="1551432"/>
          </a:xfrm>
          <a:prstGeom prst="rect">
            <a:avLst/>
          </a:prstGeom>
          <a:solidFill>
            <a:srgbClr val="F3F4F6"/>
          </a:solidFill>
          <a:ln/>
        </p:spPr>
      </p:sp>
      <p:sp>
        <p:nvSpPr>
          <p:cNvPr id="8" name="Text 5"/>
          <p:cNvSpPr txBox="1"/>
          <p:nvPr/>
        </p:nvSpPr>
        <p:spPr>
          <a:xfrm>
            <a:off x="6507328" y="1563624"/>
            <a:ext cx="4952848" cy="1258824"/>
          </a:xfrm>
          <a:prstGeom prst="rect">
            <a:avLst/>
          </a:prstGeom>
          <a:noFill/>
          <a:ln/>
        </p:spPr>
        <p:txBody>
          <a:bodyPr wrap="square" lIns="0" tIns="0" rIns="0" bIns="0" rtlCol="0" anchor="t"/>
          <a:lstStyle/>
          <a:p>
            <a:pPr indent="0" marL="0">
              <a:lnSpc>
                <a:spcPct val="100000"/>
              </a:lnSpc>
              <a:buNone/>
            </a:pPr>
            <a:r>
              <a:rPr lang="en-US" sz="1400" dirty="0">
                <a:solidFill>
                  <a:srgbClr val="1F2933"/>
                </a:solidFill>
                <a:latin typeface="Courier New" pitchFamily="34" charset="0"/>
                <a:ea typeface="Courier New" pitchFamily="34" charset="-122"/>
                <a:cs typeface="Courier New" pitchFamily="34" charset="-120"/>
              </a:rPr>
              <a:t>fig, ax = plt.subplots(figsize=(8, 4))</a:t>
            </a:r>
            <a:endParaRPr lang="en-US" sz="1400" dirty="0"/>
          </a:p>
          <a:p>
            <a:pPr indent="0" marL="0">
              <a:lnSpc>
                <a:spcPct val="100000"/>
              </a:lnSpc>
              <a:buNone/>
            </a:pPr>
            <a:r>
              <a:rPr lang="en-US" sz="1400" dirty="0">
                <a:solidFill>
                  <a:srgbClr val="1F2933"/>
                </a:solidFill>
                <a:latin typeface="Courier New" pitchFamily="34" charset="0"/>
                <a:ea typeface="Courier New" pitchFamily="34" charset="-122"/>
                <a:cs typeface="Courier New" pitchFamily="34" charset="-120"/>
              </a:rPr>
              <a:t>ax.barh(par_region.index, par_region.values,</a:t>
            </a:r>
            <a:endParaRPr lang="en-US" sz="1400" dirty="0"/>
          </a:p>
          <a:p>
            <a:pPr indent="0" marL="0">
              <a:lnSpc>
                <a:spcPct val="100000"/>
              </a:lnSpc>
              <a:buNone/>
            </a:pPr>
            <a:r>
              <a:rPr lang="en-US" sz="1400" dirty="0">
                <a:solidFill>
                  <a:srgbClr val="1F2933"/>
                </a:solidFill>
                <a:latin typeface="Courier New" pitchFamily="34" charset="0"/>
                <a:ea typeface="Courier New" pitchFamily="34" charset="-122"/>
                <a:cs typeface="Courier New" pitchFamily="34" charset="-120"/>
              </a:rPr>
              <a:t>        color="#2F7D62")</a:t>
            </a:r>
            <a:endParaRPr lang="en-US" sz="1400" dirty="0"/>
          </a:p>
          <a:p>
            <a:pPr indent="0" marL="0">
              <a:lnSpc>
                <a:spcPct val="100000"/>
              </a:lnSpc>
              <a:buNone/>
            </a:pPr>
            <a:r>
              <a:rPr lang="en-US" sz="1400" dirty="0">
                <a:solidFill>
                  <a:srgbClr val="1F2933"/>
                </a:solidFill>
                <a:latin typeface="Courier New" pitchFamily="34" charset="0"/>
                <a:ea typeface="Courier New" pitchFamily="34" charset="-122"/>
                <a:cs typeface="Courier New" pitchFamily="34" charset="-120"/>
              </a:rPr>
              <a:t>ax.set_title("Chiffre d'affaires par région, "</a:t>
            </a:r>
            <a:endParaRPr lang="en-US" sz="1400" dirty="0"/>
          </a:p>
          <a:p>
            <a:pPr indent="0" marL="0">
              <a:lnSpc>
                <a:spcPct val="100000"/>
              </a:lnSpc>
              <a:buNone/>
            </a:pPr>
            <a:r>
              <a:rPr lang="en-US" sz="1400" dirty="0">
                <a:solidFill>
                  <a:srgbClr val="1F2933"/>
                </a:solidFill>
                <a:latin typeface="Courier New" pitchFamily="34" charset="0"/>
                <a:ea typeface="Courier New" pitchFamily="34" charset="-122"/>
                <a:cs typeface="Courier New" pitchFamily="34" charset="-120"/>
              </a:rPr>
              <a:t>             "janvier à septembre 2025")</a:t>
            </a:r>
            <a:endParaRPr lang="en-US" sz="1400" dirty="0"/>
          </a:p>
          <a:p>
            <a:pPr indent="0" marL="0">
              <a:lnSpc>
                <a:spcPct val="100000"/>
              </a:lnSpc>
              <a:buNone/>
            </a:pPr>
            <a:r>
              <a:rPr lang="en-US" sz="1400" dirty="0">
                <a:solidFill>
                  <a:srgbClr val="1F2933"/>
                </a:solidFill>
                <a:latin typeface="Courier New" pitchFamily="34" charset="0"/>
                <a:ea typeface="Courier New" pitchFamily="34" charset="-122"/>
                <a:cs typeface="Courier New" pitchFamily="34" charset="-120"/>
              </a:rPr>
              <a:t>ax.set_xlabel("chiffre d'affaires (euros)")</a:t>
            </a:r>
            <a:endParaRPr lang="en-US" sz="1400" dirty="0"/>
          </a:p>
        </p:txBody>
      </p:sp>
      <p:sp>
        <p:nvSpPr>
          <p:cNvPr id="9" name="Text 6"/>
          <p:cNvSpPr txBox="1"/>
          <p:nvPr/>
        </p:nvSpPr>
        <p:spPr>
          <a:xfrm>
            <a:off x="6324448" y="3288792"/>
            <a:ext cx="5318608" cy="868680"/>
          </a:xfrm>
          <a:prstGeom prst="rect">
            <a:avLst/>
          </a:prstGeom>
          <a:noFill/>
          <a:ln/>
        </p:spPr>
        <p:txBody>
          <a:bodyPr wrap="square" lIns="0" tIns="0" rIns="0" bIns="0" rtlCol="0" anchor="t"/>
          <a:lstStyle/>
          <a:p>
            <a:pPr indent="0" marL="0">
              <a:buNone/>
            </a:pPr>
            <a:r>
              <a:rPr lang="en-US" sz="1600" dirty="0">
                <a:solidFill>
                  <a:srgbClr val="6B7280"/>
                </a:solidFill>
                <a:latin typeface="Calibri" pitchFamily="34" charset="0"/>
                <a:ea typeface="Calibri" pitchFamily="34" charset="-122"/>
                <a:cs typeface="Calibri" pitchFamily="34" charset="-120"/>
              </a:rPr>
              <a:t>Avec </a:t>
            </a:r>
            <a:pPr indent="0" marL="0">
              <a:buNone/>
            </a:pPr>
            <a:r>
              <a:rPr lang="en-US" sz="1600" dirty="0">
                <a:solidFill>
                  <a:srgbClr val="1F3A5F"/>
                </a:solidFill>
                <a:latin typeface="Courier New" pitchFamily="34" charset="0"/>
                <a:ea typeface="Courier New" pitchFamily="34" charset="-122"/>
                <a:cs typeface="Courier New" pitchFamily="34" charset="-120"/>
              </a:rPr>
              <a:t>barh</a:t>
            </a:r>
            <a:pPr indent="0" marL="0">
              <a:buNone/>
            </a:pPr>
            <a:r>
              <a:rPr lang="en-US" sz="1600" dirty="0">
                <a:solidFill>
                  <a:srgbClr val="6B7280"/>
                </a:solidFill>
                <a:latin typeface="Calibri" pitchFamily="34" charset="0"/>
                <a:ea typeface="Calibri" pitchFamily="34" charset="-122"/>
                <a:cs typeface="Calibri" pitchFamily="34" charset="-120"/>
              </a:rPr>
              <a:t>, la première valeur est tracée en bas : triée par ordre croissant, la Series place la plus grande barre en haut.</a:t>
            </a:r>
            <a:endParaRPr lang="en-US" sz="1600" dirty="0"/>
          </a:p>
        </p:txBody>
      </p:sp>
      <p:sp>
        <p:nvSpPr>
          <p:cNvPr id="10" name="Text 7"/>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Analyse de données avec Python   |   Jour 2, après-midi</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66928"/>
            <a:ext cx="475488" cy="475488"/>
          </a:xfrm>
          <a:prstGeom prst="ellipse">
            <a:avLst/>
          </a:prstGeom>
          <a:solidFill>
            <a:srgbClr val="2F7D62"/>
          </a:solidFill>
          <a:ln/>
        </p:spPr>
      </p:sp>
      <p:sp>
        <p:nvSpPr>
          <p:cNvPr id="3" name="Text 1"/>
          <p:cNvSpPr txBox="1"/>
          <p:nvPr/>
        </p:nvSpPr>
        <p:spPr>
          <a:xfrm>
            <a:off x="548640" y="566928"/>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4" name="Text 2"/>
          <p:cNvSpPr txBox="1"/>
          <p:nvPr/>
        </p:nvSpPr>
        <p:spPr>
          <a:xfrm>
            <a:off x="1280160" y="164592"/>
            <a:ext cx="10362895" cy="274320"/>
          </a:xfrm>
          <a:prstGeom prst="rect">
            <a:avLst/>
          </a:prstGeom>
          <a:noFill/>
          <a:ln/>
        </p:spPr>
        <p:txBody>
          <a:bodyPr wrap="square" lIns="0" tIns="0" rIns="0" bIns="0" rtlCol="0" anchor="ctr"/>
          <a:lstStyle/>
          <a:p>
            <a:pPr indent="0" marL="0">
              <a:buNone/>
            </a:pPr>
            <a:r>
              <a:rPr lang="en-US" sz="1200" b="1" spc="200" kern="0" dirty="0">
                <a:solidFill>
                  <a:srgbClr val="2F7D62"/>
                </a:solidFill>
                <a:latin typeface="Calibri" pitchFamily="34" charset="0"/>
                <a:ea typeface="Calibri" pitchFamily="34" charset="-122"/>
                <a:cs typeface="Calibri" pitchFamily="34" charset="-120"/>
              </a:rPr>
              <a:t>MATPLOTLIB</a:t>
            </a:r>
            <a:endParaRPr lang="en-US" sz="1200" dirty="0"/>
          </a:p>
        </p:txBody>
      </p:sp>
      <p:sp>
        <p:nvSpPr>
          <p:cNvPr id="5" name="Text 3"/>
          <p:cNvSpPr txBox="1"/>
          <p:nvPr/>
        </p:nvSpPr>
        <p:spPr>
          <a:xfrm>
            <a:off x="1280160" y="457200"/>
            <a:ext cx="10362895" cy="694944"/>
          </a:xfrm>
          <a:prstGeom prst="rect">
            <a:avLst/>
          </a:prstGeom>
          <a:noFill/>
          <a:ln/>
        </p:spPr>
        <p:txBody>
          <a:bodyPr wrap="square" lIns="0" tIns="0" rIns="0" bIns="0" rtlCol="0" anchor="ctr"/>
          <a:lstStyle/>
          <a:p>
            <a:pPr indent="0" marL="0">
              <a:buNone/>
            </a:pPr>
            <a:r>
              <a:rPr lang="en-US" sz="3000" b="1" dirty="0">
                <a:solidFill>
                  <a:srgbClr val="1F3A5F"/>
                </a:solidFill>
                <a:latin typeface="Cambria" pitchFamily="34" charset="0"/>
                <a:ea typeface="Cambria" pitchFamily="34" charset="-122"/>
                <a:cs typeface="Cambria" pitchFamily="34" charset="-120"/>
              </a:rPr>
              <a:t>Régler un histogramme et un nuage de points</a:t>
            </a:r>
            <a:endParaRPr lang="en-US" sz="3000" dirty="0"/>
          </a:p>
        </p:txBody>
      </p:sp>
      <p:sp>
        <p:nvSpPr>
          <p:cNvPr id="6" name="Shape 4"/>
          <p:cNvSpPr/>
          <p:nvPr/>
        </p:nvSpPr>
        <p:spPr>
          <a:xfrm>
            <a:off x="548640" y="1417320"/>
            <a:ext cx="5802117" cy="2090928"/>
          </a:xfrm>
          <a:prstGeom prst="rect">
            <a:avLst/>
          </a:prstGeom>
          <a:solidFill>
            <a:srgbClr val="F3F4F6"/>
          </a:solidFill>
          <a:ln/>
        </p:spPr>
      </p:sp>
      <p:sp>
        <p:nvSpPr>
          <p:cNvPr id="7" name="Text 5"/>
          <p:cNvSpPr txBox="1"/>
          <p:nvPr/>
        </p:nvSpPr>
        <p:spPr>
          <a:xfrm>
            <a:off x="731520" y="1563624"/>
            <a:ext cx="5436357" cy="1798320"/>
          </a:xfrm>
          <a:prstGeom prst="rect">
            <a:avLst/>
          </a:prstGeom>
          <a:noFill/>
          <a:ln/>
        </p:spPr>
        <p:txBody>
          <a:bodyPr wrap="square" lIns="0" tIns="0" rIns="0" bIns="0" rtlCol="0" anchor="t"/>
          <a:lstStyle/>
          <a:p>
            <a:pPr indent="0" marL="0">
              <a:lnSpc>
                <a:spcPct val="100000"/>
              </a:lnSpc>
              <a:buNone/>
            </a:pPr>
            <a:r>
              <a:rPr lang="en-US" sz="1500" dirty="0">
                <a:solidFill>
                  <a:srgbClr val="6B7280"/>
                </a:solidFill>
                <a:latin typeface="Courier New" pitchFamily="34" charset="0"/>
                <a:ea typeface="Courier New" pitchFamily="34" charset="-122"/>
                <a:cs typeface="Courier New" pitchFamily="34" charset="-120"/>
              </a:rPr>
              <a:t># 16 classes de 10 points, de 20 % à 180 %</a:t>
            </a:r>
            <a:endParaRPr lang="en-US" sz="1500" dirty="0"/>
          </a:p>
          <a:p>
            <a:pPr indent="0" marL="0">
              <a:lnSpc>
                <a:spcPct val="100000"/>
              </a:lnSpc>
              <a:buNone/>
            </a:pPr>
            <a:r>
              <a:rPr lang="en-US" sz="1500" dirty="0">
                <a:solidFill>
                  <a:srgbClr val="1F2933"/>
                </a:solidFill>
                <a:latin typeface="Courier New" pitchFamily="34" charset="0"/>
                <a:ea typeface="Courier New" pitchFamily="34" charset="-122"/>
                <a:cs typeface="Courier New" pitchFamily="34" charset="-120"/>
              </a:rPr>
              <a:t>ax.hist(indicateurs["taux_realisation"],</a:t>
            </a:r>
            <a:endParaRPr lang="en-US" sz="1500" dirty="0"/>
          </a:p>
          <a:p>
            <a:pPr indent="0" marL="0">
              <a:lnSpc>
                <a:spcPct val="100000"/>
              </a:lnSpc>
              <a:buNone/>
            </a:pPr>
            <a:r>
              <a:rPr lang="en-US" sz="1500" dirty="0">
                <a:solidFill>
                  <a:srgbClr val="1F2933"/>
                </a:solidFill>
                <a:latin typeface="Courier New" pitchFamily="34" charset="0"/>
                <a:ea typeface="Courier New" pitchFamily="34" charset="-122"/>
                <a:cs typeface="Courier New" pitchFamily="34" charset="-120"/>
              </a:rPr>
              <a:t>        bins=[x / 10 for x in range(2, 19)],</a:t>
            </a:r>
            <a:endParaRPr lang="en-US" sz="1500" dirty="0"/>
          </a:p>
          <a:p>
            <a:pPr indent="0" marL="0">
              <a:lnSpc>
                <a:spcPct val="100000"/>
              </a:lnSpc>
              <a:buNone/>
            </a:pPr>
            <a:r>
              <a:rPr lang="en-US" sz="1500" dirty="0">
                <a:solidFill>
                  <a:srgbClr val="1F2933"/>
                </a:solidFill>
                <a:latin typeface="Courier New" pitchFamily="34" charset="0"/>
                <a:ea typeface="Courier New" pitchFamily="34" charset="-122"/>
                <a:cs typeface="Courier New" pitchFamily="34" charset="-120"/>
              </a:rPr>
              <a:t>        edgecolor="white")</a:t>
            </a:r>
            <a:endParaRPr lang="en-US" sz="1500" dirty="0"/>
          </a:p>
          <a:p>
            <a:pPr indent="0" marL="0">
              <a:lnSpc>
                <a:spcPct val="100000"/>
              </a:lnSpc>
              <a:buNone/>
            </a:pPr>
            <a:r>
              <a:rPr lang="en-US" sz="1500" dirty="0">
                <a:solidFill>
                  <a:srgbClr val="1F2933"/>
                </a:solidFill>
                <a:latin typeface="Courier New" pitchFamily="34" charset="0"/>
                <a:ea typeface="Courier New" pitchFamily="34" charset="-122"/>
                <a:cs typeface="Courier New" pitchFamily="34" charset="-120"/>
              </a:rPr>
              <a:t> </a:t>
            </a:r>
            <a:endParaRPr lang="en-US" sz="1500" dirty="0"/>
          </a:p>
          <a:p>
            <a:pPr indent="0" marL="0">
              <a:lnSpc>
                <a:spcPct val="100000"/>
              </a:lnSpc>
              <a:buNone/>
            </a:pPr>
            <a:r>
              <a:rPr lang="en-US" sz="1500" dirty="0">
                <a:solidFill>
                  <a:srgbClr val="6B7280"/>
                </a:solidFill>
                <a:latin typeface="Courier New" pitchFamily="34" charset="0"/>
                <a:ea typeface="Courier New" pitchFamily="34" charset="-122"/>
                <a:cs typeface="Courier New" pitchFamily="34" charset="-120"/>
              </a:rPr>
              <a:t># des points semi-transparents</a:t>
            </a:r>
            <a:endParaRPr lang="en-US" sz="1500" dirty="0"/>
          </a:p>
          <a:p>
            <a:pPr indent="0" marL="0">
              <a:lnSpc>
                <a:spcPct val="100000"/>
              </a:lnSpc>
              <a:buNone/>
            </a:pPr>
            <a:r>
              <a:rPr lang="en-US" sz="1500" dirty="0">
                <a:solidFill>
                  <a:srgbClr val="1F2933"/>
                </a:solidFill>
                <a:latin typeface="Courier New" pitchFamily="34" charset="0"/>
                <a:ea typeface="Courier New" pitchFamily="34" charset="-122"/>
                <a:cs typeface="Courier New" pitchFamily="34" charset="-120"/>
              </a:rPr>
              <a:t>ax.scatter(indicateurs["nb_commandes"],</a:t>
            </a:r>
            <a:endParaRPr lang="en-US" sz="1500" dirty="0"/>
          </a:p>
          <a:p>
            <a:pPr indent="0" marL="0">
              <a:lnSpc>
                <a:spcPct val="100000"/>
              </a:lnSpc>
              <a:buNone/>
            </a:pPr>
            <a:r>
              <a:rPr lang="en-US" sz="1500" dirty="0">
                <a:solidFill>
                  <a:srgbClr val="1F2933"/>
                </a:solidFill>
                <a:latin typeface="Courier New" pitchFamily="34" charset="0"/>
                <a:ea typeface="Courier New" pitchFamily="34" charset="-122"/>
                <a:cs typeface="Courier New" pitchFamily="34" charset="-120"/>
              </a:rPr>
              <a:t>           indicateurs["ca"], alpha=0.7)</a:t>
            </a:r>
            <a:endParaRPr lang="en-US" sz="1500" dirty="0"/>
          </a:p>
        </p:txBody>
      </p:sp>
      <p:sp>
        <p:nvSpPr>
          <p:cNvPr id="8" name="Text 6"/>
          <p:cNvSpPr txBox="1"/>
          <p:nvPr/>
        </p:nvSpPr>
        <p:spPr>
          <a:xfrm>
            <a:off x="6807957" y="1417320"/>
            <a:ext cx="4835098" cy="2468880"/>
          </a:xfrm>
          <a:prstGeom prst="rect">
            <a:avLst/>
          </a:prstGeom>
          <a:noFill/>
          <a:ln/>
        </p:spPr>
        <p:txBody>
          <a:bodyPr wrap="square" lIns="0" tIns="0" rIns="0" bIns="0" rtlCol="0" anchor="t"/>
          <a:lstStyle/>
          <a:p>
            <a:pPr marL="254000" indent="-254000">
              <a:spcAft>
                <a:spcPts val="800"/>
              </a:spcAft>
              <a:buSzPct val="100000"/>
              <a:buChar char="•"/>
            </a:pPr>
            <a:r>
              <a:rPr lang="en-US" sz="1700" dirty="0">
                <a:solidFill>
                  <a:srgbClr val="1F3A5F"/>
                </a:solidFill>
                <a:latin typeface="Courier New" pitchFamily="34" charset="0"/>
                <a:ea typeface="Courier New" pitchFamily="34" charset="-122"/>
                <a:cs typeface="Courier New" pitchFamily="34" charset="-120"/>
              </a:rPr>
              <a:t>bins</a:t>
            </a:r>
            <a:pPr indent="0" marL="0">
              <a:buNone/>
            </a:pPr>
            <a:r>
              <a:rPr lang="en-US" sz="1700" dirty="0">
                <a:solidFill>
                  <a:srgbClr val="1F2933"/>
                </a:solidFill>
                <a:latin typeface="Calibri" pitchFamily="34" charset="0"/>
                <a:ea typeface="Calibri" pitchFamily="34" charset="-122"/>
                <a:cs typeface="Calibri" pitchFamily="34" charset="-120"/>
              </a:rPr>
              <a:t> : un nombre de classes, ou la liste de leurs bornes pour des classes alignées sur des valeurs rondes</a:t>
            </a:r>
            <a:endParaRPr lang="en-US" sz="1700" dirty="0"/>
          </a:p>
          <a:p>
            <a:pPr marL="254000" indent="-254000">
              <a:spcAft>
                <a:spcPts val="800"/>
              </a:spcAft>
              <a:buSzPct val="100000"/>
              <a:buChar char="•"/>
            </a:pPr>
            <a:r>
              <a:rPr lang="en-US" sz="1700" dirty="0">
                <a:solidFill>
                  <a:srgbClr val="1F3A5F"/>
                </a:solidFill>
                <a:latin typeface="Courier New" pitchFamily="34" charset="0"/>
                <a:ea typeface="Courier New" pitchFamily="34" charset="-122"/>
                <a:cs typeface="Courier New" pitchFamily="34" charset="-120"/>
              </a:rPr>
              <a:t>edgecolor="white"</a:t>
            </a:r>
            <a:pPr indent="0" marL="0">
              <a:buNone/>
            </a:pPr>
            <a:r>
              <a:rPr lang="en-US" sz="1700" dirty="0">
                <a:solidFill>
                  <a:srgbClr val="1F2933"/>
                </a:solidFill>
                <a:latin typeface="Calibri" pitchFamily="34" charset="0"/>
                <a:ea typeface="Calibri" pitchFamily="34" charset="-122"/>
                <a:cs typeface="Calibri" pitchFamily="34" charset="-120"/>
              </a:rPr>
              <a:t> sépare les barres par un contour blanc</a:t>
            </a:r>
            <a:endParaRPr lang="en-US" sz="1700" dirty="0"/>
          </a:p>
          <a:p>
            <a:pPr marL="254000" indent="-254000">
              <a:spcAft>
                <a:spcPts val="800"/>
              </a:spcAft>
              <a:buSzPct val="100000"/>
              <a:buChar char="•"/>
            </a:pPr>
            <a:r>
              <a:rPr lang="en-US" sz="1700" dirty="0">
                <a:solidFill>
                  <a:srgbClr val="1F3A5F"/>
                </a:solidFill>
                <a:latin typeface="Courier New" pitchFamily="34" charset="0"/>
                <a:ea typeface="Courier New" pitchFamily="34" charset="-122"/>
                <a:cs typeface="Courier New" pitchFamily="34" charset="-120"/>
              </a:rPr>
              <a:t>alpha</a:t>
            </a:r>
            <a:pPr indent="0" marL="0">
              <a:buNone/>
            </a:pPr>
            <a:r>
              <a:rPr lang="en-US" sz="1700" dirty="0">
                <a:solidFill>
                  <a:srgbClr val="1F2933"/>
                </a:solidFill>
                <a:latin typeface="Calibri" pitchFamily="34" charset="0"/>
                <a:ea typeface="Calibri" pitchFamily="34" charset="-122"/>
                <a:cs typeface="Calibri" pitchFamily="34" charset="-120"/>
              </a:rPr>
              <a:t> : la transparence, de 0 (invisible) à 1 (opaque) ; les points qui se superposent restent visibles</a:t>
            </a:r>
            <a:endParaRPr lang="en-US" sz="1700" dirty="0"/>
          </a:p>
        </p:txBody>
      </p:sp>
      <p:sp>
        <p:nvSpPr>
          <p:cNvPr id="9" name="Shape 7"/>
          <p:cNvSpPr/>
          <p:nvPr/>
        </p:nvSpPr>
        <p:spPr>
          <a:xfrm>
            <a:off x="548640" y="4206240"/>
            <a:ext cx="11094415" cy="624840"/>
          </a:xfrm>
          <a:prstGeom prst="roundRect">
            <a:avLst>
              <a:gd name="adj" fmla="val 8780"/>
            </a:avLst>
          </a:prstGeom>
          <a:solidFill>
            <a:srgbClr val="E8F3EE"/>
          </a:solidFill>
          <a:ln/>
        </p:spPr>
      </p:sp>
      <p:sp>
        <p:nvSpPr>
          <p:cNvPr id="10" name="Text 8"/>
          <p:cNvSpPr txBox="1"/>
          <p:nvPr/>
        </p:nvSpPr>
        <p:spPr>
          <a:xfrm>
            <a:off x="822960" y="4206240"/>
            <a:ext cx="10545775" cy="624840"/>
          </a:xfrm>
          <a:prstGeom prst="rect">
            <a:avLst/>
          </a:prstGeom>
          <a:noFill/>
          <a:ln/>
        </p:spPr>
        <p:txBody>
          <a:bodyPr wrap="square" lIns="0" tIns="0" rIns="0" bIns="0" rtlCol="0" anchor="ctr"/>
          <a:lstStyle/>
          <a:p>
            <a:pPr indent="0" marL="0">
              <a:buNone/>
            </a:pPr>
            <a:r>
              <a:rPr lang="en-US" sz="1700" dirty="0">
                <a:solidFill>
                  <a:srgbClr val="1F3A5F"/>
                </a:solidFill>
                <a:latin typeface="Calibri" pitchFamily="34" charset="0"/>
                <a:ea typeface="Calibri" pitchFamily="34" charset="-122"/>
                <a:cs typeface="Calibri" pitchFamily="34" charset="-120"/>
              </a:rPr>
              <a:t>La liste des bornes se construit avec une compréhension de liste, vue le premier jour.</a:t>
            </a:r>
            <a:endParaRPr lang="en-US" sz="1700" dirty="0"/>
          </a:p>
        </p:txBody>
      </p:sp>
      <p:sp>
        <p:nvSpPr>
          <p:cNvPr id="11" name="Text 9"/>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Analyse de données avec Python   |   Jour 2, après-midi</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66928"/>
            <a:ext cx="475488" cy="475488"/>
          </a:xfrm>
          <a:prstGeom prst="ellipse">
            <a:avLst/>
          </a:prstGeom>
          <a:solidFill>
            <a:srgbClr val="2F7D62"/>
          </a:solidFill>
          <a:ln/>
        </p:spPr>
      </p:sp>
      <p:sp>
        <p:nvSpPr>
          <p:cNvPr id="3" name="Text 1"/>
          <p:cNvSpPr txBox="1"/>
          <p:nvPr/>
        </p:nvSpPr>
        <p:spPr>
          <a:xfrm>
            <a:off x="548640" y="566928"/>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4" name="Text 2"/>
          <p:cNvSpPr txBox="1"/>
          <p:nvPr/>
        </p:nvSpPr>
        <p:spPr>
          <a:xfrm>
            <a:off x="1280160" y="164592"/>
            <a:ext cx="10362895" cy="274320"/>
          </a:xfrm>
          <a:prstGeom prst="rect">
            <a:avLst/>
          </a:prstGeom>
          <a:noFill/>
          <a:ln/>
        </p:spPr>
        <p:txBody>
          <a:bodyPr wrap="square" lIns="0" tIns="0" rIns="0" bIns="0" rtlCol="0" anchor="ctr"/>
          <a:lstStyle/>
          <a:p>
            <a:pPr indent="0" marL="0">
              <a:buNone/>
            </a:pPr>
            <a:r>
              <a:rPr lang="en-US" sz="1200" b="1" spc="200" kern="0" dirty="0">
                <a:solidFill>
                  <a:srgbClr val="2F7D62"/>
                </a:solidFill>
                <a:latin typeface="Calibri" pitchFamily="34" charset="0"/>
                <a:ea typeface="Calibri" pitchFamily="34" charset="-122"/>
                <a:cs typeface="Calibri" pitchFamily="34" charset="-120"/>
              </a:rPr>
              <a:t>MATPLOTLIB</a:t>
            </a:r>
            <a:endParaRPr lang="en-US" sz="1200" dirty="0"/>
          </a:p>
        </p:txBody>
      </p:sp>
      <p:sp>
        <p:nvSpPr>
          <p:cNvPr id="5" name="Text 3"/>
          <p:cNvSpPr txBox="1"/>
          <p:nvPr/>
        </p:nvSpPr>
        <p:spPr>
          <a:xfrm>
            <a:off x="1280160" y="457200"/>
            <a:ext cx="10362895" cy="694944"/>
          </a:xfrm>
          <a:prstGeom prst="rect">
            <a:avLst/>
          </a:prstGeom>
          <a:noFill/>
          <a:ln/>
        </p:spPr>
        <p:txBody>
          <a:bodyPr wrap="square" lIns="0" tIns="0" rIns="0" bIns="0" rtlCol="0" anchor="ctr"/>
          <a:lstStyle/>
          <a:p>
            <a:pPr indent="0" marL="0">
              <a:buNone/>
            </a:pPr>
            <a:r>
              <a:rPr lang="en-US" sz="3000" b="1" dirty="0">
                <a:solidFill>
                  <a:srgbClr val="1F3A5F"/>
                </a:solidFill>
                <a:latin typeface="Cambria" pitchFamily="34" charset="0"/>
                <a:ea typeface="Cambria" pitchFamily="34" charset="-122"/>
                <a:cs typeface="Cambria" pitchFamily="34" charset="-120"/>
              </a:rPr>
              <a:t>Personnaliser</a:t>
            </a:r>
            <a:endParaRPr lang="en-US" sz="3000" dirty="0"/>
          </a:p>
        </p:txBody>
      </p:sp>
      <p:sp>
        <p:nvSpPr>
          <p:cNvPr id="6" name="Shape 4"/>
          <p:cNvSpPr/>
          <p:nvPr/>
        </p:nvSpPr>
        <p:spPr>
          <a:xfrm>
            <a:off x="548640" y="1417320"/>
            <a:ext cx="4835098" cy="2240788"/>
          </a:xfrm>
          <a:prstGeom prst="rect">
            <a:avLst/>
          </a:prstGeom>
          <a:solidFill>
            <a:srgbClr val="F3F4F6"/>
          </a:solidFill>
          <a:ln/>
        </p:spPr>
      </p:sp>
      <p:sp>
        <p:nvSpPr>
          <p:cNvPr id="7" name="Text 5"/>
          <p:cNvSpPr txBox="1"/>
          <p:nvPr/>
        </p:nvSpPr>
        <p:spPr>
          <a:xfrm>
            <a:off x="731520" y="1563624"/>
            <a:ext cx="4469338" cy="1948180"/>
          </a:xfrm>
          <a:prstGeom prst="rect">
            <a:avLst/>
          </a:prstGeom>
          <a:noFill/>
          <a:ln/>
        </p:spPr>
        <p:txBody>
          <a:bodyPr wrap="square" lIns="0" tIns="0" rIns="0" bIns="0" rtlCol="0" anchor="t"/>
          <a:lstStyle/>
          <a:p>
            <a:pPr indent="0" marL="0">
              <a:lnSpc>
                <a:spcPct val="100000"/>
              </a:lnSpc>
              <a:buNone/>
            </a:pPr>
            <a:r>
              <a:rPr lang="en-US" sz="1300" dirty="0">
                <a:solidFill>
                  <a:srgbClr val="1F2933"/>
                </a:solidFill>
                <a:latin typeface="Courier New" pitchFamily="34" charset="0"/>
                <a:ea typeface="Courier New" pitchFamily="34" charset="-122"/>
                <a:cs typeface="Courier New" pitchFamily="34" charset="-120"/>
              </a:rPr>
              <a:t>ax.plot(mensuel.index, mensuel.values,</a:t>
            </a:r>
            <a:endParaRPr lang="en-US" sz="1300" dirty="0"/>
          </a:p>
          <a:p>
            <a:pPr indent="0" marL="0">
              <a:lnSpc>
                <a:spcPct val="100000"/>
              </a:lnSpc>
              <a:buNone/>
            </a:pPr>
            <a:r>
              <a:rPr lang="en-US" sz="1300" dirty="0">
                <a:solidFill>
                  <a:srgbClr val="1F2933"/>
                </a:solidFill>
                <a:latin typeface="Courier New" pitchFamily="34" charset="0"/>
                <a:ea typeface="Courier New" pitchFamily="34" charset="-122"/>
                <a:cs typeface="Courier New" pitchFamily="34" charset="-120"/>
              </a:rPr>
              <a:t>        color="#1F3A5F", marker="o",</a:t>
            </a:r>
            <a:endParaRPr lang="en-US" sz="1300" dirty="0"/>
          </a:p>
          <a:p>
            <a:pPr indent="0" marL="0">
              <a:lnSpc>
                <a:spcPct val="100000"/>
              </a:lnSpc>
              <a:buNone/>
            </a:pPr>
            <a:r>
              <a:rPr lang="en-US" sz="1300" dirty="0">
                <a:solidFill>
                  <a:srgbClr val="1F2933"/>
                </a:solidFill>
                <a:latin typeface="Courier New" pitchFamily="34" charset="0"/>
                <a:ea typeface="Courier New" pitchFamily="34" charset="-122"/>
                <a:cs typeface="Courier New" pitchFamily="34" charset="-120"/>
              </a:rPr>
              <a:t>        label="2025")</a:t>
            </a:r>
            <a:endParaRPr lang="en-US" sz="1300" dirty="0"/>
          </a:p>
          <a:p>
            <a:pPr indent="0" marL="0">
              <a:lnSpc>
                <a:spcPct val="100000"/>
              </a:lnSpc>
              <a:buNone/>
            </a:pPr>
            <a:r>
              <a:rPr lang="en-US" sz="1300" dirty="0">
                <a:solidFill>
                  <a:srgbClr val="1F2933"/>
                </a:solidFill>
                <a:latin typeface="Courier New" pitchFamily="34" charset="0"/>
                <a:ea typeface="Courier New" pitchFamily="34" charset="-122"/>
                <a:cs typeface="Courier New" pitchFamily="34" charset="-120"/>
              </a:rPr>
              <a:t>ax.set_title("Chiffre d'affaires mensuel")</a:t>
            </a:r>
            <a:endParaRPr lang="en-US" sz="1300" dirty="0"/>
          </a:p>
          <a:p>
            <a:pPr indent="0" marL="0">
              <a:lnSpc>
                <a:spcPct val="100000"/>
              </a:lnSpc>
              <a:buNone/>
            </a:pPr>
            <a:r>
              <a:rPr lang="en-US" sz="1300" dirty="0">
                <a:solidFill>
                  <a:srgbClr val="1F2933"/>
                </a:solidFill>
                <a:latin typeface="Courier New" pitchFamily="34" charset="0"/>
                <a:ea typeface="Courier New" pitchFamily="34" charset="-122"/>
                <a:cs typeface="Courier New" pitchFamily="34" charset="-120"/>
              </a:rPr>
              <a:t>ax.set_xlabel("mois")</a:t>
            </a:r>
            <a:endParaRPr lang="en-US" sz="1300" dirty="0"/>
          </a:p>
          <a:p>
            <a:pPr indent="0" marL="0">
              <a:lnSpc>
                <a:spcPct val="100000"/>
              </a:lnSpc>
              <a:buNone/>
            </a:pPr>
            <a:r>
              <a:rPr lang="en-US" sz="1300" dirty="0">
                <a:solidFill>
                  <a:srgbClr val="1F2933"/>
                </a:solidFill>
                <a:latin typeface="Courier New" pitchFamily="34" charset="0"/>
                <a:ea typeface="Courier New" pitchFamily="34" charset="-122"/>
                <a:cs typeface="Courier New" pitchFamily="34" charset="-120"/>
              </a:rPr>
              <a:t>ax.set_ylabel("chiffre d'affaires (euros)")</a:t>
            </a:r>
            <a:endParaRPr lang="en-US" sz="1300" dirty="0"/>
          </a:p>
          <a:p>
            <a:pPr indent="0" marL="0">
              <a:lnSpc>
                <a:spcPct val="100000"/>
              </a:lnSpc>
              <a:buNone/>
            </a:pPr>
            <a:r>
              <a:rPr lang="en-US" sz="1300" dirty="0">
                <a:solidFill>
                  <a:srgbClr val="1F2933"/>
                </a:solidFill>
                <a:latin typeface="Courier New" pitchFamily="34" charset="0"/>
                <a:ea typeface="Courier New" pitchFamily="34" charset="-122"/>
                <a:cs typeface="Courier New" pitchFamily="34" charset="-120"/>
              </a:rPr>
              <a:t>ax.set_ylim(0, 65000)   # ax.set_xlim pour x</a:t>
            </a:r>
            <a:endParaRPr lang="en-US" sz="1300" dirty="0"/>
          </a:p>
          <a:p>
            <a:pPr indent="0" marL="0">
              <a:lnSpc>
                <a:spcPct val="100000"/>
              </a:lnSpc>
              <a:buNone/>
            </a:pPr>
            <a:r>
              <a:rPr lang="en-US" sz="1300" dirty="0">
                <a:solidFill>
                  <a:srgbClr val="1F2933"/>
                </a:solidFill>
                <a:latin typeface="Courier New" pitchFamily="34" charset="0"/>
                <a:ea typeface="Courier New" pitchFamily="34" charset="-122"/>
                <a:cs typeface="Courier New" pitchFamily="34" charset="-120"/>
              </a:rPr>
              <a:t>ax.legend()             # utilise les label=</a:t>
            </a:r>
            <a:endParaRPr lang="en-US" sz="1300" dirty="0"/>
          </a:p>
          <a:p>
            <a:pPr indent="0" marL="0">
              <a:lnSpc>
                <a:spcPct val="100000"/>
              </a:lnSpc>
              <a:buNone/>
            </a:pPr>
            <a:r>
              <a:rPr lang="en-US" sz="1300" dirty="0">
                <a:solidFill>
                  <a:srgbClr val="1F2933"/>
                </a:solidFill>
                <a:latin typeface="Courier New" pitchFamily="34" charset="0"/>
                <a:ea typeface="Courier New" pitchFamily="34" charset="-122"/>
                <a:cs typeface="Courier New" pitchFamily="34" charset="-120"/>
              </a:rPr>
              <a:t>ax.grid(axis="y", alpha=0.3)</a:t>
            </a:r>
            <a:endParaRPr lang="en-US" sz="1300" dirty="0"/>
          </a:p>
          <a:p>
            <a:pPr indent="0" marL="0">
              <a:lnSpc>
                <a:spcPct val="100000"/>
              </a:lnSpc>
              <a:buNone/>
            </a:pPr>
            <a:r>
              <a:rPr lang="en-US" sz="1300" dirty="0">
                <a:solidFill>
                  <a:srgbClr val="1F2933"/>
                </a:solidFill>
                <a:latin typeface="Courier New" pitchFamily="34" charset="0"/>
                <a:ea typeface="Courier New" pitchFamily="34" charset="-122"/>
                <a:cs typeface="Courier New" pitchFamily="34" charset="-120"/>
              </a:rPr>
              <a:t>ax.tick_params(axis="x", labelrotation=45)</a:t>
            </a:r>
            <a:endParaRPr lang="en-US" sz="1300" dirty="0"/>
          </a:p>
        </p:txBody>
      </p:sp>
      <p:sp>
        <p:nvSpPr>
          <p:cNvPr id="8" name="Text 6"/>
          <p:cNvSpPr txBox="1"/>
          <p:nvPr/>
        </p:nvSpPr>
        <p:spPr>
          <a:xfrm>
            <a:off x="548640" y="3978148"/>
            <a:ext cx="4835098" cy="822960"/>
          </a:xfrm>
          <a:prstGeom prst="rect">
            <a:avLst/>
          </a:prstGeom>
          <a:noFill/>
          <a:ln/>
        </p:spPr>
        <p:txBody>
          <a:bodyPr wrap="square" lIns="0" tIns="0" rIns="0" bIns="0" rtlCol="0" anchor="t"/>
          <a:lstStyle/>
          <a:p>
            <a:pPr indent="0" marL="0">
              <a:buNone/>
            </a:pPr>
            <a:r>
              <a:rPr lang="en-US" sz="1500" dirty="0">
                <a:solidFill>
                  <a:srgbClr val="1F3A5F"/>
                </a:solidFill>
                <a:latin typeface="Courier New" pitchFamily="34" charset="0"/>
                <a:ea typeface="Courier New" pitchFamily="34" charset="-122"/>
                <a:cs typeface="Courier New" pitchFamily="34" charset="-120"/>
              </a:rPr>
              <a:t>ax.legend(loc="upper left", ncols=2)</a:t>
            </a:r>
            <a:pPr indent="0" marL="0">
              <a:buNone/>
            </a:pPr>
            <a:r>
              <a:rPr lang="en-US" sz="1500" dirty="0">
                <a:solidFill>
                  <a:srgbClr val="6B7280"/>
                </a:solidFill>
                <a:latin typeface="Calibri" pitchFamily="34" charset="0"/>
                <a:ea typeface="Calibri" pitchFamily="34" charset="-122"/>
                <a:cs typeface="Calibri" pitchFamily="34" charset="-120"/>
              </a:rPr>
              <a:t> : en haut à gauche, sur deux colonnes. Si la légende cache des données, on agrandit l'axe avec </a:t>
            </a:r>
            <a:pPr indent="0" marL="0">
              <a:buNone/>
            </a:pPr>
            <a:r>
              <a:rPr lang="en-US" sz="1500" dirty="0">
                <a:solidFill>
                  <a:srgbClr val="1F3A5F"/>
                </a:solidFill>
                <a:latin typeface="Courier New" pitchFamily="34" charset="0"/>
                <a:ea typeface="Courier New" pitchFamily="34" charset="-122"/>
                <a:cs typeface="Courier New" pitchFamily="34" charset="-120"/>
              </a:rPr>
              <a:t>set_ylim</a:t>
            </a:r>
            <a:pPr indent="0" marL="0">
              <a:buNone/>
            </a:pPr>
            <a:r>
              <a:rPr lang="en-US" sz="1500" dirty="0">
                <a:solidFill>
                  <a:srgbClr val="6B7280"/>
                </a:solidFill>
                <a:latin typeface="Calibri" pitchFamily="34" charset="0"/>
                <a:ea typeface="Calibri" pitchFamily="34" charset="-122"/>
                <a:cs typeface="Calibri" pitchFamily="34" charset="-120"/>
              </a:rPr>
              <a:t>.</a:t>
            </a:r>
            <a:endParaRPr lang="en-US" sz="1500" dirty="0"/>
          </a:p>
        </p:txBody>
      </p:sp>
      <p:pic>
        <p:nvPicPr>
          <p:cNvPr id="9" name="Image 0" descr="Courbe du chiffre d'affaires mensuel avec titre, légende, axe à partir de zéro et montants en milliers d'euros">    </p:cNvPr>
          <p:cNvPicPr>
            <a:picLocks noChangeAspect="1"/>
          </p:cNvPicPr>
          <p:nvPr/>
        </p:nvPicPr>
        <p:blipFill>
          <a:blip r:embed="rId1"/>
          <a:stretch>
            <a:fillRect/>
          </a:stretch>
        </p:blipFill>
        <p:spPr>
          <a:xfrm>
            <a:off x="5840938" y="1417320"/>
            <a:ext cx="5802117" cy="3371364"/>
          </a:xfrm>
          <a:prstGeom prst="rect">
            <a:avLst/>
          </a:prstGeom>
        </p:spPr>
      </p:pic>
      <p:sp>
        <p:nvSpPr>
          <p:cNvPr id="10" name="Text 7"/>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Analyse de données avec Python   |   Jour 2, après-midi</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66928"/>
            <a:ext cx="475488" cy="475488"/>
          </a:xfrm>
          <a:prstGeom prst="ellipse">
            <a:avLst/>
          </a:prstGeom>
          <a:solidFill>
            <a:srgbClr val="2F7D62"/>
          </a:solidFill>
          <a:ln/>
        </p:spPr>
      </p:sp>
      <p:sp>
        <p:nvSpPr>
          <p:cNvPr id="3" name="Text 1"/>
          <p:cNvSpPr txBox="1"/>
          <p:nvPr/>
        </p:nvSpPr>
        <p:spPr>
          <a:xfrm>
            <a:off x="548640" y="566928"/>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4" name="Text 2"/>
          <p:cNvSpPr txBox="1"/>
          <p:nvPr/>
        </p:nvSpPr>
        <p:spPr>
          <a:xfrm>
            <a:off x="1280160" y="164592"/>
            <a:ext cx="10362895" cy="274320"/>
          </a:xfrm>
          <a:prstGeom prst="rect">
            <a:avLst/>
          </a:prstGeom>
          <a:noFill/>
          <a:ln/>
        </p:spPr>
        <p:txBody>
          <a:bodyPr wrap="square" lIns="0" tIns="0" rIns="0" bIns="0" rtlCol="0" anchor="ctr"/>
          <a:lstStyle/>
          <a:p>
            <a:pPr indent="0" marL="0">
              <a:buNone/>
            </a:pPr>
            <a:r>
              <a:rPr lang="en-US" sz="1200" b="1" spc="200" kern="0" dirty="0">
                <a:solidFill>
                  <a:srgbClr val="2F7D62"/>
                </a:solidFill>
                <a:latin typeface="Calibri" pitchFamily="34" charset="0"/>
                <a:ea typeface="Calibri" pitchFamily="34" charset="-122"/>
                <a:cs typeface="Calibri" pitchFamily="34" charset="-120"/>
              </a:rPr>
              <a:t>MATPLOTLIB</a:t>
            </a:r>
            <a:endParaRPr lang="en-US" sz="1200" dirty="0"/>
          </a:p>
        </p:txBody>
      </p:sp>
      <p:sp>
        <p:nvSpPr>
          <p:cNvPr id="5" name="Text 3"/>
          <p:cNvSpPr txBox="1"/>
          <p:nvPr/>
        </p:nvSpPr>
        <p:spPr>
          <a:xfrm>
            <a:off x="1280160" y="457200"/>
            <a:ext cx="10362895" cy="694944"/>
          </a:xfrm>
          <a:prstGeom prst="rect">
            <a:avLst/>
          </a:prstGeom>
          <a:noFill/>
          <a:ln/>
        </p:spPr>
        <p:txBody>
          <a:bodyPr wrap="square" lIns="0" tIns="0" rIns="0" bIns="0" rtlCol="0" anchor="ctr"/>
          <a:lstStyle/>
          <a:p>
            <a:pPr indent="0" marL="0">
              <a:buNone/>
            </a:pPr>
            <a:r>
              <a:rPr lang="en-US" sz="3000" b="1" dirty="0">
                <a:solidFill>
                  <a:srgbClr val="1F3A5F"/>
                </a:solidFill>
                <a:latin typeface="Cambria" pitchFamily="34" charset="0"/>
                <a:ea typeface="Cambria" pitchFamily="34" charset="-122"/>
                <a:cs typeface="Cambria" pitchFamily="34" charset="-120"/>
              </a:rPr>
              <a:t>Des nombres lisibles : les formateurs</a:t>
            </a:r>
            <a:endParaRPr lang="en-US" sz="3000" dirty="0"/>
          </a:p>
        </p:txBody>
      </p:sp>
      <p:sp>
        <p:nvSpPr>
          <p:cNvPr id="6" name="Shape 4"/>
          <p:cNvSpPr/>
          <p:nvPr/>
        </p:nvSpPr>
        <p:spPr>
          <a:xfrm>
            <a:off x="548640" y="1417320"/>
            <a:ext cx="5802117" cy="2765298"/>
          </a:xfrm>
          <a:prstGeom prst="rect">
            <a:avLst/>
          </a:prstGeom>
          <a:solidFill>
            <a:srgbClr val="F3F4F6"/>
          </a:solidFill>
          <a:ln/>
        </p:spPr>
      </p:sp>
      <p:sp>
        <p:nvSpPr>
          <p:cNvPr id="7" name="Text 5"/>
          <p:cNvSpPr txBox="1"/>
          <p:nvPr/>
        </p:nvSpPr>
        <p:spPr>
          <a:xfrm>
            <a:off x="731520" y="1563624"/>
            <a:ext cx="5436357" cy="2472690"/>
          </a:xfrm>
          <a:prstGeom prst="rect">
            <a:avLst/>
          </a:prstGeom>
          <a:noFill/>
          <a:ln/>
        </p:spPr>
        <p:txBody>
          <a:bodyPr wrap="square" lIns="0" tIns="0" rIns="0" bIns="0" rtlCol="0" anchor="t"/>
          <a:lstStyle/>
          <a:p>
            <a:pPr indent="0" marL="0">
              <a:lnSpc>
                <a:spcPct val="100000"/>
              </a:lnSpc>
              <a:buNone/>
            </a:pPr>
            <a:r>
              <a:rPr lang="en-US" sz="1500" dirty="0">
                <a:solidFill>
                  <a:srgbClr val="1F2933"/>
                </a:solidFill>
                <a:latin typeface="Courier New" pitchFamily="34" charset="0"/>
                <a:ea typeface="Courier New" pitchFamily="34" charset="-122"/>
                <a:cs typeface="Courier New" pitchFamily="34" charset="-120"/>
              </a:rPr>
              <a:t>from matplotlib.ticker import FuncFormatter</a:t>
            </a:r>
            <a:endParaRPr lang="en-US" sz="1500" dirty="0"/>
          </a:p>
          <a:p>
            <a:pPr indent="0" marL="0">
              <a:lnSpc>
                <a:spcPct val="100000"/>
              </a:lnSpc>
              <a:buNone/>
            </a:pPr>
            <a:r>
              <a:rPr lang="en-US" sz="1500" dirty="0">
                <a:solidFill>
                  <a:srgbClr val="1F2933"/>
                </a:solidFill>
                <a:latin typeface="Courier New" pitchFamily="34" charset="0"/>
                <a:ea typeface="Courier New" pitchFamily="34" charset="-122"/>
                <a:cs typeface="Courier New" pitchFamily="34" charset="-120"/>
              </a:rPr>
              <a:t> </a:t>
            </a:r>
            <a:endParaRPr lang="en-US" sz="1500" dirty="0"/>
          </a:p>
          <a:p>
            <a:pPr indent="0" marL="0">
              <a:lnSpc>
                <a:spcPct val="100000"/>
              </a:lnSpc>
              <a:buNone/>
            </a:pPr>
            <a:r>
              <a:rPr lang="en-US" sz="1500" dirty="0">
                <a:solidFill>
                  <a:srgbClr val="1F2933"/>
                </a:solidFill>
                <a:latin typeface="Courier New" pitchFamily="34" charset="0"/>
                <a:ea typeface="Courier New" pitchFamily="34" charset="-122"/>
                <a:cs typeface="Courier New" pitchFamily="34" charset="-120"/>
              </a:rPr>
              <a:t>milliers = FuncFormatter(</a:t>
            </a:r>
            <a:endParaRPr lang="en-US" sz="1500" dirty="0"/>
          </a:p>
          <a:p>
            <a:pPr indent="0" marL="0">
              <a:lnSpc>
                <a:spcPct val="100000"/>
              </a:lnSpc>
              <a:buNone/>
            </a:pPr>
            <a:r>
              <a:rPr lang="en-US" sz="1500" dirty="0">
                <a:solidFill>
                  <a:srgbClr val="1F2933"/>
                </a:solidFill>
                <a:latin typeface="Courier New" pitchFamily="34" charset="0"/>
                <a:ea typeface="Courier New" pitchFamily="34" charset="-122"/>
                <a:cs typeface="Courier New" pitchFamily="34" charset="-120"/>
              </a:rPr>
              <a:t>    lambda v, _: f"{v / 1000:.0f} k€"</a:t>
            </a:r>
            <a:endParaRPr lang="en-US" sz="1500" dirty="0"/>
          </a:p>
          <a:p>
            <a:pPr indent="0" marL="0">
              <a:lnSpc>
                <a:spcPct val="100000"/>
              </a:lnSpc>
              <a:buNone/>
            </a:pPr>
            <a:r>
              <a:rPr lang="en-US" sz="1500" dirty="0">
                <a:solidFill>
                  <a:srgbClr val="1F2933"/>
                </a:solidFill>
                <a:latin typeface="Courier New" pitchFamily="34" charset="0"/>
                <a:ea typeface="Courier New" pitchFamily="34" charset="-122"/>
                <a:cs typeface="Courier New" pitchFamily="34" charset="-120"/>
              </a:rPr>
              <a:t>)</a:t>
            </a:r>
            <a:endParaRPr lang="en-US" sz="1500" dirty="0"/>
          </a:p>
          <a:p>
            <a:pPr indent="0" marL="0">
              <a:lnSpc>
                <a:spcPct val="100000"/>
              </a:lnSpc>
              <a:buNone/>
            </a:pPr>
            <a:r>
              <a:rPr lang="en-US" sz="1500" dirty="0">
                <a:solidFill>
                  <a:srgbClr val="1F2933"/>
                </a:solidFill>
                <a:latin typeface="Courier New" pitchFamily="34" charset="0"/>
                <a:ea typeface="Courier New" pitchFamily="34" charset="-122"/>
                <a:cs typeface="Courier New" pitchFamily="34" charset="-120"/>
              </a:rPr>
              <a:t>ax.yaxis.set_major_formatter(milliers)</a:t>
            </a:r>
            <a:endParaRPr lang="en-US" sz="1500" dirty="0"/>
          </a:p>
          <a:p>
            <a:pPr indent="0" marL="0">
              <a:lnSpc>
                <a:spcPct val="100000"/>
              </a:lnSpc>
              <a:buNone/>
            </a:pPr>
            <a:r>
              <a:rPr lang="en-US" sz="1500" dirty="0">
                <a:solidFill>
                  <a:srgbClr val="1F2933"/>
                </a:solidFill>
                <a:latin typeface="Courier New" pitchFamily="34" charset="0"/>
                <a:ea typeface="Courier New" pitchFamily="34" charset="-122"/>
                <a:cs typeface="Courier New" pitchFamily="34" charset="-120"/>
              </a:rPr>
              <a:t> </a:t>
            </a:r>
            <a:endParaRPr lang="en-US" sz="1500" dirty="0"/>
          </a:p>
          <a:p>
            <a:pPr indent="0" marL="0">
              <a:lnSpc>
                <a:spcPct val="100000"/>
              </a:lnSpc>
              <a:buNone/>
            </a:pPr>
            <a:r>
              <a:rPr lang="en-US" sz="1500" dirty="0">
                <a:solidFill>
                  <a:srgbClr val="1F2933"/>
                </a:solidFill>
                <a:latin typeface="Courier New" pitchFamily="34" charset="0"/>
                <a:ea typeface="Courier New" pitchFamily="34" charset="-122"/>
                <a:cs typeface="Courier New" pitchFamily="34" charset="-120"/>
              </a:rPr>
              <a:t>pourcentage = FuncFormatter(</a:t>
            </a:r>
            <a:endParaRPr lang="en-US" sz="1500" dirty="0"/>
          </a:p>
          <a:p>
            <a:pPr indent="0" marL="0">
              <a:lnSpc>
                <a:spcPct val="100000"/>
              </a:lnSpc>
              <a:buNone/>
            </a:pPr>
            <a:r>
              <a:rPr lang="en-US" sz="1500" dirty="0">
                <a:solidFill>
                  <a:srgbClr val="1F2933"/>
                </a:solidFill>
                <a:latin typeface="Courier New" pitchFamily="34" charset="0"/>
                <a:ea typeface="Courier New" pitchFamily="34" charset="-122"/>
                <a:cs typeface="Courier New" pitchFamily="34" charset="-120"/>
              </a:rPr>
              <a:t>    lambda v, _: f"{v:.0%}"</a:t>
            </a:r>
            <a:endParaRPr lang="en-US" sz="1500" dirty="0"/>
          </a:p>
          <a:p>
            <a:pPr indent="0" marL="0">
              <a:lnSpc>
                <a:spcPct val="100000"/>
              </a:lnSpc>
              <a:buNone/>
            </a:pPr>
            <a:r>
              <a:rPr lang="en-US" sz="1500" dirty="0">
                <a:solidFill>
                  <a:srgbClr val="1F2933"/>
                </a:solidFill>
                <a:latin typeface="Courier New" pitchFamily="34" charset="0"/>
                <a:ea typeface="Courier New" pitchFamily="34" charset="-122"/>
                <a:cs typeface="Courier New" pitchFamily="34" charset="-120"/>
              </a:rPr>
              <a:t>)</a:t>
            </a:r>
            <a:endParaRPr lang="en-US" sz="1500" dirty="0"/>
          </a:p>
          <a:p>
            <a:pPr indent="0" marL="0">
              <a:lnSpc>
                <a:spcPct val="100000"/>
              </a:lnSpc>
              <a:buNone/>
            </a:pPr>
            <a:r>
              <a:rPr lang="en-US" sz="1500" dirty="0">
                <a:solidFill>
                  <a:srgbClr val="1F2933"/>
                </a:solidFill>
                <a:latin typeface="Courier New" pitchFamily="34" charset="0"/>
                <a:ea typeface="Courier New" pitchFamily="34" charset="-122"/>
                <a:cs typeface="Courier New" pitchFamily="34" charset="-120"/>
              </a:rPr>
              <a:t>ax.xaxis.set_major_formatter(pourcentage)</a:t>
            </a:r>
            <a:endParaRPr lang="en-US" sz="15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6807957" y="1417320"/>
          <a:ext cx="4835098" cy="914400"/>
        </p:xfrm>
        <a:graphic>
          <a:graphicData uri="http://schemas.openxmlformats.org/drawingml/2006/table">
            <a:tbl>
              <a:tblPr/>
              <a:tblGrid>
                <a:gridCol w="2901059"/>
                <a:gridCol w="1934039"/>
              </a:tblGrid>
              <a:tr h="350774">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Graduation</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1F3A5F"/>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Affichée</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1F3A5F"/>
                    </a:solidFill>
                  </a:tcPr>
                </a:tc>
              </a:tr>
              <a:tr h="350774">
                <a:tc>
                  <a:txBody>
                    <a:bodyPr/>
                    <a:lstStyle/>
                    <a:p>
                      <a:pPr indent="0" marL="0">
                        <a:buNone/>
                      </a:pPr>
                      <a:r>
                        <a:rPr lang="en-US" sz="1400" dirty="0">
                          <a:solidFill>
                            <a:srgbClr val="1F3A5F"/>
                          </a:solidFill>
                          <a:latin typeface="Courier New" pitchFamily="34" charset="0"/>
                          <a:ea typeface="Courier New" pitchFamily="34" charset="-122"/>
                          <a:cs typeface="Courier New" pitchFamily="34" charset="-120"/>
                        </a:rPr>
                        <a:t>45000</a:t>
                      </a:r>
                      <a:pPr indent="0" marL="0">
                        <a:buNone/>
                      </a:pPr>
                      <a:r>
                        <a:rPr lang="en-US" sz="1400" dirty="0">
                          <a:solidFill>
                            <a:srgbClr val="1F2933"/>
                          </a:solidFill>
                          <a:latin typeface="Calibri" pitchFamily="34" charset="0"/>
                          <a:ea typeface="Calibri" pitchFamily="34" charset="-122"/>
                          <a:cs typeface="Calibri" pitchFamily="34" charset="-120"/>
                        </a:rPr>
                        <a:t> avec </a:t>
                      </a:r>
                      <a:pPr indent="0" marL="0">
                        <a:buNone/>
                      </a:pPr>
                      <a:r>
                        <a:rPr lang="en-US" sz="1400" dirty="0">
                          <a:solidFill>
                            <a:srgbClr val="1F3A5F"/>
                          </a:solidFill>
                          <a:latin typeface="Courier New" pitchFamily="34" charset="0"/>
                          <a:ea typeface="Courier New" pitchFamily="34" charset="-122"/>
                          <a:cs typeface="Courier New" pitchFamily="34" charset="-120"/>
                        </a:rPr>
                        <a:t>milliers</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400" dirty="0">
                          <a:solidFill>
                            <a:srgbClr val="1F3A5F"/>
                          </a:solidFill>
                          <a:latin typeface="Courier New" pitchFamily="34" charset="0"/>
                          <a:ea typeface="Courier New" pitchFamily="34" charset="-122"/>
                          <a:cs typeface="Courier New" pitchFamily="34" charset="-120"/>
                        </a:rPr>
                        <a:t>45 k€</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r>
              <a:tr h="350774">
                <a:tc>
                  <a:txBody>
                    <a:bodyPr/>
                    <a:lstStyle/>
                    <a:p>
                      <a:pPr indent="0" marL="0">
                        <a:buNone/>
                      </a:pPr>
                      <a:r>
                        <a:rPr lang="en-US" sz="1400" dirty="0">
                          <a:solidFill>
                            <a:srgbClr val="1F3A5F"/>
                          </a:solidFill>
                          <a:latin typeface="Courier New" pitchFamily="34" charset="0"/>
                          <a:ea typeface="Courier New" pitchFamily="34" charset="-122"/>
                          <a:cs typeface="Courier New" pitchFamily="34" charset="-120"/>
                        </a:rPr>
                        <a:t>1.2</a:t>
                      </a:r>
                      <a:pPr indent="0" marL="0">
                        <a:buNone/>
                      </a:pPr>
                      <a:r>
                        <a:rPr lang="en-US" sz="1400" dirty="0">
                          <a:solidFill>
                            <a:srgbClr val="1F2933"/>
                          </a:solidFill>
                          <a:latin typeface="Calibri" pitchFamily="34" charset="0"/>
                          <a:ea typeface="Calibri" pitchFamily="34" charset="-122"/>
                          <a:cs typeface="Calibri" pitchFamily="34" charset="-120"/>
                        </a:rPr>
                        <a:t> avec </a:t>
                      </a:r>
                      <a:pPr indent="0" marL="0">
                        <a:buNone/>
                      </a:pPr>
                      <a:r>
                        <a:rPr lang="en-US" sz="1400" dirty="0">
                          <a:solidFill>
                            <a:srgbClr val="1F3A5F"/>
                          </a:solidFill>
                          <a:latin typeface="Courier New" pitchFamily="34" charset="0"/>
                          <a:ea typeface="Courier New" pitchFamily="34" charset="-122"/>
                          <a:cs typeface="Courier New" pitchFamily="34" charset="-120"/>
                        </a:rPr>
                        <a:t>pourcentage</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7F9FB"/>
                    </a:solidFill>
                  </a:tcPr>
                </a:tc>
                <a:tc>
                  <a:txBody>
                    <a:bodyPr/>
                    <a:lstStyle/>
                    <a:p>
                      <a:pPr indent="0" marL="0">
                        <a:buNone/>
                      </a:pPr>
                      <a:r>
                        <a:rPr lang="en-US" sz="1400" dirty="0">
                          <a:solidFill>
                            <a:srgbClr val="1F3A5F"/>
                          </a:solidFill>
                          <a:latin typeface="Courier New" pitchFamily="34" charset="0"/>
                          <a:ea typeface="Courier New" pitchFamily="34" charset="-122"/>
                          <a:cs typeface="Courier New" pitchFamily="34" charset="-120"/>
                        </a:rPr>
                        <a:t>120%</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7F9FB"/>
                    </a:solidFill>
                  </a:tcPr>
                </a:tc>
              </a:tr>
            </a:tbl>
          </a:graphicData>
        </a:graphic>
      </p:graphicFrame>
      <p:sp>
        <p:nvSpPr>
          <p:cNvPr id="9" name="Text 6"/>
          <p:cNvSpPr txBox="1"/>
          <p:nvPr/>
        </p:nvSpPr>
        <p:spPr>
          <a:xfrm>
            <a:off x="6807957" y="2789682"/>
            <a:ext cx="4835098" cy="1859280"/>
          </a:xfrm>
          <a:prstGeom prst="rect">
            <a:avLst/>
          </a:prstGeom>
          <a:noFill/>
          <a:ln/>
        </p:spPr>
        <p:txBody>
          <a:bodyPr wrap="square" lIns="0" tIns="0" rIns="0" bIns="0" rtlCol="0" anchor="t"/>
          <a:lstStyle/>
          <a:p>
            <a:pPr marL="254000" indent="-254000">
              <a:spcAft>
                <a:spcPts val="800"/>
              </a:spcAft>
              <a:buSzPct val="100000"/>
              <a:buChar char="•"/>
            </a:pPr>
            <a:r>
              <a:rPr lang="en-US" sz="1600" dirty="0">
                <a:solidFill>
                  <a:srgbClr val="1F2933"/>
                </a:solidFill>
                <a:latin typeface="Calibri" pitchFamily="34" charset="0"/>
                <a:ea typeface="Calibri" pitchFamily="34" charset="-122"/>
                <a:cs typeface="Calibri" pitchFamily="34" charset="-120"/>
              </a:rPr>
              <a:t>La fonction reçoit la valeur de la graduation et sa position, ignorée avec </a:t>
            </a:r>
            <a:pPr indent="0" marL="0">
              <a:buNone/>
            </a:pPr>
            <a:r>
              <a:rPr lang="en-US" sz="1600" dirty="0">
                <a:solidFill>
                  <a:srgbClr val="1F3A5F"/>
                </a:solidFill>
                <a:latin typeface="Courier New" pitchFamily="34" charset="0"/>
                <a:ea typeface="Courier New" pitchFamily="34" charset="-122"/>
                <a:cs typeface="Courier New" pitchFamily="34" charset="-120"/>
              </a:rPr>
              <a:t>_</a:t>
            </a:r>
            <a:endParaRPr lang="en-US" sz="1600" dirty="0"/>
          </a:p>
          <a:p>
            <a:pPr marL="254000" indent="-254000">
              <a:spcAft>
                <a:spcPts val="800"/>
              </a:spcAft>
              <a:buSzPct val="100000"/>
              <a:buChar char="•"/>
            </a:pPr>
            <a:r>
              <a:rPr lang="en-US" sz="1600" dirty="0">
                <a:solidFill>
                  <a:srgbClr val="1F2933"/>
                </a:solidFill>
                <a:latin typeface="Calibri" pitchFamily="34" charset="0"/>
                <a:ea typeface="Calibri" pitchFamily="34" charset="-122"/>
                <a:cs typeface="Calibri" pitchFamily="34" charset="-120"/>
              </a:rPr>
              <a:t>Rangé dans une variable, le formateur se réutilise sur chaque graphique</a:t>
            </a:r>
            <a:endParaRPr lang="en-US" sz="1600" dirty="0"/>
          </a:p>
          <a:p>
            <a:pPr marL="254000" indent="-254000">
              <a:spcAft>
                <a:spcPts val="800"/>
              </a:spcAft>
              <a:buSzPct val="100000"/>
              <a:buChar char="•"/>
            </a:pPr>
            <a:r>
              <a:rPr lang="en-US" sz="1600" dirty="0">
                <a:solidFill>
                  <a:srgbClr val="1F2933"/>
                </a:solidFill>
                <a:latin typeface="Calibri" pitchFamily="34" charset="0"/>
                <a:ea typeface="Calibri" pitchFamily="34" charset="-122"/>
                <a:cs typeface="Calibri" pitchFamily="34" charset="-120"/>
              </a:rPr>
              <a:t>On retrouve la </a:t>
            </a:r>
            <a:pPr indent="0" marL="0">
              <a:buNone/>
            </a:pPr>
            <a:r>
              <a:rPr lang="en-US" sz="1600" dirty="0">
                <a:solidFill>
                  <a:srgbClr val="1F3A5F"/>
                </a:solidFill>
                <a:latin typeface="Courier New" pitchFamily="34" charset="0"/>
                <a:ea typeface="Courier New" pitchFamily="34" charset="-122"/>
                <a:cs typeface="Courier New" pitchFamily="34" charset="-120"/>
              </a:rPr>
              <a:t>lambda</a:t>
            </a:r>
            <a:pPr indent="0" marL="0">
              <a:buNone/>
            </a:pPr>
            <a:r>
              <a:rPr lang="en-US" sz="1600" dirty="0">
                <a:solidFill>
                  <a:srgbClr val="1F2933"/>
                </a:solidFill>
                <a:latin typeface="Calibri" pitchFamily="34" charset="0"/>
                <a:ea typeface="Calibri" pitchFamily="34" charset="-122"/>
                <a:cs typeface="Calibri" pitchFamily="34" charset="-120"/>
              </a:rPr>
              <a:t> et les formats des f-strings du premier matin</a:t>
            </a:r>
            <a:endParaRPr lang="en-US" sz="1600" dirty="0"/>
          </a:p>
        </p:txBody>
      </p:sp>
      <p:sp>
        <p:nvSpPr>
          <p:cNvPr id="10" name="Text 7"/>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Analyse de données avec Python   |   Jour 2, après-midi</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66928"/>
            <a:ext cx="475488" cy="475488"/>
          </a:xfrm>
          <a:prstGeom prst="ellipse">
            <a:avLst/>
          </a:prstGeom>
          <a:solidFill>
            <a:srgbClr val="2F7D62"/>
          </a:solidFill>
          <a:ln/>
        </p:spPr>
      </p:sp>
      <p:sp>
        <p:nvSpPr>
          <p:cNvPr id="3" name="Text 1"/>
          <p:cNvSpPr txBox="1"/>
          <p:nvPr/>
        </p:nvSpPr>
        <p:spPr>
          <a:xfrm>
            <a:off x="548640" y="566928"/>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4" name="Text 2"/>
          <p:cNvSpPr txBox="1"/>
          <p:nvPr/>
        </p:nvSpPr>
        <p:spPr>
          <a:xfrm>
            <a:off x="1280160" y="164592"/>
            <a:ext cx="10362895" cy="274320"/>
          </a:xfrm>
          <a:prstGeom prst="rect">
            <a:avLst/>
          </a:prstGeom>
          <a:noFill/>
          <a:ln/>
        </p:spPr>
        <p:txBody>
          <a:bodyPr wrap="square" lIns="0" tIns="0" rIns="0" bIns="0" rtlCol="0" anchor="ctr"/>
          <a:lstStyle/>
          <a:p>
            <a:pPr indent="0" marL="0">
              <a:buNone/>
            </a:pPr>
            <a:r>
              <a:rPr lang="en-US" sz="1200" b="1" spc="200" kern="0" dirty="0">
                <a:solidFill>
                  <a:srgbClr val="2F7D62"/>
                </a:solidFill>
                <a:latin typeface="Calibri" pitchFamily="34" charset="0"/>
                <a:ea typeface="Calibri" pitchFamily="34" charset="-122"/>
                <a:cs typeface="Calibri" pitchFamily="34" charset="-120"/>
              </a:rPr>
              <a:t>MATPLOTLIB</a:t>
            </a:r>
            <a:endParaRPr lang="en-US" sz="1200" dirty="0"/>
          </a:p>
        </p:txBody>
      </p:sp>
      <p:sp>
        <p:nvSpPr>
          <p:cNvPr id="5" name="Text 3"/>
          <p:cNvSpPr txBox="1"/>
          <p:nvPr/>
        </p:nvSpPr>
        <p:spPr>
          <a:xfrm>
            <a:off x="1280160" y="457200"/>
            <a:ext cx="10362895" cy="694944"/>
          </a:xfrm>
          <a:prstGeom prst="rect">
            <a:avLst/>
          </a:prstGeom>
          <a:noFill/>
          <a:ln/>
        </p:spPr>
        <p:txBody>
          <a:bodyPr wrap="square" lIns="0" tIns="0" rIns="0" bIns="0" rtlCol="0" anchor="ctr"/>
          <a:lstStyle/>
          <a:p>
            <a:pPr indent="0" marL="0">
              <a:buNone/>
            </a:pPr>
            <a:r>
              <a:rPr lang="en-US" sz="3000" b="1" dirty="0">
                <a:solidFill>
                  <a:srgbClr val="1F3A5F"/>
                </a:solidFill>
                <a:latin typeface="Cambria" pitchFamily="34" charset="0"/>
                <a:ea typeface="Cambria" pitchFamily="34" charset="-122"/>
                <a:cs typeface="Cambria" pitchFamily="34" charset="-120"/>
              </a:rPr>
              <a:t>Lignes de référence</a:t>
            </a:r>
            <a:endParaRPr lang="en-US" sz="3000" dirty="0"/>
          </a:p>
        </p:txBody>
      </p:sp>
      <p:sp>
        <p:nvSpPr>
          <p:cNvPr id="6" name="Text 4"/>
          <p:cNvSpPr txBox="1"/>
          <p:nvPr/>
        </p:nvSpPr>
        <p:spPr>
          <a:xfrm>
            <a:off x="548640" y="1417320"/>
            <a:ext cx="11094415" cy="411480"/>
          </a:xfrm>
          <a:prstGeom prst="rect">
            <a:avLst/>
          </a:prstGeom>
          <a:noFill/>
          <a:ln/>
        </p:spPr>
        <p:txBody>
          <a:bodyPr wrap="square" lIns="0" tIns="0" rIns="0" bIns="0" rtlCol="0" anchor="t"/>
          <a:lstStyle/>
          <a:p>
            <a:pPr indent="0" marL="0">
              <a:buNone/>
            </a:pPr>
            <a:r>
              <a:rPr lang="en-US" sz="1800" dirty="0">
                <a:solidFill>
                  <a:srgbClr val="6B7280"/>
                </a:solidFill>
                <a:latin typeface="Calibri" pitchFamily="34" charset="0"/>
                <a:ea typeface="Calibri" pitchFamily="34" charset="-122"/>
                <a:cs typeface="Calibri" pitchFamily="34" charset="-120"/>
              </a:rPr>
              <a:t>Un repère donne du sens à une valeur : un objectif, une moyenne, un seuil.</a:t>
            </a:r>
            <a:endParaRPr lang="en-US" sz="1800" dirty="0"/>
          </a:p>
        </p:txBody>
      </p:sp>
      <p:sp>
        <p:nvSpPr>
          <p:cNvPr id="7" name="Shape 5"/>
          <p:cNvSpPr/>
          <p:nvPr/>
        </p:nvSpPr>
        <p:spPr>
          <a:xfrm>
            <a:off x="548640" y="2011680"/>
            <a:ext cx="5802117" cy="2435606"/>
          </a:xfrm>
          <a:prstGeom prst="rect">
            <a:avLst/>
          </a:prstGeom>
          <a:solidFill>
            <a:srgbClr val="F3F4F6"/>
          </a:solidFill>
          <a:ln/>
        </p:spPr>
      </p:sp>
      <p:sp>
        <p:nvSpPr>
          <p:cNvPr id="8" name="Text 6"/>
          <p:cNvSpPr txBox="1"/>
          <p:nvPr/>
        </p:nvSpPr>
        <p:spPr>
          <a:xfrm>
            <a:off x="731520" y="2157984"/>
            <a:ext cx="5436357" cy="2142998"/>
          </a:xfrm>
          <a:prstGeom prst="rect">
            <a:avLst/>
          </a:prstGeom>
          <a:noFill/>
          <a:ln/>
        </p:spPr>
        <p:txBody>
          <a:bodyPr wrap="square" lIns="0" tIns="0" rIns="0" bIns="0" rtlCol="0" anchor="t"/>
          <a:lstStyle/>
          <a:p>
            <a:pPr indent="0" marL="0">
              <a:lnSpc>
                <a:spcPct val="100000"/>
              </a:lnSpc>
              <a:buNone/>
            </a:pPr>
            <a:r>
              <a:rPr lang="en-US" sz="1300" dirty="0">
                <a:solidFill>
                  <a:srgbClr val="1F2933"/>
                </a:solidFill>
                <a:latin typeface="Courier New" pitchFamily="34" charset="0"/>
                <a:ea typeface="Courier New" pitchFamily="34" charset="-122"/>
                <a:cs typeface="Courier New" pitchFamily="34" charset="-120"/>
              </a:rPr>
              <a:t>objectif_total = (</a:t>
            </a:r>
            <a:endParaRPr lang="en-US" sz="1300" dirty="0"/>
          </a:p>
          <a:p>
            <a:pPr indent="0" marL="0">
              <a:lnSpc>
                <a:spcPct val="100000"/>
              </a:lnSpc>
              <a:buNone/>
            </a:pPr>
            <a:r>
              <a:rPr lang="en-US" sz="1300" dirty="0">
                <a:solidFill>
                  <a:srgbClr val="1F2933"/>
                </a:solidFill>
                <a:latin typeface="Courier New" pitchFamily="34" charset="0"/>
                <a:ea typeface="Courier New" pitchFamily="34" charset="-122"/>
                <a:cs typeface="Courier New" pitchFamily="34" charset="-120"/>
              </a:rPr>
              <a:t>    indicateurs.groupby("mois")["objectif_mensuel"]</a:t>
            </a:r>
            <a:endParaRPr lang="en-US" sz="1300" dirty="0"/>
          </a:p>
          <a:p>
            <a:pPr indent="0" marL="0">
              <a:lnSpc>
                <a:spcPct val="100000"/>
              </a:lnSpc>
              <a:buNone/>
            </a:pPr>
            <a:r>
              <a:rPr lang="en-US" sz="1300" dirty="0">
                <a:solidFill>
                  <a:srgbClr val="1F2933"/>
                </a:solidFill>
                <a:latin typeface="Courier New" pitchFamily="34" charset="0"/>
                <a:ea typeface="Courier New" pitchFamily="34" charset="-122"/>
                <a:cs typeface="Courier New" pitchFamily="34" charset="-120"/>
              </a:rPr>
              <a:t>    .sum().iloc[0]</a:t>
            </a:r>
            <a:endParaRPr lang="en-US" sz="1300" dirty="0"/>
          </a:p>
          <a:p>
            <a:pPr indent="0" marL="0">
              <a:lnSpc>
                <a:spcPct val="100000"/>
              </a:lnSpc>
              <a:buNone/>
            </a:pPr>
            <a:r>
              <a:rPr lang="en-US" sz="1300" dirty="0">
                <a:solidFill>
                  <a:srgbClr val="1F2933"/>
                </a:solidFill>
                <a:latin typeface="Courier New" pitchFamily="34" charset="0"/>
                <a:ea typeface="Courier New" pitchFamily="34" charset="-122"/>
                <a:cs typeface="Courier New" pitchFamily="34" charset="-120"/>
              </a:rPr>
              <a:t>)   # 47 000 euros</a:t>
            </a:r>
            <a:endParaRPr lang="en-US" sz="1300" dirty="0"/>
          </a:p>
          <a:p>
            <a:pPr indent="0" marL="0">
              <a:lnSpc>
                <a:spcPct val="100000"/>
              </a:lnSpc>
              <a:buNone/>
            </a:pPr>
            <a:r>
              <a:rPr lang="en-US" sz="1300" dirty="0">
                <a:solidFill>
                  <a:srgbClr val="1F2933"/>
                </a:solidFill>
                <a:latin typeface="Courier New" pitchFamily="34" charset="0"/>
                <a:ea typeface="Courier New" pitchFamily="34" charset="-122"/>
                <a:cs typeface="Courier New" pitchFamily="34" charset="-120"/>
              </a:rPr>
              <a:t> </a:t>
            </a:r>
            <a:endParaRPr lang="en-US" sz="1300" dirty="0"/>
          </a:p>
          <a:p>
            <a:pPr indent="0" marL="0">
              <a:lnSpc>
                <a:spcPct val="100000"/>
              </a:lnSpc>
              <a:buNone/>
            </a:pPr>
            <a:r>
              <a:rPr lang="en-US" sz="1300" dirty="0">
                <a:solidFill>
                  <a:srgbClr val="1F2933"/>
                </a:solidFill>
                <a:latin typeface="Courier New" pitchFamily="34" charset="0"/>
                <a:ea typeface="Courier New" pitchFamily="34" charset="-122"/>
                <a:cs typeface="Courier New" pitchFamily="34" charset="-120"/>
              </a:rPr>
              <a:t>ax.axhline(objectif_total, color="#E07B39",</a:t>
            </a:r>
            <a:endParaRPr lang="en-US" sz="1300" dirty="0"/>
          </a:p>
          <a:p>
            <a:pPr indent="0" marL="0">
              <a:lnSpc>
                <a:spcPct val="100000"/>
              </a:lnSpc>
              <a:buNone/>
            </a:pPr>
            <a:r>
              <a:rPr lang="en-US" sz="1300" dirty="0">
                <a:solidFill>
                  <a:srgbClr val="1F2933"/>
                </a:solidFill>
                <a:latin typeface="Courier New" pitchFamily="34" charset="0"/>
                <a:ea typeface="Courier New" pitchFamily="34" charset="-122"/>
                <a:cs typeface="Courier New" pitchFamily="34" charset="-120"/>
              </a:rPr>
              <a:t>           linestyle="--", label="objectif mensuel")</a:t>
            </a:r>
            <a:endParaRPr lang="en-US" sz="1300" dirty="0"/>
          </a:p>
          <a:p>
            <a:pPr indent="0" marL="0">
              <a:lnSpc>
                <a:spcPct val="100000"/>
              </a:lnSpc>
              <a:buNone/>
            </a:pPr>
            <a:r>
              <a:rPr lang="en-US" sz="1300" dirty="0">
                <a:solidFill>
                  <a:srgbClr val="1F2933"/>
                </a:solidFill>
                <a:latin typeface="Courier New" pitchFamily="34" charset="0"/>
                <a:ea typeface="Courier New" pitchFamily="34" charset="-122"/>
                <a:cs typeface="Courier New" pitchFamily="34" charset="-120"/>
              </a:rPr>
              <a:t>ax.axvline(1, color="#E07B39", linestyle="--")</a:t>
            </a:r>
            <a:endParaRPr lang="en-US" sz="1300" dirty="0"/>
          </a:p>
          <a:p>
            <a:pPr indent="0" marL="0">
              <a:lnSpc>
                <a:spcPct val="100000"/>
              </a:lnSpc>
              <a:buNone/>
            </a:pPr>
            <a:r>
              <a:rPr lang="en-US" sz="1300" dirty="0">
                <a:solidFill>
                  <a:srgbClr val="1F2933"/>
                </a:solidFill>
                <a:latin typeface="Courier New" pitchFamily="34" charset="0"/>
                <a:ea typeface="Courier New" pitchFamily="34" charset="-122"/>
                <a:cs typeface="Courier New" pitchFamily="34" charset="-120"/>
              </a:rPr>
              <a:t>ax.axvspan(pd.to_datetime("2025-06-15"),</a:t>
            </a:r>
            <a:endParaRPr lang="en-US" sz="1300" dirty="0"/>
          </a:p>
          <a:p>
            <a:pPr indent="0" marL="0">
              <a:lnSpc>
                <a:spcPct val="100000"/>
              </a:lnSpc>
              <a:buNone/>
            </a:pPr>
            <a:r>
              <a:rPr lang="en-US" sz="1300" dirty="0">
                <a:solidFill>
                  <a:srgbClr val="1F2933"/>
                </a:solidFill>
                <a:latin typeface="Courier New" pitchFamily="34" charset="0"/>
                <a:ea typeface="Courier New" pitchFamily="34" charset="-122"/>
                <a:cs typeface="Courier New" pitchFamily="34" charset="-120"/>
              </a:rPr>
              <a:t>           pd.to_datetime("2025-08-15"),</a:t>
            </a:r>
            <a:endParaRPr lang="en-US" sz="1300" dirty="0"/>
          </a:p>
          <a:p>
            <a:pPr indent="0" marL="0">
              <a:lnSpc>
                <a:spcPct val="100000"/>
              </a:lnSpc>
              <a:buNone/>
            </a:pPr>
            <a:r>
              <a:rPr lang="en-US" sz="1300" dirty="0">
                <a:solidFill>
                  <a:srgbClr val="1F2933"/>
                </a:solidFill>
                <a:latin typeface="Courier New" pitchFamily="34" charset="0"/>
                <a:ea typeface="Courier New" pitchFamily="34" charset="-122"/>
                <a:cs typeface="Courier New" pitchFamily="34" charset="-120"/>
              </a:rPr>
              <a:t>           color="#B8C2CC", alpha=0.3)</a:t>
            </a:r>
            <a:endParaRPr lang="en-US" sz="1300" dirty="0"/>
          </a:p>
        </p:txBody>
      </p:sp>
      <p:pic>
        <p:nvPicPr>
          <p:cNvPr id="9" name="Image 0" descr="Chiffre d'affaires mensuel en barres, avec la ligne horizontale de l'objectif mensuel">    </p:cNvPr>
          <p:cNvPicPr>
            <a:picLocks noChangeAspect="1"/>
          </p:cNvPicPr>
          <p:nvPr/>
        </p:nvPicPr>
        <p:blipFill>
          <a:blip r:embed="rId1"/>
          <a:stretch>
            <a:fillRect/>
          </a:stretch>
        </p:blipFill>
        <p:spPr>
          <a:xfrm>
            <a:off x="6964561" y="2011680"/>
            <a:ext cx="4521891" cy="2377440"/>
          </a:xfrm>
          <a:prstGeom prst="rect">
            <a:avLst/>
          </a:prstGeom>
        </p:spPr>
      </p:pic>
      <p:sp>
        <p:nvSpPr>
          <p:cNvPr id="10" name="Text 7"/>
          <p:cNvSpPr txBox="1"/>
          <p:nvPr/>
        </p:nvSpPr>
        <p:spPr>
          <a:xfrm>
            <a:off x="6807957" y="4709160"/>
            <a:ext cx="4835098" cy="1539240"/>
          </a:xfrm>
          <a:prstGeom prst="rect">
            <a:avLst/>
          </a:prstGeom>
          <a:noFill/>
          <a:ln/>
        </p:spPr>
        <p:txBody>
          <a:bodyPr wrap="square" lIns="0" tIns="0" rIns="0" bIns="0" rtlCol="0" anchor="t"/>
          <a:lstStyle/>
          <a:p>
            <a:pPr marL="254000" indent="-254000">
              <a:spcAft>
                <a:spcPts val="800"/>
              </a:spcAft>
              <a:buSzPct val="100000"/>
              <a:buChar char="•"/>
            </a:pPr>
            <a:r>
              <a:rPr lang="en-US" sz="1500" dirty="0">
                <a:solidFill>
                  <a:srgbClr val="1F3A5F"/>
                </a:solidFill>
                <a:latin typeface="Courier New" pitchFamily="34" charset="0"/>
                <a:ea typeface="Courier New" pitchFamily="34" charset="-122"/>
                <a:cs typeface="Courier New" pitchFamily="34" charset="-120"/>
              </a:rPr>
              <a:t>axhline</a:t>
            </a:r>
            <a:pPr indent="0" marL="0">
              <a:buNone/>
            </a:pPr>
            <a:r>
              <a:rPr lang="en-US" sz="1500" dirty="0">
                <a:solidFill>
                  <a:srgbClr val="1F2933"/>
                </a:solidFill>
                <a:latin typeface="Calibri" pitchFamily="34" charset="0"/>
                <a:ea typeface="Calibri" pitchFamily="34" charset="-122"/>
                <a:cs typeface="Calibri" pitchFamily="34" charset="-120"/>
              </a:rPr>
              <a:t> : une ligne horizontale sur toute la largeur</a:t>
            </a:r>
            <a:endParaRPr lang="en-US" sz="1500" dirty="0"/>
          </a:p>
          <a:p>
            <a:pPr marL="254000" indent="-254000">
              <a:spcAft>
                <a:spcPts val="800"/>
              </a:spcAft>
              <a:buSzPct val="100000"/>
              <a:buChar char="•"/>
            </a:pPr>
            <a:r>
              <a:rPr lang="en-US" sz="1500" dirty="0">
                <a:solidFill>
                  <a:srgbClr val="1F3A5F"/>
                </a:solidFill>
                <a:latin typeface="Courier New" pitchFamily="34" charset="0"/>
                <a:ea typeface="Courier New" pitchFamily="34" charset="-122"/>
                <a:cs typeface="Courier New" pitchFamily="34" charset="-120"/>
              </a:rPr>
              <a:t>axvline</a:t>
            </a:r>
            <a:pPr indent="0" marL="0">
              <a:buNone/>
            </a:pPr>
            <a:r>
              <a:rPr lang="en-US" sz="1500" dirty="0">
                <a:solidFill>
                  <a:srgbClr val="1F2933"/>
                </a:solidFill>
                <a:latin typeface="Calibri" pitchFamily="34" charset="0"/>
                <a:ea typeface="Calibri" pitchFamily="34" charset="-122"/>
                <a:cs typeface="Calibri" pitchFamily="34" charset="-120"/>
              </a:rPr>
              <a:t> : une ligne verticale, ici à x = 1</a:t>
            </a:r>
            <a:endParaRPr lang="en-US" sz="1500" dirty="0"/>
          </a:p>
          <a:p>
            <a:pPr marL="254000" indent="-254000">
              <a:spcAft>
                <a:spcPts val="800"/>
              </a:spcAft>
              <a:buSzPct val="100000"/>
              <a:buChar char="•"/>
            </a:pPr>
            <a:r>
              <a:rPr lang="en-US" sz="1500" dirty="0">
                <a:solidFill>
                  <a:srgbClr val="1F3A5F"/>
                </a:solidFill>
                <a:latin typeface="Courier New" pitchFamily="34" charset="0"/>
                <a:ea typeface="Courier New" pitchFamily="34" charset="-122"/>
                <a:cs typeface="Courier New" pitchFamily="34" charset="-120"/>
              </a:rPr>
              <a:t>axvspan</a:t>
            </a:r>
            <a:pPr indent="0" marL="0">
              <a:buNone/>
            </a:pPr>
            <a:r>
              <a:rPr lang="en-US" sz="1500" dirty="0">
                <a:solidFill>
                  <a:srgbClr val="1F2933"/>
                </a:solidFill>
                <a:latin typeface="Calibri" pitchFamily="34" charset="0"/>
                <a:ea typeface="Calibri" pitchFamily="34" charset="-122"/>
                <a:cs typeface="Calibri" pitchFamily="34" charset="-120"/>
              </a:rPr>
              <a:t> : une bande verticale entre deux abscisses, ici l'été sur un axe de dates</a:t>
            </a:r>
            <a:endParaRPr lang="en-US" sz="1500" dirty="0"/>
          </a:p>
        </p:txBody>
      </p:sp>
      <p:sp>
        <p:nvSpPr>
          <p:cNvPr id="11" name="Text 8"/>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Analyse de données avec Python   |   Jour 2, après-midi</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66928"/>
            <a:ext cx="475488" cy="475488"/>
          </a:xfrm>
          <a:prstGeom prst="ellipse">
            <a:avLst/>
          </a:prstGeom>
          <a:solidFill>
            <a:srgbClr val="2F7D62"/>
          </a:solidFill>
          <a:ln/>
        </p:spPr>
      </p:sp>
      <p:sp>
        <p:nvSpPr>
          <p:cNvPr id="3" name="Text 1"/>
          <p:cNvSpPr txBox="1"/>
          <p:nvPr/>
        </p:nvSpPr>
        <p:spPr>
          <a:xfrm>
            <a:off x="548640" y="566928"/>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4" name="Text 2"/>
          <p:cNvSpPr txBox="1"/>
          <p:nvPr/>
        </p:nvSpPr>
        <p:spPr>
          <a:xfrm>
            <a:off x="1280160" y="164592"/>
            <a:ext cx="10362895" cy="274320"/>
          </a:xfrm>
          <a:prstGeom prst="rect">
            <a:avLst/>
          </a:prstGeom>
          <a:noFill/>
          <a:ln/>
        </p:spPr>
        <p:txBody>
          <a:bodyPr wrap="square" lIns="0" tIns="0" rIns="0" bIns="0" rtlCol="0" anchor="ctr"/>
          <a:lstStyle/>
          <a:p>
            <a:pPr indent="0" marL="0">
              <a:buNone/>
            </a:pPr>
            <a:r>
              <a:rPr lang="en-US" sz="1200" b="1" spc="200" kern="0" dirty="0">
                <a:solidFill>
                  <a:srgbClr val="2F7D62"/>
                </a:solidFill>
                <a:latin typeface="Calibri" pitchFamily="34" charset="0"/>
                <a:ea typeface="Calibri" pitchFamily="34" charset="-122"/>
                <a:cs typeface="Calibri" pitchFamily="34" charset="-120"/>
              </a:rPr>
              <a:t>MATPLOTLIB</a:t>
            </a:r>
            <a:endParaRPr lang="en-US" sz="1200" dirty="0"/>
          </a:p>
        </p:txBody>
      </p:sp>
      <p:sp>
        <p:nvSpPr>
          <p:cNvPr id="5" name="Text 3"/>
          <p:cNvSpPr txBox="1"/>
          <p:nvPr/>
        </p:nvSpPr>
        <p:spPr>
          <a:xfrm>
            <a:off x="1280160" y="457200"/>
            <a:ext cx="10362895" cy="694944"/>
          </a:xfrm>
          <a:prstGeom prst="rect">
            <a:avLst/>
          </a:prstGeom>
          <a:noFill/>
          <a:ln/>
        </p:spPr>
        <p:txBody>
          <a:bodyPr wrap="square" lIns="0" tIns="0" rIns="0" bIns="0" rtlCol="0" anchor="ctr"/>
          <a:lstStyle/>
          <a:p>
            <a:pPr indent="0" marL="0">
              <a:buNone/>
            </a:pPr>
            <a:r>
              <a:rPr lang="en-US" sz="3000" b="1" dirty="0">
                <a:solidFill>
                  <a:srgbClr val="1F3A5F"/>
                </a:solidFill>
                <a:latin typeface="Cambria" pitchFamily="34" charset="0"/>
                <a:ea typeface="Cambria" pitchFamily="34" charset="-122"/>
                <a:cs typeface="Cambria" pitchFamily="34" charset="-120"/>
              </a:rPr>
              <a:t>Écrire les valeurs avec bar_label</a:t>
            </a:r>
            <a:endParaRPr lang="en-US" sz="3000" dirty="0"/>
          </a:p>
        </p:txBody>
      </p:sp>
      <p:sp>
        <p:nvSpPr>
          <p:cNvPr id="6" name="Shape 4"/>
          <p:cNvSpPr/>
          <p:nvPr/>
        </p:nvSpPr>
        <p:spPr>
          <a:xfrm>
            <a:off x="548640" y="1417320"/>
            <a:ext cx="4835098" cy="2180844"/>
          </a:xfrm>
          <a:prstGeom prst="rect">
            <a:avLst/>
          </a:prstGeom>
          <a:solidFill>
            <a:srgbClr val="F3F4F6"/>
          </a:solidFill>
          <a:ln/>
        </p:spPr>
      </p:sp>
      <p:sp>
        <p:nvSpPr>
          <p:cNvPr id="7" name="Text 5"/>
          <p:cNvSpPr txBox="1"/>
          <p:nvPr/>
        </p:nvSpPr>
        <p:spPr>
          <a:xfrm>
            <a:off x="731520" y="1563624"/>
            <a:ext cx="4469338" cy="1888236"/>
          </a:xfrm>
          <a:prstGeom prst="rect">
            <a:avLst/>
          </a:prstGeom>
          <a:noFill/>
          <a:ln/>
        </p:spPr>
        <p:txBody>
          <a:bodyPr wrap="square" lIns="0" tIns="0" rIns="0" bIns="0" rtlCol="0" anchor="t"/>
          <a:lstStyle/>
          <a:p>
            <a:pPr indent="0" marL="0">
              <a:lnSpc>
                <a:spcPct val="100000"/>
              </a:lnSpc>
              <a:buNone/>
            </a:pPr>
            <a:r>
              <a:rPr lang="en-US" sz="1400" dirty="0">
                <a:solidFill>
                  <a:srgbClr val="1F2933"/>
                </a:solidFill>
                <a:latin typeface="Courier New" pitchFamily="34" charset="0"/>
                <a:ea typeface="Courier New" pitchFamily="34" charset="-122"/>
                <a:cs typeface="Courier New" pitchFamily="34" charset="-120"/>
              </a:rPr>
              <a:t>barres = ax.barh(par_region.index,</a:t>
            </a:r>
            <a:endParaRPr lang="en-US" sz="1400" dirty="0"/>
          </a:p>
          <a:p>
            <a:pPr indent="0" marL="0">
              <a:lnSpc>
                <a:spcPct val="100000"/>
              </a:lnSpc>
              <a:buNone/>
            </a:pPr>
            <a:r>
              <a:rPr lang="en-US" sz="1400" dirty="0">
                <a:solidFill>
                  <a:srgbClr val="1F2933"/>
                </a:solidFill>
                <a:latin typeface="Courier New" pitchFamily="34" charset="0"/>
                <a:ea typeface="Courier New" pitchFamily="34" charset="-122"/>
                <a:cs typeface="Courier New" pitchFamily="34" charset="-120"/>
              </a:rPr>
              <a:t>                 par_region.values)</a:t>
            </a:r>
            <a:endParaRPr lang="en-US" sz="1400" dirty="0"/>
          </a:p>
          <a:p>
            <a:pPr indent="0" marL="0">
              <a:lnSpc>
                <a:spcPct val="100000"/>
              </a:lnSpc>
              <a:buNone/>
            </a:pPr>
            <a:r>
              <a:rPr lang="en-US" sz="1400" dirty="0">
                <a:solidFill>
                  <a:srgbClr val="1F2933"/>
                </a:solidFill>
                <a:latin typeface="Courier New" pitchFamily="34" charset="0"/>
                <a:ea typeface="Courier New" pitchFamily="34" charset="-122"/>
                <a:cs typeface="Courier New" pitchFamily="34" charset="-120"/>
              </a:rPr>
              <a:t>ax.bar_label(</a:t>
            </a:r>
            <a:endParaRPr lang="en-US" sz="1400" dirty="0"/>
          </a:p>
          <a:p>
            <a:pPr indent="0" marL="0">
              <a:lnSpc>
                <a:spcPct val="100000"/>
              </a:lnSpc>
              <a:buNone/>
            </a:pPr>
            <a:r>
              <a:rPr lang="en-US" sz="1400" dirty="0">
                <a:solidFill>
                  <a:srgbClr val="1F2933"/>
                </a:solidFill>
                <a:latin typeface="Courier New" pitchFamily="34" charset="0"/>
                <a:ea typeface="Courier New" pitchFamily="34" charset="-122"/>
                <a:cs typeface="Courier New" pitchFamily="34" charset="-120"/>
              </a:rPr>
              <a:t>    barres,</a:t>
            </a:r>
            <a:endParaRPr lang="en-US" sz="1400" dirty="0"/>
          </a:p>
          <a:p>
            <a:pPr indent="0" marL="0">
              <a:lnSpc>
                <a:spcPct val="100000"/>
              </a:lnSpc>
              <a:buNone/>
            </a:pPr>
            <a:r>
              <a:rPr lang="en-US" sz="1400" dirty="0">
                <a:solidFill>
                  <a:srgbClr val="1F2933"/>
                </a:solidFill>
                <a:latin typeface="Courier New" pitchFamily="34" charset="0"/>
                <a:ea typeface="Courier New" pitchFamily="34" charset="-122"/>
                <a:cs typeface="Courier New" pitchFamily="34" charset="-120"/>
              </a:rPr>
              <a:t>    labels=[f"{v / 1000:.0f} k€"</a:t>
            </a:r>
            <a:endParaRPr lang="en-US" sz="1400" dirty="0"/>
          </a:p>
          <a:p>
            <a:pPr indent="0" marL="0">
              <a:lnSpc>
                <a:spcPct val="100000"/>
              </a:lnSpc>
              <a:buNone/>
            </a:pPr>
            <a:r>
              <a:rPr lang="en-US" sz="1400" dirty="0">
                <a:solidFill>
                  <a:srgbClr val="1F2933"/>
                </a:solidFill>
                <a:latin typeface="Courier New" pitchFamily="34" charset="0"/>
                <a:ea typeface="Courier New" pitchFamily="34" charset="-122"/>
                <a:cs typeface="Courier New" pitchFamily="34" charset="-120"/>
              </a:rPr>
              <a:t>            for v in par_region.values],</a:t>
            </a:r>
            <a:endParaRPr lang="en-US" sz="1400" dirty="0"/>
          </a:p>
          <a:p>
            <a:pPr indent="0" marL="0">
              <a:lnSpc>
                <a:spcPct val="100000"/>
              </a:lnSpc>
              <a:buNone/>
            </a:pPr>
            <a:r>
              <a:rPr lang="en-US" sz="1400" dirty="0">
                <a:solidFill>
                  <a:srgbClr val="1F2933"/>
                </a:solidFill>
                <a:latin typeface="Courier New" pitchFamily="34" charset="0"/>
                <a:ea typeface="Courier New" pitchFamily="34" charset="-122"/>
                <a:cs typeface="Courier New" pitchFamily="34" charset="-120"/>
              </a:rPr>
              <a:t>    padding=3,</a:t>
            </a:r>
            <a:endParaRPr lang="en-US" sz="1400" dirty="0"/>
          </a:p>
          <a:p>
            <a:pPr indent="0" marL="0">
              <a:lnSpc>
                <a:spcPct val="100000"/>
              </a:lnSpc>
              <a:buNone/>
            </a:pPr>
            <a:r>
              <a:rPr lang="en-US" sz="1400" dirty="0">
                <a:solidFill>
                  <a:srgbClr val="1F2933"/>
                </a:solidFill>
                <a:latin typeface="Courier New" pitchFamily="34" charset="0"/>
                <a:ea typeface="Courier New" pitchFamily="34" charset="-122"/>
                <a:cs typeface="Courier New" pitchFamily="34" charset="-120"/>
              </a:rPr>
              <a:t>)</a:t>
            </a:r>
            <a:endParaRPr lang="en-US" sz="1400" dirty="0"/>
          </a:p>
          <a:p>
            <a:pPr indent="0" marL="0">
              <a:lnSpc>
                <a:spcPct val="100000"/>
              </a:lnSpc>
              <a:buNone/>
            </a:pPr>
            <a:r>
              <a:rPr lang="en-US" sz="1400" dirty="0">
                <a:solidFill>
                  <a:srgbClr val="1F2933"/>
                </a:solidFill>
                <a:latin typeface="Courier New" pitchFamily="34" charset="0"/>
                <a:ea typeface="Courier New" pitchFamily="34" charset="-122"/>
                <a:cs typeface="Courier New" pitchFamily="34" charset="-120"/>
              </a:rPr>
              <a:t>ax.set_xlim(0, 145000)   # de la place</a:t>
            </a:r>
            <a:endParaRPr lang="en-US" sz="1400" dirty="0"/>
          </a:p>
        </p:txBody>
      </p:sp>
      <p:sp>
        <p:nvSpPr>
          <p:cNvPr id="8" name="Text 6"/>
          <p:cNvSpPr txBox="1"/>
          <p:nvPr/>
        </p:nvSpPr>
        <p:spPr>
          <a:xfrm>
            <a:off x="548640" y="3918204"/>
            <a:ext cx="4835098" cy="1539240"/>
          </a:xfrm>
          <a:prstGeom prst="rect">
            <a:avLst/>
          </a:prstGeom>
          <a:noFill/>
          <a:ln/>
        </p:spPr>
        <p:txBody>
          <a:bodyPr wrap="square" lIns="0" tIns="0" rIns="0" bIns="0" rtlCol="0" anchor="t"/>
          <a:lstStyle/>
          <a:p>
            <a:pPr marL="254000" indent="-254000">
              <a:spcAft>
                <a:spcPts val="800"/>
              </a:spcAft>
              <a:buSzPct val="100000"/>
              <a:buChar char="•"/>
            </a:pPr>
            <a:r>
              <a:rPr lang="en-US" sz="1500" dirty="0">
                <a:solidFill>
                  <a:srgbClr val="1F3A5F"/>
                </a:solidFill>
                <a:latin typeface="Courier New" pitchFamily="34" charset="0"/>
                <a:ea typeface="Courier New" pitchFamily="34" charset="-122"/>
                <a:cs typeface="Courier New" pitchFamily="34" charset="-120"/>
              </a:rPr>
              <a:t>ax.bar</a:t>
            </a:r>
            <a:pPr indent="0" marL="0">
              <a:buNone/>
            </a:pPr>
            <a:r>
              <a:rPr lang="en-US" sz="1500" dirty="0">
                <a:solidFill>
                  <a:srgbClr val="1F2933"/>
                </a:solidFill>
                <a:latin typeface="Calibri" pitchFamily="34" charset="0"/>
                <a:ea typeface="Calibri" pitchFamily="34" charset="-122"/>
                <a:cs typeface="Calibri" pitchFamily="34" charset="-120"/>
              </a:rPr>
              <a:t> et </a:t>
            </a:r>
            <a:pPr indent="0" marL="0">
              <a:buNone/>
            </a:pPr>
            <a:r>
              <a:rPr lang="en-US" sz="1500" dirty="0">
                <a:solidFill>
                  <a:srgbClr val="1F3A5F"/>
                </a:solidFill>
                <a:latin typeface="Courier New" pitchFamily="34" charset="0"/>
                <a:ea typeface="Courier New" pitchFamily="34" charset="-122"/>
                <a:cs typeface="Courier New" pitchFamily="34" charset="-120"/>
              </a:rPr>
              <a:t>ax.barh</a:t>
            </a:r>
            <a:pPr indent="0" marL="0">
              <a:buNone/>
            </a:pPr>
            <a:r>
              <a:rPr lang="en-US" sz="1500" dirty="0">
                <a:solidFill>
                  <a:srgbClr val="1F2933"/>
                </a:solidFill>
                <a:latin typeface="Calibri" pitchFamily="34" charset="0"/>
                <a:ea typeface="Calibri" pitchFamily="34" charset="-122"/>
                <a:cs typeface="Calibri" pitchFamily="34" charset="-120"/>
              </a:rPr>
              <a:t> renvoient les barres tracées</a:t>
            </a:r>
            <a:endParaRPr lang="en-US" sz="1500" dirty="0"/>
          </a:p>
          <a:p>
            <a:pPr marL="254000" indent="-254000">
              <a:spcAft>
                <a:spcPts val="800"/>
              </a:spcAft>
              <a:buSzPct val="100000"/>
              <a:buChar char="•"/>
            </a:pPr>
            <a:r>
              <a:rPr lang="en-US" sz="1500" dirty="0">
                <a:solidFill>
                  <a:srgbClr val="1F2933"/>
                </a:solidFill>
                <a:latin typeface="Calibri" pitchFamily="34" charset="0"/>
                <a:ea typeface="Calibri" pitchFamily="34" charset="-122"/>
                <a:cs typeface="Calibri" pitchFamily="34" charset="-120"/>
              </a:rPr>
              <a:t>Sans </a:t>
            </a:r>
            <a:pPr indent="0" marL="0">
              <a:buNone/>
            </a:pPr>
            <a:r>
              <a:rPr lang="en-US" sz="1500" dirty="0">
                <a:solidFill>
                  <a:srgbClr val="1F3A5F"/>
                </a:solidFill>
                <a:latin typeface="Courier New" pitchFamily="34" charset="0"/>
                <a:ea typeface="Courier New" pitchFamily="34" charset="-122"/>
                <a:cs typeface="Courier New" pitchFamily="34" charset="-120"/>
              </a:rPr>
              <a:t>labels</a:t>
            </a:r>
            <a:pPr indent="0" marL="0">
              <a:buNone/>
            </a:pPr>
            <a:r>
              <a:rPr lang="en-US" sz="1500" dirty="0">
                <a:solidFill>
                  <a:srgbClr val="1F2933"/>
                </a:solidFill>
                <a:latin typeface="Calibri" pitchFamily="34" charset="0"/>
                <a:ea typeface="Calibri" pitchFamily="34" charset="-122"/>
                <a:cs typeface="Calibri" pitchFamily="34" charset="-120"/>
              </a:rPr>
              <a:t>, la valeur brute ; </a:t>
            </a:r>
            <a:pPr indent="0" marL="0">
              <a:buNone/>
            </a:pPr>
            <a:r>
              <a:rPr lang="en-US" sz="1500" dirty="0">
                <a:solidFill>
                  <a:srgbClr val="1F3A5F"/>
                </a:solidFill>
                <a:latin typeface="Courier New" pitchFamily="34" charset="0"/>
                <a:ea typeface="Courier New" pitchFamily="34" charset="-122"/>
                <a:cs typeface="Courier New" pitchFamily="34" charset="-120"/>
              </a:rPr>
              <a:t>padding</a:t>
            </a:r>
            <a:pPr indent="0" marL="0">
              <a:buNone/>
            </a:pPr>
            <a:r>
              <a:rPr lang="en-US" sz="1500" dirty="0">
                <a:solidFill>
                  <a:srgbClr val="1F2933"/>
                </a:solidFill>
                <a:latin typeface="Calibri" pitchFamily="34" charset="0"/>
                <a:ea typeface="Calibri" pitchFamily="34" charset="-122"/>
                <a:cs typeface="Calibri" pitchFamily="34" charset="-120"/>
              </a:rPr>
              <a:t> écarte le label de la barre</a:t>
            </a:r>
            <a:endParaRPr lang="en-US" sz="1500" dirty="0"/>
          </a:p>
          <a:p>
            <a:pPr marL="254000" indent="-254000">
              <a:spcAft>
                <a:spcPts val="800"/>
              </a:spcAft>
              <a:buSzPct val="100000"/>
              <a:buChar char="•"/>
            </a:pPr>
            <a:r>
              <a:rPr lang="en-US" sz="1500" dirty="0">
                <a:solidFill>
                  <a:srgbClr val="1F2933"/>
                </a:solidFill>
                <a:latin typeface="Calibri" pitchFamily="34" charset="0"/>
                <a:ea typeface="Calibri" pitchFamily="34" charset="-122"/>
                <a:cs typeface="Calibri" pitchFamily="34" charset="-120"/>
              </a:rPr>
              <a:t>Un label dépasse du cadre ? On prolonge l'axe avec </a:t>
            </a:r>
            <a:pPr indent="0" marL="0">
              <a:buNone/>
            </a:pPr>
            <a:r>
              <a:rPr lang="en-US" sz="1500" dirty="0">
                <a:solidFill>
                  <a:srgbClr val="1F3A5F"/>
                </a:solidFill>
                <a:latin typeface="Courier New" pitchFamily="34" charset="0"/>
                <a:ea typeface="Courier New" pitchFamily="34" charset="-122"/>
                <a:cs typeface="Courier New" pitchFamily="34" charset="-120"/>
              </a:rPr>
              <a:t>set_xlim</a:t>
            </a:r>
            <a:pPr indent="0" marL="0">
              <a:buNone/>
            </a:pPr>
            <a:r>
              <a:rPr lang="en-US" sz="1500" dirty="0">
                <a:solidFill>
                  <a:srgbClr val="1F2933"/>
                </a:solidFill>
                <a:latin typeface="Calibri" pitchFamily="34" charset="0"/>
                <a:ea typeface="Calibri" pitchFamily="34" charset="-122"/>
                <a:cs typeface="Calibri" pitchFamily="34" charset="-120"/>
              </a:rPr>
              <a:t> ou </a:t>
            </a:r>
            <a:pPr indent="0" marL="0">
              <a:buNone/>
            </a:pPr>
            <a:r>
              <a:rPr lang="en-US" sz="1500" dirty="0">
                <a:solidFill>
                  <a:srgbClr val="1F3A5F"/>
                </a:solidFill>
                <a:latin typeface="Courier New" pitchFamily="34" charset="0"/>
                <a:ea typeface="Courier New" pitchFamily="34" charset="-122"/>
                <a:cs typeface="Courier New" pitchFamily="34" charset="-120"/>
              </a:rPr>
              <a:t>set_ylim</a:t>
            </a:r>
            <a:endParaRPr lang="en-US" sz="1500" dirty="0"/>
          </a:p>
        </p:txBody>
      </p:sp>
      <p:pic>
        <p:nvPicPr>
          <p:cNvPr id="9" name="Image 0" descr="Barres horizontales du chiffre d'affaires par région, avec le montant en milliers d'euros au bout de chaque barre">    </p:cNvPr>
          <p:cNvPicPr>
            <a:picLocks noChangeAspect="1"/>
          </p:cNvPicPr>
          <p:nvPr/>
        </p:nvPicPr>
        <p:blipFill>
          <a:blip r:embed="rId1"/>
          <a:stretch>
            <a:fillRect/>
          </a:stretch>
        </p:blipFill>
        <p:spPr>
          <a:xfrm>
            <a:off x="5840938" y="1417320"/>
            <a:ext cx="5802117" cy="2747215"/>
          </a:xfrm>
          <a:prstGeom prst="rect">
            <a:avLst/>
          </a:prstGeom>
        </p:spPr>
      </p:pic>
      <p:sp>
        <p:nvSpPr>
          <p:cNvPr id="10" name="Text 7"/>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Analyse de données avec Python   |   Jour 2, après-midi</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66928"/>
            <a:ext cx="475488" cy="475488"/>
          </a:xfrm>
          <a:prstGeom prst="ellipse">
            <a:avLst/>
          </a:prstGeom>
          <a:solidFill>
            <a:srgbClr val="2F7D62"/>
          </a:solidFill>
          <a:ln/>
        </p:spPr>
      </p:sp>
      <p:sp>
        <p:nvSpPr>
          <p:cNvPr id="3" name="Text 1"/>
          <p:cNvSpPr txBox="1"/>
          <p:nvPr/>
        </p:nvSpPr>
        <p:spPr>
          <a:xfrm>
            <a:off x="548640" y="566928"/>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4" name="Text 2"/>
          <p:cNvSpPr txBox="1"/>
          <p:nvPr/>
        </p:nvSpPr>
        <p:spPr>
          <a:xfrm>
            <a:off x="1280160" y="164592"/>
            <a:ext cx="10362895" cy="274320"/>
          </a:xfrm>
          <a:prstGeom prst="rect">
            <a:avLst/>
          </a:prstGeom>
          <a:noFill/>
          <a:ln/>
        </p:spPr>
        <p:txBody>
          <a:bodyPr wrap="square" lIns="0" tIns="0" rIns="0" bIns="0" rtlCol="0" anchor="ctr"/>
          <a:lstStyle/>
          <a:p>
            <a:pPr indent="0" marL="0">
              <a:buNone/>
            </a:pPr>
            <a:r>
              <a:rPr lang="en-US" sz="1200" b="1" spc="200" kern="0" dirty="0">
                <a:solidFill>
                  <a:srgbClr val="2F7D62"/>
                </a:solidFill>
                <a:latin typeface="Calibri" pitchFamily="34" charset="0"/>
                <a:ea typeface="Calibri" pitchFamily="34" charset="-122"/>
                <a:cs typeface="Calibri" pitchFamily="34" charset="-120"/>
              </a:rPr>
              <a:t>MATPLOTLIB</a:t>
            </a:r>
            <a:endParaRPr lang="en-US" sz="1200" dirty="0"/>
          </a:p>
        </p:txBody>
      </p:sp>
      <p:sp>
        <p:nvSpPr>
          <p:cNvPr id="5" name="Text 3"/>
          <p:cNvSpPr txBox="1"/>
          <p:nvPr/>
        </p:nvSpPr>
        <p:spPr>
          <a:xfrm>
            <a:off x="1280160" y="457200"/>
            <a:ext cx="10362895" cy="694944"/>
          </a:xfrm>
          <a:prstGeom prst="rect">
            <a:avLst/>
          </a:prstGeom>
          <a:noFill/>
          <a:ln/>
        </p:spPr>
        <p:txBody>
          <a:bodyPr wrap="square" lIns="0" tIns="0" rIns="0" bIns="0" rtlCol="0" anchor="ctr"/>
          <a:lstStyle/>
          <a:p>
            <a:pPr indent="0" marL="0">
              <a:buNone/>
            </a:pPr>
            <a:r>
              <a:rPr lang="en-US" sz="3000" b="1" dirty="0">
                <a:solidFill>
                  <a:srgbClr val="1F3A5F"/>
                </a:solidFill>
                <a:latin typeface="Cambria" pitchFamily="34" charset="0"/>
                <a:ea typeface="Cambria" pitchFamily="34" charset="-122"/>
                <a:cs typeface="Cambria" pitchFamily="34" charset="-120"/>
              </a:rPr>
              <a:t>Pointer un fait marquant avec annotate</a:t>
            </a:r>
            <a:endParaRPr lang="en-US" sz="3000" dirty="0"/>
          </a:p>
        </p:txBody>
      </p:sp>
      <p:sp>
        <p:nvSpPr>
          <p:cNvPr id="6" name="Shape 4"/>
          <p:cNvSpPr/>
          <p:nvPr/>
        </p:nvSpPr>
        <p:spPr>
          <a:xfrm>
            <a:off x="548640" y="1417320"/>
            <a:ext cx="5802117" cy="1971040"/>
          </a:xfrm>
          <a:prstGeom prst="rect">
            <a:avLst/>
          </a:prstGeom>
          <a:solidFill>
            <a:srgbClr val="F3F4F6"/>
          </a:solidFill>
          <a:ln/>
        </p:spPr>
      </p:sp>
      <p:sp>
        <p:nvSpPr>
          <p:cNvPr id="7" name="Text 5"/>
          <p:cNvSpPr txBox="1"/>
          <p:nvPr/>
        </p:nvSpPr>
        <p:spPr>
          <a:xfrm>
            <a:off x="731520" y="1563624"/>
            <a:ext cx="5436357" cy="1678432"/>
          </a:xfrm>
          <a:prstGeom prst="rect">
            <a:avLst/>
          </a:prstGeom>
          <a:noFill/>
          <a:ln/>
        </p:spPr>
        <p:txBody>
          <a:bodyPr wrap="square" lIns="0" tIns="0" rIns="0" bIns="0" rtlCol="0" anchor="t"/>
          <a:lstStyle/>
          <a:p>
            <a:pPr indent="0" marL="0">
              <a:lnSpc>
                <a:spcPct val="100000"/>
              </a:lnSpc>
              <a:buNone/>
            </a:pPr>
            <a:r>
              <a:rPr lang="en-US" sz="1400" dirty="0">
                <a:solidFill>
                  <a:srgbClr val="1F2933"/>
                </a:solidFill>
                <a:latin typeface="Courier New" pitchFamily="34" charset="0"/>
                <a:ea typeface="Courier New" pitchFamily="34" charset="-122"/>
                <a:cs typeface="Courier New" pitchFamily="34" charset="-120"/>
              </a:rPr>
              <a:t>ax.annotate(</a:t>
            </a:r>
            <a:endParaRPr lang="en-US" sz="1400" dirty="0"/>
          </a:p>
          <a:p>
            <a:pPr indent="0" marL="0">
              <a:lnSpc>
                <a:spcPct val="100000"/>
              </a:lnSpc>
              <a:buNone/>
            </a:pPr>
            <a:r>
              <a:rPr lang="en-US" sz="1400" dirty="0">
                <a:solidFill>
                  <a:srgbClr val="1F2933"/>
                </a:solidFill>
                <a:latin typeface="Courier New" pitchFamily="34" charset="0"/>
                <a:ea typeface="Courier New" pitchFamily="34" charset="-122"/>
                <a:cs typeface="Courier New" pitchFamily="34" charset="-120"/>
              </a:rPr>
              <a:t>    "creux de l'été",</a:t>
            </a:r>
            <a:endParaRPr lang="en-US" sz="1400" dirty="0"/>
          </a:p>
          <a:p>
            <a:pPr indent="0" marL="0">
              <a:lnSpc>
                <a:spcPct val="100000"/>
              </a:lnSpc>
              <a:buNone/>
            </a:pPr>
            <a:r>
              <a:rPr lang="en-US" sz="1400" dirty="0">
                <a:solidFill>
                  <a:srgbClr val="1F2933"/>
                </a:solidFill>
                <a:latin typeface="Courier New" pitchFamily="34" charset="0"/>
                <a:ea typeface="Courier New" pitchFamily="34" charset="-122"/>
                <a:cs typeface="Courier New" pitchFamily="34" charset="-120"/>
              </a:rPr>
              <a:t>    xy=(mensuel.index[7], mensuel.iloc[7]),</a:t>
            </a:r>
            <a:endParaRPr lang="en-US" sz="1400" dirty="0"/>
          </a:p>
          <a:p>
            <a:pPr indent="0" marL="0">
              <a:lnSpc>
                <a:spcPct val="100000"/>
              </a:lnSpc>
              <a:buNone/>
            </a:pPr>
            <a:r>
              <a:rPr lang="en-US" sz="1400" dirty="0">
                <a:solidFill>
                  <a:srgbClr val="1F2933"/>
                </a:solidFill>
                <a:latin typeface="Courier New" pitchFamily="34" charset="0"/>
                <a:ea typeface="Courier New" pitchFamily="34" charset="-122"/>
                <a:cs typeface="Courier New" pitchFamily="34" charset="-120"/>
              </a:rPr>
              <a:t>    xytext=(pd.to_datetime("2025-04-15"), 15000),</a:t>
            </a:r>
            <a:endParaRPr lang="en-US" sz="1400" dirty="0"/>
          </a:p>
          <a:p>
            <a:pPr indent="0" marL="0">
              <a:lnSpc>
                <a:spcPct val="100000"/>
              </a:lnSpc>
              <a:buNone/>
            </a:pPr>
            <a:r>
              <a:rPr lang="en-US" sz="1400" dirty="0">
                <a:solidFill>
                  <a:srgbClr val="1F2933"/>
                </a:solidFill>
                <a:latin typeface="Courier New" pitchFamily="34" charset="0"/>
                <a:ea typeface="Courier New" pitchFamily="34" charset="-122"/>
                <a:cs typeface="Courier New" pitchFamily="34" charset="-120"/>
              </a:rPr>
              <a:t>    arrowprops={"arrowstyle": "simple",</a:t>
            </a:r>
            <a:endParaRPr lang="en-US" sz="1400" dirty="0"/>
          </a:p>
          <a:p>
            <a:pPr indent="0" marL="0">
              <a:lnSpc>
                <a:spcPct val="100000"/>
              </a:lnSpc>
              <a:buNone/>
            </a:pPr>
            <a:r>
              <a:rPr lang="en-US" sz="1400" dirty="0">
                <a:solidFill>
                  <a:srgbClr val="1F2933"/>
                </a:solidFill>
                <a:latin typeface="Courier New" pitchFamily="34" charset="0"/>
                <a:ea typeface="Courier New" pitchFamily="34" charset="-122"/>
                <a:cs typeface="Courier New" pitchFamily="34" charset="-120"/>
              </a:rPr>
              <a:t>                "color": "#6B7280"},</a:t>
            </a:r>
            <a:endParaRPr lang="en-US" sz="1400" dirty="0"/>
          </a:p>
          <a:p>
            <a:pPr indent="0" marL="0">
              <a:lnSpc>
                <a:spcPct val="100000"/>
              </a:lnSpc>
              <a:buNone/>
            </a:pPr>
            <a:r>
              <a:rPr lang="en-US" sz="1400" dirty="0">
                <a:solidFill>
                  <a:srgbClr val="1F2933"/>
                </a:solidFill>
                <a:latin typeface="Courier New" pitchFamily="34" charset="0"/>
                <a:ea typeface="Courier New" pitchFamily="34" charset="-122"/>
                <a:cs typeface="Courier New" pitchFamily="34" charset="-120"/>
              </a:rPr>
              <a:t>    color="#6B7280",</a:t>
            </a:r>
            <a:endParaRPr lang="en-US" sz="1400" dirty="0"/>
          </a:p>
          <a:p>
            <a:pPr indent="0" marL="0">
              <a:lnSpc>
                <a:spcPct val="100000"/>
              </a:lnSpc>
              <a:buNone/>
            </a:pPr>
            <a:r>
              <a:rPr lang="en-US" sz="1400" dirty="0">
                <a:solidFill>
                  <a:srgbClr val="1F2933"/>
                </a:solidFill>
                <a:latin typeface="Courier New" pitchFamily="34" charset="0"/>
                <a:ea typeface="Courier New" pitchFamily="34" charset="-122"/>
                <a:cs typeface="Courier New" pitchFamily="34" charset="-120"/>
              </a:rPr>
              <a:t>)</a:t>
            </a:r>
            <a:endParaRPr lang="en-US" sz="1400" dirty="0"/>
          </a:p>
        </p:txBody>
      </p:sp>
      <p:sp>
        <p:nvSpPr>
          <p:cNvPr id="8" name="Text 6"/>
          <p:cNvSpPr txBox="1"/>
          <p:nvPr/>
        </p:nvSpPr>
        <p:spPr>
          <a:xfrm>
            <a:off x="548640" y="3708400"/>
            <a:ext cx="5802117" cy="1615440"/>
          </a:xfrm>
          <a:prstGeom prst="rect">
            <a:avLst/>
          </a:prstGeom>
          <a:noFill/>
          <a:ln/>
        </p:spPr>
        <p:txBody>
          <a:bodyPr wrap="square" lIns="0" tIns="0" rIns="0" bIns="0" rtlCol="0" anchor="t"/>
          <a:lstStyle/>
          <a:p>
            <a:pPr marL="254000" indent="-254000">
              <a:spcAft>
                <a:spcPts val="800"/>
              </a:spcAft>
              <a:buSzPct val="100000"/>
              <a:buChar char="•"/>
            </a:pPr>
            <a:r>
              <a:rPr lang="en-US" sz="1600" dirty="0">
                <a:solidFill>
                  <a:srgbClr val="1F3A5F"/>
                </a:solidFill>
                <a:latin typeface="Courier New" pitchFamily="34" charset="0"/>
                <a:ea typeface="Courier New" pitchFamily="34" charset="-122"/>
                <a:cs typeface="Courier New" pitchFamily="34" charset="-120"/>
              </a:rPr>
              <a:t>xy</a:t>
            </a:r>
            <a:pPr indent="0" marL="0">
              <a:buNone/>
            </a:pPr>
            <a:r>
              <a:rPr lang="en-US" sz="1600" dirty="0">
                <a:solidFill>
                  <a:srgbClr val="1F2933"/>
                </a:solidFill>
                <a:latin typeface="Calibri" pitchFamily="34" charset="0"/>
                <a:ea typeface="Calibri" pitchFamily="34" charset="-122"/>
                <a:cs typeface="Calibri" pitchFamily="34" charset="-120"/>
              </a:rPr>
              <a:t> : le point désigné, ici août</a:t>
            </a:r>
            <a:endParaRPr lang="en-US" sz="1600" dirty="0"/>
          </a:p>
          <a:p>
            <a:pPr marL="254000" indent="-254000">
              <a:spcAft>
                <a:spcPts val="800"/>
              </a:spcAft>
              <a:buSzPct val="100000"/>
              <a:buChar char="•"/>
            </a:pPr>
            <a:r>
              <a:rPr lang="en-US" sz="1600" dirty="0">
                <a:solidFill>
                  <a:srgbClr val="1F3A5F"/>
                </a:solidFill>
                <a:latin typeface="Courier New" pitchFamily="34" charset="0"/>
                <a:ea typeface="Courier New" pitchFamily="34" charset="-122"/>
                <a:cs typeface="Courier New" pitchFamily="34" charset="-120"/>
              </a:rPr>
              <a:t>xytext</a:t>
            </a:r>
            <a:pPr indent="0" marL="0">
              <a:buNone/>
            </a:pPr>
            <a:r>
              <a:rPr lang="en-US" sz="1600" dirty="0">
                <a:solidFill>
                  <a:srgbClr val="1F2933"/>
                </a:solidFill>
                <a:latin typeface="Calibri" pitchFamily="34" charset="0"/>
                <a:ea typeface="Calibri" pitchFamily="34" charset="-122"/>
                <a:cs typeface="Calibri" pitchFamily="34" charset="-120"/>
              </a:rPr>
              <a:t> : la position du texte, relié au point par une flèche</a:t>
            </a:r>
            <a:endParaRPr lang="en-US" sz="1600" dirty="0"/>
          </a:p>
          <a:p>
            <a:pPr marL="254000" indent="-254000">
              <a:spcAft>
                <a:spcPts val="800"/>
              </a:spcAft>
              <a:buSzPct val="100000"/>
              <a:buChar char="•"/>
            </a:pPr>
            <a:r>
              <a:rPr lang="en-US" sz="1600" dirty="0">
                <a:solidFill>
                  <a:srgbClr val="1F2933"/>
                </a:solidFill>
                <a:latin typeface="Calibri" pitchFamily="34" charset="0"/>
                <a:ea typeface="Calibri" pitchFamily="34" charset="-122"/>
                <a:cs typeface="Calibri" pitchFamily="34" charset="-120"/>
              </a:rPr>
              <a:t>Les coordonnées sont dans les unités des axes : des dates en abscisse, des euros en ordonnée</a:t>
            </a:r>
            <a:endParaRPr lang="en-US" sz="1600" dirty="0"/>
          </a:p>
        </p:txBody>
      </p:sp>
      <p:pic>
        <p:nvPicPr>
          <p:cNvPr id="9" name="Image 0" descr="Courbe du chiffre d'affaires mensuel, avec une bande grise sur l'été et une annotation sur le creux d'août">    </p:cNvPr>
          <p:cNvPicPr>
            <a:picLocks noChangeAspect="1"/>
          </p:cNvPicPr>
          <p:nvPr/>
        </p:nvPicPr>
        <p:blipFill>
          <a:blip r:embed="rId1"/>
          <a:stretch>
            <a:fillRect/>
          </a:stretch>
        </p:blipFill>
        <p:spPr>
          <a:xfrm>
            <a:off x="6807957" y="1417320"/>
            <a:ext cx="4835098" cy="2547470"/>
          </a:xfrm>
          <a:prstGeom prst="rect">
            <a:avLst/>
          </a:prstGeom>
        </p:spPr>
      </p:pic>
      <p:sp>
        <p:nvSpPr>
          <p:cNvPr id="10" name="Text 7"/>
          <p:cNvSpPr txBox="1"/>
          <p:nvPr/>
        </p:nvSpPr>
        <p:spPr>
          <a:xfrm>
            <a:off x="6807957" y="4284830"/>
            <a:ext cx="4835098" cy="594360"/>
          </a:xfrm>
          <a:prstGeom prst="rect">
            <a:avLst/>
          </a:prstGeom>
          <a:noFill/>
          <a:ln/>
        </p:spPr>
        <p:txBody>
          <a:bodyPr wrap="square" lIns="0" tIns="0" rIns="0" bIns="0" rtlCol="0" anchor="t"/>
          <a:lstStyle/>
          <a:p>
            <a:pPr indent="0" marL="0">
              <a:buNone/>
            </a:pPr>
            <a:r>
              <a:rPr lang="en-US" sz="1500" dirty="0">
                <a:solidFill>
                  <a:srgbClr val="6B7280"/>
                </a:solidFill>
                <a:latin typeface="Calibri" pitchFamily="34" charset="0"/>
                <a:ea typeface="Calibri" pitchFamily="34" charset="-122"/>
                <a:cs typeface="Calibri" pitchFamily="34" charset="-120"/>
              </a:rPr>
              <a:t>La bande grise vient de </a:t>
            </a:r>
            <a:pPr indent="0" marL="0">
              <a:buNone/>
            </a:pPr>
            <a:r>
              <a:rPr lang="en-US" sz="1500" dirty="0">
                <a:solidFill>
                  <a:srgbClr val="1F3A5F"/>
                </a:solidFill>
                <a:latin typeface="Courier New" pitchFamily="34" charset="0"/>
                <a:ea typeface="Courier New" pitchFamily="34" charset="-122"/>
                <a:cs typeface="Courier New" pitchFamily="34" charset="-120"/>
              </a:rPr>
              <a:t>axvspan</a:t>
            </a:r>
            <a:pPr indent="0" marL="0">
              <a:buNone/>
            </a:pPr>
            <a:r>
              <a:rPr lang="en-US" sz="1500" dirty="0">
                <a:solidFill>
                  <a:srgbClr val="6B7280"/>
                </a:solidFill>
                <a:latin typeface="Calibri" pitchFamily="34" charset="0"/>
                <a:ea typeface="Calibri" pitchFamily="34" charset="-122"/>
                <a:cs typeface="Calibri" pitchFamily="34" charset="-120"/>
              </a:rPr>
              <a:t>, et le titre énonce le message.</a:t>
            </a:r>
            <a:endParaRPr lang="en-US" sz="1500" dirty="0"/>
          </a:p>
        </p:txBody>
      </p:sp>
      <p:sp>
        <p:nvSpPr>
          <p:cNvPr id="11" name="Text 8"/>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Analyse de données avec Python   |   Jour 2, après-midi</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66928"/>
            <a:ext cx="475488" cy="475488"/>
          </a:xfrm>
          <a:prstGeom prst="ellipse">
            <a:avLst/>
          </a:prstGeom>
          <a:solidFill>
            <a:srgbClr val="2F7D62"/>
          </a:solidFill>
          <a:ln/>
        </p:spPr>
      </p:sp>
      <p:sp>
        <p:nvSpPr>
          <p:cNvPr id="3" name="Text 1"/>
          <p:cNvSpPr txBox="1"/>
          <p:nvPr/>
        </p:nvSpPr>
        <p:spPr>
          <a:xfrm>
            <a:off x="548640" y="566928"/>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4" name="Text 2"/>
          <p:cNvSpPr txBox="1"/>
          <p:nvPr/>
        </p:nvSpPr>
        <p:spPr>
          <a:xfrm>
            <a:off x="1280160" y="164592"/>
            <a:ext cx="10362895" cy="274320"/>
          </a:xfrm>
          <a:prstGeom prst="rect">
            <a:avLst/>
          </a:prstGeom>
          <a:noFill/>
          <a:ln/>
        </p:spPr>
        <p:txBody>
          <a:bodyPr wrap="square" lIns="0" tIns="0" rIns="0" bIns="0" rtlCol="0" anchor="ctr"/>
          <a:lstStyle/>
          <a:p>
            <a:pPr indent="0" marL="0">
              <a:buNone/>
            </a:pPr>
            <a:r>
              <a:rPr lang="en-US" sz="1200" b="1" spc="200" kern="0" dirty="0">
                <a:solidFill>
                  <a:srgbClr val="2F7D62"/>
                </a:solidFill>
                <a:latin typeface="Calibri" pitchFamily="34" charset="0"/>
                <a:ea typeface="Calibri" pitchFamily="34" charset="-122"/>
                <a:cs typeface="Calibri" pitchFamily="34" charset="-120"/>
              </a:rPr>
              <a:t>MATPLOTLIB</a:t>
            </a:r>
            <a:endParaRPr lang="en-US" sz="1200" dirty="0"/>
          </a:p>
        </p:txBody>
      </p:sp>
      <p:sp>
        <p:nvSpPr>
          <p:cNvPr id="5" name="Text 3"/>
          <p:cNvSpPr txBox="1"/>
          <p:nvPr/>
        </p:nvSpPr>
        <p:spPr>
          <a:xfrm>
            <a:off x="1280160" y="457200"/>
            <a:ext cx="10362895" cy="694944"/>
          </a:xfrm>
          <a:prstGeom prst="rect">
            <a:avLst/>
          </a:prstGeom>
          <a:noFill/>
          <a:ln/>
        </p:spPr>
        <p:txBody>
          <a:bodyPr wrap="square" lIns="0" tIns="0" rIns="0" bIns="0" rtlCol="0" anchor="ctr"/>
          <a:lstStyle/>
          <a:p>
            <a:pPr indent="0" marL="0">
              <a:buNone/>
            </a:pPr>
            <a:r>
              <a:rPr lang="en-US" sz="3000" b="1" dirty="0">
                <a:solidFill>
                  <a:srgbClr val="1F3A5F"/>
                </a:solidFill>
                <a:latin typeface="Cambria" pitchFamily="34" charset="0"/>
                <a:ea typeface="Cambria" pitchFamily="34" charset="-122"/>
                <a:cs typeface="Cambria" pitchFamily="34" charset="-120"/>
              </a:rPr>
              <a:t>Plusieurs graphiques dans une figure</a:t>
            </a:r>
            <a:endParaRPr lang="en-US" sz="3000" dirty="0"/>
          </a:p>
        </p:txBody>
      </p:sp>
      <p:sp>
        <p:nvSpPr>
          <p:cNvPr id="6" name="Shape 4"/>
          <p:cNvSpPr/>
          <p:nvPr/>
        </p:nvSpPr>
        <p:spPr>
          <a:xfrm>
            <a:off x="548640" y="1417320"/>
            <a:ext cx="4432173" cy="2630424"/>
          </a:xfrm>
          <a:prstGeom prst="rect">
            <a:avLst/>
          </a:prstGeom>
          <a:solidFill>
            <a:srgbClr val="F3F4F6"/>
          </a:solidFill>
          <a:ln/>
        </p:spPr>
      </p:sp>
      <p:sp>
        <p:nvSpPr>
          <p:cNvPr id="7" name="Text 5"/>
          <p:cNvSpPr txBox="1"/>
          <p:nvPr/>
        </p:nvSpPr>
        <p:spPr>
          <a:xfrm>
            <a:off x="731520" y="1563624"/>
            <a:ext cx="4066413" cy="2337816"/>
          </a:xfrm>
          <a:prstGeom prst="rect">
            <a:avLst/>
          </a:prstGeom>
          <a:noFill/>
          <a:ln/>
        </p:spPr>
        <p:txBody>
          <a:bodyPr wrap="square" lIns="0" tIns="0" rIns="0" bIns="0" rtlCol="0" anchor="t"/>
          <a:lstStyle/>
          <a:p>
            <a:pPr indent="0" marL="0">
              <a:lnSpc>
                <a:spcPct val="100000"/>
              </a:lnSpc>
              <a:buNone/>
            </a:pPr>
            <a:r>
              <a:rPr lang="en-US" sz="1200" dirty="0">
                <a:solidFill>
                  <a:srgbClr val="6B7280"/>
                </a:solidFill>
                <a:latin typeface="Courier New" pitchFamily="34" charset="0"/>
                <a:ea typeface="Courier New" pitchFamily="34" charset="-122"/>
                <a:cs typeface="Courier New" pitchFamily="34" charset="-120"/>
              </a:rPr>
              <a:t># commandes : nombre de commandes par mois</a:t>
            </a:r>
            <a:endParaRPr lang="en-US" sz="1200" dirty="0"/>
          </a:p>
          <a:p>
            <a:pPr indent="0" marL="0">
              <a:lnSpc>
                <a:spcPct val="100000"/>
              </a:lnSpc>
              <a:buNone/>
            </a:pPr>
            <a:r>
              <a:rPr lang="en-US" sz="1200" dirty="0">
                <a:solidFill>
                  <a:srgbClr val="1F2933"/>
                </a:solidFill>
                <a:latin typeface="Courier New" pitchFamily="34" charset="0"/>
                <a:ea typeface="Courier New" pitchFamily="34" charset="-122"/>
                <a:cs typeface="Courier New" pitchFamily="34" charset="-120"/>
              </a:rPr>
              <a:t>etiquettes = mensuel.index.strftime("%m/%y")</a:t>
            </a:r>
            <a:endParaRPr lang="en-US" sz="1200" dirty="0"/>
          </a:p>
          <a:p>
            <a:pPr indent="0" marL="0">
              <a:lnSpc>
                <a:spcPct val="100000"/>
              </a:lnSpc>
              <a:buNone/>
            </a:pPr>
            <a:r>
              <a:rPr lang="en-US" sz="1200" dirty="0">
                <a:solidFill>
                  <a:srgbClr val="1F2933"/>
                </a:solidFill>
                <a:latin typeface="Courier New" pitchFamily="34" charset="0"/>
                <a:ea typeface="Courier New" pitchFamily="34" charset="-122"/>
                <a:cs typeface="Courier New" pitchFamily="34" charset="-120"/>
              </a:rPr>
              <a:t> </a:t>
            </a:r>
            <a:endParaRPr lang="en-US" sz="1200" dirty="0"/>
          </a:p>
          <a:p>
            <a:pPr indent="0" marL="0">
              <a:lnSpc>
                <a:spcPct val="100000"/>
              </a:lnSpc>
              <a:buNone/>
            </a:pPr>
            <a:r>
              <a:rPr lang="en-US" sz="1200" dirty="0">
                <a:solidFill>
                  <a:srgbClr val="1F2933"/>
                </a:solidFill>
                <a:latin typeface="Courier New" pitchFamily="34" charset="0"/>
                <a:ea typeface="Courier New" pitchFamily="34" charset="-122"/>
                <a:cs typeface="Courier New" pitchFamily="34" charset="-120"/>
              </a:rPr>
              <a:t>fig, axes = plt.subplots(1, 2,</a:t>
            </a:r>
            <a:endParaRPr lang="en-US" sz="1200" dirty="0"/>
          </a:p>
          <a:p>
            <a:pPr indent="0" marL="0">
              <a:lnSpc>
                <a:spcPct val="100000"/>
              </a:lnSpc>
              <a:buNone/>
            </a:pPr>
            <a:r>
              <a:rPr lang="en-US" sz="1200" dirty="0">
                <a:solidFill>
                  <a:srgbClr val="1F2933"/>
                </a:solidFill>
                <a:latin typeface="Courier New" pitchFamily="34" charset="0"/>
                <a:ea typeface="Courier New" pitchFamily="34" charset="-122"/>
                <a:cs typeface="Courier New" pitchFamily="34" charset="-120"/>
              </a:rPr>
              <a:t>                         figsize=(11, 4))</a:t>
            </a:r>
            <a:endParaRPr lang="en-US" sz="1200" dirty="0"/>
          </a:p>
          <a:p>
            <a:pPr indent="0" marL="0">
              <a:lnSpc>
                <a:spcPct val="100000"/>
              </a:lnSpc>
              <a:buNone/>
            </a:pPr>
            <a:r>
              <a:rPr lang="en-US" sz="1200" dirty="0">
                <a:solidFill>
                  <a:srgbClr val="1F2933"/>
                </a:solidFill>
                <a:latin typeface="Courier New" pitchFamily="34" charset="0"/>
                <a:ea typeface="Courier New" pitchFamily="34" charset="-122"/>
                <a:cs typeface="Courier New" pitchFamily="34" charset="-120"/>
              </a:rPr>
              <a:t> </a:t>
            </a:r>
            <a:endParaRPr lang="en-US" sz="1200" dirty="0"/>
          </a:p>
          <a:p>
            <a:pPr indent="0" marL="0">
              <a:lnSpc>
                <a:spcPct val="100000"/>
              </a:lnSpc>
              <a:buNone/>
            </a:pPr>
            <a:r>
              <a:rPr lang="en-US" sz="1200" dirty="0">
                <a:solidFill>
                  <a:srgbClr val="1F2933"/>
                </a:solidFill>
                <a:latin typeface="Courier New" pitchFamily="34" charset="0"/>
                <a:ea typeface="Courier New" pitchFamily="34" charset="-122"/>
                <a:cs typeface="Courier New" pitchFamily="34" charset="-120"/>
              </a:rPr>
              <a:t>axes[0].bar(etiquettes, mensuel.values)</a:t>
            </a:r>
            <a:endParaRPr lang="en-US" sz="1200" dirty="0"/>
          </a:p>
          <a:p>
            <a:pPr indent="0" marL="0">
              <a:lnSpc>
                <a:spcPct val="100000"/>
              </a:lnSpc>
              <a:buNone/>
            </a:pPr>
            <a:r>
              <a:rPr lang="en-US" sz="1200" dirty="0">
                <a:solidFill>
                  <a:srgbClr val="1F2933"/>
                </a:solidFill>
                <a:latin typeface="Courier New" pitchFamily="34" charset="0"/>
                <a:ea typeface="Courier New" pitchFamily="34" charset="-122"/>
                <a:cs typeface="Courier New" pitchFamily="34" charset="-120"/>
              </a:rPr>
              <a:t>axes[0].set_title("Chiffre d'affaires")</a:t>
            </a:r>
            <a:endParaRPr lang="en-US" sz="1200" dirty="0"/>
          </a:p>
          <a:p>
            <a:pPr indent="0" marL="0">
              <a:lnSpc>
                <a:spcPct val="100000"/>
              </a:lnSpc>
              <a:buNone/>
            </a:pPr>
            <a:r>
              <a:rPr lang="en-US" sz="1200" dirty="0">
                <a:solidFill>
                  <a:srgbClr val="1F2933"/>
                </a:solidFill>
                <a:latin typeface="Courier New" pitchFamily="34" charset="0"/>
                <a:ea typeface="Courier New" pitchFamily="34" charset="-122"/>
                <a:cs typeface="Courier New" pitchFamily="34" charset="-120"/>
              </a:rPr>
              <a:t> </a:t>
            </a:r>
            <a:endParaRPr lang="en-US" sz="1200" dirty="0"/>
          </a:p>
          <a:p>
            <a:pPr indent="0" marL="0">
              <a:lnSpc>
                <a:spcPct val="100000"/>
              </a:lnSpc>
              <a:buNone/>
            </a:pPr>
            <a:r>
              <a:rPr lang="en-US" sz="1200" dirty="0">
                <a:solidFill>
                  <a:srgbClr val="1F2933"/>
                </a:solidFill>
                <a:latin typeface="Courier New" pitchFamily="34" charset="0"/>
                <a:ea typeface="Courier New" pitchFamily="34" charset="-122"/>
                <a:cs typeface="Courier New" pitchFamily="34" charset="-120"/>
              </a:rPr>
              <a:t>axes[1].bar(etiquettes, commandes.values)</a:t>
            </a:r>
            <a:endParaRPr lang="en-US" sz="1200" dirty="0"/>
          </a:p>
          <a:p>
            <a:pPr indent="0" marL="0">
              <a:lnSpc>
                <a:spcPct val="100000"/>
              </a:lnSpc>
              <a:buNone/>
            </a:pPr>
            <a:r>
              <a:rPr lang="en-US" sz="1200" dirty="0">
                <a:solidFill>
                  <a:srgbClr val="1F2933"/>
                </a:solidFill>
                <a:latin typeface="Courier New" pitchFamily="34" charset="0"/>
                <a:ea typeface="Courier New" pitchFamily="34" charset="-122"/>
                <a:cs typeface="Courier New" pitchFamily="34" charset="-120"/>
              </a:rPr>
              <a:t>axes[1].set_title("Nombre de commandes")</a:t>
            </a:r>
            <a:endParaRPr lang="en-US" sz="1200" dirty="0"/>
          </a:p>
          <a:p>
            <a:pPr indent="0" marL="0">
              <a:lnSpc>
                <a:spcPct val="100000"/>
              </a:lnSpc>
              <a:buNone/>
            </a:pPr>
            <a:r>
              <a:rPr lang="en-US" sz="1200" dirty="0">
                <a:solidFill>
                  <a:srgbClr val="1F2933"/>
                </a:solidFill>
                <a:latin typeface="Courier New" pitchFamily="34" charset="0"/>
                <a:ea typeface="Courier New" pitchFamily="34" charset="-122"/>
                <a:cs typeface="Courier New" pitchFamily="34" charset="-120"/>
              </a:rPr>
              <a:t> </a:t>
            </a:r>
            <a:endParaRPr lang="en-US" sz="1200" dirty="0"/>
          </a:p>
          <a:p>
            <a:pPr indent="0" marL="0">
              <a:lnSpc>
                <a:spcPct val="100000"/>
              </a:lnSpc>
              <a:buNone/>
            </a:pPr>
            <a:r>
              <a:rPr lang="en-US" sz="1200" dirty="0">
                <a:solidFill>
                  <a:srgbClr val="1F2933"/>
                </a:solidFill>
                <a:latin typeface="Courier New" pitchFamily="34" charset="0"/>
                <a:ea typeface="Courier New" pitchFamily="34" charset="-122"/>
                <a:cs typeface="Courier New" pitchFamily="34" charset="-120"/>
              </a:rPr>
              <a:t>fig.tight_layout()</a:t>
            </a:r>
            <a:endParaRPr lang="en-US" sz="1200" dirty="0"/>
          </a:p>
        </p:txBody>
      </p:sp>
      <p:pic>
        <p:nvPicPr>
          <p:cNvPr id="8" name="Image 0" descr="Deux graphiques en barres côte à côte : chiffre d'affaires et nombre de commandes par mois">    </p:cNvPr>
          <p:cNvPicPr>
            <a:picLocks noChangeAspect="1"/>
          </p:cNvPicPr>
          <p:nvPr/>
        </p:nvPicPr>
        <p:blipFill>
          <a:blip r:embed="rId1"/>
          <a:stretch>
            <a:fillRect/>
          </a:stretch>
        </p:blipFill>
        <p:spPr>
          <a:xfrm>
            <a:off x="5440718" y="1417320"/>
            <a:ext cx="6199632" cy="2194560"/>
          </a:xfrm>
          <a:prstGeom prst="rect">
            <a:avLst/>
          </a:prstGeom>
        </p:spPr>
      </p:pic>
      <p:sp>
        <p:nvSpPr>
          <p:cNvPr id="9" name="Text 6"/>
          <p:cNvSpPr txBox="1"/>
          <p:nvPr/>
        </p:nvSpPr>
        <p:spPr>
          <a:xfrm>
            <a:off x="5438013" y="3931920"/>
            <a:ext cx="6205042" cy="1371600"/>
          </a:xfrm>
          <a:prstGeom prst="rect">
            <a:avLst/>
          </a:prstGeom>
          <a:noFill/>
          <a:ln/>
        </p:spPr>
        <p:txBody>
          <a:bodyPr wrap="square" lIns="0" tIns="0" rIns="0" bIns="0" rtlCol="0" anchor="t"/>
          <a:lstStyle/>
          <a:p>
            <a:pPr marL="254000" indent="-254000">
              <a:spcAft>
                <a:spcPts val="800"/>
              </a:spcAft>
              <a:buSzPct val="100000"/>
              <a:buChar char="•"/>
            </a:pPr>
            <a:r>
              <a:rPr lang="en-US" sz="1600" dirty="0">
                <a:solidFill>
                  <a:srgbClr val="1F3A5F"/>
                </a:solidFill>
                <a:latin typeface="Courier New" pitchFamily="34" charset="0"/>
                <a:ea typeface="Courier New" pitchFamily="34" charset="-122"/>
                <a:cs typeface="Courier New" pitchFamily="34" charset="-120"/>
              </a:rPr>
              <a:t>plt.subplots(2, 3)</a:t>
            </a:r>
            <a:pPr indent="0" marL="0">
              <a:buNone/>
            </a:pPr>
            <a:r>
              <a:rPr lang="en-US" sz="1600" dirty="0">
                <a:solidFill>
                  <a:srgbClr val="1F2933"/>
                </a:solidFill>
                <a:latin typeface="Calibri" pitchFamily="34" charset="0"/>
                <a:ea typeface="Calibri" pitchFamily="34" charset="-122"/>
                <a:cs typeface="Calibri" pitchFamily="34" charset="-120"/>
              </a:rPr>
              <a:t> : une grille, </a:t>
            </a:r>
            <a:pPr indent="0" marL="0">
              <a:buNone/>
            </a:pPr>
            <a:r>
              <a:rPr lang="en-US" sz="1600" dirty="0">
                <a:solidFill>
                  <a:srgbClr val="1F3A5F"/>
                </a:solidFill>
                <a:latin typeface="Courier New" pitchFamily="34" charset="0"/>
                <a:ea typeface="Courier New" pitchFamily="34" charset="-122"/>
                <a:cs typeface="Courier New" pitchFamily="34" charset="-120"/>
              </a:rPr>
              <a:t>axes[1, 2]</a:t>
            </a:r>
            <a:pPr indent="0" marL="0">
              <a:buNone/>
            </a:pPr>
            <a:r>
              <a:rPr lang="en-US" sz="1600" dirty="0">
                <a:solidFill>
                  <a:srgbClr val="1F2933"/>
                </a:solidFill>
                <a:latin typeface="Calibri" pitchFamily="34" charset="0"/>
                <a:ea typeface="Calibri" pitchFamily="34" charset="-122"/>
                <a:cs typeface="Calibri" pitchFamily="34" charset="-120"/>
              </a:rPr>
              <a:t> pour une case</a:t>
            </a:r>
            <a:endParaRPr lang="en-US" sz="1600" dirty="0"/>
          </a:p>
          <a:p>
            <a:pPr marL="254000" indent="-254000">
              <a:spcAft>
                <a:spcPts val="800"/>
              </a:spcAft>
              <a:buSzPct val="100000"/>
              <a:buChar char="•"/>
            </a:pPr>
            <a:r>
              <a:rPr lang="en-US" sz="1600" dirty="0">
                <a:solidFill>
                  <a:srgbClr val="1F3A5F"/>
                </a:solidFill>
                <a:latin typeface="Courier New" pitchFamily="34" charset="0"/>
                <a:ea typeface="Courier New" pitchFamily="34" charset="-122"/>
                <a:cs typeface="Courier New" pitchFamily="34" charset="-120"/>
              </a:rPr>
              <a:t>tight_layout</a:t>
            </a:r>
            <a:pPr indent="0" marL="0">
              <a:buNone/>
            </a:pPr>
            <a:r>
              <a:rPr lang="en-US" sz="1600" dirty="0">
                <a:solidFill>
                  <a:srgbClr val="1F2933"/>
                </a:solidFill>
                <a:latin typeface="Calibri" pitchFamily="34" charset="0"/>
                <a:ea typeface="Calibri" pitchFamily="34" charset="-122"/>
                <a:cs typeface="Calibri" pitchFamily="34" charset="-120"/>
              </a:rPr>
              <a:t> évite les chevauchements</a:t>
            </a:r>
            <a:endParaRPr lang="en-US" sz="1600" dirty="0"/>
          </a:p>
          <a:p>
            <a:pPr marL="254000" indent="-254000">
              <a:spcAft>
                <a:spcPts val="800"/>
              </a:spcAft>
              <a:buSzPct val="100000"/>
              <a:buChar char="•"/>
            </a:pPr>
            <a:r>
              <a:rPr lang="en-US" sz="1600" dirty="0">
                <a:solidFill>
                  <a:srgbClr val="1F3A5F"/>
                </a:solidFill>
                <a:latin typeface="Courier New" pitchFamily="34" charset="0"/>
                <a:ea typeface="Courier New" pitchFamily="34" charset="-122"/>
                <a:cs typeface="Courier New" pitchFamily="34" charset="-120"/>
              </a:rPr>
              <a:t>sharey=True</a:t>
            </a:r>
            <a:pPr indent="0" marL="0">
              <a:buNone/>
            </a:pPr>
            <a:r>
              <a:rPr lang="en-US" sz="1600" dirty="0">
                <a:solidFill>
                  <a:srgbClr val="1F2933"/>
                </a:solidFill>
                <a:latin typeface="Calibri" pitchFamily="34" charset="0"/>
                <a:ea typeface="Calibri" pitchFamily="34" charset="-122"/>
                <a:cs typeface="Calibri" pitchFamily="34" charset="-120"/>
              </a:rPr>
              <a:t> : même échelle verticale, indispensable pour comparer ; </a:t>
            </a:r>
            <a:pPr indent="0" marL="0">
              <a:buNone/>
            </a:pPr>
            <a:r>
              <a:rPr lang="en-US" sz="1600" dirty="0">
                <a:solidFill>
                  <a:srgbClr val="1F3A5F"/>
                </a:solidFill>
                <a:latin typeface="Courier New" pitchFamily="34" charset="0"/>
                <a:ea typeface="Courier New" pitchFamily="34" charset="-122"/>
                <a:cs typeface="Courier New" pitchFamily="34" charset="-120"/>
              </a:rPr>
              <a:t>sharex=True</a:t>
            </a:r>
            <a:pPr indent="0" marL="0">
              <a:buNone/>
            </a:pPr>
            <a:r>
              <a:rPr lang="en-US" sz="1600" dirty="0">
                <a:solidFill>
                  <a:srgbClr val="1F2933"/>
                </a:solidFill>
                <a:latin typeface="Calibri" pitchFamily="34" charset="0"/>
                <a:ea typeface="Calibri" pitchFamily="34" charset="-122"/>
                <a:cs typeface="Calibri" pitchFamily="34" charset="-120"/>
              </a:rPr>
              <a:t> pour l'axe horizontal</a:t>
            </a:r>
            <a:endParaRPr lang="en-US" sz="1600" dirty="0"/>
          </a:p>
        </p:txBody>
      </p:sp>
      <p:sp>
        <p:nvSpPr>
          <p:cNvPr id="10" name="Text 7"/>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Analyse de données avec Python   |   Jour 2, après-midi</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66928"/>
            <a:ext cx="475488" cy="475488"/>
          </a:xfrm>
          <a:prstGeom prst="ellipse">
            <a:avLst/>
          </a:prstGeom>
          <a:solidFill>
            <a:srgbClr val="2F7D62"/>
          </a:solidFill>
          <a:ln/>
        </p:spPr>
      </p:sp>
      <p:sp>
        <p:nvSpPr>
          <p:cNvPr id="3" name="Text 1"/>
          <p:cNvSpPr txBox="1"/>
          <p:nvPr/>
        </p:nvSpPr>
        <p:spPr>
          <a:xfrm>
            <a:off x="548640" y="566928"/>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4" name="Text 2"/>
          <p:cNvSpPr txBox="1"/>
          <p:nvPr/>
        </p:nvSpPr>
        <p:spPr>
          <a:xfrm>
            <a:off x="1280160" y="164592"/>
            <a:ext cx="10362895" cy="274320"/>
          </a:xfrm>
          <a:prstGeom prst="rect">
            <a:avLst/>
          </a:prstGeom>
          <a:noFill/>
          <a:ln/>
        </p:spPr>
        <p:txBody>
          <a:bodyPr wrap="square" lIns="0" tIns="0" rIns="0" bIns="0" rtlCol="0" anchor="ctr"/>
          <a:lstStyle/>
          <a:p>
            <a:pPr indent="0" marL="0">
              <a:buNone/>
            </a:pPr>
            <a:r>
              <a:rPr lang="en-US" sz="1200" b="1" spc="200" kern="0" dirty="0">
                <a:solidFill>
                  <a:srgbClr val="2F7D62"/>
                </a:solidFill>
                <a:latin typeface="Calibri" pitchFamily="34" charset="0"/>
                <a:ea typeface="Calibri" pitchFamily="34" charset="-122"/>
                <a:cs typeface="Calibri" pitchFamily="34" charset="-120"/>
              </a:rPr>
              <a:t>MATPLOTLIB</a:t>
            </a:r>
            <a:endParaRPr lang="en-US" sz="1200" dirty="0"/>
          </a:p>
        </p:txBody>
      </p:sp>
      <p:sp>
        <p:nvSpPr>
          <p:cNvPr id="5" name="Text 3"/>
          <p:cNvSpPr txBox="1"/>
          <p:nvPr/>
        </p:nvSpPr>
        <p:spPr>
          <a:xfrm>
            <a:off x="1280160" y="457200"/>
            <a:ext cx="10362895" cy="694944"/>
          </a:xfrm>
          <a:prstGeom prst="rect">
            <a:avLst/>
          </a:prstGeom>
          <a:noFill/>
          <a:ln/>
        </p:spPr>
        <p:txBody>
          <a:bodyPr wrap="square" lIns="0" tIns="0" rIns="0" bIns="0" rtlCol="0" anchor="ctr"/>
          <a:lstStyle/>
          <a:p>
            <a:pPr indent="0" marL="0">
              <a:buNone/>
            </a:pPr>
            <a:r>
              <a:rPr lang="en-US" sz="3000" b="1" dirty="0">
                <a:solidFill>
                  <a:srgbClr val="1F3A5F"/>
                </a:solidFill>
                <a:latin typeface="Cambria" pitchFamily="34" charset="0"/>
                <a:ea typeface="Cambria" pitchFamily="34" charset="-122"/>
                <a:cs typeface="Cambria" pitchFamily="34" charset="-120"/>
              </a:rPr>
              <a:t>Remplir une grille : axes.flat</a:t>
            </a:r>
            <a:endParaRPr lang="en-US" sz="3000" dirty="0"/>
          </a:p>
        </p:txBody>
      </p:sp>
      <p:sp>
        <p:nvSpPr>
          <p:cNvPr id="6" name="Text 4"/>
          <p:cNvSpPr txBox="1"/>
          <p:nvPr/>
        </p:nvSpPr>
        <p:spPr>
          <a:xfrm>
            <a:off x="548640" y="1417320"/>
            <a:ext cx="11094415" cy="411480"/>
          </a:xfrm>
          <a:prstGeom prst="rect">
            <a:avLst/>
          </a:prstGeom>
          <a:noFill/>
          <a:ln/>
        </p:spPr>
        <p:txBody>
          <a:bodyPr wrap="square" lIns="0" tIns="0" rIns="0" bIns="0" rtlCol="0" anchor="t"/>
          <a:lstStyle/>
          <a:p>
            <a:pPr indent="0" marL="0">
              <a:buNone/>
            </a:pPr>
            <a:r>
              <a:rPr lang="en-US" sz="1800" dirty="0">
                <a:solidFill>
                  <a:srgbClr val="1F3A5F"/>
                </a:solidFill>
                <a:latin typeface="Courier New" pitchFamily="34" charset="0"/>
                <a:ea typeface="Courier New" pitchFamily="34" charset="-122"/>
                <a:cs typeface="Courier New" pitchFamily="34" charset="-120"/>
              </a:rPr>
              <a:t>axes.flat</a:t>
            </a:r>
            <a:pPr indent="0" marL="0">
              <a:buNone/>
            </a:pPr>
            <a:r>
              <a:rPr lang="en-US" sz="1800" dirty="0">
                <a:solidFill>
                  <a:srgbClr val="6B7280"/>
                </a:solidFill>
                <a:latin typeface="Calibri" pitchFamily="34" charset="0"/>
                <a:ea typeface="Calibri" pitchFamily="34" charset="-122"/>
                <a:cs typeface="Calibri" pitchFamily="34" charset="-120"/>
              </a:rPr>
              <a:t> énumère les graphiques ligne par ligne, </a:t>
            </a:r>
            <a:pPr indent="0" marL="0">
              <a:buNone/>
            </a:pPr>
            <a:r>
              <a:rPr lang="en-US" sz="1800" dirty="0">
                <a:solidFill>
                  <a:srgbClr val="1F3A5F"/>
                </a:solidFill>
                <a:latin typeface="Courier New" pitchFamily="34" charset="0"/>
                <a:ea typeface="Courier New" pitchFamily="34" charset="-122"/>
                <a:cs typeface="Courier New" pitchFamily="34" charset="-120"/>
              </a:rPr>
              <a:t>zip</a:t>
            </a:r>
            <a:pPr indent="0" marL="0">
              <a:buNone/>
            </a:pPr>
            <a:r>
              <a:rPr lang="en-US" sz="1800" dirty="0">
                <a:solidFill>
                  <a:srgbClr val="6B7280"/>
                </a:solidFill>
                <a:latin typeface="Calibri" pitchFamily="34" charset="0"/>
                <a:ea typeface="Calibri" pitchFamily="34" charset="-122"/>
                <a:cs typeface="Calibri" pitchFamily="34" charset="-120"/>
              </a:rPr>
              <a:t> les associe aux données</a:t>
            </a:r>
            <a:endParaRPr lang="en-US" sz="1800" dirty="0"/>
          </a:p>
        </p:txBody>
      </p:sp>
      <p:sp>
        <p:nvSpPr>
          <p:cNvPr id="7" name="Shape 5"/>
          <p:cNvSpPr/>
          <p:nvPr/>
        </p:nvSpPr>
        <p:spPr>
          <a:xfrm>
            <a:off x="548640" y="2011680"/>
            <a:ext cx="6205042" cy="3409696"/>
          </a:xfrm>
          <a:prstGeom prst="rect">
            <a:avLst/>
          </a:prstGeom>
          <a:solidFill>
            <a:srgbClr val="F3F4F6"/>
          </a:solidFill>
          <a:ln/>
        </p:spPr>
      </p:sp>
      <p:sp>
        <p:nvSpPr>
          <p:cNvPr id="8" name="Text 6"/>
          <p:cNvSpPr txBox="1"/>
          <p:nvPr/>
        </p:nvSpPr>
        <p:spPr>
          <a:xfrm>
            <a:off x="731520" y="2157984"/>
            <a:ext cx="5839282" cy="3117088"/>
          </a:xfrm>
          <a:prstGeom prst="rect">
            <a:avLst/>
          </a:prstGeom>
          <a:noFill/>
          <a:ln/>
        </p:spPr>
        <p:txBody>
          <a:bodyPr wrap="square" lIns="0" tIns="0" rIns="0" bIns="0" rtlCol="0" anchor="t"/>
          <a:lstStyle/>
          <a:p>
            <a:pPr indent="0" marL="0">
              <a:lnSpc>
                <a:spcPct val="100000"/>
              </a:lnSpc>
              <a:buNone/>
            </a:pPr>
            <a:r>
              <a:rPr lang="en-US" sz="1300" dirty="0">
                <a:solidFill>
                  <a:srgbClr val="1F2933"/>
                </a:solidFill>
                <a:latin typeface="Courier New" pitchFamily="34" charset="0"/>
                <a:ea typeface="Courier New" pitchFamily="34" charset="-122"/>
                <a:cs typeface="Courier New" pitchFamily="34" charset="-120"/>
              </a:rPr>
              <a:t>ca_categories = ventes.pivot_table(</a:t>
            </a:r>
            <a:endParaRPr lang="en-US" sz="1300" dirty="0"/>
          </a:p>
          <a:p>
            <a:pPr indent="0" marL="0">
              <a:lnSpc>
                <a:spcPct val="100000"/>
              </a:lnSpc>
              <a:buNone/>
            </a:pPr>
            <a:r>
              <a:rPr lang="en-US" sz="1300" dirty="0">
                <a:solidFill>
                  <a:srgbClr val="1F2933"/>
                </a:solidFill>
                <a:latin typeface="Courier New" pitchFamily="34" charset="0"/>
                <a:ea typeface="Courier New" pitchFamily="34" charset="-122"/>
                <a:cs typeface="Courier New" pitchFamily="34" charset="-120"/>
              </a:rPr>
              <a:t>    index=ventes["date"].dt.strftime("%m/%y"),</a:t>
            </a:r>
            <a:endParaRPr lang="en-US" sz="1300" dirty="0"/>
          </a:p>
          <a:p>
            <a:pPr indent="0" marL="0">
              <a:lnSpc>
                <a:spcPct val="100000"/>
              </a:lnSpc>
              <a:buNone/>
            </a:pPr>
            <a:r>
              <a:rPr lang="en-US" sz="1300" dirty="0">
                <a:solidFill>
                  <a:srgbClr val="1F2933"/>
                </a:solidFill>
                <a:latin typeface="Courier New" pitchFamily="34" charset="0"/>
                <a:ea typeface="Courier New" pitchFamily="34" charset="-122"/>
                <a:cs typeface="Courier New" pitchFamily="34" charset="-120"/>
              </a:rPr>
              <a:t>    columns="categorie", values="montant",</a:t>
            </a:r>
            <a:endParaRPr lang="en-US" sz="1300" dirty="0"/>
          </a:p>
          <a:p>
            <a:pPr indent="0" marL="0">
              <a:lnSpc>
                <a:spcPct val="100000"/>
              </a:lnSpc>
              <a:buNone/>
            </a:pPr>
            <a:r>
              <a:rPr lang="en-US" sz="1300" dirty="0">
                <a:solidFill>
                  <a:srgbClr val="1F2933"/>
                </a:solidFill>
                <a:latin typeface="Courier New" pitchFamily="34" charset="0"/>
                <a:ea typeface="Courier New" pitchFamily="34" charset="-122"/>
                <a:cs typeface="Courier New" pitchFamily="34" charset="-120"/>
              </a:rPr>
              <a:t>    aggfunc="sum",</a:t>
            </a:r>
            <a:endParaRPr lang="en-US" sz="1300" dirty="0"/>
          </a:p>
          <a:p>
            <a:pPr indent="0" marL="0">
              <a:lnSpc>
                <a:spcPct val="100000"/>
              </a:lnSpc>
              <a:buNone/>
            </a:pPr>
            <a:r>
              <a:rPr lang="en-US" sz="1300" dirty="0">
                <a:solidFill>
                  <a:srgbClr val="1F2933"/>
                </a:solidFill>
                <a:latin typeface="Courier New" pitchFamily="34" charset="0"/>
                <a:ea typeface="Courier New" pitchFamily="34" charset="-122"/>
                <a:cs typeface="Courier New" pitchFamily="34" charset="-120"/>
              </a:rPr>
              <a:t>)</a:t>
            </a:r>
            <a:endParaRPr lang="en-US" sz="1300" dirty="0"/>
          </a:p>
          <a:p>
            <a:pPr indent="0" marL="0">
              <a:lnSpc>
                <a:spcPct val="100000"/>
              </a:lnSpc>
              <a:buNone/>
            </a:pPr>
            <a:r>
              <a:rPr lang="en-US" sz="1300" dirty="0">
                <a:solidFill>
                  <a:srgbClr val="1F2933"/>
                </a:solidFill>
                <a:latin typeface="Courier New" pitchFamily="34" charset="0"/>
                <a:ea typeface="Courier New" pitchFamily="34" charset="-122"/>
                <a:cs typeface="Courier New" pitchFamily="34" charset="-120"/>
              </a:rPr>
              <a:t>categories = ["Informatique", "Bureau",</a:t>
            </a:r>
            <a:endParaRPr lang="en-US" sz="1300" dirty="0"/>
          </a:p>
          <a:p>
            <a:pPr indent="0" marL="0">
              <a:lnSpc>
                <a:spcPct val="100000"/>
              </a:lnSpc>
              <a:buNone/>
            </a:pPr>
            <a:r>
              <a:rPr lang="en-US" sz="1300" dirty="0">
                <a:solidFill>
                  <a:srgbClr val="1F2933"/>
                </a:solidFill>
                <a:latin typeface="Courier New" pitchFamily="34" charset="0"/>
                <a:ea typeface="Courier New" pitchFamily="34" charset="-122"/>
                <a:cs typeface="Courier New" pitchFamily="34" charset="-120"/>
              </a:rPr>
              <a:t>              "Papeterie", "Électroménager"]</a:t>
            </a:r>
            <a:endParaRPr lang="en-US" sz="1300" dirty="0"/>
          </a:p>
          <a:p>
            <a:pPr indent="0" marL="0">
              <a:lnSpc>
                <a:spcPct val="100000"/>
              </a:lnSpc>
              <a:buNone/>
            </a:pPr>
            <a:r>
              <a:rPr lang="en-US" sz="1300" dirty="0">
                <a:solidFill>
                  <a:srgbClr val="1F2933"/>
                </a:solidFill>
                <a:latin typeface="Courier New" pitchFamily="34" charset="0"/>
                <a:ea typeface="Courier New" pitchFamily="34" charset="-122"/>
                <a:cs typeface="Courier New" pitchFamily="34" charset="-120"/>
              </a:rPr>
              <a:t> </a:t>
            </a:r>
            <a:endParaRPr lang="en-US" sz="1300" dirty="0"/>
          </a:p>
          <a:p>
            <a:pPr indent="0" marL="0">
              <a:lnSpc>
                <a:spcPct val="100000"/>
              </a:lnSpc>
              <a:buNone/>
            </a:pPr>
            <a:r>
              <a:rPr lang="en-US" sz="1300" dirty="0">
                <a:solidFill>
                  <a:srgbClr val="1F2933"/>
                </a:solidFill>
                <a:latin typeface="Courier New" pitchFamily="34" charset="0"/>
                <a:ea typeface="Courier New" pitchFamily="34" charset="-122"/>
                <a:cs typeface="Courier New" pitchFamily="34" charset="-120"/>
              </a:rPr>
              <a:t>fig, axes = plt.subplots(2, 2, figsize=(10, 6),</a:t>
            </a:r>
            <a:endParaRPr lang="en-US" sz="1300" dirty="0"/>
          </a:p>
          <a:p>
            <a:pPr indent="0" marL="0">
              <a:lnSpc>
                <a:spcPct val="100000"/>
              </a:lnSpc>
              <a:buNone/>
            </a:pPr>
            <a:r>
              <a:rPr lang="en-US" sz="1300" dirty="0">
                <a:solidFill>
                  <a:srgbClr val="1F2933"/>
                </a:solidFill>
                <a:latin typeface="Courier New" pitchFamily="34" charset="0"/>
                <a:ea typeface="Courier New" pitchFamily="34" charset="-122"/>
                <a:cs typeface="Courier New" pitchFamily="34" charset="-120"/>
              </a:rPr>
              <a:t>                         sharey=True)</a:t>
            </a:r>
            <a:endParaRPr lang="en-US" sz="1300" dirty="0"/>
          </a:p>
          <a:p>
            <a:pPr indent="0" marL="0">
              <a:lnSpc>
                <a:spcPct val="100000"/>
              </a:lnSpc>
              <a:buNone/>
            </a:pPr>
            <a:r>
              <a:rPr lang="en-US" sz="1300" dirty="0">
                <a:solidFill>
                  <a:srgbClr val="1F2933"/>
                </a:solidFill>
                <a:latin typeface="Courier New" pitchFamily="34" charset="0"/>
                <a:ea typeface="Courier New" pitchFamily="34" charset="-122"/>
                <a:cs typeface="Courier New" pitchFamily="34" charset="-120"/>
              </a:rPr>
              <a:t>for ax, categorie in zip(axes.flat, categories):</a:t>
            </a:r>
            <a:endParaRPr lang="en-US" sz="1300" dirty="0"/>
          </a:p>
          <a:p>
            <a:pPr indent="0" marL="0">
              <a:lnSpc>
                <a:spcPct val="100000"/>
              </a:lnSpc>
              <a:buNone/>
            </a:pPr>
            <a:r>
              <a:rPr lang="en-US" sz="1300" dirty="0">
                <a:solidFill>
                  <a:srgbClr val="1F2933"/>
                </a:solidFill>
                <a:latin typeface="Courier New" pitchFamily="34" charset="0"/>
                <a:ea typeface="Courier New" pitchFamily="34" charset="-122"/>
                <a:cs typeface="Courier New" pitchFamily="34" charset="-120"/>
              </a:rPr>
              <a:t>    ax.bar(ca_categories.index,</a:t>
            </a:r>
            <a:endParaRPr lang="en-US" sz="1300" dirty="0"/>
          </a:p>
          <a:p>
            <a:pPr indent="0" marL="0">
              <a:lnSpc>
                <a:spcPct val="100000"/>
              </a:lnSpc>
              <a:buNone/>
            </a:pPr>
            <a:r>
              <a:rPr lang="en-US" sz="1300" dirty="0">
                <a:solidFill>
                  <a:srgbClr val="1F2933"/>
                </a:solidFill>
                <a:latin typeface="Courier New" pitchFamily="34" charset="0"/>
                <a:ea typeface="Courier New" pitchFamily="34" charset="-122"/>
                <a:cs typeface="Courier New" pitchFamily="34" charset="-120"/>
              </a:rPr>
              <a:t>           ca_categories[categorie])</a:t>
            </a:r>
            <a:endParaRPr lang="en-US" sz="1300" dirty="0"/>
          </a:p>
          <a:p>
            <a:pPr indent="0" marL="0">
              <a:lnSpc>
                <a:spcPct val="100000"/>
              </a:lnSpc>
              <a:buNone/>
            </a:pPr>
            <a:r>
              <a:rPr lang="en-US" sz="1300" dirty="0">
                <a:solidFill>
                  <a:srgbClr val="1F2933"/>
                </a:solidFill>
                <a:latin typeface="Courier New" pitchFamily="34" charset="0"/>
                <a:ea typeface="Courier New" pitchFamily="34" charset="-122"/>
                <a:cs typeface="Courier New" pitchFamily="34" charset="-120"/>
              </a:rPr>
              <a:t>    ax.set_title(categorie)</a:t>
            </a:r>
            <a:endParaRPr lang="en-US" sz="1300" dirty="0"/>
          </a:p>
          <a:p>
            <a:pPr indent="0" marL="0">
              <a:lnSpc>
                <a:spcPct val="100000"/>
              </a:lnSpc>
              <a:buNone/>
            </a:pPr>
            <a:r>
              <a:rPr lang="en-US" sz="1300" dirty="0">
                <a:solidFill>
                  <a:srgbClr val="1F2933"/>
                </a:solidFill>
                <a:latin typeface="Courier New" pitchFamily="34" charset="0"/>
                <a:ea typeface="Courier New" pitchFamily="34" charset="-122"/>
                <a:cs typeface="Courier New" pitchFamily="34" charset="-120"/>
              </a:rPr>
              <a:t>fig.suptitle("Chiffre d'affaires mensuel par catégorie")</a:t>
            </a:r>
            <a:endParaRPr lang="en-US" sz="1300" dirty="0"/>
          </a:p>
          <a:p>
            <a:pPr indent="0" marL="0">
              <a:lnSpc>
                <a:spcPct val="100000"/>
              </a:lnSpc>
              <a:buNone/>
            </a:pPr>
            <a:r>
              <a:rPr lang="en-US" sz="1300" dirty="0">
                <a:solidFill>
                  <a:srgbClr val="1F2933"/>
                </a:solidFill>
                <a:latin typeface="Courier New" pitchFamily="34" charset="0"/>
                <a:ea typeface="Courier New" pitchFamily="34" charset="-122"/>
                <a:cs typeface="Courier New" pitchFamily="34" charset="-120"/>
              </a:rPr>
              <a:t>fig.tight_layout()</a:t>
            </a:r>
            <a:endParaRPr lang="en-US" sz="1300" dirty="0"/>
          </a:p>
        </p:txBody>
      </p:sp>
      <p:pic>
        <p:nvPicPr>
          <p:cNvPr id="9" name="Image 0" descr="Grille de quatre graphiques en barres, un par catégorie, avec la même échelle verticale">    </p:cNvPr>
          <p:cNvPicPr>
            <a:picLocks noChangeAspect="1"/>
          </p:cNvPicPr>
          <p:nvPr/>
        </p:nvPicPr>
        <p:blipFill>
          <a:blip r:embed="rId1"/>
          <a:stretch>
            <a:fillRect/>
          </a:stretch>
        </p:blipFill>
        <p:spPr>
          <a:xfrm>
            <a:off x="7210882" y="2011680"/>
            <a:ext cx="4432173" cy="2663566"/>
          </a:xfrm>
          <a:prstGeom prst="rect">
            <a:avLst/>
          </a:prstGeom>
        </p:spPr>
      </p:pic>
      <p:sp>
        <p:nvSpPr>
          <p:cNvPr id="10" name="Shape 7"/>
          <p:cNvSpPr/>
          <p:nvPr/>
        </p:nvSpPr>
        <p:spPr>
          <a:xfrm>
            <a:off x="7210882" y="4995286"/>
            <a:ext cx="4432173" cy="1051560"/>
          </a:xfrm>
          <a:prstGeom prst="roundRect">
            <a:avLst>
              <a:gd name="adj" fmla="val 5217"/>
            </a:avLst>
          </a:prstGeom>
          <a:solidFill>
            <a:srgbClr val="E8F3EE"/>
          </a:solidFill>
          <a:ln/>
        </p:spPr>
      </p:sp>
      <p:sp>
        <p:nvSpPr>
          <p:cNvPr id="11" name="Text 8"/>
          <p:cNvSpPr txBox="1"/>
          <p:nvPr/>
        </p:nvSpPr>
        <p:spPr>
          <a:xfrm>
            <a:off x="7485202" y="4995286"/>
            <a:ext cx="3883533" cy="1051560"/>
          </a:xfrm>
          <a:prstGeom prst="rect">
            <a:avLst/>
          </a:prstGeom>
          <a:noFill/>
          <a:ln/>
        </p:spPr>
        <p:txBody>
          <a:bodyPr wrap="square" lIns="0" tIns="0" rIns="0" bIns="0" rtlCol="0" anchor="ctr"/>
          <a:lstStyle/>
          <a:p>
            <a:pPr indent="0" marL="0">
              <a:buNone/>
            </a:pPr>
            <a:r>
              <a:rPr lang="en-US" sz="1500" dirty="0">
                <a:solidFill>
                  <a:srgbClr val="1F3A5F"/>
                </a:solidFill>
                <a:latin typeface="Calibri" pitchFamily="34" charset="0"/>
                <a:ea typeface="Calibri" pitchFamily="34" charset="-122"/>
                <a:cs typeface="Calibri" pitchFamily="34" charset="-120"/>
              </a:rPr>
              <a:t>Avec </a:t>
            </a:r>
            <a:pPr indent="0" marL="0">
              <a:buNone/>
            </a:pPr>
            <a:r>
              <a:rPr lang="en-US" sz="1500" dirty="0">
                <a:solidFill>
                  <a:srgbClr val="2F7D62"/>
                </a:solidFill>
                <a:latin typeface="Courier New" pitchFamily="34" charset="0"/>
                <a:ea typeface="Courier New" pitchFamily="34" charset="-122"/>
                <a:cs typeface="Courier New" pitchFamily="34" charset="-120"/>
              </a:rPr>
              <a:t>sharey=True</a:t>
            </a:r>
            <a:pPr indent="0" marL="0">
              <a:buNone/>
            </a:pPr>
            <a:r>
              <a:rPr lang="en-US" sz="1500" dirty="0">
                <a:solidFill>
                  <a:srgbClr val="1F3A5F"/>
                </a:solidFill>
                <a:latin typeface="Calibri" pitchFamily="34" charset="0"/>
                <a:ea typeface="Calibri" pitchFamily="34" charset="-122"/>
                <a:cs typeface="Calibri" pitchFamily="34" charset="-120"/>
              </a:rPr>
              <a:t>, l'informatique pèse environ cinq fois plus que l'électroménager ; sans, on ne le verrait pas.</a:t>
            </a:r>
            <a:endParaRPr lang="en-US" sz="1500" dirty="0"/>
          </a:p>
        </p:txBody>
      </p:sp>
      <p:sp>
        <p:nvSpPr>
          <p:cNvPr id="12" name="Text 9"/>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Analyse de données avec Python   |   Jour 2, après-midi</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66928"/>
            <a:ext cx="475488" cy="475488"/>
          </a:xfrm>
          <a:prstGeom prst="ellipse">
            <a:avLst/>
          </a:prstGeom>
          <a:solidFill>
            <a:srgbClr val="2F7D62"/>
          </a:solidFill>
          <a:ln/>
        </p:spPr>
      </p:sp>
      <p:sp>
        <p:nvSpPr>
          <p:cNvPr id="3" name="Text 1"/>
          <p:cNvSpPr txBox="1"/>
          <p:nvPr/>
        </p:nvSpPr>
        <p:spPr>
          <a:xfrm>
            <a:off x="548640" y="566928"/>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4" name="Text 2"/>
          <p:cNvSpPr txBox="1"/>
          <p:nvPr/>
        </p:nvSpPr>
        <p:spPr>
          <a:xfrm>
            <a:off x="1280160" y="164592"/>
            <a:ext cx="10362895" cy="274320"/>
          </a:xfrm>
          <a:prstGeom prst="rect">
            <a:avLst/>
          </a:prstGeom>
          <a:noFill/>
          <a:ln/>
        </p:spPr>
        <p:txBody>
          <a:bodyPr wrap="square" lIns="0" tIns="0" rIns="0" bIns="0" rtlCol="0" anchor="ctr"/>
          <a:lstStyle/>
          <a:p>
            <a:pPr indent="0" marL="0">
              <a:buNone/>
            </a:pPr>
            <a:r>
              <a:rPr lang="en-US" sz="1200" b="1" spc="200" kern="0" dirty="0">
                <a:solidFill>
                  <a:srgbClr val="2F7D62"/>
                </a:solidFill>
                <a:latin typeface="Calibri" pitchFamily="34" charset="0"/>
                <a:ea typeface="Calibri" pitchFamily="34" charset="-122"/>
                <a:cs typeface="Calibri" pitchFamily="34" charset="-120"/>
              </a:rPr>
              <a:t>MATPLOTLIB</a:t>
            </a:r>
            <a:endParaRPr lang="en-US" sz="1200" dirty="0"/>
          </a:p>
        </p:txBody>
      </p:sp>
      <p:sp>
        <p:nvSpPr>
          <p:cNvPr id="5" name="Text 3"/>
          <p:cNvSpPr txBox="1"/>
          <p:nvPr/>
        </p:nvSpPr>
        <p:spPr>
          <a:xfrm>
            <a:off x="1280160" y="457200"/>
            <a:ext cx="10362895" cy="694944"/>
          </a:xfrm>
          <a:prstGeom prst="rect">
            <a:avLst/>
          </a:prstGeom>
          <a:noFill/>
          <a:ln/>
        </p:spPr>
        <p:txBody>
          <a:bodyPr wrap="square" lIns="0" tIns="0" rIns="0" bIns="0" rtlCol="0" anchor="ctr"/>
          <a:lstStyle/>
          <a:p>
            <a:pPr indent="0" marL="0">
              <a:buNone/>
            </a:pPr>
            <a:r>
              <a:rPr lang="en-US" sz="3000" b="1" dirty="0">
                <a:solidFill>
                  <a:srgbClr val="1F3A5F"/>
                </a:solidFill>
                <a:latin typeface="Cambria" pitchFamily="34" charset="0"/>
                <a:ea typeface="Cambria" pitchFamily="34" charset="-122"/>
                <a:cs typeface="Cambria" pitchFamily="34" charset="-120"/>
              </a:rPr>
              <a:t>Enregistrer, et le raccourci pandas</a:t>
            </a:r>
            <a:endParaRPr lang="en-US" sz="3000" dirty="0"/>
          </a:p>
        </p:txBody>
      </p:sp>
      <p:sp>
        <p:nvSpPr>
          <p:cNvPr id="6" name="Text 4"/>
          <p:cNvSpPr txBox="1"/>
          <p:nvPr/>
        </p:nvSpPr>
        <p:spPr>
          <a:xfrm>
            <a:off x="548640" y="1417320"/>
            <a:ext cx="5318608" cy="365760"/>
          </a:xfrm>
          <a:prstGeom prst="rect">
            <a:avLst/>
          </a:prstGeom>
          <a:noFill/>
          <a:ln/>
        </p:spPr>
        <p:txBody>
          <a:bodyPr wrap="square" lIns="0" tIns="0" rIns="0" bIns="0" rtlCol="0" anchor="t"/>
          <a:lstStyle/>
          <a:p>
            <a:pPr indent="0" marL="0">
              <a:buNone/>
            </a:pPr>
            <a:r>
              <a:rPr lang="en-US" sz="1700" b="1" dirty="0">
                <a:solidFill>
                  <a:srgbClr val="1F3A5F"/>
                </a:solidFill>
                <a:latin typeface="Calibri" pitchFamily="34" charset="0"/>
                <a:ea typeface="Calibri" pitchFamily="34" charset="-122"/>
                <a:cs typeface="Calibri" pitchFamily="34" charset="-120"/>
              </a:rPr>
              <a:t>Enregistrer</a:t>
            </a:r>
            <a:endParaRPr lang="en-US" sz="1700" dirty="0"/>
          </a:p>
        </p:txBody>
      </p:sp>
      <p:sp>
        <p:nvSpPr>
          <p:cNvPr id="7" name="Shape 5"/>
          <p:cNvSpPr/>
          <p:nvPr/>
        </p:nvSpPr>
        <p:spPr>
          <a:xfrm>
            <a:off x="548640" y="1828800"/>
            <a:ext cx="5318608" cy="966978"/>
          </a:xfrm>
          <a:prstGeom prst="rect">
            <a:avLst/>
          </a:prstGeom>
          <a:solidFill>
            <a:srgbClr val="F3F4F6"/>
          </a:solidFill>
          <a:ln/>
        </p:spPr>
      </p:sp>
      <p:sp>
        <p:nvSpPr>
          <p:cNvPr id="8" name="Text 6"/>
          <p:cNvSpPr txBox="1"/>
          <p:nvPr/>
        </p:nvSpPr>
        <p:spPr>
          <a:xfrm>
            <a:off x="731520" y="1975104"/>
            <a:ext cx="4952848" cy="674370"/>
          </a:xfrm>
          <a:prstGeom prst="rect">
            <a:avLst/>
          </a:prstGeom>
          <a:noFill/>
          <a:ln/>
        </p:spPr>
        <p:txBody>
          <a:bodyPr wrap="square" lIns="0" tIns="0" rIns="0" bIns="0" rtlCol="0" anchor="t"/>
          <a:lstStyle/>
          <a:p>
            <a:pPr indent="0" marL="0">
              <a:lnSpc>
                <a:spcPct val="100000"/>
              </a:lnSpc>
              <a:buNone/>
            </a:pPr>
            <a:r>
              <a:rPr lang="en-US" sz="1500" dirty="0">
                <a:solidFill>
                  <a:srgbClr val="1F2933"/>
                </a:solidFill>
                <a:latin typeface="Courier New" pitchFamily="34" charset="0"/>
                <a:ea typeface="Courier New" pitchFamily="34" charset="-122"/>
                <a:cs typeface="Courier New" pitchFamily="34" charset="-120"/>
              </a:rPr>
              <a:t>fig.savefig("ca_mensuel.png", dpi=150,</a:t>
            </a:r>
            <a:endParaRPr lang="en-US" sz="1500" dirty="0"/>
          </a:p>
          <a:p>
            <a:pPr indent="0" marL="0">
              <a:lnSpc>
                <a:spcPct val="100000"/>
              </a:lnSpc>
              <a:buNone/>
            </a:pPr>
            <a:r>
              <a:rPr lang="en-US" sz="1500" dirty="0">
                <a:solidFill>
                  <a:srgbClr val="1F2933"/>
                </a:solidFill>
                <a:latin typeface="Courier New" pitchFamily="34" charset="0"/>
                <a:ea typeface="Courier New" pitchFamily="34" charset="-122"/>
                <a:cs typeface="Courier New" pitchFamily="34" charset="-120"/>
              </a:rPr>
              <a:t>            bbox_inches="tight")</a:t>
            </a:r>
            <a:endParaRPr lang="en-US" sz="1500" dirty="0"/>
          </a:p>
          <a:p>
            <a:pPr indent="0" marL="0">
              <a:lnSpc>
                <a:spcPct val="100000"/>
              </a:lnSpc>
              <a:buNone/>
            </a:pPr>
            <a:r>
              <a:rPr lang="en-US" sz="1500" dirty="0">
                <a:solidFill>
                  <a:srgbClr val="1F2933"/>
                </a:solidFill>
                <a:latin typeface="Courier New" pitchFamily="34" charset="0"/>
                <a:ea typeface="Courier New" pitchFamily="34" charset="-122"/>
                <a:cs typeface="Courier New" pitchFamily="34" charset="-120"/>
              </a:rPr>
              <a:t>fig.savefig("ca_mensuel.svg")</a:t>
            </a:r>
            <a:endParaRPr lang="en-US" sz="1500" dirty="0"/>
          </a:p>
        </p:txBody>
      </p:sp>
      <p:sp>
        <p:nvSpPr>
          <p:cNvPr id="9" name="Text 7"/>
          <p:cNvSpPr txBox="1"/>
          <p:nvPr/>
        </p:nvSpPr>
        <p:spPr>
          <a:xfrm>
            <a:off x="548640" y="3115818"/>
            <a:ext cx="5318608" cy="624840"/>
          </a:xfrm>
          <a:prstGeom prst="rect">
            <a:avLst/>
          </a:prstGeom>
          <a:noFill/>
          <a:ln/>
        </p:spPr>
        <p:txBody>
          <a:bodyPr wrap="square" lIns="0" tIns="0" rIns="0" bIns="0" rtlCol="0" anchor="t"/>
          <a:lstStyle/>
          <a:p>
            <a:pPr indent="0" marL="0">
              <a:buNone/>
            </a:pPr>
            <a:r>
              <a:rPr lang="en-US" sz="1600" dirty="0">
                <a:solidFill>
                  <a:srgbClr val="1F3A5F"/>
                </a:solidFill>
                <a:latin typeface="Courier New" pitchFamily="34" charset="0"/>
                <a:ea typeface="Courier New" pitchFamily="34" charset="-122"/>
                <a:cs typeface="Courier New" pitchFamily="34" charset="-120"/>
              </a:rPr>
              <a:t>dpi</a:t>
            </a:r>
            <a:pPr indent="0" marL="0">
              <a:buNone/>
            </a:pPr>
            <a:r>
              <a:rPr lang="en-US" sz="1600" dirty="0">
                <a:solidFill>
                  <a:srgbClr val="6B7280"/>
                </a:solidFill>
                <a:latin typeface="Calibri" pitchFamily="34" charset="0"/>
                <a:ea typeface="Calibri" pitchFamily="34" charset="-122"/>
                <a:cs typeface="Calibri" pitchFamily="34" charset="-120"/>
              </a:rPr>
              <a:t> : 150 pour un écran, 300 pour une impression. Le SVG reste net à toutes les tailles.</a:t>
            </a:r>
            <a:endParaRPr lang="en-US" sz="1600" dirty="0"/>
          </a:p>
        </p:txBody>
      </p:sp>
      <p:sp>
        <p:nvSpPr>
          <p:cNvPr id="10" name="Text 8"/>
          <p:cNvSpPr txBox="1"/>
          <p:nvPr/>
        </p:nvSpPr>
        <p:spPr>
          <a:xfrm>
            <a:off x="6324448" y="1417320"/>
            <a:ext cx="5318608" cy="365760"/>
          </a:xfrm>
          <a:prstGeom prst="rect">
            <a:avLst/>
          </a:prstGeom>
          <a:noFill/>
          <a:ln/>
        </p:spPr>
        <p:txBody>
          <a:bodyPr wrap="square" lIns="0" tIns="0" rIns="0" bIns="0" rtlCol="0" anchor="t"/>
          <a:lstStyle/>
          <a:p>
            <a:pPr indent="0" marL="0">
              <a:buNone/>
            </a:pPr>
            <a:r>
              <a:rPr lang="en-US" sz="1700" b="1" dirty="0">
                <a:solidFill>
                  <a:srgbClr val="1F3A5F"/>
                </a:solidFill>
                <a:latin typeface="Calibri" pitchFamily="34" charset="0"/>
                <a:ea typeface="Calibri" pitchFamily="34" charset="-122"/>
                <a:cs typeface="Calibri" pitchFamily="34" charset="-120"/>
              </a:rPr>
              <a:t>pandas trace aussi</a:t>
            </a:r>
            <a:endParaRPr lang="en-US" sz="1700" dirty="0"/>
          </a:p>
        </p:txBody>
      </p:sp>
      <p:sp>
        <p:nvSpPr>
          <p:cNvPr id="11" name="Shape 9"/>
          <p:cNvSpPr/>
          <p:nvPr/>
        </p:nvSpPr>
        <p:spPr>
          <a:xfrm>
            <a:off x="6324448" y="1828800"/>
            <a:ext cx="5318608" cy="1416558"/>
          </a:xfrm>
          <a:prstGeom prst="rect">
            <a:avLst/>
          </a:prstGeom>
          <a:solidFill>
            <a:srgbClr val="F3F4F6"/>
          </a:solidFill>
          <a:ln/>
        </p:spPr>
      </p:sp>
      <p:sp>
        <p:nvSpPr>
          <p:cNvPr id="12" name="Text 10"/>
          <p:cNvSpPr txBox="1"/>
          <p:nvPr/>
        </p:nvSpPr>
        <p:spPr>
          <a:xfrm>
            <a:off x="6507328" y="1975104"/>
            <a:ext cx="4952848" cy="1123950"/>
          </a:xfrm>
          <a:prstGeom prst="rect">
            <a:avLst/>
          </a:prstGeom>
          <a:noFill/>
          <a:ln/>
        </p:spPr>
        <p:txBody>
          <a:bodyPr wrap="square" lIns="0" tIns="0" rIns="0" bIns="0" rtlCol="0" anchor="t"/>
          <a:lstStyle/>
          <a:p>
            <a:pPr indent="0" marL="0">
              <a:lnSpc>
                <a:spcPct val="100000"/>
              </a:lnSpc>
              <a:buNone/>
            </a:pPr>
            <a:r>
              <a:rPr lang="en-US" sz="1500" dirty="0">
                <a:solidFill>
                  <a:srgbClr val="1F2933"/>
                </a:solidFill>
                <a:latin typeface="Courier New" pitchFamily="34" charset="0"/>
                <a:ea typeface="Courier New" pitchFamily="34" charset="-122"/>
                <a:cs typeface="Courier New" pitchFamily="34" charset="-120"/>
              </a:rPr>
              <a:t>mensuel.plot(title="CA mensuel")</a:t>
            </a:r>
            <a:endParaRPr lang="en-US" sz="1500" dirty="0"/>
          </a:p>
          <a:p>
            <a:pPr indent="0" marL="0">
              <a:lnSpc>
                <a:spcPct val="100000"/>
              </a:lnSpc>
              <a:buNone/>
            </a:pPr>
            <a:r>
              <a:rPr lang="en-US" sz="1500" dirty="0">
                <a:solidFill>
                  <a:srgbClr val="1F2933"/>
                </a:solidFill>
                <a:latin typeface="Courier New" pitchFamily="34" charset="0"/>
                <a:ea typeface="Courier New" pitchFamily="34" charset="-122"/>
                <a:cs typeface="Courier New" pitchFamily="34" charset="-120"/>
              </a:rPr>
              <a:t>par_region.plot.barh()</a:t>
            </a:r>
            <a:endParaRPr lang="en-US" sz="1500" dirty="0"/>
          </a:p>
          <a:p>
            <a:pPr indent="0" marL="0">
              <a:lnSpc>
                <a:spcPct val="100000"/>
              </a:lnSpc>
              <a:buNone/>
            </a:pPr>
            <a:r>
              <a:rPr lang="en-US" sz="1500" dirty="0">
                <a:solidFill>
                  <a:srgbClr val="1F2933"/>
                </a:solidFill>
                <a:latin typeface="Courier New" pitchFamily="34" charset="0"/>
                <a:ea typeface="Courier New" pitchFamily="34" charset="-122"/>
                <a:cs typeface="Courier New" pitchFamily="34" charset="-120"/>
              </a:rPr>
              <a:t> </a:t>
            </a:r>
            <a:endParaRPr lang="en-US" sz="1500" dirty="0"/>
          </a:p>
          <a:p>
            <a:pPr indent="0" marL="0">
              <a:lnSpc>
                <a:spcPct val="100000"/>
              </a:lnSpc>
              <a:buNone/>
            </a:pPr>
            <a:r>
              <a:rPr lang="en-US" sz="1500" dirty="0">
                <a:solidFill>
                  <a:srgbClr val="1F2933"/>
                </a:solidFill>
                <a:latin typeface="Courier New" pitchFamily="34" charset="0"/>
                <a:ea typeface="Courier New" pitchFamily="34" charset="-122"/>
                <a:cs typeface="Courier New" pitchFamily="34" charset="-120"/>
              </a:rPr>
              <a:t>fig, ax = plt.subplots()</a:t>
            </a:r>
            <a:endParaRPr lang="en-US" sz="1500" dirty="0"/>
          </a:p>
          <a:p>
            <a:pPr indent="0" marL="0">
              <a:lnSpc>
                <a:spcPct val="100000"/>
              </a:lnSpc>
              <a:buNone/>
            </a:pPr>
            <a:r>
              <a:rPr lang="en-US" sz="1500" dirty="0">
                <a:solidFill>
                  <a:srgbClr val="1F2933"/>
                </a:solidFill>
                <a:latin typeface="Courier New" pitchFamily="34" charset="0"/>
                <a:ea typeface="Courier New" pitchFamily="34" charset="-122"/>
                <a:cs typeface="Courier New" pitchFamily="34" charset="-120"/>
              </a:rPr>
              <a:t>mensuel.plot(ax=ax)</a:t>
            </a:r>
            <a:endParaRPr lang="en-US" sz="1500" dirty="0"/>
          </a:p>
        </p:txBody>
      </p:sp>
      <p:sp>
        <p:nvSpPr>
          <p:cNvPr id="13" name="Text 11"/>
          <p:cNvSpPr txBox="1"/>
          <p:nvPr/>
        </p:nvSpPr>
        <p:spPr>
          <a:xfrm>
            <a:off x="6324448" y="3565398"/>
            <a:ext cx="5318608" cy="1112520"/>
          </a:xfrm>
          <a:prstGeom prst="rect">
            <a:avLst/>
          </a:prstGeom>
          <a:noFill/>
          <a:ln/>
        </p:spPr>
        <p:txBody>
          <a:bodyPr wrap="square" lIns="0" tIns="0" rIns="0" bIns="0" rtlCol="0" anchor="t"/>
          <a:lstStyle/>
          <a:p>
            <a:pPr indent="0" marL="0">
              <a:buNone/>
            </a:pPr>
            <a:r>
              <a:rPr lang="en-US" sz="1600" dirty="0">
                <a:solidFill>
                  <a:srgbClr val="6B7280"/>
                </a:solidFill>
                <a:latin typeface="Calibri" pitchFamily="34" charset="0"/>
                <a:ea typeface="Calibri" pitchFamily="34" charset="-122"/>
                <a:cs typeface="Calibri" pitchFamily="34" charset="-120"/>
              </a:rPr>
              <a:t>pandas place l'index sur l'axe des catégories et le nomme avec le nom de l'index. Pratique pour explorer ; pour un graphique de restitution, on reprend la main avec </a:t>
            </a:r>
            <a:pPr indent="0" marL="0">
              <a:buNone/>
            </a:pPr>
            <a:r>
              <a:rPr lang="en-US" sz="1600" dirty="0">
                <a:solidFill>
                  <a:srgbClr val="1F3A5F"/>
                </a:solidFill>
                <a:latin typeface="Courier New" pitchFamily="34" charset="0"/>
                <a:ea typeface="Courier New" pitchFamily="34" charset="-122"/>
                <a:cs typeface="Courier New" pitchFamily="34" charset="-120"/>
              </a:rPr>
              <a:t>ax</a:t>
            </a:r>
            <a:pPr indent="0" marL="0">
              <a:buNone/>
            </a:pPr>
            <a:r>
              <a:rPr lang="en-US" sz="1600" dirty="0">
                <a:solidFill>
                  <a:srgbClr val="6B7280"/>
                </a:solidFill>
                <a:latin typeface="Calibri" pitchFamily="34" charset="0"/>
                <a:ea typeface="Calibri" pitchFamily="34" charset="-122"/>
                <a:cs typeface="Calibri" pitchFamily="34" charset="-120"/>
              </a:rPr>
              <a:t>.</a:t>
            </a:r>
            <a:endParaRPr lang="en-US" sz="1600" dirty="0"/>
          </a:p>
        </p:txBody>
      </p:sp>
      <p:sp>
        <p:nvSpPr>
          <p:cNvPr id="14" name="Text 12"/>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Analyse de données avec Python   |   Jour 2, après-midi</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66928"/>
            <a:ext cx="475488" cy="475488"/>
          </a:xfrm>
          <a:prstGeom prst="ellipse">
            <a:avLst/>
          </a:prstGeom>
          <a:solidFill>
            <a:srgbClr val="2F7D62"/>
          </a:solidFill>
          <a:ln/>
        </p:spPr>
      </p:sp>
      <p:sp>
        <p:nvSpPr>
          <p:cNvPr id="3" name="Text 1"/>
          <p:cNvSpPr txBox="1"/>
          <p:nvPr/>
        </p:nvSpPr>
        <p:spPr>
          <a:xfrm>
            <a:off x="548640" y="566928"/>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4" name="Text 2"/>
          <p:cNvSpPr txBox="1"/>
          <p:nvPr/>
        </p:nvSpPr>
        <p:spPr>
          <a:xfrm>
            <a:off x="1280160" y="164592"/>
            <a:ext cx="10362895" cy="274320"/>
          </a:xfrm>
          <a:prstGeom prst="rect">
            <a:avLst/>
          </a:prstGeom>
          <a:noFill/>
          <a:ln/>
        </p:spPr>
        <p:txBody>
          <a:bodyPr wrap="square" lIns="0" tIns="0" rIns="0" bIns="0" rtlCol="0" anchor="ctr"/>
          <a:lstStyle/>
          <a:p>
            <a:pPr indent="0" marL="0">
              <a:buNone/>
            </a:pPr>
            <a:r>
              <a:rPr lang="en-US" sz="1200" b="1" spc="200" kern="0" dirty="0">
                <a:solidFill>
                  <a:srgbClr val="2F7D62"/>
                </a:solidFill>
                <a:latin typeface="Calibri" pitchFamily="34" charset="0"/>
                <a:ea typeface="Calibri" pitchFamily="34" charset="-122"/>
                <a:cs typeface="Calibri" pitchFamily="34" charset="-120"/>
              </a:rPr>
              <a:t>MATPLOTLIB</a:t>
            </a:r>
            <a:endParaRPr lang="en-US" sz="1200" dirty="0"/>
          </a:p>
        </p:txBody>
      </p:sp>
      <p:sp>
        <p:nvSpPr>
          <p:cNvPr id="5" name="Text 3"/>
          <p:cNvSpPr txBox="1"/>
          <p:nvPr/>
        </p:nvSpPr>
        <p:spPr>
          <a:xfrm>
            <a:off x="1280160" y="457200"/>
            <a:ext cx="10362895" cy="694944"/>
          </a:xfrm>
          <a:prstGeom prst="rect">
            <a:avLst/>
          </a:prstGeom>
          <a:noFill/>
          <a:ln/>
        </p:spPr>
        <p:txBody>
          <a:bodyPr wrap="square" lIns="0" tIns="0" rIns="0" bIns="0" rtlCol="0" anchor="ctr"/>
          <a:lstStyle/>
          <a:p>
            <a:pPr indent="0" marL="0">
              <a:buNone/>
            </a:pPr>
            <a:r>
              <a:rPr lang="en-US" sz="3000" b="1" dirty="0">
                <a:solidFill>
                  <a:srgbClr val="1F3A5F"/>
                </a:solidFill>
                <a:latin typeface="Cambria" pitchFamily="34" charset="0"/>
                <a:ea typeface="Cambria" pitchFamily="34" charset="-122"/>
                <a:cs typeface="Cambria" pitchFamily="34" charset="-120"/>
              </a:rPr>
              <a:t>Inspecter un graphique par le code</a:t>
            </a:r>
            <a:endParaRPr lang="en-US" sz="3000" dirty="0"/>
          </a:p>
        </p:txBody>
      </p:sp>
      <p:sp>
        <p:nvSpPr>
          <p:cNvPr id="6" name="Text 4"/>
          <p:cNvSpPr txBox="1"/>
          <p:nvPr/>
        </p:nvSpPr>
        <p:spPr>
          <a:xfrm>
            <a:off x="548640" y="1417320"/>
            <a:ext cx="11094415" cy="411480"/>
          </a:xfrm>
          <a:prstGeom prst="rect">
            <a:avLst/>
          </a:prstGeom>
          <a:noFill/>
          <a:ln/>
        </p:spPr>
        <p:txBody>
          <a:bodyPr wrap="square" lIns="0" tIns="0" rIns="0" bIns="0" rtlCol="0" anchor="t"/>
          <a:lstStyle/>
          <a:p>
            <a:pPr indent="0" marL="0">
              <a:buNone/>
            </a:pPr>
            <a:r>
              <a:rPr lang="en-US" sz="1800" dirty="0">
                <a:solidFill>
                  <a:srgbClr val="6B7280"/>
                </a:solidFill>
                <a:latin typeface="Calibri" pitchFamily="34" charset="0"/>
                <a:ea typeface="Calibri" pitchFamily="34" charset="-122"/>
                <a:cs typeface="Calibri" pitchFamily="34" charset="-120"/>
              </a:rPr>
              <a:t>Un graphique matplotlib est un objet : on vérifie son contenu sans le regarder.</a:t>
            </a:r>
            <a:endParaRPr lang="en-US" sz="1800" dirty="0"/>
          </a:p>
        </p:txBody>
      </p:sp>
      <p:sp>
        <p:nvSpPr>
          <p:cNvPr id="7" name="Shape 5"/>
          <p:cNvSpPr/>
          <p:nvPr/>
        </p:nvSpPr>
        <p:spPr>
          <a:xfrm>
            <a:off x="548640" y="2011680"/>
            <a:ext cx="11094415" cy="2090928"/>
          </a:xfrm>
          <a:prstGeom prst="rect">
            <a:avLst/>
          </a:prstGeom>
          <a:solidFill>
            <a:srgbClr val="F3F4F6"/>
          </a:solidFill>
          <a:ln/>
        </p:spPr>
      </p:sp>
      <p:sp>
        <p:nvSpPr>
          <p:cNvPr id="8" name="Text 6"/>
          <p:cNvSpPr txBox="1"/>
          <p:nvPr/>
        </p:nvSpPr>
        <p:spPr>
          <a:xfrm>
            <a:off x="731520" y="2157984"/>
            <a:ext cx="10728655" cy="1798320"/>
          </a:xfrm>
          <a:prstGeom prst="rect">
            <a:avLst/>
          </a:prstGeom>
          <a:noFill/>
          <a:ln/>
        </p:spPr>
        <p:txBody>
          <a:bodyPr wrap="square" lIns="0" tIns="0" rIns="0" bIns="0" rtlCol="0" anchor="t"/>
          <a:lstStyle/>
          <a:p>
            <a:pPr indent="0" marL="0">
              <a:lnSpc>
                <a:spcPct val="100000"/>
              </a:lnSpc>
              <a:buNone/>
            </a:pPr>
            <a:r>
              <a:rPr lang="en-US" sz="1500" dirty="0">
                <a:solidFill>
                  <a:srgbClr val="1F2933"/>
                </a:solidFill>
                <a:latin typeface="Courier New" pitchFamily="34" charset="0"/>
                <a:ea typeface="Courier New" pitchFamily="34" charset="-122"/>
                <a:cs typeface="Courier New" pitchFamily="34" charset="-120"/>
              </a:rPr>
              <a:t>ax.get_title()                    # le titre</a:t>
            </a:r>
            <a:endParaRPr lang="en-US" sz="1500" dirty="0"/>
          </a:p>
          <a:p>
            <a:pPr indent="0" marL="0">
              <a:lnSpc>
                <a:spcPct val="100000"/>
              </a:lnSpc>
              <a:buNone/>
            </a:pPr>
            <a:r>
              <a:rPr lang="en-US" sz="1500" dirty="0">
                <a:solidFill>
                  <a:srgbClr val="1F2933"/>
                </a:solidFill>
                <a:latin typeface="Courier New" pitchFamily="34" charset="0"/>
                <a:ea typeface="Courier New" pitchFamily="34" charset="-122"/>
                <a:cs typeface="Courier New" pitchFamily="34" charset="-120"/>
              </a:rPr>
              <a:t>ax.get_xlabel(), ax.get_ylabel()  # les noms des axes</a:t>
            </a:r>
            <a:endParaRPr lang="en-US" sz="1500" dirty="0"/>
          </a:p>
          <a:p>
            <a:pPr indent="0" marL="0">
              <a:lnSpc>
                <a:spcPct val="100000"/>
              </a:lnSpc>
              <a:buNone/>
            </a:pPr>
            <a:r>
              <a:rPr lang="en-US" sz="1500" dirty="0">
                <a:solidFill>
                  <a:srgbClr val="1F2933"/>
                </a:solidFill>
                <a:latin typeface="Courier New" pitchFamily="34" charset="0"/>
                <a:ea typeface="Courier New" pitchFamily="34" charset="-122"/>
                <a:cs typeface="Courier New" pitchFamily="34" charset="-120"/>
              </a:rPr>
              <a:t>ax.get_ylim()                     # (bas, haut) de l'axe vertical</a:t>
            </a:r>
            <a:endParaRPr lang="en-US" sz="1500" dirty="0"/>
          </a:p>
          <a:p>
            <a:pPr indent="0" marL="0">
              <a:lnSpc>
                <a:spcPct val="100000"/>
              </a:lnSpc>
              <a:buNone/>
            </a:pPr>
            <a:r>
              <a:rPr lang="en-US" sz="1500" dirty="0">
                <a:solidFill>
                  <a:srgbClr val="1F2933"/>
                </a:solidFill>
                <a:latin typeface="Courier New" pitchFamily="34" charset="0"/>
                <a:ea typeface="Courier New" pitchFamily="34" charset="-122"/>
                <a:cs typeface="Courier New" pitchFamily="34" charset="-120"/>
              </a:rPr>
              <a:t>ax.patches                        # les barres : get_height(), get_width(), get_facecolor()</a:t>
            </a:r>
            <a:endParaRPr lang="en-US" sz="1500" dirty="0"/>
          </a:p>
          <a:p>
            <a:pPr indent="0" marL="0">
              <a:lnSpc>
                <a:spcPct val="100000"/>
              </a:lnSpc>
              <a:buNone/>
            </a:pPr>
            <a:r>
              <a:rPr lang="en-US" sz="1500" dirty="0">
                <a:solidFill>
                  <a:srgbClr val="1F2933"/>
                </a:solidFill>
                <a:latin typeface="Courier New" pitchFamily="34" charset="0"/>
                <a:ea typeface="Courier New" pitchFamily="34" charset="-122"/>
                <a:cs typeface="Courier New" pitchFamily="34" charset="-120"/>
              </a:rPr>
              <a:t>ax.lines                          # les courbes et les lignes de référence</a:t>
            </a:r>
            <a:endParaRPr lang="en-US" sz="1500" dirty="0"/>
          </a:p>
          <a:p>
            <a:pPr indent="0" marL="0">
              <a:lnSpc>
                <a:spcPct val="100000"/>
              </a:lnSpc>
              <a:buNone/>
            </a:pPr>
            <a:r>
              <a:rPr lang="en-US" sz="1500" dirty="0">
                <a:solidFill>
                  <a:srgbClr val="1F2933"/>
                </a:solidFill>
                <a:latin typeface="Courier New" pitchFamily="34" charset="0"/>
                <a:ea typeface="Courier New" pitchFamily="34" charset="-122"/>
                <a:cs typeface="Courier New" pitchFamily="34" charset="-120"/>
              </a:rPr>
              <a:t>ax.texts                          # les textes ajoutés : labels de bar_label, annotations</a:t>
            </a:r>
            <a:endParaRPr lang="en-US" sz="1500" dirty="0"/>
          </a:p>
          <a:p>
            <a:pPr indent="0" marL="0">
              <a:lnSpc>
                <a:spcPct val="100000"/>
              </a:lnSpc>
              <a:buNone/>
            </a:pPr>
            <a:r>
              <a:rPr lang="en-US" sz="1500" dirty="0">
                <a:solidFill>
                  <a:srgbClr val="1F2933"/>
                </a:solidFill>
                <a:latin typeface="Courier New" pitchFamily="34" charset="0"/>
                <a:ea typeface="Courier New" pitchFamily="34" charset="-122"/>
                <a:cs typeface="Courier New" pitchFamily="34" charset="-120"/>
              </a:rPr>
              <a:t>ax.collections                    # les points d'un nuage, les cases d'une heatmap</a:t>
            </a:r>
            <a:endParaRPr lang="en-US" sz="1500" dirty="0"/>
          </a:p>
          <a:p>
            <a:pPr indent="0" marL="0">
              <a:lnSpc>
                <a:spcPct val="100000"/>
              </a:lnSpc>
              <a:buNone/>
            </a:pPr>
            <a:r>
              <a:rPr lang="en-US" sz="1500" dirty="0">
                <a:solidFill>
                  <a:srgbClr val="1F2933"/>
                </a:solidFill>
                <a:latin typeface="Courier New" pitchFamily="34" charset="0"/>
                <a:ea typeface="Courier New" pitchFamily="34" charset="-122"/>
                <a:cs typeface="Courier New" pitchFamily="34" charset="-120"/>
              </a:rPr>
              <a:t>fig.axes                          # la liste des Axes de la figure</a:t>
            </a:r>
            <a:endParaRPr lang="en-US" sz="1500" dirty="0"/>
          </a:p>
        </p:txBody>
      </p:sp>
      <p:sp>
        <p:nvSpPr>
          <p:cNvPr id="9" name="Shape 7"/>
          <p:cNvSpPr/>
          <p:nvPr/>
        </p:nvSpPr>
        <p:spPr>
          <a:xfrm>
            <a:off x="548640" y="4422648"/>
            <a:ext cx="11094415" cy="1143000"/>
          </a:xfrm>
          <a:prstGeom prst="roundRect">
            <a:avLst>
              <a:gd name="adj" fmla="val 4800"/>
            </a:avLst>
          </a:prstGeom>
          <a:solidFill>
            <a:srgbClr val="E8F3EE"/>
          </a:solidFill>
          <a:ln/>
        </p:spPr>
      </p:sp>
      <p:sp>
        <p:nvSpPr>
          <p:cNvPr id="10" name="Text 8"/>
          <p:cNvSpPr txBox="1"/>
          <p:nvPr/>
        </p:nvSpPr>
        <p:spPr>
          <a:xfrm>
            <a:off x="822960" y="4422648"/>
            <a:ext cx="10545775" cy="1143000"/>
          </a:xfrm>
          <a:prstGeom prst="rect">
            <a:avLst/>
          </a:prstGeom>
          <a:noFill/>
          <a:ln/>
        </p:spPr>
        <p:txBody>
          <a:bodyPr wrap="square" lIns="0" tIns="0" rIns="0" bIns="0" rtlCol="0" anchor="ctr"/>
          <a:lstStyle/>
          <a:p>
            <a:pPr indent="0" marL="0">
              <a:buNone/>
            </a:pPr>
            <a:r>
              <a:rPr lang="en-US" sz="1700" dirty="0">
                <a:solidFill>
                  <a:srgbClr val="1F3A5F"/>
                </a:solidFill>
                <a:latin typeface="Calibri" pitchFamily="34" charset="0"/>
                <a:ea typeface="Calibri" pitchFamily="34" charset="-122"/>
                <a:cs typeface="Calibri" pitchFamily="34" charset="-120"/>
              </a:rPr>
              <a:t>Les vérifications du TP4 s'en servent : </a:t>
            </a:r>
            <a:pPr indent="0" marL="0">
              <a:buNone/>
            </a:pPr>
            <a:r>
              <a:rPr lang="en-US" sz="1700" dirty="0">
                <a:solidFill>
                  <a:srgbClr val="2F7D62"/>
                </a:solidFill>
                <a:latin typeface="Courier New" pitchFamily="34" charset="0"/>
                <a:ea typeface="Courier New" pitchFamily="34" charset="-122"/>
                <a:cs typeface="Courier New" pitchFamily="34" charset="-120"/>
              </a:rPr>
              <a:t>assert ax.get_ylim()[0] == 0</a:t>
            </a:r>
            <a:pPr indent="0" marL="0">
              <a:buNone/>
            </a:pPr>
            <a:r>
              <a:rPr lang="en-US" sz="1700" dirty="0">
                <a:solidFill>
                  <a:srgbClr val="1F3A5F"/>
                </a:solidFill>
                <a:latin typeface="Calibri" pitchFamily="34" charset="0"/>
                <a:ea typeface="Calibri" pitchFamily="34" charset="-122"/>
                <a:cs typeface="Calibri" pitchFamily="34" charset="-120"/>
              </a:rPr>
              <a:t> pour un axe qui part de zéro, </a:t>
            </a:r>
            <a:pPr indent="0" marL="0">
              <a:buNone/>
            </a:pPr>
            <a:r>
              <a:rPr lang="en-US" sz="1700" dirty="0">
                <a:solidFill>
                  <a:srgbClr val="2F7D62"/>
                </a:solidFill>
                <a:latin typeface="Courier New" pitchFamily="34" charset="0"/>
                <a:ea typeface="Courier New" pitchFamily="34" charset="-122"/>
                <a:cs typeface="Courier New" pitchFamily="34" charset="-120"/>
              </a:rPr>
              <a:t>len(ax.patches) == 9</a:t>
            </a:r>
            <a:pPr indent="0" marL="0">
              <a:buNone/>
            </a:pPr>
            <a:r>
              <a:rPr lang="en-US" sz="1700" dirty="0">
                <a:solidFill>
                  <a:srgbClr val="1F3A5F"/>
                </a:solidFill>
                <a:latin typeface="Calibri" pitchFamily="34" charset="0"/>
                <a:ea typeface="Calibri" pitchFamily="34" charset="-122"/>
                <a:cs typeface="Calibri" pitchFamily="34" charset="-120"/>
              </a:rPr>
              <a:t> pour une barre par mois. D'où la consigne : toujours nommer la figure </a:t>
            </a:r>
            <a:pPr indent="0" marL="0">
              <a:buNone/>
            </a:pPr>
            <a:r>
              <a:rPr lang="en-US" sz="1700" dirty="0">
                <a:solidFill>
                  <a:srgbClr val="2F7D62"/>
                </a:solidFill>
                <a:latin typeface="Courier New" pitchFamily="34" charset="0"/>
                <a:ea typeface="Courier New" pitchFamily="34" charset="-122"/>
                <a:cs typeface="Courier New" pitchFamily="34" charset="-120"/>
              </a:rPr>
              <a:t>fig</a:t>
            </a:r>
            <a:pPr indent="0" marL="0">
              <a:buNone/>
            </a:pPr>
            <a:r>
              <a:rPr lang="en-US" sz="1700" dirty="0">
                <a:solidFill>
                  <a:srgbClr val="1F3A5F"/>
                </a:solidFill>
                <a:latin typeface="Calibri" pitchFamily="34" charset="0"/>
                <a:ea typeface="Calibri" pitchFamily="34" charset="-122"/>
                <a:cs typeface="Calibri" pitchFamily="34" charset="-120"/>
              </a:rPr>
              <a:t> et le graphique </a:t>
            </a:r>
            <a:pPr indent="0" marL="0">
              <a:buNone/>
            </a:pPr>
            <a:r>
              <a:rPr lang="en-US" sz="1700" dirty="0">
                <a:solidFill>
                  <a:srgbClr val="2F7D62"/>
                </a:solidFill>
                <a:latin typeface="Courier New" pitchFamily="34" charset="0"/>
                <a:ea typeface="Courier New" pitchFamily="34" charset="-122"/>
                <a:cs typeface="Courier New" pitchFamily="34" charset="-120"/>
              </a:rPr>
              <a:t>ax</a:t>
            </a:r>
            <a:pPr indent="0" marL="0">
              <a:buNone/>
            </a:pPr>
            <a:r>
              <a:rPr lang="en-US" sz="1700" dirty="0">
                <a:solidFill>
                  <a:srgbClr val="1F3A5F"/>
                </a:solidFill>
                <a:latin typeface="Calibri" pitchFamily="34" charset="0"/>
                <a:ea typeface="Calibri" pitchFamily="34" charset="-122"/>
                <a:cs typeface="Calibri" pitchFamily="34" charset="-120"/>
              </a:rPr>
              <a:t>.</a:t>
            </a:r>
            <a:endParaRPr lang="en-US" sz="1700" dirty="0"/>
          </a:p>
        </p:txBody>
      </p:sp>
      <p:sp>
        <p:nvSpPr>
          <p:cNvPr id="11" name="Text 9"/>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Analyse de données avec Python   |   Jour 2, après-midi</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66928"/>
            <a:ext cx="475488" cy="475488"/>
          </a:xfrm>
          <a:prstGeom prst="ellipse">
            <a:avLst/>
          </a:prstGeom>
          <a:solidFill>
            <a:srgbClr val="2F7D62"/>
          </a:solidFill>
          <a:ln/>
        </p:spPr>
      </p:sp>
      <p:sp>
        <p:nvSpPr>
          <p:cNvPr id="3" name="Text 1"/>
          <p:cNvSpPr txBox="1"/>
          <p:nvPr/>
        </p:nvSpPr>
        <p:spPr>
          <a:xfrm>
            <a:off x="548640" y="566928"/>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4" name="Text 2"/>
          <p:cNvSpPr txBox="1"/>
          <p:nvPr/>
        </p:nvSpPr>
        <p:spPr>
          <a:xfrm>
            <a:off x="1280160" y="164592"/>
            <a:ext cx="10362895" cy="274320"/>
          </a:xfrm>
          <a:prstGeom prst="rect">
            <a:avLst/>
          </a:prstGeom>
          <a:noFill/>
          <a:ln/>
        </p:spPr>
        <p:txBody>
          <a:bodyPr wrap="square" lIns="0" tIns="0" rIns="0" bIns="0" rtlCol="0" anchor="ctr"/>
          <a:lstStyle/>
          <a:p>
            <a:pPr indent="0" marL="0">
              <a:buNone/>
            </a:pPr>
            <a:r>
              <a:rPr lang="en-US" sz="1200" b="1" spc="200" kern="0" dirty="0">
                <a:solidFill>
                  <a:srgbClr val="2F7D62"/>
                </a:solidFill>
                <a:latin typeface="Calibri" pitchFamily="34" charset="0"/>
                <a:ea typeface="Calibri" pitchFamily="34" charset="-122"/>
                <a:cs typeface="Calibri" pitchFamily="34" charset="-120"/>
              </a:rPr>
              <a:t>MATPLOTLIB</a:t>
            </a:r>
            <a:endParaRPr lang="en-US" sz="1200" dirty="0"/>
          </a:p>
        </p:txBody>
      </p:sp>
      <p:sp>
        <p:nvSpPr>
          <p:cNvPr id="5" name="Text 3"/>
          <p:cNvSpPr txBox="1"/>
          <p:nvPr/>
        </p:nvSpPr>
        <p:spPr>
          <a:xfrm>
            <a:off x="1280160" y="457200"/>
            <a:ext cx="10362895" cy="694944"/>
          </a:xfrm>
          <a:prstGeom prst="rect">
            <a:avLst/>
          </a:prstGeom>
          <a:noFill/>
          <a:ln/>
        </p:spPr>
        <p:txBody>
          <a:bodyPr wrap="square" lIns="0" tIns="0" rIns="0" bIns="0" rtlCol="0" anchor="ctr"/>
          <a:lstStyle/>
          <a:p>
            <a:pPr indent="0" marL="0">
              <a:buNone/>
            </a:pPr>
            <a:r>
              <a:rPr lang="en-US" sz="3000" b="1" dirty="0">
                <a:solidFill>
                  <a:srgbClr val="1F3A5F"/>
                </a:solidFill>
                <a:latin typeface="Cambria" pitchFamily="34" charset="0"/>
                <a:ea typeface="Cambria" pitchFamily="34" charset="-122"/>
                <a:cs typeface="Cambria" pitchFamily="34" charset="-120"/>
              </a:rPr>
              <a:t>Pratique : TP4, partie 1</a:t>
            </a:r>
            <a:endParaRPr lang="en-US" sz="30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5802117" cy="914400"/>
        </p:xfrm>
        <a:graphic>
          <a:graphicData uri="http://schemas.openxmlformats.org/drawingml/2006/table">
            <a:tbl>
              <a:tblPr/>
              <a:tblGrid>
                <a:gridCol w="1338950"/>
                <a:gridCol w="4463167"/>
              </a:tblGrid>
              <a:tr h="350774">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Question</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1F3A5F"/>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À tracer</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1F3A5F"/>
                    </a:solidFill>
                  </a:tcPr>
                </a:tc>
              </a:tr>
              <a:tr h="555244">
                <a:tc>
                  <a:txBody>
                    <a:bodyPr/>
                    <a:lstStyle/>
                    <a:p>
                      <a:pPr indent="0" marL="0">
                        <a:buNone/>
                      </a:pPr>
                      <a:r>
                        <a:rPr lang="en-US" sz="1400" dirty="0">
                          <a:solidFill>
                            <a:srgbClr val="1F2933"/>
                          </a:solidFill>
                          <a:latin typeface="Calibri" pitchFamily="34" charset="0"/>
                          <a:ea typeface="Calibri" pitchFamily="34" charset="-122"/>
                          <a:cs typeface="Calibri" pitchFamily="34" charset="-120"/>
                        </a:rPr>
                        <a:t>1.1</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400" dirty="0">
                          <a:solidFill>
                            <a:srgbClr val="1F2933"/>
                          </a:solidFill>
                          <a:latin typeface="Calibri" pitchFamily="34" charset="0"/>
                          <a:ea typeface="Calibri" pitchFamily="34" charset="-122"/>
                          <a:cs typeface="Calibri" pitchFamily="34" charset="-120"/>
                        </a:rPr>
                        <a:t>la courbe du chiffre d'affaires mensuel, avec le formateur </a:t>
                      </a:r>
                      <a:pPr indent="0" marL="0">
                        <a:buNone/>
                      </a:pPr>
                      <a:r>
                        <a:rPr lang="en-US" sz="1400" dirty="0">
                          <a:solidFill>
                            <a:srgbClr val="1F3A5F"/>
                          </a:solidFill>
                          <a:latin typeface="Courier New" pitchFamily="34" charset="0"/>
                          <a:ea typeface="Courier New" pitchFamily="34" charset="-122"/>
                          <a:cs typeface="Courier New" pitchFamily="34" charset="-120"/>
                        </a:rPr>
                        <a:t>milliers</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r>
              <a:tr h="350774">
                <a:tc>
                  <a:txBody>
                    <a:bodyPr/>
                    <a:lstStyle/>
                    <a:p>
                      <a:pPr indent="0" marL="0">
                        <a:buNone/>
                      </a:pPr>
                      <a:r>
                        <a:rPr lang="en-US" sz="1400" dirty="0">
                          <a:solidFill>
                            <a:srgbClr val="1F2933"/>
                          </a:solidFill>
                          <a:latin typeface="Calibri" pitchFamily="34" charset="0"/>
                          <a:ea typeface="Calibri" pitchFamily="34" charset="-122"/>
                          <a:cs typeface="Calibri" pitchFamily="34" charset="-120"/>
                        </a:rPr>
                        <a:t>1.2</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7F9FB"/>
                    </a:solidFill>
                  </a:tcPr>
                </a:tc>
                <a:tc>
                  <a:txBody>
                    <a:bodyPr/>
                    <a:lstStyle/>
                    <a:p>
                      <a:pPr indent="0" marL="0">
                        <a:buNone/>
                      </a:pPr>
                      <a:r>
                        <a:rPr lang="en-US" sz="1400" dirty="0">
                          <a:solidFill>
                            <a:srgbClr val="1F2933"/>
                          </a:solidFill>
                          <a:latin typeface="Calibri" pitchFamily="34" charset="0"/>
                          <a:ea typeface="Calibri" pitchFamily="34" charset="-122"/>
                          <a:cs typeface="Calibri" pitchFamily="34" charset="-120"/>
                        </a:rPr>
                        <a:t>les barres mensuelles et la ligne d'objectif</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7F9FB"/>
                    </a:solidFill>
                  </a:tcPr>
                </a:tc>
              </a:tr>
              <a:tr h="555244">
                <a:tc>
                  <a:txBody>
                    <a:bodyPr/>
                    <a:lstStyle/>
                    <a:p>
                      <a:pPr indent="0" marL="0">
                        <a:buNone/>
                      </a:pPr>
                      <a:r>
                        <a:rPr lang="en-US" sz="1400" dirty="0">
                          <a:solidFill>
                            <a:srgbClr val="1F2933"/>
                          </a:solidFill>
                          <a:latin typeface="Calibri" pitchFamily="34" charset="0"/>
                          <a:ea typeface="Calibri" pitchFamily="34" charset="-122"/>
                          <a:cs typeface="Calibri" pitchFamily="34" charset="-120"/>
                        </a:rPr>
                        <a:t>1.3</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400" dirty="0">
                          <a:solidFill>
                            <a:srgbClr val="1F2933"/>
                          </a:solidFill>
                          <a:latin typeface="Calibri" pitchFamily="34" charset="0"/>
                          <a:ea typeface="Calibri" pitchFamily="34" charset="-122"/>
                          <a:cs typeface="Calibri" pitchFamily="34" charset="-120"/>
                        </a:rPr>
                        <a:t>les régions en barres horizontales, avec </a:t>
                      </a:r>
                      <a:pPr indent="0" marL="0">
                        <a:buNone/>
                      </a:pPr>
                      <a:r>
                        <a:rPr lang="en-US" sz="1400" dirty="0">
                          <a:solidFill>
                            <a:srgbClr val="1F3A5F"/>
                          </a:solidFill>
                          <a:latin typeface="Courier New" pitchFamily="34" charset="0"/>
                          <a:ea typeface="Courier New" pitchFamily="34" charset="-122"/>
                          <a:cs typeface="Courier New" pitchFamily="34" charset="-120"/>
                        </a:rPr>
                        <a:t>bar_label</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r>
              <a:tr h="555244">
                <a:tc>
                  <a:txBody>
                    <a:bodyPr/>
                    <a:lstStyle/>
                    <a:p>
                      <a:pPr indent="0" marL="0">
                        <a:buNone/>
                      </a:pPr>
                      <a:r>
                        <a:rPr lang="en-US" sz="1400" dirty="0">
                          <a:solidFill>
                            <a:srgbClr val="1F2933"/>
                          </a:solidFill>
                          <a:latin typeface="Calibri" pitchFamily="34" charset="0"/>
                          <a:ea typeface="Calibri" pitchFamily="34" charset="-122"/>
                          <a:cs typeface="Calibri" pitchFamily="34" charset="-120"/>
                        </a:rPr>
                        <a:t>1.4</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7F9FB"/>
                    </a:solidFill>
                  </a:tcPr>
                </a:tc>
                <a:tc>
                  <a:txBody>
                    <a:bodyPr/>
                    <a:lstStyle/>
                    <a:p>
                      <a:pPr indent="0" marL="0">
                        <a:buNone/>
                      </a:pPr>
                      <a:r>
                        <a:rPr lang="en-US" sz="1400" dirty="0">
                          <a:solidFill>
                            <a:srgbClr val="1F2933"/>
                          </a:solidFill>
                          <a:latin typeface="Calibri" pitchFamily="34" charset="0"/>
                          <a:ea typeface="Calibri" pitchFamily="34" charset="-122"/>
                          <a:cs typeface="Calibri" pitchFamily="34" charset="-120"/>
                        </a:rPr>
                        <a:t>chiffre d'affaires et commandes côte à côte, enregistrés en PNG</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7F9FB"/>
                    </a:solidFill>
                  </a:tcPr>
                </a:tc>
              </a:tr>
              <a:tr h="350774">
                <a:tc>
                  <a:txBody>
                    <a:bodyPr/>
                    <a:lstStyle/>
                    <a:p>
                      <a:pPr indent="0" marL="0">
                        <a:buNone/>
                      </a:pPr>
                      <a:r>
                        <a:rPr lang="en-US" sz="1400" dirty="0">
                          <a:solidFill>
                            <a:srgbClr val="1F2933"/>
                          </a:solidFill>
                          <a:latin typeface="Calibri" pitchFamily="34" charset="0"/>
                          <a:ea typeface="Calibri" pitchFamily="34" charset="-122"/>
                          <a:cs typeface="Calibri" pitchFamily="34" charset="-120"/>
                        </a:rPr>
                        <a:t>1.5</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400" dirty="0">
                          <a:solidFill>
                            <a:srgbClr val="1F2933"/>
                          </a:solidFill>
                          <a:latin typeface="Calibri" pitchFamily="34" charset="0"/>
                          <a:ea typeface="Calibri" pitchFamily="34" charset="-122"/>
                          <a:cs typeface="Calibri" pitchFamily="34" charset="-120"/>
                        </a:rPr>
                        <a:t>l'histogramme du taux de réalisation</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r>
              <a:tr h="555244">
                <a:tc>
                  <a:txBody>
                    <a:bodyPr/>
                    <a:lstStyle/>
                    <a:p>
                      <a:pPr indent="0" marL="0">
                        <a:buNone/>
                      </a:pPr>
                      <a:r>
                        <a:rPr lang="en-US" sz="1400" dirty="0">
                          <a:solidFill>
                            <a:srgbClr val="1F2933"/>
                          </a:solidFill>
                          <a:latin typeface="Calibri" pitchFamily="34" charset="0"/>
                          <a:ea typeface="Calibri" pitchFamily="34" charset="-122"/>
                          <a:cs typeface="Calibri" pitchFamily="34" charset="-120"/>
                        </a:rPr>
                        <a:t>1.6</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7F9FB"/>
                    </a:solidFill>
                  </a:tcPr>
                </a:tc>
                <a:tc>
                  <a:txBody>
                    <a:bodyPr/>
                    <a:lstStyle/>
                    <a:p>
                      <a:pPr indent="0" marL="0">
                        <a:buNone/>
                      </a:pPr>
                      <a:r>
                        <a:rPr lang="en-US" sz="1400" dirty="0">
                          <a:solidFill>
                            <a:srgbClr val="1F2933"/>
                          </a:solidFill>
                          <a:latin typeface="Calibri" pitchFamily="34" charset="0"/>
                          <a:ea typeface="Calibri" pitchFamily="34" charset="-122"/>
                          <a:cs typeface="Calibri" pitchFamily="34" charset="-120"/>
                        </a:rPr>
                        <a:t>le nuage de points commandes et chiffre d'affaires</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7F9FB"/>
                    </a:solidFill>
                  </a:tcPr>
                </a:tc>
              </a:tr>
              <a:tr h="350774">
                <a:tc>
                  <a:txBody>
                    <a:bodyPr/>
                    <a:lstStyle/>
                    <a:p>
                      <a:pPr indent="0" marL="0">
                        <a:buNone/>
                      </a:pPr>
                      <a:r>
                        <a:rPr lang="en-US" sz="1400" dirty="0">
                          <a:solidFill>
                            <a:srgbClr val="1F2933"/>
                          </a:solidFill>
                          <a:latin typeface="Calibri" pitchFamily="34" charset="0"/>
                          <a:ea typeface="Calibri" pitchFamily="34" charset="-122"/>
                          <a:cs typeface="Calibri" pitchFamily="34" charset="-120"/>
                        </a:rPr>
                        <a:t>1.7</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400" dirty="0">
                          <a:solidFill>
                            <a:srgbClr val="1F2933"/>
                          </a:solidFill>
                          <a:latin typeface="Calibri" pitchFamily="34" charset="0"/>
                          <a:ea typeface="Calibri" pitchFamily="34" charset="-122"/>
                          <a:cs typeface="Calibri" pitchFamily="34" charset="-120"/>
                        </a:rPr>
                        <a:t>une grille de quatre graphiques, </a:t>
                      </a:r>
                      <a:pPr indent="0" marL="0">
                        <a:buNone/>
                      </a:pPr>
                      <a:r>
                        <a:rPr lang="en-US" sz="1400" dirty="0">
                          <a:solidFill>
                            <a:srgbClr val="1F3A5F"/>
                          </a:solidFill>
                          <a:latin typeface="Courier New" pitchFamily="34" charset="0"/>
                          <a:ea typeface="Courier New" pitchFamily="34" charset="-122"/>
                          <a:cs typeface="Courier New" pitchFamily="34" charset="-120"/>
                        </a:rPr>
                        <a:t>sharey=True</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r>
              <a:tr h="555244">
                <a:tc>
                  <a:txBody>
                    <a:bodyPr/>
                    <a:lstStyle/>
                    <a:p>
                      <a:pPr indent="0" marL="0">
                        <a:buNone/>
                      </a:pPr>
                      <a:r>
                        <a:rPr lang="en-US" sz="1400" dirty="0">
                          <a:solidFill>
                            <a:srgbClr val="1F2933"/>
                          </a:solidFill>
                          <a:latin typeface="Calibri" pitchFamily="34" charset="0"/>
                          <a:ea typeface="Calibri" pitchFamily="34" charset="-122"/>
                          <a:cs typeface="Calibri" pitchFamily="34" charset="-120"/>
                        </a:rPr>
                        <a:t>1.8, 1.9</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7F9FB"/>
                    </a:solidFill>
                  </a:tcPr>
                </a:tc>
                <a:tc>
                  <a:txBody>
                    <a:bodyPr/>
                    <a:lstStyle/>
                    <a:p>
                      <a:pPr indent="0" marL="0">
                        <a:buNone/>
                      </a:pPr>
                      <a:r>
                        <a:rPr lang="en-US" sz="1400" dirty="0">
                          <a:solidFill>
                            <a:srgbClr val="1F2933"/>
                          </a:solidFill>
                          <a:latin typeface="Calibri" pitchFamily="34" charset="0"/>
                          <a:ea typeface="Calibri" pitchFamily="34" charset="-122"/>
                          <a:cs typeface="Calibri" pitchFamily="34" charset="-120"/>
                        </a:rPr>
                        <a:t>facultatives : </a:t>
                      </a:r>
                      <a:pPr indent="0" marL="0">
                        <a:buNone/>
                      </a:pPr>
                      <a:r>
                        <a:rPr lang="en-US" sz="1400" dirty="0">
                          <a:solidFill>
                            <a:srgbClr val="1F3A5F"/>
                          </a:solidFill>
                          <a:latin typeface="Courier New" pitchFamily="34" charset="0"/>
                          <a:ea typeface="Courier New" pitchFamily="34" charset="-122"/>
                          <a:cs typeface="Courier New" pitchFamily="34" charset="-120"/>
                        </a:rPr>
                        <a:t>axvspan</a:t>
                      </a:r>
                      <a:pPr indent="0" marL="0">
                        <a:buNone/>
                      </a:pPr>
                      <a:r>
                        <a:rPr lang="en-US" sz="1400" dirty="0">
                          <a:solidFill>
                            <a:srgbClr val="1F2933"/>
                          </a:solidFill>
                          <a:latin typeface="Calibri" pitchFamily="34" charset="0"/>
                          <a:ea typeface="Calibri" pitchFamily="34" charset="-122"/>
                          <a:cs typeface="Calibri" pitchFamily="34" charset="-120"/>
                        </a:rPr>
                        <a:t> et </a:t>
                      </a:r>
                      <a:pPr indent="0" marL="0">
                        <a:buNone/>
                      </a:pPr>
                      <a:r>
                        <a:rPr lang="en-US" sz="1400" dirty="0">
                          <a:solidFill>
                            <a:srgbClr val="1F3A5F"/>
                          </a:solidFill>
                          <a:latin typeface="Courier New" pitchFamily="34" charset="0"/>
                          <a:ea typeface="Courier New" pitchFamily="34" charset="-122"/>
                          <a:cs typeface="Courier New" pitchFamily="34" charset="-120"/>
                        </a:rPr>
                        <a:t>annotate</a:t>
                      </a:r>
                      <a:pPr indent="0" marL="0">
                        <a:buNone/>
                      </a:pPr>
                      <a:r>
                        <a:rPr lang="en-US" sz="1400" dirty="0">
                          <a:solidFill>
                            <a:srgbClr val="1F2933"/>
                          </a:solidFill>
                          <a:latin typeface="Calibri" pitchFamily="34" charset="0"/>
                          <a:ea typeface="Calibri" pitchFamily="34" charset="-122"/>
                          <a:cs typeface="Calibri" pitchFamily="34" charset="-120"/>
                        </a:rPr>
                        <a:t>, le raccourci pandas</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7F9FB"/>
                    </a:solidFill>
                  </a:tcPr>
                </a:tc>
              </a:tr>
            </a:tbl>
          </a:graphicData>
        </a:graphic>
      </p:graphicFrame>
      <p:pic>
        <p:nvPicPr>
          <p:cNvPr id="7" name="Image 0" descr="Résultat attendu de la question 1.5 : histogramme du taux de réalisation avec une ligne verticale à 100 %">    </p:cNvPr>
          <p:cNvPicPr>
            <a:picLocks noChangeAspect="1"/>
          </p:cNvPicPr>
          <p:nvPr/>
        </p:nvPicPr>
        <p:blipFill>
          <a:blip r:embed="rId1"/>
          <a:stretch>
            <a:fillRect/>
          </a:stretch>
        </p:blipFill>
        <p:spPr>
          <a:xfrm>
            <a:off x="6938363" y="1417320"/>
            <a:ext cx="4574286" cy="2651760"/>
          </a:xfrm>
          <a:prstGeom prst="rect">
            <a:avLst/>
          </a:prstGeom>
        </p:spPr>
      </p:pic>
      <p:sp>
        <p:nvSpPr>
          <p:cNvPr id="8" name="Text 4"/>
          <p:cNvSpPr txBox="1"/>
          <p:nvPr/>
        </p:nvSpPr>
        <p:spPr>
          <a:xfrm>
            <a:off x="6807957" y="4389120"/>
            <a:ext cx="4835098" cy="365760"/>
          </a:xfrm>
          <a:prstGeom prst="rect">
            <a:avLst/>
          </a:prstGeom>
          <a:noFill/>
          <a:ln/>
        </p:spPr>
        <p:txBody>
          <a:bodyPr wrap="square" lIns="0" tIns="0" rIns="0" bIns="0" rtlCol="0" anchor="t"/>
          <a:lstStyle/>
          <a:p>
            <a:pPr indent="0" marL="0">
              <a:buNone/>
            </a:pPr>
            <a:r>
              <a:rPr lang="en-US" sz="1500" dirty="0">
                <a:solidFill>
                  <a:srgbClr val="6B7280"/>
                </a:solidFill>
                <a:latin typeface="Calibri" pitchFamily="34" charset="0"/>
                <a:ea typeface="Calibri" pitchFamily="34" charset="-122"/>
                <a:cs typeface="Calibri" pitchFamily="34" charset="-120"/>
              </a:rPr>
              <a:t>Résultat attendu de la question 1.5</a:t>
            </a:r>
            <a:endParaRPr lang="en-US" sz="1500" dirty="0"/>
          </a:p>
        </p:txBody>
      </p:sp>
      <p:sp>
        <p:nvSpPr>
          <p:cNvPr id="9" name="Shape 5"/>
          <p:cNvSpPr/>
          <p:nvPr/>
        </p:nvSpPr>
        <p:spPr>
          <a:xfrm>
            <a:off x="6807957" y="5074920"/>
            <a:ext cx="4835098" cy="822960"/>
          </a:xfrm>
          <a:prstGeom prst="roundRect">
            <a:avLst>
              <a:gd name="adj" fmla="val 6667"/>
            </a:avLst>
          </a:prstGeom>
          <a:solidFill>
            <a:srgbClr val="E8F3EE"/>
          </a:solidFill>
          <a:ln/>
        </p:spPr>
      </p:sp>
      <p:sp>
        <p:nvSpPr>
          <p:cNvPr id="10" name="Text 6"/>
          <p:cNvSpPr txBox="1"/>
          <p:nvPr/>
        </p:nvSpPr>
        <p:spPr>
          <a:xfrm>
            <a:off x="7082277" y="5074920"/>
            <a:ext cx="4286458" cy="822960"/>
          </a:xfrm>
          <a:prstGeom prst="rect">
            <a:avLst/>
          </a:prstGeom>
          <a:noFill/>
          <a:ln/>
        </p:spPr>
        <p:txBody>
          <a:bodyPr wrap="square" lIns="0" tIns="0" rIns="0" bIns="0" rtlCol="0" anchor="ctr"/>
          <a:lstStyle/>
          <a:p>
            <a:pPr indent="0" marL="0">
              <a:buNone/>
            </a:pPr>
            <a:r>
              <a:rPr lang="en-US" sz="1500" dirty="0">
                <a:solidFill>
                  <a:srgbClr val="1F3A5F"/>
                </a:solidFill>
                <a:latin typeface="Calibri" pitchFamily="34" charset="0"/>
                <a:ea typeface="Calibri" pitchFamily="34" charset="-122"/>
                <a:cs typeface="Calibri" pitchFamily="34" charset="-120"/>
              </a:rPr>
              <a:t>Garder les noms </a:t>
            </a:r>
            <a:pPr indent="0" marL="0">
              <a:buNone/>
            </a:pPr>
            <a:r>
              <a:rPr lang="en-US" sz="1500" dirty="0">
                <a:solidFill>
                  <a:srgbClr val="2F7D62"/>
                </a:solidFill>
                <a:latin typeface="Courier New" pitchFamily="34" charset="0"/>
                <a:ea typeface="Courier New" pitchFamily="34" charset="-122"/>
                <a:cs typeface="Courier New" pitchFamily="34" charset="-120"/>
              </a:rPr>
              <a:t>fig</a:t>
            </a:r>
            <a:pPr indent="0" marL="0">
              <a:buNone/>
            </a:pPr>
            <a:r>
              <a:rPr lang="en-US" sz="1500" dirty="0">
                <a:solidFill>
                  <a:srgbClr val="1F3A5F"/>
                </a:solidFill>
                <a:latin typeface="Calibri" pitchFamily="34" charset="0"/>
                <a:ea typeface="Calibri" pitchFamily="34" charset="-122"/>
                <a:cs typeface="Calibri" pitchFamily="34" charset="-120"/>
              </a:rPr>
              <a:t> et </a:t>
            </a:r>
            <a:pPr indent="0" marL="0">
              <a:buNone/>
            </a:pPr>
            <a:r>
              <a:rPr lang="en-US" sz="1500" dirty="0">
                <a:solidFill>
                  <a:srgbClr val="2F7D62"/>
                </a:solidFill>
                <a:latin typeface="Courier New" pitchFamily="34" charset="0"/>
                <a:ea typeface="Courier New" pitchFamily="34" charset="-122"/>
                <a:cs typeface="Courier New" pitchFamily="34" charset="-120"/>
              </a:rPr>
              <a:t>ax</a:t>
            </a:r>
            <a:pPr indent="0" marL="0">
              <a:buNone/>
            </a:pPr>
            <a:r>
              <a:rPr lang="en-US" sz="1500" dirty="0">
                <a:solidFill>
                  <a:srgbClr val="1F3A5F"/>
                </a:solidFill>
                <a:latin typeface="Calibri" pitchFamily="34" charset="0"/>
                <a:ea typeface="Calibri" pitchFamily="34" charset="-122"/>
                <a:cs typeface="Calibri" pitchFamily="34" charset="-120"/>
              </a:rPr>
              <a:t> : les vérifications les inspectent.</a:t>
            </a:r>
            <a:endParaRPr lang="en-US" sz="1500" dirty="0"/>
          </a:p>
        </p:txBody>
      </p:sp>
      <p:sp>
        <p:nvSpPr>
          <p:cNvPr id="11" name="Text 7"/>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Analyse de données avec Python   |   Jour 2, après-midi</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1F3A5F"/>
        </a:solidFill>
      </p:bgPr>
    </p:bg>
    <p:spTree>
      <p:nvGrpSpPr>
        <p:cNvPr id="1" name=""/>
        <p:cNvGrpSpPr/>
        <p:nvPr/>
      </p:nvGrpSpPr>
      <p:grpSpPr>
        <a:xfrm>
          <a:off x="0" y="0"/>
          <a:ext cx="0" cy="0"/>
          <a:chOff x="0" y="0"/>
          <a:chExt cx="0" cy="0"/>
        </a:xfrm>
      </p:grpSpPr>
      <p:sp>
        <p:nvSpPr>
          <p:cNvPr id="2" name="Text 0"/>
          <p:cNvSpPr txBox="1"/>
          <p:nvPr/>
        </p:nvSpPr>
        <p:spPr>
          <a:xfrm>
            <a:off x="731520" y="1737360"/>
            <a:ext cx="2743200" cy="1188720"/>
          </a:xfrm>
          <a:prstGeom prst="rect">
            <a:avLst/>
          </a:prstGeom>
          <a:noFill/>
          <a:ln/>
        </p:spPr>
        <p:txBody>
          <a:bodyPr wrap="square" lIns="0" tIns="0" rIns="0" bIns="0" rtlCol="0" anchor="ctr"/>
          <a:lstStyle/>
          <a:p>
            <a:pPr indent="0" marL="0">
              <a:buNone/>
            </a:pPr>
            <a:r>
              <a:rPr lang="en-US" sz="8000" b="1" dirty="0">
                <a:solidFill>
                  <a:srgbClr val="8FD1B5"/>
                </a:solidFill>
                <a:latin typeface="Cambria" pitchFamily="34" charset="0"/>
                <a:ea typeface="Cambria" pitchFamily="34" charset="-122"/>
                <a:cs typeface="Cambria" pitchFamily="34" charset="-120"/>
              </a:rPr>
              <a:t>03</a:t>
            </a:r>
            <a:endParaRPr lang="en-US" sz="8000" dirty="0"/>
          </a:p>
        </p:txBody>
      </p:sp>
      <p:sp>
        <p:nvSpPr>
          <p:cNvPr id="3" name="Text 1"/>
          <p:cNvSpPr txBox="1"/>
          <p:nvPr/>
        </p:nvSpPr>
        <p:spPr>
          <a:xfrm>
            <a:off x="731520" y="3017520"/>
            <a:ext cx="10515600" cy="822960"/>
          </a:xfrm>
          <a:prstGeom prst="rect">
            <a:avLst/>
          </a:prstGeom>
          <a:noFill/>
          <a:ln/>
        </p:spPr>
        <p:txBody>
          <a:bodyPr wrap="square" lIns="0" tIns="0" rIns="0" bIns="0" rtlCol="0" anchor="t"/>
          <a:lstStyle/>
          <a:p>
            <a:pPr indent="0" marL="0">
              <a:buNone/>
            </a:pPr>
            <a:r>
              <a:rPr lang="en-US" sz="4000" b="1" dirty="0">
                <a:solidFill>
                  <a:srgbClr val="FFFFFF"/>
                </a:solidFill>
                <a:latin typeface="Cambria" pitchFamily="34" charset="0"/>
                <a:ea typeface="Cambria" pitchFamily="34" charset="-122"/>
                <a:cs typeface="Cambria" pitchFamily="34" charset="-120"/>
              </a:rPr>
              <a:t>seaborn</a:t>
            </a:r>
            <a:endParaRPr lang="en-US" sz="4000" dirty="0"/>
          </a:p>
        </p:txBody>
      </p:sp>
      <p:sp>
        <p:nvSpPr>
          <p:cNvPr id="4" name="Text 2"/>
          <p:cNvSpPr txBox="1"/>
          <p:nvPr/>
        </p:nvSpPr>
        <p:spPr>
          <a:xfrm>
            <a:off x="731520" y="3977640"/>
            <a:ext cx="10515600" cy="548640"/>
          </a:xfrm>
          <a:prstGeom prst="rect">
            <a:avLst/>
          </a:prstGeom>
          <a:noFill/>
          <a:ln/>
        </p:spPr>
        <p:txBody>
          <a:bodyPr wrap="square" lIns="0" tIns="0" rIns="0" bIns="0" rtlCol="0" anchor="t"/>
          <a:lstStyle/>
          <a:p>
            <a:pPr indent="0" marL="0">
              <a:buNone/>
            </a:pPr>
            <a:r>
              <a:rPr lang="en-US" sz="2000" dirty="0">
                <a:solidFill>
                  <a:srgbClr val="C9D6E3"/>
                </a:solidFill>
                <a:latin typeface="Calibri" pitchFamily="34" charset="0"/>
                <a:ea typeface="Calibri" pitchFamily="34" charset="-122"/>
                <a:cs typeface="Calibri" pitchFamily="34" charset="-120"/>
              </a:rPr>
              <a:t>Distributions   |   Catégories   |   Corrélations   |   Petits multiples</a:t>
            </a:r>
            <a:endParaRPr lang="en-US" sz="2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66928"/>
            <a:ext cx="475488" cy="475488"/>
          </a:xfrm>
          <a:prstGeom prst="ellipse">
            <a:avLst/>
          </a:prstGeom>
          <a:solidFill>
            <a:srgbClr val="2F7D62"/>
          </a:solidFill>
          <a:ln/>
        </p:spPr>
      </p:sp>
      <p:sp>
        <p:nvSpPr>
          <p:cNvPr id="3" name="Text 1"/>
          <p:cNvSpPr txBox="1"/>
          <p:nvPr/>
        </p:nvSpPr>
        <p:spPr>
          <a:xfrm>
            <a:off x="548640" y="566928"/>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4" name="Text 2"/>
          <p:cNvSpPr txBox="1"/>
          <p:nvPr/>
        </p:nvSpPr>
        <p:spPr>
          <a:xfrm>
            <a:off x="1280160" y="164592"/>
            <a:ext cx="10362895" cy="274320"/>
          </a:xfrm>
          <a:prstGeom prst="rect">
            <a:avLst/>
          </a:prstGeom>
          <a:noFill/>
          <a:ln/>
        </p:spPr>
        <p:txBody>
          <a:bodyPr wrap="square" lIns="0" tIns="0" rIns="0" bIns="0" rtlCol="0" anchor="ctr"/>
          <a:lstStyle/>
          <a:p>
            <a:pPr indent="0" marL="0">
              <a:buNone/>
            </a:pPr>
            <a:r>
              <a:rPr lang="en-US" sz="1200" b="1" spc="200" kern="0" dirty="0">
                <a:solidFill>
                  <a:srgbClr val="2F7D62"/>
                </a:solidFill>
                <a:latin typeface="Calibri" pitchFamily="34" charset="0"/>
                <a:ea typeface="Calibri" pitchFamily="34" charset="-122"/>
                <a:cs typeface="Calibri" pitchFamily="34" charset="-120"/>
              </a:rPr>
              <a:t>SEABORN</a:t>
            </a:r>
            <a:endParaRPr lang="en-US" sz="1200" dirty="0"/>
          </a:p>
        </p:txBody>
      </p:sp>
      <p:sp>
        <p:nvSpPr>
          <p:cNvPr id="5" name="Text 3"/>
          <p:cNvSpPr txBox="1"/>
          <p:nvPr/>
        </p:nvSpPr>
        <p:spPr>
          <a:xfrm>
            <a:off x="1280160" y="457200"/>
            <a:ext cx="10362895" cy="694944"/>
          </a:xfrm>
          <a:prstGeom prst="rect">
            <a:avLst/>
          </a:prstGeom>
          <a:noFill/>
          <a:ln/>
        </p:spPr>
        <p:txBody>
          <a:bodyPr wrap="square" lIns="0" tIns="0" rIns="0" bIns="0" rtlCol="0" anchor="ctr"/>
          <a:lstStyle/>
          <a:p>
            <a:pPr indent="0" marL="0">
              <a:buNone/>
            </a:pPr>
            <a:r>
              <a:rPr lang="en-US" sz="3000" b="1" dirty="0">
                <a:solidFill>
                  <a:srgbClr val="1F3A5F"/>
                </a:solidFill>
                <a:latin typeface="Cambria" pitchFamily="34" charset="0"/>
                <a:ea typeface="Cambria" pitchFamily="34" charset="-122"/>
                <a:cs typeface="Cambria" pitchFamily="34" charset="-120"/>
              </a:rPr>
              <a:t>Le principe de seaborn</a:t>
            </a:r>
            <a:endParaRPr lang="en-US" sz="3000" dirty="0"/>
          </a:p>
        </p:txBody>
      </p:sp>
      <p:sp>
        <p:nvSpPr>
          <p:cNvPr id="6" name="Shape 4"/>
          <p:cNvSpPr/>
          <p:nvPr/>
        </p:nvSpPr>
        <p:spPr>
          <a:xfrm>
            <a:off x="548640" y="1417320"/>
            <a:ext cx="5802117" cy="1971040"/>
          </a:xfrm>
          <a:prstGeom prst="rect">
            <a:avLst/>
          </a:prstGeom>
          <a:solidFill>
            <a:srgbClr val="F3F4F6"/>
          </a:solidFill>
          <a:ln/>
        </p:spPr>
      </p:sp>
      <p:sp>
        <p:nvSpPr>
          <p:cNvPr id="7" name="Text 5"/>
          <p:cNvSpPr txBox="1"/>
          <p:nvPr/>
        </p:nvSpPr>
        <p:spPr>
          <a:xfrm>
            <a:off x="731520" y="1563624"/>
            <a:ext cx="5436357" cy="1678432"/>
          </a:xfrm>
          <a:prstGeom prst="rect">
            <a:avLst/>
          </a:prstGeom>
          <a:noFill/>
          <a:ln/>
        </p:spPr>
        <p:txBody>
          <a:bodyPr wrap="square" lIns="0" tIns="0" rIns="0" bIns="0" rtlCol="0" anchor="t"/>
          <a:lstStyle/>
          <a:p>
            <a:pPr indent="0" marL="0">
              <a:lnSpc>
                <a:spcPct val="100000"/>
              </a:lnSpc>
              <a:buNone/>
            </a:pPr>
            <a:r>
              <a:rPr lang="en-US" sz="1400" dirty="0">
                <a:solidFill>
                  <a:srgbClr val="1F2933"/>
                </a:solidFill>
                <a:latin typeface="Courier New" pitchFamily="34" charset="0"/>
                <a:ea typeface="Courier New" pitchFamily="34" charset="-122"/>
                <a:cs typeface="Courier New" pitchFamily="34" charset="-120"/>
              </a:rPr>
              <a:t>sns.set_theme(style="whitegrid")</a:t>
            </a:r>
            <a:endParaRPr lang="en-US" sz="1400" dirty="0"/>
          </a:p>
          <a:p>
            <a:pPr indent="0" marL="0">
              <a:lnSpc>
                <a:spcPct val="100000"/>
              </a:lnSpc>
              <a:buNone/>
            </a:pPr>
            <a:r>
              <a:rPr lang="en-US" sz="1400" dirty="0">
                <a:solidFill>
                  <a:srgbClr val="1F2933"/>
                </a:solidFill>
                <a:latin typeface="Courier New" pitchFamily="34" charset="0"/>
                <a:ea typeface="Courier New" pitchFamily="34" charset="-122"/>
                <a:cs typeface="Courier New" pitchFamily="34" charset="-120"/>
              </a:rPr>
              <a:t> </a:t>
            </a:r>
            <a:endParaRPr lang="en-US" sz="1400" dirty="0"/>
          </a:p>
          <a:p>
            <a:pPr indent="0" marL="0">
              <a:lnSpc>
                <a:spcPct val="100000"/>
              </a:lnSpc>
              <a:buNone/>
            </a:pPr>
            <a:r>
              <a:rPr lang="en-US" sz="1400" dirty="0">
                <a:solidFill>
                  <a:srgbClr val="1F2933"/>
                </a:solidFill>
                <a:latin typeface="Courier New" pitchFamily="34" charset="0"/>
                <a:ea typeface="Courier New" pitchFamily="34" charset="-122"/>
                <a:cs typeface="Courier New" pitchFamily="34" charset="-120"/>
              </a:rPr>
              <a:t>fig, ax = plt.subplots(figsize=(9, 4.5))</a:t>
            </a:r>
            <a:endParaRPr lang="en-US" sz="1400" dirty="0"/>
          </a:p>
          <a:p>
            <a:pPr indent="0" marL="0">
              <a:lnSpc>
                <a:spcPct val="100000"/>
              </a:lnSpc>
              <a:buNone/>
            </a:pPr>
            <a:r>
              <a:rPr lang="en-US" sz="1400" dirty="0">
                <a:solidFill>
                  <a:srgbClr val="1F2933"/>
                </a:solidFill>
                <a:latin typeface="Courier New" pitchFamily="34" charset="0"/>
                <a:ea typeface="Courier New" pitchFamily="34" charset="-122"/>
                <a:cs typeface="Courier New" pitchFamily="34" charset="-120"/>
              </a:rPr>
              <a:t>sns.lineplot(data=indicateurs, x="mois", y="ca",</a:t>
            </a:r>
            <a:endParaRPr lang="en-US" sz="1400" dirty="0"/>
          </a:p>
          <a:p>
            <a:pPr indent="0" marL="0">
              <a:lnSpc>
                <a:spcPct val="100000"/>
              </a:lnSpc>
              <a:buNone/>
            </a:pPr>
            <a:r>
              <a:rPr lang="en-US" sz="1400" dirty="0">
                <a:solidFill>
                  <a:srgbClr val="1F2933"/>
                </a:solidFill>
                <a:latin typeface="Courier New" pitchFamily="34" charset="0"/>
                <a:ea typeface="Courier New" pitchFamily="34" charset="-122"/>
                <a:cs typeface="Courier New" pitchFamily="34" charset="-120"/>
              </a:rPr>
              <a:t>             hue="region", marker="o", ax=ax)</a:t>
            </a:r>
            <a:endParaRPr lang="en-US" sz="1400" dirty="0"/>
          </a:p>
          <a:p>
            <a:pPr indent="0" marL="0">
              <a:lnSpc>
                <a:spcPct val="100000"/>
              </a:lnSpc>
              <a:buNone/>
            </a:pPr>
            <a:r>
              <a:rPr lang="en-US" sz="1400" dirty="0">
                <a:solidFill>
                  <a:srgbClr val="6B7280"/>
                </a:solidFill>
                <a:latin typeface="Courier New" pitchFamily="34" charset="0"/>
                <a:ea typeface="Courier New" pitchFamily="34" charset="-122"/>
                <a:cs typeface="Courier New" pitchFamily="34" charset="-120"/>
              </a:rPr>
              <a:t># la légende à droite, hors du graphique</a:t>
            </a:r>
            <a:endParaRPr lang="en-US" sz="1400" dirty="0"/>
          </a:p>
          <a:p>
            <a:pPr indent="0" marL="0">
              <a:lnSpc>
                <a:spcPct val="100000"/>
              </a:lnSpc>
              <a:buNone/>
            </a:pPr>
            <a:r>
              <a:rPr lang="en-US" sz="1400" dirty="0">
                <a:solidFill>
                  <a:srgbClr val="1F2933"/>
                </a:solidFill>
                <a:latin typeface="Courier New" pitchFamily="34" charset="0"/>
                <a:ea typeface="Courier New" pitchFamily="34" charset="-122"/>
                <a:cs typeface="Courier New" pitchFamily="34" charset="-120"/>
              </a:rPr>
              <a:t>sns.move_legend(ax, "upper left",</a:t>
            </a:r>
            <a:endParaRPr lang="en-US" sz="1400" dirty="0"/>
          </a:p>
          <a:p>
            <a:pPr indent="0" marL="0">
              <a:lnSpc>
                <a:spcPct val="100000"/>
              </a:lnSpc>
              <a:buNone/>
            </a:pPr>
            <a:r>
              <a:rPr lang="en-US" sz="1400" dirty="0">
                <a:solidFill>
                  <a:srgbClr val="1F2933"/>
                </a:solidFill>
                <a:latin typeface="Courier New" pitchFamily="34" charset="0"/>
                <a:ea typeface="Courier New" pitchFamily="34" charset="-122"/>
                <a:cs typeface="Courier New" pitchFamily="34" charset="-120"/>
              </a:rPr>
              <a:t>                bbox_to_anchor=(1, 1))</a:t>
            </a:r>
            <a:endParaRPr lang="en-US" sz="1400" dirty="0"/>
          </a:p>
        </p:txBody>
      </p:sp>
      <p:sp>
        <p:nvSpPr>
          <p:cNvPr id="8" name="Shape 6"/>
          <p:cNvSpPr/>
          <p:nvPr/>
        </p:nvSpPr>
        <p:spPr>
          <a:xfrm>
            <a:off x="548640" y="3708400"/>
            <a:ext cx="5802117" cy="883920"/>
          </a:xfrm>
          <a:prstGeom prst="roundRect">
            <a:avLst>
              <a:gd name="adj" fmla="val 6207"/>
            </a:avLst>
          </a:prstGeom>
          <a:solidFill>
            <a:srgbClr val="E8F3EE"/>
          </a:solidFill>
          <a:ln/>
        </p:spPr>
      </p:sp>
      <p:sp>
        <p:nvSpPr>
          <p:cNvPr id="9" name="Text 7"/>
          <p:cNvSpPr txBox="1"/>
          <p:nvPr/>
        </p:nvSpPr>
        <p:spPr>
          <a:xfrm>
            <a:off x="822960" y="3708400"/>
            <a:ext cx="5253477" cy="883920"/>
          </a:xfrm>
          <a:prstGeom prst="rect">
            <a:avLst/>
          </a:prstGeom>
          <a:noFill/>
          <a:ln/>
        </p:spPr>
        <p:txBody>
          <a:bodyPr wrap="square" lIns="0" tIns="0" rIns="0" bIns="0" rtlCol="0" anchor="ctr"/>
          <a:lstStyle/>
          <a:p>
            <a:pPr indent="0" marL="0">
              <a:buNone/>
            </a:pPr>
            <a:r>
              <a:rPr lang="en-US" sz="1700" dirty="0">
                <a:solidFill>
                  <a:srgbClr val="1F3A5F"/>
                </a:solidFill>
                <a:latin typeface="Calibri" pitchFamily="34" charset="0"/>
                <a:ea typeface="Calibri" pitchFamily="34" charset="-122"/>
                <a:cs typeface="Calibri" pitchFamily="34" charset="-120"/>
              </a:rPr>
              <a:t>Toujours passer </a:t>
            </a:r>
            <a:pPr indent="0" marL="0">
              <a:buNone/>
            </a:pPr>
            <a:r>
              <a:rPr lang="en-US" sz="1700" dirty="0">
                <a:solidFill>
                  <a:srgbClr val="2F7D62"/>
                </a:solidFill>
                <a:latin typeface="Courier New" pitchFamily="34" charset="0"/>
                <a:ea typeface="Courier New" pitchFamily="34" charset="-122"/>
                <a:cs typeface="Courier New" pitchFamily="34" charset="-120"/>
              </a:rPr>
              <a:t>ax=ax</a:t>
            </a:r>
            <a:pPr indent="0" marL="0">
              <a:buNone/>
            </a:pPr>
            <a:r>
              <a:rPr lang="en-US" sz="1700" dirty="0">
                <a:solidFill>
                  <a:srgbClr val="1F3A5F"/>
                </a:solidFill>
                <a:latin typeface="Calibri" pitchFamily="34" charset="0"/>
                <a:ea typeface="Calibri" pitchFamily="34" charset="-122"/>
                <a:cs typeface="Calibri" pitchFamily="34" charset="-120"/>
              </a:rPr>
              <a:t> : sinon seaborn dessine dans le dernier graphique ouvert.</a:t>
            </a:r>
            <a:endParaRPr lang="en-US" sz="170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6807957" y="1417320"/>
          <a:ext cx="4835098" cy="914400"/>
        </p:xfrm>
        <a:graphic>
          <a:graphicData uri="http://schemas.openxmlformats.org/drawingml/2006/table">
            <a:tbl>
              <a:tblPr/>
              <a:tblGrid>
                <a:gridCol w="1526873"/>
                <a:gridCol w="3308225"/>
              </a:tblGrid>
              <a:tr h="365379">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Paramètre</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1F3A5F"/>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Rôle</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1F3A5F"/>
                    </a:solidFill>
                  </a:tcPr>
                </a:tc>
              </a:tr>
              <a:tr h="365379">
                <a:tc>
                  <a:txBody>
                    <a:bodyPr/>
                    <a:lstStyle/>
                    <a:p>
                      <a:pPr indent="0" marL="0">
                        <a:buNone/>
                      </a:pPr>
                      <a:r>
                        <a:rPr lang="en-US" sz="1500" dirty="0">
                          <a:solidFill>
                            <a:srgbClr val="1F3A5F"/>
                          </a:solidFill>
                          <a:latin typeface="Courier New" pitchFamily="34" charset="0"/>
                          <a:ea typeface="Courier New" pitchFamily="34" charset="-122"/>
                          <a:cs typeface="Courier New" pitchFamily="34" charset="-120"/>
                        </a:rPr>
                        <a:t>data</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500" dirty="0">
                          <a:solidFill>
                            <a:srgbClr val="1F2933"/>
                          </a:solidFill>
                          <a:latin typeface="Calibri" pitchFamily="34" charset="0"/>
                          <a:ea typeface="Calibri" pitchFamily="34" charset="-122"/>
                          <a:cs typeface="Calibri" pitchFamily="34" charset="-120"/>
                        </a:rPr>
                        <a:t>le DataFrame</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r>
              <a:tr h="365379">
                <a:tc>
                  <a:txBody>
                    <a:bodyPr/>
                    <a:lstStyle/>
                    <a:p>
                      <a:pPr indent="0" marL="0">
                        <a:buNone/>
                      </a:pPr>
                      <a:r>
                        <a:rPr lang="en-US" sz="1500" dirty="0">
                          <a:solidFill>
                            <a:srgbClr val="1F3A5F"/>
                          </a:solidFill>
                          <a:latin typeface="Courier New" pitchFamily="34" charset="0"/>
                          <a:ea typeface="Courier New" pitchFamily="34" charset="-122"/>
                          <a:cs typeface="Courier New" pitchFamily="34" charset="-120"/>
                        </a:rPr>
                        <a:t>x</a:t>
                      </a:r>
                      <a:pPr indent="0" marL="0">
                        <a:buNone/>
                      </a:pPr>
                      <a:r>
                        <a:rPr lang="en-US" sz="1500" dirty="0">
                          <a:solidFill>
                            <a:srgbClr val="1F2933"/>
                          </a:solidFill>
                          <a:latin typeface="Calibri" pitchFamily="34" charset="0"/>
                          <a:ea typeface="Calibri" pitchFamily="34" charset="-122"/>
                          <a:cs typeface="Calibri" pitchFamily="34" charset="-120"/>
                        </a:rPr>
                        <a:t>, </a:t>
                      </a:r>
                      <a:pPr indent="0" marL="0">
                        <a:buNone/>
                      </a:pPr>
                      <a:r>
                        <a:rPr lang="en-US" sz="1500" dirty="0">
                          <a:solidFill>
                            <a:srgbClr val="1F3A5F"/>
                          </a:solidFill>
                          <a:latin typeface="Courier New" pitchFamily="34" charset="0"/>
                          <a:ea typeface="Courier New" pitchFamily="34" charset="-122"/>
                          <a:cs typeface="Courier New" pitchFamily="34" charset="-120"/>
                        </a:rPr>
                        <a:t>y</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7F9FB"/>
                    </a:solidFill>
                  </a:tcPr>
                </a:tc>
                <a:tc>
                  <a:txBody>
                    <a:bodyPr/>
                    <a:lstStyle/>
                    <a:p>
                      <a:pPr indent="0" marL="0">
                        <a:buNone/>
                      </a:pPr>
                      <a:r>
                        <a:rPr lang="en-US" sz="1500" dirty="0">
                          <a:solidFill>
                            <a:srgbClr val="1F2933"/>
                          </a:solidFill>
                          <a:latin typeface="Calibri" pitchFamily="34" charset="0"/>
                          <a:ea typeface="Calibri" pitchFamily="34" charset="-122"/>
                          <a:cs typeface="Calibri" pitchFamily="34" charset="-120"/>
                        </a:rPr>
                        <a:t>les colonnes des axes</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7F9FB"/>
                    </a:solidFill>
                  </a:tcPr>
                </a:tc>
              </a:tr>
              <a:tr h="365379">
                <a:tc>
                  <a:txBody>
                    <a:bodyPr/>
                    <a:lstStyle/>
                    <a:p>
                      <a:pPr indent="0" marL="0">
                        <a:buNone/>
                      </a:pPr>
                      <a:r>
                        <a:rPr lang="en-US" sz="1500" dirty="0">
                          <a:solidFill>
                            <a:srgbClr val="1F3A5F"/>
                          </a:solidFill>
                          <a:latin typeface="Courier New" pitchFamily="34" charset="0"/>
                          <a:ea typeface="Courier New" pitchFamily="34" charset="-122"/>
                          <a:cs typeface="Courier New" pitchFamily="34" charset="-120"/>
                        </a:rPr>
                        <a:t>hue</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500" dirty="0">
                          <a:solidFill>
                            <a:srgbClr val="1F2933"/>
                          </a:solidFill>
                          <a:latin typeface="Calibri" pitchFamily="34" charset="0"/>
                          <a:ea typeface="Calibri" pitchFamily="34" charset="-122"/>
                          <a:cs typeface="Calibri" pitchFamily="34" charset="-120"/>
                        </a:rPr>
                        <a:t>la colonne de la couleur</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r>
              <a:tr h="365379">
                <a:tc>
                  <a:txBody>
                    <a:bodyPr/>
                    <a:lstStyle/>
                    <a:p>
                      <a:pPr indent="0" marL="0">
                        <a:buNone/>
                      </a:pPr>
                      <a:r>
                        <a:rPr lang="en-US" sz="1500" dirty="0">
                          <a:solidFill>
                            <a:srgbClr val="1F3A5F"/>
                          </a:solidFill>
                          <a:latin typeface="Courier New" pitchFamily="34" charset="0"/>
                          <a:ea typeface="Courier New" pitchFamily="34" charset="-122"/>
                          <a:cs typeface="Courier New" pitchFamily="34" charset="-120"/>
                        </a:rPr>
                        <a:t>color</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7F9FB"/>
                    </a:solidFill>
                  </a:tcPr>
                </a:tc>
                <a:tc>
                  <a:txBody>
                    <a:bodyPr/>
                    <a:lstStyle/>
                    <a:p>
                      <a:pPr indent="0" marL="0">
                        <a:buNone/>
                      </a:pPr>
                      <a:r>
                        <a:rPr lang="en-US" sz="1500" dirty="0">
                          <a:solidFill>
                            <a:srgbClr val="1F2933"/>
                          </a:solidFill>
                          <a:latin typeface="Calibri" pitchFamily="34" charset="0"/>
                          <a:ea typeface="Calibri" pitchFamily="34" charset="-122"/>
                          <a:cs typeface="Calibri" pitchFamily="34" charset="-120"/>
                        </a:rPr>
                        <a:t>une couleur unique, sans </a:t>
                      </a:r>
                      <a:pPr indent="0" marL="0">
                        <a:buNone/>
                      </a:pPr>
                      <a:r>
                        <a:rPr lang="en-US" sz="1500" dirty="0">
                          <a:solidFill>
                            <a:srgbClr val="1F3A5F"/>
                          </a:solidFill>
                          <a:latin typeface="Courier New" pitchFamily="34" charset="0"/>
                          <a:ea typeface="Courier New" pitchFamily="34" charset="-122"/>
                          <a:cs typeface="Courier New" pitchFamily="34" charset="-120"/>
                        </a:rPr>
                        <a:t>hue</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7F9FB"/>
                    </a:solidFill>
                  </a:tcPr>
                </a:tc>
              </a:tr>
              <a:tr h="365379">
                <a:tc>
                  <a:txBody>
                    <a:bodyPr/>
                    <a:lstStyle/>
                    <a:p>
                      <a:pPr indent="0" marL="0">
                        <a:buNone/>
                      </a:pPr>
                      <a:r>
                        <a:rPr lang="en-US" sz="1500" dirty="0">
                          <a:solidFill>
                            <a:srgbClr val="1F3A5F"/>
                          </a:solidFill>
                          <a:latin typeface="Courier New" pitchFamily="34" charset="0"/>
                          <a:ea typeface="Courier New" pitchFamily="34" charset="-122"/>
                          <a:cs typeface="Courier New" pitchFamily="34" charset="-120"/>
                        </a:rPr>
                        <a:t>ax</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500" dirty="0">
                          <a:solidFill>
                            <a:srgbClr val="1F2933"/>
                          </a:solidFill>
                          <a:latin typeface="Calibri" pitchFamily="34" charset="0"/>
                          <a:ea typeface="Calibri" pitchFamily="34" charset="-122"/>
                          <a:cs typeface="Calibri" pitchFamily="34" charset="-120"/>
                        </a:rPr>
                        <a:t>l'</a:t>
                      </a:r>
                      <a:pPr indent="0" marL="0">
                        <a:buNone/>
                      </a:pPr>
                      <a:r>
                        <a:rPr lang="en-US" sz="1500" dirty="0">
                          <a:solidFill>
                            <a:srgbClr val="1F3A5F"/>
                          </a:solidFill>
                          <a:latin typeface="Courier New" pitchFamily="34" charset="0"/>
                          <a:ea typeface="Courier New" pitchFamily="34" charset="-122"/>
                          <a:cs typeface="Courier New" pitchFamily="34" charset="-120"/>
                        </a:rPr>
                        <a:t>Axes</a:t>
                      </a:r>
                      <a:pPr indent="0" marL="0">
                        <a:buNone/>
                      </a:pPr>
                      <a:r>
                        <a:rPr lang="en-US" sz="1500" dirty="0">
                          <a:solidFill>
                            <a:srgbClr val="1F2933"/>
                          </a:solidFill>
                          <a:latin typeface="Calibri" pitchFamily="34" charset="0"/>
                          <a:ea typeface="Calibri" pitchFamily="34" charset="-122"/>
                          <a:cs typeface="Calibri" pitchFamily="34" charset="-120"/>
                        </a:rPr>
                        <a:t> où dessiner</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r>
            </a:tbl>
          </a:graphicData>
        </a:graphic>
      </p:graphicFrame>
      <p:sp>
        <p:nvSpPr>
          <p:cNvPr id="11" name="Text 8"/>
          <p:cNvSpPr txBox="1"/>
          <p:nvPr/>
        </p:nvSpPr>
        <p:spPr>
          <a:xfrm>
            <a:off x="6807957" y="3929634"/>
            <a:ext cx="4835098" cy="1051560"/>
          </a:xfrm>
          <a:prstGeom prst="rect">
            <a:avLst/>
          </a:prstGeom>
          <a:noFill/>
          <a:ln/>
        </p:spPr>
        <p:txBody>
          <a:bodyPr wrap="square" lIns="0" tIns="0" rIns="0" bIns="0" rtlCol="0" anchor="t"/>
          <a:lstStyle/>
          <a:p>
            <a:pPr indent="0" marL="0">
              <a:buNone/>
            </a:pPr>
            <a:r>
              <a:rPr lang="en-US" sz="1500" dirty="0">
                <a:solidFill>
                  <a:srgbClr val="6B7280"/>
                </a:solidFill>
                <a:latin typeface="Calibri" pitchFamily="34" charset="0"/>
                <a:ea typeface="Calibri" pitchFamily="34" charset="-122"/>
                <a:cs typeface="Calibri" pitchFamily="34" charset="-120"/>
              </a:rPr>
              <a:t>Chaque fonction renvoie un </a:t>
            </a:r>
            <a:pPr indent="0" marL="0">
              <a:buNone/>
            </a:pPr>
            <a:r>
              <a:rPr lang="en-US" sz="1500" dirty="0">
                <a:solidFill>
                  <a:srgbClr val="1F3A5F"/>
                </a:solidFill>
                <a:latin typeface="Courier New" pitchFamily="34" charset="0"/>
                <a:ea typeface="Courier New" pitchFamily="34" charset="-122"/>
                <a:cs typeface="Courier New" pitchFamily="34" charset="-120"/>
              </a:rPr>
              <a:t>Axes</a:t>
            </a:r>
            <a:pPr indent="0" marL="0">
              <a:buNone/>
            </a:pPr>
            <a:r>
              <a:rPr lang="en-US" sz="1500" dirty="0">
                <a:solidFill>
                  <a:srgbClr val="6B7280"/>
                </a:solidFill>
                <a:latin typeface="Calibri" pitchFamily="34" charset="0"/>
                <a:ea typeface="Calibri" pitchFamily="34" charset="-122"/>
                <a:cs typeface="Calibri" pitchFamily="34" charset="-120"/>
              </a:rPr>
              <a:t> matplotlib : on le personnalise comme vu plus haut. </a:t>
            </a:r>
            <a:pPr indent="0" marL="0">
              <a:buNone/>
            </a:pPr>
            <a:r>
              <a:rPr lang="en-US" sz="1500" dirty="0">
                <a:solidFill>
                  <a:srgbClr val="1F3A5F"/>
                </a:solidFill>
                <a:latin typeface="Courier New" pitchFamily="34" charset="0"/>
                <a:ea typeface="Courier New" pitchFamily="34" charset="-122"/>
                <a:cs typeface="Courier New" pitchFamily="34" charset="-120"/>
              </a:rPr>
              <a:t>set_theme</a:t>
            </a:r>
            <a:pPr indent="0" marL="0">
              <a:buNone/>
            </a:pPr>
            <a:r>
              <a:rPr lang="en-US" sz="1500" dirty="0">
                <a:solidFill>
                  <a:srgbClr val="6B7280"/>
                </a:solidFill>
                <a:latin typeface="Calibri" pitchFamily="34" charset="0"/>
                <a:ea typeface="Calibri" pitchFamily="34" charset="-122"/>
                <a:cs typeface="Calibri" pitchFamily="34" charset="-120"/>
              </a:rPr>
              <a:t> change le style de tous les graphiques qui suivent, matplotlib compris.</a:t>
            </a:r>
            <a:endParaRPr lang="en-US" sz="1500" dirty="0"/>
          </a:p>
        </p:txBody>
      </p:sp>
      <p:sp>
        <p:nvSpPr>
          <p:cNvPr id="12" name="Text 9"/>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Analyse de données avec Python   |   Jour 2, après-midi</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66928"/>
            <a:ext cx="475488" cy="475488"/>
          </a:xfrm>
          <a:prstGeom prst="ellipse">
            <a:avLst/>
          </a:prstGeom>
          <a:solidFill>
            <a:srgbClr val="2F7D62"/>
          </a:solidFill>
          <a:ln/>
        </p:spPr>
      </p:sp>
      <p:sp>
        <p:nvSpPr>
          <p:cNvPr id="3" name="Text 1"/>
          <p:cNvSpPr txBox="1"/>
          <p:nvPr/>
        </p:nvSpPr>
        <p:spPr>
          <a:xfrm>
            <a:off x="548640" y="566928"/>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4" name="Text 2"/>
          <p:cNvSpPr txBox="1"/>
          <p:nvPr/>
        </p:nvSpPr>
        <p:spPr>
          <a:xfrm>
            <a:off x="1280160" y="164592"/>
            <a:ext cx="10362895" cy="274320"/>
          </a:xfrm>
          <a:prstGeom prst="rect">
            <a:avLst/>
          </a:prstGeom>
          <a:noFill/>
          <a:ln/>
        </p:spPr>
        <p:txBody>
          <a:bodyPr wrap="square" lIns="0" tIns="0" rIns="0" bIns="0" rtlCol="0" anchor="ctr"/>
          <a:lstStyle/>
          <a:p>
            <a:pPr indent="0" marL="0">
              <a:buNone/>
            </a:pPr>
            <a:r>
              <a:rPr lang="en-US" sz="1200" b="1" spc="200" kern="0" dirty="0">
                <a:solidFill>
                  <a:srgbClr val="2F7D62"/>
                </a:solidFill>
                <a:latin typeface="Calibri" pitchFamily="34" charset="0"/>
                <a:ea typeface="Calibri" pitchFamily="34" charset="-122"/>
                <a:cs typeface="Calibri" pitchFamily="34" charset="-120"/>
              </a:rPr>
              <a:t>SEABORN</a:t>
            </a:r>
            <a:endParaRPr lang="en-US" sz="1200" dirty="0"/>
          </a:p>
        </p:txBody>
      </p:sp>
      <p:sp>
        <p:nvSpPr>
          <p:cNvPr id="5" name="Text 3"/>
          <p:cNvSpPr txBox="1"/>
          <p:nvPr/>
        </p:nvSpPr>
        <p:spPr>
          <a:xfrm>
            <a:off x="1280160" y="457200"/>
            <a:ext cx="10362895" cy="694944"/>
          </a:xfrm>
          <a:prstGeom prst="rect">
            <a:avLst/>
          </a:prstGeom>
          <a:noFill/>
          <a:ln/>
        </p:spPr>
        <p:txBody>
          <a:bodyPr wrap="square" lIns="0" tIns="0" rIns="0" bIns="0" rtlCol="0" anchor="ctr"/>
          <a:lstStyle/>
          <a:p>
            <a:pPr indent="0" marL="0">
              <a:buNone/>
            </a:pPr>
            <a:r>
              <a:rPr lang="en-US" sz="3000" b="1" dirty="0">
                <a:solidFill>
                  <a:srgbClr val="1F3A5F"/>
                </a:solidFill>
                <a:latin typeface="Cambria" pitchFamily="34" charset="0"/>
                <a:ea typeface="Cambria" pitchFamily="34" charset="-122"/>
                <a:cs typeface="Cambria" pitchFamily="34" charset="-120"/>
              </a:rPr>
              <a:t>La distribution des montants</a:t>
            </a:r>
            <a:endParaRPr lang="en-US" sz="3000" dirty="0"/>
          </a:p>
        </p:txBody>
      </p:sp>
      <p:pic>
        <p:nvPicPr>
          <p:cNvPr id="6" name="Image 0" descr="Histogramme des montants de commande, très asymétrique">    </p:cNvPr>
          <p:cNvPicPr>
            <a:picLocks noChangeAspect="1"/>
          </p:cNvPicPr>
          <p:nvPr/>
        </p:nvPicPr>
        <p:blipFill>
          <a:blip r:embed="rId1"/>
          <a:stretch>
            <a:fillRect/>
          </a:stretch>
        </p:blipFill>
        <p:spPr>
          <a:xfrm>
            <a:off x="555598" y="1417320"/>
            <a:ext cx="6755221" cy="4206240"/>
          </a:xfrm>
          <a:prstGeom prst="rect">
            <a:avLst/>
          </a:prstGeom>
        </p:spPr>
      </p:pic>
      <p:sp>
        <p:nvSpPr>
          <p:cNvPr id="7" name="Shape 4"/>
          <p:cNvSpPr/>
          <p:nvPr/>
        </p:nvSpPr>
        <p:spPr>
          <a:xfrm>
            <a:off x="7774977" y="1417320"/>
            <a:ext cx="3868078" cy="966978"/>
          </a:xfrm>
          <a:prstGeom prst="rect">
            <a:avLst/>
          </a:prstGeom>
          <a:solidFill>
            <a:srgbClr val="F3F4F6"/>
          </a:solidFill>
          <a:ln/>
        </p:spPr>
      </p:sp>
      <p:sp>
        <p:nvSpPr>
          <p:cNvPr id="8" name="Text 5"/>
          <p:cNvSpPr txBox="1"/>
          <p:nvPr/>
        </p:nvSpPr>
        <p:spPr>
          <a:xfrm>
            <a:off x="7957857" y="1563624"/>
            <a:ext cx="3502318" cy="674370"/>
          </a:xfrm>
          <a:prstGeom prst="rect">
            <a:avLst/>
          </a:prstGeom>
          <a:noFill/>
          <a:ln/>
        </p:spPr>
        <p:txBody>
          <a:bodyPr wrap="square" lIns="0" tIns="0" rIns="0" bIns="0" rtlCol="0" anchor="t"/>
          <a:lstStyle/>
          <a:p>
            <a:pPr indent="0" marL="0">
              <a:lnSpc>
                <a:spcPct val="100000"/>
              </a:lnSpc>
              <a:buNone/>
            </a:pPr>
            <a:r>
              <a:rPr lang="en-US" sz="1500" dirty="0">
                <a:solidFill>
                  <a:srgbClr val="1F2933"/>
                </a:solidFill>
                <a:latin typeface="Courier New" pitchFamily="34" charset="0"/>
                <a:ea typeface="Courier New" pitchFamily="34" charset="-122"/>
                <a:cs typeface="Courier New" pitchFamily="34" charset="-120"/>
              </a:rPr>
              <a:t>sns.histplot(data=ventes,</a:t>
            </a:r>
            <a:endParaRPr lang="en-US" sz="1500" dirty="0"/>
          </a:p>
          <a:p>
            <a:pPr indent="0" marL="0">
              <a:lnSpc>
                <a:spcPct val="100000"/>
              </a:lnSpc>
              <a:buNone/>
            </a:pPr>
            <a:r>
              <a:rPr lang="en-US" sz="1500" dirty="0">
                <a:solidFill>
                  <a:srgbClr val="1F2933"/>
                </a:solidFill>
                <a:latin typeface="Courier New" pitchFamily="34" charset="0"/>
                <a:ea typeface="Courier New" pitchFamily="34" charset="-122"/>
                <a:cs typeface="Courier New" pitchFamily="34" charset="-120"/>
              </a:rPr>
              <a:t>             x="montant",</a:t>
            </a:r>
            <a:endParaRPr lang="en-US" sz="1500" dirty="0"/>
          </a:p>
          <a:p>
            <a:pPr indent="0" marL="0">
              <a:lnSpc>
                <a:spcPct val="100000"/>
              </a:lnSpc>
              <a:buNone/>
            </a:pPr>
            <a:r>
              <a:rPr lang="en-US" sz="1500" dirty="0">
                <a:solidFill>
                  <a:srgbClr val="1F2933"/>
                </a:solidFill>
                <a:latin typeface="Courier New" pitchFamily="34" charset="0"/>
                <a:ea typeface="Courier New" pitchFamily="34" charset="-122"/>
                <a:cs typeface="Courier New" pitchFamily="34" charset="-120"/>
              </a:rPr>
              <a:t>             bins=40, ax=ax)</a:t>
            </a:r>
            <a:endParaRPr lang="en-US" sz="1500" dirty="0"/>
          </a:p>
        </p:txBody>
      </p:sp>
      <p:sp>
        <p:nvSpPr>
          <p:cNvPr id="9" name="Shape 6"/>
          <p:cNvSpPr/>
          <p:nvPr/>
        </p:nvSpPr>
        <p:spPr>
          <a:xfrm>
            <a:off x="7774977" y="2704338"/>
            <a:ext cx="1796879" cy="1600200"/>
          </a:xfrm>
          <a:prstGeom prst="roundRect">
            <a:avLst>
              <a:gd name="adj" fmla="val 4571"/>
            </a:avLst>
          </a:prstGeom>
          <a:solidFill>
            <a:srgbClr val="EEF3F7"/>
          </a:solidFill>
          <a:ln/>
        </p:spPr>
      </p:sp>
      <p:sp>
        <p:nvSpPr>
          <p:cNvPr id="10" name="Text 7"/>
          <p:cNvSpPr txBox="1"/>
          <p:nvPr/>
        </p:nvSpPr>
        <p:spPr>
          <a:xfrm>
            <a:off x="8003577" y="2887218"/>
            <a:ext cx="1339679" cy="777240"/>
          </a:xfrm>
          <a:prstGeom prst="rect">
            <a:avLst/>
          </a:prstGeom>
          <a:noFill/>
          <a:ln/>
        </p:spPr>
        <p:txBody>
          <a:bodyPr wrap="square" lIns="0" tIns="0" rIns="0" bIns="0" rtlCol="0" anchor="ctr"/>
          <a:lstStyle/>
          <a:p>
            <a:pPr indent="0" marL="0">
              <a:buNone/>
            </a:pPr>
            <a:r>
              <a:rPr lang="en-US" sz="4000" b="1" dirty="0">
                <a:solidFill>
                  <a:srgbClr val="1F3A5F"/>
                </a:solidFill>
                <a:latin typeface="Cambria" pitchFamily="34" charset="0"/>
                <a:ea typeface="Cambria" pitchFamily="34" charset="-122"/>
                <a:cs typeface="Cambria" pitchFamily="34" charset="-120"/>
              </a:rPr>
              <a:t>188 €</a:t>
            </a:r>
            <a:endParaRPr lang="en-US" sz="4000" dirty="0"/>
          </a:p>
        </p:txBody>
      </p:sp>
      <p:sp>
        <p:nvSpPr>
          <p:cNvPr id="11" name="Text 8"/>
          <p:cNvSpPr txBox="1"/>
          <p:nvPr/>
        </p:nvSpPr>
        <p:spPr>
          <a:xfrm>
            <a:off x="8003577" y="3710178"/>
            <a:ext cx="1339679" cy="457200"/>
          </a:xfrm>
          <a:prstGeom prst="rect">
            <a:avLst/>
          </a:prstGeom>
          <a:noFill/>
          <a:ln/>
        </p:spPr>
        <p:txBody>
          <a:bodyPr wrap="square" lIns="0" tIns="0" rIns="0" bIns="0" rtlCol="0" anchor="t"/>
          <a:lstStyle/>
          <a:p>
            <a:pPr indent="0" marL="0">
              <a:buNone/>
            </a:pPr>
            <a:r>
              <a:rPr lang="en-US" sz="1500" dirty="0">
                <a:solidFill>
                  <a:srgbClr val="6B7280"/>
                </a:solidFill>
                <a:latin typeface="Calibri" pitchFamily="34" charset="0"/>
                <a:ea typeface="Calibri" pitchFamily="34" charset="-122"/>
                <a:cs typeface="Calibri" pitchFamily="34" charset="-120"/>
              </a:rPr>
              <a:t>moyenne</a:t>
            </a:r>
            <a:endParaRPr lang="en-US" sz="1500" dirty="0"/>
          </a:p>
        </p:txBody>
      </p:sp>
      <p:sp>
        <p:nvSpPr>
          <p:cNvPr id="12" name="Shape 9"/>
          <p:cNvSpPr/>
          <p:nvPr/>
        </p:nvSpPr>
        <p:spPr>
          <a:xfrm>
            <a:off x="9846176" y="2704338"/>
            <a:ext cx="1796879" cy="1600200"/>
          </a:xfrm>
          <a:prstGeom prst="roundRect">
            <a:avLst>
              <a:gd name="adj" fmla="val 4571"/>
            </a:avLst>
          </a:prstGeom>
          <a:solidFill>
            <a:srgbClr val="EEF3F7"/>
          </a:solidFill>
          <a:ln/>
        </p:spPr>
      </p:sp>
      <p:sp>
        <p:nvSpPr>
          <p:cNvPr id="13" name="Text 10"/>
          <p:cNvSpPr txBox="1"/>
          <p:nvPr/>
        </p:nvSpPr>
        <p:spPr>
          <a:xfrm>
            <a:off x="10074776" y="2887218"/>
            <a:ext cx="1339679" cy="777240"/>
          </a:xfrm>
          <a:prstGeom prst="rect">
            <a:avLst/>
          </a:prstGeom>
          <a:noFill/>
          <a:ln/>
        </p:spPr>
        <p:txBody>
          <a:bodyPr wrap="square" lIns="0" tIns="0" rIns="0" bIns="0" rtlCol="0" anchor="ctr"/>
          <a:lstStyle/>
          <a:p>
            <a:pPr indent="0" marL="0">
              <a:buNone/>
            </a:pPr>
            <a:r>
              <a:rPr lang="en-US" sz="4000" b="1" dirty="0">
                <a:solidFill>
                  <a:srgbClr val="2F7D62"/>
                </a:solidFill>
                <a:latin typeface="Cambria" pitchFamily="34" charset="0"/>
                <a:ea typeface="Cambria" pitchFamily="34" charset="-122"/>
                <a:cs typeface="Cambria" pitchFamily="34" charset="-120"/>
              </a:rPr>
              <a:t>105 €</a:t>
            </a:r>
            <a:endParaRPr lang="en-US" sz="4000" dirty="0"/>
          </a:p>
        </p:txBody>
      </p:sp>
      <p:sp>
        <p:nvSpPr>
          <p:cNvPr id="14" name="Text 11"/>
          <p:cNvSpPr txBox="1"/>
          <p:nvPr/>
        </p:nvSpPr>
        <p:spPr>
          <a:xfrm>
            <a:off x="10074776" y="3710178"/>
            <a:ext cx="1339679" cy="457200"/>
          </a:xfrm>
          <a:prstGeom prst="rect">
            <a:avLst/>
          </a:prstGeom>
          <a:noFill/>
          <a:ln/>
        </p:spPr>
        <p:txBody>
          <a:bodyPr wrap="square" lIns="0" tIns="0" rIns="0" bIns="0" rtlCol="0" anchor="t"/>
          <a:lstStyle/>
          <a:p>
            <a:pPr indent="0" marL="0">
              <a:buNone/>
            </a:pPr>
            <a:r>
              <a:rPr lang="en-US" sz="1500" dirty="0">
                <a:solidFill>
                  <a:srgbClr val="6B7280"/>
                </a:solidFill>
                <a:latin typeface="Calibri" pitchFamily="34" charset="0"/>
                <a:ea typeface="Calibri" pitchFamily="34" charset="-122"/>
                <a:cs typeface="Calibri" pitchFamily="34" charset="-120"/>
              </a:rPr>
              <a:t>médiane</a:t>
            </a:r>
            <a:endParaRPr lang="en-US" sz="1500" dirty="0"/>
          </a:p>
        </p:txBody>
      </p:sp>
      <p:sp>
        <p:nvSpPr>
          <p:cNvPr id="15" name="Text 12"/>
          <p:cNvSpPr txBox="1"/>
          <p:nvPr/>
        </p:nvSpPr>
        <p:spPr>
          <a:xfrm>
            <a:off x="7774977" y="4624578"/>
            <a:ext cx="3868078" cy="822960"/>
          </a:xfrm>
          <a:prstGeom prst="rect">
            <a:avLst/>
          </a:prstGeom>
          <a:noFill/>
          <a:ln/>
        </p:spPr>
        <p:txBody>
          <a:bodyPr wrap="square" lIns="0" tIns="0" rIns="0" bIns="0" rtlCol="0" anchor="t"/>
          <a:lstStyle/>
          <a:p>
            <a:pPr indent="0" marL="0">
              <a:buNone/>
            </a:pPr>
            <a:r>
              <a:rPr lang="en-US" sz="1500" dirty="0">
                <a:solidFill>
                  <a:srgbClr val="6B7280"/>
                </a:solidFill>
                <a:latin typeface="Calibri" pitchFamily="34" charset="0"/>
                <a:ea typeface="Calibri" pitchFamily="34" charset="-122"/>
                <a:cs typeface="Calibri" pitchFamily="34" charset="-120"/>
              </a:rPr>
              <a:t>Beaucoup de petites commandes, quelques grosses : la moyenne est tirée vers le haut.</a:t>
            </a:r>
            <a:endParaRPr lang="en-US" sz="1500" dirty="0"/>
          </a:p>
        </p:txBody>
      </p:sp>
      <p:sp>
        <p:nvSpPr>
          <p:cNvPr id="16" name="Text 13"/>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Analyse de données avec Python   |   Jour 2, après-midi</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66928"/>
            <a:ext cx="475488" cy="475488"/>
          </a:xfrm>
          <a:prstGeom prst="ellipse">
            <a:avLst/>
          </a:prstGeom>
          <a:solidFill>
            <a:srgbClr val="2F7D62"/>
          </a:solidFill>
          <a:ln/>
        </p:spPr>
      </p:sp>
      <p:sp>
        <p:nvSpPr>
          <p:cNvPr id="3" name="Text 1"/>
          <p:cNvSpPr txBox="1"/>
          <p:nvPr/>
        </p:nvSpPr>
        <p:spPr>
          <a:xfrm>
            <a:off x="548640" y="566928"/>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4" name="Text 2"/>
          <p:cNvSpPr txBox="1"/>
          <p:nvPr/>
        </p:nvSpPr>
        <p:spPr>
          <a:xfrm>
            <a:off x="1280160" y="164592"/>
            <a:ext cx="10362895" cy="274320"/>
          </a:xfrm>
          <a:prstGeom prst="rect">
            <a:avLst/>
          </a:prstGeom>
          <a:noFill/>
          <a:ln/>
        </p:spPr>
        <p:txBody>
          <a:bodyPr wrap="square" lIns="0" tIns="0" rIns="0" bIns="0" rtlCol="0" anchor="ctr"/>
          <a:lstStyle/>
          <a:p>
            <a:pPr indent="0" marL="0">
              <a:buNone/>
            </a:pPr>
            <a:r>
              <a:rPr lang="en-US" sz="1200" b="1" spc="200" kern="0" dirty="0">
                <a:solidFill>
                  <a:srgbClr val="2F7D62"/>
                </a:solidFill>
                <a:latin typeface="Calibri" pitchFamily="34" charset="0"/>
                <a:ea typeface="Calibri" pitchFamily="34" charset="-122"/>
                <a:cs typeface="Calibri" pitchFamily="34" charset="-120"/>
              </a:rPr>
              <a:t>SEABORN</a:t>
            </a:r>
            <a:endParaRPr lang="en-US" sz="1200" dirty="0"/>
          </a:p>
        </p:txBody>
      </p:sp>
      <p:sp>
        <p:nvSpPr>
          <p:cNvPr id="5" name="Text 3"/>
          <p:cNvSpPr txBox="1"/>
          <p:nvPr/>
        </p:nvSpPr>
        <p:spPr>
          <a:xfrm>
            <a:off x="1280160" y="457200"/>
            <a:ext cx="10362895" cy="694944"/>
          </a:xfrm>
          <a:prstGeom prst="rect">
            <a:avLst/>
          </a:prstGeom>
          <a:noFill/>
          <a:ln/>
        </p:spPr>
        <p:txBody>
          <a:bodyPr wrap="square" lIns="0" tIns="0" rIns="0" bIns="0" rtlCol="0" anchor="ctr"/>
          <a:lstStyle/>
          <a:p>
            <a:pPr indent="0" marL="0">
              <a:buNone/>
            </a:pPr>
            <a:r>
              <a:rPr lang="en-US" sz="3000" b="1" dirty="0">
                <a:solidFill>
                  <a:srgbClr val="1F3A5F"/>
                </a:solidFill>
                <a:latin typeface="Cambria" pitchFamily="34" charset="0"/>
                <a:ea typeface="Cambria" pitchFamily="34" charset="-122"/>
                <a:cs typeface="Cambria" pitchFamily="34" charset="-120"/>
              </a:rPr>
              <a:t>Comparer deux distributions : des densités</a:t>
            </a:r>
            <a:endParaRPr lang="en-US" sz="3000" dirty="0"/>
          </a:p>
        </p:txBody>
      </p:sp>
      <p:pic>
        <p:nvPicPr>
          <p:cNvPr id="6" name="Image 0" descr="Densités du montant des commandes pour les clients fidèles et non fidèles, de formes proches">    </p:cNvPr>
          <p:cNvPicPr>
            <a:picLocks noChangeAspect="1"/>
          </p:cNvPicPr>
          <p:nvPr/>
        </p:nvPicPr>
        <p:blipFill>
          <a:blip r:embed="rId1"/>
          <a:stretch>
            <a:fillRect/>
          </a:stretch>
        </p:blipFill>
        <p:spPr>
          <a:xfrm>
            <a:off x="548640" y="1417320"/>
            <a:ext cx="5802117" cy="3234179"/>
          </a:xfrm>
          <a:prstGeom prst="rect">
            <a:avLst/>
          </a:prstGeom>
        </p:spPr>
      </p:pic>
      <p:sp>
        <p:nvSpPr>
          <p:cNvPr id="7" name="Shape 4"/>
          <p:cNvSpPr/>
          <p:nvPr/>
        </p:nvSpPr>
        <p:spPr>
          <a:xfrm>
            <a:off x="6807957" y="1417320"/>
            <a:ext cx="4835098" cy="1971040"/>
          </a:xfrm>
          <a:prstGeom prst="rect">
            <a:avLst/>
          </a:prstGeom>
          <a:solidFill>
            <a:srgbClr val="F3F4F6"/>
          </a:solidFill>
          <a:ln/>
        </p:spPr>
      </p:sp>
      <p:sp>
        <p:nvSpPr>
          <p:cNvPr id="8" name="Text 5"/>
          <p:cNvSpPr txBox="1"/>
          <p:nvPr/>
        </p:nvSpPr>
        <p:spPr>
          <a:xfrm>
            <a:off x="6990837" y="1563624"/>
            <a:ext cx="4469338" cy="1678432"/>
          </a:xfrm>
          <a:prstGeom prst="rect">
            <a:avLst/>
          </a:prstGeom>
          <a:noFill/>
          <a:ln/>
        </p:spPr>
        <p:txBody>
          <a:bodyPr wrap="square" lIns="0" tIns="0" rIns="0" bIns="0" rtlCol="0" anchor="t"/>
          <a:lstStyle/>
          <a:p>
            <a:pPr indent="0" marL="0">
              <a:lnSpc>
                <a:spcPct val="100000"/>
              </a:lnSpc>
              <a:buNone/>
            </a:pPr>
            <a:r>
              <a:rPr lang="en-US" sz="1400" dirty="0">
                <a:solidFill>
                  <a:srgbClr val="1F2933"/>
                </a:solidFill>
                <a:latin typeface="Courier New" pitchFamily="34" charset="0"/>
                <a:ea typeface="Courier New" pitchFamily="34" charset="-122"/>
                <a:cs typeface="Courier New" pitchFamily="34" charset="-120"/>
              </a:rPr>
              <a:t>sns.histplot(data=ventes, x="montant",</a:t>
            </a:r>
            <a:endParaRPr lang="en-US" sz="1400" dirty="0"/>
          </a:p>
          <a:p>
            <a:pPr indent="0" marL="0">
              <a:lnSpc>
                <a:spcPct val="100000"/>
              </a:lnSpc>
              <a:buNone/>
            </a:pPr>
            <a:r>
              <a:rPr lang="en-US" sz="1400" dirty="0">
                <a:solidFill>
                  <a:srgbClr val="1F2933"/>
                </a:solidFill>
                <a:latin typeface="Courier New" pitchFamily="34" charset="0"/>
                <a:ea typeface="Courier New" pitchFamily="34" charset="-122"/>
                <a:cs typeface="Courier New" pitchFamily="34" charset="-120"/>
              </a:rPr>
              <a:t>             hue="client_fidele", ax=ax)</a:t>
            </a:r>
            <a:endParaRPr lang="en-US" sz="1400" dirty="0"/>
          </a:p>
          <a:p>
            <a:pPr indent="0" marL="0">
              <a:lnSpc>
                <a:spcPct val="100000"/>
              </a:lnSpc>
              <a:buNone/>
            </a:pPr>
            <a:r>
              <a:rPr lang="en-US" sz="1400" dirty="0">
                <a:solidFill>
                  <a:srgbClr val="1F2933"/>
                </a:solidFill>
                <a:latin typeface="Courier New" pitchFamily="34" charset="0"/>
                <a:ea typeface="Courier New" pitchFamily="34" charset="-122"/>
                <a:cs typeface="Courier New" pitchFamily="34" charset="-120"/>
              </a:rPr>
              <a:t> </a:t>
            </a:r>
            <a:endParaRPr lang="en-US" sz="1400" dirty="0"/>
          </a:p>
          <a:p>
            <a:pPr indent="0" marL="0">
              <a:lnSpc>
                <a:spcPct val="100000"/>
              </a:lnSpc>
              <a:buNone/>
            </a:pPr>
            <a:r>
              <a:rPr lang="en-US" sz="1400" dirty="0">
                <a:solidFill>
                  <a:srgbClr val="6B7280"/>
                </a:solidFill>
                <a:latin typeface="Courier New" pitchFamily="34" charset="0"/>
                <a:ea typeface="Courier New" pitchFamily="34" charset="-122"/>
                <a:cs typeface="Courier New" pitchFamily="34" charset="-120"/>
              </a:rPr>
              <a:t># des densités, normalisées par groupe</a:t>
            </a:r>
            <a:endParaRPr lang="en-US" sz="1400" dirty="0"/>
          </a:p>
          <a:p>
            <a:pPr indent="0" marL="0">
              <a:lnSpc>
                <a:spcPct val="100000"/>
              </a:lnSpc>
              <a:buNone/>
            </a:pPr>
            <a:r>
              <a:rPr lang="en-US" sz="1400" dirty="0">
                <a:solidFill>
                  <a:srgbClr val="1F2933"/>
                </a:solidFill>
                <a:latin typeface="Courier New" pitchFamily="34" charset="0"/>
                <a:ea typeface="Courier New" pitchFamily="34" charset="-122"/>
                <a:cs typeface="Courier New" pitchFamily="34" charset="-120"/>
              </a:rPr>
              <a:t>sns.histplot(data=ventes, x="montant",</a:t>
            </a:r>
            <a:endParaRPr lang="en-US" sz="1400" dirty="0"/>
          </a:p>
          <a:p>
            <a:pPr indent="0" marL="0">
              <a:lnSpc>
                <a:spcPct val="100000"/>
              </a:lnSpc>
              <a:buNone/>
            </a:pPr>
            <a:r>
              <a:rPr lang="en-US" sz="1400" dirty="0">
                <a:solidFill>
                  <a:srgbClr val="1F2933"/>
                </a:solidFill>
                <a:latin typeface="Courier New" pitchFamily="34" charset="0"/>
                <a:ea typeface="Courier New" pitchFamily="34" charset="-122"/>
                <a:cs typeface="Courier New" pitchFamily="34" charset="-120"/>
              </a:rPr>
              <a:t>             hue="client_fidele",</a:t>
            </a:r>
            <a:endParaRPr lang="en-US" sz="1400" dirty="0"/>
          </a:p>
          <a:p>
            <a:pPr indent="0" marL="0">
              <a:lnSpc>
                <a:spcPct val="100000"/>
              </a:lnSpc>
              <a:buNone/>
            </a:pPr>
            <a:r>
              <a:rPr lang="en-US" sz="1400" dirty="0">
                <a:solidFill>
                  <a:srgbClr val="1F2933"/>
                </a:solidFill>
                <a:latin typeface="Courier New" pitchFamily="34" charset="0"/>
                <a:ea typeface="Courier New" pitchFamily="34" charset="-122"/>
                <a:cs typeface="Courier New" pitchFamily="34" charset="-120"/>
              </a:rPr>
              <a:t>             stat="density",</a:t>
            </a:r>
            <a:endParaRPr lang="en-US" sz="1400" dirty="0"/>
          </a:p>
          <a:p>
            <a:pPr indent="0" marL="0">
              <a:lnSpc>
                <a:spcPct val="100000"/>
              </a:lnSpc>
              <a:buNone/>
            </a:pPr>
            <a:r>
              <a:rPr lang="en-US" sz="1400" dirty="0">
                <a:solidFill>
                  <a:srgbClr val="1F2933"/>
                </a:solidFill>
                <a:latin typeface="Courier New" pitchFamily="34" charset="0"/>
                <a:ea typeface="Courier New" pitchFamily="34" charset="-122"/>
                <a:cs typeface="Courier New" pitchFamily="34" charset="-120"/>
              </a:rPr>
              <a:t>             common_norm=False, ax=ax)</a:t>
            </a:r>
            <a:endParaRPr lang="en-US" sz="1400" dirty="0"/>
          </a:p>
        </p:txBody>
      </p:sp>
      <p:sp>
        <p:nvSpPr>
          <p:cNvPr id="9" name="Text 6"/>
          <p:cNvSpPr txBox="1"/>
          <p:nvPr/>
        </p:nvSpPr>
        <p:spPr>
          <a:xfrm>
            <a:off x="6807957" y="3708400"/>
            <a:ext cx="4835098" cy="1666240"/>
          </a:xfrm>
          <a:prstGeom prst="rect">
            <a:avLst/>
          </a:prstGeom>
          <a:noFill/>
          <a:ln/>
        </p:spPr>
        <p:txBody>
          <a:bodyPr wrap="square" lIns="0" tIns="0" rIns="0" bIns="0" rtlCol="0" anchor="t"/>
          <a:lstStyle/>
          <a:p>
            <a:pPr marL="254000" indent="-254000">
              <a:spcAft>
                <a:spcPts val="800"/>
              </a:spcAft>
              <a:buSzPct val="100000"/>
              <a:buChar char="•"/>
            </a:pPr>
            <a:r>
              <a:rPr lang="en-US" sz="1500" dirty="0">
                <a:solidFill>
                  <a:srgbClr val="1F2933"/>
                </a:solidFill>
                <a:latin typeface="Calibri" pitchFamily="34" charset="0"/>
                <a:ea typeface="Calibri" pitchFamily="34" charset="-122"/>
                <a:cs typeface="Calibri" pitchFamily="34" charset="-120"/>
              </a:rPr>
              <a:t>Près de deux fois plus de commandes de clients non fidèles : les effectifs ne se comparent pas</a:t>
            </a:r>
            <a:endParaRPr lang="en-US" sz="1500" dirty="0"/>
          </a:p>
          <a:p>
            <a:pPr marL="254000" indent="-254000">
              <a:spcAft>
                <a:spcPts val="800"/>
              </a:spcAft>
              <a:buSzPct val="100000"/>
              <a:buChar char="•"/>
            </a:pPr>
            <a:r>
              <a:rPr lang="en-US" sz="1500" dirty="0">
                <a:solidFill>
                  <a:srgbClr val="1F3A5F"/>
                </a:solidFill>
                <a:latin typeface="Courier New" pitchFamily="34" charset="0"/>
                <a:ea typeface="Courier New" pitchFamily="34" charset="-122"/>
                <a:cs typeface="Courier New" pitchFamily="34" charset="-120"/>
              </a:rPr>
              <a:t>stat="density"</a:t>
            </a:r>
            <a:pPr indent="0" marL="0">
              <a:buNone/>
            </a:pPr>
            <a:r>
              <a:rPr lang="en-US" sz="1500" dirty="0">
                <a:solidFill>
                  <a:srgbClr val="1F2933"/>
                </a:solidFill>
                <a:latin typeface="Calibri" pitchFamily="34" charset="0"/>
                <a:ea typeface="Calibri" pitchFamily="34" charset="-122"/>
                <a:cs typeface="Calibri" pitchFamily="34" charset="-120"/>
              </a:rPr>
              <a:t> et </a:t>
            </a:r>
            <a:pPr indent="0" marL="0">
              <a:buNone/>
            </a:pPr>
            <a:r>
              <a:rPr lang="en-US" sz="1500" dirty="0">
                <a:solidFill>
                  <a:srgbClr val="1F3A5F"/>
                </a:solidFill>
                <a:latin typeface="Courier New" pitchFamily="34" charset="0"/>
                <a:ea typeface="Courier New" pitchFamily="34" charset="-122"/>
                <a:cs typeface="Courier New" pitchFamily="34" charset="-120"/>
              </a:rPr>
              <a:t>common_norm=False</a:t>
            </a:r>
            <a:pPr indent="0" marL="0">
              <a:buNone/>
            </a:pPr>
            <a:r>
              <a:rPr lang="en-US" sz="1500" dirty="0">
                <a:solidFill>
                  <a:srgbClr val="1F2933"/>
                </a:solidFill>
                <a:latin typeface="Calibri" pitchFamily="34" charset="0"/>
                <a:ea typeface="Calibri" pitchFamily="34" charset="-122"/>
                <a:cs typeface="Calibri" pitchFamily="34" charset="-120"/>
              </a:rPr>
              <a:t> : des densités normalisées séparément, pour comparer les formes</a:t>
            </a:r>
            <a:endParaRPr lang="en-US" sz="1500" dirty="0"/>
          </a:p>
        </p:txBody>
      </p:sp>
      <p:sp>
        <p:nvSpPr>
          <p:cNvPr id="10" name="Text 7"/>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Analyse de données avec Python   |   Jour 2, après-midi</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66928"/>
            <a:ext cx="475488" cy="475488"/>
          </a:xfrm>
          <a:prstGeom prst="ellipse">
            <a:avLst/>
          </a:prstGeom>
          <a:solidFill>
            <a:srgbClr val="2F7D62"/>
          </a:solidFill>
          <a:ln/>
        </p:spPr>
      </p:sp>
      <p:sp>
        <p:nvSpPr>
          <p:cNvPr id="3" name="Text 1"/>
          <p:cNvSpPr txBox="1"/>
          <p:nvPr/>
        </p:nvSpPr>
        <p:spPr>
          <a:xfrm>
            <a:off x="548640" y="566928"/>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4" name="Text 2"/>
          <p:cNvSpPr txBox="1"/>
          <p:nvPr/>
        </p:nvSpPr>
        <p:spPr>
          <a:xfrm>
            <a:off x="1280160" y="164592"/>
            <a:ext cx="10362895" cy="274320"/>
          </a:xfrm>
          <a:prstGeom prst="rect">
            <a:avLst/>
          </a:prstGeom>
          <a:noFill/>
          <a:ln/>
        </p:spPr>
        <p:txBody>
          <a:bodyPr wrap="square" lIns="0" tIns="0" rIns="0" bIns="0" rtlCol="0" anchor="ctr"/>
          <a:lstStyle/>
          <a:p>
            <a:pPr indent="0" marL="0">
              <a:buNone/>
            </a:pPr>
            <a:r>
              <a:rPr lang="en-US" sz="1200" b="1" spc="200" kern="0" dirty="0">
                <a:solidFill>
                  <a:srgbClr val="2F7D62"/>
                </a:solidFill>
                <a:latin typeface="Calibri" pitchFamily="34" charset="0"/>
                <a:ea typeface="Calibri" pitchFamily="34" charset="-122"/>
                <a:cs typeface="Calibri" pitchFamily="34" charset="-120"/>
              </a:rPr>
              <a:t>SEABORN</a:t>
            </a:r>
            <a:endParaRPr lang="en-US" sz="1200" dirty="0"/>
          </a:p>
        </p:txBody>
      </p:sp>
      <p:sp>
        <p:nvSpPr>
          <p:cNvPr id="5" name="Text 3"/>
          <p:cNvSpPr txBox="1"/>
          <p:nvPr/>
        </p:nvSpPr>
        <p:spPr>
          <a:xfrm>
            <a:off x="1280160" y="457200"/>
            <a:ext cx="10362895" cy="694944"/>
          </a:xfrm>
          <a:prstGeom prst="rect">
            <a:avLst/>
          </a:prstGeom>
          <a:noFill/>
          <a:ln/>
        </p:spPr>
        <p:txBody>
          <a:bodyPr wrap="square" lIns="0" tIns="0" rIns="0" bIns="0" rtlCol="0" anchor="ctr"/>
          <a:lstStyle/>
          <a:p>
            <a:pPr indent="0" marL="0">
              <a:buNone/>
            </a:pPr>
            <a:r>
              <a:rPr lang="en-US" sz="3000" b="1" dirty="0">
                <a:solidFill>
                  <a:srgbClr val="1F3A5F"/>
                </a:solidFill>
                <a:latin typeface="Cambria" pitchFamily="34" charset="0"/>
                <a:ea typeface="Cambria" pitchFamily="34" charset="-122"/>
                <a:cs typeface="Cambria" pitchFamily="34" charset="-120"/>
              </a:rPr>
              <a:t>Lire une boîte à moustaches</a:t>
            </a:r>
            <a:endParaRPr lang="en-US" sz="3000" dirty="0"/>
          </a:p>
        </p:txBody>
      </p:sp>
      <p:pic>
        <p:nvPicPr>
          <p:cNvPr id="6" name="Image 0" descr="Boîtes à moustaches du montant des commandes par catégorie, triées par médiane décroissante">    </p:cNvPr>
          <p:cNvPicPr>
            <a:picLocks noChangeAspect="1"/>
          </p:cNvPicPr>
          <p:nvPr/>
        </p:nvPicPr>
        <p:blipFill>
          <a:blip r:embed="rId1"/>
          <a:stretch>
            <a:fillRect/>
          </a:stretch>
        </p:blipFill>
        <p:spPr>
          <a:xfrm>
            <a:off x="726628" y="1417320"/>
            <a:ext cx="4962632" cy="2926080"/>
          </a:xfrm>
          <a:prstGeom prst="rect">
            <a:avLst/>
          </a:prstGeom>
        </p:spPr>
      </p:pic>
      <p:sp>
        <p:nvSpPr>
          <p:cNvPr id="7" name="Shape 4"/>
          <p:cNvSpPr/>
          <p:nvPr/>
        </p:nvSpPr>
        <p:spPr>
          <a:xfrm>
            <a:off x="548640" y="4663440"/>
            <a:ext cx="5318608" cy="1280160"/>
          </a:xfrm>
          <a:prstGeom prst="roundRect">
            <a:avLst>
              <a:gd name="adj" fmla="val 4286"/>
            </a:avLst>
          </a:prstGeom>
          <a:solidFill>
            <a:srgbClr val="E8F3EE"/>
          </a:solidFill>
          <a:ln/>
        </p:spPr>
      </p:sp>
      <p:sp>
        <p:nvSpPr>
          <p:cNvPr id="8" name="Text 5"/>
          <p:cNvSpPr txBox="1"/>
          <p:nvPr/>
        </p:nvSpPr>
        <p:spPr>
          <a:xfrm>
            <a:off x="822960" y="4663440"/>
            <a:ext cx="4769968" cy="1280160"/>
          </a:xfrm>
          <a:prstGeom prst="rect">
            <a:avLst/>
          </a:prstGeom>
          <a:noFill/>
          <a:ln/>
        </p:spPr>
        <p:txBody>
          <a:bodyPr wrap="square" lIns="0" tIns="0" rIns="0" bIns="0" rtlCol="0" anchor="ctr"/>
          <a:lstStyle/>
          <a:p>
            <a:pPr indent="0" marL="0">
              <a:buNone/>
            </a:pPr>
            <a:r>
              <a:rPr lang="en-US" sz="1500" dirty="0">
                <a:solidFill>
                  <a:srgbClr val="1F3A5F"/>
                </a:solidFill>
                <a:latin typeface="Calibri" pitchFamily="34" charset="0"/>
                <a:ea typeface="Calibri" pitchFamily="34" charset="-122"/>
                <a:cs typeface="Calibri" pitchFamily="34" charset="-120"/>
              </a:rPr>
              <a:t>Bureau : les valeurs extrêmes les plus élevées. Papeterie : beaucoup de points isolés, car sa boîte est si étroite que 200 € dépasse déjà ses moustaches.</a:t>
            </a:r>
            <a:endParaRPr lang="en-US" sz="1500" dirty="0"/>
          </a:p>
        </p:txBody>
      </p:sp>
      <p:sp>
        <p:nvSpPr>
          <p:cNvPr id="9" name="Shape 6"/>
          <p:cNvSpPr/>
          <p:nvPr/>
        </p:nvSpPr>
        <p:spPr>
          <a:xfrm>
            <a:off x="6324448" y="1417320"/>
            <a:ext cx="5318608" cy="1266698"/>
          </a:xfrm>
          <a:prstGeom prst="rect">
            <a:avLst/>
          </a:prstGeom>
          <a:solidFill>
            <a:srgbClr val="F3F4F6"/>
          </a:solidFill>
          <a:ln/>
        </p:spPr>
      </p:sp>
      <p:sp>
        <p:nvSpPr>
          <p:cNvPr id="10" name="Text 7"/>
          <p:cNvSpPr txBox="1"/>
          <p:nvPr/>
        </p:nvSpPr>
        <p:spPr>
          <a:xfrm>
            <a:off x="6507328" y="1563624"/>
            <a:ext cx="4952848" cy="974090"/>
          </a:xfrm>
          <a:prstGeom prst="rect">
            <a:avLst/>
          </a:prstGeom>
          <a:noFill/>
          <a:ln/>
        </p:spPr>
        <p:txBody>
          <a:bodyPr wrap="square" lIns="0" tIns="0" rIns="0" bIns="0" rtlCol="0" anchor="t"/>
          <a:lstStyle/>
          <a:p>
            <a:pPr indent="0" marL="0">
              <a:lnSpc>
                <a:spcPct val="100000"/>
              </a:lnSpc>
              <a:buNone/>
            </a:pPr>
            <a:r>
              <a:rPr lang="en-US" sz="1300" dirty="0">
                <a:solidFill>
                  <a:srgbClr val="1F2933"/>
                </a:solidFill>
                <a:latin typeface="Courier New" pitchFamily="34" charset="0"/>
                <a:ea typeface="Courier New" pitchFamily="34" charset="-122"/>
                <a:cs typeface="Courier New" pitchFamily="34" charset="-120"/>
              </a:rPr>
              <a:t>ordre = (ventes.groupby("categorie")["montant"]</a:t>
            </a:r>
            <a:endParaRPr lang="en-US" sz="1300" dirty="0"/>
          </a:p>
          <a:p>
            <a:pPr indent="0" marL="0">
              <a:lnSpc>
                <a:spcPct val="100000"/>
              </a:lnSpc>
              <a:buNone/>
            </a:pPr>
            <a:r>
              <a:rPr lang="en-US" sz="1300" dirty="0">
                <a:solidFill>
                  <a:srgbClr val="1F2933"/>
                </a:solidFill>
                <a:latin typeface="Courier New" pitchFamily="34" charset="0"/>
                <a:ea typeface="Courier New" pitchFamily="34" charset="-122"/>
                <a:cs typeface="Courier New" pitchFamily="34" charset="-120"/>
              </a:rPr>
              <a:t>         .median().sort_values(ascending=False)</a:t>
            </a:r>
            <a:endParaRPr lang="en-US" sz="1300" dirty="0"/>
          </a:p>
          <a:p>
            <a:pPr indent="0" marL="0">
              <a:lnSpc>
                <a:spcPct val="100000"/>
              </a:lnSpc>
              <a:buNone/>
            </a:pPr>
            <a:r>
              <a:rPr lang="en-US" sz="1300" dirty="0">
                <a:solidFill>
                  <a:srgbClr val="1F2933"/>
                </a:solidFill>
                <a:latin typeface="Courier New" pitchFamily="34" charset="0"/>
                <a:ea typeface="Courier New" pitchFamily="34" charset="-122"/>
                <a:cs typeface="Courier New" pitchFamily="34" charset="-120"/>
              </a:rPr>
              <a:t>         .index)</a:t>
            </a:r>
            <a:endParaRPr lang="en-US" sz="1300" dirty="0"/>
          </a:p>
          <a:p>
            <a:pPr indent="0" marL="0">
              <a:lnSpc>
                <a:spcPct val="100000"/>
              </a:lnSpc>
              <a:buNone/>
            </a:pPr>
            <a:r>
              <a:rPr lang="en-US" sz="1300" dirty="0">
                <a:solidFill>
                  <a:srgbClr val="1F2933"/>
                </a:solidFill>
                <a:latin typeface="Courier New" pitchFamily="34" charset="0"/>
                <a:ea typeface="Courier New" pitchFamily="34" charset="-122"/>
                <a:cs typeface="Courier New" pitchFamily="34" charset="-120"/>
              </a:rPr>
              <a:t>sns.boxplot(data=ventes, x="categorie",</a:t>
            </a:r>
            <a:endParaRPr lang="en-US" sz="1300" dirty="0"/>
          </a:p>
          <a:p>
            <a:pPr indent="0" marL="0">
              <a:lnSpc>
                <a:spcPct val="100000"/>
              </a:lnSpc>
              <a:buNone/>
            </a:pPr>
            <a:r>
              <a:rPr lang="en-US" sz="1300" dirty="0">
                <a:solidFill>
                  <a:srgbClr val="1F2933"/>
                </a:solidFill>
                <a:latin typeface="Courier New" pitchFamily="34" charset="0"/>
                <a:ea typeface="Courier New" pitchFamily="34" charset="-122"/>
                <a:cs typeface="Courier New" pitchFamily="34" charset="-120"/>
              </a:rPr>
              <a:t>            y="montant", order=ordre, ax=ax)</a:t>
            </a:r>
            <a:endParaRPr lang="en-US" sz="1300" dirty="0"/>
          </a:p>
        </p:txBody>
      </p:sp>
      <p:sp>
        <p:nvSpPr>
          <p:cNvPr id="11" name="Text 8"/>
          <p:cNvSpPr txBox="1"/>
          <p:nvPr/>
        </p:nvSpPr>
        <p:spPr>
          <a:xfrm>
            <a:off x="6324448" y="3004058"/>
            <a:ext cx="5318608" cy="594360"/>
          </a:xfrm>
          <a:prstGeom prst="rect">
            <a:avLst/>
          </a:prstGeom>
          <a:noFill/>
          <a:ln/>
        </p:spPr>
        <p:txBody>
          <a:bodyPr wrap="square" lIns="0" tIns="0" rIns="0" bIns="0" rtlCol="0" anchor="t"/>
          <a:lstStyle/>
          <a:p>
            <a:pPr indent="0" marL="0">
              <a:buNone/>
            </a:pPr>
            <a:r>
              <a:rPr lang="en-US" sz="1500" dirty="0">
                <a:solidFill>
                  <a:srgbClr val="1F3A5F"/>
                </a:solidFill>
                <a:latin typeface="Courier New" pitchFamily="34" charset="0"/>
                <a:ea typeface="Courier New" pitchFamily="34" charset="-122"/>
                <a:cs typeface="Courier New" pitchFamily="34" charset="-120"/>
              </a:rPr>
              <a:t>order</a:t>
            </a:r>
            <a:pPr indent="0" marL="0">
              <a:buNone/>
            </a:pPr>
            <a:r>
              <a:rPr lang="en-US" sz="1500" dirty="0">
                <a:solidFill>
                  <a:srgbClr val="6B7280"/>
                </a:solidFill>
                <a:latin typeface="Calibri" pitchFamily="34" charset="0"/>
                <a:ea typeface="Calibri" pitchFamily="34" charset="-122"/>
                <a:cs typeface="Calibri" pitchFamily="34" charset="-120"/>
              </a:rPr>
              <a:t> fixe l'ordre des catégories, ici par médiane décroissante.</a:t>
            </a:r>
            <a:endParaRPr lang="en-US" sz="1500" dirty="0"/>
          </a:p>
        </p:txBody>
      </p:sp>
      <p:sp>
        <p:nvSpPr>
          <p:cNvPr id="12" name="Text 9"/>
          <p:cNvSpPr txBox="1"/>
          <p:nvPr/>
        </p:nvSpPr>
        <p:spPr>
          <a:xfrm>
            <a:off x="6324448" y="3918458"/>
            <a:ext cx="5318608" cy="1640840"/>
          </a:xfrm>
          <a:prstGeom prst="rect">
            <a:avLst/>
          </a:prstGeom>
          <a:noFill/>
          <a:ln/>
        </p:spPr>
        <p:txBody>
          <a:bodyPr wrap="square" lIns="0" tIns="0" rIns="0" bIns="0" rtlCol="0" anchor="t"/>
          <a:lstStyle/>
          <a:p>
            <a:pPr marL="254000" indent="-254000">
              <a:spcAft>
                <a:spcPts val="800"/>
              </a:spcAft>
              <a:buSzPct val="100000"/>
              <a:buChar char="•"/>
            </a:pPr>
            <a:r>
              <a:rPr lang="en-US" sz="1500" b="1" dirty="0">
                <a:solidFill>
                  <a:srgbClr val="1F2933"/>
                </a:solidFill>
                <a:latin typeface="Calibri" pitchFamily="34" charset="0"/>
                <a:ea typeface="Calibri" pitchFamily="34" charset="-122"/>
                <a:cs typeface="Calibri" pitchFamily="34" charset="-120"/>
              </a:rPr>
              <a:t>Boîte</a:t>
            </a:r>
            <a:pPr indent="0" marL="0">
              <a:buNone/>
            </a:pPr>
            <a:r>
              <a:rPr lang="en-US" sz="1500" dirty="0">
                <a:solidFill>
                  <a:srgbClr val="1F2933"/>
                </a:solidFill>
                <a:latin typeface="Calibri" pitchFamily="34" charset="0"/>
                <a:ea typeface="Calibri" pitchFamily="34" charset="-122"/>
                <a:cs typeface="Calibri" pitchFamily="34" charset="-120"/>
              </a:rPr>
              <a:t> : la moitié centrale des valeurs</a:t>
            </a:r>
            <a:endParaRPr lang="en-US" sz="1500" dirty="0"/>
          </a:p>
          <a:p>
            <a:pPr marL="254000" indent="-254000">
              <a:spcAft>
                <a:spcPts val="800"/>
              </a:spcAft>
              <a:buSzPct val="100000"/>
              <a:buChar char="•"/>
            </a:pPr>
            <a:r>
              <a:rPr lang="en-US" sz="1500" b="1" dirty="0">
                <a:solidFill>
                  <a:srgbClr val="1F2933"/>
                </a:solidFill>
                <a:latin typeface="Calibri" pitchFamily="34" charset="0"/>
                <a:ea typeface="Calibri" pitchFamily="34" charset="-122"/>
                <a:cs typeface="Calibri" pitchFamily="34" charset="-120"/>
              </a:rPr>
              <a:t>Trait</a:t>
            </a:r>
            <a:pPr indent="0" marL="0">
              <a:buNone/>
            </a:pPr>
            <a:r>
              <a:rPr lang="en-US" sz="1500" dirty="0">
                <a:solidFill>
                  <a:srgbClr val="1F2933"/>
                </a:solidFill>
                <a:latin typeface="Calibri" pitchFamily="34" charset="0"/>
                <a:ea typeface="Calibri" pitchFamily="34" charset="-122"/>
                <a:cs typeface="Calibri" pitchFamily="34" charset="-120"/>
              </a:rPr>
              <a:t> : la médiane</a:t>
            </a:r>
            <a:endParaRPr lang="en-US" sz="1500" dirty="0"/>
          </a:p>
          <a:p>
            <a:pPr marL="254000" indent="-254000">
              <a:spcAft>
                <a:spcPts val="800"/>
              </a:spcAft>
              <a:buSzPct val="100000"/>
              <a:buChar char="•"/>
            </a:pPr>
            <a:r>
              <a:rPr lang="en-US" sz="1500" b="1" dirty="0">
                <a:solidFill>
                  <a:srgbClr val="1F2933"/>
                </a:solidFill>
                <a:latin typeface="Calibri" pitchFamily="34" charset="0"/>
                <a:ea typeface="Calibri" pitchFamily="34" charset="-122"/>
                <a:cs typeface="Calibri" pitchFamily="34" charset="-120"/>
              </a:rPr>
              <a:t>Moustaches</a:t>
            </a:r>
            <a:pPr indent="0" marL="0">
              <a:buNone/>
            </a:pPr>
            <a:r>
              <a:rPr lang="en-US" sz="1500" dirty="0">
                <a:solidFill>
                  <a:srgbClr val="1F2933"/>
                </a:solidFill>
                <a:latin typeface="Calibri" pitchFamily="34" charset="0"/>
                <a:ea typeface="Calibri" pitchFamily="34" charset="-122"/>
                <a:cs typeface="Calibri" pitchFamily="34" charset="-120"/>
              </a:rPr>
              <a:t> : jusqu'à 1,5 fois la hauteur de la boîte</a:t>
            </a:r>
            <a:endParaRPr lang="en-US" sz="1500" dirty="0"/>
          </a:p>
          <a:p>
            <a:pPr marL="254000" indent="-254000">
              <a:spcAft>
                <a:spcPts val="800"/>
              </a:spcAft>
              <a:buSzPct val="100000"/>
              <a:buChar char="•"/>
            </a:pPr>
            <a:r>
              <a:rPr lang="en-US" sz="1500" b="1" dirty="0">
                <a:solidFill>
                  <a:srgbClr val="1F2933"/>
                </a:solidFill>
                <a:latin typeface="Calibri" pitchFamily="34" charset="0"/>
                <a:ea typeface="Calibri" pitchFamily="34" charset="-122"/>
                <a:cs typeface="Calibri" pitchFamily="34" charset="-120"/>
              </a:rPr>
              <a:t>Points</a:t>
            </a:r>
            <a:pPr indent="0" marL="0">
              <a:buNone/>
            </a:pPr>
            <a:r>
              <a:rPr lang="en-US" sz="1500" dirty="0">
                <a:solidFill>
                  <a:srgbClr val="1F2933"/>
                </a:solidFill>
                <a:latin typeface="Calibri" pitchFamily="34" charset="0"/>
                <a:ea typeface="Calibri" pitchFamily="34" charset="-122"/>
                <a:cs typeface="Calibri" pitchFamily="34" charset="-120"/>
              </a:rPr>
              <a:t> : les valeurs extrêmes</a:t>
            </a:r>
            <a:endParaRPr lang="en-US" sz="1500" dirty="0"/>
          </a:p>
        </p:txBody>
      </p:sp>
      <p:sp>
        <p:nvSpPr>
          <p:cNvPr id="13" name="Text 10"/>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Analyse de données avec Python   |   Jour 2, après-midi</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66928"/>
            <a:ext cx="475488" cy="475488"/>
          </a:xfrm>
          <a:prstGeom prst="ellipse">
            <a:avLst/>
          </a:prstGeom>
          <a:solidFill>
            <a:srgbClr val="2F7D62"/>
          </a:solidFill>
          <a:ln/>
        </p:spPr>
      </p:sp>
      <p:sp>
        <p:nvSpPr>
          <p:cNvPr id="3" name="Text 1"/>
          <p:cNvSpPr txBox="1"/>
          <p:nvPr/>
        </p:nvSpPr>
        <p:spPr>
          <a:xfrm>
            <a:off x="548640" y="566928"/>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4" name="Text 2"/>
          <p:cNvSpPr txBox="1"/>
          <p:nvPr/>
        </p:nvSpPr>
        <p:spPr>
          <a:xfrm>
            <a:off x="1280160" y="164592"/>
            <a:ext cx="10362895" cy="274320"/>
          </a:xfrm>
          <a:prstGeom prst="rect">
            <a:avLst/>
          </a:prstGeom>
          <a:noFill/>
          <a:ln/>
        </p:spPr>
        <p:txBody>
          <a:bodyPr wrap="square" lIns="0" tIns="0" rIns="0" bIns="0" rtlCol="0" anchor="ctr"/>
          <a:lstStyle/>
          <a:p>
            <a:pPr indent="0" marL="0">
              <a:buNone/>
            </a:pPr>
            <a:r>
              <a:rPr lang="en-US" sz="1200" b="1" spc="200" kern="0" dirty="0">
                <a:solidFill>
                  <a:srgbClr val="2F7D62"/>
                </a:solidFill>
                <a:latin typeface="Calibri" pitchFamily="34" charset="0"/>
                <a:ea typeface="Calibri" pitchFamily="34" charset="-122"/>
                <a:cs typeface="Calibri" pitchFamily="34" charset="-120"/>
              </a:rPr>
              <a:t>SEABORN</a:t>
            </a:r>
            <a:endParaRPr lang="en-US" sz="1200" dirty="0"/>
          </a:p>
        </p:txBody>
      </p:sp>
      <p:sp>
        <p:nvSpPr>
          <p:cNvPr id="5" name="Text 3"/>
          <p:cNvSpPr txBox="1"/>
          <p:nvPr/>
        </p:nvSpPr>
        <p:spPr>
          <a:xfrm>
            <a:off x="1280160" y="457200"/>
            <a:ext cx="10362895" cy="694944"/>
          </a:xfrm>
          <a:prstGeom prst="rect">
            <a:avLst/>
          </a:prstGeom>
          <a:noFill/>
          <a:ln/>
        </p:spPr>
        <p:txBody>
          <a:bodyPr wrap="square" lIns="0" tIns="0" rIns="0" bIns="0" rtlCol="0" anchor="ctr"/>
          <a:lstStyle/>
          <a:p>
            <a:pPr indent="0" marL="0">
              <a:buNone/>
            </a:pPr>
            <a:r>
              <a:rPr lang="en-US" sz="3000" b="1" dirty="0">
                <a:solidFill>
                  <a:srgbClr val="1F3A5F"/>
                </a:solidFill>
                <a:latin typeface="Cambria" pitchFamily="34" charset="0"/>
                <a:ea typeface="Cambria" pitchFamily="34" charset="-122"/>
                <a:cs typeface="Cambria" pitchFamily="34" charset="-120"/>
              </a:rPr>
              <a:t>Des barres par catégorie</a:t>
            </a:r>
            <a:endParaRPr lang="en-US" sz="3000" dirty="0"/>
          </a:p>
        </p:txBody>
      </p:sp>
      <p:sp>
        <p:nvSpPr>
          <p:cNvPr id="6" name="Shape 4"/>
          <p:cNvSpPr/>
          <p:nvPr/>
        </p:nvSpPr>
        <p:spPr>
          <a:xfrm>
            <a:off x="548640" y="1417320"/>
            <a:ext cx="5802117" cy="1761236"/>
          </a:xfrm>
          <a:prstGeom prst="rect">
            <a:avLst/>
          </a:prstGeom>
          <a:solidFill>
            <a:srgbClr val="F3F4F6"/>
          </a:solidFill>
          <a:ln/>
        </p:spPr>
      </p:sp>
      <p:sp>
        <p:nvSpPr>
          <p:cNvPr id="7" name="Text 5"/>
          <p:cNvSpPr txBox="1"/>
          <p:nvPr/>
        </p:nvSpPr>
        <p:spPr>
          <a:xfrm>
            <a:off x="731520" y="1563624"/>
            <a:ext cx="5436357" cy="1468628"/>
          </a:xfrm>
          <a:prstGeom prst="rect">
            <a:avLst/>
          </a:prstGeom>
          <a:noFill/>
          <a:ln/>
        </p:spPr>
        <p:txBody>
          <a:bodyPr wrap="square" lIns="0" tIns="0" rIns="0" bIns="0" rtlCol="0" anchor="t"/>
          <a:lstStyle/>
          <a:p>
            <a:pPr indent="0" marL="0">
              <a:lnSpc>
                <a:spcPct val="100000"/>
              </a:lnSpc>
              <a:buNone/>
            </a:pPr>
            <a:r>
              <a:rPr lang="en-US" sz="1400" dirty="0">
                <a:solidFill>
                  <a:srgbClr val="1F2933"/>
                </a:solidFill>
                <a:latin typeface="Courier New" pitchFamily="34" charset="0"/>
                <a:ea typeface="Courier New" pitchFamily="34" charset="-122"/>
                <a:cs typeface="Courier New" pitchFamily="34" charset="-120"/>
              </a:rPr>
              <a:t>sns.barplot(data=ventes, x="region", y="montant",</a:t>
            </a:r>
            <a:endParaRPr lang="en-US" sz="1400" dirty="0"/>
          </a:p>
          <a:p>
            <a:pPr indent="0" marL="0">
              <a:lnSpc>
                <a:spcPct val="100000"/>
              </a:lnSpc>
              <a:buNone/>
            </a:pPr>
            <a:r>
              <a:rPr lang="en-US" sz="1400" dirty="0">
                <a:solidFill>
                  <a:srgbClr val="1F2933"/>
                </a:solidFill>
                <a:latin typeface="Courier New" pitchFamily="34" charset="0"/>
                <a:ea typeface="Courier New" pitchFamily="34" charset="-122"/>
                <a:cs typeface="Courier New" pitchFamily="34" charset="-120"/>
              </a:rPr>
              <a:t>            estimator="sum", errorbar=None, ax=ax)</a:t>
            </a:r>
            <a:endParaRPr lang="en-US" sz="1400" dirty="0"/>
          </a:p>
          <a:p>
            <a:pPr indent="0" marL="0">
              <a:lnSpc>
                <a:spcPct val="100000"/>
              </a:lnSpc>
              <a:buNone/>
            </a:pPr>
            <a:r>
              <a:rPr lang="en-US" sz="1400" dirty="0">
                <a:solidFill>
                  <a:srgbClr val="1F2933"/>
                </a:solidFill>
                <a:latin typeface="Courier New" pitchFamily="34" charset="0"/>
                <a:ea typeface="Courier New" pitchFamily="34" charset="-122"/>
                <a:cs typeface="Courier New" pitchFamily="34" charset="-120"/>
              </a:rPr>
              <a:t> </a:t>
            </a:r>
            <a:endParaRPr lang="en-US" sz="1400" dirty="0"/>
          </a:p>
          <a:p>
            <a:pPr indent="0" marL="0">
              <a:lnSpc>
                <a:spcPct val="100000"/>
              </a:lnSpc>
              <a:buNone/>
            </a:pPr>
            <a:r>
              <a:rPr lang="en-US" sz="1400" dirty="0">
                <a:solidFill>
                  <a:srgbClr val="1F2933"/>
                </a:solidFill>
                <a:latin typeface="Courier New" pitchFamily="34" charset="0"/>
                <a:ea typeface="Courier New" pitchFamily="34" charset="-122"/>
                <a:cs typeface="Courier New" pitchFamily="34" charset="-120"/>
              </a:rPr>
              <a:t>sns.countplot(data=ventes, x="categorie",</a:t>
            </a:r>
            <a:endParaRPr lang="en-US" sz="1400" dirty="0"/>
          </a:p>
          <a:p>
            <a:pPr indent="0" marL="0">
              <a:lnSpc>
                <a:spcPct val="100000"/>
              </a:lnSpc>
              <a:buNone/>
            </a:pPr>
            <a:r>
              <a:rPr lang="en-US" sz="1400" dirty="0">
                <a:solidFill>
                  <a:srgbClr val="1F2933"/>
                </a:solidFill>
                <a:latin typeface="Courier New" pitchFamily="34" charset="0"/>
                <a:ea typeface="Courier New" pitchFamily="34" charset="-122"/>
                <a:cs typeface="Courier New" pitchFamily="34" charset="-120"/>
              </a:rPr>
              <a:t>              order=ventes["categorie"]</a:t>
            </a:r>
            <a:endParaRPr lang="en-US" sz="1400" dirty="0"/>
          </a:p>
          <a:p>
            <a:pPr indent="0" marL="0">
              <a:lnSpc>
                <a:spcPct val="100000"/>
              </a:lnSpc>
              <a:buNone/>
            </a:pPr>
            <a:r>
              <a:rPr lang="en-US" sz="1400" dirty="0">
                <a:solidFill>
                  <a:srgbClr val="1F2933"/>
                </a:solidFill>
                <a:latin typeface="Courier New" pitchFamily="34" charset="0"/>
                <a:ea typeface="Courier New" pitchFamily="34" charset="-122"/>
                <a:cs typeface="Courier New" pitchFamily="34" charset="-120"/>
              </a:rPr>
              <a:t>                    .value_counts().index,</a:t>
            </a:r>
            <a:endParaRPr lang="en-US" sz="1400" dirty="0"/>
          </a:p>
          <a:p>
            <a:pPr indent="0" marL="0">
              <a:lnSpc>
                <a:spcPct val="100000"/>
              </a:lnSpc>
              <a:buNone/>
            </a:pPr>
            <a:r>
              <a:rPr lang="en-US" sz="1400" dirty="0">
                <a:solidFill>
                  <a:srgbClr val="1F2933"/>
                </a:solidFill>
                <a:latin typeface="Courier New" pitchFamily="34" charset="0"/>
                <a:ea typeface="Courier New" pitchFamily="34" charset="-122"/>
                <a:cs typeface="Courier New" pitchFamily="34" charset="-120"/>
              </a:rPr>
              <a:t>              ax=ax)</a:t>
            </a:r>
            <a:endParaRPr lang="en-US" sz="1400" dirty="0"/>
          </a:p>
        </p:txBody>
      </p:sp>
      <p:sp>
        <p:nvSpPr>
          <p:cNvPr id="8" name="Text 6"/>
          <p:cNvSpPr txBox="1"/>
          <p:nvPr/>
        </p:nvSpPr>
        <p:spPr>
          <a:xfrm>
            <a:off x="548640" y="3498596"/>
            <a:ext cx="5802117" cy="624840"/>
          </a:xfrm>
          <a:prstGeom prst="rect">
            <a:avLst/>
          </a:prstGeom>
          <a:noFill/>
          <a:ln/>
        </p:spPr>
        <p:txBody>
          <a:bodyPr wrap="square" lIns="0" tIns="0" rIns="0" bIns="0" rtlCol="0" anchor="t"/>
          <a:lstStyle/>
          <a:p>
            <a:pPr indent="0" marL="0">
              <a:buNone/>
            </a:pPr>
            <a:r>
              <a:rPr lang="en-US" sz="1600" dirty="0">
                <a:solidFill>
                  <a:srgbClr val="6B7280"/>
                </a:solidFill>
                <a:latin typeface="Calibri" pitchFamily="34" charset="0"/>
                <a:ea typeface="Calibri" pitchFamily="34" charset="-122"/>
                <a:cs typeface="Calibri" pitchFamily="34" charset="-120"/>
              </a:rPr>
              <a:t>Quand les données sont déjà agrégées, comme la table des indicateurs, matplotlib ou pandas suffisent.</a:t>
            </a:r>
            <a:endParaRPr lang="en-US" sz="1600" dirty="0"/>
          </a:p>
        </p:txBody>
      </p:sp>
      <p:sp>
        <p:nvSpPr>
          <p:cNvPr id="9" name="Shape 7"/>
          <p:cNvSpPr/>
          <p:nvPr/>
        </p:nvSpPr>
        <p:spPr>
          <a:xfrm>
            <a:off x="6807957" y="1417320"/>
            <a:ext cx="4835098" cy="1661160"/>
          </a:xfrm>
          <a:prstGeom prst="roundRect">
            <a:avLst>
              <a:gd name="adj" fmla="val 3303"/>
            </a:avLst>
          </a:prstGeom>
          <a:solidFill>
            <a:srgbClr val="E8F3EE"/>
          </a:solidFill>
          <a:ln/>
        </p:spPr>
      </p:sp>
      <p:sp>
        <p:nvSpPr>
          <p:cNvPr id="10" name="Text 8"/>
          <p:cNvSpPr txBox="1"/>
          <p:nvPr/>
        </p:nvSpPr>
        <p:spPr>
          <a:xfrm>
            <a:off x="7082277" y="1417320"/>
            <a:ext cx="4286458" cy="1661160"/>
          </a:xfrm>
          <a:prstGeom prst="rect">
            <a:avLst/>
          </a:prstGeom>
          <a:noFill/>
          <a:ln/>
        </p:spPr>
        <p:txBody>
          <a:bodyPr wrap="square" lIns="0" tIns="0" rIns="0" bIns="0" rtlCol="0" anchor="ctr"/>
          <a:lstStyle/>
          <a:p>
            <a:pPr indent="0" marL="0">
              <a:buNone/>
            </a:pPr>
            <a:r>
              <a:rPr lang="en-US" sz="1700" dirty="0">
                <a:solidFill>
                  <a:srgbClr val="1F3A5F"/>
                </a:solidFill>
                <a:latin typeface="Calibri" pitchFamily="34" charset="0"/>
                <a:ea typeface="Calibri" pitchFamily="34" charset="-122"/>
                <a:cs typeface="Calibri" pitchFamily="34" charset="-120"/>
              </a:rPr>
              <a:t>Par défaut, </a:t>
            </a:r>
            <a:pPr indent="0" marL="0">
              <a:buNone/>
            </a:pPr>
            <a:r>
              <a:rPr lang="en-US" sz="1700" dirty="0">
                <a:solidFill>
                  <a:srgbClr val="2F7D62"/>
                </a:solidFill>
                <a:latin typeface="Courier New" pitchFamily="34" charset="0"/>
                <a:ea typeface="Courier New" pitchFamily="34" charset="-122"/>
                <a:cs typeface="Courier New" pitchFamily="34" charset="-120"/>
              </a:rPr>
              <a:t>barplot</a:t>
            </a:r>
            <a:pPr indent="0" marL="0">
              <a:buNone/>
            </a:pPr>
            <a:r>
              <a:rPr lang="en-US" sz="1700" dirty="0">
                <a:solidFill>
                  <a:srgbClr val="1F3A5F"/>
                </a:solidFill>
                <a:latin typeface="Calibri" pitchFamily="34" charset="0"/>
                <a:ea typeface="Calibri" pitchFamily="34" charset="-122"/>
                <a:cs typeface="Calibri" pitchFamily="34" charset="-120"/>
              </a:rPr>
              <a:t> affiche la </a:t>
            </a:r>
            <a:pPr indent="0" marL="0">
              <a:buNone/>
            </a:pPr>
            <a:r>
              <a:rPr lang="en-US" sz="1700" b="1" dirty="0">
                <a:solidFill>
                  <a:srgbClr val="1F3A5F"/>
                </a:solidFill>
                <a:latin typeface="Calibri" pitchFamily="34" charset="0"/>
                <a:ea typeface="Calibri" pitchFamily="34" charset="-122"/>
                <a:cs typeface="Calibri" pitchFamily="34" charset="-120"/>
              </a:rPr>
              <a:t>moyenne</a:t>
            </a:r>
            <a:pPr indent="0" marL="0">
              <a:buNone/>
            </a:pPr>
            <a:r>
              <a:rPr lang="en-US" sz="1700" dirty="0">
                <a:solidFill>
                  <a:srgbClr val="1F3A5F"/>
                </a:solidFill>
                <a:latin typeface="Calibri" pitchFamily="34" charset="0"/>
                <a:ea typeface="Calibri" pitchFamily="34" charset="-122"/>
                <a:cs typeface="Calibri" pitchFamily="34" charset="-120"/>
              </a:rPr>
              <a:t> de chaque groupe, avec un intervalle de confiance. Pour un total : </a:t>
            </a:r>
            <a:pPr indent="0" marL="0">
              <a:buNone/>
            </a:pPr>
            <a:r>
              <a:rPr lang="en-US" sz="1700" dirty="0">
                <a:solidFill>
                  <a:srgbClr val="2F7D62"/>
                </a:solidFill>
                <a:latin typeface="Courier New" pitchFamily="34" charset="0"/>
                <a:ea typeface="Courier New" pitchFamily="34" charset="-122"/>
                <a:cs typeface="Courier New" pitchFamily="34" charset="-120"/>
              </a:rPr>
              <a:t>estimator="sum"</a:t>
            </a:r>
            <a:pPr indent="0" marL="0">
              <a:buNone/>
            </a:pPr>
            <a:r>
              <a:rPr lang="en-US" sz="1700" dirty="0">
                <a:solidFill>
                  <a:srgbClr val="1F3A5F"/>
                </a:solidFill>
                <a:latin typeface="Calibri" pitchFamily="34" charset="0"/>
                <a:ea typeface="Calibri" pitchFamily="34" charset="-122"/>
                <a:cs typeface="Calibri" pitchFamily="34" charset="-120"/>
              </a:rPr>
              <a:t>, et </a:t>
            </a:r>
            <a:pPr indent="0" marL="0">
              <a:buNone/>
            </a:pPr>
            <a:r>
              <a:rPr lang="en-US" sz="1700" dirty="0">
                <a:solidFill>
                  <a:srgbClr val="2F7D62"/>
                </a:solidFill>
                <a:latin typeface="Courier New" pitchFamily="34" charset="0"/>
                <a:ea typeface="Courier New" pitchFamily="34" charset="-122"/>
                <a:cs typeface="Courier New" pitchFamily="34" charset="-120"/>
              </a:rPr>
              <a:t>errorbar=None</a:t>
            </a:r>
            <a:pPr indent="0" marL="0">
              <a:buNone/>
            </a:pPr>
            <a:r>
              <a:rPr lang="en-US" sz="1700" dirty="0">
                <a:solidFill>
                  <a:srgbClr val="1F3A5F"/>
                </a:solidFill>
                <a:latin typeface="Calibri" pitchFamily="34" charset="0"/>
                <a:ea typeface="Calibri" pitchFamily="34" charset="-122"/>
                <a:cs typeface="Calibri" pitchFamily="34" charset="-120"/>
              </a:rPr>
              <a:t> pour retirer le trait.</a:t>
            </a:r>
            <a:endParaRPr lang="en-US" sz="1700" dirty="0"/>
          </a:p>
        </p:txBody>
      </p:sp>
      <p:sp>
        <p:nvSpPr>
          <p:cNvPr id="11" name="Text 9"/>
          <p:cNvSpPr txBox="1"/>
          <p:nvPr/>
        </p:nvSpPr>
        <p:spPr>
          <a:xfrm>
            <a:off x="6807957" y="3398520"/>
            <a:ext cx="4835098" cy="1209040"/>
          </a:xfrm>
          <a:prstGeom prst="rect">
            <a:avLst/>
          </a:prstGeom>
          <a:noFill/>
          <a:ln/>
        </p:spPr>
        <p:txBody>
          <a:bodyPr wrap="square" lIns="0" tIns="0" rIns="0" bIns="0" rtlCol="0" anchor="t"/>
          <a:lstStyle/>
          <a:p>
            <a:pPr marL="254000" indent="-254000">
              <a:spcAft>
                <a:spcPts val="800"/>
              </a:spcAft>
              <a:buSzPct val="100000"/>
              <a:buChar char="•"/>
            </a:pPr>
            <a:r>
              <a:rPr lang="en-US" sz="1500" dirty="0">
                <a:solidFill>
                  <a:srgbClr val="1F3A5F"/>
                </a:solidFill>
                <a:latin typeface="Courier New" pitchFamily="34" charset="0"/>
                <a:ea typeface="Courier New" pitchFamily="34" charset="-122"/>
                <a:cs typeface="Courier New" pitchFamily="34" charset="-120"/>
              </a:rPr>
              <a:t>countplot</a:t>
            </a:r>
            <a:pPr indent="0" marL="0">
              <a:buNone/>
            </a:pPr>
            <a:r>
              <a:rPr lang="en-US" sz="1500" dirty="0">
                <a:solidFill>
                  <a:srgbClr val="1F2933"/>
                </a:solidFill>
                <a:latin typeface="Calibri" pitchFamily="34" charset="0"/>
                <a:ea typeface="Calibri" pitchFamily="34" charset="-122"/>
                <a:cs typeface="Calibri" pitchFamily="34" charset="-120"/>
              </a:rPr>
              <a:t> compte les lignes de chaque catégorie</a:t>
            </a:r>
            <a:endParaRPr lang="en-US" sz="1500" dirty="0"/>
          </a:p>
          <a:p>
            <a:pPr marL="254000" indent="-254000">
              <a:spcAft>
                <a:spcPts val="800"/>
              </a:spcAft>
              <a:buSzPct val="100000"/>
              <a:buChar char="•"/>
            </a:pPr>
            <a:r>
              <a:rPr lang="en-US" sz="1500" dirty="0">
                <a:solidFill>
                  <a:srgbClr val="1F3A5F"/>
                </a:solidFill>
                <a:latin typeface="Courier New" pitchFamily="34" charset="0"/>
                <a:ea typeface="Courier New" pitchFamily="34" charset="-122"/>
                <a:cs typeface="Courier New" pitchFamily="34" charset="-120"/>
              </a:rPr>
              <a:t>order</a:t>
            </a:r>
            <a:pPr indent="0" marL="0">
              <a:buNone/>
            </a:pPr>
            <a:r>
              <a:rPr lang="en-US" sz="1500" dirty="0">
                <a:solidFill>
                  <a:srgbClr val="1F2933"/>
                </a:solidFill>
                <a:latin typeface="Calibri" pitchFamily="34" charset="0"/>
                <a:ea typeface="Calibri" pitchFamily="34" charset="-122"/>
                <a:cs typeface="Calibri" pitchFamily="34" charset="-120"/>
              </a:rPr>
              <a:t> avec l'index de </a:t>
            </a:r>
            <a:pPr indent="0" marL="0">
              <a:buNone/>
            </a:pPr>
            <a:r>
              <a:rPr lang="en-US" sz="1500" dirty="0">
                <a:solidFill>
                  <a:srgbClr val="1F3A5F"/>
                </a:solidFill>
                <a:latin typeface="Courier New" pitchFamily="34" charset="0"/>
                <a:ea typeface="Courier New" pitchFamily="34" charset="-122"/>
                <a:cs typeface="Courier New" pitchFamily="34" charset="-120"/>
              </a:rPr>
              <a:t>value_counts</a:t>
            </a:r>
            <a:pPr indent="0" marL="0">
              <a:buNone/>
            </a:pPr>
            <a:r>
              <a:rPr lang="en-US" sz="1500" dirty="0">
                <a:solidFill>
                  <a:srgbClr val="1F2933"/>
                </a:solidFill>
                <a:latin typeface="Calibri" pitchFamily="34" charset="0"/>
                <a:ea typeface="Calibri" pitchFamily="34" charset="-122"/>
                <a:cs typeface="Calibri" pitchFamily="34" charset="-120"/>
              </a:rPr>
              <a:t> : de la plus haute à la plus basse</a:t>
            </a:r>
            <a:endParaRPr lang="en-US" sz="1500" dirty="0"/>
          </a:p>
        </p:txBody>
      </p:sp>
      <p:sp>
        <p:nvSpPr>
          <p:cNvPr id="12" name="Shape 10"/>
          <p:cNvSpPr/>
          <p:nvPr/>
        </p:nvSpPr>
        <p:spPr>
          <a:xfrm>
            <a:off x="548640" y="4927600"/>
            <a:ext cx="11094415" cy="883920"/>
          </a:xfrm>
          <a:prstGeom prst="roundRect">
            <a:avLst>
              <a:gd name="adj" fmla="val 6207"/>
            </a:avLst>
          </a:prstGeom>
          <a:solidFill>
            <a:srgbClr val="E8F3EE"/>
          </a:solidFill>
          <a:ln/>
        </p:spPr>
      </p:sp>
      <p:sp>
        <p:nvSpPr>
          <p:cNvPr id="13" name="Text 11"/>
          <p:cNvSpPr txBox="1"/>
          <p:nvPr/>
        </p:nvSpPr>
        <p:spPr>
          <a:xfrm>
            <a:off x="822960" y="4927600"/>
            <a:ext cx="10545775" cy="883920"/>
          </a:xfrm>
          <a:prstGeom prst="rect">
            <a:avLst/>
          </a:prstGeom>
          <a:noFill/>
          <a:ln/>
        </p:spPr>
        <p:txBody>
          <a:bodyPr wrap="square" lIns="0" tIns="0" rIns="0" bIns="0" rtlCol="0" anchor="ctr"/>
          <a:lstStyle/>
          <a:p>
            <a:pPr indent="0" marL="0">
              <a:buNone/>
            </a:pPr>
            <a:r>
              <a:rPr lang="en-US" sz="1700" dirty="0">
                <a:solidFill>
                  <a:srgbClr val="1F3A5F"/>
                </a:solidFill>
                <a:latin typeface="Calibri" pitchFamily="34" charset="0"/>
                <a:ea typeface="Calibri" pitchFamily="34" charset="-122"/>
                <a:cs typeface="Calibri" pitchFamily="34" charset="-120"/>
              </a:rPr>
              <a:t>La papeterie est la deuxième catégorie en nombre de commandes, mais seulement la troisième en chiffre d'affaires.</a:t>
            </a:r>
            <a:endParaRPr lang="en-US" sz="1700" dirty="0"/>
          </a:p>
        </p:txBody>
      </p:sp>
      <p:sp>
        <p:nvSpPr>
          <p:cNvPr id="14" name="Text 12"/>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Analyse de données avec Python   |   Jour 2, après-midi</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66928"/>
            <a:ext cx="475488" cy="475488"/>
          </a:xfrm>
          <a:prstGeom prst="ellipse">
            <a:avLst/>
          </a:prstGeom>
          <a:solidFill>
            <a:srgbClr val="2F7D62"/>
          </a:solidFill>
          <a:ln/>
        </p:spPr>
      </p:sp>
      <p:sp>
        <p:nvSpPr>
          <p:cNvPr id="3" name="Text 1"/>
          <p:cNvSpPr txBox="1"/>
          <p:nvPr/>
        </p:nvSpPr>
        <p:spPr>
          <a:xfrm>
            <a:off x="548640" y="566928"/>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4" name="Text 2"/>
          <p:cNvSpPr txBox="1"/>
          <p:nvPr/>
        </p:nvSpPr>
        <p:spPr>
          <a:xfrm>
            <a:off x="1280160" y="164592"/>
            <a:ext cx="10362895" cy="274320"/>
          </a:xfrm>
          <a:prstGeom prst="rect">
            <a:avLst/>
          </a:prstGeom>
          <a:noFill/>
          <a:ln/>
        </p:spPr>
        <p:txBody>
          <a:bodyPr wrap="square" lIns="0" tIns="0" rIns="0" bIns="0" rtlCol="0" anchor="ctr"/>
          <a:lstStyle/>
          <a:p>
            <a:pPr indent="0" marL="0">
              <a:buNone/>
            </a:pPr>
            <a:r>
              <a:rPr lang="en-US" sz="1200" b="1" spc="200" kern="0" dirty="0">
                <a:solidFill>
                  <a:srgbClr val="2F7D62"/>
                </a:solidFill>
                <a:latin typeface="Calibri" pitchFamily="34" charset="0"/>
                <a:ea typeface="Calibri" pitchFamily="34" charset="-122"/>
                <a:cs typeface="Calibri" pitchFamily="34" charset="-120"/>
              </a:rPr>
              <a:t>SEABORN</a:t>
            </a:r>
            <a:endParaRPr lang="en-US" sz="1200" dirty="0"/>
          </a:p>
        </p:txBody>
      </p:sp>
      <p:sp>
        <p:nvSpPr>
          <p:cNvPr id="5" name="Text 3"/>
          <p:cNvSpPr txBox="1"/>
          <p:nvPr/>
        </p:nvSpPr>
        <p:spPr>
          <a:xfrm>
            <a:off x="1280160" y="457200"/>
            <a:ext cx="10362895" cy="694944"/>
          </a:xfrm>
          <a:prstGeom prst="rect">
            <a:avLst/>
          </a:prstGeom>
          <a:noFill/>
          <a:ln/>
        </p:spPr>
        <p:txBody>
          <a:bodyPr wrap="square" lIns="0" tIns="0" rIns="0" bIns="0" rtlCol="0" anchor="ctr"/>
          <a:lstStyle/>
          <a:p>
            <a:pPr indent="0" marL="0">
              <a:buNone/>
            </a:pPr>
            <a:r>
              <a:rPr lang="en-US" sz="3000" b="1" dirty="0">
                <a:solidFill>
                  <a:srgbClr val="1F3A5F"/>
                </a:solidFill>
                <a:latin typeface="Cambria" pitchFamily="34" charset="0"/>
                <a:ea typeface="Cambria" pitchFamily="34" charset="-122"/>
                <a:cs typeface="Cambria" pitchFamily="34" charset="-120"/>
              </a:rPr>
              <a:t>La heatmap</a:t>
            </a:r>
            <a:endParaRPr lang="en-US" sz="3000" dirty="0"/>
          </a:p>
        </p:txBody>
      </p:sp>
      <p:sp>
        <p:nvSpPr>
          <p:cNvPr id="6" name="Shape 4"/>
          <p:cNvSpPr/>
          <p:nvPr/>
        </p:nvSpPr>
        <p:spPr>
          <a:xfrm>
            <a:off x="548640" y="1417320"/>
            <a:ext cx="3868078" cy="2240788"/>
          </a:xfrm>
          <a:prstGeom prst="rect">
            <a:avLst/>
          </a:prstGeom>
          <a:solidFill>
            <a:srgbClr val="F3F4F6"/>
          </a:solidFill>
          <a:ln/>
        </p:spPr>
      </p:sp>
      <p:sp>
        <p:nvSpPr>
          <p:cNvPr id="7" name="Text 5"/>
          <p:cNvSpPr txBox="1"/>
          <p:nvPr/>
        </p:nvSpPr>
        <p:spPr>
          <a:xfrm>
            <a:off x="731520" y="1563624"/>
            <a:ext cx="3502318" cy="1948180"/>
          </a:xfrm>
          <a:prstGeom prst="rect">
            <a:avLst/>
          </a:prstGeom>
          <a:noFill/>
          <a:ln/>
        </p:spPr>
        <p:txBody>
          <a:bodyPr wrap="square" lIns="0" tIns="0" rIns="0" bIns="0" rtlCol="0" anchor="t"/>
          <a:lstStyle/>
          <a:p>
            <a:pPr indent="0" marL="0">
              <a:lnSpc>
                <a:spcPct val="100000"/>
              </a:lnSpc>
              <a:buNone/>
            </a:pPr>
            <a:r>
              <a:rPr lang="en-US" sz="1300" dirty="0">
                <a:solidFill>
                  <a:srgbClr val="1F2933"/>
                </a:solidFill>
                <a:latin typeface="Courier New" pitchFamily="34" charset="0"/>
                <a:ea typeface="Courier New" pitchFamily="34" charset="-122"/>
                <a:cs typeface="Courier New" pitchFamily="34" charset="-120"/>
              </a:rPr>
              <a:t>taux = indicateurs.pivot_table(</a:t>
            </a:r>
            <a:endParaRPr lang="en-US" sz="1300" dirty="0"/>
          </a:p>
          <a:p>
            <a:pPr indent="0" marL="0">
              <a:lnSpc>
                <a:spcPct val="100000"/>
              </a:lnSpc>
              <a:buNone/>
            </a:pPr>
            <a:r>
              <a:rPr lang="en-US" sz="1300" dirty="0">
                <a:solidFill>
                  <a:srgbClr val="1F2933"/>
                </a:solidFill>
                <a:latin typeface="Courier New" pitchFamily="34" charset="0"/>
                <a:ea typeface="Courier New" pitchFamily="34" charset="-122"/>
                <a:cs typeface="Courier New" pitchFamily="34" charset="-120"/>
              </a:rPr>
              <a:t>    index="region",</a:t>
            </a:r>
            <a:endParaRPr lang="en-US" sz="1300" dirty="0"/>
          </a:p>
          <a:p>
            <a:pPr indent="0" marL="0">
              <a:lnSpc>
                <a:spcPct val="100000"/>
              </a:lnSpc>
              <a:buNone/>
            </a:pPr>
            <a:r>
              <a:rPr lang="en-US" sz="1300" dirty="0">
                <a:solidFill>
                  <a:srgbClr val="1F2933"/>
                </a:solidFill>
                <a:latin typeface="Courier New" pitchFamily="34" charset="0"/>
                <a:ea typeface="Courier New" pitchFamily="34" charset="-122"/>
                <a:cs typeface="Courier New" pitchFamily="34" charset="-120"/>
              </a:rPr>
              <a:t>    columns=indicateurs["mois"]</a:t>
            </a:r>
            <a:endParaRPr lang="en-US" sz="1300" dirty="0"/>
          </a:p>
          <a:p>
            <a:pPr indent="0" marL="0">
              <a:lnSpc>
                <a:spcPct val="100000"/>
              </a:lnSpc>
              <a:buNone/>
            </a:pPr>
            <a:r>
              <a:rPr lang="en-US" sz="1300" dirty="0">
                <a:solidFill>
                  <a:srgbClr val="1F2933"/>
                </a:solidFill>
                <a:latin typeface="Courier New" pitchFamily="34" charset="0"/>
                <a:ea typeface="Courier New" pitchFamily="34" charset="-122"/>
                <a:cs typeface="Courier New" pitchFamily="34" charset="-120"/>
              </a:rPr>
              <a:t>        .dt.strftime("%m/%y"),</a:t>
            </a:r>
            <a:endParaRPr lang="en-US" sz="1300" dirty="0"/>
          </a:p>
          <a:p>
            <a:pPr indent="0" marL="0">
              <a:lnSpc>
                <a:spcPct val="100000"/>
              </a:lnSpc>
              <a:buNone/>
            </a:pPr>
            <a:r>
              <a:rPr lang="en-US" sz="1300" dirty="0">
                <a:solidFill>
                  <a:srgbClr val="1F2933"/>
                </a:solidFill>
                <a:latin typeface="Courier New" pitchFamily="34" charset="0"/>
                <a:ea typeface="Courier New" pitchFamily="34" charset="-122"/>
                <a:cs typeface="Courier New" pitchFamily="34" charset="-120"/>
              </a:rPr>
              <a:t>    values="taux_realisation",</a:t>
            </a:r>
            <a:endParaRPr lang="en-US" sz="1300" dirty="0"/>
          </a:p>
          <a:p>
            <a:pPr indent="0" marL="0">
              <a:lnSpc>
                <a:spcPct val="100000"/>
              </a:lnSpc>
              <a:buNone/>
            </a:pPr>
            <a:r>
              <a:rPr lang="en-US" sz="1300" dirty="0">
                <a:solidFill>
                  <a:srgbClr val="1F2933"/>
                </a:solidFill>
                <a:latin typeface="Courier New" pitchFamily="34" charset="0"/>
                <a:ea typeface="Courier New" pitchFamily="34" charset="-122"/>
                <a:cs typeface="Courier New" pitchFamily="34" charset="-120"/>
              </a:rPr>
              <a:t>)</a:t>
            </a:r>
            <a:endParaRPr lang="en-US" sz="1300" dirty="0"/>
          </a:p>
          <a:p>
            <a:pPr indent="0" marL="0">
              <a:lnSpc>
                <a:spcPct val="100000"/>
              </a:lnSpc>
              <a:buNone/>
            </a:pPr>
            <a:r>
              <a:rPr lang="en-US" sz="1300" dirty="0">
                <a:solidFill>
                  <a:srgbClr val="1F2933"/>
                </a:solidFill>
                <a:latin typeface="Courier New" pitchFamily="34" charset="0"/>
                <a:ea typeface="Courier New" pitchFamily="34" charset="-122"/>
                <a:cs typeface="Courier New" pitchFamily="34" charset="-120"/>
              </a:rPr>
              <a:t>sns.heatmap(taux, annot=True,</a:t>
            </a:r>
            <a:endParaRPr lang="en-US" sz="1300" dirty="0"/>
          </a:p>
          <a:p>
            <a:pPr indent="0" marL="0">
              <a:lnSpc>
                <a:spcPct val="100000"/>
              </a:lnSpc>
              <a:buNone/>
            </a:pPr>
            <a:r>
              <a:rPr lang="en-US" sz="1300" dirty="0">
                <a:solidFill>
                  <a:srgbClr val="1F2933"/>
                </a:solidFill>
                <a:latin typeface="Courier New" pitchFamily="34" charset="0"/>
                <a:ea typeface="Courier New" pitchFamily="34" charset="-122"/>
                <a:cs typeface="Courier New" pitchFamily="34" charset="-120"/>
              </a:rPr>
              <a:t>            fmt=".0%", cmap="RdBu",</a:t>
            </a:r>
            <a:endParaRPr lang="en-US" sz="1300" dirty="0"/>
          </a:p>
          <a:p>
            <a:pPr indent="0" marL="0">
              <a:lnSpc>
                <a:spcPct val="100000"/>
              </a:lnSpc>
              <a:buNone/>
            </a:pPr>
            <a:r>
              <a:rPr lang="en-US" sz="1300" dirty="0">
                <a:solidFill>
                  <a:srgbClr val="1F2933"/>
                </a:solidFill>
                <a:latin typeface="Courier New" pitchFamily="34" charset="0"/>
                <a:ea typeface="Courier New" pitchFamily="34" charset="-122"/>
                <a:cs typeface="Courier New" pitchFamily="34" charset="-120"/>
              </a:rPr>
              <a:t>            center=1, cbar=False,</a:t>
            </a:r>
            <a:endParaRPr lang="en-US" sz="1300" dirty="0"/>
          </a:p>
          <a:p>
            <a:pPr indent="0" marL="0">
              <a:lnSpc>
                <a:spcPct val="100000"/>
              </a:lnSpc>
              <a:buNone/>
            </a:pPr>
            <a:r>
              <a:rPr lang="en-US" sz="1300" dirty="0">
                <a:solidFill>
                  <a:srgbClr val="1F2933"/>
                </a:solidFill>
                <a:latin typeface="Courier New" pitchFamily="34" charset="0"/>
                <a:ea typeface="Courier New" pitchFamily="34" charset="-122"/>
                <a:cs typeface="Courier New" pitchFamily="34" charset="-120"/>
              </a:rPr>
              <a:t>            ax=ax)</a:t>
            </a:r>
            <a:endParaRPr lang="en-US" sz="1300" dirty="0"/>
          </a:p>
        </p:txBody>
      </p:sp>
      <p:pic>
        <p:nvPicPr>
          <p:cNvPr id="8" name="Image 0" descr="Heatmap du taux de réalisation de l'objectif par région et par mois">    </p:cNvPr>
          <p:cNvPicPr>
            <a:picLocks noChangeAspect="1"/>
          </p:cNvPicPr>
          <p:nvPr/>
        </p:nvPicPr>
        <p:blipFill>
          <a:blip r:embed="rId1"/>
          <a:stretch>
            <a:fillRect/>
          </a:stretch>
        </p:blipFill>
        <p:spPr>
          <a:xfrm>
            <a:off x="4873918" y="1417320"/>
            <a:ext cx="6769137" cy="2975445"/>
          </a:xfrm>
          <a:prstGeom prst="rect">
            <a:avLst/>
          </a:prstGeom>
        </p:spPr>
      </p:pic>
      <p:sp>
        <p:nvSpPr>
          <p:cNvPr id="9" name="Text 6"/>
          <p:cNvSpPr txBox="1"/>
          <p:nvPr/>
        </p:nvSpPr>
        <p:spPr>
          <a:xfrm>
            <a:off x="4873918" y="4712805"/>
            <a:ext cx="6769137" cy="1209040"/>
          </a:xfrm>
          <a:prstGeom prst="rect">
            <a:avLst/>
          </a:prstGeom>
          <a:noFill/>
          <a:ln/>
        </p:spPr>
        <p:txBody>
          <a:bodyPr wrap="square" lIns="0" tIns="0" rIns="0" bIns="0" rtlCol="0" anchor="t"/>
          <a:lstStyle/>
          <a:p>
            <a:pPr marL="254000" indent="-254000">
              <a:spcAft>
                <a:spcPts val="800"/>
              </a:spcAft>
              <a:buSzPct val="100000"/>
              <a:buChar char="•"/>
            </a:pPr>
            <a:r>
              <a:rPr lang="en-US" sz="1500" dirty="0">
                <a:solidFill>
                  <a:srgbClr val="1F3A5F"/>
                </a:solidFill>
                <a:latin typeface="Courier New" pitchFamily="34" charset="0"/>
                <a:ea typeface="Courier New" pitchFamily="34" charset="-122"/>
                <a:cs typeface="Courier New" pitchFamily="34" charset="-120"/>
              </a:rPr>
              <a:t>center=1</a:t>
            </a:r>
            <a:pPr indent="0" marL="0">
              <a:buNone/>
            </a:pPr>
            <a:r>
              <a:rPr lang="en-US" sz="1500" dirty="0">
                <a:solidFill>
                  <a:srgbClr val="1F2933"/>
                </a:solidFill>
                <a:latin typeface="Calibri" pitchFamily="34" charset="0"/>
                <a:ea typeface="Calibri" pitchFamily="34" charset="-122"/>
                <a:cs typeface="Calibri" pitchFamily="34" charset="-120"/>
              </a:rPr>
              <a:t> place la couleur neutre sur 100 % : en rouge sous l'objectif, en bleu au-dessus</a:t>
            </a:r>
            <a:endParaRPr lang="en-US" sz="1500" dirty="0"/>
          </a:p>
          <a:p>
            <a:pPr marL="254000" indent="-254000">
              <a:spcAft>
                <a:spcPts val="800"/>
              </a:spcAft>
              <a:buSzPct val="100000"/>
              <a:buChar char="•"/>
            </a:pPr>
            <a:r>
              <a:rPr lang="en-US" sz="1500" dirty="0">
                <a:solidFill>
                  <a:srgbClr val="1F3A5F"/>
                </a:solidFill>
                <a:latin typeface="Courier New" pitchFamily="34" charset="0"/>
                <a:ea typeface="Courier New" pitchFamily="34" charset="-122"/>
                <a:cs typeface="Courier New" pitchFamily="34" charset="-120"/>
              </a:rPr>
              <a:t>cbar=False</a:t>
            </a:r>
            <a:pPr indent="0" marL="0">
              <a:buNone/>
            </a:pPr>
            <a:r>
              <a:rPr lang="en-US" sz="1500" dirty="0">
                <a:solidFill>
                  <a:srgbClr val="1F2933"/>
                </a:solidFill>
                <a:latin typeface="Calibri" pitchFamily="34" charset="0"/>
                <a:ea typeface="Calibri" pitchFamily="34" charset="-122"/>
                <a:cs typeface="Calibri" pitchFamily="34" charset="-120"/>
              </a:rPr>
              <a:t> retire la barre de couleur, inutile quand les valeurs sont écrites</a:t>
            </a:r>
            <a:endParaRPr lang="en-US" sz="1500" dirty="0"/>
          </a:p>
        </p:txBody>
      </p:sp>
      <p:sp>
        <p:nvSpPr>
          <p:cNvPr id="10" name="Text 7"/>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Analyse de données avec Python   |   Jour 2, après-midi</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66928"/>
            <a:ext cx="475488" cy="475488"/>
          </a:xfrm>
          <a:prstGeom prst="ellipse">
            <a:avLst/>
          </a:prstGeom>
          <a:solidFill>
            <a:srgbClr val="2F7D62"/>
          </a:solidFill>
          <a:ln/>
        </p:spPr>
      </p:sp>
      <p:sp>
        <p:nvSpPr>
          <p:cNvPr id="3" name="Text 1"/>
          <p:cNvSpPr txBox="1"/>
          <p:nvPr/>
        </p:nvSpPr>
        <p:spPr>
          <a:xfrm>
            <a:off x="548640" y="566928"/>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4" name="Text 2"/>
          <p:cNvSpPr txBox="1"/>
          <p:nvPr/>
        </p:nvSpPr>
        <p:spPr>
          <a:xfrm>
            <a:off x="1280160" y="164592"/>
            <a:ext cx="10362895" cy="274320"/>
          </a:xfrm>
          <a:prstGeom prst="rect">
            <a:avLst/>
          </a:prstGeom>
          <a:noFill/>
          <a:ln/>
        </p:spPr>
        <p:txBody>
          <a:bodyPr wrap="square" lIns="0" tIns="0" rIns="0" bIns="0" rtlCol="0" anchor="ctr"/>
          <a:lstStyle/>
          <a:p>
            <a:pPr indent="0" marL="0">
              <a:buNone/>
            </a:pPr>
            <a:r>
              <a:rPr lang="en-US" sz="1200" b="1" spc="200" kern="0" dirty="0">
                <a:solidFill>
                  <a:srgbClr val="2F7D62"/>
                </a:solidFill>
                <a:latin typeface="Calibri" pitchFamily="34" charset="0"/>
                <a:ea typeface="Calibri" pitchFamily="34" charset="-122"/>
                <a:cs typeface="Calibri" pitchFamily="34" charset="-120"/>
              </a:rPr>
              <a:t>SEABORN</a:t>
            </a:r>
            <a:endParaRPr lang="en-US" sz="1200" dirty="0"/>
          </a:p>
        </p:txBody>
      </p:sp>
      <p:sp>
        <p:nvSpPr>
          <p:cNvPr id="5" name="Text 3"/>
          <p:cNvSpPr txBox="1"/>
          <p:nvPr/>
        </p:nvSpPr>
        <p:spPr>
          <a:xfrm>
            <a:off x="1280160" y="457200"/>
            <a:ext cx="10362895" cy="694944"/>
          </a:xfrm>
          <a:prstGeom prst="rect">
            <a:avLst/>
          </a:prstGeom>
          <a:noFill/>
          <a:ln/>
        </p:spPr>
        <p:txBody>
          <a:bodyPr wrap="square" lIns="0" tIns="0" rIns="0" bIns="0" rtlCol="0" anchor="ctr"/>
          <a:lstStyle/>
          <a:p>
            <a:pPr indent="0" marL="0">
              <a:buNone/>
            </a:pPr>
            <a:r>
              <a:rPr lang="en-US" sz="3000" b="1" dirty="0">
                <a:solidFill>
                  <a:srgbClr val="1F3A5F"/>
                </a:solidFill>
                <a:latin typeface="Cambria" pitchFamily="34" charset="0"/>
                <a:ea typeface="Cambria" pitchFamily="34" charset="-122"/>
                <a:cs typeface="Cambria" pitchFamily="34" charset="-120"/>
              </a:rPr>
              <a:t>La matrice de corrélation</a:t>
            </a:r>
            <a:endParaRPr lang="en-US" sz="3000" dirty="0"/>
          </a:p>
        </p:txBody>
      </p:sp>
      <p:sp>
        <p:nvSpPr>
          <p:cNvPr id="6" name="Shape 4"/>
          <p:cNvSpPr/>
          <p:nvPr/>
        </p:nvSpPr>
        <p:spPr>
          <a:xfrm>
            <a:off x="548640" y="1417320"/>
            <a:ext cx="5802117" cy="1551432"/>
          </a:xfrm>
          <a:prstGeom prst="rect">
            <a:avLst/>
          </a:prstGeom>
          <a:solidFill>
            <a:srgbClr val="F3F4F6"/>
          </a:solidFill>
          <a:ln/>
        </p:spPr>
      </p:sp>
      <p:sp>
        <p:nvSpPr>
          <p:cNvPr id="7" name="Text 5"/>
          <p:cNvSpPr txBox="1"/>
          <p:nvPr/>
        </p:nvSpPr>
        <p:spPr>
          <a:xfrm>
            <a:off x="731520" y="1563624"/>
            <a:ext cx="5436357" cy="1258824"/>
          </a:xfrm>
          <a:prstGeom prst="rect">
            <a:avLst/>
          </a:prstGeom>
          <a:noFill/>
          <a:ln/>
        </p:spPr>
        <p:txBody>
          <a:bodyPr wrap="square" lIns="0" tIns="0" rIns="0" bIns="0" rtlCol="0" anchor="t"/>
          <a:lstStyle/>
          <a:p>
            <a:pPr indent="0" marL="0">
              <a:lnSpc>
                <a:spcPct val="100000"/>
              </a:lnSpc>
              <a:buNone/>
            </a:pPr>
            <a:r>
              <a:rPr lang="en-US" sz="1400" dirty="0">
                <a:solidFill>
                  <a:srgbClr val="1F2933"/>
                </a:solidFill>
                <a:latin typeface="Courier New" pitchFamily="34" charset="0"/>
                <a:ea typeface="Courier New" pitchFamily="34" charset="-122"/>
                <a:cs typeface="Courier New" pitchFamily="34" charset="-120"/>
              </a:rPr>
              <a:t>colonnes = ["ca", "nb_commandes", "panier_moyen",</a:t>
            </a:r>
            <a:endParaRPr lang="en-US" sz="1400" dirty="0"/>
          </a:p>
          <a:p>
            <a:pPr indent="0" marL="0">
              <a:lnSpc>
                <a:spcPct val="100000"/>
              </a:lnSpc>
              <a:buNone/>
            </a:pPr>
            <a:r>
              <a:rPr lang="en-US" sz="1400" dirty="0">
                <a:solidFill>
                  <a:srgbClr val="1F2933"/>
                </a:solidFill>
                <a:latin typeface="Courier New" pitchFamily="34" charset="0"/>
                <a:ea typeface="Courier New" pitchFamily="34" charset="-122"/>
                <a:cs typeface="Courier New" pitchFamily="34" charset="-120"/>
              </a:rPr>
              <a:t>            "quantite", "taux_realisation"]</a:t>
            </a:r>
            <a:endParaRPr lang="en-US" sz="1400" dirty="0"/>
          </a:p>
          <a:p>
            <a:pPr indent="0" marL="0">
              <a:lnSpc>
                <a:spcPct val="100000"/>
              </a:lnSpc>
              <a:buNone/>
            </a:pPr>
            <a:r>
              <a:rPr lang="en-US" sz="1400" dirty="0">
                <a:solidFill>
                  <a:srgbClr val="1F2933"/>
                </a:solidFill>
                <a:latin typeface="Courier New" pitchFamily="34" charset="0"/>
                <a:ea typeface="Courier New" pitchFamily="34" charset="-122"/>
                <a:cs typeface="Courier New" pitchFamily="34" charset="-120"/>
              </a:rPr>
              <a:t>correlations = indicateurs[colonnes].corr()</a:t>
            </a:r>
            <a:endParaRPr lang="en-US" sz="1400" dirty="0"/>
          </a:p>
          <a:p>
            <a:pPr indent="0" marL="0">
              <a:lnSpc>
                <a:spcPct val="100000"/>
              </a:lnSpc>
              <a:buNone/>
            </a:pPr>
            <a:r>
              <a:rPr lang="en-US" sz="1400" dirty="0">
                <a:solidFill>
                  <a:srgbClr val="1F2933"/>
                </a:solidFill>
                <a:latin typeface="Courier New" pitchFamily="34" charset="0"/>
                <a:ea typeface="Courier New" pitchFamily="34" charset="-122"/>
                <a:cs typeface="Courier New" pitchFamily="34" charset="-120"/>
              </a:rPr>
              <a:t> </a:t>
            </a:r>
            <a:endParaRPr lang="en-US" sz="1400" dirty="0"/>
          </a:p>
          <a:p>
            <a:pPr indent="0" marL="0">
              <a:lnSpc>
                <a:spcPct val="100000"/>
              </a:lnSpc>
              <a:buNone/>
            </a:pPr>
            <a:r>
              <a:rPr lang="en-US" sz="1400" dirty="0">
                <a:solidFill>
                  <a:srgbClr val="1F2933"/>
                </a:solidFill>
                <a:latin typeface="Courier New" pitchFamily="34" charset="0"/>
                <a:ea typeface="Courier New" pitchFamily="34" charset="-122"/>
                <a:cs typeface="Courier New" pitchFamily="34" charset="-120"/>
              </a:rPr>
              <a:t>sns.heatmap(correlations, annot=True, fmt=".2f",</a:t>
            </a:r>
            <a:endParaRPr lang="en-US" sz="1400" dirty="0"/>
          </a:p>
          <a:p>
            <a:pPr indent="0" marL="0">
              <a:lnSpc>
                <a:spcPct val="100000"/>
              </a:lnSpc>
              <a:buNone/>
            </a:pPr>
            <a:r>
              <a:rPr lang="en-US" sz="1400" dirty="0">
                <a:solidFill>
                  <a:srgbClr val="1F2933"/>
                </a:solidFill>
                <a:latin typeface="Courier New" pitchFamily="34" charset="0"/>
                <a:ea typeface="Courier New" pitchFamily="34" charset="-122"/>
                <a:cs typeface="Courier New" pitchFamily="34" charset="-120"/>
              </a:rPr>
              <a:t>            cmap="RdBu", vmin=-1, vmax=1, ax=ax)</a:t>
            </a:r>
            <a:endParaRPr lang="en-US" sz="1400" dirty="0"/>
          </a:p>
        </p:txBody>
      </p:sp>
      <p:sp>
        <p:nvSpPr>
          <p:cNvPr id="8" name="Text 6"/>
          <p:cNvSpPr txBox="1"/>
          <p:nvPr/>
        </p:nvSpPr>
        <p:spPr>
          <a:xfrm>
            <a:off x="548640" y="3288792"/>
            <a:ext cx="5802117" cy="1859280"/>
          </a:xfrm>
          <a:prstGeom prst="rect">
            <a:avLst/>
          </a:prstGeom>
          <a:noFill/>
          <a:ln/>
        </p:spPr>
        <p:txBody>
          <a:bodyPr wrap="square" lIns="0" tIns="0" rIns="0" bIns="0" rtlCol="0" anchor="t"/>
          <a:lstStyle/>
          <a:p>
            <a:pPr marL="254000" indent="-254000">
              <a:spcAft>
                <a:spcPts val="800"/>
              </a:spcAft>
              <a:buSzPct val="100000"/>
              <a:buChar char="•"/>
            </a:pPr>
            <a:r>
              <a:rPr lang="en-US" sz="1600" dirty="0">
                <a:solidFill>
                  <a:srgbClr val="1F2933"/>
                </a:solidFill>
                <a:latin typeface="Calibri" pitchFamily="34" charset="0"/>
                <a:ea typeface="Calibri" pitchFamily="34" charset="-122"/>
                <a:cs typeface="Calibri" pitchFamily="34" charset="-120"/>
              </a:rPr>
              <a:t>Le coefficient mesure à quel point deux colonnes varient ensemble, de façon linéaire</a:t>
            </a:r>
            <a:endParaRPr lang="en-US" sz="1600" dirty="0"/>
          </a:p>
          <a:p>
            <a:pPr marL="254000" indent="-254000">
              <a:spcAft>
                <a:spcPts val="800"/>
              </a:spcAft>
              <a:buSzPct val="100000"/>
              <a:buChar char="•"/>
            </a:pPr>
            <a:r>
              <a:rPr lang="en-US" sz="1600" b="1" dirty="0">
                <a:solidFill>
                  <a:srgbClr val="1F2933"/>
                </a:solidFill>
                <a:latin typeface="Calibri" pitchFamily="34" charset="0"/>
                <a:ea typeface="Calibri" pitchFamily="34" charset="-122"/>
                <a:cs typeface="Calibri" pitchFamily="34" charset="-120"/>
              </a:rPr>
              <a:t>1</a:t>
            </a:r>
            <a:pPr indent="0" marL="0">
              <a:buNone/>
            </a:pPr>
            <a:r>
              <a:rPr lang="en-US" sz="1600" dirty="0">
                <a:solidFill>
                  <a:srgbClr val="1F2933"/>
                </a:solidFill>
                <a:latin typeface="Calibri" pitchFamily="34" charset="0"/>
                <a:ea typeface="Calibri" pitchFamily="34" charset="-122"/>
                <a:cs typeface="Calibri" pitchFamily="34" charset="-120"/>
              </a:rPr>
              <a:t> : elles augmentent ensemble ; </a:t>
            </a:r>
            <a:pPr indent="0" marL="0">
              <a:buNone/>
            </a:pPr>
            <a:r>
              <a:rPr lang="en-US" sz="1600" b="1" dirty="0">
                <a:solidFill>
                  <a:srgbClr val="1F2933"/>
                </a:solidFill>
                <a:latin typeface="Calibri" pitchFamily="34" charset="0"/>
                <a:ea typeface="Calibri" pitchFamily="34" charset="-122"/>
                <a:cs typeface="Calibri" pitchFamily="34" charset="-120"/>
              </a:rPr>
              <a:t>-1</a:t>
            </a:r>
            <a:pPr indent="0" marL="0">
              <a:buNone/>
            </a:pPr>
            <a:r>
              <a:rPr lang="en-US" sz="1600" dirty="0">
                <a:solidFill>
                  <a:srgbClr val="1F2933"/>
                </a:solidFill>
                <a:latin typeface="Calibri" pitchFamily="34" charset="0"/>
                <a:ea typeface="Calibri" pitchFamily="34" charset="-122"/>
                <a:cs typeface="Calibri" pitchFamily="34" charset="-120"/>
              </a:rPr>
              <a:t> : l'une baisse quand l'autre monte ; </a:t>
            </a:r>
            <a:pPr indent="0" marL="0">
              <a:buNone/>
            </a:pPr>
            <a:r>
              <a:rPr lang="en-US" sz="1600" b="1" dirty="0">
                <a:solidFill>
                  <a:srgbClr val="1F2933"/>
                </a:solidFill>
                <a:latin typeface="Calibri" pitchFamily="34" charset="0"/>
                <a:ea typeface="Calibri" pitchFamily="34" charset="-122"/>
                <a:cs typeface="Calibri" pitchFamily="34" charset="-120"/>
              </a:rPr>
              <a:t>0</a:t>
            </a:r>
            <a:pPr indent="0" marL="0">
              <a:buNone/>
            </a:pPr>
            <a:r>
              <a:rPr lang="en-US" sz="1600" dirty="0">
                <a:solidFill>
                  <a:srgbClr val="1F2933"/>
                </a:solidFill>
                <a:latin typeface="Calibri" pitchFamily="34" charset="0"/>
                <a:ea typeface="Calibri" pitchFamily="34" charset="-122"/>
                <a:cs typeface="Calibri" pitchFamily="34" charset="-120"/>
              </a:rPr>
              <a:t> : pas de lien linéaire</a:t>
            </a:r>
            <a:endParaRPr lang="en-US" sz="1600" dirty="0"/>
          </a:p>
          <a:p>
            <a:pPr marL="254000" indent="-254000">
              <a:spcAft>
                <a:spcPts val="800"/>
              </a:spcAft>
              <a:buSzPct val="100000"/>
              <a:buChar char="•"/>
            </a:pPr>
            <a:r>
              <a:rPr lang="en-US" sz="1600" dirty="0">
                <a:solidFill>
                  <a:srgbClr val="1F3A5F"/>
                </a:solidFill>
                <a:latin typeface="Courier New" pitchFamily="34" charset="0"/>
                <a:ea typeface="Courier New" pitchFamily="34" charset="-122"/>
                <a:cs typeface="Courier New" pitchFamily="34" charset="-120"/>
              </a:rPr>
              <a:t>vmin</a:t>
            </a:r>
            <a:pPr indent="0" marL="0">
              <a:buNone/>
            </a:pPr>
            <a:r>
              <a:rPr lang="en-US" sz="1600" dirty="0">
                <a:solidFill>
                  <a:srgbClr val="1F2933"/>
                </a:solidFill>
                <a:latin typeface="Calibri" pitchFamily="34" charset="0"/>
                <a:ea typeface="Calibri" pitchFamily="34" charset="-122"/>
                <a:cs typeface="Calibri" pitchFamily="34" charset="-120"/>
              </a:rPr>
              <a:t> et </a:t>
            </a:r>
            <a:pPr indent="0" marL="0">
              <a:buNone/>
            </a:pPr>
            <a:r>
              <a:rPr lang="en-US" sz="1600" dirty="0">
                <a:solidFill>
                  <a:srgbClr val="1F3A5F"/>
                </a:solidFill>
                <a:latin typeface="Courier New" pitchFamily="34" charset="0"/>
                <a:ea typeface="Courier New" pitchFamily="34" charset="-122"/>
                <a:cs typeface="Courier New" pitchFamily="34" charset="-120"/>
              </a:rPr>
              <a:t>vmax</a:t>
            </a:r>
            <a:pPr indent="0" marL="0">
              <a:buNone/>
            </a:pPr>
            <a:r>
              <a:rPr lang="en-US" sz="1600" dirty="0">
                <a:solidFill>
                  <a:srgbClr val="1F2933"/>
                </a:solidFill>
                <a:latin typeface="Calibri" pitchFamily="34" charset="0"/>
                <a:ea typeface="Calibri" pitchFamily="34" charset="-122"/>
                <a:cs typeface="Calibri" pitchFamily="34" charset="-120"/>
              </a:rPr>
              <a:t> : la couleur garde le même sens d'un tableau à l'autre</a:t>
            </a:r>
            <a:endParaRPr lang="en-US" sz="1600" dirty="0"/>
          </a:p>
        </p:txBody>
      </p:sp>
      <p:sp>
        <p:nvSpPr>
          <p:cNvPr id="9" name="Shape 7"/>
          <p:cNvSpPr/>
          <p:nvPr/>
        </p:nvSpPr>
        <p:spPr>
          <a:xfrm>
            <a:off x="548640" y="5468112"/>
            <a:ext cx="5802117" cy="594360"/>
          </a:xfrm>
          <a:prstGeom prst="roundRect">
            <a:avLst>
              <a:gd name="adj" fmla="val 9231"/>
            </a:avLst>
          </a:prstGeom>
          <a:solidFill>
            <a:srgbClr val="E8F3EE"/>
          </a:solidFill>
          <a:ln/>
        </p:spPr>
      </p:sp>
      <p:sp>
        <p:nvSpPr>
          <p:cNvPr id="10" name="Text 8"/>
          <p:cNvSpPr txBox="1"/>
          <p:nvPr/>
        </p:nvSpPr>
        <p:spPr>
          <a:xfrm>
            <a:off x="822960" y="5468112"/>
            <a:ext cx="5253477" cy="594360"/>
          </a:xfrm>
          <a:prstGeom prst="rect">
            <a:avLst/>
          </a:prstGeom>
          <a:noFill/>
          <a:ln/>
        </p:spPr>
        <p:txBody>
          <a:bodyPr wrap="square" lIns="0" tIns="0" rIns="0" bIns="0" rtlCol="0" anchor="ctr"/>
          <a:lstStyle/>
          <a:p>
            <a:pPr indent="0" marL="0">
              <a:buNone/>
            </a:pPr>
            <a:r>
              <a:rPr lang="en-US" sz="1500" dirty="0">
                <a:solidFill>
                  <a:srgbClr val="1F3A5F"/>
                </a:solidFill>
                <a:latin typeface="Calibri" pitchFamily="34" charset="0"/>
                <a:ea typeface="Calibri" pitchFamily="34" charset="-122"/>
                <a:cs typeface="Calibri" pitchFamily="34" charset="-120"/>
              </a:rPr>
              <a:t>Une corrélation mesure une liaison, pas une cause.</a:t>
            </a:r>
            <a:endParaRPr lang="en-US" sz="1500" dirty="0"/>
          </a:p>
        </p:txBody>
      </p:sp>
      <p:pic>
        <p:nvPicPr>
          <p:cNvPr id="11" name="Image 0" descr="Matrice des corrélations entre les indicateurs mensuels, annotée avec deux décimales">    </p:cNvPr>
          <p:cNvPicPr>
            <a:picLocks noChangeAspect="1"/>
          </p:cNvPicPr>
          <p:nvPr/>
        </p:nvPicPr>
        <p:blipFill>
          <a:blip r:embed="rId1"/>
          <a:stretch>
            <a:fillRect/>
          </a:stretch>
        </p:blipFill>
        <p:spPr>
          <a:xfrm>
            <a:off x="7245465" y="1417320"/>
            <a:ext cx="3960084" cy="3291840"/>
          </a:xfrm>
          <a:prstGeom prst="rect">
            <a:avLst/>
          </a:prstGeom>
        </p:spPr>
      </p:pic>
      <p:sp>
        <p:nvSpPr>
          <p:cNvPr id="12" name="Text 9"/>
          <p:cNvSpPr txBox="1"/>
          <p:nvPr/>
        </p:nvSpPr>
        <p:spPr>
          <a:xfrm>
            <a:off x="6807957" y="5029200"/>
            <a:ext cx="4835098" cy="594360"/>
          </a:xfrm>
          <a:prstGeom prst="rect">
            <a:avLst/>
          </a:prstGeom>
          <a:noFill/>
          <a:ln/>
        </p:spPr>
        <p:txBody>
          <a:bodyPr wrap="square" lIns="0" tIns="0" rIns="0" bIns="0" rtlCol="0" anchor="t"/>
          <a:lstStyle/>
          <a:p>
            <a:pPr indent="0" marL="0">
              <a:buNone/>
            </a:pPr>
            <a:r>
              <a:rPr lang="en-US" sz="1500" dirty="0">
                <a:solidFill>
                  <a:srgbClr val="6B7280"/>
                </a:solidFill>
                <a:latin typeface="Calibri" pitchFamily="34" charset="0"/>
                <a:ea typeface="Calibri" pitchFamily="34" charset="-122"/>
                <a:cs typeface="Calibri" pitchFamily="34" charset="-120"/>
              </a:rPr>
              <a:t>Chiffre d'affaires et commandes : 0,92. Panier moyen et commandes : -0,02.</a:t>
            </a:r>
            <a:endParaRPr lang="en-US" sz="1500" dirty="0"/>
          </a:p>
        </p:txBody>
      </p:sp>
      <p:sp>
        <p:nvSpPr>
          <p:cNvPr id="13" name="Text 10"/>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Analyse de données avec Python   |   Jour 2, après-midi</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66928"/>
            <a:ext cx="475488" cy="475488"/>
          </a:xfrm>
          <a:prstGeom prst="ellipse">
            <a:avLst/>
          </a:prstGeom>
          <a:solidFill>
            <a:srgbClr val="2F7D62"/>
          </a:solidFill>
          <a:ln/>
        </p:spPr>
      </p:sp>
      <p:sp>
        <p:nvSpPr>
          <p:cNvPr id="3" name="Text 1"/>
          <p:cNvSpPr txBox="1"/>
          <p:nvPr/>
        </p:nvSpPr>
        <p:spPr>
          <a:xfrm>
            <a:off x="548640" y="566928"/>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4" name="Text 2"/>
          <p:cNvSpPr txBox="1"/>
          <p:nvPr/>
        </p:nvSpPr>
        <p:spPr>
          <a:xfrm>
            <a:off x="1280160" y="164592"/>
            <a:ext cx="10362895" cy="274320"/>
          </a:xfrm>
          <a:prstGeom prst="rect">
            <a:avLst/>
          </a:prstGeom>
          <a:noFill/>
          <a:ln/>
        </p:spPr>
        <p:txBody>
          <a:bodyPr wrap="square" lIns="0" tIns="0" rIns="0" bIns="0" rtlCol="0" anchor="ctr"/>
          <a:lstStyle/>
          <a:p>
            <a:pPr indent="0" marL="0">
              <a:buNone/>
            </a:pPr>
            <a:r>
              <a:rPr lang="en-US" sz="1200" b="1" spc="200" kern="0" dirty="0">
                <a:solidFill>
                  <a:srgbClr val="2F7D62"/>
                </a:solidFill>
                <a:latin typeface="Calibri" pitchFamily="34" charset="0"/>
                <a:ea typeface="Calibri" pitchFamily="34" charset="-122"/>
                <a:cs typeface="Calibri" pitchFamily="34" charset="-120"/>
              </a:rPr>
              <a:t>SEABORN</a:t>
            </a:r>
            <a:endParaRPr lang="en-US" sz="1200" dirty="0"/>
          </a:p>
        </p:txBody>
      </p:sp>
      <p:sp>
        <p:nvSpPr>
          <p:cNvPr id="5" name="Text 3"/>
          <p:cNvSpPr txBox="1"/>
          <p:nvPr/>
        </p:nvSpPr>
        <p:spPr>
          <a:xfrm>
            <a:off x="1280160" y="457200"/>
            <a:ext cx="10362895" cy="694944"/>
          </a:xfrm>
          <a:prstGeom prst="rect">
            <a:avLst/>
          </a:prstGeom>
          <a:noFill/>
          <a:ln/>
        </p:spPr>
        <p:txBody>
          <a:bodyPr wrap="square" lIns="0" tIns="0" rIns="0" bIns="0" rtlCol="0" anchor="ctr"/>
          <a:lstStyle/>
          <a:p>
            <a:pPr indent="0" marL="0">
              <a:buNone/>
            </a:pPr>
            <a:r>
              <a:rPr lang="en-US" sz="3000" b="1" dirty="0">
                <a:solidFill>
                  <a:srgbClr val="1F3A5F"/>
                </a:solidFill>
                <a:latin typeface="Cambria" pitchFamily="34" charset="0"/>
                <a:ea typeface="Cambria" pitchFamily="34" charset="-122"/>
                <a:cs typeface="Cambria" pitchFamily="34" charset="-120"/>
              </a:rPr>
              <a:t>Un graphique par groupe</a:t>
            </a:r>
            <a:endParaRPr lang="en-US" sz="3000" dirty="0"/>
          </a:p>
        </p:txBody>
      </p:sp>
      <p:pic>
        <p:nvPicPr>
          <p:cNvPr id="6" name="Image 0" descr="Six courbes superposées, difficiles à distinguer">    </p:cNvPr>
          <p:cNvPicPr>
            <a:picLocks noChangeAspect="1"/>
          </p:cNvPicPr>
          <p:nvPr/>
        </p:nvPicPr>
        <p:blipFill>
          <a:blip r:embed="rId1"/>
          <a:stretch>
            <a:fillRect/>
          </a:stretch>
        </p:blipFill>
        <p:spPr>
          <a:xfrm>
            <a:off x="554937" y="1417320"/>
            <a:ext cx="5789524" cy="2468880"/>
          </a:xfrm>
          <a:prstGeom prst="rect">
            <a:avLst/>
          </a:prstGeom>
        </p:spPr>
      </p:pic>
      <p:sp>
        <p:nvSpPr>
          <p:cNvPr id="7" name="Text 4"/>
          <p:cNvSpPr txBox="1"/>
          <p:nvPr/>
        </p:nvSpPr>
        <p:spPr>
          <a:xfrm>
            <a:off x="548640" y="4206240"/>
            <a:ext cx="5802117" cy="594360"/>
          </a:xfrm>
          <a:prstGeom prst="rect">
            <a:avLst/>
          </a:prstGeom>
          <a:noFill/>
          <a:ln/>
        </p:spPr>
        <p:txBody>
          <a:bodyPr wrap="square" lIns="0" tIns="0" rIns="0" bIns="0" rtlCol="0" anchor="t"/>
          <a:lstStyle/>
          <a:p>
            <a:pPr indent="0" marL="0">
              <a:buNone/>
            </a:pPr>
            <a:r>
              <a:rPr lang="en-US" sz="1500" dirty="0">
                <a:solidFill>
                  <a:srgbClr val="6B7280"/>
                </a:solidFill>
                <a:latin typeface="Calibri" pitchFamily="34" charset="0"/>
                <a:ea typeface="Calibri" pitchFamily="34" charset="-122"/>
                <a:cs typeface="Calibri" pitchFamily="34" charset="-120"/>
              </a:rPr>
              <a:t>Six courbes superposées, un « plat de spaghettis » : on ne suit aucune région.</a:t>
            </a:r>
            <a:endParaRPr lang="en-US" sz="1500" dirty="0"/>
          </a:p>
        </p:txBody>
      </p:sp>
      <p:sp>
        <p:nvSpPr>
          <p:cNvPr id="8" name="Shape 5"/>
          <p:cNvSpPr/>
          <p:nvPr/>
        </p:nvSpPr>
        <p:spPr>
          <a:xfrm>
            <a:off x="6807957" y="1417320"/>
            <a:ext cx="4835098" cy="1191768"/>
          </a:xfrm>
          <a:prstGeom prst="rect">
            <a:avLst/>
          </a:prstGeom>
          <a:solidFill>
            <a:srgbClr val="F3F4F6"/>
          </a:solidFill>
          <a:ln/>
        </p:spPr>
      </p:sp>
      <p:sp>
        <p:nvSpPr>
          <p:cNvPr id="9" name="Text 6"/>
          <p:cNvSpPr txBox="1"/>
          <p:nvPr/>
        </p:nvSpPr>
        <p:spPr>
          <a:xfrm>
            <a:off x="6990837" y="1563624"/>
            <a:ext cx="4469338" cy="899160"/>
          </a:xfrm>
          <a:prstGeom prst="rect">
            <a:avLst/>
          </a:prstGeom>
          <a:noFill/>
          <a:ln/>
        </p:spPr>
        <p:txBody>
          <a:bodyPr wrap="square" lIns="0" tIns="0" rIns="0" bIns="0" rtlCol="0" anchor="t"/>
          <a:lstStyle/>
          <a:p>
            <a:pPr indent="0" marL="0">
              <a:lnSpc>
                <a:spcPct val="100000"/>
              </a:lnSpc>
              <a:buNone/>
            </a:pPr>
            <a:r>
              <a:rPr lang="en-US" sz="1500" dirty="0">
                <a:solidFill>
                  <a:srgbClr val="1F2933"/>
                </a:solidFill>
                <a:latin typeface="Courier New" pitchFamily="34" charset="0"/>
                <a:ea typeface="Courier New" pitchFamily="34" charset="-122"/>
                <a:cs typeface="Courier New" pitchFamily="34" charset="-120"/>
              </a:rPr>
              <a:t>sns.relplot(data=indicateurs,</a:t>
            </a:r>
            <a:endParaRPr lang="en-US" sz="1500" dirty="0"/>
          </a:p>
          <a:p>
            <a:pPr indent="0" marL="0">
              <a:lnSpc>
                <a:spcPct val="100000"/>
              </a:lnSpc>
              <a:buNone/>
            </a:pPr>
            <a:r>
              <a:rPr lang="en-US" sz="1500" dirty="0">
                <a:solidFill>
                  <a:srgbClr val="1F2933"/>
                </a:solidFill>
                <a:latin typeface="Courier New" pitchFamily="34" charset="0"/>
                <a:ea typeface="Courier New" pitchFamily="34" charset="-122"/>
                <a:cs typeface="Courier New" pitchFamily="34" charset="-120"/>
              </a:rPr>
              <a:t>            x="mois", y="ca",</a:t>
            </a:r>
            <a:endParaRPr lang="en-US" sz="1500" dirty="0"/>
          </a:p>
          <a:p>
            <a:pPr indent="0" marL="0">
              <a:lnSpc>
                <a:spcPct val="100000"/>
              </a:lnSpc>
              <a:buNone/>
            </a:pPr>
            <a:r>
              <a:rPr lang="en-US" sz="1500" dirty="0">
                <a:solidFill>
                  <a:srgbClr val="1F2933"/>
                </a:solidFill>
                <a:latin typeface="Courier New" pitchFamily="34" charset="0"/>
                <a:ea typeface="Courier New" pitchFamily="34" charset="-122"/>
                <a:cs typeface="Courier New" pitchFamily="34" charset="-120"/>
              </a:rPr>
              <a:t>            col="region", col_wrap=3,</a:t>
            </a:r>
            <a:endParaRPr lang="en-US" sz="1500" dirty="0"/>
          </a:p>
          <a:p>
            <a:pPr indent="0" marL="0">
              <a:lnSpc>
                <a:spcPct val="100000"/>
              </a:lnSpc>
              <a:buNone/>
            </a:pPr>
            <a:r>
              <a:rPr lang="en-US" sz="1500" dirty="0">
                <a:solidFill>
                  <a:srgbClr val="1F2933"/>
                </a:solidFill>
                <a:latin typeface="Courier New" pitchFamily="34" charset="0"/>
                <a:ea typeface="Courier New" pitchFamily="34" charset="-122"/>
                <a:cs typeface="Courier New" pitchFamily="34" charset="-120"/>
              </a:rPr>
              <a:t>            kind="line")</a:t>
            </a:r>
            <a:endParaRPr lang="en-US" sz="1500" dirty="0"/>
          </a:p>
        </p:txBody>
      </p:sp>
      <p:sp>
        <p:nvSpPr>
          <p:cNvPr id="10" name="Text 7"/>
          <p:cNvSpPr txBox="1"/>
          <p:nvPr/>
        </p:nvSpPr>
        <p:spPr>
          <a:xfrm>
            <a:off x="6807957" y="2929128"/>
            <a:ext cx="4835098" cy="1615440"/>
          </a:xfrm>
          <a:prstGeom prst="rect">
            <a:avLst/>
          </a:prstGeom>
          <a:noFill/>
          <a:ln/>
        </p:spPr>
        <p:txBody>
          <a:bodyPr wrap="square" lIns="0" tIns="0" rIns="0" bIns="0" rtlCol="0" anchor="t"/>
          <a:lstStyle/>
          <a:p>
            <a:pPr marL="254000" indent="-254000">
              <a:spcAft>
                <a:spcPts val="800"/>
              </a:spcAft>
              <a:buSzPct val="100000"/>
              <a:buChar char="•"/>
            </a:pPr>
            <a:r>
              <a:rPr lang="en-US" sz="1600" dirty="0">
                <a:solidFill>
                  <a:srgbClr val="1F3A5F"/>
                </a:solidFill>
                <a:latin typeface="Courier New" pitchFamily="34" charset="0"/>
                <a:ea typeface="Courier New" pitchFamily="34" charset="-122"/>
                <a:cs typeface="Courier New" pitchFamily="34" charset="-120"/>
              </a:rPr>
              <a:t>relplot</a:t>
            </a:r>
            <a:pPr indent="0" marL="0">
              <a:buNone/>
            </a:pPr>
            <a:r>
              <a:rPr lang="en-US" sz="1600" dirty="0">
                <a:solidFill>
                  <a:srgbClr val="1F2933"/>
                </a:solidFill>
                <a:latin typeface="Calibri" pitchFamily="34" charset="0"/>
                <a:ea typeface="Calibri" pitchFamily="34" charset="-122"/>
                <a:cs typeface="Calibri" pitchFamily="34" charset="-120"/>
              </a:rPr>
              <a:t>, </a:t>
            </a:r>
            <a:pPr indent="0" marL="0">
              <a:buNone/>
            </a:pPr>
            <a:r>
              <a:rPr lang="en-US" sz="1600" dirty="0">
                <a:solidFill>
                  <a:srgbClr val="1F3A5F"/>
                </a:solidFill>
                <a:latin typeface="Courier New" pitchFamily="34" charset="0"/>
                <a:ea typeface="Courier New" pitchFamily="34" charset="-122"/>
                <a:cs typeface="Courier New" pitchFamily="34" charset="-120"/>
              </a:rPr>
              <a:t>displot</a:t>
            </a:r>
            <a:pPr indent="0" marL="0">
              <a:buNone/>
            </a:pPr>
            <a:r>
              <a:rPr lang="en-US" sz="1600" dirty="0">
                <a:solidFill>
                  <a:srgbClr val="1F2933"/>
                </a:solidFill>
                <a:latin typeface="Calibri" pitchFamily="34" charset="0"/>
                <a:ea typeface="Calibri" pitchFamily="34" charset="-122"/>
                <a:cs typeface="Calibri" pitchFamily="34" charset="-120"/>
              </a:rPr>
              <a:t>, </a:t>
            </a:r>
            <a:pPr indent="0" marL="0">
              <a:buNone/>
            </a:pPr>
            <a:r>
              <a:rPr lang="en-US" sz="1600" dirty="0">
                <a:solidFill>
                  <a:srgbClr val="1F3A5F"/>
                </a:solidFill>
                <a:latin typeface="Courier New" pitchFamily="34" charset="0"/>
                <a:ea typeface="Courier New" pitchFamily="34" charset="-122"/>
                <a:cs typeface="Courier New" pitchFamily="34" charset="-120"/>
              </a:rPr>
              <a:t>catplot</a:t>
            </a:r>
            <a:pPr indent="0" marL="0">
              <a:buNone/>
            </a:pPr>
            <a:r>
              <a:rPr lang="en-US" sz="1600" dirty="0">
                <a:solidFill>
                  <a:srgbClr val="1F2933"/>
                </a:solidFill>
                <a:latin typeface="Calibri" pitchFamily="34" charset="0"/>
                <a:ea typeface="Calibri" pitchFamily="34" charset="-122"/>
                <a:cs typeface="Calibri" pitchFamily="34" charset="-120"/>
              </a:rPr>
              <a:t> créent leur propre figure</a:t>
            </a:r>
            <a:endParaRPr lang="en-US" sz="1600" dirty="0"/>
          </a:p>
          <a:p>
            <a:pPr marL="254000" indent="-254000">
              <a:spcAft>
                <a:spcPts val="800"/>
              </a:spcAft>
              <a:buSzPct val="100000"/>
              <a:buChar char="•"/>
            </a:pPr>
            <a:r>
              <a:rPr lang="en-US" sz="1600" dirty="0">
                <a:solidFill>
                  <a:srgbClr val="1F3A5F"/>
                </a:solidFill>
                <a:latin typeface="Courier New" pitchFamily="34" charset="0"/>
                <a:ea typeface="Courier New" pitchFamily="34" charset="-122"/>
                <a:cs typeface="Courier New" pitchFamily="34" charset="-120"/>
              </a:rPr>
              <a:t>col</a:t>
            </a:r>
            <a:pPr indent="0" marL="0">
              <a:buNone/>
            </a:pPr>
            <a:r>
              <a:rPr lang="en-US" sz="1600" dirty="0">
                <a:solidFill>
                  <a:srgbClr val="1F2933"/>
                </a:solidFill>
                <a:latin typeface="Calibri" pitchFamily="34" charset="0"/>
                <a:ea typeface="Calibri" pitchFamily="34" charset="-122"/>
                <a:cs typeface="Calibri" pitchFamily="34" charset="-120"/>
              </a:rPr>
              <a:t> : un graphique par valeur, avec la même échelle</a:t>
            </a:r>
            <a:endParaRPr lang="en-US" sz="1600" dirty="0"/>
          </a:p>
          <a:p>
            <a:pPr marL="254000" indent="-254000">
              <a:spcAft>
                <a:spcPts val="800"/>
              </a:spcAft>
              <a:buSzPct val="100000"/>
              <a:buChar char="•"/>
            </a:pPr>
            <a:r>
              <a:rPr lang="en-US" sz="1600" dirty="0">
                <a:solidFill>
                  <a:srgbClr val="1F2933"/>
                </a:solidFill>
                <a:latin typeface="Calibri" pitchFamily="34" charset="0"/>
                <a:ea typeface="Calibri" pitchFamily="34" charset="-122"/>
                <a:cs typeface="Calibri" pitchFamily="34" charset="-120"/>
              </a:rPr>
              <a:t>On parle de </a:t>
            </a:r>
            <a:pPr indent="0" marL="0">
              <a:buNone/>
            </a:pPr>
            <a:r>
              <a:rPr lang="en-US" sz="1600" b="1" dirty="0">
                <a:solidFill>
                  <a:srgbClr val="1F2933"/>
                </a:solidFill>
                <a:latin typeface="Calibri" pitchFamily="34" charset="0"/>
                <a:ea typeface="Calibri" pitchFamily="34" charset="-122"/>
                <a:cs typeface="Calibri" pitchFamily="34" charset="-120"/>
              </a:rPr>
              <a:t>petits multiples</a:t>
            </a:r>
            <a:endParaRPr lang="en-US" sz="1600" dirty="0"/>
          </a:p>
        </p:txBody>
      </p:sp>
      <p:sp>
        <p:nvSpPr>
          <p:cNvPr id="11" name="Text 8"/>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Analyse de données avec Python   |   Jour 2, après-midi</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66928"/>
            <a:ext cx="475488" cy="475488"/>
          </a:xfrm>
          <a:prstGeom prst="ellipse">
            <a:avLst/>
          </a:prstGeom>
          <a:solidFill>
            <a:srgbClr val="2F7D62"/>
          </a:solidFill>
          <a:ln/>
        </p:spPr>
      </p:sp>
      <p:sp>
        <p:nvSpPr>
          <p:cNvPr id="3" name="Text 1"/>
          <p:cNvSpPr txBox="1"/>
          <p:nvPr/>
        </p:nvSpPr>
        <p:spPr>
          <a:xfrm>
            <a:off x="548640" y="566928"/>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4" name="Text 2"/>
          <p:cNvSpPr txBox="1"/>
          <p:nvPr/>
        </p:nvSpPr>
        <p:spPr>
          <a:xfrm>
            <a:off x="1280160" y="164592"/>
            <a:ext cx="10362895" cy="274320"/>
          </a:xfrm>
          <a:prstGeom prst="rect">
            <a:avLst/>
          </a:prstGeom>
          <a:noFill/>
          <a:ln/>
        </p:spPr>
        <p:txBody>
          <a:bodyPr wrap="square" lIns="0" tIns="0" rIns="0" bIns="0" rtlCol="0" anchor="ctr"/>
          <a:lstStyle/>
          <a:p>
            <a:pPr indent="0" marL="0">
              <a:buNone/>
            </a:pPr>
            <a:r>
              <a:rPr lang="en-US" sz="1200" b="1" spc="200" kern="0" dirty="0">
                <a:solidFill>
                  <a:srgbClr val="2F7D62"/>
                </a:solidFill>
                <a:latin typeface="Calibri" pitchFamily="34" charset="0"/>
                <a:ea typeface="Calibri" pitchFamily="34" charset="-122"/>
                <a:cs typeface="Calibri" pitchFamily="34" charset="-120"/>
              </a:rPr>
              <a:t>SEABORN</a:t>
            </a:r>
            <a:endParaRPr lang="en-US" sz="1200" dirty="0"/>
          </a:p>
        </p:txBody>
      </p:sp>
      <p:sp>
        <p:nvSpPr>
          <p:cNvPr id="5" name="Text 3"/>
          <p:cNvSpPr txBox="1"/>
          <p:nvPr/>
        </p:nvSpPr>
        <p:spPr>
          <a:xfrm>
            <a:off x="1280160" y="457200"/>
            <a:ext cx="10362895" cy="694944"/>
          </a:xfrm>
          <a:prstGeom prst="rect">
            <a:avLst/>
          </a:prstGeom>
          <a:noFill/>
          <a:ln/>
        </p:spPr>
        <p:txBody>
          <a:bodyPr wrap="square" lIns="0" tIns="0" rIns="0" bIns="0" rtlCol="0" anchor="ctr"/>
          <a:lstStyle/>
          <a:p>
            <a:pPr indent="0" marL="0">
              <a:buNone/>
            </a:pPr>
            <a:r>
              <a:rPr lang="en-US" sz="3000" b="1" dirty="0">
                <a:solidFill>
                  <a:srgbClr val="1F3A5F"/>
                </a:solidFill>
                <a:latin typeface="Cambria" pitchFamily="34" charset="0"/>
                <a:ea typeface="Cambria" pitchFamily="34" charset="-122"/>
                <a:cs typeface="Cambria" pitchFamily="34" charset="-120"/>
              </a:rPr>
              <a:t>Régler la grille de relplot</a:t>
            </a:r>
            <a:endParaRPr lang="en-US" sz="3000" dirty="0"/>
          </a:p>
        </p:txBody>
      </p:sp>
      <p:sp>
        <p:nvSpPr>
          <p:cNvPr id="6" name="Shape 4"/>
          <p:cNvSpPr/>
          <p:nvPr/>
        </p:nvSpPr>
        <p:spPr>
          <a:xfrm>
            <a:off x="548640" y="1417320"/>
            <a:ext cx="4835098" cy="2240788"/>
          </a:xfrm>
          <a:prstGeom prst="rect">
            <a:avLst/>
          </a:prstGeom>
          <a:solidFill>
            <a:srgbClr val="F3F4F6"/>
          </a:solidFill>
          <a:ln/>
        </p:spPr>
      </p:sp>
      <p:sp>
        <p:nvSpPr>
          <p:cNvPr id="7" name="Text 5"/>
          <p:cNvSpPr txBox="1"/>
          <p:nvPr/>
        </p:nvSpPr>
        <p:spPr>
          <a:xfrm>
            <a:off x="731520" y="1563624"/>
            <a:ext cx="4469338" cy="1948180"/>
          </a:xfrm>
          <a:prstGeom prst="rect">
            <a:avLst/>
          </a:prstGeom>
          <a:noFill/>
          <a:ln/>
        </p:spPr>
        <p:txBody>
          <a:bodyPr wrap="square" lIns="0" tIns="0" rIns="0" bIns="0" rtlCol="0" anchor="t"/>
          <a:lstStyle/>
          <a:p>
            <a:pPr indent="0" marL="0">
              <a:lnSpc>
                <a:spcPct val="100000"/>
              </a:lnSpc>
              <a:buNone/>
            </a:pPr>
            <a:r>
              <a:rPr lang="en-US" sz="1300" dirty="0">
                <a:solidFill>
                  <a:srgbClr val="1F2933"/>
                </a:solidFill>
                <a:latin typeface="Courier New" pitchFamily="34" charset="0"/>
                <a:ea typeface="Courier New" pitchFamily="34" charset="-122"/>
                <a:cs typeface="Courier New" pitchFamily="34" charset="-120"/>
              </a:rPr>
              <a:t>g = sns.relplot(</a:t>
            </a:r>
            <a:endParaRPr lang="en-US" sz="1300" dirty="0"/>
          </a:p>
          <a:p>
            <a:pPr indent="0" marL="0">
              <a:lnSpc>
                <a:spcPct val="100000"/>
              </a:lnSpc>
              <a:buNone/>
            </a:pPr>
            <a:r>
              <a:rPr lang="en-US" sz="1300" dirty="0">
                <a:solidFill>
                  <a:srgbClr val="1F2933"/>
                </a:solidFill>
                <a:latin typeface="Courier New" pitchFamily="34" charset="0"/>
                <a:ea typeface="Courier New" pitchFamily="34" charset="-122"/>
                <a:cs typeface="Courier New" pitchFamily="34" charset="-120"/>
              </a:rPr>
              <a:t>    data=indicateurs, x="mois", y="ca",</a:t>
            </a:r>
            <a:endParaRPr lang="en-US" sz="1300" dirty="0"/>
          </a:p>
          <a:p>
            <a:pPr indent="0" marL="0">
              <a:lnSpc>
                <a:spcPct val="100000"/>
              </a:lnSpc>
              <a:buNone/>
            </a:pPr>
            <a:r>
              <a:rPr lang="en-US" sz="1300" dirty="0">
                <a:solidFill>
                  <a:srgbClr val="1F2933"/>
                </a:solidFill>
                <a:latin typeface="Courier New" pitchFamily="34" charset="0"/>
                <a:ea typeface="Courier New" pitchFamily="34" charset="-122"/>
                <a:cs typeface="Courier New" pitchFamily="34" charset="-120"/>
              </a:rPr>
              <a:t>    col="region", col_wrap=3, kind="line",</a:t>
            </a:r>
            <a:endParaRPr lang="en-US" sz="1300" dirty="0"/>
          </a:p>
          <a:p>
            <a:pPr indent="0" marL="0">
              <a:lnSpc>
                <a:spcPct val="100000"/>
              </a:lnSpc>
              <a:buNone/>
            </a:pPr>
            <a:r>
              <a:rPr lang="en-US" sz="1300" dirty="0">
                <a:solidFill>
                  <a:srgbClr val="1F2933"/>
                </a:solidFill>
                <a:latin typeface="Courier New" pitchFamily="34" charset="0"/>
                <a:ea typeface="Courier New" pitchFamily="34" charset="-122"/>
                <a:cs typeface="Courier New" pitchFamily="34" charset="-120"/>
              </a:rPr>
              <a:t>    height=2.8, aspect=1.4,</a:t>
            </a:r>
            <a:endParaRPr lang="en-US" sz="1300" dirty="0"/>
          </a:p>
          <a:p>
            <a:pPr indent="0" marL="0">
              <a:lnSpc>
                <a:spcPct val="100000"/>
              </a:lnSpc>
              <a:buNone/>
            </a:pPr>
            <a:r>
              <a:rPr lang="en-US" sz="1300" dirty="0">
                <a:solidFill>
                  <a:srgbClr val="1F2933"/>
                </a:solidFill>
                <a:latin typeface="Courier New" pitchFamily="34" charset="0"/>
                <a:ea typeface="Courier New" pitchFamily="34" charset="-122"/>
                <a:cs typeface="Courier New" pitchFamily="34" charset="-120"/>
              </a:rPr>
              <a:t>)</a:t>
            </a:r>
            <a:endParaRPr lang="en-US" sz="1300" dirty="0"/>
          </a:p>
          <a:p>
            <a:pPr indent="0" marL="0">
              <a:lnSpc>
                <a:spcPct val="100000"/>
              </a:lnSpc>
              <a:buNone/>
            </a:pPr>
            <a:r>
              <a:rPr lang="en-US" sz="1300" dirty="0">
                <a:solidFill>
                  <a:srgbClr val="1F2933"/>
                </a:solidFill>
                <a:latin typeface="Courier New" pitchFamily="34" charset="0"/>
                <a:ea typeface="Courier New" pitchFamily="34" charset="-122"/>
                <a:cs typeface="Courier New" pitchFamily="34" charset="-120"/>
              </a:rPr>
              <a:t>g.set_titles("{col_name}")</a:t>
            </a:r>
            <a:endParaRPr lang="en-US" sz="1300" dirty="0"/>
          </a:p>
          <a:p>
            <a:pPr indent="0" marL="0">
              <a:lnSpc>
                <a:spcPct val="100000"/>
              </a:lnSpc>
              <a:buNone/>
            </a:pPr>
            <a:r>
              <a:rPr lang="en-US" sz="1300" dirty="0">
                <a:solidFill>
                  <a:srgbClr val="1F2933"/>
                </a:solidFill>
                <a:latin typeface="Courier New" pitchFamily="34" charset="0"/>
                <a:ea typeface="Courier New" pitchFamily="34" charset="-122"/>
                <a:cs typeface="Courier New" pitchFamily="34" charset="-120"/>
              </a:rPr>
              <a:t>g.set_axis_labels("", "chiffre d'affaires")</a:t>
            </a:r>
            <a:endParaRPr lang="en-US" sz="1300" dirty="0"/>
          </a:p>
          <a:p>
            <a:pPr indent="0" marL="0">
              <a:lnSpc>
                <a:spcPct val="100000"/>
              </a:lnSpc>
              <a:buNone/>
            </a:pPr>
            <a:r>
              <a:rPr lang="en-US" sz="1300" dirty="0">
                <a:solidFill>
                  <a:srgbClr val="1F2933"/>
                </a:solidFill>
                <a:latin typeface="Courier New" pitchFamily="34" charset="0"/>
                <a:ea typeface="Courier New" pitchFamily="34" charset="-122"/>
                <a:cs typeface="Courier New" pitchFamily="34" charset="-120"/>
              </a:rPr>
              <a:t>g.tick_params(axis="x", labelrotation=45)</a:t>
            </a:r>
            <a:endParaRPr lang="en-US" sz="1300" dirty="0"/>
          </a:p>
          <a:p>
            <a:pPr indent="0" marL="0">
              <a:lnSpc>
                <a:spcPct val="100000"/>
              </a:lnSpc>
              <a:buNone/>
            </a:pPr>
            <a:r>
              <a:rPr lang="en-US" sz="1300" dirty="0">
                <a:solidFill>
                  <a:srgbClr val="1F2933"/>
                </a:solidFill>
                <a:latin typeface="Courier New" pitchFamily="34" charset="0"/>
                <a:ea typeface="Courier New" pitchFamily="34" charset="-122"/>
                <a:cs typeface="Courier New" pitchFamily="34" charset="-120"/>
              </a:rPr>
              <a:t>for ax in g.axes.flat:</a:t>
            </a:r>
            <a:endParaRPr lang="en-US" sz="1300" dirty="0"/>
          </a:p>
          <a:p>
            <a:pPr indent="0" marL="0">
              <a:lnSpc>
                <a:spcPct val="100000"/>
              </a:lnSpc>
              <a:buNone/>
            </a:pPr>
            <a:r>
              <a:rPr lang="en-US" sz="1300" dirty="0">
                <a:solidFill>
                  <a:srgbClr val="1F2933"/>
                </a:solidFill>
                <a:latin typeface="Courier New" pitchFamily="34" charset="0"/>
                <a:ea typeface="Courier New" pitchFamily="34" charset="-122"/>
                <a:cs typeface="Courier New" pitchFamily="34" charset="-120"/>
              </a:rPr>
              <a:t>    ax.yaxis.set_major_formatter(milliers)</a:t>
            </a:r>
            <a:endParaRPr lang="en-US" sz="1300" dirty="0"/>
          </a:p>
        </p:txBody>
      </p:sp>
      <p:sp>
        <p:nvSpPr>
          <p:cNvPr id="8" name="Text 6"/>
          <p:cNvSpPr txBox="1"/>
          <p:nvPr/>
        </p:nvSpPr>
        <p:spPr>
          <a:xfrm>
            <a:off x="548640" y="3978148"/>
            <a:ext cx="4835098" cy="1767840"/>
          </a:xfrm>
          <a:prstGeom prst="rect">
            <a:avLst/>
          </a:prstGeom>
          <a:noFill/>
          <a:ln/>
        </p:spPr>
        <p:txBody>
          <a:bodyPr wrap="square" lIns="0" tIns="0" rIns="0" bIns="0" rtlCol="0" anchor="t"/>
          <a:lstStyle/>
          <a:p>
            <a:pPr marL="254000" indent="-254000">
              <a:spcAft>
                <a:spcPts val="800"/>
              </a:spcAft>
              <a:buSzPct val="100000"/>
              <a:buChar char="•"/>
            </a:pPr>
            <a:r>
              <a:rPr lang="en-US" sz="1500" dirty="0">
                <a:solidFill>
                  <a:srgbClr val="1F3A5F"/>
                </a:solidFill>
                <a:latin typeface="Courier New" pitchFamily="34" charset="0"/>
                <a:ea typeface="Courier New" pitchFamily="34" charset="-122"/>
                <a:cs typeface="Courier New" pitchFamily="34" charset="-120"/>
              </a:rPr>
              <a:t>relplot</a:t>
            </a:r>
            <a:pPr indent="0" marL="0">
              <a:buNone/>
            </a:pPr>
            <a:r>
              <a:rPr lang="en-US" sz="1500" dirty="0">
                <a:solidFill>
                  <a:srgbClr val="1F2933"/>
                </a:solidFill>
                <a:latin typeface="Calibri" pitchFamily="34" charset="0"/>
                <a:ea typeface="Calibri" pitchFamily="34" charset="-122"/>
                <a:cs typeface="Calibri" pitchFamily="34" charset="-120"/>
              </a:rPr>
              <a:t> renvoie une grille (</a:t>
            </a:r>
            <a:pPr indent="0" marL="0">
              <a:buNone/>
            </a:pPr>
            <a:r>
              <a:rPr lang="en-US" sz="1500" dirty="0">
                <a:solidFill>
                  <a:srgbClr val="1F3A5F"/>
                </a:solidFill>
                <a:latin typeface="Courier New" pitchFamily="34" charset="0"/>
                <a:ea typeface="Courier New" pitchFamily="34" charset="-122"/>
                <a:cs typeface="Courier New" pitchFamily="34" charset="-120"/>
              </a:rPr>
              <a:t>FacetGrid</a:t>
            </a:r>
            <a:pPr indent="0" marL="0">
              <a:buNone/>
            </a:pPr>
            <a:r>
              <a:rPr lang="en-US" sz="1500" dirty="0">
                <a:solidFill>
                  <a:srgbClr val="1F2933"/>
                </a:solidFill>
                <a:latin typeface="Calibri" pitchFamily="34" charset="0"/>
                <a:ea typeface="Calibri" pitchFamily="34" charset="-122"/>
                <a:cs typeface="Calibri" pitchFamily="34" charset="-120"/>
              </a:rPr>
              <a:t>), pas un </a:t>
            </a:r>
            <a:pPr indent="0" marL="0">
              <a:buNone/>
            </a:pPr>
            <a:r>
              <a:rPr lang="en-US" sz="1500" dirty="0">
                <a:solidFill>
                  <a:srgbClr val="1F3A5F"/>
                </a:solidFill>
                <a:latin typeface="Courier New" pitchFamily="34" charset="0"/>
                <a:ea typeface="Courier New" pitchFamily="34" charset="-122"/>
                <a:cs typeface="Courier New" pitchFamily="34" charset="-120"/>
              </a:rPr>
              <a:t>Axes</a:t>
            </a:r>
            <a:pPr indent="0" marL="0">
              <a:buNone/>
            </a:pPr>
            <a:r>
              <a:rPr lang="en-US" sz="1500" dirty="0">
                <a:solidFill>
                  <a:srgbClr val="1F2933"/>
                </a:solidFill>
                <a:latin typeface="Calibri" pitchFamily="34" charset="0"/>
                <a:ea typeface="Calibri" pitchFamily="34" charset="-122"/>
                <a:cs typeface="Calibri" pitchFamily="34" charset="-120"/>
              </a:rPr>
              <a:t> : pas de </a:t>
            </a:r>
            <a:pPr indent="0" marL="0">
              <a:buNone/>
            </a:pPr>
            <a:r>
              <a:rPr lang="en-US" sz="1500" dirty="0">
                <a:solidFill>
                  <a:srgbClr val="1F3A5F"/>
                </a:solidFill>
                <a:latin typeface="Courier New" pitchFamily="34" charset="0"/>
                <a:ea typeface="Courier New" pitchFamily="34" charset="-122"/>
                <a:cs typeface="Courier New" pitchFamily="34" charset="-120"/>
              </a:rPr>
              <a:t>ax=</a:t>
            </a:r>
            <a:endParaRPr lang="en-US" sz="1500" dirty="0"/>
          </a:p>
          <a:p>
            <a:pPr marL="254000" indent="-254000">
              <a:spcAft>
                <a:spcPts val="800"/>
              </a:spcAft>
              <a:buSzPct val="100000"/>
              <a:buChar char="•"/>
            </a:pPr>
            <a:r>
              <a:rPr lang="en-US" sz="1500" dirty="0">
                <a:solidFill>
                  <a:srgbClr val="1F3A5F"/>
                </a:solidFill>
                <a:latin typeface="Courier New" pitchFamily="34" charset="0"/>
                <a:ea typeface="Courier New" pitchFamily="34" charset="-122"/>
                <a:cs typeface="Courier New" pitchFamily="34" charset="-120"/>
              </a:rPr>
              <a:t>height</a:t>
            </a:r>
            <a:pPr indent="0" marL="0">
              <a:buNone/>
            </a:pPr>
            <a:r>
              <a:rPr lang="en-US" sz="1500" dirty="0">
                <a:solidFill>
                  <a:srgbClr val="1F2933"/>
                </a:solidFill>
                <a:latin typeface="Calibri" pitchFamily="34" charset="0"/>
                <a:ea typeface="Calibri" pitchFamily="34" charset="-122"/>
                <a:cs typeface="Calibri" pitchFamily="34" charset="-120"/>
              </a:rPr>
              <a:t> : hauteur d'un graphique en pouces ; </a:t>
            </a:r>
            <a:pPr indent="0" marL="0">
              <a:buNone/>
            </a:pPr>
            <a:r>
              <a:rPr lang="en-US" sz="1500" dirty="0">
                <a:solidFill>
                  <a:srgbClr val="1F3A5F"/>
                </a:solidFill>
                <a:latin typeface="Courier New" pitchFamily="34" charset="0"/>
                <a:ea typeface="Courier New" pitchFamily="34" charset="-122"/>
                <a:cs typeface="Courier New" pitchFamily="34" charset="-120"/>
              </a:rPr>
              <a:t>aspect</a:t>
            </a:r>
            <a:pPr indent="0" marL="0">
              <a:buNone/>
            </a:pPr>
            <a:r>
              <a:rPr lang="en-US" sz="1500" dirty="0">
                <a:solidFill>
                  <a:srgbClr val="1F2933"/>
                </a:solidFill>
                <a:latin typeface="Calibri" pitchFamily="34" charset="0"/>
                <a:ea typeface="Calibri" pitchFamily="34" charset="-122"/>
                <a:cs typeface="Calibri" pitchFamily="34" charset="-120"/>
              </a:rPr>
              <a:t> : largeur sur hauteur</a:t>
            </a:r>
            <a:endParaRPr lang="en-US" sz="1500" dirty="0"/>
          </a:p>
          <a:p>
            <a:pPr marL="254000" indent="-254000">
              <a:spcAft>
                <a:spcPts val="800"/>
              </a:spcAft>
              <a:buSzPct val="100000"/>
              <a:buChar char="•"/>
            </a:pPr>
            <a:r>
              <a:rPr lang="en-US" sz="1500" dirty="0">
                <a:solidFill>
                  <a:srgbClr val="1F3A5F"/>
                </a:solidFill>
                <a:latin typeface="Courier New" pitchFamily="34" charset="0"/>
                <a:ea typeface="Courier New" pitchFamily="34" charset="-122"/>
                <a:cs typeface="Courier New" pitchFamily="34" charset="-120"/>
              </a:rPr>
              <a:t>g.axes.flat</a:t>
            </a:r>
            <a:pPr indent="0" marL="0">
              <a:buNone/>
            </a:pPr>
            <a:r>
              <a:rPr lang="en-US" sz="1500" dirty="0">
                <a:solidFill>
                  <a:srgbClr val="1F2933"/>
                </a:solidFill>
                <a:latin typeface="Calibri" pitchFamily="34" charset="0"/>
                <a:ea typeface="Calibri" pitchFamily="34" charset="-122"/>
                <a:cs typeface="Calibri" pitchFamily="34" charset="-120"/>
              </a:rPr>
              <a:t> parcourt les graphiques, comme </a:t>
            </a:r>
            <a:pPr indent="0" marL="0">
              <a:buNone/>
            </a:pPr>
            <a:r>
              <a:rPr lang="en-US" sz="1500" dirty="0">
                <a:solidFill>
                  <a:srgbClr val="1F3A5F"/>
                </a:solidFill>
                <a:latin typeface="Courier New" pitchFamily="34" charset="0"/>
                <a:ea typeface="Courier New" pitchFamily="34" charset="-122"/>
                <a:cs typeface="Courier New" pitchFamily="34" charset="-120"/>
              </a:rPr>
              <a:t>axes.flat</a:t>
            </a:r>
            <a:endParaRPr lang="en-US" sz="1500" dirty="0"/>
          </a:p>
        </p:txBody>
      </p:sp>
      <p:pic>
        <p:nvPicPr>
          <p:cNvPr id="9" name="Image 0" descr="Six petits graphiques, un par région, avec la même échelle verticale">    </p:cNvPr>
          <p:cNvPicPr>
            <a:picLocks noChangeAspect="1"/>
          </p:cNvPicPr>
          <p:nvPr/>
        </p:nvPicPr>
        <p:blipFill>
          <a:blip r:embed="rId1"/>
          <a:stretch>
            <a:fillRect/>
          </a:stretch>
        </p:blipFill>
        <p:spPr>
          <a:xfrm>
            <a:off x="5840938" y="1417320"/>
            <a:ext cx="5802117" cy="2752428"/>
          </a:xfrm>
          <a:prstGeom prst="rect">
            <a:avLst/>
          </a:prstGeom>
        </p:spPr>
      </p:pic>
      <p:sp>
        <p:nvSpPr>
          <p:cNvPr id="10" name="Text 7"/>
          <p:cNvSpPr txBox="1"/>
          <p:nvPr/>
        </p:nvSpPr>
        <p:spPr>
          <a:xfrm>
            <a:off x="5840938" y="4489788"/>
            <a:ext cx="5802117" cy="594360"/>
          </a:xfrm>
          <a:prstGeom prst="rect">
            <a:avLst/>
          </a:prstGeom>
          <a:noFill/>
          <a:ln/>
        </p:spPr>
        <p:txBody>
          <a:bodyPr wrap="square" lIns="0" tIns="0" rIns="0" bIns="0" rtlCol="0" anchor="t"/>
          <a:lstStyle/>
          <a:p>
            <a:pPr indent="0" marL="0">
              <a:buNone/>
            </a:pPr>
            <a:r>
              <a:rPr lang="en-US" sz="1500" dirty="0">
                <a:solidFill>
                  <a:srgbClr val="6B7280"/>
                </a:solidFill>
                <a:latin typeface="Calibri" pitchFamily="34" charset="0"/>
                <a:ea typeface="Calibri" pitchFamily="34" charset="-122"/>
                <a:cs typeface="Calibri" pitchFamily="34" charset="-120"/>
              </a:rPr>
              <a:t>Même échelle verticale par défaut : l'Île-de-France se détache nettement des autres régions.</a:t>
            </a:r>
            <a:endParaRPr lang="en-US" sz="1500" dirty="0"/>
          </a:p>
        </p:txBody>
      </p:sp>
      <p:sp>
        <p:nvSpPr>
          <p:cNvPr id="11" name="Text 8"/>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Analyse de données avec Python   |   Jour 2, après-midi</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66928"/>
            <a:ext cx="475488" cy="475488"/>
          </a:xfrm>
          <a:prstGeom prst="ellipse">
            <a:avLst/>
          </a:prstGeom>
          <a:solidFill>
            <a:srgbClr val="2F7D62"/>
          </a:solidFill>
          <a:ln/>
        </p:spPr>
      </p:sp>
      <p:sp>
        <p:nvSpPr>
          <p:cNvPr id="3" name="Text 1"/>
          <p:cNvSpPr txBox="1"/>
          <p:nvPr/>
        </p:nvSpPr>
        <p:spPr>
          <a:xfrm>
            <a:off x="548640" y="566928"/>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4" name="Text 2"/>
          <p:cNvSpPr txBox="1"/>
          <p:nvPr/>
        </p:nvSpPr>
        <p:spPr>
          <a:xfrm>
            <a:off x="1280160" y="164592"/>
            <a:ext cx="10362895" cy="274320"/>
          </a:xfrm>
          <a:prstGeom prst="rect">
            <a:avLst/>
          </a:prstGeom>
          <a:noFill/>
          <a:ln/>
        </p:spPr>
        <p:txBody>
          <a:bodyPr wrap="square" lIns="0" tIns="0" rIns="0" bIns="0" rtlCol="0" anchor="ctr"/>
          <a:lstStyle/>
          <a:p>
            <a:pPr indent="0" marL="0">
              <a:buNone/>
            </a:pPr>
            <a:r>
              <a:rPr lang="en-US" sz="1200" b="1" spc="200" kern="0" dirty="0">
                <a:solidFill>
                  <a:srgbClr val="2F7D62"/>
                </a:solidFill>
                <a:latin typeface="Calibri" pitchFamily="34" charset="0"/>
                <a:ea typeface="Calibri" pitchFamily="34" charset="-122"/>
                <a:cs typeface="Calibri" pitchFamily="34" charset="-120"/>
              </a:rPr>
              <a:t>SEABORN</a:t>
            </a:r>
            <a:endParaRPr lang="en-US" sz="1200" dirty="0"/>
          </a:p>
        </p:txBody>
      </p:sp>
      <p:sp>
        <p:nvSpPr>
          <p:cNvPr id="5" name="Text 3"/>
          <p:cNvSpPr txBox="1"/>
          <p:nvPr/>
        </p:nvSpPr>
        <p:spPr>
          <a:xfrm>
            <a:off x="1280160" y="457200"/>
            <a:ext cx="10362895" cy="694944"/>
          </a:xfrm>
          <a:prstGeom prst="rect">
            <a:avLst/>
          </a:prstGeom>
          <a:noFill/>
          <a:ln/>
        </p:spPr>
        <p:txBody>
          <a:bodyPr wrap="square" lIns="0" tIns="0" rIns="0" bIns="0" rtlCol="0" anchor="ctr"/>
          <a:lstStyle/>
          <a:p>
            <a:pPr indent="0" marL="0">
              <a:buNone/>
            </a:pPr>
            <a:r>
              <a:rPr lang="en-US" sz="3000" b="1" dirty="0">
                <a:solidFill>
                  <a:srgbClr val="1F3A5F"/>
                </a:solidFill>
                <a:latin typeface="Cambria" pitchFamily="34" charset="0"/>
                <a:ea typeface="Cambria" pitchFamily="34" charset="-122"/>
                <a:cs typeface="Cambria" pitchFamily="34" charset="-120"/>
              </a:rPr>
              <a:t>Pratique : TP4, partie 2</a:t>
            </a:r>
            <a:endParaRPr lang="en-US" sz="3000" dirty="0"/>
          </a:p>
        </p:txBody>
      </p:sp>
      <p:graphicFrame>
        <p:nvGraphicFramePr>
          <p:cNvPr id="32"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5802117" cy="914400"/>
        </p:xfrm>
        <a:graphic>
          <a:graphicData uri="http://schemas.openxmlformats.org/drawingml/2006/table">
            <a:tbl>
              <a:tblPr/>
              <a:tblGrid>
                <a:gridCol w="1423161"/>
                <a:gridCol w="4378957"/>
              </a:tblGrid>
              <a:tr h="350774">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Question</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1F3A5F"/>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À tracer</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1F3A5F"/>
                    </a:solidFill>
                  </a:tcPr>
                </a:tc>
              </a:tr>
              <a:tr h="555244">
                <a:tc>
                  <a:txBody>
                    <a:bodyPr/>
                    <a:lstStyle/>
                    <a:p>
                      <a:pPr indent="0" marL="0">
                        <a:buNone/>
                      </a:pPr>
                      <a:r>
                        <a:rPr lang="en-US" sz="1400" dirty="0">
                          <a:solidFill>
                            <a:srgbClr val="1F2933"/>
                          </a:solidFill>
                          <a:latin typeface="Calibri" pitchFamily="34" charset="0"/>
                          <a:ea typeface="Calibri" pitchFamily="34" charset="-122"/>
                          <a:cs typeface="Calibri" pitchFamily="34" charset="-120"/>
                        </a:rPr>
                        <a:t>2.1</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400" dirty="0">
                          <a:solidFill>
                            <a:srgbClr val="1F2933"/>
                          </a:solidFill>
                          <a:latin typeface="Calibri" pitchFamily="34" charset="0"/>
                          <a:ea typeface="Calibri" pitchFamily="34" charset="-122"/>
                          <a:cs typeface="Calibri" pitchFamily="34" charset="-120"/>
                        </a:rPr>
                        <a:t>l'histogramme des montants, avec moyenne et médiane</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r>
              <a:tr h="350774">
                <a:tc>
                  <a:txBody>
                    <a:bodyPr/>
                    <a:lstStyle/>
                    <a:p>
                      <a:pPr indent="0" marL="0">
                        <a:buNone/>
                      </a:pPr>
                      <a:r>
                        <a:rPr lang="en-US" sz="1400" dirty="0">
                          <a:solidFill>
                            <a:srgbClr val="1F2933"/>
                          </a:solidFill>
                          <a:latin typeface="Calibri" pitchFamily="34" charset="0"/>
                          <a:ea typeface="Calibri" pitchFamily="34" charset="-122"/>
                          <a:cs typeface="Calibri" pitchFamily="34" charset="-120"/>
                        </a:rPr>
                        <a:t>2.2</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7F9FB"/>
                    </a:solidFill>
                  </a:tcPr>
                </a:tc>
                <a:tc>
                  <a:txBody>
                    <a:bodyPr/>
                    <a:lstStyle/>
                    <a:p>
                      <a:pPr indent="0" marL="0">
                        <a:buNone/>
                      </a:pPr>
                      <a:r>
                        <a:rPr lang="en-US" sz="1400" dirty="0">
                          <a:solidFill>
                            <a:srgbClr val="1F2933"/>
                          </a:solidFill>
                          <a:latin typeface="Calibri" pitchFamily="34" charset="0"/>
                          <a:ea typeface="Calibri" pitchFamily="34" charset="-122"/>
                          <a:cs typeface="Calibri" pitchFamily="34" charset="-120"/>
                        </a:rPr>
                        <a:t>les boîtes à moustaches, triées par médiane</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7F9FB"/>
                    </a:solidFill>
                  </a:tcPr>
                </a:tc>
              </a:tr>
              <a:tr h="555244">
                <a:tc>
                  <a:txBody>
                    <a:bodyPr/>
                    <a:lstStyle/>
                    <a:p>
                      <a:pPr indent="0" marL="0">
                        <a:buNone/>
                      </a:pPr>
                      <a:r>
                        <a:rPr lang="en-US" sz="1400" dirty="0">
                          <a:solidFill>
                            <a:srgbClr val="1F2933"/>
                          </a:solidFill>
                          <a:latin typeface="Calibri" pitchFamily="34" charset="0"/>
                          <a:ea typeface="Calibri" pitchFamily="34" charset="-122"/>
                          <a:cs typeface="Calibri" pitchFamily="34" charset="-120"/>
                        </a:rPr>
                        <a:t>2.3, 2.4</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400" dirty="0">
                          <a:solidFill>
                            <a:srgbClr val="1F2933"/>
                          </a:solidFill>
                          <a:latin typeface="Calibri" pitchFamily="34" charset="0"/>
                          <a:ea typeface="Calibri" pitchFamily="34" charset="-122"/>
                          <a:cs typeface="Calibri" pitchFamily="34" charset="-120"/>
                        </a:rPr>
                        <a:t>commandes et chiffre d'affaires par catégorie</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r>
              <a:tr h="350774">
                <a:tc>
                  <a:txBody>
                    <a:bodyPr/>
                    <a:lstStyle/>
                    <a:p>
                      <a:pPr indent="0" marL="0">
                        <a:buNone/>
                      </a:pPr>
                      <a:r>
                        <a:rPr lang="en-US" sz="1400" dirty="0">
                          <a:solidFill>
                            <a:srgbClr val="1F2933"/>
                          </a:solidFill>
                          <a:latin typeface="Calibri" pitchFamily="34" charset="0"/>
                          <a:ea typeface="Calibri" pitchFamily="34" charset="-122"/>
                          <a:cs typeface="Calibri" pitchFamily="34" charset="-120"/>
                        </a:rPr>
                        <a:t>2.5</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7F9FB"/>
                    </a:solidFill>
                  </a:tcPr>
                </a:tc>
                <a:tc>
                  <a:txBody>
                    <a:bodyPr/>
                    <a:lstStyle/>
                    <a:p>
                      <a:pPr indent="0" marL="0">
                        <a:buNone/>
                      </a:pPr>
                      <a:r>
                        <a:rPr lang="en-US" sz="1400" dirty="0">
                          <a:solidFill>
                            <a:srgbClr val="1F2933"/>
                          </a:solidFill>
                          <a:latin typeface="Calibri" pitchFamily="34" charset="0"/>
                          <a:ea typeface="Calibri" pitchFamily="34" charset="-122"/>
                          <a:cs typeface="Calibri" pitchFamily="34" charset="-120"/>
                        </a:rPr>
                        <a:t>six courbes superposées, avec </a:t>
                      </a:r>
                      <a:pPr indent="0" marL="0">
                        <a:buNone/>
                      </a:pPr>
                      <a:r>
                        <a:rPr lang="en-US" sz="1400" dirty="0">
                          <a:solidFill>
                            <a:srgbClr val="1F3A5F"/>
                          </a:solidFill>
                          <a:latin typeface="Courier New" pitchFamily="34" charset="0"/>
                          <a:ea typeface="Courier New" pitchFamily="34" charset="-122"/>
                          <a:cs typeface="Courier New" pitchFamily="34" charset="-120"/>
                        </a:rPr>
                        <a:t>move_legend</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7F9FB"/>
                    </a:solidFill>
                  </a:tcPr>
                </a:tc>
              </a:tr>
              <a:tr h="350774">
                <a:tc>
                  <a:txBody>
                    <a:bodyPr/>
                    <a:lstStyle/>
                    <a:p>
                      <a:pPr indent="0" marL="0">
                        <a:buNone/>
                      </a:pPr>
                      <a:r>
                        <a:rPr lang="en-US" sz="1400" dirty="0">
                          <a:solidFill>
                            <a:srgbClr val="1F2933"/>
                          </a:solidFill>
                          <a:latin typeface="Calibri" pitchFamily="34" charset="0"/>
                          <a:ea typeface="Calibri" pitchFamily="34" charset="-122"/>
                          <a:cs typeface="Calibri" pitchFamily="34" charset="-120"/>
                        </a:rPr>
                        <a:t>2.6</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400" dirty="0">
                          <a:solidFill>
                            <a:srgbClr val="1F2933"/>
                          </a:solidFill>
                          <a:latin typeface="Calibri" pitchFamily="34" charset="0"/>
                          <a:ea typeface="Calibri" pitchFamily="34" charset="-122"/>
                          <a:cs typeface="Calibri" pitchFamily="34" charset="-120"/>
                        </a:rPr>
                        <a:t>les petits multiples avec </a:t>
                      </a:r>
                      <a:pPr indent="0" marL="0">
                        <a:buNone/>
                      </a:pPr>
                      <a:r>
                        <a:rPr lang="en-US" sz="1400" dirty="0">
                          <a:solidFill>
                            <a:srgbClr val="1F3A5F"/>
                          </a:solidFill>
                          <a:latin typeface="Courier New" pitchFamily="34" charset="0"/>
                          <a:ea typeface="Courier New" pitchFamily="34" charset="-122"/>
                          <a:cs typeface="Courier New" pitchFamily="34" charset="-120"/>
                        </a:rPr>
                        <a:t>relplot</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r>
              <a:tr h="350774">
                <a:tc>
                  <a:txBody>
                    <a:bodyPr/>
                    <a:lstStyle/>
                    <a:p>
                      <a:pPr indent="0" marL="0">
                        <a:buNone/>
                      </a:pPr>
                      <a:r>
                        <a:rPr lang="en-US" sz="1400" dirty="0">
                          <a:solidFill>
                            <a:srgbClr val="1F2933"/>
                          </a:solidFill>
                          <a:latin typeface="Calibri" pitchFamily="34" charset="0"/>
                          <a:ea typeface="Calibri" pitchFamily="34" charset="-122"/>
                          <a:cs typeface="Calibri" pitchFamily="34" charset="-120"/>
                        </a:rPr>
                        <a:t>2.7</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7F9FB"/>
                    </a:solidFill>
                  </a:tcPr>
                </a:tc>
                <a:tc>
                  <a:txBody>
                    <a:bodyPr/>
                    <a:lstStyle/>
                    <a:p>
                      <a:pPr indent="0" marL="0">
                        <a:buNone/>
                      </a:pPr>
                      <a:r>
                        <a:rPr lang="en-US" sz="1400" dirty="0">
                          <a:solidFill>
                            <a:srgbClr val="1F2933"/>
                          </a:solidFill>
                          <a:latin typeface="Calibri" pitchFamily="34" charset="0"/>
                          <a:ea typeface="Calibri" pitchFamily="34" charset="-122"/>
                          <a:cs typeface="Calibri" pitchFamily="34" charset="-120"/>
                        </a:rPr>
                        <a:t>la heatmap du taux de réalisation</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7F9FB"/>
                    </a:solidFill>
                  </a:tcPr>
                </a:tc>
              </a:tr>
              <a:tr h="555244">
                <a:tc>
                  <a:txBody>
                    <a:bodyPr/>
                    <a:lstStyle/>
                    <a:p>
                      <a:pPr indent="0" marL="0">
                        <a:buNone/>
                      </a:pPr>
                      <a:r>
                        <a:rPr lang="en-US" sz="1400" dirty="0">
                          <a:solidFill>
                            <a:srgbClr val="1F2933"/>
                          </a:solidFill>
                          <a:latin typeface="Calibri" pitchFamily="34" charset="0"/>
                          <a:ea typeface="Calibri" pitchFamily="34" charset="-122"/>
                          <a:cs typeface="Calibri" pitchFamily="34" charset="-120"/>
                        </a:rPr>
                        <a:t>2.8 à 2.10</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400" dirty="0">
                          <a:solidFill>
                            <a:srgbClr val="1F2933"/>
                          </a:solidFill>
                          <a:latin typeface="Calibri" pitchFamily="34" charset="0"/>
                          <a:ea typeface="Calibri" pitchFamily="34" charset="-122"/>
                          <a:cs typeface="Calibri" pitchFamily="34" charset="-120"/>
                        </a:rPr>
                        <a:t>facultatives : corrélations, densités, </a:t>
                      </a:r>
                      <a:pPr indent="0" marL="0">
                        <a:buNone/>
                      </a:pPr>
                      <a:r>
                        <a:rPr lang="en-US" sz="1400" dirty="0">
                          <a:solidFill>
                            <a:srgbClr val="1F3A5F"/>
                          </a:solidFill>
                          <a:latin typeface="Courier New" pitchFamily="34" charset="0"/>
                          <a:ea typeface="Courier New" pitchFamily="34" charset="-122"/>
                          <a:cs typeface="Courier New" pitchFamily="34" charset="-120"/>
                        </a:rPr>
                        <a:t>barplot</a:t>
                      </a:r>
                      <a:pPr indent="0" marL="0">
                        <a:buNone/>
                      </a:pPr>
                      <a:r>
                        <a:rPr lang="en-US" sz="1400" dirty="0">
                          <a:solidFill>
                            <a:srgbClr val="1F2933"/>
                          </a:solidFill>
                          <a:latin typeface="Calibri" pitchFamily="34" charset="0"/>
                          <a:ea typeface="Calibri" pitchFamily="34" charset="-122"/>
                          <a:cs typeface="Calibri" pitchFamily="34" charset="-120"/>
                        </a:rPr>
                        <a:t> par défaut</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r>
            </a:tbl>
          </a:graphicData>
        </a:graphic>
      </p:graphicFrame>
      <p:pic>
        <p:nvPicPr>
          <p:cNvPr id="7" name="Image 0" descr="Résultat attendu de la question 2.1 : histogramme des montants avec la moyenne et la médiane">    </p:cNvPr>
          <p:cNvPicPr>
            <a:picLocks noChangeAspect="1"/>
          </p:cNvPicPr>
          <p:nvPr/>
        </p:nvPicPr>
        <p:blipFill>
          <a:blip r:embed="rId1"/>
          <a:stretch>
            <a:fillRect/>
          </a:stretch>
        </p:blipFill>
        <p:spPr>
          <a:xfrm>
            <a:off x="6974985" y="1417320"/>
            <a:ext cx="4501043" cy="2560320"/>
          </a:xfrm>
          <a:prstGeom prst="rect">
            <a:avLst/>
          </a:prstGeom>
        </p:spPr>
      </p:pic>
      <p:sp>
        <p:nvSpPr>
          <p:cNvPr id="8" name="Text 4"/>
          <p:cNvSpPr txBox="1"/>
          <p:nvPr/>
        </p:nvSpPr>
        <p:spPr>
          <a:xfrm>
            <a:off x="6807957" y="4297680"/>
            <a:ext cx="4835098" cy="365760"/>
          </a:xfrm>
          <a:prstGeom prst="rect">
            <a:avLst/>
          </a:prstGeom>
          <a:noFill/>
          <a:ln/>
        </p:spPr>
        <p:txBody>
          <a:bodyPr wrap="square" lIns="0" tIns="0" rIns="0" bIns="0" rtlCol="0" anchor="t"/>
          <a:lstStyle/>
          <a:p>
            <a:pPr indent="0" marL="0">
              <a:buNone/>
            </a:pPr>
            <a:r>
              <a:rPr lang="en-US" sz="1500" dirty="0">
                <a:solidFill>
                  <a:srgbClr val="6B7280"/>
                </a:solidFill>
                <a:latin typeface="Calibri" pitchFamily="34" charset="0"/>
                <a:ea typeface="Calibri" pitchFamily="34" charset="-122"/>
                <a:cs typeface="Calibri" pitchFamily="34" charset="-120"/>
              </a:rPr>
              <a:t>Résultat attendu de la question 2.1</a:t>
            </a:r>
            <a:endParaRPr lang="en-US" sz="1500" dirty="0"/>
          </a:p>
        </p:txBody>
      </p:sp>
      <p:sp>
        <p:nvSpPr>
          <p:cNvPr id="9" name="Shape 5"/>
          <p:cNvSpPr/>
          <p:nvPr/>
        </p:nvSpPr>
        <p:spPr>
          <a:xfrm>
            <a:off x="6807957" y="4983480"/>
            <a:ext cx="4835098" cy="1051560"/>
          </a:xfrm>
          <a:prstGeom prst="roundRect">
            <a:avLst>
              <a:gd name="adj" fmla="val 5217"/>
            </a:avLst>
          </a:prstGeom>
          <a:solidFill>
            <a:srgbClr val="E8F3EE"/>
          </a:solidFill>
          <a:ln/>
        </p:spPr>
      </p:sp>
      <p:sp>
        <p:nvSpPr>
          <p:cNvPr id="10" name="Text 6"/>
          <p:cNvSpPr txBox="1"/>
          <p:nvPr/>
        </p:nvSpPr>
        <p:spPr>
          <a:xfrm>
            <a:off x="7082277" y="4983480"/>
            <a:ext cx="4286458" cy="1051560"/>
          </a:xfrm>
          <a:prstGeom prst="rect">
            <a:avLst/>
          </a:prstGeom>
          <a:noFill/>
          <a:ln/>
        </p:spPr>
        <p:txBody>
          <a:bodyPr wrap="square" lIns="0" tIns="0" rIns="0" bIns="0" rtlCol="0" anchor="ctr"/>
          <a:lstStyle/>
          <a:p>
            <a:pPr indent="0" marL="0">
              <a:buNone/>
            </a:pPr>
            <a:r>
              <a:rPr lang="en-US" sz="1500" dirty="0">
                <a:solidFill>
                  <a:srgbClr val="1F3A5F"/>
                </a:solidFill>
                <a:latin typeface="Calibri" pitchFamily="34" charset="0"/>
                <a:ea typeface="Calibri" pitchFamily="34" charset="-122"/>
                <a:cs typeface="Calibri" pitchFamily="34" charset="-120"/>
              </a:rPr>
              <a:t>La première cellule de la partie applique </a:t>
            </a:r>
            <a:pPr indent="0" marL="0">
              <a:buNone/>
            </a:pPr>
            <a:r>
              <a:rPr lang="en-US" sz="1500" dirty="0">
                <a:solidFill>
                  <a:srgbClr val="2F7D62"/>
                </a:solidFill>
                <a:latin typeface="Courier New" pitchFamily="34" charset="0"/>
                <a:ea typeface="Courier New" pitchFamily="34" charset="-122"/>
                <a:cs typeface="Courier New" pitchFamily="34" charset="-120"/>
              </a:rPr>
              <a:t>sns.set_theme(style="whitegrid")</a:t>
            </a:r>
            <a:pPr indent="0" marL="0">
              <a:buNone/>
            </a:pPr>
            <a:r>
              <a:rPr lang="en-US" sz="1500" dirty="0">
                <a:solidFill>
                  <a:srgbClr val="1F3A5F"/>
                </a:solidFill>
                <a:latin typeface="Calibri" pitchFamily="34" charset="0"/>
                <a:ea typeface="Calibri" pitchFamily="34" charset="-122"/>
                <a:cs typeface="Calibri" pitchFamily="34" charset="-120"/>
              </a:rPr>
              <a:t> à tous les graphiques.</a:t>
            </a:r>
            <a:endParaRPr lang="en-US" sz="1500" dirty="0"/>
          </a:p>
        </p:txBody>
      </p:sp>
      <p:sp>
        <p:nvSpPr>
          <p:cNvPr id="11" name="Text 7"/>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Analyse de données avec Python   |   Jour 2, après-midi</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1F3A5F"/>
        </a:solidFill>
      </p:bgPr>
    </p:bg>
    <p:spTree>
      <p:nvGrpSpPr>
        <p:cNvPr id="1" name=""/>
        <p:cNvGrpSpPr/>
        <p:nvPr/>
      </p:nvGrpSpPr>
      <p:grpSpPr>
        <a:xfrm>
          <a:off x="0" y="0"/>
          <a:ext cx="0" cy="0"/>
          <a:chOff x="0" y="0"/>
          <a:chExt cx="0" cy="0"/>
        </a:xfrm>
      </p:grpSpPr>
      <p:sp>
        <p:nvSpPr>
          <p:cNvPr id="2" name="Text 0"/>
          <p:cNvSpPr txBox="1"/>
          <p:nvPr/>
        </p:nvSpPr>
        <p:spPr>
          <a:xfrm>
            <a:off x="731520" y="1737360"/>
            <a:ext cx="2743200" cy="1188720"/>
          </a:xfrm>
          <a:prstGeom prst="rect">
            <a:avLst/>
          </a:prstGeom>
          <a:noFill/>
          <a:ln/>
        </p:spPr>
        <p:txBody>
          <a:bodyPr wrap="square" lIns="0" tIns="0" rIns="0" bIns="0" rtlCol="0" anchor="ctr"/>
          <a:lstStyle/>
          <a:p>
            <a:pPr indent="0" marL="0">
              <a:buNone/>
            </a:pPr>
            <a:r>
              <a:rPr lang="en-US" sz="8000" b="1" dirty="0">
                <a:solidFill>
                  <a:srgbClr val="8FD1B5"/>
                </a:solidFill>
                <a:latin typeface="Cambria" pitchFamily="34" charset="0"/>
                <a:ea typeface="Cambria" pitchFamily="34" charset="-122"/>
                <a:cs typeface="Cambria" pitchFamily="34" charset="-120"/>
              </a:rPr>
              <a:t>04</a:t>
            </a:r>
            <a:endParaRPr lang="en-US" sz="8000" dirty="0"/>
          </a:p>
        </p:txBody>
      </p:sp>
      <p:sp>
        <p:nvSpPr>
          <p:cNvPr id="3" name="Text 1"/>
          <p:cNvSpPr txBox="1"/>
          <p:nvPr/>
        </p:nvSpPr>
        <p:spPr>
          <a:xfrm>
            <a:off x="731520" y="3017520"/>
            <a:ext cx="10515600" cy="822960"/>
          </a:xfrm>
          <a:prstGeom prst="rect">
            <a:avLst/>
          </a:prstGeom>
          <a:noFill/>
          <a:ln/>
        </p:spPr>
        <p:txBody>
          <a:bodyPr wrap="square" lIns="0" tIns="0" rIns="0" bIns="0" rtlCol="0" anchor="t"/>
          <a:lstStyle/>
          <a:p>
            <a:pPr indent="0" marL="0">
              <a:buNone/>
            </a:pPr>
            <a:r>
              <a:rPr lang="en-US" sz="4000" b="1" dirty="0">
                <a:solidFill>
                  <a:srgbClr val="FFFFFF"/>
                </a:solidFill>
                <a:latin typeface="Cambria" pitchFamily="34" charset="0"/>
                <a:ea typeface="Cambria" pitchFamily="34" charset="-122"/>
                <a:cs typeface="Cambria" pitchFamily="34" charset="-120"/>
              </a:rPr>
              <a:t>plotly</a:t>
            </a:r>
            <a:endParaRPr lang="en-US" sz="4000" dirty="0"/>
          </a:p>
        </p:txBody>
      </p:sp>
      <p:sp>
        <p:nvSpPr>
          <p:cNvPr id="4" name="Text 2"/>
          <p:cNvSpPr txBox="1"/>
          <p:nvPr/>
        </p:nvSpPr>
        <p:spPr>
          <a:xfrm>
            <a:off x="731520" y="3977640"/>
            <a:ext cx="10515600" cy="548640"/>
          </a:xfrm>
          <a:prstGeom prst="rect">
            <a:avLst/>
          </a:prstGeom>
          <a:noFill/>
          <a:ln/>
        </p:spPr>
        <p:txBody>
          <a:bodyPr wrap="square" lIns="0" tIns="0" rIns="0" bIns="0" rtlCol="0" anchor="t"/>
          <a:lstStyle/>
          <a:p>
            <a:pPr indent="0" marL="0">
              <a:buNone/>
            </a:pPr>
            <a:r>
              <a:rPr lang="en-US" sz="2000" dirty="0">
                <a:solidFill>
                  <a:srgbClr val="C9D6E3"/>
                </a:solidFill>
                <a:latin typeface="Calibri" pitchFamily="34" charset="0"/>
                <a:ea typeface="Calibri" pitchFamily="34" charset="-122"/>
                <a:cs typeface="Calibri" pitchFamily="34" charset="-120"/>
              </a:rPr>
              <a:t>Interactivité   |   Usages courants   |   Info-bulles   |   Export HTML</a:t>
            </a:r>
            <a:endParaRPr lang="en-US" sz="20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66928"/>
            <a:ext cx="475488" cy="475488"/>
          </a:xfrm>
          <a:prstGeom prst="ellipse">
            <a:avLst/>
          </a:prstGeom>
          <a:solidFill>
            <a:srgbClr val="2F7D62"/>
          </a:solidFill>
          <a:ln/>
        </p:spPr>
      </p:sp>
      <p:sp>
        <p:nvSpPr>
          <p:cNvPr id="3" name="Text 1"/>
          <p:cNvSpPr txBox="1"/>
          <p:nvPr/>
        </p:nvSpPr>
        <p:spPr>
          <a:xfrm>
            <a:off x="548640" y="566928"/>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4" name="Text 2"/>
          <p:cNvSpPr txBox="1"/>
          <p:nvPr/>
        </p:nvSpPr>
        <p:spPr>
          <a:xfrm>
            <a:off x="1280160" y="164592"/>
            <a:ext cx="10362895" cy="274320"/>
          </a:xfrm>
          <a:prstGeom prst="rect">
            <a:avLst/>
          </a:prstGeom>
          <a:noFill/>
          <a:ln/>
        </p:spPr>
        <p:txBody>
          <a:bodyPr wrap="square" lIns="0" tIns="0" rIns="0" bIns="0" rtlCol="0" anchor="ctr"/>
          <a:lstStyle/>
          <a:p>
            <a:pPr indent="0" marL="0">
              <a:buNone/>
            </a:pPr>
            <a:r>
              <a:rPr lang="en-US" sz="1200" b="1" spc="200" kern="0" dirty="0">
                <a:solidFill>
                  <a:srgbClr val="2F7D62"/>
                </a:solidFill>
                <a:latin typeface="Calibri" pitchFamily="34" charset="0"/>
                <a:ea typeface="Calibri" pitchFamily="34" charset="-122"/>
                <a:cs typeface="Calibri" pitchFamily="34" charset="-120"/>
              </a:rPr>
              <a:t>PLOTLY</a:t>
            </a:r>
            <a:endParaRPr lang="en-US" sz="1200" dirty="0"/>
          </a:p>
        </p:txBody>
      </p:sp>
      <p:sp>
        <p:nvSpPr>
          <p:cNvPr id="5" name="Text 3"/>
          <p:cNvSpPr txBox="1"/>
          <p:nvPr/>
        </p:nvSpPr>
        <p:spPr>
          <a:xfrm>
            <a:off x="1280160" y="457200"/>
            <a:ext cx="10362895" cy="694944"/>
          </a:xfrm>
          <a:prstGeom prst="rect">
            <a:avLst/>
          </a:prstGeom>
          <a:noFill/>
          <a:ln/>
        </p:spPr>
        <p:txBody>
          <a:bodyPr wrap="square" lIns="0" tIns="0" rIns="0" bIns="0" rtlCol="0" anchor="ctr"/>
          <a:lstStyle/>
          <a:p>
            <a:pPr indent="0" marL="0">
              <a:buNone/>
            </a:pPr>
            <a:r>
              <a:rPr lang="en-US" sz="3000" b="1" dirty="0">
                <a:solidFill>
                  <a:srgbClr val="1F3A5F"/>
                </a:solidFill>
                <a:latin typeface="Cambria" pitchFamily="34" charset="0"/>
                <a:ea typeface="Cambria" pitchFamily="34" charset="-122"/>
                <a:cs typeface="Cambria" pitchFamily="34" charset="-120"/>
              </a:rPr>
              <a:t>Des graphiques interactifs</a:t>
            </a:r>
            <a:endParaRPr lang="en-US" sz="3000" dirty="0"/>
          </a:p>
        </p:txBody>
      </p:sp>
      <p:sp>
        <p:nvSpPr>
          <p:cNvPr id="6" name="Shape 4"/>
          <p:cNvSpPr/>
          <p:nvPr/>
        </p:nvSpPr>
        <p:spPr>
          <a:xfrm>
            <a:off x="548640" y="1417320"/>
            <a:ext cx="6382329" cy="2315718"/>
          </a:xfrm>
          <a:prstGeom prst="rect">
            <a:avLst/>
          </a:prstGeom>
          <a:solidFill>
            <a:srgbClr val="F3F4F6"/>
          </a:solidFill>
          <a:ln/>
        </p:spPr>
      </p:sp>
      <p:sp>
        <p:nvSpPr>
          <p:cNvPr id="7" name="Text 5"/>
          <p:cNvSpPr txBox="1"/>
          <p:nvPr/>
        </p:nvSpPr>
        <p:spPr>
          <a:xfrm>
            <a:off x="731520" y="1563624"/>
            <a:ext cx="6016569" cy="2023110"/>
          </a:xfrm>
          <a:prstGeom prst="rect">
            <a:avLst/>
          </a:prstGeom>
          <a:noFill/>
          <a:ln/>
        </p:spPr>
        <p:txBody>
          <a:bodyPr wrap="square" lIns="0" tIns="0" rIns="0" bIns="0" rtlCol="0" anchor="t"/>
          <a:lstStyle/>
          <a:p>
            <a:pPr indent="0" marL="0">
              <a:lnSpc>
                <a:spcPct val="100000"/>
              </a:lnSpc>
              <a:buNone/>
            </a:pPr>
            <a:r>
              <a:rPr lang="en-US" sz="1500" dirty="0">
                <a:solidFill>
                  <a:srgbClr val="1F2933"/>
                </a:solidFill>
                <a:latin typeface="Courier New" pitchFamily="34" charset="0"/>
                <a:ea typeface="Courier New" pitchFamily="34" charset="-122"/>
                <a:cs typeface="Courier New" pitchFamily="34" charset="-120"/>
              </a:rPr>
              <a:t>fig = px.line(</a:t>
            </a:r>
            <a:endParaRPr lang="en-US" sz="1500" dirty="0"/>
          </a:p>
          <a:p>
            <a:pPr indent="0" marL="0">
              <a:lnSpc>
                <a:spcPct val="100000"/>
              </a:lnSpc>
              <a:buNone/>
            </a:pPr>
            <a:r>
              <a:rPr lang="en-US" sz="1500" dirty="0">
                <a:solidFill>
                  <a:srgbClr val="1F2933"/>
                </a:solidFill>
                <a:latin typeface="Courier New" pitchFamily="34" charset="0"/>
                <a:ea typeface="Courier New" pitchFamily="34" charset="-122"/>
                <a:cs typeface="Courier New" pitchFamily="34" charset="-120"/>
              </a:rPr>
              <a:t>    indicateurs,</a:t>
            </a:r>
            <a:endParaRPr lang="en-US" sz="1500" dirty="0"/>
          </a:p>
          <a:p>
            <a:pPr indent="0" marL="0">
              <a:lnSpc>
                <a:spcPct val="100000"/>
              </a:lnSpc>
              <a:buNone/>
            </a:pPr>
            <a:r>
              <a:rPr lang="en-US" sz="1500" dirty="0">
                <a:solidFill>
                  <a:srgbClr val="1F2933"/>
                </a:solidFill>
                <a:latin typeface="Courier New" pitchFamily="34" charset="0"/>
                <a:ea typeface="Courier New" pitchFamily="34" charset="-122"/>
                <a:cs typeface="Courier New" pitchFamily="34" charset="-120"/>
              </a:rPr>
              <a:t>    x="mois",</a:t>
            </a:r>
            <a:endParaRPr lang="en-US" sz="1500" dirty="0"/>
          </a:p>
          <a:p>
            <a:pPr indent="0" marL="0">
              <a:lnSpc>
                <a:spcPct val="100000"/>
              </a:lnSpc>
              <a:buNone/>
            </a:pPr>
            <a:r>
              <a:rPr lang="en-US" sz="1500" dirty="0">
                <a:solidFill>
                  <a:srgbClr val="1F2933"/>
                </a:solidFill>
                <a:latin typeface="Courier New" pitchFamily="34" charset="0"/>
                <a:ea typeface="Courier New" pitchFamily="34" charset="-122"/>
                <a:cs typeface="Courier New" pitchFamily="34" charset="-120"/>
              </a:rPr>
              <a:t>    y="ca",</a:t>
            </a:r>
            <a:endParaRPr lang="en-US" sz="1500" dirty="0"/>
          </a:p>
          <a:p>
            <a:pPr indent="0" marL="0">
              <a:lnSpc>
                <a:spcPct val="100000"/>
              </a:lnSpc>
              <a:buNone/>
            </a:pPr>
            <a:r>
              <a:rPr lang="en-US" sz="1500" dirty="0">
                <a:solidFill>
                  <a:srgbClr val="1F2933"/>
                </a:solidFill>
                <a:latin typeface="Courier New" pitchFamily="34" charset="0"/>
                <a:ea typeface="Courier New" pitchFamily="34" charset="-122"/>
                <a:cs typeface="Courier New" pitchFamily="34" charset="-120"/>
              </a:rPr>
              <a:t>    color="region",</a:t>
            </a:r>
            <a:endParaRPr lang="en-US" sz="1500" dirty="0"/>
          </a:p>
          <a:p>
            <a:pPr indent="0" marL="0">
              <a:lnSpc>
                <a:spcPct val="100000"/>
              </a:lnSpc>
              <a:buNone/>
            </a:pPr>
            <a:r>
              <a:rPr lang="en-US" sz="1500" dirty="0">
                <a:solidFill>
                  <a:srgbClr val="1F2933"/>
                </a:solidFill>
                <a:latin typeface="Courier New" pitchFamily="34" charset="0"/>
                <a:ea typeface="Courier New" pitchFamily="34" charset="-122"/>
                <a:cs typeface="Courier New" pitchFamily="34" charset="-120"/>
              </a:rPr>
              <a:t>    markers=True,</a:t>
            </a:r>
            <a:endParaRPr lang="en-US" sz="1500" dirty="0"/>
          </a:p>
          <a:p>
            <a:pPr indent="0" marL="0">
              <a:lnSpc>
                <a:spcPct val="100000"/>
              </a:lnSpc>
              <a:buNone/>
            </a:pPr>
            <a:r>
              <a:rPr lang="en-US" sz="1500" dirty="0">
                <a:solidFill>
                  <a:srgbClr val="1F2933"/>
                </a:solidFill>
                <a:latin typeface="Courier New" pitchFamily="34" charset="0"/>
                <a:ea typeface="Courier New" pitchFamily="34" charset="-122"/>
                <a:cs typeface="Courier New" pitchFamily="34" charset="-120"/>
              </a:rPr>
              <a:t>    title="Chiffre d'affaires mensuel par région",</a:t>
            </a:r>
            <a:endParaRPr lang="en-US" sz="1500" dirty="0"/>
          </a:p>
          <a:p>
            <a:pPr indent="0" marL="0">
              <a:lnSpc>
                <a:spcPct val="100000"/>
              </a:lnSpc>
              <a:buNone/>
            </a:pPr>
            <a:r>
              <a:rPr lang="en-US" sz="1500" dirty="0">
                <a:solidFill>
                  <a:srgbClr val="1F2933"/>
                </a:solidFill>
                <a:latin typeface="Courier New" pitchFamily="34" charset="0"/>
                <a:ea typeface="Courier New" pitchFamily="34" charset="-122"/>
                <a:cs typeface="Courier New" pitchFamily="34" charset="-120"/>
              </a:rPr>
              <a:t>)</a:t>
            </a:r>
            <a:endParaRPr lang="en-US" sz="1500" dirty="0"/>
          </a:p>
          <a:p>
            <a:pPr indent="0" marL="0">
              <a:lnSpc>
                <a:spcPct val="100000"/>
              </a:lnSpc>
              <a:buNone/>
            </a:pPr>
            <a:r>
              <a:rPr lang="en-US" sz="1500" dirty="0">
                <a:solidFill>
                  <a:srgbClr val="1F2933"/>
                </a:solidFill>
                <a:latin typeface="Courier New" pitchFamily="34" charset="0"/>
                <a:ea typeface="Courier New" pitchFamily="34" charset="-122"/>
                <a:cs typeface="Courier New" pitchFamily="34" charset="-120"/>
              </a:rPr>
              <a:t>fig.show()</a:t>
            </a:r>
            <a:endParaRPr lang="en-US" sz="1500" dirty="0"/>
          </a:p>
        </p:txBody>
      </p:sp>
      <p:graphicFrame>
        <p:nvGraphicFramePr>
          <p:cNvPr id="34" name="Table 0"/>
          <p:cNvGraphicFramePr>
            <a:graphicFrameLocks noGrp="1"/>
          </p:cNvGraphicFramePr>
          <p:nvPr>
            <p:extLst>
              <p:ext uri="{D42A27DB-BD31-4B8C-83A1-F6EECF244321}">
                <p14:modId xmlns:p14="http://schemas.microsoft.com/office/powerpoint/2010/main" val="1579011935"/>
              </p:ext>
            </p:extLst>
          </p:nvPr>
        </p:nvGraphicFramePr>
        <p:xfrm>
          <a:off x="7388169" y="1417320"/>
          <a:ext cx="4254886" cy="914400"/>
        </p:xfrm>
        <a:graphic>
          <a:graphicData uri="http://schemas.openxmlformats.org/drawingml/2006/table">
            <a:tbl>
              <a:tblPr/>
              <a:tblGrid>
                <a:gridCol w="2127443"/>
                <a:gridCol w="2127443"/>
              </a:tblGrid>
              <a:tr h="365379">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Fonction</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1F3A5F"/>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Graphique</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1F3A5F"/>
                    </a:solidFill>
                  </a:tcPr>
                </a:tc>
              </a:tr>
              <a:tr h="365379">
                <a:tc>
                  <a:txBody>
                    <a:bodyPr/>
                    <a:lstStyle/>
                    <a:p>
                      <a:pPr indent="0" marL="0">
                        <a:buNone/>
                      </a:pPr>
                      <a:r>
                        <a:rPr lang="en-US" sz="1500" dirty="0">
                          <a:solidFill>
                            <a:srgbClr val="1F3A5F"/>
                          </a:solidFill>
                          <a:latin typeface="Courier New" pitchFamily="34" charset="0"/>
                          <a:ea typeface="Courier New" pitchFamily="34" charset="-122"/>
                          <a:cs typeface="Courier New" pitchFamily="34" charset="-120"/>
                        </a:rPr>
                        <a:t>px.line</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500" dirty="0">
                          <a:solidFill>
                            <a:srgbClr val="1F2933"/>
                          </a:solidFill>
                          <a:latin typeface="Calibri" pitchFamily="34" charset="0"/>
                          <a:ea typeface="Calibri" pitchFamily="34" charset="-122"/>
                          <a:cs typeface="Calibri" pitchFamily="34" charset="-120"/>
                        </a:rPr>
                        <a:t>courbes</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r>
              <a:tr h="365379">
                <a:tc>
                  <a:txBody>
                    <a:bodyPr/>
                    <a:lstStyle/>
                    <a:p>
                      <a:pPr indent="0" marL="0">
                        <a:buNone/>
                      </a:pPr>
                      <a:r>
                        <a:rPr lang="en-US" sz="1500" dirty="0">
                          <a:solidFill>
                            <a:srgbClr val="1F3A5F"/>
                          </a:solidFill>
                          <a:latin typeface="Courier New" pitchFamily="34" charset="0"/>
                          <a:ea typeface="Courier New" pitchFamily="34" charset="-122"/>
                          <a:cs typeface="Courier New" pitchFamily="34" charset="-120"/>
                        </a:rPr>
                        <a:t>px.bar</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7F9FB"/>
                    </a:solidFill>
                  </a:tcPr>
                </a:tc>
                <a:tc>
                  <a:txBody>
                    <a:bodyPr/>
                    <a:lstStyle/>
                    <a:p>
                      <a:pPr indent="0" marL="0">
                        <a:buNone/>
                      </a:pPr>
                      <a:r>
                        <a:rPr lang="en-US" sz="1500" dirty="0">
                          <a:solidFill>
                            <a:srgbClr val="1F2933"/>
                          </a:solidFill>
                          <a:latin typeface="Calibri" pitchFamily="34" charset="0"/>
                          <a:ea typeface="Calibri" pitchFamily="34" charset="-122"/>
                          <a:cs typeface="Calibri" pitchFamily="34" charset="-120"/>
                        </a:rPr>
                        <a:t>barres</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7F9FB"/>
                    </a:solidFill>
                  </a:tcPr>
                </a:tc>
              </a:tr>
              <a:tr h="365379">
                <a:tc>
                  <a:txBody>
                    <a:bodyPr/>
                    <a:lstStyle/>
                    <a:p>
                      <a:pPr indent="0" marL="0">
                        <a:buNone/>
                      </a:pPr>
                      <a:r>
                        <a:rPr lang="en-US" sz="1500" dirty="0">
                          <a:solidFill>
                            <a:srgbClr val="1F3A5F"/>
                          </a:solidFill>
                          <a:latin typeface="Courier New" pitchFamily="34" charset="0"/>
                          <a:ea typeface="Courier New" pitchFamily="34" charset="-122"/>
                          <a:cs typeface="Courier New" pitchFamily="34" charset="-120"/>
                        </a:rPr>
                        <a:t>px.scatter</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500" dirty="0">
                          <a:solidFill>
                            <a:srgbClr val="1F2933"/>
                          </a:solidFill>
                          <a:latin typeface="Calibri" pitchFamily="34" charset="0"/>
                          <a:ea typeface="Calibri" pitchFamily="34" charset="-122"/>
                          <a:cs typeface="Calibri" pitchFamily="34" charset="-120"/>
                        </a:rPr>
                        <a:t>nuage</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r>
              <a:tr h="584454">
                <a:tc>
                  <a:txBody>
                    <a:bodyPr/>
                    <a:lstStyle/>
                    <a:p>
                      <a:pPr indent="0" marL="0">
                        <a:buNone/>
                      </a:pPr>
                      <a:r>
                        <a:rPr lang="en-US" sz="1500" dirty="0">
                          <a:solidFill>
                            <a:srgbClr val="1F3A5F"/>
                          </a:solidFill>
                          <a:latin typeface="Courier New" pitchFamily="34" charset="0"/>
                          <a:ea typeface="Courier New" pitchFamily="34" charset="-122"/>
                          <a:cs typeface="Courier New" pitchFamily="34" charset="-120"/>
                        </a:rPr>
                        <a:t>px.histogram</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7F9FB"/>
                    </a:solidFill>
                  </a:tcPr>
                </a:tc>
                <a:tc>
                  <a:txBody>
                    <a:bodyPr/>
                    <a:lstStyle/>
                    <a:p>
                      <a:pPr indent="0" marL="0">
                        <a:buNone/>
                      </a:pPr>
                      <a:r>
                        <a:rPr lang="en-US" sz="1500" dirty="0">
                          <a:solidFill>
                            <a:srgbClr val="1F2933"/>
                          </a:solidFill>
                          <a:latin typeface="Calibri" pitchFamily="34" charset="0"/>
                          <a:ea typeface="Calibri" pitchFamily="34" charset="-122"/>
                          <a:cs typeface="Calibri" pitchFamily="34" charset="-120"/>
                        </a:rPr>
                        <a:t>histogramme, comptage</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7F9FB"/>
                    </a:solidFill>
                  </a:tcPr>
                </a:tc>
              </a:tr>
              <a:tr h="365379">
                <a:tc>
                  <a:txBody>
                    <a:bodyPr/>
                    <a:lstStyle/>
                    <a:p>
                      <a:pPr indent="0" marL="0">
                        <a:buNone/>
                      </a:pPr>
                      <a:r>
                        <a:rPr lang="en-US" sz="1500" dirty="0">
                          <a:solidFill>
                            <a:srgbClr val="1F3A5F"/>
                          </a:solidFill>
                          <a:latin typeface="Courier New" pitchFamily="34" charset="0"/>
                          <a:ea typeface="Courier New" pitchFamily="34" charset="-122"/>
                          <a:cs typeface="Courier New" pitchFamily="34" charset="-120"/>
                        </a:rPr>
                        <a:t>px.box</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500" dirty="0">
                          <a:solidFill>
                            <a:srgbClr val="1F2933"/>
                          </a:solidFill>
                          <a:latin typeface="Calibri" pitchFamily="34" charset="0"/>
                          <a:ea typeface="Calibri" pitchFamily="34" charset="-122"/>
                          <a:cs typeface="Calibri" pitchFamily="34" charset="-120"/>
                        </a:rPr>
                        <a:t>boîte</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r>
            </a:tbl>
          </a:graphicData>
        </a:graphic>
      </p:graphicFrame>
      <p:sp>
        <p:nvSpPr>
          <p:cNvPr id="9" name="Text 6"/>
          <p:cNvSpPr txBox="1"/>
          <p:nvPr/>
        </p:nvSpPr>
        <p:spPr>
          <a:xfrm>
            <a:off x="7388169" y="4148709"/>
            <a:ext cx="4254886" cy="594360"/>
          </a:xfrm>
          <a:prstGeom prst="rect">
            <a:avLst/>
          </a:prstGeom>
          <a:noFill/>
          <a:ln/>
        </p:spPr>
        <p:txBody>
          <a:bodyPr wrap="square" lIns="0" tIns="0" rIns="0" bIns="0" rtlCol="0" anchor="t"/>
          <a:lstStyle/>
          <a:p>
            <a:pPr indent="0" marL="0">
              <a:buNone/>
            </a:pPr>
            <a:r>
              <a:rPr lang="en-US" sz="1500" dirty="0">
                <a:solidFill>
                  <a:srgbClr val="6B7280"/>
                </a:solidFill>
                <a:latin typeface="Calibri" pitchFamily="34" charset="0"/>
                <a:ea typeface="Calibri" pitchFamily="34" charset="-122"/>
                <a:cs typeface="Calibri" pitchFamily="34" charset="-120"/>
              </a:rPr>
              <a:t>Survol, zoom, légende cliquable pour masquer une série.</a:t>
            </a:r>
            <a:endParaRPr lang="en-US" sz="1500" dirty="0"/>
          </a:p>
        </p:txBody>
      </p:sp>
      <p:sp>
        <p:nvSpPr>
          <p:cNvPr id="10" name="Text 7"/>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Analyse de données avec Python   |   Jour 2, après-midi</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66928"/>
            <a:ext cx="475488" cy="475488"/>
          </a:xfrm>
          <a:prstGeom prst="ellipse">
            <a:avLst/>
          </a:prstGeom>
          <a:solidFill>
            <a:srgbClr val="2F7D62"/>
          </a:solidFill>
          <a:ln/>
        </p:spPr>
      </p:sp>
      <p:sp>
        <p:nvSpPr>
          <p:cNvPr id="3" name="Text 1"/>
          <p:cNvSpPr txBox="1"/>
          <p:nvPr/>
        </p:nvSpPr>
        <p:spPr>
          <a:xfrm>
            <a:off x="548640" y="566928"/>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4" name="Text 2"/>
          <p:cNvSpPr txBox="1"/>
          <p:nvPr/>
        </p:nvSpPr>
        <p:spPr>
          <a:xfrm>
            <a:off x="1280160" y="164592"/>
            <a:ext cx="10362895" cy="274320"/>
          </a:xfrm>
          <a:prstGeom prst="rect">
            <a:avLst/>
          </a:prstGeom>
          <a:noFill/>
          <a:ln/>
        </p:spPr>
        <p:txBody>
          <a:bodyPr wrap="square" lIns="0" tIns="0" rIns="0" bIns="0" rtlCol="0" anchor="ctr"/>
          <a:lstStyle/>
          <a:p>
            <a:pPr indent="0" marL="0">
              <a:buNone/>
            </a:pPr>
            <a:r>
              <a:rPr lang="en-US" sz="1200" b="1" spc="200" kern="0" dirty="0">
                <a:solidFill>
                  <a:srgbClr val="2F7D62"/>
                </a:solidFill>
                <a:latin typeface="Calibri" pitchFamily="34" charset="0"/>
                <a:ea typeface="Calibri" pitchFamily="34" charset="-122"/>
                <a:cs typeface="Calibri" pitchFamily="34" charset="-120"/>
              </a:rPr>
              <a:t>PLOTLY</a:t>
            </a:r>
            <a:endParaRPr lang="en-US" sz="1200" dirty="0"/>
          </a:p>
        </p:txBody>
      </p:sp>
      <p:sp>
        <p:nvSpPr>
          <p:cNvPr id="5" name="Text 3"/>
          <p:cNvSpPr txBox="1"/>
          <p:nvPr/>
        </p:nvSpPr>
        <p:spPr>
          <a:xfrm>
            <a:off x="1280160" y="457200"/>
            <a:ext cx="10362895" cy="694944"/>
          </a:xfrm>
          <a:prstGeom prst="rect">
            <a:avLst/>
          </a:prstGeom>
          <a:noFill/>
          <a:ln/>
        </p:spPr>
        <p:txBody>
          <a:bodyPr wrap="square" lIns="0" tIns="0" rIns="0" bIns="0" rtlCol="0" anchor="ctr"/>
          <a:lstStyle/>
          <a:p>
            <a:pPr indent="0" marL="0">
              <a:buNone/>
            </a:pPr>
            <a:r>
              <a:rPr lang="en-US" sz="3000" b="1" dirty="0">
                <a:solidFill>
                  <a:srgbClr val="1F3A5F"/>
                </a:solidFill>
                <a:latin typeface="Cambria" pitchFamily="34" charset="0"/>
                <a:ea typeface="Cambria" pitchFamily="34" charset="-122"/>
                <a:cs typeface="Cambria" pitchFamily="34" charset="-120"/>
              </a:rPr>
              <a:t>Quelques usages courants</a:t>
            </a:r>
            <a:endParaRPr lang="en-US" sz="3000" dirty="0"/>
          </a:p>
        </p:txBody>
      </p:sp>
      <p:sp>
        <p:nvSpPr>
          <p:cNvPr id="6" name="Shape 4"/>
          <p:cNvSpPr/>
          <p:nvPr/>
        </p:nvSpPr>
        <p:spPr>
          <a:xfrm>
            <a:off x="548640" y="1417320"/>
            <a:ext cx="5802117" cy="2600452"/>
          </a:xfrm>
          <a:prstGeom prst="rect">
            <a:avLst/>
          </a:prstGeom>
          <a:solidFill>
            <a:srgbClr val="F3F4F6"/>
          </a:solidFill>
          <a:ln/>
        </p:spPr>
      </p:sp>
      <p:sp>
        <p:nvSpPr>
          <p:cNvPr id="7" name="Text 5"/>
          <p:cNvSpPr txBox="1"/>
          <p:nvPr/>
        </p:nvSpPr>
        <p:spPr>
          <a:xfrm>
            <a:off x="731520" y="1563624"/>
            <a:ext cx="5436357" cy="2307844"/>
          </a:xfrm>
          <a:prstGeom prst="rect">
            <a:avLst/>
          </a:prstGeom>
          <a:noFill/>
          <a:ln/>
        </p:spPr>
        <p:txBody>
          <a:bodyPr wrap="square" lIns="0" tIns="0" rIns="0" bIns="0" rtlCol="0" anchor="t"/>
          <a:lstStyle/>
          <a:p>
            <a:pPr indent="0" marL="0">
              <a:lnSpc>
                <a:spcPct val="100000"/>
              </a:lnSpc>
              <a:buNone/>
            </a:pPr>
            <a:r>
              <a:rPr lang="en-US" sz="1400" dirty="0">
                <a:solidFill>
                  <a:srgbClr val="1F2933"/>
                </a:solidFill>
                <a:latin typeface="Courier New" pitchFamily="34" charset="0"/>
                <a:ea typeface="Courier New" pitchFamily="34" charset="-122"/>
                <a:cs typeface="Courier New" pitchFamily="34" charset="-120"/>
              </a:rPr>
              <a:t>px.bar(indicateurs, x="mois", y="ca",</a:t>
            </a:r>
            <a:endParaRPr lang="en-US" sz="1400" dirty="0"/>
          </a:p>
          <a:p>
            <a:pPr indent="0" marL="0">
              <a:lnSpc>
                <a:spcPct val="100000"/>
              </a:lnSpc>
              <a:buNone/>
            </a:pPr>
            <a:r>
              <a:rPr lang="en-US" sz="1400" dirty="0">
                <a:solidFill>
                  <a:srgbClr val="1F2933"/>
                </a:solidFill>
                <a:latin typeface="Courier New" pitchFamily="34" charset="0"/>
                <a:ea typeface="Courier New" pitchFamily="34" charset="-122"/>
                <a:cs typeface="Courier New" pitchFamily="34" charset="-120"/>
              </a:rPr>
              <a:t>       color="region")       # barres empilées</a:t>
            </a:r>
            <a:endParaRPr lang="en-US" sz="1400" dirty="0"/>
          </a:p>
          <a:p>
            <a:pPr indent="0" marL="0">
              <a:lnSpc>
                <a:spcPct val="100000"/>
              </a:lnSpc>
              <a:buNone/>
            </a:pPr>
            <a:r>
              <a:rPr lang="en-US" sz="1400" dirty="0">
                <a:solidFill>
                  <a:srgbClr val="1F2933"/>
                </a:solidFill>
                <a:latin typeface="Courier New" pitchFamily="34" charset="0"/>
                <a:ea typeface="Courier New" pitchFamily="34" charset="-122"/>
                <a:cs typeface="Courier New" pitchFamily="34" charset="-120"/>
              </a:rPr>
              <a:t>px.scatter(indicateurs, x="nb_commandes", y="ca",</a:t>
            </a:r>
            <a:endParaRPr lang="en-US" sz="1400" dirty="0"/>
          </a:p>
          <a:p>
            <a:pPr indent="0" marL="0">
              <a:lnSpc>
                <a:spcPct val="100000"/>
              </a:lnSpc>
              <a:buNone/>
            </a:pPr>
            <a:r>
              <a:rPr lang="en-US" sz="1400" dirty="0">
                <a:solidFill>
                  <a:srgbClr val="1F2933"/>
                </a:solidFill>
                <a:latin typeface="Courier New" pitchFamily="34" charset="0"/>
                <a:ea typeface="Courier New" pitchFamily="34" charset="-122"/>
                <a:cs typeface="Courier New" pitchFamily="34" charset="-120"/>
              </a:rPr>
              <a:t>           color="region", size="quantite")</a:t>
            </a:r>
            <a:endParaRPr lang="en-US" sz="1400" dirty="0"/>
          </a:p>
          <a:p>
            <a:pPr indent="0" marL="0">
              <a:lnSpc>
                <a:spcPct val="100000"/>
              </a:lnSpc>
              <a:buNone/>
            </a:pPr>
            <a:r>
              <a:rPr lang="en-US" sz="1400" dirty="0">
                <a:solidFill>
                  <a:srgbClr val="1F2933"/>
                </a:solidFill>
                <a:latin typeface="Courier New" pitchFamily="34" charset="0"/>
                <a:ea typeface="Courier New" pitchFamily="34" charset="-122"/>
                <a:cs typeface="Courier New" pitchFamily="34" charset="-120"/>
              </a:rPr>
              <a:t>px.box(ventes, x="categorie", y="montant",</a:t>
            </a:r>
            <a:endParaRPr lang="en-US" sz="1400" dirty="0"/>
          </a:p>
          <a:p>
            <a:pPr indent="0" marL="0">
              <a:lnSpc>
                <a:spcPct val="100000"/>
              </a:lnSpc>
              <a:buNone/>
            </a:pPr>
            <a:r>
              <a:rPr lang="en-US" sz="1400" dirty="0">
                <a:solidFill>
                  <a:srgbClr val="1F2933"/>
                </a:solidFill>
                <a:latin typeface="Courier New" pitchFamily="34" charset="0"/>
                <a:ea typeface="Courier New" pitchFamily="34" charset="-122"/>
                <a:cs typeface="Courier New" pitchFamily="34" charset="-120"/>
              </a:rPr>
              <a:t>       hover_data=["produit", "quantite"])</a:t>
            </a:r>
            <a:endParaRPr lang="en-US" sz="1400" dirty="0"/>
          </a:p>
          <a:p>
            <a:pPr indent="0" marL="0">
              <a:lnSpc>
                <a:spcPct val="100000"/>
              </a:lnSpc>
              <a:buNone/>
            </a:pPr>
            <a:r>
              <a:rPr lang="en-US" sz="1400" dirty="0">
                <a:solidFill>
                  <a:srgbClr val="1F2933"/>
                </a:solidFill>
                <a:latin typeface="Courier New" pitchFamily="34" charset="0"/>
                <a:ea typeface="Courier New" pitchFamily="34" charset="-122"/>
                <a:cs typeface="Courier New" pitchFamily="34" charset="-120"/>
              </a:rPr>
              <a:t> </a:t>
            </a:r>
            <a:endParaRPr lang="en-US" sz="1400" dirty="0"/>
          </a:p>
          <a:p>
            <a:pPr indent="0" marL="0">
              <a:lnSpc>
                <a:spcPct val="100000"/>
              </a:lnSpc>
              <a:buNone/>
            </a:pPr>
            <a:r>
              <a:rPr lang="en-US" sz="1400" dirty="0">
                <a:solidFill>
                  <a:srgbClr val="1F2933"/>
                </a:solidFill>
                <a:latin typeface="Courier New" pitchFamily="34" charset="0"/>
                <a:ea typeface="Courier New" pitchFamily="34" charset="-122"/>
                <a:cs typeface="Courier New" pitchFamily="34" charset="-120"/>
              </a:rPr>
              <a:t>jours = ["lundi", "mardi", "mercredi", "jeudi",</a:t>
            </a:r>
            <a:endParaRPr lang="en-US" sz="1400" dirty="0"/>
          </a:p>
          <a:p>
            <a:pPr indent="0" marL="0">
              <a:lnSpc>
                <a:spcPct val="100000"/>
              </a:lnSpc>
              <a:buNone/>
            </a:pPr>
            <a:r>
              <a:rPr lang="en-US" sz="1400" dirty="0">
                <a:solidFill>
                  <a:srgbClr val="1F2933"/>
                </a:solidFill>
                <a:latin typeface="Courier New" pitchFamily="34" charset="0"/>
                <a:ea typeface="Courier New" pitchFamily="34" charset="-122"/>
                <a:cs typeface="Courier New" pitchFamily="34" charset="-120"/>
              </a:rPr>
              <a:t>         "vendredi", "samedi", "dimanche"]</a:t>
            </a:r>
            <a:endParaRPr lang="en-US" sz="1400" dirty="0"/>
          </a:p>
          <a:p>
            <a:pPr indent="0" marL="0">
              <a:lnSpc>
                <a:spcPct val="100000"/>
              </a:lnSpc>
              <a:buNone/>
            </a:pPr>
            <a:r>
              <a:rPr lang="en-US" sz="1400" dirty="0">
                <a:solidFill>
                  <a:srgbClr val="1F2933"/>
                </a:solidFill>
                <a:latin typeface="Courier New" pitchFamily="34" charset="0"/>
                <a:ea typeface="Courier New" pitchFamily="34" charset="-122"/>
                <a:cs typeface="Courier New" pitchFamily="34" charset="-120"/>
              </a:rPr>
              <a:t>px.histogram(ventes, x="jour",</a:t>
            </a:r>
            <a:endParaRPr lang="en-US" sz="1400" dirty="0"/>
          </a:p>
          <a:p>
            <a:pPr indent="0" marL="0">
              <a:lnSpc>
                <a:spcPct val="100000"/>
              </a:lnSpc>
              <a:buNone/>
            </a:pPr>
            <a:r>
              <a:rPr lang="en-US" sz="1400" dirty="0">
                <a:solidFill>
                  <a:srgbClr val="1F2933"/>
                </a:solidFill>
                <a:latin typeface="Courier New" pitchFamily="34" charset="0"/>
                <a:ea typeface="Courier New" pitchFamily="34" charset="-122"/>
                <a:cs typeface="Courier New" pitchFamily="34" charset="-120"/>
              </a:rPr>
              <a:t>             category_orders={"jour": jours})</a:t>
            </a:r>
            <a:endParaRPr lang="en-US" sz="1400" dirty="0"/>
          </a:p>
        </p:txBody>
      </p:sp>
      <p:sp>
        <p:nvSpPr>
          <p:cNvPr id="8" name="Text 6"/>
          <p:cNvSpPr txBox="1"/>
          <p:nvPr/>
        </p:nvSpPr>
        <p:spPr>
          <a:xfrm>
            <a:off x="6807957" y="1417320"/>
            <a:ext cx="4835098" cy="2555240"/>
          </a:xfrm>
          <a:prstGeom prst="rect">
            <a:avLst/>
          </a:prstGeom>
          <a:noFill/>
          <a:ln/>
        </p:spPr>
        <p:txBody>
          <a:bodyPr wrap="square" lIns="0" tIns="0" rIns="0" bIns="0" rtlCol="0" anchor="t"/>
          <a:lstStyle/>
          <a:p>
            <a:pPr marL="254000" indent="-254000">
              <a:spcAft>
                <a:spcPts val="800"/>
              </a:spcAft>
              <a:buSzPct val="100000"/>
              <a:buChar char="•"/>
            </a:pPr>
            <a:r>
              <a:rPr lang="en-US" sz="1500" dirty="0">
                <a:solidFill>
                  <a:srgbClr val="1F3A5F"/>
                </a:solidFill>
                <a:latin typeface="Courier New" pitchFamily="34" charset="0"/>
                <a:ea typeface="Courier New" pitchFamily="34" charset="-122"/>
                <a:cs typeface="Courier New" pitchFamily="34" charset="-120"/>
              </a:rPr>
              <a:t>color</a:t>
            </a:r>
            <a:pPr indent="0" marL="0">
              <a:buNone/>
            </a:pPr>
            <a:r>
              <a:rPr lang="en-US" sz="1500" dirty="0">
                <a:solidFill>
                  <a:srgbClr val="1F2933"/>
                </a:solidFill>
                <a:latin typeface="Calibri" pitchFamily="34" charset="0"/>
                <a:ea typeface="Calibri" pitchFamily="34" charset="-122"/>
                <a:cs typeface="Calibri" pitchFamily="34" charset="-120"/>
              </a:rPr>
              <a:t> dans </a:t>
            </a:r>
            <a:pPr indent="0" marL="0">
              <a:buNone/>
            </a:pPr>
            <a:r>
              <a:rPr lang="en-US" sz="1500" dirty="0">
                <a:solidFill>
                  <a:srgbClr val="1F3A5F"/>
                </a:solidFill>
                <a:latin typeface="Courier New" pitchFamily="34" charset="0"/>
                <a:ea typeface="Courier New" pitchFamily="34" charset="-122"/>
                <a:cs typeface="Courier New" pitchFamily="34" charset="-120"/>
              </a:rPr>
              <a:t>px.bar</a:t>
            </a:r>
            <a:pPr indent="0" marL="0">
              <a:buNone/>
            </a:pPr>
            <a:r>
              <a:rPr lang="en-US" sz="1500" dirty="0">
                <a:solidFill>
                  <a:srgbClr val="1F2933"/>
                </a:solidFill>
                <a:latin typeface="Calibri" pitchFamily="34" charset="0"/>
                <a:ea typeface="Calibri" pitchFamily="34" charset="-122"/>
                <a:cs typeface="Calibri" pitchFamily="34" charset="-120"/>
              </a:rPr>
              <a:t> : des barres empilées, le total du mois et sa décomposition</a:t>
            </a:r>
            <a:endParaRPr lang="en-US" sz="1500" dirty="0"/>
          </a:p>
          <a:p>
            <a:pPr marL="254000" indent="-254000">
              <a:spcAft>
                <a:spcPts val="800"/>
              </a:spcAft>
              <a:buSzPct val="100000"/>
              <a:buChar char="•"/>
            </a:pPr>
            <a:r>
              <a:rPr lang="en-US" sz="1500" dirty="0">
                <a:solidFill>
                  <a:srgbClr val="1F3A5F"/>
                </a:solidFill>
                <a:latin typeface="Courier New" pitchFamily="34" charset="0"/>
                <a:ea typeface="Courier New" pitchFamily="34" charset="-122"/>
                <a:cs typeface="Courier New" pitchFamily="34" charset="-120"/>
              </a:rPr>
              <a:t>size</a:t>
            </a:r>
            <a:pPr indent="0" marL="0">
              <a:buNone/>
            </a:pPr>
            <a:r>
              <a:rPr lang="en-US" sz="1500" dirty="0">
                <a:solidFill>
                  <a:srgbClr val="1F2933"/>
                </a:solidFill>
                <a:latin typeface="Calibri" pitchFamily="34" charset="0"/>
                <a:ea typeface="Calibri" pitchFamily="34" charset="-122"/>
                <a:cs typeface="Calibri" pitchFamily="34" charset="-120"/>
              </a:rPr>
              <a:t> : la taille des points porte une troisième grandeur</a:t>
            </a:r>
            <a:endParaRPr lang="en-US" sz="1500" dirty="0"/>
          </a:p>
          <a:p>
            <a:pPr marL="254000" indent="-254000">
              <a:spcAft>
                <a:spcPts val="800"/>
              </a:spcAft>
              <a:buSzPct val="100000"/>
              <a:buChar char="•"/>
            </a:pPr>
            <a:r>
              <a:rPr lang="en-US" sz="1500" dirty="0">
                <a:solidFill>
                  <a:srgbClr val="1F3A5F"/>
                </a:solidFill>
                <a:latin typeface="Courier New" pitchFamily="34" charset="0"/>
                <a:ea typeface="Courier New" pitchFamily="34" charset="-122"/>
                <a:cs typeface="Courier New" pitchFamily="34" charset="-120"/>
              </a:rPr>
              <a:t>hover_data</a:t>
            </a:r>
            <a:pPr indent="0" marL="0">
              <a:buNone/>
            </a:pPr>
            <a:r>
              <a:rPr lang="en-US" sz="1500" dirty="0">
                <a:solidFill>
                  <a:srgbClr val="1F2933"/>
                </a:solidFill>
                <a:latin typeface="Calibri" pitchFamily="34" charset="0"/>
                <a:ea typeface="Calibri" pitchFamily="34" charset="-122"/>
                <a:cs typeface="Calibri" pitchFamily="34" charset="-120"/>
              </a:rPr>
              <a:t> dans </a:t>
            </a:r>
            <a:pPr indent="0" marL="0">
              <a:buNone/>
            </a:pPr>
            <a:r>
              <a:rPr lang="en-US" sz="1500" dirty="0">
                <a:solidFill>
                  <a:srgbClr val="1F3A5F"/>
                </a:solidFill>
                <a:latin typeface="Courier New" pitchFamily="34" charset="0"/>
                <a:ea typeface="Courier New" pitchFamily="34" charset="-122"/>
                <a:cs typeface="Courier New" pitchFamily="34" charset="-120"/>
              </a:rPr>
              <a:t>px.box</a:t>
            </a:r>
            <a:pPr indent="0" marL="0">
              <a:buNone/>
            </a:pPr>
            <a:r>
              <a:rPr lang="en-US" sz="1500" dirty="0">
                <a:solidFill>
                  <a:srgbClr val="1F2933"/>
                </a:solidFill>
                <a:latin typeface="Calibri" pitchFamily="34" charset="0"/>
                <a:ea typeface="Calibri" pitchFamily="34" charset="-122"/>
                <a:cs typeface="Calibri" pitchFamily="34" charset="-120"/>
              </a:rPr>
              <a:t> : on identifie une commande au survol, sans filtre</a:t>
            </a:r>
            <a:endParaRPr lang="en-US" sz="1500" dirty="0"/>
          </a:p>
          <a:p>
            <a:pPr marL="254000" indent="-254000">
              <a:spcAft>
                <a:spcPts val="800"/>
              </a:spcAft>
              <a:buSzPct val="100000"/>
              <a:buChar char="•"/>
            </a:pPr>
            <a:r>
              <a:rPr lang="en-US" sz="1500" dirty="0">
                <a:solidFill>
                  <a:srgbClr val="1F3A5F"/>
                </a:solidFill>
                <a:latin typeface="Courier New" pitchFamily="34" charset="0"/>
                <a:ea typeface="Courier New" pitchFamily="34" charset="-122"/>
                <a:cs typeface="Courier New" pitchFamily="34" charset="-120"/>
              </a:rPr>
              <a:t>px.histogram</a:t>
            </a:r>
            <a:pPr indent="0" marL="0">
              <a:buNone/>
            </a:pPr>
            <a:r>
              <a:rPr lang="en-US" sz="1500" dirty="0">
                <a:solidFill>
                  <a:srgbClr val="1F2933"/>
                </a:solidFill>
                <a:latin typeface="Calibri" pitchFamily="34" charset="0"/>
                <a:ea typeface="Calibri" pitchFamily="34" charset="-122"/>
                <a:cs typeface="Calibri" pitchFamily="34" charset="-120"/>
              </a:rPr>
              <a:t> sur une colonne texte compte les lignes ; </a:t>
            </a:r>
            <a:pPr indent="0" marL="0">
              <a:buNone/>
            </a:pPr>
            <a:r>
              <a:rPr lang="en-US" sz="1500" dirty="0">
                <a:solidFill>
                  <a:srgbClr val="1F3A5F"/>
                </a:solidFill>
                <a:latin typeface="Courier New" pitchFamily="34" charset="0"/>
                <a:ea typeface="Courier New" pitchFamily="34" charset="-122"/>
                <a:cs typeface="Courier New" pitchFamily="34" charset="-120"/>
              </a:rPr>
              <a:t>category_orders</a:t>
            </a:r>
            <a:pPr indent="0" marL="0">
              <a:buNone/>
            </a:pPr>
            <a:r>
              <a:rPr lang="en-US" sz="1500" dirty="0">
                <a:solidFill>
                  <a:srgbClr val="1F2933"/>
                </a:solidFill>
                <a:latin typeface="Calibri" pitchFamily="34" charset="0"/>
                <a:ea typeface="Calibri" pitchFamily="34" charset="-122"/>
                <a:cs typeface="Calibri" pitchFamily="34" charset="-120"/>
              </a:rPr>
              <a:t> impose l'ordre du calendrier</a:t>
            </a:r>
            <a:endParaRPr lang="en-US" sz="1500" dirty="0"/>
          </a:p>
        </p:txBody>
      </p:sp>
      <p:sp>
        <p:nvSpPr>
          <p:cNvPr id="9" name="Shape 7"/>
          <p:cNvSpPr/>
          <p:nvPr/>
        </p:nvSpPr>
        <p:spPr>
          <a:xfrm>
            <a:off x="548640" y="4337812"/>
            <a:ext cx="11094415" cy="1143000"/>
          </a:xfrm>
          <a:prstGeom prst="roundRect">
            <a:avLst>
              <a:gd name="adj" fmla="val 4800"/>
            </a:avLst>
          </a:prstGeom>
          <a:solidFill>
            <a:srgbClr val="E8F3EE"/>
          </a:solidFill>
          <a:ln/>
        </p:spPr>
      </p:sp>
      <p:sp>
        <p:nvSpPr>
          <p:cNvPr id="10" name="Text 8"/>
          <p:cNvSpPr txBox="1"/>
          <p:nvPr/>
        </p:nvSpPr>
        <p:spPr>
          <a:xfrm>
            <a:off x="822960" y="4337812"/>
            <a:ext cx="10545775" cy="1143000"/>
          </a:xfrm>
          <a:prstGeom prst="rect">
            <a:avLst/>
          </a:prstGeom>
          <a:noFill/>
          <a:ln/>
        </p:spPr>
        <p:txBody>
          <a:bodyPr wrap="square" lIns="0" tIns="0" rIns="0" bIns="0" rtlCol="0" anchor="ctr"/>
          <a:lstStyle/>
          <a:p>
            <a:pPr indent="0" marL="0">
              <a:buNone/>
            </a:pPr>
            <a:r>
              <a:rPr lang="en-US" sz="1700" dirty="0">
                <a:solidFill>
                  <a:srgbClr val="1F3A5F"/>
                </a:solidFill>
                <a:latin typeface="Calibri" pitchFamily="34" charset="0"/>
                <a:ea typeface="Calibri" pitchFamily="34" charset="-122"/>
                <a:cs typeface="Calibri" pitchFamily="34" charset="-120"/>
              </a:rPr>
              <a:t>Un graphique plotly est un objet : </a:t>
            </a:r>
            <a:pPr indent="0" marL="0">
              <a:buNone/>
            </a:pPr>
            <a:r>
              <a:rPr lang="en-US" sz="1700" dirty="0">
                <a:solidFill>
                  <a:srgbClr val="2F7D62"/>
                </a:solidFill>
                <a:latin typeface="Courier New" pitchFamily="34" charset="0"/>
                <a:ea typeface="Courier New" pitchFamily="34" charset="-122"/>
                <a:cs typeface="Courier New" pitchFamily="34" charset="-120"/>
              </a:rPr>
              <a:t>fig.data</a:t>
            </a:r>
            <a:pPr indent="0" marL="0">
              <a:buNone/>
            </a:pPr>
            <a:r>
              <a:rPr lang="en-US" sz="1700" dirty="0">
                <a:solidFill>
                  <a:srgbClr val="1F3A5F"/>
                </a:solidFill>
                <a:latin typeface="Calibri" pitchFamily="34" charset="0"/>
                <a:ea typeface="Calibri" pitchFamily="34" charset="-122"/>
                <a:cs typeface="Calibri" pitchFamily="34" charset="-120"/>
              </a:rPr>
              <a:t> contient les traces, une par couleur, et </a:t>
            </a:r>
            <a:pPr indent="0" marL="0">
              <a:buNone/>
            </a:pPr>
            <a:r>
              <a:rPr lang="en-US" sz="1700" dirty="0">
                <a:solidFill>
                  <a:srgbClr val="2F7D62"/>
                </a:solidFill>
                <a:latin typeface="Courier New" pitchFamily="34" charset="0"/>
                <a:ea typeface="Courier New" pitchFamily="34" charset="-122"/>
                <a:cs typeface="Courier New" pitchFamily="34" charset="-120"/>
              </a:rPr>
              <a:t>fig.layout</a:t>
            </a:r>
            <a:pPr indent="0" marL="0">
              <a:buNone/>
            </a:pPr>
            <a:r>
              <a:rPr lang="en-US" sz="1700" dirty="0">
                <a:solidFill>
                  <a:srgbClr val="1F3A5F"/>
                </a:solidFill>
                <a:latin typeface="Calibri" pitchFamily="34" charset="0"/>
                <a:ea typeface="Calibri" pitchFamily="34" charset="-122"/>
                <a:cs typeface="Calibri" pitchFamily="34" charset="-120"/>
              </a:rPr>
              <a:t> la mise en page. Les vérifications du TP4 testent par exemple </a:t>
            </a:r>
            <a:pPr indent="0" marL="0">
              <a:buNone/>
            </a:pPr>
            <a:r>
              <a:rPr lang="en-US" sz="1700" dirty="0">
                <a:solidFill>
                  <a:srgbClr val="2F7D62"/>
                </a:solidFill>
                <a:latin typeface="Courier New" pitchFamily="34" charset="0"/>
                <a:ea typeface="Courier New" pitchFamily="34" charset="-122"/>
                <a:cs typeface="Courier New" pitchFamily="34" charset="-120"/>
              </a:rPr>
              <a:t>len(fig.data) == 6</a:t>
            </a:r>
            <a:pPr indent="0" marL="0">
              <a:buNone/>
            </a:pPr>
            <a:r>
              <a:rPr lang="en-US" sz="1700" dirty="0">
                <a:solidFill>
                  <a:srgbClr val="1F3A5F"/>
                </a:solidFill>
                <a:latin typeface="Calibri" pitchFamily="34" charset="0"/>
                <a:ea typeface="Calibri" pitchFamily="34" charset="-122"/>
                <a:cs typeface="Calibri" pitchFamily="34" charset="-120"/>
              </a:rPr>
              <a:t> ou </a:t>
            </a:r>
            <a:pPr indent="0" marL="0">
              <a:buNone/>
            </a:pPr>
            <a:r>
              <a:rPr lang="en-US" sz="1700" dirty="0">
                <a:solidFill>
                  <a:srgbClr val="2F7D62"/>
                </a:solidFill>
                <a:latin typeface="Courier New" pitchFamily="34" charset="0"/>
                <a:ea typeface="Courier New" pitchFamily="34" charset="-122"/>
                <a:cs typeface="Courier New" pitchFamily="34" charset="-120"/>
              </a:rPr>
              <a:t>fig.layout.title.text</a:t>
            </a:r>
            <a:pPr indent="0" marL="0">
              <a:buNone/>
            </a:pPr>
            <a:r>
              <a:rPr lang="en-US" sz="1700" dirty="0">
                <a:solidFill>
                  <a:srgbClr val="1F3A5F"/>
                </a:solidFill>
                <a:latin typeface="Calibri" pitchFamily="34" charset="0"/>
                <a:ea typeface="Calibri" pitchFamily="34" charset="-122"/>
                <a:cs typeface="Calibri" pitchFamily="34" charset="-120"/>
              </a:rPr>
              <a:t>.</a:t>
            </a:r>
            <a:endParaRPr lang="en-US" sz="1700" dirty="0"/>
          </a:p>
        </p:txBody>
      </p:sp>
      <p:sp>
        <p:nvSpPr>
          <p:cNvPr id="11" name="Text 9"/>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Analyse de données avec Python   |   Jour 2, après-midi</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66928"/>
            <a:ext cx="475488" cy="475488"/>
          </a:xfrm>
          <a:prstGeom prst="ellipse">
            <a:avLst/>
          </a:prstGeom>
          <a:solidFill>
            <a:srgbClr val="2F7D62"/>
          </a:solidFill>
          <a:ln/>
        </p:spPr>
      </p:sp>
      <p:sp>
        <p:nvSpPr>
          <p:cNvPr id="3" name="Text 1"/>
          <p:cNvSpPr txBox="1"/>
          <p:nvPr/>
        </p:nvSpPr>
        <p:spPr>
          <a:xfrm>
            <a:off x="548640" y="566928"/>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4" name="Text 2"/>
          <p:cNvSpPr txBox="1"/>
          <p:nvPr/>
        </p:nvSpPr>
        <p:spPr>
          <a:xfrm>
            <a:off x="1280160" y="164592"/>
            <a:ext cx="10362895" cy="274320"/>
          </a:xfrm>
          <a:prstGeom prst="rect">
            <a:avLst/>
          </a:prstGeom>
          <a:noFill/>
          <a:ln/>
        </p:spPr>
        <p:txBody>
          <a:bodyPr wrap="square" lIns="0" tIns="0" rIns="0" bIns="0" rtlCol="0" anchor="ctr"/>
          <a:lstStyle/>
          <a:p>
            <a:pPr indent="0" marL="0">
              <a:buNone/>
            </a:pPr>
            <a:r>
              <a:rPr lang="en-US" sz="1200" b="1" spc="200" kern="0" dirty="0">
                <a:solidFill>
                  <a:srgbClr val="2F7D62"/>
                </a:solidFill>
                <a:latin typeface="Calibri" pitchFamily="34" charset="0"/>
                <a:ea typeface="Calibri" pitchFamily="34" charset="-122"/>
                <a:cs typeface="Calibri" pitchFamily="34" charset="-120"/>
              </a:rPr>
              <a:t>PLOTLY</a:t>
            </a:r>
            <a:endParaRPr lang="en-US" sz="1200" dirty="0"/>
          </a:p>
        </p:txBody>
      </p:sp>
      <p:sp>
        <p:nvSpPr>
          <p:cNvPr id="5" name="Text 3"/>
          <p:cNvSpPr txBox="1"/>
          <p:nvPr/>
        </p:nvSpPr>
        <p:spPr>
          <a:xfrm>
            <a:off x="1280160" y="457200"/>
            <a:ext cx="10362895" cy="694944"/>
          </a:xfrm>
          <a:prstGeom prst="rect">
            <a:avLst/>
          </a:prstGeom>
          <a:noFill/>
          <a:ln/>
        </p:spPr>
        <p:txBody>
          <a:bodyPr wrap="square" lIns="0" tIns="0" rIns="0" bIns="0" rtlCol="0" anchor="ctr"/>
          <a:lstStyle/>
          <a:p>
            <a:pPr indent="0" marL="0">
              <a:buNone/>
            </a:pPr>
            <a:r>
              <a:rPr lang="en-US" sz="3000" b="1" dirty="0">
                <a:solidFill>
                  <a:srgbClr val="1F3A5F"/>
                </a:solidFill>
                <a:latin typeface="Cambria" pitchFamily="34" charset="0"/>
                <a:ea typeface="Cambria" pitchFamily="34" charset="-122"/>
                <a:cs typeface="Cambria" pitchFamily="34" charset="-120"/>
              </a:rPr>
              <a:t>Des info-bulles utiles</a:t>
            </a:r>
            <a:endParaRPr lang="en-US" sz="3000" dirty="0"/>
          </a:p>
        </p:txBody>
      </p:sp>
      <p:sp>
        <p:nvSpPr>
          <p:cNvPr id="6" name="Shape 4"/>
          <p:cNvSpPr/>
          <p:nvPr/>
        </p:nvSpPr>
        <p:spPr>
          <a:xfrm>
            <a:off x="548640" y="1417320"/>
            <a:ext cx="5802117" cy="1761236"/>
          </a:xfrm>
          <a:prstGeom prst="rect">
            <a:avLst/>
          </a:prstGeom>
          <a:solidFill>
            <a:srgbClr val="F3F4F6"/>
          </a:solidFill>
          <a:ln/>
        </p:spPr>
      </p:sp>
      <p:sp>
        <p:nvSpPr>
          <p:cNvPr id="7" name="Text 5"/>
          <p:cNvSpPr txBox="1"/>
          <p:nvPr/>
        </p:nvSpPr>
        <p:spPr>
          <a:xfrm>
            <a:off x="731520" y="1563624"/>
            <a:ext cx="5436357" cy="1468628"/>
          </a:xfrm>
          <a:prstGeom prst="rect">
            <a:avLst/>
          </a:prstGeom>
          <a:noFill/>
          <a:ln/>
        </p:spPr>
        <p:txBody>
          <a:bodyPr wrap="square" lIns="0" tIns="0" rIns="0" bIns="0" rtlCol="0" anchor="t"/>
          <a:lstStyle/>
          <a:p>
            <a:pPr indent="0" marL="0">
              <a:lnSpc>
                <a:spcPct val="100000"/>
              </a:lnSpc>
              <a:buNone/>
            </a:pPr>
            <a:r>
              <a:rPr lang="en-US" sz="1400" dirty="0">
                <a:solidFill>
                  <a:srgbClr val="1F2933"/>
                </a:solidFill>
                <a:latin typeface="Courier New" pitchFamily="34" charset="0"/>
                <a:ea typeface="Courier New" pitchFamily="34" charset="-122"/>
                <a:cs typeface="Courier New" pitchFamily="34" charset="-120"/>
              </a:rPr>
              <a:t>fig = px.line(</a:t>
            </a:r>
            <a:endParaRPr lang="en-US" sz="1400" dirty="0"/>
          </a:p>
          <a:p>
            <a:pPr indent="0" marL="0">
              <a:lnSpc>
                <a:spcPct val="100000"/>
              </a:lnSpc>
              <a:buNone/>
            </a:pPr>
            <a:r>
              <a:rPr lang="en-US" sz="1400" dirty="0">
                <a:solidFill>
                  <a:srgbClr val="1F2933"/>
                </a:solidFill>
                <a:latin typeface="Courier New" pitchFamily="34" charset="0"/>
                <a:ea typeface="Courier New" pitchFamily="34" charset="-122"/>
                <a:cs typeface="Courier New" pitchFamily="34" charset="-120"/>
              </a:rPr>
              <a:t>    indicateurs, x="mois", y="ca", color="region",</a:t>
            </a:r>
            <a:endParaRPr lang="en-US" sz="1400" dirty="0"/>
          </a:p>
          <a:p>
            <a:pPr indent="0" marL="0">
              <a:lnSpc>
                <a:spcPct val="100000"/>
              </a:lnSpc>
              <a:buNone/>
            </a:pPr>
            <a:r>
              <a:rPr lang="en-US" sz="1400" dirty="0">
                <a:solidFill>
                  <a:srgbClr val="1F2933"/>
                </a:solidFill>
                <a:latin typeface="Courier New" pitchFamily="34" charset="0"/>
                <a:ea typeface="Courier New" pitchFamily="34" charset="-122"/>
                <a:cs typeface="Courier New" pitchFamily="34" charset="-120"/>
              </a:rPr>
              <a:t>    hover_data={"nb_commandes": True,</a:t>
            </a:r>
            <a:endParaRPr lang="en-US" sz="1400" dirty="0"/>
          </a:p>
          <a:p>
            <a:pPr indent="0" marL="0">
              <a:lnSpc>
                <a:spcPct val="100000"/>
              </a:lnSpc>
              <a:buNone/>
            </a:pPr>
            <a:r>
              <a:rPr lang="en-US" sz="1400" dirty="0">
                <a:solidFill>
                  <a:srgbClr val="1F2933"/>
                </a:solidFill>
                <a:latin typeface="Courier New" pitchFamily="34" charset="0"/>
                <a:ea typeface="Courier New" pitchFamily="34" charset="-122"/>
                <a:cs typeface="Courier New" pitchFamily="34" charset="-120"/>
              </a:rPr>
              <a:t>                "taux_realisation": ":.0%"},</a:t>
            </a:r>
            <a:endParaRPr lang="en-US" sz="1400" dirty="0"/>
          </a:p>
          <a:p>
            <a:pPr indent="0" marL="0">
              <a:lnSpc>
                <a:spcPct val="100000"/>
              </a:lnSpc>
              <a:buNone/>
            </a:pPr>
            <a:r>
              <a:rPr lang="en-US" sz="1400" dirty="0">
                <a:solidFill>
                  <a:srgbClr val="1F2933"/>
                </a:solidFill>
                <a:latin typeface="Courier New" pitchFamily="34" charset="0"/>
                <a:ea typeface="Courier New" pitchFamily="34" charset="-122"/>
                <a:cs typeface="Courier New" pitchFamily="34" charset="-120"/>
              </a:rPr>
              <a:t>    labels={"ca": "chiffre d'affaires",</a:t>
            </a:r>
            <a:endParaRPr lang="en-US" sz="1400" dirty="0"/>
          </a:p>
          <a:p>
            <a:pPr indent="0" marL="0">
              <a:lnSpc>
                <a:spcPct val="100000"/>
              </a:lnSpc>
              <a:buNone/>
            </a:pPr>
            <a:r>
              <a:rPr lang="en-US" sz="1400" dirty="0">
                <a:solidFill>
                  <a:srgbClr val="1F2933"/>
                </a:solidFill>
                <a:latin typeface="Courier New" pitchFamily="34" charset="0"/>
                <a:ea typeface="Courier New" pitchFamily="34" charset="-122"/>
                <a:cs typeface="Courier New" pitchFamily="34" charset="-120"/>
              </a:rPr>
              <a:t>            "mois": "", "region": "région"},</a:t>
            </a:r>
            <a:endParaRPr lang="en-US" sz="1400" dirty="0"/>
          </a:p>
          <a:p>
            <a:pPr indent="0" marL="0">
              <a:lnSpc>
                <a:spcPct val="100000"/>
              </a:lnSpc>
              <a:buNone/>
            </a:pPr>
            <a:r>
              <a:rPr lang="en-US" sz="1400" dirty="0">
                <a:solidFill>
                  <a:srgbClr val="1F2933"/>
                </a:solidFill>
                <a:latin typeface="Courier New" pitchFamily="34" charset="0"/>
                <a:ea typeface="Courier New" pitchFamily="34" charset="-122"/>
                <a:cs typeface="Courier New" pitchFamily="34" charset="-120"/>
              </a:rPr>
              <a:t>)</a:t>
            </a:r>
            <a:endParaRPr lang="en-US" sz="1400" dirty="0"/>
          </a:p>
        </p:txBody>
      </p:sp>
      <p:sp>
        <p:nvSpPr>
          <p:cNvPr id="8" name="Text 6"/>
          <p:cNvSpPr txBox="1"/>
          <p:nvPr/>
        </p:nvSpPr>
        <p:spPr>
          <a:xfrm>
            <a:off x="6807957" y="1417320"/>
            <a:ext cx="4835098" cy="2829560"/>
          </a:xfrm>
          <a:prstGeom prst="rect">
            <a:avLst/>
          </a:prstGeom>
          <a:noFill/>
          <a:ln/>
        </p:spPr>
        <p:txBody>
          <a:bodyPr wrap="square" lIns="0" tIns="0" rIns="0" bIns="0" rtlCol="0" anchor="t"/>
          <a:lstStyle/>
          <a:p>
            <a:pPr marL="254000" indent="-254000">
              <a:spcAft>
                <a:spcPts val="800"/>
              </a:spcAft>
              <a:buSzPct val="100000"/>
              <a:buChar char="•"/>
            </a:pPr>
            <a:r>
              <a:rPr lang="en-US" sz="1700" dirty="0">
                <a:solidFill>
                  <a:srgbClr val="1F3A5F"/>
                </a:solidFill>
                <a:latin typeface="Courier New" pitchFamily="34" charset="0"/>
                <a:ea typeface="Courier New" pitchFamily="34" charset="-122"/>
                <a:cs typeface="Courier New" pitchFamily="34" charset="-120"/>
              </a:rPr>
              <a:t>hover_data</a:t>
            </a:r>
            <a:pPr indent="0" marL="0">
              <a:buNone/>
            </a:pPr>
            <a:r>
              <a:rPr lang="en-US" sz="1700" dirty="0">
                <a:solidFill>
                  <a:srgbClr val="1F2933"/>
                </a:solidFill>
                <a:latin typeface="Calibri" pitchFamily="34" charset="0"/>
                <a:ea typeface="Calibri" pitchFamily="34" charset="-122"/>
                <a:cs typeface="Calibri" pitchFamily="34" charset="-120"/>
              </a:rPr>
              <a:t> ajoute des colonnes à l'info-bulle, avec un format</a:t>
            </a:r>
            <a:endParaRPr lang="en-US" sz="1700" dirty="0"/>
          </a:p>
          <a:p>
            <a:pPr marL="254000" indent="-254000">
              <a:spcAft>
                <a:spcPts val="800"/>
              </a:spcAft>
              <a:buSzPct val="100000"/>
              <a:buChar char="•"/>
            </a:pPr>
            <a:r>
              <a:rPr lang="en-US" sz="1700" dirty="0">
                <a:solidFill>
                  <a:srgbClr val="1F3A5F"/>
                </a:solidFill>
                <a:latin typeface="Courier New" pitchFamily="34" charset="0"/>
                <a:ea typeface="Courier New" pitchFamily="34" charset="-122"/>
                <a:cs typeface="Courier New" pitchFamily="34" charset="-120"/>
              </a:rPr>
              <a:t>labels</a:t>
            </a:r>
            <a:pPr indent="0" marL="0">
              <a:buNone/>
            </a:pPr>
            <a:r>
              <a:rPr lang="en-US" sz="1700" dirty="0">
                <a:solidFill>
                  <a:srgbClr val="1F2933"/>
                </a:solidFill>
                <a:latin typeface="Calibri" pitchFamily="34" charset="0"/>
                <a:ea typeface="Calibri" pitchFamily="34" charset="-122"/>
                <a:cs typeface="Calibri" pitchFamily="34" charset="-120"/>
              </a:rPr>
              <a:t> remplace les noms de colonnes partout dans le graphique</a:t>
            </a:r>
            <a:endParaRPr lang="en-US" sz="1700" dirty="0"/>
          </a:p>
          <a:p>
            <a:pPr marL="254000" indent="-254000">
              <a:spcAft>
                <a:spcPts val="800"/>
              </a:spcAft>
              <a:buSzPct val="100000"/>
              <a:buChar char="•"/>
            </a:pPr>
            <a:r>
              <a:rPr lang="en-US" sz="1700" dirty="0">
                <a:solidFill>
                  <a:srgbClr val="1F2933"/>
                </a:solidFill>
                <a:latin typeface="Calibri" pitchFamily="34" charset="0"/>
                <a:ea typeface="Calibri" pitchFamily="34" charset="-122"/>
                <a:cs typeface="Calibri" pitchFamily="34" charset="-120"/>
              </a:rPr>
              <a:t>L'information secondaire va dans l'info-bulle : le graphique reste léger</a:t>
            </a:r>
            <a:endParaRPr lang="en-US" sz="1700" dirty="0"/>
          </a:p>
          <a:p>
            <a:pPr marL="254000" indent="-254000">
              <a:spcAft>
                <a:spcPts val="800"/>
              </a:spcAft>
              <a:buSzPct val="100000"/>
              <a:buChar char="•"/>
            </a:pPr>
            <a:r>
              <a:rPr lang="en-US" sz="1700" dirty="0">
                <a:solidFill>
                  <a:srgbClr val="1F2933"/>
                </a:solidFill>
                <a:latin typeface="Calibri" pitchFamily="34" charset="0"/>
                <a:ea typeface="Calibri" pitchFamily="34" charset="-122"/>
                <a:cs typeface="Calibri" pitchFamily="34" charset="-120"/>
              </a:rPr>
              <a:t>Pour une date, le format commence par une barre verticale : </a:t>
            </a:r>
            <a:pPr indent="0" marL="0">
              <a:buNone/>
            </a:pPr>
            <a:r>
              <a:rPr lang="en-US" sz="1700" dirty="0">
                <a:solidFill>
                  <a:srgbClr val="1F3A5F"/>
                </a:solidFill>
                <a:latin typeface="Courier New" pitchFamily="34" charset="0"/>
                <a:ea typeface="Courier New" pitchFamily="34" charset="-122"/>
                <a:cs typeface="Courier New" pitchFamily="34" charset="-120"/>
              </a:rPr>
              <a:t>"|%m/%Y"</a:t>
            </a:r>
            <a:pPr indent="0" marL="0">
              <a:buNone/>
            </a:pPr>
            <a:r>
              <a:rPr lang="en-US" sz="1700" dirty="0">
                <a:solidFill>
                  <a:srgbClr val="1F2933"/>
                </a:solidFill>
                <a:latin typeface="Calibri" pitchFamily="34" charset="0"/>
                <a:ea typeface="Calibri" pitchFamily="34" charset="-122"/>
                <a:cs typeface="Calibri" pitchFamily="34" charset="-120"/>
              </a:rPr>
              <a:t> affiche </a:t>
            </a:r>
            <a:pPr indent="0" marL="0">
              <a:buNone/>
            </a:pPr>
            <a:r>
              <a:rPr lang="en-US" sz="1700" dirty="0">
                <a:solidFill>
                  <a:srgbClr val="1F3A5F"/>
                </a:solidFill>
                <a:latin typeface="Courier New" pitchFamily="34" charset="0"/>
                <a:ea typeface="Courier New" pitchFamily="34" charset="-122"/>
                <a:cs typeface="Courier New" pitchFamily="34" charset="-120"/>
              </a:rPr>
              <a:t>03/2025</a:t>
            </a:r>
            <a:endParaRPr lang="en-US" sz="1700" dirty="0"/>
          </a:p>
        </p:txBody>
      </p:sp>
      <p:sp>
        <p:nvSpPr>
          <p:cNvPr id="9" name="Text 7"/>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Analyse de données avec Python   |   Jour 2, après-midi</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66928"/>
            <a:ext cx="475488" cy="475488"/>
          </a:xfrm>
          <a:prstGeom prst="ellipse">
            <a:avLst/>
          </a:prstGeom>
          <a:solidFill>
            <a:srgbClr val="2F7D62"/>
          </a:solidFill>
          <a:ln/>
        </p:spPr>
      </p:sp>
      <p:sp>
        <p:nvSpPr>
          <p:cNvPr id="3" name="Text 1"/>
          <p:cNvSpPr txBox="1"/>
          <p:nvPr/>
        </p:nvSpPr>
        <p:spPr>
          <a:xfrm>
            <a:off x="548640" y="566928"/>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4" name="Text 2"/>
          <p:cNvSpPr txBox="1"/>
          <p:nvPr/>
        </p:nvSpPr>
        <p:spPr>
          <a:xfrm>
            <a:off x="1280160" y="164592"/>
            <a:ext cx="10362895" cy="274320"/>
          </a:xfrm>
          <a:prstGeom prst="rect">
            <a:avLst/>
          </a:prstGeom>
          <a:noFill/>
          <a:ln/>
        </p:spPr>
        <p:txBody>
          <a:bodyPr wrap="square" lIns="0" tIns="0" rIns="0" bIns="0" rtlCol="0" anchor="ctr"/>
          <a:lstStyle/>
          <a:p>
            <a:pPr indent="0" marL="0">
              <a:buNone/>
            </a:pPr>
            <a:r>
              <a:rPr lang="en-US" sz="1200" b="1" spc="200" kern="0" dirty="0">
                <a:solidFill>
                  <a:srgbClr val="2F7D62"/>
                </a:solidFill>
                <a:latin typeface="Calibri" pitchFamily="34" charset="0"/>
                <a:ea typeface="Calibri" pitchFamily="34" charset="-122"/>
                <a:cs typeface="Calibri" pitchFamily="34" charset="-120"/>
              </a:rPr>
              <a:t>PLOTLY</a:t>
            </a:r>
            <a:endParaRPr lang="en-US" sz="1200" dirty="0"/>
          </a:p>
        </p:txBody>
      </p:sp>
      <p:sp>
        <p:nvSpPr>
          <p:cNvPr id="5" name="Text 3"/>
          <p:cNvSpPr txBox="1"/>
          <p:nvPr/>
        </p:nvSpPr>
        <p:spPr>
          <a:xfrm>
            <a:off x="1280160" y="457200"/>
            <a:ext cx="10362895" cy="694944"/>
          </a:xfrm>
          <a:prstGeom prst="rect">
            <a:avLst/>
          </a:prstGeom>
          <a:noFill/>
          <a:ln/>
        </p:spPr>
        <p:txBody>
          <a:bodyPr wrap="square" lIns="0" tIns="0" rIns="0" bIns="0" rtlCol="0" anchor="ctr"/>
          <a:lstStyle/>
          <a:p>
            <a:pPr indent="0" marL="0">
              <a:buNone/>
            </a:pPr>
            <a:r>
              <a:rPr lang="en-US" sz="3000" b="1" dirty="0">
                <a:solidFill>
                  <a:srgbClr val="1F3A5F"/>
                </a:solidFill>
                <a:latin typeface="Cambria" pitchFamily="34" charset="0"/>
                <a:ea typeface="Cambria" pitchFamily="34" charset="-122"/>
                <a:cs typeface="Cambria" pitchFamily="34" charset="-120"/>
              </a:rPr>
              <a:t>Personnaliser et exporter en HTML</a:t>
            </a:r>
            <a:endParaRPr lang="en-US" sz="3000" dirty="0"/>
          </a:p>
        </p:txBody>
      </p:sp>
      <p:sp>
        <p:nvSpPr>
          <p:cNvPr id="6" name="Shape 4"/>
          <p:cNvSpPr/>
          <p:nvPr/>
        </p:nvSpPr>
        <p:spPr>
          <a:xfrm>
            <a:off x="548640" y="1417320"/>
            <a:ext cx="5802117" cy="2765298"/>
          </a:xfrm>
          <a:prstGeom prst="rect">
            <a:avLst/>
          </a:prstGeom>
          <a:solidFill>
            <a:srgbClr val="F3F4F6"/>
          </a:solidFill>
          <a:ln/>
        </p:spPr>
      </p:sp>
      <p:sp>
        <p:nvSpPr>
          <p:cNvPr id="7" name="Text 5"/>
          <p:cNvSpPr txBox="1"/>
          <p:nvPr/>
        </p:nvSpPr>
        <p:spPr>
          <a:xfrm>
            <a:off x="731520" y="1563624"/>
            <a:ext cx="5436357" cy="2472690"/>
          </a:xfrm>
          <a:prstGeom prst="rect">
            <a:avLst/>
          </a:prstGeom>
          <a:noFill/>
          <a:ln/>
        </p:spPr>
        <p:txBody>
          <a:bodyPr wrap="square" lIns="0" tIns="0" rIns="0" bIns="0" rtlCol="0" anchor="t"/>
          <a:lstStyle/>
          <a:p>
            <a:pPr indent="0" marL="0">
              <a:lnSpc>
                <a:spcPct val="100000"/>
              </a:lnSpc>
              <a:buNone/>
            </a:pPr>
            <a:r>
              <a:rPr lang="en-US" sz="1500" dirty="0">
                <a:solidFill>
                  <a:srgbClr val="1F2933"/>
                </a:solidFill>
                <a:latin typeface="Courier New" pitchFamily="34" charset="0"/>
                <a:ea typeface="Courier New" pitchFamily="34" charset="-122"/>
                <a:cs typeface="Courier New" pitchFamily="34" charset="-120"/>
              </a:rPr>
              <a:t>fig.update_layout(</a:t>
            </a:r>
            <a:endParaRPr lang="en-US" sz="1500" dirty="0"/>
          </a:p>
          <a:p>
            <a:pPr indent="0" marL="0">
              <a:lnSpc>
                <a:spcPct val="100000"/>
              </a:lnSpc>
              <a:buNone/>
            </a:pPr>
            <a:r>
              <a:rPr lang="en-US" sz="1500" dirty="0">
                <a:solidFill>
                  <a:srgbClr val="1F2933"/>
                </a:solidFill>
                <a:latin typeface="Courier New" pitchFamily="34" charset="0"/>
                <a:ea typeface="Courier New" pitchFamily="34" charset="-122"/>
                <a:cs typeface="Courier New" pitchFamily="34" charset="-120"/>
              </a:rPr>
              <a:t>    yaxis_title="chiffre d'affaires (euros)",</a:t>
            </a:r>
            <a:endParaRPr lang="en-US" sz="1500" dirty="0"/>
          </a:p>
          <a:p>
            <a:pPr indent="0" marL="0">
              <a:lnSpc>
                <a:spcPct val="100000"/>
              </a:lnSpc>
              <a:buNone/>
            </a:pPr>
            <a:r>
              <a:rPr lang="en-US" sz="1500" dirty="0">
                <a:solidFill>
                  <a:srgbClr val="1F2933"/>
                </a:solidFill>
                <a:latin typeface="Courier New" pitchFamily="34" charset="0"/>
                <a:ea typeface="Courier New" pitchFamily="34" charset="-122"/>
                <a:cs typeface="Courier New" pitchFamily="34" charset="-120"/>
              </a:rPr>
              <a:t>    legend_title="",</a:t>
            </a:r>
            <a:endParaRPr lang="en-US" sz="1500" dirty="0"/>
          </a:p>
          <a:p>
            <a:pPr indent="0" marL="0">
              <a:lnSpc>
                <a:spcPct val="100000"/>
              </a:lnSpc>
              <a:buNone/>
            </a:pPr>
            <a:r>
              <a:rPr lang="en-US" sz="1500" dirty="0">
                <a:solidFill>
                  <a:srgbClr val="1F2933"/>
                </a:solidFill>
                <a:latin typeface="Courier New" pitchFamily="34" charset="0"/>
                <a:ea typeface="Courier New" pitchFamily="34" charset="-122"/>
                <a:cs typeface="Courier New" pitchFamily="34" charset="-120"/>
              </a:rPr>
              <a:t>    template="simple_white",</a:t>
            </a:r>
            <a:endParaRPr lang="en-US" sz="1500" dirty="0"/>
          </a:p>
          <a:p>
            <a:pPr indent="0" marL="0">
              <a:lnSpc>
                <a:spcPct val="100000"/>
              </a:lnSpc>
              <a:buNone/>
            </a:pPr>
            <a:r>
              <a:rPr lang="en-US" sz="1500" dirty="0">
                <a:solidFill>
                  <a:srgbClr val="1F2933"/>
                </a:solidFill>
                <a:latin typeface="Courier New" pitchFamily="34" charset="0"/>
                <a:ea typeface="Courier New" pitchFamily="34" charset="-122"/>
                <a:cs typeface="Courier New" pitchFamily="34" charset="-120"/>
              </a:rPr>
              <a:t>)</a:t>
            </a:r>
            <a:endParaRPr lang="en-US" sz="1500" dirty="0"/>
          </a:p>
          <a:p>
            <a:pPr indent="0" marL="0">
              <a:lnSpc>
                <a:spcPct val="100000"/>
              </a:lnSpc>
              <a:buNone/>
            </a:pPr>
            <a:r>
              <a:rPr lang="en-US" sz="1500" dirty="0">
                <a:solidFill>
                  <a:srgbClr val="1F2933"/>
                </a:solidFill>
                <a:latin typeface="Courier New" pitchFamily="34" charset="0"/>
                <a:ea typeface="Courier New" pitchFamily="34" charset="-122"/>
                <a:cs typeface="Courier New" pitchFamily="34" charset="-120"/>
              </a:rPr>
              <a:t>fig.update_traces(line_width=2)</a:t>
            </a:r>
            <a:endParaRPr lang="en-US" sz="1500" dirty="0"/>
          </a:p>
          <a:p>
            <a:pPr indent="0" marL="0">
              <a:lnSpc>
                <a:spcPct val="100000"/>
              </a:lnSpc>
              <a:buNone/>
            </a:pPr>
            <a:r>
              <a:rPr lang="en-US" sz="1500" dirty="0">
                <a:solidFill>
                  <a:srgbClr val="1F2933"/>
                </a:solidFill>
                <a:latin typeface="Courier New" pitchFamily="34" charset="0"/>
                <a:ea typeface="Courier New" pitchFamily="34" charset="-122"/>
                <a:cs typeface="Courier New" pitchFamily="34" charset="-120"/>
              </a:rPr>
              <a:t> </a:t>
            </a:r>
            <a:endParaRPr lang="en-US" sz="1500" dirty="0"/>
          </a:p>
          <a:p>
            <a:pPr indent="0" marL="0">
              <a:lnSpc>
                <a:spcPct val="100000"/>
              </a:lnSpc>
              <a:buNone/>
            </a:pPr>
            <a:r>
              <a:rPr lang="en-US" sz="1500" dirty="0">
                <a:solidFill>
                  <a:srgbClr val="1F2933"/>
                </a:solidFill>
                <a:latin typeface="Courier New" pitchFamily="34" charset="0"/>
                <a:ea typeface="Courier New" pitchFamily="34" charset="-122"/>
                <a:cs typeface="Courier New" pitchFamily="34" charset="-120"/>
              </a:rPr>
              <a:t>fig.write_html("ca_mensuel.html")</a:t>
            </a:r>
            <a:endParaRPr lang="en-US" sz="1500" dirty="0"/>
          </a:p>
          <a:p>
            <a:pPr indent="0" marL="0">
              <a:lnSpc>
                <a:spcPct val="100000"/>
              </a:lnSpc>
              <a:buNone/>
            </a:pPr>
            <a:r>
              <a:rPr lang="en-US" sz="1500" dirty="0">
                <a:solidFill>
                  <a:srgbClr val="1F2933"/>
                </a:solidFill>
                <a:latin typeface="Courier New" pitchFamily="34" charset="0"/>
                <a:ea typeface="Courier New" pitchFamily="34" charset="-122"/>
                <a:cs typeface="Courier New" pitchFamily="34" charset="-120"/>
              </a:rPr>
              <a:t>fig.write_html("ca_mensuel_cdn.html",</a:t>
            </a:r>
            <a:endParaRPr lang="en-US" sz="1500" dirty="0"/>
          </a:p>
          <a:p>
            <a:pPr indent="0" marL="0">
              <a:lnSpc>
                <a:spcPct val="100000"/>
              </a:lnSpc>
              <a:buNone/>
            </a:pPr>
            <a:r>
              <a:rPr lang="en-US" sz="1500" dirty="0">
                <a:solidFill>
                  <a:srgbClr val="1F2933"/>
                </a:solidFill>
                <a:latin typeface="Courier New" pitchFamily="34" charset="0"/>
                <a:ea typeface="Courier New" pitchFamily="34" charset="-122"/>
                <a:cs typeface="Courier New" pitchFamily="34" charset="-120"/>
              </a:rPr>
              <a:t>               include_plotlyjs="cdn")</a:t>
            </a:r>
            <a:endParaRPr lang="en-US" sz="1500" dirty="0"/>
          </a:p>
          <a:p>
            <a:pPr indent="0" marL="0">
              <a:lnSpc>
                <a:spcPct val="100000"/>
              </a:lnSpc>
              <a:buNone/>
            </a:pPr>
            <a:r>
              <a:rPr lang="en-US" sz="1500" dirty="0">
                <a:solidFill>
                  <a:srgbClr val="1F2933"/>
                </a:solidFill>
                <a:latin typeface="Courier New" pitchFamily="34" charset="0"/>
                <a:ea typeface="Courier New" pitchFamily="34" charset="-122"/>
                <a:cs typeface="Courier New" pitchFamily="34" charset="-120"/>
              </a:rPr>
              <a:t>Path("ca_mensuel_cdn.html").stat().st_size</a:t>
            </a:r>
            <a:endParaRPr lang="en-US" sz="1500" dirty="0"/>
          </a:p>
        </p:txBody>
      </p:sp>
      <p:sp>
        <p:nvSpPr>
          <p:cNvPr id="8" name="Text 6"/>
          <p:cNvSpPr txBox="1"/>
          <p:nvPr/>
        </p:nvSpPr>
        <p:spPr>
          <a:xfrm>
            <a:off x="548640" y="4502658"/>
            <a:ext cx="5802117" cy="624840"/>
          </a:xfrm>
          <a:prstGeom prst="rect">
            <a:avLst/>
          </a:prstGeom>
          <a:noFill/>
          <a:ln/>
        </p:spPr>
        <p:txBody>
          <a:bodyPr wrap="square" lIns="0" tIns="0" rIns="0" bIns="0" rtlCol="0" anchor="t"/>
          <a:lstStyle/>
          <a:p>
            <a:pPr indent="0" marL="0">
              <a:buNone/>
            </a:pPr>
            <a:r>
              <a:rPr lang="en-US" sz="1600" dirty="0">
                <a:solidFill>
                  <a:srgbClr val="6B7280"/>
                </a:solidFill>
                <a:latin typeface="Calibri" pitchFamily="34" charset="0"/>
                <a:ea typeface="Calibri" pitchFamily="34" charset="-122"/>
                <a:cs typeface="Calibri" pitchFamily="34" charset="-120"/>
              </a:rPr>
              <a:t>Le modèle se passe aussi à la création : </a:t>
            </a:r>
            <a:pPr indent="0" marL="0">
              <a:buNone/>
            </a:pPr>
            <a:r>
              <a:rPr lang="en-US" sz="1600" dirty="0">
                <a:solidFill>
                  <a:srgbClr val="1F3A5F"/>
                </a:solidFill>
                <a:latin typeface="Courier New" pitchFamily="34" charset="0"/>
                <a:ea typeface="Courier New" pitchFamily="34" charset="-122"/>
                <a:cs typeface="Courier New" pitchFamily="34" charset="-120"/>
              </a:rPr>
              <a:t>px.bar(..., template="simple_white")</a:t>
            </a:r>
            <a:pPr indent="0" marL="0">
              <a:buNone/>
            </a:pPr>
            <a:r>
              <a:rPr lang="en-US" sz="1600" dirty="0">
                <a:solidFill>
                  <a:srgbClr val="6B7280"/>
                </a:solidFill>
                <a:latin typeface="Calibri" pitchFamily="34" charset="0"/>
                <a:ea typeface="Calibri" pitchFamily="34" charset="-122"/>
                <a:cs typeface="Calibri" pitchFamily="34" charset="-120"/>
              </a:rPr>
              <a:t>.</a:t>
            </a:r>
            <a:endParaRPr lang="en-US" sz="1600" dirty="0"/>
          </a:p>
        </p:txBody>
      </p:sp>
      <p:sp>
        <p:nvSpPr>
          <p:cNvPr id="9" name="Shape 7"/>
          <p:cNvSpPr/>
          <p:nvPr/>
        </p:nvSpPr>
        <p:spPr>
          <a:xfrm>
            <a:off x="6807957" y="1417320"/>
            <a:ext cx="2280389" cy="1600200"/>
          </a:xfrm>
          <a:prstGeom prst="roundRect">
            <a:avLst>
              <a:gd name="adj" fmla="val 4571"/>
            </a:avLst>
          </a:prstGeom>
          <a:solidFill>
            <a:srgbClr val="EEF3F7"/>
          </a:solidFill>
          <a:ln/>
        </p:spPr>
      </p:sp>
      <p:sp>
        <p:nvSpPr>
          <p:cNvPr id="10" name="Text 8"/>
          <p:cNvSpPr txBox="1"/>
          <p:nvPr/>
        </p:nvSpPr>
        <p:spPr>
          <a:xfrm>
            <a:off x="7036557" y="1600200"/>
            <a:ext cx="1823189" cy="777240"/>
          </a:xfrm>
          <a:prstGeom prst="rect">
            <a:avLst/>
          </a:prstGeom>
          <a:noFill/>
          <a:ln/>
        </p:spPr>
        <p:txBody>
          <a:bodyPr wrap="square" lIns="0" tIns="0" rIns="0" bIns="0" rtlCol="0" anchor="ctr"/>
          <a:lstStyle/>
          <a:p>
            <a:pPr indent="0" marL="0">
              <a:buNone/>
            </a:pPr>
            <a:r>
              <a:rPr lang="en-US" sz="4000" b="1" dirty="0">
                <a:solidFill>
                  <a:srgbClr val="1F3A5F"/>
                </a:solidFill>
                <a:latin typeface="Cambria" pitchFamily="34" charset="0"/>
                <a:ea typeface="Cambria" pitchFamily="34" charset="-122"/>
                <a:cs typeface="Cambria" pitchFamily="34" charset="-120"/>
              </a:rPr>
              <a:t>4,8 Mo</a:t>
            </a:r>
            <a:endParaRPr lang="en-US" sz="4000" dirty="0"/>
          </a:p>
        </p:txBody>
      </p:sp>
      <p:sp>
        <p:nvSpPr>
          <p:cNvPr id="11" name="Text 9"/>
          <p:cNvSpPr txBox="1"/>
          <p:nvPr/>
        </p:nvSpPr>
        <p:spPr>
          <a:xfrm>
            <a:off x="7036557" y="2423160"/>
            <a:ext cx="1823189" cy="457200"/>
          </a:xfrm>
          <a:prstGeom prst="rect">
            <a:avLst/>
          </a:prstGeom>
          <a:noFill/>
          <a:ln/>
        </p:spPr>
        <p:txBody>
          <a:bodyPr wrap="square" lIns="0" tIns="0" rIns="0" bIns="0" rtlCol="0" anchor="t"/>
          <a:lstStyle/>
          <a:p>
            <a:pPr indent="0" marL="0">
              <a:buNone/>
            </a:pPr>
            <a:r>
              <a:rPr lang="en-US" sz="1500" dirty="0">
                <a:solidFill>
                  <a:srgbClr val="6B7280"/>
                </a:solidFill>
                <a:latin typeface="Calibri" pitchFamily="34" charset="0"/>
                <a:ea typeface="Calibri" pitchFamily="34" charset="-122"/>
                <a:cs typeface="Calibri" pitchFamily="34" charset="-120"/>
              </a:rPr>
              <a:t>par défaut, autonome</a:t>
            </a:r>
            <a:endParaRPr lang="en-US" sz="1500" dirty="0"/>
          </a:p>
        </p:txBody>
      </p:sp>
      <p:sp>
        <p:nvSpPr>
          <p:cNvPr id="12" name="Shape 10"/>
          <p:cNvSpPr/>
          <p:nvPr/>
        </p:nvSpPr>
        <p:spPr>
          <a:xfrm>
            <a:off x="9362666" y="1417320"/>
            <a:ext cx="2280389" cy="1600200"/>
          </a:xfrm>
          <a:prstGeom prst="roundRect">
            <a:avLst>
              <a:gd name="adj" fmla="val 4571"/>
            </a:avLst>
          </a:prstGeom>
          <a:solidFill>
            <a:srgbClr val="EEF3F7"/>
          </a:solidFill>
          <a:ln/>
        </p:spPr>
      </p:sp>
      <p:sp>
        <p:nvSpPr>
          <p:cNvPr id="13" name="Text 11"/>
          <p:cNvSpPr txBox="1"/>
          <p:nvPr/>
        </p:nvSpPr>
        <p:spPr>
          <a:xfrm>
            <a:off x="9591266" y="1600200"/>
            <a:ext cx="1823189" cy="777240"/>
          </a:xfrm>
          <a:prstGeom prst="rect">
            <a:avLst/>
          </a:prstGeom>
          <a:noFill/>
          <a:ln/>
        </p:spPr>
        <p:txBody>
          <a:bodyPr wrap="square" lIns="0" tIns="0" rIns="0" bIns="0" rtlCol="0" anchor="ctr"/>
          <a:lstStyle/>
          <a:p>
            <a:pPr indent="0" marL="0">
              <a:buNone/>
            </a:pPr>
            <a:r>
              <a:rPr lang="en-US" sz="4000" b="1" dirty="0">
                <a:solidFill>
                  <a:srgbClr val="2F7D62"/>
                </a:solidFill>
                <a:latin typeface="Cambria" pitchFamily="34" charset="0"/>
                <a:ea typeface="Cambria" pitchFamily="34" charset="-122"/>
                <a:cs typeface="Cambria" pitchFamily="34" charset="-120"/>
              </a:rPr>
              <a:t>14 Ko</a:t>
            </a:r>
            <a:endParaRPr lang="en-US" sz="4000" dirty="0"/>
          </a:p>
        </p:txBody>
      </p:sp>
      <p:sp>
        <p:nvSpPr>
          <p:cNvPr id="14" name="Text 12"/>
          <p:cNvSpPr txBox="1"/>
          <p:nvPr/>
        </p:nvSpPr>
        <p:spPr>
          <a:xfrm>
            <a:off x="9591266" y="2423160"/>
            <a:ext cx="1823189" cy="457200"/>
          </a:xfrm>
          <a:prstGeom prst="rect">
            <a:avLst/>
          </a:prstGeom>
          <a:noFill/>
          <a:ln/>
        </p:spPr>
        <p:txBody>
          <a:bodyPr wrap="square" lIns="0" tIns="0" rIns="0" bIns="0" rtlCol="0" anchor="t"/>
          <a:lstStyle/>
          <a:p>
            <a:pPr indent="0" marL="0">
              <a:buNone/>
            </a:pPr>
            <a:r>
              <a:rPr lang="en-US" sz="1500" dirty="0">
                <a:solidFill>
                  <a:srgbClr val="6B7280"/>
                </a:solidFill>
                <a:latin typeface="Calibri" pitchFamily="34" charset="0"/>
                <a:ea typeface="Calibri" pitchFamily="34" charset="-122"/>
                <a:cs typeface="Calibri" pitchFamily="34" charset="-120"/>
              </a:rPr>
              <a:t>avec </a:t>
            </a:r>
            <a:pPr indent="0" marL="0">
              <a:buNone/>
            </a:pPr>
            <a:r>
              <a:rPr lang="en-US" sz="1500" dirty="0">
                <a:solidFill>
                  <a:srgbClr val="1F3A5F"/>
                </a:solidFill>
                <a:latin typeface="Courier New" pitchFamily="34" charset="0"/>
                <a:ea typeface="Courier New" pitchFamily="34" charset="-122"/>
                <a:cs typeface="Courier New" pitchFamily="34" charset="-120"/>
              </a:rPr>
              <a:t>"cdn"</a:t>
            </a:r>
            <a:endParaRPr lang="en-US" sz="1500" dirty="0"/>
          </a:p>
        </p:txBody>
      </p:sp>
      <p:sp>
        <p:nvSpPr>
          <p:cNvPr id="15" name="Text 13"/>
          <p:cNvSpPr txBox="1"/>
          <p:nvPr/>
        </p:nvSpPr>
        <p:spPr>
          <a:xfrm>
            <a:off x="6807957" y="3337560"/>
            <a:ext cx="4835098" cy="1051560"/>
          </a:xfrm>
          <a:prstGeom prst="rect">
            <a:avLst/>
          </a:prstGeom>
          <a:noFill/>
          <a:ln/>
        </p:spPr>
        <p:txBody>
          <a:bodyPr wrap="square" lIns="0" tIns="0" rIns="0" bIns="0" rtlCol="0" anchor="t"/>
          <a:lstStyle/>
          <a:p>
            <a:pPr indent="0" marL="0">
              <a:buNone/>
            </a:pPr>
            <a:r>
              <a:rPr lang="en-US" sz="1500" dirty="0">
                <a:solidFill>
                  <a:srgbClr val="6B7280"/>
                </a:solidFill>
                <a:latin typeface="Calibri" pitchFamily="34" charset="0"/>
                <a:ea typeface="Calibri" pitchFamily="34" charset="-122"/>
                <a:cs typeface="Calibri" pitchFamily="34" charset="-120"/>
              </a:rPr>
              <a:t>Le fichier s'ouvre dans n'importe quel navigateur, sans Python, et reste interactif. Avec </a:t>
            </a:r>
            <a:pPr indent="0" marL="0">
              <a:buNone/>
            </a:pPr>
            <a:r>
              <a:rPr lang="en-US" sz="1500" dirty="0">
                <a:solidFill>
                  <a:srgbClr val="1F3A5F"/>
                </a:solidFill>
                <a:latin typeface="Courier New" pitchFamily="34" charset="0"/>
                <a:ea typeface="Courier New" pitchFamily="34" charset="-122"/>
                <a:cs typeface="Courier New" pitchFamily="34" charset="-120"/>
              </a:rPr>
              <a:t>"cdn"</a:t>
            </a:r>
            <a:pPr indent="0" marL="0">
              <a:buNone/>
            </a:pPr>
            <a:r>
              <a:rPr lang="en-US" sz="1500" dirty="0">
                <a:solidFill>
                  <a:srgbClr val="6B7280"/>
                </a:solidFill>
                <a:latin typeface="Calibri" pitchFamily="34" charset="0"/>
                <a:ea typeface="Calibri" pitchFamily="34" charset="-122"/>
                <a:cs typeface="Calibri" pitchFamily="34" charset="-120"/>
              </a:rPr>
              <a:t>, il ne contient plus que le graphique, mais a besoin d'internet pour charger plotly.</a:t>
            </a:r>
            <a:endParaRPr lang="en-US" sz="1500" dirty="0"/>
          </a:p>
        </p:txBody>
      </p:sp>
      <p:sp>
        <p:nvSpPr>
          <p:cNvPr id="16" name="Text 14"/>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Analyse de données avec Python   |   Jour 2, après-midi</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b="0"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66928"/>
            <a:ext cx="475488" cy="475488"/>
          </a:xfrm>
          <a:prstGeom prst="ellipse">
            <a:avLst/>
          </a:prstGeom>
          <a:solidFill>
            <a:srgbClr val="2F7D62"/>
          </a:solidFill>
          <a:ln/>
        </p:spPr>
      </p:sp>
      <p:sp>
        <p:nvSpPr>
          <p:cNvPr id="3" name="Text 1"/>
          <p:cNvSpPr txBox="1"/>
          <p:nvPr/>
        </p:nvSpPr>
        <p:spPr>
          <a:xfrm>
            <a:off x="548640" y="566928"/>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4" name="Text 2"/>
          <p:cNvSpPr txBox="1"/>
          <p:nvPr/>
        </p:nvSpPr>
        <p:spPr>
          <a:xfrm>
            <a:off x="1280160" y="164592"/>
            <a:ext cx="10362895" cy="274320"/>
          </a:xfrm>
          <a:prstGeom prst="rect">
            <a:avLst/>
          </a:prstGeom>
          <a:noFill/>
          <a:ln/>
        </p:spPr>
        <p:txBody>
          <a:bodyPr wrap="square" lIns="0" tIns="0" rIns="0" bIns="0" rtlCol="0" anchor="ctr"/>
          <a:lstStyle/>
          <a:p>
            <a:pPr indent="0" marL="0">
              <a:buNone/>
            </a:pPr>
            <a:r>
              <a:rPr lang="en-US" sz="1200" b="1" spc="200" kern="0" dirty="0">
                <a:solidFill>
                  <a:srgbClr val="2F7D62"/>
                </a:solidFill>
                <a:latin typeface="Calibri" pitchFamily="34" charset="0"/>
                <a:ea typeface="Calibri" pitchFamily="34" charset="-122"/>
                <a:cs typeface="Calibri" pitchFamily="34" charset="-120"/>
              </a:rPr>
              <a:t>PLOTLY</a:t>
            </a:r>
            <a:endParaRPr lang="en-US" sz="1200" dirty="0"/>
          </a:p>
        </p:txBody>
      </p:sp>
      <p:sp>
        <p:nvSpPr>
          <p:cNvPr id="5" name="Text 3"/>
          <p:cNvSpPr txBox="1"/>
          <p:nvPr/>
        </p:nvSpPr>
        <p:spPr>
          <a:xfrm>
            <a:off x="1280160" y="457200"/>
            <a:ext cx="10362895" cy="694944"/>
          </a:xfrm>
          <a:prstGeom prst="rect">
            <a:avLst/>
          </a:prstGeom>
          <a:noFill/>
          <a:ln/>
        </p:spPr>
        <p:txBody>
          <a:bodyPr wrap="square" lIns="0" tIns="0" rIns="0" bIns="0" rtlCol="0" anchor="ctr"/>
          <a:lstStyle/>
          <a:p>
            <a:pPr indent="0" marL="0">
              <a:buNone/>
            </a:pPr>
            <a:r>
              <a:rPr lang="en-US" sz="3000" b="1" dirty="0">
                <a:solidFill>
                  <a:srgbClr val="1F3A5F"/>
                </a:solidFill>
                <a:latin typeface="Cambria" pitchFamily="34" charset="0"/>
                <a:ea typeface="Cambria" pitchFamily="34" charset="-122"/>
                <a:cs typeface="Cambria" pitchFamily="34" charset="-120"/>
              </a:rPr>
              <a:t>Statique ou interactif ?</a:t>
            </a:r>
            <a:endParaRPr lang="en-US" sz="3000" dirty="0"/>
          </a:p>
        </p:txBody>
      </p:sp>
      <p:graphicFrame>
        <p:nvGraphicFramePr>
          <p:cNvPr id="38"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4415" cy="914400"/>
        </p:xfrm>
        <a:graphic>
          <a:graphicData uri="http://schemas.openxmlformats.org/drawingml/2006/table">
            <a:tbl>
              <a:tblPr/>
              <a:tblGrid>
                <a:gridCol w="6656649"/>
                <a:gridCol w="4437766"/>
              </a:tblGrid>
              <a:tr h="394589">
                <a:tc>
                  <a:txBody>
                    <a:bodyPr/>
                    <a:lstStyle/>
                    <a:p>
                      <a:pPr indent="0" marL="0">
                        <a:buNone/>
                      </a:pPr>
                      <a:r>
                        <a:rPr lang="en-US" sz="1700" b="1" dirty="0">
                          <a:solidFill>
                            <a:srgbClr val="FFFFFF"/>
                          </a:solidFill>
                          <a:latin typeface="Calibri" pitchFamily="34" charset="0"/>
                          <a:ea typeface="Calibri" pitchFamily="34" charset="-122"/>
                          <a:cs typeface="Calibri" pitchFamily="34" charset="-120"/>
                        </a:rPr>
                        <a:t>Usage</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1F3A5F"/>
                    </a:solidFill>
                  </a:tcPr>
                </a:tc>
                <a:tc>
                  <a:txBody>
                    <a:bodyPr/>
                    <a:lstStyle/>
                    <a:p>
                      <a:pPr indent="0" marL="0">
                        <a:buNone/>
                      </a:pPr>
                      <a:r>
                        <a:rPr lang="en-US" sz="1700" b="1" dirty="0">
                          <a:solidFill>
                            <a:srgbClr val="FFFFFF"/>
                          </a:solidFill>
                          <a:latin typeface="Calibri" pitchFamily="34" charset="0"/>
                          <a:ea typeface="Calibri" pitchFamily="34" charset="-122"/>
                          <a:cs typeface="Calibri" pitchFamily="34" charset="-120"/>
                        </a:rPr>
                        <a:t>Choix</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1F3A5F"/>
                    </a:solidFill>
                  </a:tcPr>
                </a:tc>
              </a:tr>
              <a:tr h="394589">
                <a:tc>
                  <a:txBody>
                    <a:bodyPr/>
                    <a:lstStyle/>
                    <a:p>
                      <a:pPr indent="0" marL="0">
                        <a:buNone/>
                      </a:pPr>
                      <a:r>
                        <a:rPr lang="en-US" sz="1700" dirty="0">
                          <a:solidFill>
                            <a:srgbClr val="1F2933"/>
                          </a:solidFill>
                          <a:latin typeface="Calibri" pitchFamily="34" charset="0"/>
                          <a:ea typeface="Calibri" pitchFamily="34" charset="-122"/>
                          <a:cs typeface="Calibri" pitchFamily="34" charset="-120"/>
                        </a:rPr>
                        <a:t>rapport imprimé, PDF, diapositive</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700" dirty="0">
                          <a:solidFill>
                            <a:srgbClr val="1F2933"/>
                          </a:solidFill>
                          <a:latin typeface="Calibri" pitchFamily="34" charset="0"/>
                          <a:ea typeface="Calibri" pitchFamily="34" charset="-122"/>
                          <a:cs typeface="Calibri" pitchFamily="34" charset="-120"/>
                        </a:rPr>
                        <a:t>statique : matplotlib, seaborn</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r>
              <a:tr h="394589">
                <a:tc>
                  <a:txBody>
                    <a:bodyPr/>
                    <a:lstStyle/>
                    <a:p>
                      <a:pPr indent="0" marL="0">
                        <a:buNone/>
                      </a:pPr>
                      <a:r>
                        <a:rPr lang="en-US" sz="1700" dirty="0">
                          <a:solidFill>
                            <a:srgbClr val="1F2933"/>
                          </a:solidFill>
                          <a:latin typeface="Calibri" pitchFamily="34" charset="0"/>
                          <a:ea typeface="Calibri" pitchFamily="34" charset="-122"/>
                          <a:cs typeface="Calibri" pitchFamily="34" charset="-120"/>
                        </a:rPr>
                        <a:t>exploration, présentation à l'écran</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7F9FB"/>
                    </a:solidFill>
                  </a:tcPr>
                </a:tc>
                <a:tc>
                  <a:txBody>
                    <a:bodyPr/>
                    <a:lstStyle/>
                    <a:p>
                      <a:pPr indent="0" marL="0">
                        <a:buNone/>
                      </a:pPr>
                      <a:r>
                        <a:rPr lang="en-US" sz="1700" dirty="0">
                          <a:solidFill>
                            <a:srgbClr val="1F2933"/>
                          </a:solidFill>
                          <a:latin typeface="Calibri" pitchFamily="34" charset="0"/>
                          <a:ea typeface="Calibri" pitchFamily="34" charset="-122"/>
                          <a:cs typeface="Calibri" pitchFamily="34" charset="-120"/>
                        </a:rPr>
                        <a:t>interactif : plotly</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7F9FB"/>
                    </a:solidFill>
                  </a:tcPr>
                </a:tc>
              </a:tr>
              <a:tr h="394589">
                <a:tc>
                  <a:txBody>
                    <a:bodyPr/>
                    <a:lstStyle/>
                    <a:p>
                      <a:pPr indent="0" marL="0">
                        <a:buNone/>
                      </a:pPr>
                      <a:r>
                        <a:rPr lang="en-US" sz="1700" dirty="0">
                          <a:solidFill>
                            <a:srgbClr val="1F2933"/>
                          </a:solidFill>
                          <a:latin typeface="Calibri" pitchFamily="34" charset="0"/>
                          <a:ea typeface="Calibri" pitchFamily="34" charset="-122"/>
                          <a:cs typeface="Calibri" pitchFamily="34" charset="-120"/>
                        </a:rPr>
                        <a:t>partage d'un fichier à ouvrir soi-même</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700" dirty="0">
                          <a:solidFill>
                            <a:srgbClr val="1F2933"/>
                          </a:solidFill>
                          <a:latin typeface="Calibri" pitchFamily="34" charset="0"/>
                          <a:ea typeface="Calibri" pitchFamily="34" charset="-122"/>
                          <a:cs typeface="Calibri" pitchFamily="34" charset="-120"/>
                        </a:rPr>
                        <a:t>interactif : export HTML</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r>
              <a:tr h="394589">
                <a:tc>
                  <a:txBody>
                    <a:bodyPr/>
                    <a:lstStyle/>
                    <a:p>
                      <a:pPr indent="0" marL="0">
                        <a:buNone/>
                      </a:pPr>
                      <a:r>
                        <a:rPr lang="en-US" sz="1700" dirty="0">
                          <a:solidFill>
                            <a:srgbClr val="1F2933"/>
                          </a:solidFill>
                          <a:latin typeface="Calibri" pitchFamily="34" charset="0"/>
                          <a:ea typeface="Calibri" pitchFamily="34" charset="-122"/>
                          <a:cs typeface="Calibri" pitchFamily="34" charset="-120"/>
                        </a:rPr>
                        <a:t>beaucoup de séries ou de points</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7F9FB"/>
                    </a:solidFill>
                  </a:tcPr>
                </a:tc>
                <a:tc>
                  <a:txBody>
                    <a:bodyPr/>
                    <a:lstStyle/>
                    <a:p>
                      <a:pPr indent="0" marL="0">
                        <a:buNone/>
                      </a:pPr>
                      <a:r>
                        <a:rPr lang="en-US" sz="1700" dirty="0">
                          <a:solidFill>
                            <a:srgbClr val="1F2933"/>
                          </a:solidFill>
                          <a:latin typeface="Calibri" pitchFamily="34" charset="0"/>
                          <a:ea typeface="Calibri" pitchFamily="34" charset="-122"/>
                          <a:cs typeface="Calibri" pitchFamily="34" charset="-120"/>
                        </a:rPr>
                        <a:t>interactif, pour zoomer et filtrer</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7F9FB"/>
                    </a:solidFill>
                  </a:tcPr>
                </a:tc>
              </a:tr>
            </a:tbl>
          </a:graphicData>
        </a:graphic>
      </p:graphicFrame>
      <p:sp>
        <p:nvSpPr>
          <p:cNvPr id="7" name="Text 4"/>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Analyse de données avec Python   |   Jour 2, après-midi</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b="0"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66928"/>
            <a:ext cx="475488" cy="475488"/>
          </a:xfrm>
          <a:prstGeom prst="ellipse">
            <a:avLst/>
          </a:prstGeom>
          <a:solidFill>
            <a:srgbClr val="2F7D62"/>
          </a:solidFill>
          <a:ln/>
        </p:spPr>
      </p:sp>
      <p:sp>
        <p:nvSpPr>
          <p:cNvPr id="3" name="Text 1"/>
          <p:cNvSpPr txBox="1"/>
          <p:nvPr/>
        </p:nvSpPr>
        <p:spPr>
          <a:xfrm>
            <a:off x="548640" y="566928"/>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4" name="Text 2"/>
          <p:cNvSpPr txBox="1"/>
          <p:nvPr/>
        </p:nvSpPr>
        <p:spPr>
          <a:xfrm>
            <a:off x="1280160" y="164592"/>
            <a:ext cx="10362895" cy="274320"/>
          </a:xfrm>
          <a:prstGeom prst="rect">
            <a:avLst/>
          </a:prstGeom>
          <a:noFill/>
          <a:ln/>
        </p:spPr>
        <p:txBody>
          <a:bodyPr wrap="square" lIns="0" tIns="0" rIns="0" bIns="0" rtlCol="0" anchor="ctr"/>
          <a:lstStyle/>
          <a:p>
            <a:pPr indent="0" marL="0">
              <a:buNone/>
            </a:pPr>
            <a:r>
              <a:rPr lang="en-US" sz="1200" b="1" spc="200" kern="0" dirty="0">
                <a:solidFill>
                  <a:srgbClr val="2F7D62"/>
                </a:solidFill>
                <a:latin typeface="Calibri" pitchFamily="34" charset="0"/>
                <a:ea typeface="Calibri" pitchFamily="34" charset="-122"/>
                <a:cs typeface="Calibri" pitchFamily="34" charset="-120"/>
              </a:rPr>
              <a:t>PLOTLY</a:t>
            </a:r>
            <a:endParaRPr lang="en-US" sz="1200" dirty="0"/>
          </a:p>
        </p:txBody>
      </p:sp>
      <p:sp>
        <p:nvSpPr>
          <p:cNvPr id="5" name="Text 3"/>
          <p:cNvSpPr txBox="1"/>
          <p:nvPr/>
        </p:nvSpPr>
        <p:spPr>
          <a:xfrm>
            <a:off x="1280160" y="457200"/>
            <a:ext cx="10362895" cy="694944"/>
          </a:xfrm>
          <a:prstGeom prst="rect">
            <a:avLst/>
          </a:prstGeom>
          <a:noFill/>
          <a:ln/>
        </p:spPr>
        <p:txBody>
          <a:bodyPr wrap="square" lIns="0" tIns="0" rIns="0" bIns="0" rtlCol="0" anchor="ctr"/>
          <a:lstStyle/>
          <a:p>
            <a:pPr indent="0" marL="0">
              <a:buNone/>
            </a:pPr>
            <a:r>
              <a:rPr lang="en-US" sz="3000" b="1" dirty="0">
                <a:solidFill>
                  <a:srgbClr val="1F3A5F"/>
                </a:solidFill>
                <a:latin typeface="Cambria" pitchFamily="34" charset="0"/>
                <a:ea typeface="Cambria" pitchFamily="34" charset="-122"/>
                <a:cs typeface="Cambria" pitchFamily="34" charset="-120"/>
              </a:rPr>
              <a:t>Pratique : TP4, partie 3</a:t>
            </a:r>
            <a:endParaRPr lang="en-US" sz="3000" dirty="0"/>
          </a:p>
        </p:txBody>
      </p:sp>
      <p:sp>
        <p:nvSpPr>
          <p:cNvPr id="6" name="Text 4"/>
          <p:cNvSpPr txBox="1"/>
          <p:nvPr/>
        </p:nvSpPr>
        <p:spPr>
          <a:xfrm>
            <a:off x="548640" y="1417320"/>
            <a:ext cx="11094415" cy="411480"/>
          </a:xfrm>
          <a:prstGeom prst="rect">
            <a:avLst/>
          </a:prstGeom>
          <a:noFill/>
          <a:ln/>
        </p:spPr>
        <p:txBody>
          <a:bodyPr wrap="square" lIns="0" tIns="0" rIns="0" bIns="0" rtlCol="0" anchor="t"/>
          <a:lstStyle/>
          <a:p>
            <a:pPr indent="0" marL="0">
              <a:buNone/>
            </a:pPr>
            <a:r>
              <a:rPr lang="en-US" sz="1800" dirty="0">
                <a:solidFill>
                  <a:srgbClr val="6B7280"/>
                </a:solidFill>
                <a:latin typeface="Calibri" pitchFamily="34" charset="0"/>
                <a:ea typeface="Calibri" pitchFamily="34" charset="-122"/>
                <a:cs typeface="Calibri" pitchFamily="34" charset="-120"/>
              </a:rPr>
              <a:t>Les graphiques plotly sont interactifs : survoler, zoomer, cliquer sur la légende.</a:t>
            </a:r>
            <a:endParaRPr lang="en-US" sz="1800" dirty="0"/>
          </a:p>
        </p:txBody>
      </p:sp>
      <p:graphicFrame>
        <p:nvGraphicFramePr>
          <p:cNvPr id="39" name="Table 0"/>
          <p:cNvGraphicFramePr>
            <a:graphicFrameLocks noGrp="1"/>
          </p:cNvGraphicFramePr>
          <p:nvPr>
            <p:extLst>
              <p:ext uri="{D42A27DB-BD31-4B8C-83A1-F6EECF244321}">
                <p14:modId xmlns:p14="http://schemas.microsoft.com/office/powerpoint/2010/main" val="1579011935"/>
              </p:ext>
            </p:extLst>
          </p:nvPr>
        </p:nvGraphicFramePr>
        <p:xfrm>
          <a:off x="548640" y="2011680"/>
          <a:ext cx="11094415" cy="914400"/>
        </p:xfrm>
        <a:graphic>
          <a:graphicData uri="http://schemas.openxmlformats.org/drawingml/2006/table">
            <a:tbl>
              <a:tblPr/>
              <a:tblGrid>
                <a:gridCol w="1512875"/>
                <a:gridCol w="2017166"/>
                <a:gridCol w="7564374"/>
              </a:tblGrid>
              <a:tr h="365379">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Question</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1F3A5F"/>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Variable</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1F3A5F"/>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À construire</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1F3A5F"/>
                    </a:solidFill>
                  </a:tcPr>
                </a:tc>
              </a:tr>
              <a:tr h="584454">
                <a:tc>
                  <a:txBody>
                    <a:bodyPr/>
                    <a:lstStyle/>
                    <a:p>
                      <a:pPr indent="0" marL="0">
                        <a:buNone/>
                      </a:pPr>
                      <a:r>
                        <a:rPr lang="en-US" sz="1500" dirty="0">
                          <a:solidFill>
                            <a:srgbClr val="1F2933"/>
                          </a:solidFill>
                          <a:latin typeface="Calibri" pitchFamily="34" charset="0"/>
                          <a:ea typeface="Calibri" pitchFamily="34" charset="-122"/>
                          <a:cs typeface="Calibri" pitchFamily="34" charset="-120"/>
                        </a:rPr>
                        <a:t>3.1</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500" dirty="0">
                          <a:solidFill>
                            <a:srgbClr val="1F3A5F"/>
                          </a:solidFill>
                          <a:latin typeface="Courier New" pitchFamily="34" charset="0"/>
                          <a:ea typeface="Courier New" pitchFamily="34" charset="-122"/>
                          <a:cs typeface="Courier New" pitchFamily="34" charset="-120"/>
                        </a:rPr>
                        <a:t>fig_ca</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500" dirty="0">
                          <a:solidFill>
                            <a:srgbClr val="1F3A5F"/>
                          </a:solidFill>
                          <a:latin typeface="Courier New" pitchFamily="34" charset="0"/>
                          <a:ea typeface="Courier New" pitchFamily="34" charset="-122"/>
                          <a:cs typeface="Courier New" pitchFamily="34" charset="-120"/>
                        </a:rPr>
                        <a:t>px.line</a:t>
                      </a:r>
                      <a:pPr indent="0" marL="0">
                        <a:buNone/>
                      </a:pPr>
                      <a:r>
                        <a:rPr lang="en-US" sz="1500" dirty="0">
                          <a:solidFill>
                            <a:srgbClr val="1F2933"/>
                          </a:solidFill>
                          <a:latin typeface="Calibri" pitchFamily="34" charset="0"/>
                          <a:ea typeface="Calibri" pitchFamily="34" charset="-122"/>
                          <a:cs typeface="Calibri" pitchFamily="34" charset="-120"/>
                        </a:rPr>
                        <a:t> par région, info-bulle enrichie avec </a:t>
                      </a:r>
                      <a:pPr indent="0" marL="0">
                        <a:buNone/>
                      </a:pPr>
                      <a:r>
                        <a:rPr lang="en-US" sz="1500" dirty="0">
                          <a:solidFill>
                            <a:srgbClr val="1F3A5F"/>
                          </a:solidFill>
                          <a:latin typeface="Courier New" pitchFamily="34" charset="0"/>
                          <a:ea typeface="Courier New" pitchFamily="34" charset="-122"/>
                          <a:cs typeface="Courier New" pitchFamily="34" charset="-120"/>
                        </a:rPr>
                        <a:t>hover_data</a:t>
                      </a:r>
                      <a:pPr indent="0" marL="0">
                        <a:buNone/>
                      </a:pPr>
                      <a:r>
                        <a:rPr lang="en-US" sz="1500" dirty="0">
                          <a:solidFill>
                            <a:srgbClr val="1F2933"/>
                          </a:solidFill>
                          <a:latin typeface="Calibri" pitchFamily="34" charset="0"/>
                          <a:ea typeface="Calibri" pitchFamily="34" charset="-122"/>
                          <a:cs typeface="Calibri" pitchFamily="34" charset="-120"/>
                        </a:rPr>
                        <a:t>, libellés avec </a:t>
                      </a:r>
                      <a:pPr indent="0" marL="0">
                        <a:buNone/>
                      </a:pPr>
                      <a:r>
                        <a:rPr lang="en-US" sz="1500" dirty="0">
                          <a:solidFill>
                            <a:srgbClr val="1F3A5F"/>
                          </a:solidFill>
                          <a:latin typeface="Courier New" pitchFamily="34" charset="0"/>
                          <a:ea typeface="Courier New" pitchFamily="34" charset="-122"/>
                          <a:cs typeface="Courier New" pitchFamily="34" charset="-120"/>
                        </a:rPr>
                        <a:t>labels</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r>
              <a:tr h="365379">
                <a:tc>
                  <a:txBody>
                    <a:bodyPr/>
                    <a:lstStyle/>
                    <a:p>
                      <a:pPr indent="0" marL="0">
                        <a:buNone/>
                      </a:pPr>
                      <a:r>
                        <a:rPr lang="en-US" sz="1500" dirty="0">
                          <a:solidFill>
                            <a:srgbClr val="1F2933"/>
                          </a:solidFill>
                          <a:latin typeface="Calibri" pitchFamily="34" charset="0"/>
                          <a:ea typeface="Calibri" pitchFamily="34" charset="-122"/>
                          <a:cs typeface="Calibri" pitchFamily="34" charset="-120"/>
                        </a:rPr>
                        <a:t>3.2</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7F9FB"/>
                    </a:solidFill>
                  </a:tcPr>
                </a:tc>
                <a:tc>
                  <a:txBody>
                    <a:bodyPr/>
                    <a:lstStyle/>
                    <a:p>
                      <a:pPr indent="0" marL="0">
                        <a:buNone/>
                      </a:pPr>
                      <a:r>
                        <a:rPr lang="en-US" sz="1500" dirty="0">
                          <a:solidFill>
                            <a:srgbClr val="1F3A5F"/>
                          </a:solidFill>
                          <a:latin typeface="Courier New" pitchFamily="34" charset="0"/>
                          <a:ea typeface="Courier New" pitchFamily="34" charset="-122"/>
                          <a:cs typeface="Courier New" pitchFamily="34" charset="-120"/>
                        </a:rPr>
                        <a:t>fig_barres</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7F9FB"/>
                    </a:solidFill>
                  </a:tcPr>
                </a:tc>
                <a:tc>
                  <a:txBody>
                    <a:bodyPr/>
                    <a:lstStyle/>
                    <a:p>
                      <a:pPr indent="0" marL="0">
                        <a:buNone/>
                      </a:pPr>
                      <a:r>
                        <a:rPr lang="en-US" sz="1500" dirty="0">
                          <a:solidFill>
                            <a:srgbClr val="1F3A5F"/>
                          </a:solidFill>
                          <a:latin typeface="Courier New" pitchFamily="34" charset="0"/>
                          <a:ea typeface="Courier New" pitchFamily="34" charset="-122"/>
                          <a:cs typeface="Courier New" pitchFamily="34" charset="-120"/>
                        </a:rPr>
                        <a:t>px.bar</a:t>
                      </a:r>
                      <a:pPr indent="0" marL="0">
                        <a:buNone/>
                      </a:pPr>
                      <a:r>
                        <a:rPr lang="en-US" sz="1500" dirty="0">
                          <a:solidFill>
                            <a:srgbClr val="1F2933"/>
                          </a:solidFill>
                          <a:latin typeface="Calibri" pitchFamily="34" charset="0"/>
                          <a:ea typeface="Calibri" pitchFamily="34" charset="-122"/>
                          <a:cs typeface="Calibri" pitchFamily="34" charset="-120"/>
                        </a:rPr>
                        <a:t>, des barres empilées par région</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7F9FB"/>
                    </a:solidFill>
                  </a:tcPr>
                </a:tc>
              </a:tr>
              <a:tr h="365379">
                <a:tc>
                  <a:txBody>
                    <a:bodyPr/>
                    <a:lstStyle/>
                    <a:p>
                      <a:pPr indent="0" marL="0">
                        <a:buNone/>
                      </a:pPr>
                      <a:r>
                        <a:rPr lang="en-US" sz="1500" dirty="0">
                          <a:solidFill>
                            <a:srgbClr val="1F2933"/>
                          </a:solidFill>
                          <a:latin typeface="Calibri" pitchFamily="34" charset="0"/>
                          <a:ea typeface="Calibri" pitchFamily="34" charset="-122"/>
                          <a:cs typeface="Calibri" pitchFamily="34" charset="-120"/>
                        </a:rPr>
                        <a:t>3.3</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500" dirty="0">
                          <a:solidFill>
                            <a:srgbClr val="1F3A5F"/>
                          </a:solidFill>
                          <a:latin typeface="Courier New" pitchFamily="34" charset="0"/>
                          <a:ea typeface="Courier New" pitchFamily="34" charset="-122"/>
                          <a:cs typeface="Courier New" pitchFamily="34" charset="-120"/>
                        </a:rPr>
                        <a:t>fig_boites</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500" dirty="0">
                          <a:solidFill>
                            <a:srgbClr val="1F3A5F"/>
                          </a:solidFill>
                          <a:latin typeface="Courier New" pitchFamily="34" charset="0"/>
                          <a:ea typeface="Courier New" pitchFamily="34" charset="-122"/>
                          <a:cs typeface="Courier New" pitchFamily="34" charset="-120"/>
                        </a:rPr>
                        <a:t>px.box</a:t>
                      </a:r>
                      <a:pPr indent="0" marL="0">
                        <a:buNone/>
                      </a:pPr>
                      <a:r>
                        <a:rPr lang="en-US" sz="1500" dirty="0">
                          <a:solidFill>
                            <a:srgbClr val="1F2933"/>
                          </a:solidFill>
                          <a:latin typeface="Calibri" pitchFamily="34" charset="0"/>
                          <a:ea typeface="Calibri" pitchFamily="34" charset="-122"/>
                          <a:cs typeface="Calibri" pitchFamily="34" charset="-120"/>
                        </a:rPr>
                        <a:t> par catégorie, produit et quantité au survol</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r>
              <a:tr h="365379">
                <a:tc>
                  <a:txBody>
                    <a:bodyPr/>
                    <a:lstStyle/>
                    <a:p>
                      <a:pPr indent="0" marL="0">
                        <a:buNone/>
                      </a:pPr>
                      <a:r>
                        <a:rPr lang="en-US" sz="1500" dirty="0">
                          <a:solidFill>
                            <a:srgbClr val="1F2933"/>
                          </a:solidFill>
                          <a:latin typeface="Calibri" pitchFamily="34" charset="0"/>
                          <a:ea typeface="Calibri" pitchFamily="34" charset="-122"/>
                          <a:cs typeface="Calibri" pitchFamily="34" charset="-120"/>
                        </a:rPr>
                        <a:t>3.4</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7F9FB"/>
                    </a:solidFill>
                  </a:tcPr>
                </a:tc>
                <a:tc>
                  <a:txBody>
                    <a:bodyPr/>
                    <a:lstStyle/>
                    <a:p>
                      <a:pPr indent="0" marL="0">
                        <a:buNone/>
                      </a:pPr>
                      <a:r>
                        <a:rPr lang="en-US" sz="1500" dirty="0">
                          <a:solidFill>
                            <a:srgbClr val="1F3A5F"/>
                          </a:solidFill>
                          <a:latin typeface="Courier New" pitchFamily="34" charset="0"/>
                          <a:ea typeface="Courier New" pitchFamily="34" charset="-122"/>
                          <a:cs typeface="Courier New" pitchFamily="34" charset="-120"/>
                        </a:rPr>
                        <a:t>fig_nuage</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7F9FB"/>
                    </a:solidFill>
                  </a:tcPr>
                </a:tc>
                <a:tc>
                  <a:txBody>
                    <a:bodyPr/>
                    <a:lstStyle/>
                    <a:p>
                      <a:pPr indent="0" marL="0">
                        <a:buNone/>
                      </a:pPr>
                      <a:r>
                        <a:rPr lang="en-US" sz="1500" dirty="0">
                          <a:solidFill>
                            <a:srgbClr val="1F3A5F"/>
                          </a:solidFill>
                          <a:latin typeface="Courier New" pitchFamily="34" charset="0"/>
                          <a:ea typeface="Courier New" pitchFamily="34" charset="-122"/>
                          <a:cs typeface="Courier New" pitchFamily="34" charset="-120"/>
                        </a:rPr>
                        <a:t>px.scatter</a:t>
                      </a:r>
                      <a:pPr indent="0" marL="0">
                        <a:buNone/>
                      </a:pPr>
                      <a:r>
                        <a:rPr lang="en-US" sz="1500" dirty="0">
                          <a:solidFill>
                            <a:srgbClr val="1F2933"/>
                          </a:solidFill>
                          <a:latin typeface="Calibri" pitchFamily="34" charset="0"/>
                          <a:ea typeface="Calibri" pitchFamily="34" charset="-122"/>
                          <a:cs typeface="Calibri" pitchFamily="34" charset="-120"/>
                        </a:rPr>
                        <a:t> avec </a:t>
                      </a:r>
                      <a:pPr indent="0" marL="0">
                        <a:buNone/>
                      </a:pPr>
                      <a:r>
                        <a:rPr lang="en-US" sz="1500" dirty="0">
                          <a:solidFill>
                            <a:srgbClr val="1F3A5F"/>
                          </a:solidFill>
                          <a:latin typeface="Courier New" pitchFamily="34" charset="0"/>
                          <a:ea typeface="Courier New" pitchFamily="34" charset="-122"/>
                          <a:cs typeface="Courier New" pitchFamily="34" charset="-120"/>
                        </a:rPr>
                        <a:t>size="quantite"</a:t>
                      </a:r>
                      <a:pPr indent="0" marL="0">
                        <a:buNone/>
                      </a:pPr>
                      <a:r>
                        <a:rPr lang="en-US" sz="1500" dirty="0">
                          <a:solidFill>
                            <a:srgbClr val="1F2933"/>
                          </a:solidFill>
                          <a:latin typeface="Calibri" pitchFamily="34" charset="0"/>
                          <a:ea typeface="Calibri" pitchFamily="34" charset="-122"/>
                          <a:cs typeface="Calibri" pitchFamily="34" charset="-120"/>
                        </a:rPr>
                        <a:t>, le mois au format </a:t>
                      </a:r>
                      <a:pPr indent="0" marL="0">
                        <a:buNone/>
                      </a:pPr>
                      <a:r>
                        <a:rPr lang="en-US" sz="1500" dirty="0">
                          <a:solidFill>
                            <a:srgbClr val="1F3A5F"/>
                          </a:solidFill>
                          <a:latin typeface="Courier New" pitchFamily="34" charset="0"/>
                          <a:ea typeface="Courier New" pitchFamily="34" charset="-122"/>
                          <a:cs typeface="Courier New" pitchFamily="34" charset="-120"/>
                        </a:rPr>
                        <a:t>|%m/%Y</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7F9FB"/>
                    </a:solidFill>
                  </a:tcPr>
                </a:tc>
              </a:tr>
              <a:tr h="365379">
                <a:tc>
                  <a:txBody>
                    <a:bodyPr/>
                    <a:lstStyle/>
                    <a:p>
                      <a:pPr indent="0" marL="0">
                        <a:buNone/>
                      </a:pPr>
                      <a:r>
                        <a:rPr lang="en-US" sz="1500" dirty="0">
                          <a:solidFill>
                            <a:srgbClr val="1F2933"/>
                          </a:solidFill>
                          <a:latin typeface="Calibri" pitchFamily="34" charset="0"/>
                          <a:ea typeface="Calibri" pitchFamily="34" charset="-122"/>
                          <a:cs typeface="Calibri" pitchFamily="34" charset="-120"/>
                        </a:rPr>
                        <a:t>3.5</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500" dirty="0">
                          <a:solidFill>
                            <a:srgbClr val="1F2933"/>
                          </a:solidFill>
                          <a:latin typeface="Calibri" pitchFamily="34" charset="0"/>
                          <a:ea typeface="Calibri" pitchFamily="34" charset="-122"/>
                          <a:cs typeface="Calibri" pitchFamily="34" charset="-120"/>
                        </a:rPr>
                        <a:t> </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500" dirty="0">
                          <a:solidFill>
                            <a:srgbClr val="1F2933"/>
                          </a:solidFill>
                          <a:latin typeface="Calibri" pitchFamily="34" charset="0"/>
                          <a:ea typeface="Calibri" pitchFamily="34" charset="-122"/>
                          <a:cs typeface="Calibri" pitchFamily="34" charset="-120"/>
                        </a:rPr>
                        <a:t>deux exports HTML de </a:t>
                      </a:r>
                      <a:pPr indent="0" marL="0">
                        <a:buNone/>
                      </a:pPr>
                      <a:r>
                        <a:rPr lang="en-US" sz="1500" dirty="0">
                          <a:solidFill>
                            <a:srgbClr val="1F3A5F"/>
                          </a:solidFill>
                          <a:latin typeface="Courier New" pitchFamily="34" charset="0"/>
                          <a:ea typeface="Courier New" pitchFamily="34" charset="-122"/>
                          <a:cs typeface="Courier New" pitchFamily="34" charset="-120"/>
                        </a:rPr>
                        <a:t>fig_ca</a:t>
                      </a:r>
                      <a:pPr indent="0" marL="0">
                        <a:buNone/>
                      </a:pPr>
                      <a:r>
                        <a:rPr lang="en-US" sz="1500" dirty="0">
                          <a:solidFill>
                            <a:srgbClr val="1F2933"/>
                          </a:solidFill>
                          <a:latin typeface="Calibri" pitchFamily="34" charset="0"/>
                          <a:ea typeface="Calibri" pitchFamily="34" charset="-122"/>
                          <a:cs typeface="Calibri" pitchFamily="34" charset="-120"/>
                        </a:rPr>
                        <a:t> et leur taille en kilo-octets</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r>
              <a:tr h="365379">
                <a:tc>
                  <a:txBody>
                    <a:bodyPr/>
                    <a:lstStyle/>
                    <a:p>
                      <a:pPr indent="0" marL="0">
                        <a:buNone/>
                      </a:pPr>
                      <a:r>
                        <a:rPr lang="en-US" sz="1500" dirty="0">
                          <a:solidFill>
                            <a:srgbClr val="1F2933"/>
                          </a:solidFill>
                          <a:latin typeface="Calibri" pitchFamily="34" charset="0"/>
                          <a:ea typeface="Calibri" pitchFamily="34" charset="-122"/>
                          <a:cs typeface="Calibri" pitchFamily="34" charset="-120"/>
                        </a:rPr>
                        <a:t>3.6</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7F9FB"/>
                    </a:solidFill>
                  </a:tcPr>
                </a:tc>
                <a:tc>
                  <a:txBody>
                    <a:bodyPr/>
                    <a:lstStyle/>
                    <a:p>
                      <a:pPr indent="0" marL="0">
                        <a:buNone/>
                      </a:pPr>
                      <a:r>
                        <a:rPr lang="en-US" sz="1500" dirty="0">
                          <a:solidFill>
                            <a:srgbClr val="1F3A5F"/>
                          </a:solidFill>
                          <a:latin typeface="Courier New" pitchFamily="34" charset="0"/>
                          <a:ea typeface="Courier New" pitchFamily="34" charset="-122"/>
                          <a:cs typeface="Courier New" pitchFamily="34" charset="-120"/>
                        </a:rPr>
                        <a:t>fig_jours</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7F9FB"/>
                    </a:solidFill>
                  </a:tcPr>
                </a:tc>
                <a:tc>
                  <a:txBody>
                    <a:bodyPr/>
                    <a:lstStyle/>
                    <a:p>
                      <a:pPr indent="0" marL="0">
                        <a:buNone/>
                      </a:pPr>
                      <a:r>
                        <a:rPr lang="en-US" sz="1500" dirty="0">
                          <a:solidFill>
                            <a:srgbClr val="1F2933"/>
                          </a:solidFill>
                          <a:latin typeface="Calibri" pitchFamily="34" charset="0"/>
                          <a:ea typeface="Calibri" pitchFamily="34" charset="-122"/>
                          <a:cs typeface="Calibri" pitchFamily="34" charset="-120"/>
                        </a:rPr>
                        <a:t>facultative : les commandes par jour, avec </a:t>
                      </a:r>
                      <a:pPr indent="0" marL="0">
                        <a:buNone/>
                      </a:pPr>
                      <a:r>
                        <a:rPr lang="en-US" sz="1500" dirty="0">
                          <a:solidFill>
                            <a:srgbClr val="1F3A5F"/>
                          </a:solidFill>
                          <a:latin typeface="Courier New" pitchFamily="34" charset="0"/>
                          <a:ea typeface="Courier New" pitchFamily="34" charset="-122"/>
                          <a:cs typeface="Courier New" pitchFamily="34" charset="-120"/>
                        </a:rPr>
                        <a:t>category_orders</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7F9FB"/>
                    </a:solidFill>
                  </a:tcPr>
                </a:tc>
              </a:tr>
            </a:tbl>
          </a:graphicData>
        </a:graphic>
      </p:graphicFrame>
      <p:sp>
        <p:nvSpPr>
          <p:cNvPr id="8" name="Shape 5"/>
          <p:cNvSpPr/>
          <p:nvPr/>
        </p:nvSpPr>
        <p:spPr>
          <a:xfrm>
            <a:off x="548640" y="5108448"/>
            <a:ext cx="11094415" cy="883920"/>
          </a:xfrm>
          <a:prstGeom prst="roundRect">
            <a:avLst>
              <a:gd name="adj" fmla="val 6207"/>
            </a:avLst>
          </a:prstGeom>
          <a:solidFill>
            <a:srgbClr val="E8F3EE"/>
          </a:solidFill>
          <a:ln/>
        </p:spPr>
      </p:sp>
      <p:sp>
        <p:nvSpPr>
          <p:cNvPr id="9" name="Text 6"/>
          <p:cNvSpPr txBox="1"/>
          <p:nvPr/>
        </p:nvSpPr>
        <p:spPr>
          <a:xfrm>
            <a:off x="822960" y="5108448"/>
            <a:ext cx="10545775" cy="883920"/>
          </a:xfrm>
          <a:prstGeom prst="rect">
            <a:avLst/>
          </a:prstGeom>
          <a:noFill/>
          <a:ln/>
        </p:spPr>
        <p:txBody>
          <a:bodyPr wrap="square" lIns="0" tIns="0" rIns="0" bIns="0" rtlCol="0" anchor="ctr"/>
          <a:lstStyle/>
          <a:p>
            <a:pPr indent="0" marL="0">
              <a:buNone/>
            </a:pPr>
            <a:r>
              <a:rPr lang="en-US" sz="1700" dirty="0">
                <a:solidFill>
                  <a:srgbClr val="1F3A5F"/>
                </a:solidFill>
                <a:latin typeface="Calibri" pitchFamily="34" charset="0"/>
                <a:ea typeface="Calibri" pitchFamily="34" charset="-122"/>
                <a:cs typeface="Calibri" pitchFamily="34" charset="-120"/>
              </a:rPr>
              <a:t>Les vérifications inspectent la figure : </a:t>
            </a:r>
            <a:pPr indent="0" marL="0">
              <a:buNone/>
            </a:pPr>
            <a:r>
              <a:rPr lang="en-US" sz="1700" dirty="0">
                <a:solidFill>
                  <a:srgbClr val="2F7D62"/>
                </a:solidFill>
                <a:latin typeface="Courier New" pitchFamily="34" charset="0"/>
                <a:ea typeface="Courier New" pitchFamily="34" charset="-122"/>
                <a:cs typeface="Courier New" pitchFamily="34" charset="-120"/>
              </a:rPr>
              <a:t>len(fig_ca.data) == 6</a:t>
            </a:r>
            <a:pPr indent="0" marL="0">
              <a:buNone/>
            </a:pPr>
            <a:r>
              <a:rPr lang="en-US" sz="1700" dirty="0">
                <a:solidFill>
                  <a:srgbClr val="1F3A5F"/>
                </a:solidFill>
                <a:latin typeface="Calibri" pitchFamily="34" charset="0"/>
                <a:ea typeface="Calibri" pitchFamily="34" charset="-122"/>
                <a:cs typeface="Calibri" pitchFamily="34" charset="-120"/>
              </a:rPr>
              <a:t> pour une courbe par région, </a:t>
            </a:r>
            <a:pPr indent="0" marL="0">
              <a:buNone/>
            </a:pPr>
            <a:r>
              <a:rPr lang="en-US" sz="1700" dirty="0">
                <a:solidFill>
                  <a:srgbClr val="2F7D62"/>
                </a:solidFill>
                <a:latin typeface="Courier New" pitchFamily="34" charset="0"/>
                <a:ea typeface="Courier New" pitchFamily="34" charset="-122"/>
                <a:cs typeface="Courier New" pitchFamily="34" charset="-120"/>
              </a:rPr>
              <a:t>fig_ca.layout.title.text</a:t>
            </a:r>
            <a:pPr indent="0" marL="0">
              <a:buNone/>
            </a:pPr>
            <a:r>
              <a:rPr lang="en-US" sz="1700" dirty="0">
                <a:solidFill>
                  <a:srgbClr val="1F3A5F"/>
                </a:solidFill>
                <a:latin typeface="Calibri" pitchFamily="34" charset="0"/>
                <a:ea typeface="Calibri" pitchFamily="34" charset="-122"/>
                <a:cs typeface="Calibri" pitchFamily="34" charset="-120"/>
              </a:rPr>
              <a:t> pour le titre.</a:t>
            </a:r>
            <a:endParaRPr lang="en-US" sz="1700" dirty="0"/>
          </a:p>
        </p:txBody>
      </p:sp>
      <p:sp>
        <p:nvSpPr>
          <p:cNvPr id="10" name="Text 7"/>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Analyse de données avec Python   |   Jour 2, après-midi</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b="0"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1F3A5F"/>
        </a:solidFill>
      </p:bgPr>
    </p:bg>
    <p:spTree>
      <p:nvGrpSpPr>
        <p:cNvPr id="1" name=""/>
        <p:cNvGrpSpPr/>
        <p:nvPr/>
      </p:nvGrpSpPr>
      <p:grpSpPr>
        <a:xfrm>
          <a:off x="0" y="0"/>
          <a:ext cx="0" cy="0"/>
          <a:chOff x="0" y="0"/>
          <a:chExt cx="0" cy="0"/>
        </a:xfrm>
      </p:grpSpPr>
      <p:sp>
        <p:nvSpPr>
          <p:cNvPr id="2" name="Text 0"/>
          <p:cNvSpPr txBox="1"/>
          <p:nvPr/>
        </p:nvSpPr>
        <p:spPr>
          <a:xfrm>
            <a:off x="731520" y="1737360"/>
            <a:ext cx="2743200" cy="1188720"/>
          </a:xfrm>
          <a:prstGeom prst="rect">
            <a:avLst/>
          </a:prstGeom>
          <a:noFill/>
          <a:ln/>
        </p:spPr>
        <p:txBody>
          <a:bodyPr wrap="square" lIns="0" tIns="0" rIns="0" bIns="0" rtlCol="0" anchor="ctr"/>
          <a:lstStyle/>
          <a:p>
            <a:pPr indent="0" marL="0">
              <a:buNone/>
            </a:pPr>
            <a:r>
              <a:rPr lang="en-US" sz="8000" b="1" dirty="0">
                <a:solidFill>
                  <a:srgbClr val="8FD1B5"/>
                </a:solidFill>
                <a:latin typeface="Cambria" pitchFamily="34" charset="0"/>
                <a:ea typeface="Cambria" pitchFamily="34" charset="-122"/>
                <a:cs typeface="Cambria" pitchFamily="34" charset="-120"/>
              </a:rPr>
              <a:t>05</a:t>
            </a:r>
            <a:endParaRPr lang="en-US" sz="8000" dirty="0"/>
          </a:p>
        </p:txBody>
      </p:sp>
      <p:sp>
        <p:nvSpPr>
          <p:cNvPr id="3" name="Text 1"/>
          <p:cNvSpPr txBox="1"/>
          <p:nvPr/>
        </p:nvSpPr>
        <p:spPr>
          <a:xfrm>
            <a:off x="731520" y="3017520"/>
            <a:ext cx="10515600" cy="822960"/>
          </a:xfrm>
          <a:prstGeom prst="rect">
            <a:avLst/>
          </a:prstGeom>
          <a:noFill/>
          <a:ln/>
        </p:spPr>
        <p:txBody>
          <a:bodyPr wrap="square" lIns="0" tIns="0" rIns="0" bIns="0" rtlCol="0" anchor="t"/>
          <a:lstStyle/>
          <a:p>
            <a:pPr indent="0" marL="0">
              <a:buNone/>
            </a:pPr>
            <a:r>
              <a:rPr lang="en-US" sz="4000" b="1" dirty="0">
                <a:solidFill>
                  <a:srgbClr val="FFFFFF"/>
                </a:solidFill>
                <a:latin typeface="Cambria" pitchFamily="34" charset="0"/>
                <a:ea typeface="Cambria" pitchFamily="34" charset="-122"/>
                <a:cs typeface="Cambria" pitchFamily="34" charset="-120"/>
              </a:rPr>
              <a:t>Bonnes pratiques de dataviz</a:t>
            </a:r>
            <a:endParaRPr lang="en-US" sz="4000" dirty="0"/>
          </a:p>
        </p:txBody>
      </p:sp>
      <p:sp>
        <p:nvSpPr>
          <p:cNvPr id="4" name="Text 2"/>
          <p:cNvSpPr txBox="1"/>
          <p:nvPr/>
        </p:nvSpPr>
        <p:spPr>
          <a:xfrm>
            <a:off x="731520" y="3977640"/>
            <a:ext cx="10515600" cy="548640"/>
          </a:xfrm>
          <a:prstGeom prst="rect">
            <a:avLst/>
          </a:prstGeom>
          <a:noFill/>
          <a:ln/>
        </p:spPr>
        <p:txBody>
          <a:bodyPr wrap="square" lIns="0" tIns="0" rIns="0" bIns="0" rtlCol="0" anchor="t"/>
          <a:lstStyle/>
          <a:p>
            <a:pPr indent="0" marL="0">
              <a:buNone/>
            </a:pPr>
            <a:r>
              <a:rPr lang="en-US" sz="2000" dirty="0">
                <a:solidFill>
                  <a:srgbClr val="C9D6E3"/>
                </a:solidFill>
                <a:latin typeface="Calibri" pitchFamily="34" charset="0"/>
                <a:ea typeface="Calibri" pitchFamily="34" charset="-122"/>
                <a:cs typeface="Calibri" pitchFamily="34" charset="-120"/>
              </a:rPr>
              <a:t>Choisir   |   Rendre lisible   |   Ne pas tromper   |   Daltonisme</a:t>
            </a:r>
            <a:endParaRPr lang="en-US" sz="20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66928"/>
            <a:ext cx="475488" cy="475488"/>
          </a:xfrm>
          <a:prstGeom prst="ellipse">
            <a:avLst/>
          </a:prstGeom>
          <a:solidFill>
            <a:srgbClr val="2F7D62"/>
          </a:solidFill>
          <a:ln/>
        </p:spPr>
      </p:sp>
      <p:sp>
        <p:nvSpPr>
          <p:cNvPr id="3" name="Text 1"/>
          <p:cNvSpPr txBox="1"/>
          <p:nvPr/>
        </p:nvSpPr>
        <p:spPr>
          <a:xfrm>
            <a:off x="548640" y="566928"/>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5</a:t>
            </a:r>
            <a:endParaRPr lang="en-US" sz="1600" dirty="0"/>
          </a:p>
        </p:txBody>
      </p:sp>
      <p:sp>
        <p:nvSpPr>
          <p:cNvPr id="4" name="Text 2"/>
          <p:cNvSpPr txBox="1"/>
          <p:nvPr/>
        </p:nvSpPr>
        <p:spPr>
          <a:xfrm>
            <a:off x="1280160" y="164592"/>
            <a:ext cx="10362895" cy="274320"/>
          </a:xfrm>
          <a:prstGeom prst="rect">
            <a:avLst/>
          </a:prstGeom>
          <a:noFill/>
          <a:ln/>
        </p:spPr>
        <p:txBody>
          <a:bodyPr wrap="square" lIns="0" tIns="0" rIns="0" bIns="0" rtlCol="0" anchor="ctr"/>
          <a:lstStyle/>
          <a:p>
            <a:pPr indent="0" marL="0">
              <a:buNone/>
            </a:pPr>
            <a:r>
              <a:rPr lang="en-US" sz="1200" b="1" spc="200" kern="0" dirty="0">
                <a:solidFill>
                  <a:srgbClr val="2F7D62"/>
                </a:solidFill>
                <a:latin typeface="Calibri" pitchFamily="34" charset="0"/>
                <a:ea typeface="Calibri" pitchFamily="34" charset="-122"/>
                <a:cs typeface="Calibri" pitchFamily="34" charset="-120"/>
              </a:rPr>
              <a:t>BONNES PRATIQUES DE DATAVIZ</a:t>
            </a:r>
            <a:endParaRPr lang="en-US" sz="1200" dirty="0"/>
          </a:p>
        </p:txBody>
      </p:sp>
      <p:sp>
        <p:nvSpPr>
          <p:cNvPr id="5" name="Text 3"/>
          <p:cNvSpPr txBox="1"/>
          <p:nvPr/>
        </p:nvSpPr>
        <p:spPr>
          <a:xfrm>
            <a:off x="1280160" y="457200"/>
            <a:ext cx="10362895" cy="694944"/>
          </a:xfrm>
          <a:prstGeom prst="rect">
            <a:avLst/>
          </a:prstGeom>
          <a:noFill/>
          <a:ln/>
        </p:spPr>
        <p:txBody>
          <a:bodyPr wrap="square" lIns="0" tIns="0" rIns="0" bIns="0" rtlCol="0" anchor="ctr"/>
          <a:lstStyle/>
          <a:p>
            <a:pPr indent="0" marL="0">
              <a:buNone/>
            </a:pPr>
            <a:r>
              <a:rPr lang="en-US" sz="3000" b="1" dirty="0">
                <a:solidFill>
                  <a:srgbClr val="1F3A5F"/>
                </a:solidFill>
                <a:latin typeface="Cambria" pitchFamily="34" charset="0"/>
                <a:ea typeface="Cambria" pitchFamily="34" charset="-122"/>
                <a:cs typeface="Cambria" pitchFamily="34" charset="-120"/>
              </a:rPr>
              <a:t>Partir de la question</a:t>
            </a:r>
            <a:endParaRPr lang="en-US" sz="3000" dirty="0"/>
          </a:p>
        </p:txBody>
      </p:sp>
      <p:graphicFrame>
        <p:nvGraphicFramePr>
          <p:cNvPr id="41"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4415" cy="914400"/>
        </p:xfrm>
        <a:graphic>
          <a:graphicData uri="http://schemas.openxmlformats.org/drawingml/2006/table">
            <a:tbl>
              <a:tblPr/>
              <a:tblGrid>
                <a:gridCol w="6656649"/>
                <a:gridCol w="4437766"/>
              </a:tblGrid>
              <a:tr h="379984">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Question</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1F3A5F"/>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Graphique</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1F3A5F"/>
                    </a:solidFill>
                  </a:tcPr>
                </a:tc>
              </a:tr>
              <a:tr h="379984">
                <a:tc>
                  <a:txBody>
                    <a:bodyPr/>
                    <a:lstStyle/>
                    <a:p>
                      <a:pPr indent="0" marL="0">
                        <a:buNone/>
                      </a:pPr>
                      <a:r>
                        <a:rPr lang="en-US" sz="1600" dirty="0">
                          <a:solidFill>
                            <a:srgbClr val="1F2933"/>
                          </a:solidFill>
                          <a:latin typeface="Calibri" pitchFamily="34" charset="0"/>
                          <a:ea typeface="Calibri" pitchFamily="34" charset="-122"/>
                          <a:cs typeface="Calibri" pitchFamily="34" charset="-120"/>
                        </a:rPr>
                        <a:t>Comment évolue une valeur dans le temps ?</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600" dirty="0">
                          <a:solidFill>
                            <a:srgbClr val="1F2933"/>
                          </a:solidFill>
                          <a:latin typeface="Calibri" pitchFamily="34" charset="0"/>
                          <a:ea typeface="Calibri" pitchFamily="34" charset="-122"/>
                          <a:cs typeface="Calibri" pitchFamily="34" charset="-120"/>
                        </a:rPr>
                        <a:t>courbe</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r>
              <a:tr h="379984">
                <a:tc>
                  <a:txBody>
                    <a:bodyPr/>
                    <a:lstStyle/>
                    <a:p>
                      <a:pPr indent="0" marL="0">
                        <a:buNone/>
                      </a:pPr>
                      <a:r>
                        <a:rPr lang="en-US" sz="1600" dirty="0">
                          <a:solidFill>
                            <a:srgbClr val="1F2933"/>
                          </a:solidFill>
                          <a:latin typeface="Calibri" pitchFamily="34" charset="0"/>
                          <a:ea typeface="Calibri" pitchFamily="34" charset="-122"/>
                          <a:cs typeface="Calibri" pitchFamily="34" charset="-120"/>
                        </a:rPr>
                        <a:t>Quelle catégorie est la plus grande ?</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7F9FB"/>
                    </a:solidFill>
                  </a:tcPr>
                </a:tc>
                <a:tc>
                  <a:txBody>
                    <a:bodyPr/>
                    <a:lstStyle/>
                    <a:p>
                      <a:pPr indent="0" marL="0">
                        <a:buNone/>
                      </a:pPr>
                      <a:r>
                        <a:rPr lang="en-US" sz="1600" dirty="0">
                          <a:solidFill>
                            <a:srgbClr val="1F2933"/>
                          </a:solidFill>
                          <a:latin typeface="Calibri" pitchFamily="34" charset="0"/>
                          <a:ea typeface="Calibri" pitchFamily="34" charset="-122"/>
                          <a:cs typeface="Calibri" pitchFamily="34" charset="-120"/>
                        </a:rPr>
                        <a:t>barres triées</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7F9FB"/>
                    </a:solidFill>
                  </a:tcPr>
                </a:tc>
              </a:tr>
              <a:tr h="379984">
                <a:tc>
                  <a:txBody>
                    <a:bodyPr/>
                    <a:lstStyle/>
                    <a:p>
                      <a:pPr indent="0" marL="0">
                        <a:buNone/>
                      </a:pPr>
                      <a:r>
                        <a:rPr lang="en-US" sz="1600" dirty="0">
                          <a:solidFill>
                            <a:srgbClr val="1F2933"/>
                          </a:solidFill>
                          <a:latin typeface="Calibri" pitchFamily="34" charset="0"/>
                          <a:ea typeface="Calibri" pitchFamily="34" charset="-122"/>
                          <a:cs typeface="Calibri" pitchFamily="34" charset="-120"/>
                        </a:rPr>
                        <a:t>Comment se répartissent les valeurs ?</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600" dirty="0">
                          <a:solidFill>
                            <a:srgbClr val="1F2933"/>
                          </a:solidFill>
                          <a:latin typeface="Calibri" pitchFamily="34" charset="0"/>
                          <a:ea typeface="Calibri" pitchFamily="34" charset="-122"/>
                          <a:cs typeface="Calibri" pitchFamily="34" charset="-120"/>
                        </a:rPr>
                        <a:t>histogramme, boîte à moustaches</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r>
              <a:tr h="379984">
                <a:tc>
                  <a:txBody>
                    <a:bodyPr/>
                    <a:lstStyle/>
                    <a:p>
                      <a:pPr indent="0" marL="0">
                        <a:buNone/>
                      </a:pPr>
                      <a:r>
                        <a:rPr lang="en-US" sz="1600" dirty="0">
                          <a:solidFill>
                            <a:srgbClr val="1F2933"/>
                          </a:solidFill>
                          <a:latin typeface="Calibri" pitchFamily="34" charset="0"/>
                          <a:ea typeface="Calibri" pitchFamily="34" charset="-122"/>
                          <a:cs typeface="Calibri" pitchFamily="34" charset="-120"/>
                        </a:rPr>
                        <a:t>Deux grandeurs sont-elles liées ?</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7F9FB"/>
                    </a:solidFill>
                  </a:tcPr>
                </a:tc>
                <a:tc>
                  <a:txBody>
                    <a:bodyPr/>
                    <a:lstStyle/>
                    <a:p>
                      <a:pPr indent="0" marL="0">
                        <a:buNone/>
                      </a:pPr>
                      <a:r>
                        <a:rPr lang="en-US" sz="1600" dirty="0">
                          <a:solidFill>
                            <a:srgbClr val="1F2933"/>
                          </a:solidFill>
                          <a:latin typeface="Calibri" pitchFamily="34" charset="0"/>
                          <a:ea typeface="Calibri" pitchFamily="34" charset="-122"/>
                          <a:cs typeface="Calibri" pitchFamily="34" charset="-120"/>
                        </a:rPr>
                        <a:t>nuage de points</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7F9FB"/>
                    </a:solidFill>
                  </a:tcPr>
                </a:tc>
              </a:tr>
              <a:tr h="613664">
                <a:tc>
                  <a:txBody>
                    <a:bodyPr/>
                    <a:lstStyle/>
                    <a:p>
                      <a:pPr indent="0" marL="0">
                        <a:buNone/>
                      </a:pPr>
                      <a:r>
                        <a:rPr lang="en-US" sz="1600" dirty="0">
                          <a:solidFill>
                            <a:srgbClr val="1F2933"/>
                          </a:solidFill>
                          <a:latin typeface="Calibri" pitchFamily="34" charset="0"/>
                          <a:ea typeface="Calibri" pitchFamily="34" charset="-122"/>
                          <a:cs typeface="Calibri" pitchFamily="34" charset="-120"/>
                        </a:rPr>
                        <a:t>Comment un total se décompose-t-il ?</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600" dirty="0">
                          <a:solidFill>
                            <a:srgbClr val="1F2933"/>
                          </a:solidFill>
                          <a:latin typeface="Calibri" pitchFamily="34" charset="0"/>
                          <a:ea typeface="Calibri" pitchFamily="34" charset="-122"/>
                          <a:cs typeface="Calibri" pitchFamily="34" charset="-120"/>
                        </a:rPr>
                        <a:t>barres empilées ; un camembert seulement pour deux ou trois parts</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r>
              <a:tr h="379984">
                <a:tc>
                  <a:txBody>
                    <a:bodyPr/>
                    <a:lstStyle/>
                    <a:p>
                      <a:pPr indent="0" marL="0">
                        <a:buNone/>
                      </a:pPr>
                      <a:r>
                        <a:rPr lang="en-US" sz="1600" dirty="0">
                          <a:solidFill>
                            <a:srgbClr val="1F2933"/>
                          </a:solidFill>
                          <a:latin typeface="Calibri" pitchFamily="34" charset="0"/>
                          <a:ea typeface="Calibri" pitchFamily="34" charset="-122"/>
                          <a:cs typeface="Calibri" pitchFamily="34" charset="-120"/>
                        </a:rPr>
                        <a:t>Comment un indicateur varie-t-il selon deux dimensions ?</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7F9FB"/>
                    </a:solidFill>
                  </a:tcPr>
                </a:tc>
                <a:tc>
                  <a:txBody>
                    <a:bodyPr/>
                    <a:lstStyle/>
                    <a:p>
                      <a:pPr indent="0" marL="0">
                        <a:buNone/>
                      </a:pPr>
                      <a:r>
                        <a:rPr lang="en-US" sz="1600" dirty="0">
                          <a:solidFill>
                            <a:srgbClr val="1F2933"/>
                          </a:solidFill>
                          <a:latin typeface="Calibri" pitchFamily="34" charset="0"/>
                          <a:ea typeface="Calibri" pitchFamily="34" charset="-122"/>
                          <a:cs typeface="Calibri" pitchFamily="34" charset="-120"/>
                        </a:rPr>
                        <a:t>heatmap</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7F9FB"/>
                    </a:solidFill>
                  </a:tcPr>
                </a:tc>
              </a:tr>
            </a:tbl>
          </a:graphicData>
        </a:graphic>
      </p:graphicFrame>
      <p:sp>
        <p:nvSpPr>
          <p:cNvPr id="7" name="Text 4"/>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Analyse de données avec Python   |   Jour 2, après-midi</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b="0"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66928"/>
            <a:ext cx="475488" cy="475488"/>
          </a:xfrm>
          <a:prstGeom prst="ellipse">
            <a:avLst/>
          </a:prstGeom>
          <a:solidFill>
            <a:srgbClr val="2F7D62"/>
          </a:solidFill>
          <a:ln/>
        </p:spPr>
      </p:sp>
      <p:sp>
        <p:nvSpPr>
          <p:cNvPr id="3" name="Text 1"/>
          <p:cNvSpPr txBox="1"/>
          <p:nvPr/>
        </p:nvSpPr>
        <p:spPr>
          <a:xfrm>
            <a:off x="548640" y="566928"/>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5</a:t>
            </a:r>
            <a:endParaRPr lang="en-US" sz="1600" dirty="0"/>
          </a:p>
        </p:txBody>
      </p:sp>
      <p:sp>
        <p:nvSpPr>
          <p:cNvPr id="4" name="Text 2"/>
          <p:cNvSpPr txBox="1"/>
          <p:nvPr/>
        </p:nvSpPr>
        <p:spPr>
          <a:xfrm>
            <a:off x="1280160" y="164592"/>
            <a:ext cx="10362895" cy="274320"/>
          </a:xfrm>
          <a:prstGeom prst="rect">
            <a:avLst/>
          </a:prstGeom>
          <a:noFill/>
          <a:ln/>
        </p:spPr>
        <p:txBody>
          <a:bodyPr wrap="square" lIns="0" tIns="0" rIns="0" bIns="0" rtlCol="0" anchor="ctr"/>
          <a:lstStyle/>
          <a:p>
            <a:pPr indent="0" marL="0">
              <a:buNone/>
            </a:pPr>
            <a:r>
              <a:rPr lang="en-US" sz="1200" b="1" spc="200" kern="0" dirty="0">
                <a:solidFill>
                  <a:srgbClr val="2F7D62"/>
                </a:solidFill>
                <a:latin typeface="Calibri" pitchFamily="34" charset="0"/>
                <a:ea typeface="Calibri" pitchFamily="34" charset="-122"/>
                <a:cs typeface="Calibri" pitchFamily="34" charset="-120"/>
              </a:rPr>
              <a:t>BONNES PRATIQUES DE DATAVIZ</a:t>
            </a:r>
            <a:endParaRPr lang="en-US" sz="1200" dirty="0"/>
          </a:p>
        </p:txBody>
      </p:sp>
      <p:sp>
        <p:nvSpPr>
          <p:cNvPr id="5" name="Text 3"/>
          <p:cNvSpPr txBox="1"/>
          <p:nvPr/>
        </p:nvSpPr>
        <p:spPr>
          <a:xfrm>
            <a:off x="1280160" y="457200"/>
            <a:ext cx="10362895" cy="694944"/>
          </a:xfrm>
          <a:prstGeom prst="rect">
            <a:avLst/>
          </a:prstGeom>
          <a:noFill/>
          <a:ln/>
        </p:spPr>
        <p:txBody>
          <a:bodyPr wrap="square" lIns="0" tIns="0" rIns="0" bIns="0" rtlCol="0" anchor="ctr"/>
          <a:lstStyle/>
          <a:p>
            <a:pPr indent="0" marL="0">
              <a:buNone/>
            </a:pPr>
            <a:r>
              <a:rPr lang="en-US" sz="3000" b="1" dirty="0">
                <a:solidFill>
                  <a:srgbClr val="1F3A5F"/>
                </a:solidFill>
                <a:latin typeface="Cambria" pitchFamily="34" charset="0"/>
                <a:ea typeface="Cambria" pitchFamily="34" charset="-122"/>
                <a:cs typeface="Cambria" pitchFamily="34" charset="-120"/>
              </a:rPr>
              <a:t>Rendre le graphique lisible</a:t>
            </a:r>
            <a:endParaRPr lang="en-US" sz="3000" dirty="0"/>
          </a:p>
        </p:txBody>
      </p:sp>
      <p:sp>
        <p:nvSpPr>
          <p:cNvPr id="6" name="Shape 4"/>
          <p:cNvSpPr/>
          <p:nvPr/>
        </p:nvSpPr>
        <p:spPr>
          <a:xfrm>
            <a:off x="548640" y="1417320"/>
            <a:ext cx="3515258" cy="2560320"/>
          </a:xfrm>
          <a:prstGeom prst="roundRect">
            <a:avLst>
              <a:gd name="adj" fmla="val 2857"/>
            </a:avLst>
          </a:prstGeom>
          <a:solidFill>
            <a:srgbClr val="EEF3F7"/>
          </a:solidFill>
          <a:ln/>
        </p:spPr>
      </p:sp>
      <p:sp>
        <p:nvSpPr>
          <p:cNvPr id="7" name="Shape 5"/>
          <p:cNvSpPr/>
          <p:nvPr/>
        </p:nvSpPr>
        <p:spPr>
          <a:xfrm>
            <a:off x="777240" y="1691640"/>
            <a:ext cx="402336" cy="402336"/>
          </a:xfrm>
          <a:prstGeom prst="ellipse">
            <a:avLst/>
          </a:prstGeom>
          <a:solidFill>
            <a:srgbClr val="2F7D62"/>
          </a:solidFill>
          <a:ln/>
        </p:spPr>
      </p:sp>
      <p:sp>
        <p:nvSpPr>
          <p:cNvPr id="8" name="Text 6"/>
          <p:cNvSpPr txBox="1"/>
          <p:nvPr/>
        </p:nvSpPr>
        <p:spPr>
          <a:xfrm>
            <a:off x="777240" y="1691640"/>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9" name="Text 7"/>
          <p:cNvSpPr txBox="1"/>
          <p:nvPr/>
        </p:nvSpPr>
        <p:spPr>
          <a:xfrm>
            <a:off x="777240" y="2240280"/>
            <a:ext cx="3058058" cy="548640"/>
          </a:xfrm>
          <a:prstGeom prst="rect">
            <a:avLst/>
          </a:prstGeom>
          <a:noFill/>
          <a:ln/>
        </p:spPr>
        <p:txBody>
          <a:bodyPr wrap="square" lIns="0" tIns="0" rIns="0" bIns="0" rtlCol="0" anchor="t"/>
          <a:lstStyle/>
          <a:p>
            <a:pPr indent="0" marL="0">
              <a:buNone/>
            </a:pPr>
            <a:r>
              <a:rPr lang="en-US" sz="1800" b="1" dirty="0">
                <a:solidFill>
                  <a:srgbClr val="1F3A5F"/>
                </a:solidFill>
                <a:latin typeface="Calibri" pitchFamily="34" charset="0"/>
                <a:ea typeface="Calibri" pitchFamily="34" charset="-122"/>
                <a:cs typeface="Calibri" pitchFamily="34" charset="-120"/>
              </a:rPr>
              <a:t>Un titre qui dit le message</a:t>
            </a:r>
            <a:endParaRPr lang="en-US" sz="1800" dirty="0"/>
          </a:p>
        </p:txBody>
      </p:sp>
      <p:sp>
        <p:nvSpPr>
          <p:cNvPr id="10" name="Text 8"/>
          <p:cNvSpPr txBox="1"/>
          <p:nvPr/>
        </p:nvSpPr>
        <p:spPr>
          <a:xfrm>
            <a:off x="777240" y="2880360"/>
            <a:ext cx="3058058" cy="914400"/>
          </a:xfrm>
          <a:prstGeom prst="rect">
            <a:avLst/>
          </a:prstGeom>
          <a:noFill/>
          <a:ln/>
        </p:spPr>
        <p:txBody>
          <a:bodyPr wrap="square" lIns="0" tIns="0" rIns="0" bIns="0" rtlCol="0" anchor="t"/>
          <a:lstStyle/>
          <a:p>
            <a:pPr indent="0" marL="0">
              <a:buNone/>
            </a:pPr>
            <a:r>
              <a:rPr lang="en-US" sz="1500" dirty="0">
                <a:solidFill>
                  <a:srgbClr val="1F2933"/>
                </a:solidFill>
                <a:latin typeface="Calibri" pitchFamily="34" charset="0"/>
                <a:ea typeface="Calibri" pitchFamily="34" charset="-122"/>
                <a:cs typeface="Calibri" pitchFamily="34" charset="-120"/>
              </a:rPr>
              <a:t>« L'Île-de-France réalise près d'un tiers du chiffre d'affaires » plutôt que « CA par région ».</a:t>
            </a:r>
            <a:endParaRPr lang="en-US" sz="1500" dirty="0"/>
          </a:p>
        </p:txBody>
      </p:sp>
      <p:sp>
        <p:nvSpPr>
          <p:cNvPr id="11" name="Shape 9"/>
          <p:cNvSpPr/>
          <p:nvPr/>
        </p:nvSpPr>
        <p:spPr>
          <a:xfrm>
            <a:off x="4338218" y="1417320"/>
            <a:ext cx="3515258" cy="2560320"/>
          </a:xfrm>
          <a:prstGeom prst="roundRect">
            <a:avLst>
              <a:gd name="adj" fmla="val 2857"/>
            </a:avLst>
          </a:prstGeom>
          <a:solidFill>
            <a:srgbClr val="EEF3F7"/>
          </a:solidFill>
          <a:ln/>
        </p:spPr>
      </p:sp>
      <p:sp>
        <p:nvSpPr>
          <p:cNvPr id="12" name="Shape 10"/>
          <p:cNvSpPr/>
          <p:nvPr/>
        </p:nvSpPr>
        <p:spPr>
          <a:xfrm>
            <a:off x="4566818" y="1691640"/>
            <a:ext cx="402336" cy="402336"/>
          </a:xfrm>
          <a:prstGeom prst="ellipse">
            <a:avLst/>
          </a:prstGeom>
          <a:solidFill>
            <a:srgbClr val="2F7D62"/>
          </a:solidFill>
          <a:ln/>
        </p:spPr>
      </p:sp>
      <p:sp>
        <p:nvSpPr>
          <p:cNvPr id="13" name="Text 11"/>
          <p:cNvSpPr txBox="1"/>
          <p:nvPr/>
        </p:nvSpPr>
        <p:spPr>
          <a:xfrm>
            <a:off x="4566818" y="1691640"/>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4" name="Text 12"/>
          <p:cNvSpPr txBox="1"/>
          <p:nvPr/>
        </p:nvSpPr>
        <p:spPr>
          <a:xfrm>
            <a:off x="4566818" y="2240280"/>
            <a:ext cx="3058058" cy="548640"/>
          </a:xfrm>
          <a:prstGeom prst="rect">
            <a:avLst/>
          </a:prstGeom>
          <a:noFill/>
          <a:ln/>
        </p:spPr>
        <p:txBody>
          <a:bodyPr wrap="square" lIns="0" tIns="0" rIns="0" bIns="0" rtlCol="0" anchor="t"/>
          <a:lstStyle/>
          <a:p>
            <a:pPr indent="0" marL="0">
              <a:buNone/>
            </a:pPr>
            <a:r>
              <a:rPr lang="en-US" sz="1800" b="1" dirty="0">
                <a:solidFill>
                  <a:srgbClr val="1F3A5F"/>
                </a:solidFill>
                <a:latin typeface="Calibri" pitchFamily="34" charset="0"/>
                <a:ea typeface="Calibri" pitchFamily="34" charset="-122"/>
                <a:cs typeface="Calibri" pitchFamily="34" charset="-120"/>
              </a:rPr>
              <a:t>Des axes et des nombres clairs</a:t>
            </a:r>
            <a:endParaRPr lang="en-US" sz="1800" dirty="0"/>
          </a:p>
        </p:txBody>
      </p:sp>
      <p:sp>
        <p:nvSpPr>
          <p:cNvPr id="15" name="Text 13"/>
          <p:cNvSpPr txBox="1"/>
          <p:nvPr/>
        </p:nvSpPr>
        <p:spPr>
          <a:xfrm>
            <a:off x="4566818" y="2880360"/>
            <a:ext cx="3058058" cy="914400"/>
          </a:xfrm>
          <a:prstGeom prst="rect">
            <a:avLst/>
          </a:prstGeom>
          <a:noFill/>
          <a:ln/>
        </p:spPr>
        <p:txBody>
          <a:bodyPr wrap="square" lIns="0" tIns="0" rIns="0" bIns="0" rtlCol="0" anchor="t"/>
          <a:lstStyle/>
          <a:p>
            <a:pPr indent="0" marL="0">
              <a:buNone/>
            </a:pPr>
            <a:r>
              <a:rPr lang="en-US" sz="1500" dirty="0">
                <a:solidFill>
                  <a:srgbClr val="1F2933"/>
                </a:solidFill>
                <a:latin typeface="Calibri" pitchFamily="34" charset="0"/>
                <a:ea typeface="Calibri" pitchFamily="34" charset="-122"/>
                <a:cs typeface="Calibri" pitchFamily="34" charset="-120"/>
              </a:rPr>
              <a:t>Chaque axe nommé avec son unité, et 50 k€ plutôt que 50000.</a:t>
            </a:r>
            <a:endParaRPr lang="en-US" sz="1500" dirty="0"/>
          </a:p>
        </p:txBody>
      </p:sp>
      <p:sp>
        <p:nvSpPr>
          <p:cNvPr id="16" name="Shape 14"/>
          <p:cNvSpPr/>
          <p:nvPr/>
        </p:nvSpPr>
        <p:spPr>
          <a:xfrm>
            <a:off x="8127797" y="1417320"/>
            <a:ext cx="3515258" cy="2560320"/>
          </a:xfrm>
          <a:prstGeom prst="roundRect">
            <a:avLst>
              <a:gd name="adj" fmla="val 2857"/>
            </a:avLst>
          </a:prstGeom>
          <a:solidFill>
            <a:srgbClr val="EEF3F7"/>
          </a:solidFill>
          <a:ln/>
        </p:spPr>
      </p:sp>
      <p:sp>
        <p:nvSpPr>
          <p:cNvPr id="17" name="Shape 15"/>
          <p:cNvSpPr/>
          <p:nvPr/>
        </p:nvSpPr>
        <p:spPr>
          <a:xfrm>
            <a:off x="8356397" y="1691640"/>
            <a:ext cx="402336" cy="402336"/>
          </a:xfrm>
          <a:prstGeom prst="ellipse">
            <a:avLst/>
          </a:prstGeom>
          <a:solidFill>
            <a:srgbClr val="2F7D62"/>
          </a:solidFill>
          <a:ln/>
        </p:spPr>
      </p:sp>
      <p:sp>
        <p:nvSpPr>
          <p:cNvPr id="18" name="Text 16"/>
          <p:cNvSpPr txBox="1"/>
          <p:nvPr/>
        </p:nvSpPr>
        <p:spPr>
          <a:xfrm>
            <a:off x="8356397" y="1691640"/>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9" name="Text 17"/>
          <p:cNvSpPr txBox="1"/>
          <p:nvPr/>
        </p:nvSpPr>
        <p:spPr>
          <a:xfrm>
            <a:off x="8356397" y="2240280"/>
            <a:ext cx="3058058" cy="274320"/>
          </a:xfrm>
          <a:prstGeom prst="rect">
            <a:avLst/>
          </a:prstGeom>
          <a:noFill/>
          <a:ln/>
        </p:spPr>
        <p:txBody>
          <a:bodyPr wrap="square" lIns="0" tIns="0" rIns="0" bIns="0" rtlCol="0" anchor="t"/>
          <a:lstStyle/>
          <a:p>
            <a:pPr indent="0" marL="0">
              <a:buNone/>
            </a:pPr>
            <a:r>
              <a:rPr lang="en-US" sz="1800" b="1" dirty="0">
                <a:solidFill>
                  <a:srgbClr val="1F3A5F"/>
                </a:solidFill>
                <a:latin typeface="Calibri" pitchFamily="34" charset="0"/>
                <a:ea typeface="Calibri" pitchFamily="34" charset="-122"/>
                <a:cs typeface="Calibri" pitchFamily="34" charset="-120"/>
              </a:rPr>
              <a:t>Un ordre qui aide</a:t>
            </a:r>
            <a:endParaRPr lang="en-US" sz="1800" dirty="0"/>
          </a:p>
        </p:txBody>
      </p:sp>
      <p:sp>
        <p:nvSpPr>
          <p:cNvPr id="20" name="Text 18"/>
          <p:cNvSpPr txBox="1"/>
          <p:nvPr/>
        </p:nvSpPr>
        <p:spPr>
          <a:xfrm>
            <a:off x="8356397" y="2606040"/>
            <a:ext cx="3058058" cy="1188720"/>
          </a:xfrm>
          <a:prstGeom prst="rect">
            <a:avLst/>
          </a:prstGeom>
          <a:noFill/>
          <a:ln/>
        </p:spPr>
        <p:txBody>
          <a:bodyPr wrap="square" lIns="0" tIns="0" rIns="0" bIns="0" rtlCol="0" anchor="t"/>
          <a:lstStyle/>
          <a:p>
            <a:pPr indent="0" marL="0">
              <a:buNone/>
            </a:pPr>
            <a:r>
              <a:rPr lang="en-US" sz="1500" dirty="0">
                <a:solidFill>
                  <a:srgbClr val="1F2933"/>
                </a:solidFill>
                <a:latin typeface="Calibri" pitchFamily="34" charset="0"/>
                <a:ea typeface="Calibri" pitchFamily="34" charset="-122"/>
                <a:cs typeface="Calibri" pitchFamily="34" charset="-120"/>
              </a:rPr>
              <a:t>Des barres triées, horizontales si les libellés sont longs, sauf quand l'ordre a un sens : mois, jours de la semaine, tranches d'âge.</a:t>
            </a:r>
            <a:endParaRPr lang="en-US" sz="1500" dirty="0"/>
          </a:p>
        </p:txBody>
      </p:sp>
      <p:sp>
        <p:nvSpPr>
          <p:cNvPr id="21" name="Shape 19"/>
          <p:cNvSpPr/>
          <p:nvPr/>
        </p:nvSpPr>
        <p:spPr>
          <a:xfrm>
            <a:off x="548640" y="4297680"/>
            <a:ext cx="11094415" cy="624840"/>
          </a:xfrm>
          <a:prstGeom prst="roundRect">
            <a:avLst>
              <a:gd name="adj" fmla="val 8780"/>
            </a:avLst>
          </a:prstGeom>
          <a:solidFill>
            <a:srgbClr val="E8F3EE"/>
          </a:solidFill>
          <a:ln/>
        </p:spPr>
      </p:sp>
      <p:sp>
        <p:nvSpPr>
          <p:cNvPr id="22" name="Text 20"/>
          <p:cNvSpPr txBox="1"/>
          <p:nvPr/>
        </p:nvSpPr>
        <p:spPr>
          <a:xfrm>
            <a:off x="822960" y="4297680"/>
            <a:ext cx="10545775" cy="624840"/>
          </a:xfrm>
          <a:prstGeom prst="rect">
            <a:avLst/>
          </a:prstGeom>
          <a:noFill/>
          <a:ln/>
        </p:spPr>
        <p:txBody>
          <a:bodyPr wrap="square" lIns="0" tIns="0" rIns="0" bIns="0" rtlCol="0" anchor="ctr"/>
          <a:lstStyle/>
          <a:p>
            <a:pPr indent="0" marL="0">
              <a:buNone/>
            </a:pPr>
            <a:r>
              <a:rPr lang="en-US" sz="1700" dirty="0">
                <a:solidFill>
                  <a:srgbClr val="1F3A5F"/>
                </a:solidFill>
                <a:latin typeface="Calibri" pitchFamily="34" charset="0"/>
                <a:ea typeface="Calibri" pitchFamily="34" charset="-122"/>
                <a:cs typeface="Calibri" pitchFamily="34" charset="-120"/>
              </a:rPr>
              <a:t>Peu de couleurs : une couleur n'a de sens que si elle porte une information.</a:t>
            </a:r>
            <a:endParaRPr lang="en-US" sz="1700" dirty="0"/>
          </a:p>
        </p:txBody>
      </p:sp>
      <p:sp>
        <p:nvSpPr>
          <p:cNvPr id="23" name="Text 21"/>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Analyse de données avec Python   |   Jour 2, après-midi</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b="0"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66928"/>
            <a:ext cx="475488" cy="475488"/>
          </a:xfrm>
          <a:prstGeom prst="ellipse">
            <a:avLst/>
          </a:prstGeom>
          <a:solidFill>
            <a:srgbClr val="2F7D62"/>
          </a:solidFill>
          <a:ln/>
        </p:spPr>
      </p:sp>
      <p:sp>
        <p:nvSpPr>
          <p:cNvPr id="3" name="Text 1"/>
          <p:cNvSpPr txBox="1"/>
          <p:nvPr/>
        </p:nvSpPr>
        <p:spPr>
          <a:xfrm>
            <a:off x="548640" y="566928"/>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5</a:t>
            </a:r>
            <a:endParaRPr lang="en-US" sz="1600" dirty="0"/>
          </a:p>
        </p:txBody>
      </p:sp>
      <p:sp>
        <p:nvSpPr>
          <p:cNvPr id="4" name="Text 2"/>
          <p:cNvSpPr txBox="1"/>
          <p:nvPr/>
        </p:nvSpPr>
        <p:spPr>
          <a:xfrm>
            <a:off x="1280160" y="164592"/>
            <a:ext cx="10362895" cy="274320"/>
          </a:xfrm>
          <a:prstGeom prst="rect">
            <a:avLst/>
          </a:prstGeom>
          <a:noFill/>
          <a:ln/>
        </p:spPr>
        <p:txBody>
          <a:bodyPr wrap="square" lIns="0" tIns="0" rIns="0" bIns="0" rtlCol="0" anchor="ctr"/>
          <a:lstStyle/>
          <a:p>
            <a:pPr indent="0" marL="0">
              <a:buNone/>
            </a:pPr>
            <a:r>
              <a:rPr lang="en-US" sz="1200" b="1" spc="200" kern="0" dirty="0">
                <a:solidFill>
                  <a:srgbClr val="2F7D62"/>
                </a:solidFill>
                <a:latin typeface="Calibri" pitchFamily="34" charset="0"/>
                <a:ea typeface="Calibri" pitchFamily="34" charset="-122"/>
                <a:cs typeface="Calibri" pitchFamily="34" charset="-120"/>
              </a:rPr>
              <a:t>BONNES PRATIQUES DE DATAVIZ</a:t>
            </a:r>
            <a:endParaRPr lang="en-US" sz="1200" dirty="0"/>
          </a:p>
        </p:txBody>
      </p:sp>
      <p:sp>
        <p:nvSpPr>
          <p:cNvPr id="5" name="Text 3"/>
          <p:cNvSpPr txBox="1"/>
          <p:nvPr/>
        </p:nvSpPr>
        <p:spPr>
          <a:xfrm>
            <a:off x="1280160" y="457200"/>
            <a:ext cx="10362895" cy="694944"/>
          </a:xfrm>
          <a:prstGeom prst="rect">
            <a:avLst/>
          </a:prstGeom>
          <a:noFill/>
          <a:ln/>
        </p:spPr>
        <p:txBody>
          <a:bodyPr wrap="square" lIns="0" tIns="0" rIns="0" bIns="0" rtlCol="0" anchor="ctr"/>
          <a:lstStyle/>
          <a:p>
            <a:pPr indent="0" marL="0">
              <a:buNone/>
            </a:pPr>
            <a:r>
              <a:rPr lang="en-US" sz="3000" b="1" dirty="0">
                <a:solidFill>
                  <a:srgbClr val="1F3A5F"/>
                </a:solidFill>
                <a:latin typeface="Cambria" pitchFamily="34" charset="0"/>
                <a:ea typeface="Cambria" pitchFamily="34" charset="-122"/>
                <a:cs typeface="Cambria" pitchFamily="34" charset="-120"/>
              </a:rPr>
              <a:t>Une couleur pour le message, du gris pour le reste</a:t>
            </a:r>
            <a:endParaRPr lang="en-US" sz="3000" dirty="0"/>
          </a:p>
        </p:txBody>
      </p:sp>
      <p:pic>
        <p:nvPicPr>
          <p:cNvPr id="6" name="Image 0" descr="Le même graphique avant et après : ordre alphabétique et six couleurs, puis trié avec une seule couleur de mise en évidence">    </p:cNvPr>
          <p:cNvPicPr>
            <a:picLocks noChangeAspect="1"/>
          </p:cNvPicPr>
          <p:nvPr/>
        </p:nvPicPr>
        <p:blipFill>
          <a:blip r:embed="rId1"/>
          <a:stretch>
            <a:fillRect/>
          </a:stretch>
        </p:blipFill>
        <p:spPr>
          <a:xfrm>
            <a:off x="784052" y="1417320"/>
            <a:ext cx="10623591" cy="3566160"/>
          </a:xfrm>
          <a:prstGeom prst="rect">
            <a:avLst/>
          </a:prstGeom>
        </p:spPr>
      </p:pic>
      <p:sp>
        <p:nvSpPr>
          <p:cNvPr id="7" name="Shape 4"/>
          <p:cNvSpPr/>
          <p:nvPr/>
        </p:nvSpPr>
        <p:spPr>
          <a:xfrm>
            <a:off x="548640" y="5303520"/>
            <a:ext cx="11094415" cy="742188"/>
          </a:xfrm>
          <a:prstGeom prst="rect">
            <a:avLst/>
          </a:prstGeom>
          <a:solidFill>
            <a:srgbClr val="F3F4F6"/>
          </a:solidFill>
          <a:ln/>
        </p:spPr>
      </p:sp>
      <p:sp>
        <p:nvSpPr>
          <p:cNvPr id="8" name="Text 5"/>
          <p:cNvSpPr txBox="1"/>
          <p:nvPr/>
        </p:nvSpPr>
        <p:spPr>
          <a:xfrm>
            <a:off x="731520" y="5449824"/>
            <a:ext cx="10728655" cy="449580"/>
          </a:xfrm>
          <a:prstGeom prst="rect">
            <a:avLst/>
          </a:prstGeom>
          <a:noFill/>
          <a:ln/>
        </p:spPr>
        <p:txBody>
          <a:bodyPr wrap="square" lIns="0" tIns="0" rIns="0" bIns="0" rtlCol="0" anchor="t"/>
          <a:lstStyle/>
          <a:p>
            <a:pPr indent="0" marL="0">
              <a:lnSpc>
                <a:spcPct val="100000"/>
              </a:lnSpc>
              <a:buNone/>
            </a:pPr>
            <a:r>
              <a:rPr lang="en-US" sz="1500" dirty="0">
                <a:solidFill>
                  <a:srgbClr val="1F2933"/>
                </a:solidFill>
                <a:latin typeface="Courier New" pitchFamily="34" charset="0"/>
                <a:ea typeface="Courier New" pitchFamily="34" charset="-122"/>
                <a:cs typeface="Courier New" pitchFamily="34" charset="-120"/>
              </a:rPr>
              <a:t>couleurs = ["#2F7D62" if r == "Île-de-France" else "#B8C2CC" for r in par_region.index]</a:t>
            </a:r>
            <a:endParaRPr lang="en-US" sz="1500" dirty="0"/>
          </a:p>
          <a:p>
            <a:pPr indent="0" marL="0">
              <a:lnSpc>
                <a:spcPct val="100000"/>
              </a:lnSpc>
              <a:buNone/>
            </a:pPr>
            <a:r>
              <a:rPr lang="en-US" sz="1500" dirty="0">
                <a:solidFill>
                  <a:srgbClr val="1F2933"/>
                </a:solidFill>
                <a:latin typeface="Courier New" pitchFamily="34" charset="0"/>
                <a:ea typeface="Courier New" pitchFamily="34" charset="-122"/>
                <a:cs typeface="Courier New" pitchFamily="34" charset="-120"/>
              </a:rPr>
              <a:t>ax.barh(par_region.index, par_region.values, color=couleurs)</a:t>
            </a:r>
            <a:endParaRPr lang="en-US" sz="1500" dirty="0"/>
          </a:p>
        </p:txBody>
      </p:sp>
      <p:sp>
        <p:nvSpPr>
          <p:cNvPr id="9" name="Text 6"/>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Analyse de données avec Python   |   Jour 2, après-midi</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b="0"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66928"/>
            <a:ext cx="475488" cy="475488"/>
          </a:xfrm>
          <a:prstGeom prst="ellipse">
            <a:avLst/>
          </a:prstGeom>
          <a:solidFill>
            <a:srgbClr val="2F7D62"/>
          </a:solidFill>
          <a:ln/>
        </p:spPr>
      </p:sp>
      <p:sp>
        <p:nvSpPr>
          <p:cNvPr id="3" name="Text 1"/>
          <p:cNvSpPr txBox="1"/>
          <p:nvPr/>
        </p:nvSpPr>
        <p:spPr>
          <a:xfrm>
            <a:off x="548640" y="566928"/>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5</a:t>
            </a:r>
            <a:endParaRPr lang="en-US" sz="1600" dirty="0"/>
          </a:p>
        </p:txBody>
      </p:sp>
      <p:sp>
        <p:nvSpPr>
          <p:cNvPr id="4" name="Text 2"/>
          <p:cNvSpPr txBox="1"/>
          <p:nvPr/>
        </p:nvSpPr>
        <p:spPr>
          <a:xfrm>
            <a:off x="1280160" y="164592"/>
            <a:ext cx="10362895" cy="274320"/>
          </a:xfrm>
          <a:prstGeom prst="rect">
            <a:avLst/>
          </a:prstGeom>
          <a:noFill/>
          <a:ln/>
        </p:spPr>
        <p:txBody>
          <a:bodyPr wrap="square" lIns="0" tIns="0" rIns="0" bIns="0" rtlCol="0" anchor="ctr"/>
          <a:lstStyle/>
          <a:p>
            <a:pPr indent="0" marL="0">
              <a:buNone/>
            </a:pPr>
            <a:r>
              <a:rPr lang="en-US" sz="1200" b="1" spc="200" kern="0" dirty="0">
                <a:solidFill>
                  <a:srgbClr val="2F7D62"/>
                </a:solidFill>
                <a:latin typeface="Calibri" pitchFamily="34" charset="0"/>
                <a:ea typeface="Calibri" pitchFamily="34" charset="-122"/>
                <a:cs typeface="Calibri" pitchFamily="34" charset="-120"/>
              </a:rPr>
              <a:t>BONNES PRATIQUES DE DATAVIZ</a:t>
            </a:r>
            <a:endParaRPr lang="en-US" sz="1200" dirty="0"/>
          </a:p>
        </p:txBody>
      </p:sp>
      <p:sp>
        <p:nvSpPr>
          <p:cNvPr id="5" name="Text 3"/>
          <p:cNvSpPr txBox="1"/>
          <p:nvPr/>
        </p:nvSpPr>
        <p:spPr>
          <a:xfrm>
            <a:off x="1280160" y="457200"/>
            <a:ext cx="10362895" cy="694944"/>
          </a:xfrm>
          <a:prstGeom prst="rect">
            <a:avLst/>
          </a:prstGeom>
          <a:noFill/>
          <a:ln/>
        </p:spPr>
        <p:txBody>
          <a:bodyPr wrap="square" lIns="0" tIns="0" rIns="0" bIns="0" rtlCol="0" anchor="ctr"/>
          <a:lstStyle/>
          <a:p>
            <a:pPr indent="0" marL="0">
              <a:buNone/>
            </a:pPr>
            <a:r>
              <a:rPr lang="en-US" sz="3000" b="1" dirty="0">
                <a:solidFill>
                  <a:srgbClr val="1F3A5F"/>
                </a:solidFill>
                <a:latin typeface="Cambria" pitchFamily="34" charset="0"/>
                <a:ea typeface="Cambria" pitchFamily="34" charset="-122"/>
                <a:cs typeface="Cambria" pitchFamily="34" charset="-120"/>
              </a:rPr>
              <a:t>Le piège de l'axe tronqué</a:t>
            </a:r>
            <a:endParaRPr lang="en-US" sz="3000" dirty="0"/>
          </a:p>
        </p:txBody>
      </p:sp>
      <p:pic>
        <p:nvPicPr>
          <p:cNvPr id="6" name="Image 0" descr="Le même écart de 6 % avec un axe tronqué, où il paraît énorme, puis avec un axe partant de zéro">    </p:cNvPr>
          <p:cNvPicPr>
            <a:picLocks noChangeAspect="1"/>
          </p:cNvPicPr>
          <p:nvPr/>
        </p:nvPicPr>
        <p:blipFill>
          <a:blip r:embed="rId1"/>
          <a:stretch>
            <a:fillRect/>
          </a:stretch>
        </p:blipFill>
        <p:spPr>
          <a:xfrm>
            <a:off x="1653418" y="1417320"/>
            <a:ext cx="8884859" cy="3474720"/>
          </a:xfrm>
          <a:prstGeom prst="rect">
            <a:avLst/>
          </a:prstGeom>
        </p:spPr>
      </p:pic>
      <p:sp>
        <p:nvSpPr>
          <p:cNvPr id="7" name="Shape 4"/>
          <p:cNvSpPr/>
          <p:nvPr/>
        </p:nvSpPr>
        <p:spPr>
          <a:xfrm>
            <a:off x="548640" y="5212080"/>
            <a:ext cx="11094415" cy="883920"/>
          </a:xfrm>
          <a:prstGeom prst="roundRect">
            <a:avLst>
              <a:gd name="adj" fmla="val 6207"/>
            </a:avLst>
          </a:prstGeom>
          <a:solidFill>
            <a:srgbClr val="E8F3EE"/>
          </a:solidFill>
          <a:ln/>
        </p:spPr>
      </p:sp>
      <p:sp>
        <p:nvSpPr>
          <p:cNvPr id="8" name="Text 5"/>
          <p:cNvSpPr txBox="1"/>
          <p:nvPr/>
        </p:nvSpPr>
        <p:spPr>
          <a:xfrm>
            <a:off x="822960" y="5212080"/>
            <a:ext cx="10545775" cy="883920"/>
          </a:xfrm>
          <a:prstGeom prst="rect">
            <a:avLst/>
          </a:prstGeom>
          <a:noFill/>
          <a:ln/>
        </p:spPr>
        <p:txBody>
          <a:bodyPr wrap="square" lIns="0" tIns="0" rIns="0" bIns="0" rtlCol="0" anchor="ctr"/>
          <a:lstStyle/>
          <a:p>
            <a:pPr indent="0" marL="0">
              <a:buNone/>
            </a:pPr>
            <a:r>
              <a:rPr lang="en-US" sz="1700" dirty="0">
                <a:solidFill>
                  <a:srgbClr val="1F3A5F"/>
                </a:solidFill>
                <a:latin typeface="Calibri" pitchFamily="34" charset="0"/>
                <a:ea typeface="Calibri" pitchFamily="34" charset="-122"/>
                <a:cs typeface="Calibri" pitchFamily="34" charset="-120"/>
              </a:rPr>
              <a:t>La longueur d'une barre représente la valeur : un axe en barres part toujours de zéro. Pour une courbe, un axe qui ne part pas de zéro est acceptable s'il est visible.</a:t>
            </a:r>
            <a:endParaRPr lang="en-US" sz="1700" dirty="0"/>
          </a:p>
        </p:txBody>
      </p:sp>
      <p:sp>
        <p:nvSpPr>
          <p:cNvPr id="9" name="Text 6"/>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Analyse de données avec Python   |   Jour 2, après-midi</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b="0"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66928"/>
            <a:ext cx="475488" cy="475488"/>
          </a:xfrm>
          <a:prstGeom prst="ellipse">
            <a:avLst/>
          </a:prstGeom>
          <a:solidFill>
            <a:srgbClr val="2F7D62"/>
          </a:solidFill>
          <a:ln/>
        </p:spPr>
      </p:sp>
      <p:sp>
        <p:nvSpPr>
          <p:cNvPr id="3" name="Text 1"/>
          <p:cNvSpPr txBox="1"/>
          <p:nvPr/>
        </p:nvSpPr>
        <p:spPr>
          <a:xfrm>
            <a:off x="548640" y="566928"/>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5</a:t>
            </a:r>
            <a:endParaRPr lang="en-US" sz="1600" dirty="0"/>
          </a:p>
        </p:txBody>
      </p:sp>
      <p:sp>
        <p:nvSpPr>
          <p:cNvPr id="4" name="Text 2"/>
          <p:cNvSpPr txBox="1"/>
          <p:nvPr/>
        </p:nvSpPr>
        <p:spPr>
          <a:xfrm>
            <a:off x="1280160" y="164592"/>
            <a:ext cx="10362895" cy="274320"/>
          </a:xfrm>
          <a:prstGeom prst="rect">
            <a:avLst/>
          </a:prstGeom>
          <a:noFill/>
          <a:ln/>
        </p:spPr>
        <p:txBody>
          <a:bodyPr wrap="square" lIns="0" tIns="0" rIns="0" bIns="0" rtlCol="0" anchor="ctr"/>
          <a:lstStyle/>
          <a:p>
            <a:pPr indent="0" marL="0">
              <a:buNone/>
            </a:pPr>
            <a:r>
              <a:rPr lang="en-US" sz="1200" b="1" spc="200" kern="0" dirty="0">
                <a:solidFill>
                  <a:srgbClr val="2F7D62"/>
                </a:solidFill>
                <a:latin typeface="Calibri" pitchFamily="34" charset="0"/>
                <a:ea typeface="Calibri" pitchFamily="34" charset="-122"/>
                <a:cs typeface="Calibri" pitchFamily="34" charset="-120"/>
              </a:rPr>
              <a:t>BONNES PRATIQUES DE DATAVIZ</a:t>
            </a:r>
            <a:endParaRPr lang="en-US" sz="1200" dirty="0"/>
          </a:p>
        </p:txBody>
      </p:sp>
      <p:sp>
        <p:nvSpPr>
          <p:cNvPr id="5" name="Text 3"/>
          <p:cNvSpPr txBox="1"/>
          <p:nvPr/>
        </p:nvSpPr>
        <p:spPr>
          <a:xfrm>
            <a:off x="1280160" y="457200"/>
            <a:ext cx="10362895" cy="694944"/>
          </a:xfrm>
          <a:prstGeom prst="rect">
            <a:avLst/>
          </a:prstGeom>
          <a:noFill/>
          <a:ln/>
        </p:spPr>
        <p:txBody>
          <a:bodyPr wrap="square" lIns="0" tIns="0" rIns="0" bIns="0" rtlCol="0" anchor="ctr"/>
          <a:lstStyle/>
          <a:p>
            <a:pPr indent="0" marL="0">
              <a:buNone/>
            </a:pPr>
            <a:r>
              <a:rPr lang="en-US" sz="3000" b="1" dirty="0">
                <a:solidFill>
                  <a:srgbClr val="1F3A5F"/>
                </a:solidFill>
                <a:latin typeface="Cambria" pitchFamily="34" charset="0"/>
                <a:ea typeface="Cambria" pitchFamily="34" charset="-122"/>
                <a:cs typeface="Cambria" pitchFamily="34" charset="-120"/>
              </a:rPr>
              <a:t>D'autres graphiques trompeurs</a:t>
            </a:r>
            <a:endParaRPr lang="en-US" sz="3000" dirty="0"/>
          </a:p>
        </p:txBody>
      </p:sp>
      <p:sp>
        <p:nvSpPr>
          <p:cNvPr id="6" name="Shape 4"/>
          <p:cNvSpPr/>
          <p:nvPr/>
        </p:nvSpPr>
        <p:spPr>
          <a:xfrm>
            <a:off x="548640" y="1417320"/>
            <a:ext cx="3515258" cy="1813560"/>
          </a:xfrm>
          <a:prstGeom prst="roundRect">
            <a:avLst>
              <a:gd name="adj" fmla="val 4034"/>
            </a:avLst>
          </a:prstGeom>
          <a:solidFill>
            <a:srgbClr val="EEF3F7"/>
          </a:solidFill>
          <a:ln/>
        </p:spPr>
      </p:sp>
      <p:sp>
        <p:nvSpPr>
          <p:cNvPr id="7" name="Shape 5"/>
          <p:cNvSpPr/>
          <p:nvPr/>
        </p:nvSpPr>
        <p:spPr>
          <a:xfrm>
            <a:off x="777240" y="1691640"/>
            <a:ext cx="402336" cy="402336"/>
          </a:xfrm>
          <a:prstGeom prst="ellipse">
            <a:avLst/>
          </a:prstGeom>
          <a:solidFill>
            <a:srgbClr val="2F7D62"/>
          </a:solidFill>
          <a:ln/>
        </p:spPr>
      </p:sp>
      <p:sp>
        <p:nvSpPr>
          <p:cNvPr id="8" name="Text 6"/>
          <p:cNvSpPr txBox="1"/>
          <p:nvPr/>
        </p:nvSpPr>
        <p:spPr>
          <a:xfrm>
            <a:off x="777240" y="1691640"/>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9" name="Text 7"/>
          <p:cNvSpPr txBox="1"/>
          <p:nvPr/>
        </p:nvSpPr>
        <p:spPr>
          <a:xfrm>
            <a:off x="777240" y="2240280"/>
            <a:ext cx="3058058" cy="243840"/>
          </a:xfrm>
          <a:prstGeom prst="rect">
            <a:avLst/>
          </a:prstGeom>
          <a:noFill/>
          <a:ln/>
        </p:spPr>
        <p:txBody>
          <a:bodyPr wrap="square" lIns="0" tIns="0" rIns="0" bIns="0" rtlCol="0" anchor="t"/>
          <a:lstStyle/>
          <a:p>
            <a:pPr indent="0" marL="0">
              <a:buNone/>
            </a:pPr>
            <a:r>
              <a:rPr lang="en-US" sz="1600" b="1" dirty="0">
                <a:solidFill>
                  <a:srgbClr val="1F3A5F"/>
                </a:solidFill>
                <a:latin typeface="Calibri" pitchFamily="34" charset="0"/>
                <a:ea typeface="Calibri" pitchFamily="34" charset="-122"/>
                <a:cs typeface="Calibri" pitchFamily="34" charset="-120"/>
              </a:rPr>
              <a:t>Un ordre arbitraire</a:t>
            </a:r>
            <a:endParaRPr lang="en-US" sz="1600" dirty="0"/>
          </a:p>
        </p:txBody>
      </p:sp>
      <p:sp>
        <p:nvSpPr>
          <p:cNvPr id="10" name="Text 8"/>
          <p:cNvSpPr txBox="1"/>
          <p:nvPr/>
        </p:nvSpPr>
        <p:spPr>
          <a:xfrm>
            <a:off x="777240" y="2575560"/>
            <a:ext cx="3058058" cy="472440"/>
          </a:xfrm>
          <a:prstGeom prst="rect">
            <a:avLst/>
          </a:prstGeom>
          <a:noFill/>
          <a:ln/>
        </p:spPr>
        <p:txBody>
          <a:bodyPr wrap="square" lIns="0" tIns="0" rIns="0" bIns="0" rtlCol="0" anchor="t"/>
          <a:lstStyle/>
          <a:p>
            <a:pPr indent="0" marL="0">
              <a:buNone/>
            </a:pPr>
            <a:r>
              <a:rPr lang="en-US" sz="1400" dirty="0">
                <a:solidFill>
                  <a:srgbClr val="1F2933"/>
                </a:solidFill>
                <a:latin typeface="Calibri" pitchFamily="34" charset="0"/>
                <a:ea typeface="Calibri" pitchFamily="34" charset="-122"/>
                <a:cs typeface="Calibri" pitchFamily="34" charset="-120"/>
              </a:rPr>
              <a:t>L'ordre alphabétique oblige à chercher les plus grandes valeurs.</a:t>
            </a:r>
            <a:endParaRPr lang="en-US" sz="1400" dirty="0"/>
          </a:p>
        </p:txBody>
      </p:sp>
      <p:sp>
        <p:nvSpPr>
          <p:cNvPr id="11" name="Shape 9"/>
          <p:cNvSpPr/>
          <p:nvPr/>
        </p:nvSpPr>
        <p:spPr>
          <a:xfrm>
            <a:off x="4338218" y="1417320"/>
            <a:ext cx="3515258" cy="1813560"/>
          </a:xfrm>
          <a:prstGeom prst="roundRect">
            <a:avLst>
              <a:gd name="adj" fmla="val 4034"/>
            </a:avLst>
          </a:prstGeom>
          <a:solidFill>
            <a:srgbClr val="EEF3F7"/>
          </a:solidFill>
          <a:ln/>
        </p:spPr>
      </p:sp>
      <p:sp>
        <p:nvSpPr>
          <p:cNvPr id="12" name="Shape 10"/>
          <p:cNvSpPr/>
          <p:nvPr/>
        </p:nvSpPr>
        <p:spPr>
          <a:xfrm>
            <a:off x="4566818" y="1691640"/>
            <a:ext cx="402336" cy="402336"/>
          </a:xfrm>
          <a:prstGeom prst="ellipse">
            <a:avLst/>
          </a:prstGeom>
          <a:solidFill>
            <a:srgbClr val="2F7D62"/>
          </a:solidFill>
          <a:ln/>
        </p:spPr>
      </p:sp>
      <p:sp>
        <p:nvSpPr>
          <p:cNvPr id="13" name="Text 11"/>
          <p:cNvSpPr txBox="1"/>
          <p:nvPr/>
        </p:nvSpPr>
        <p:spPr>
          <a:xfrm>
            <a:off x="4566818" y="1691640"/>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4" name="Text 12"/>
          <p:cNvSpPr txBox="1"/>
          <p:nvPr/>
        </p:nvSpPr>
        <p:spPr>
          <a:xfrm>
            <a:off x="4566818" y="2240280"/>
            <a:ext cx="3058058" cy="243840"/>
          </a:xfrm>
          <a:prstGeom prst="rect">
            <a:avLst/>
          </a:prstGeom>
          <a:noFill/>
          <a:ln/>
        </p:spPr>
        <p:txBody>
          <a:bodyPr wrap="square" lIns="0" tIns="0" rIns="0" bIns="0" rtlCol="0" anchor="t"/>
          <a:lstStyle/>
          <a:p>
            <a:pPr indent="0" marL="0">
              <a:buNone/>
            </a:pPr>
            <a:r>
              <a:rPr lang="en-US" sz="1600" b="1" dirty="0">
                <a:solidFill>
                  <a:srgbClr val="1F3A5F"/>
                </a:solidFill>
                <a:latin typeface="Calibri" pitchFamily="34" charset="0"/>
                <a:ea typeface="Calibri" pitchFamily="34" charset="-122"/>
                <a:cs typeface="Calibri" pitchFamily="34" charset="-120"/>
              </a:rPr>
              <a:t>Des couleurs décoratives</a:t>
            </a:r>
            <a:endParaRPr lang="en-US" sz="1600" dirty="0"/>
          </a:p>
        </p:txBody>
      </p:sp>
      <p:sp>
        <p:nvSpPr>
          <p:cNvPr id="15" name="Text 13"/>
          <p:cNvSpPr txBox="1"/>
          <p:nvPr/>
        </p:nvSpPr>
        <p:spPr>
          <a:xfrm>
            <a:off x="4566818" y="2575560"/>
            <a:ext cx="3058058" cy="472440"/>
          </a:xfrm>
          <a:prstGeom prst="rect">
            <a:avLst/>
          </a:prstGeom>
          <a:noFill/>
          <a:ln/>
        </p:spPr>
        <p:txBody>
          <a:bodyPr wrap="square" lIns="0" tIns="0" rIns="0" bIns="0" rtlCol="0" anchor="t"/>
          <a:lstStyle/>
          <a:p>
            <a:pPr indent="0" marL="0">
              <a:buNone/>
            </a:pPr>
            <a:r>
              <a:rPr lang="en-US" sz="1400" dirty="0">
                <a:solidFill>
                  <a:srgbClr val="1F2933"/>
                </a:solidFill>
                <a:latin typeface="Calibri" pitchFamily="34" charset="0"/>
                <a:ea typeface="Calibri" pitchFamily="34" charset="-122"/>
                <a:cs typeface="Calibri" pitchFamily="34" charset="-120"/>
              </a:rPr>
              <a:t>Une couleur par barre, et une légende qui répète l'axe.</a:t>
            </a:r>
            <a:endParaRPr lang="en-US" sz="1400" dirty="0"/>
          </a:p>
        </p:txBody>
      </p:sp>
      <p:sp>
        <p:nvSpPr>
          <p:cNvPr id="16" name="Shape 14"/>
          <p:cNvSpPr/>
          <p:nvPr/>
        </p:nvSpPr>
        <p:spPr>
          <a:xfrm>
            <a:off x="8127797" y="1417320"/>
            <a:ext cx="3515258" cy="1813560"/>
          </a:xfrm>
          <a:prstGeom prst="roundRect">
            <a:avLst>
              <a:gd name="adj" fmla="val 4034"/>
            </a:avLst>
          </a:prstGeom>
          <a:solidFill>
            <a:srgbClr val="EEF3F7"/>
          </a:solidFill>
          <a:ln/>
        </p:spPr>
      </p:sp>
      <p:sp>
        <p:nvSpPr>
          <p:cNvPr id="17" name="Shape 15"/>
          <p:cNvSpPr/>
          <p:nvPr/>
        </p:nvSpPr>
        <p:spPr>
          <a:xfrm>
            <a:off x="8356397" y="1691640"/>
            <a:ext cx="402336" cy="402336"/>
          </a:xfrm>
          <a:prstGeom prst="ellipse">
            <a:avLst/>
          </a:prstGeom>
          <a:solidFill>
            <a:srgbClr val="2F7D62"/>
          </a:solidFill>
          <a:ln/>
        </p:spPr>
      </p:sp>
      <p:sp>
        <p:nvSpPr>
          <p:cNvPr id="18" name="Text 16"/>
          <p:cNvSpPr txBox="1"/>
          <p:nvPr/>
        </p:nvSpPr>
        <p:spPr>
          <a:xfrm>
            <a:off x="8356397" y="1691640"/>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9" name="Text 17"/>
          <p:cNvSpPr txBox="1"/>
          <p:nvPr/>
        </p:nvSpPr>
        <p:spPr>
          <a:xfrm>
            <a:off x="8356397" y="2240280"/>
            <a:ext cx="3058058" cy="243840"/>
          </a:xfrm>
          <a:prstGeom prst="rect">
            <a:avLst/>
          </a:prstGeom>
          <a:noFill/>
          <a:ln/>
        </p:spPr>
        <p:txBody>
          <a:bodyPr wrap="square" lIns="0" tIns="0" rIns="0" bIns="0" rtlCol="0" anchor="t"/>
          <a:lstStyle/>
          <a:p>
            <a:pPr indent="0" marL="0">
              <a:buNone/>
            </a:pPr>
            <a:r>
              <a:rPr lang="en-US" sz="1600" b="1" dirty="0">
                <a:solidFill>
                  <a:srgbClr val="1F3A5F"/>
                </a:solidFill>
                <a:latin typeface="Calibri" pitchFamily="34" charset="0"/>
                <a:ea typeface="Calibri" pitchFamily="34" charset="-122"/>
                <a:cs typeface="Calibri" pitchFamily="34" charset="-120"/>
              </a:rPr>
              <a:t>Des échelles différentes</a:t>
            </a:r>
            <a:endParaRPr lang="en-US" sz="1600" dirty="0"/>
          </a:p>
        </p:txBody>
      </p:sp>
      <p:sp>
        <p:nvSpPr>
          <p:cNvPr id="20" name="Text 18"/>
          <p:cNvSpPr txBox="1"/>
          <p:nvPr/>
        </p:nvSpPr>
        <p:spPr>
          <a:xfrm>
            <a:off x="8356397" y="2575560"/>
            <a:ext cx="3058058" cy="472440"/>
          </a:xfrm>
          <a:prstGeom prst="rect">
            <a:avLst/>
          </a:prstGeom>
          <a:noFill/>
          <a:ln/>
        </p:spPr>
        <p:txBody>
          <a:bodyPr wrap="square" lIns="0" tIns="0" rIns="0" bIns="0" rtlCol="0" anchor="t"/>
          <a:lstStyle/>
          <a:p>
            <a:pPr indent="0" marL="0">
              <a:buNone/>
            </a:pPr>
            <a:r>
              <a:rPr lang="en-US" sz="1400" dirty="0">
                <a:solidFill>
                  <a:srgbClr val="1F2933"/>
                </a:solidFill>
                <a:latin typeface="Calibri" pitchFamily="34" charset="0"/>
                <a:ea typeface="Calibri" pitchFamily="34" charset="-122"/>
                <a:cs typeface="Calibri" pitchFamily="34" charset="-120"/>
              </a:rPr>
              <a:t>Deux graphiques comparés sans </a:t>
            </a:r>
            <a:pPr indent="0" marL="0">
              <a:buNone/>
            </a:pPr>
            <a:r>
              <a:rPr lang="en-US" sz="1400" dirty="0">
                <a:solidFill>
                  <a:srgbClr val="1F3A5F"/>
                </a:solidFill>
                <a:latin typeface="Courier New" pitchFamily="34" charset="0"/>
                <a:ea typeface="Courier New" pitchFamily="34" charset="-122"/>
                <a:cs typeface="Courier New" pitchFamily="34" charset="-120"/>
              </a:rPr>
              <a:t>sharey=True</a:t>
            </a:r>
            <a:pPr indent="0" marL="0">
              <a:buNone/>
            </a:pPr>
            <a:r>
              <a:rPr lang="en-US" sz="1400" dirty="0">
                <a:solidFill>
                  <a:srgbClr val="1F2933"/>
                </a:solidFill>
                <a:latin typeface="Calibri" pitchFamily="34" charset="0"/>
                <a:ea typeface="Calibri" pitchFamily="34" charset="-122"/>
                <a:cs typeface="Calibri" pitchFamily="34" charset="-120"/>
              </a:rPr>
              <a:t>.</a:t>
            </a:r>
            <a:endParaRPr lang="en-US" sz="1400" dirty="0"/>
          </a:p>
        </p:txBody>
      </p:sp>
      <p:sp>
        <p:nvSpPr>
          <p:cNvPr id="21" name="Shape 19"/>
          <p:cNvSpPr/>
          <p:nvPr/>
        </p:nvSpPr>
        <p:spPr>
          <a:xfrm>
            <a:off x="548640" y="3550920"/>
            <a:ext cx="3515258" cy="2026920"/>
          </a:xfrm>
          <a:prstGeom prst="roundRect">
            <a:avLst>
              <a:gd name="adj" fmla="val 3609"/>
            </a:avLst>
          </a:prstGeom>
          <a:solidFill>
            <a:srgbClr val="EEF3F7"/>
          </a:solidFill>
          <a:ln/>
        </p:spPr>
      </p:sp>
      <p:sp>
        <p:nvSpPr>
          <p:cNvPr id="22" name="Shape 20"/>
          <p:cNvSpPr/>
          <p:nvPr/>
        </p:nvSpPr>
        <p:spPr>
          <a:xfrm>
            <a:off x="777240" y="3825240"/>
            <a:ext cx="402336" cy="402336"/>
          </a:xfrm>
          <a:prstGeom prst="ellipse">
            <a:avLst/>
          </a:prstGeom>
          <a:solidFill>
            <a:srgbClr val="2F7D62"/>
          </a:solidFill>
          <a:ln/>
        </p:spPr>
      </p:sp>
      <p:sp>
        <p:nvSpPr>
          <p:cNvPr id="23" name="Text 21"/>
          <p:cNvSpPr txBox="1"/>
          <p:nvPr/>
        </p:nvSpPr>
        <p:spPr>
          <a:xfrm>
            <a:off x="777240" y="3825240"/>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4" name="Text 22"/>
          <p:cNvSpPr txBox="1"/>
          <p:nvPr/>
        </p:nvSpPr>
        <p:spPr>
          <a:xfrm>
            <a:off x="777240" y="4373880"/>
            <a:ext cx="3058058" cy="243840"/>
          </a:xfrm>
          <a:prstGeom prst="rect">
            <a:avLst/>
          </a:prstGeom>
          <a:noFill/>
          <a:ln/>
        </p:spPr>
        <p:txBody>
          <a:bodyPr wrap="square" lIns="0" tIns="0" rIns="0" bIns="0" rtlCol="0" anchor="t"/>
          <a:lstStyle/>
          <a:p>
            <a:pPr indent="0" marL="0">
              <a:buNone/>
            </a:pPr>
            <a:r>
              <a:rPr lang="en-US" sz="1600" b="1" dirty="0">
                <a:solidFill>
                  <a:srgbClr val="1F3A5F"/>
                </a:solidFill>
                <a:latin typeface="Calibri" pitchFamily="34" charset="0"/>
                <a:ea typeface="Calibri" pitchFamily="34" charset="-122"/>
                <a:cs typeface="Calibri" pitchFamily="34" charset="-120"/>
              </a:rPr>
              <a:t>Deux axes verticaux</a:t>
            </a:r>
            <a:endParaRPr lang="en-US" sz="1600" dirty="0"/>
          </a:p>
        </p:txBody>
      </p:sp>
      <p:sp>
        <p:nvSpPr>
          <p:cNvPr id="25" name="Text 23"/>
          <p:cNvSpPr txBox="1"/>
          <p:nvPr/>
        </p:nvSpPr>
        <p:spPr>
          <a:xfrm>
            <a:off x="777240" y="4709160"/>
            <a:ext cx="3058058" cy="685800"/>
          </a:xfrm>
          <a:prstGeom prst="rect">
            <a:avLst/>
          </a:prstGeom>
          <a:noFill/>
          <a:ln/>
        </p:spPr>
        <p:txBody>
          <a:bodyPr wrap="square" lIns="0" tIns="0" rIns="0" bIns="0" rtlCol="0" anchor="t"/>
          <a:lstStyle/>
          <a:p>
            <a:pPr indent="0" marL="0">
              <a:buNone/>
            </a:pPr>
            <a:r>
              <a:rPr lang="en-US" sz="1400" dirty="0">
                <a:solidFill>
                  <a:srgbClr val="1F2933"/>
                </a:solidFill>
                <a:latin typeface="Calibri" pitchFamily="34" charset="0"/>
                <a:ea typeface="Calibri" pitchFamily="34" charset="-122"/>
                <a:cs typeface="Calibri" pitchFamily="34" charset="-120"/>
              </a:rPr>
              <a:t>Le choix des échelles suggère des liens qui n'existent pas.</a:t>
            </a:r>
            <a:endParaRPr lang="en-US" sz="1400" dirty="0"/>
          </a:p>
        </p:txBody>
      </p:sp>
      <p:sp>
        <p:nvSpPr>
          <p:cNvPr id="26" name="Shape 24"/>
          <p:cNvSpPr/>
          <p:nvPr/>
        </p:nvSpPr>
        <p:spPr>
          <a:xfrm>
            <a:off x="4338218" y="3550920"/>
            <a:ext cx="3515258" cy="2026920"/>
          </a:xfrm>
          <a:prstGeom prst="roundRect">
            <a:avLst>
              <a:gd name="adj" fmla="val 3609"/>
            </a:avLst>
          </a:prstGeom>
          <a:solidFill>
            <a:srgbClr val="EEF3F7"/>
          </a:solidFill>
          <a:ln/>
        </p:spPr>
      </p:sp>
      <p:sp>
        <p:nvSpPr>
          <p:cNvPr id="27" name="Shape 25"/>
          <p:cNvSpPr/>
          <p:nvPr/>
        </p:nvSpPr>
        <p:spPr>
          <a:xfrm>
            <a:off x="4566818" y="3825240"/>
            <a:ext cx="402336" cy="402336"/>
          </a:xfrm>
          <a:prstGeom prst="ellipse">
            <a:avLst/>
          </a:prstGeom>
          <a:solidFill>
            <a:srgbClr val="2F7D62"/>
          </a:solidFill>
          <a:ln/>
        </p:spPr>
      </p:sp>
      <p:sp>
        <p:nvSpPr>
          <p:cNvPr id="28" name="Text 26"/>
          <p:cNvSpPr txBox="1"/>
          <p:nvPr/>
        </p:nvSpPr>
        <p:spPr>
          <a:xfrm>
            <a:off x="4566818" y="3825240"/>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29" name="Text 27"/>
          <p:cNvSpPr txBox="1"/>
          <p:nvPr/>
        </p:nvSpPr>
        <p:spPr>
          <a:xfrm>
            <a:off x="4566818" y="4373880"/>
            <a:ext cx="3058058" cy="243840"/>
          </a:xfrm>
          <a:prstGeom prst="rect">
            <a:avLst/>
          </a:prstGeom>
          <a:noFill/>
          <a:ln/>
        </p:spPr>
        <p:txBody>
          <a:bodyPr wrap="square" lIns="0" tIns="0" rIns="0" bIns="0" rtlCol="0" anchor="t"/>
          <a:lstStyle/>
          <a:p>
            <a:pPr indent="0" marL="0">
              <a:buNone/>
            </a:pPr>
            <a:r>
              <a:rPr lang="en-US" sz="1600" b="1" dirty="0">
                <a:solidFill>
                  <a:srgbClr val="1F3A5F"/>
                </a:solidFill>
                <a:latin typeface="Calibri" pitchFamily="34" charset="0"/>
                <a:ea typeface="Calibri" pitchFamily="34" charset="-122"/>
                <a:cs typeface="Calibri" pitchFamily="34" charset="-120"/>
              </a:rPr>
              <a:t>La 3D et les camemberts</a:t>
            </a:r>
            <a:endParaRPr lang="en-US" sz="1600" dirty="0"/>
          </a:p>
        </p:txBody>
      </p:sp>
      <p:sp>
        <p:nvSpPr>
          <p:cNvPr id="30" name="Text 28"/>
          <p:cNvSpPr txBox="1"/>
          <p:nvPr/>
        </p:nvSpPr>
        <p:spPr>
          <a:xfrm>
            <a:off x="4566818" y="4709160"/>
            <a:ext cx="3058058" cy="685800"/>
          </a:xfrm>
          <a:prstGeom prst="rect">
            <a:avLst/>
          </a:prstGeom>
          <a:noFill/>
          <a:ln/>
        </p:spPr>
        <p:txBody>
          <a:bodyPr wrap="square" lIns="0" tIns="0" rIns="0" bIns="0" rtlCol="0" anchor="t"/>
          <a:lstStyle/>
          <a:p>
            <a:pPr indent="0" marL="0">
              <a:buNone/>
            </a:pPr>
            <a:r>
              <a:rPr lang="en-US" sz="1400" dirty="0">
                <a:solidFill>
                  <a:srgbClr val="1F2933"/>
                </a:solidFill>
                <a:latin typeface="Calibri" pitchFamily="34" charset="0"/>
                <a:ea typeface="Calibri" pitchFamily="34" charset="-122"/>
                <a:cs typeface="Calibri" pitchFamily="34" charset="-120"/>
              </a:rPr>
              <a:t>L'œil compare mal les angles et les volumes.</a:t>
            </a:r>
            <a:endParaRPr lang="en-US" sz="1400" dirty="0"/>
          </a:p>
        </p:txBody>
      </p:sp>
      <p:sp>
        <p:nvSpPr>
          <p:cNvPr id="31" name="Shape 29"/>
          <p:cNvSpPr/>
          <p:nvPr/>
        </p:nvSpPr>
        <p:spPr>
          <a:xfrm>
            <a:off x="8127797" y="3550920"/>
            <a:ext cx="3515258" cy="2026920"/>
          </a:xfrm>
          <a:prstGeom prst="roundRect">
            <a:avLst>
              <a:gd name="adj" fmla="val 3609"/>
            </a:avLst>
          </a:prstGeom>
          <a:solidFill>
            <a:srgbClr val="EEF3F7"/>
          </a:solidFill>
          <a:ln/>
        </p:spPr>
      </p:sp>
      <p:sp>
        <p:nvSpPr>
          <p:cNvPr id="32" name="Shape 30"/>
          <p:cNvSpPr/>
          <p:nvPr/>
        </p:nvSpPr>
        <p:spPr>
          <a:xfrm>
            <a:off x="8356397" y="3825240"/>
            <a:ext cx="402336" cy="402336"/>
          </a:xfrm>
          <a:prstGeom prst="ellipse">
            <a:avLst/>
          </a:prstGeom>
          <a:solidFill>
            <a:srgbClr val="2F7D62"/>
          </a:solidFill>
          <a:ln/>
        </p:spPr>
      </p:sp>
      <p:sp>
        <p:nvSpPr>
          <p:cNvPr id="33" name="Text 31"/>
          <p:cNvSpPr txBox="1"/>
          <p:nvPr/>
        </p:nvSpPr>
        <p:spPr>
          <a:xfrm>
            <a:off x="8356397" y="3825240"/>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6</a:t>
            </a:r>
            <a:endParaRPr lang="en-US" sz="1500" dirty="0"/>
          </a:p>
        </p:txBody>
      </p:sp>
      <p:sp>
        <p:nvSpPr>
          <p:cNvPr id="34" name="Text 32"/>
          <p:cNvSpPr txBox="1"/>
          <p:nvPr/>
        </p:nvSpPr>
        <p:spPr>
          <a:xfrm>
            <a:off x="8356397" y="4373880"/>
            <a:ext cx="3058058" cy="243840"/>
          </a:xfrm>
          <a:prstGeom prst="rect">
            <a:avLst/>
          </a:prstGeom>
          <a:noFill/>
          <a:ln/>
        </p:spPr>
        <p:txBody>
          <a:bodyPr wrap="square" lIns="0" tIns="0" rIns="0" bIns="0" rtlCol="0" anchor="t"/>
          <a:lstStyle/>
          <a:p>
            <a:pPr indent="0" marL="0">
              <a:buNone/>
            </a:pPr>
            <a:r>
              <a:rPr lang="en-US" sz="1600" b="1" dirty="0">
                <a:solidFill>
                  <a:srgbClr val="1F3A5F"/>
                </a:solidFill>
                <a:latin typeface="Calibri" pitchFamily="34" charset="0"/>
                <a:ea typeface="Calibri" pitchFamily="34" charset="-122"/>
                <a:cs typeface="Calibri" pitchFamily="34" charset="-120"/>
              </a:rPr>
              <a:t>Une période incomplète</a:t>
            </a:r>
            <a:endParaRPr lang="en-US" sz="1600" dirty="0"/>
          </a:p>
        </p:txBody>
      </p:sp>
      <p:sp>
        <p:nvSpPr>
          <p:cNvPr id="35" name="Text 33"/>
          <p:cNvSpPr txBox="1"/>
          <p:nvPr/>
        </p:nvSpPr>
        <p:spPr>
          <a:xfrm>
            <a:off x="8356397" y="4709160"/>
            <a:ext cx="3058058" cy="685800"/>
          </a:xfrm>
          <a:prstGeom prst="rect">
            <a:avLst/>
          </a:prstGeom>
          <a:noFill/>
          <a:ln/>
        </p:spPr>
        <p:txBody>
          <a:bodyPr wrap="square" lIns="0" tIns="0" rIns="0" bIns="0" rtlCol="0" anchor="t"/>
          <a:lstStyle/>
          <a:p>
            <a:pPr indent="0" marL="0">
              <a:buNone/>
            </a:pPr>
            <a:r>
              <a:rPr lang="en-US" sz="1400" dirty="0">
                <a:solidFill>
                  <a:srgbClr val="1F2933"/>
                </a:solidFill>
                <a:latin typeface="Calibri" pitchFamily="34" charset="0"/>
                <a:ea typeface="Calibri" pitchFamily="34" charset="-122"/>
                <a:cs typeface="Calibri" pitchFamily="34" charset="-120"/>
              </a:rPr>
              <a:t>Un dernier mois partiel fait croire à une chute : l'exclure ou le signaler.</a:t>
            </a:r>
            <a:endParaRPr lang="en-US" sz="1400" dirty="0"/>
          </a:p>
        </p:txBody>
      </p:sp>
      <p:sp>
        <p:nvSpPr>
          <p:cNvPr id="36" name="Text 34"/>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Analyse de données avec Python   |   Jour 2, après-midi</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b="0"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66928"/>
            <a:ext cx="475488" cy="475488"/>
          </a:xfrm>
          <a:prstGeom prst="ellipse">
            <a:avLst/>
          </a:prstGeom>
          <a:solidFill>
            <a:srgbClr val="2F7D62"/>
          </a:solidFill>
          <a:ln/>
        </p:spPr>
      </p:sp>
      <p:sp>
        <p:nvSpPr>
          <p:cNvPr id="3" name="Text 1"/>
          <p:cNvSpPr txBox="1"/>
          <p:nvPr/>
        </p:nvSpPr>
        <p:spPr>
          <a:xfrm>
            <a:off x="548640" y="566928"/>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5</a:t>
            </a:r>
            <a:endParaRPr lang="en-US" sz="1600" dirty="0"/>
          </a:p>
        </p:txBody>
      </p:sp>
      <p:sp>
        <p:nvSpPr>
          <p:cNvPr id="4" name="Text 2"/>
          <p:cNvSpPr txBox="1"/>
          <p:nvPr/>
        </p:nvSpPr>
        <p:spPr>
          <a:xfrm>
            <a:off x="1280160" y="164592"/>
            <a:ext cx="10362895" cy="274320"/>
          </a:xfrm>
          <a:prstGeom prst="rect">
            <a:avLst/>
          </a:prstGeom>
          <a:noFill/>
          <a:ln/>
        </p:spPr>
        <p:txBody>
          <a:bodyPr wrap="square" lIns="0" tIns="0" rIns="0" bIns="0" rtlCol="0" anchor="ctr"/>
          <a:lstStyle/>
          <a:p>
            <a:pPr indent="0" marL="0">
              <a:buNone/>
            </a:pPr>
            <a:r>
              <a:rPr lang="en-US" sz="1200" b="1" spc="200" kern="0" dirty="0">
                <a:solidFill>
                  <a:srgbClr val="2F7D62"/>
                </a:solidFill>
                <a:latin typeface="Calibri" pitchFamily="34" charset="0"/>
                <a:ea typeface="Calibri" pitchFamily="34" charset="-122"/>
                <a:cs typeface="Calibri" pitchFamily="34" charset="-120"/>
              </a:rPr>
              <a:t>BONNES PRATIQUES DE DATAVIZ</a:t>
            </a:r>
            <a:endParaRPr lang="en-US" sz="1200" dirty="0"/>
          </a:p>
        </p:txBody>
      </p:sp>
      <p:sp>
        <p:nvSpPr>
          <p:cNvPr id="5" name="Text 3"/>
          <p:cNvSpPr txBox="1"/>
          <p:nvPr/>
        </p:nvSpPr>
        <p:spPr>
          <a:xfrm>
            <a:off x="1280160" y="457200"/>
            <a:ext cx="10362895" cy="694944"/>
          </a:xfrm>
          <a:prstGeom prst="rect">
            <a:avLst/>
          </a:prstGeom>
          <a:noFill/>
          <a:ln/>
        </p:spPr>
        <p:txBody>
          <a:bodyPr wrap="square" lIns="0" tIns="0" rIns="0" bIns="0" rtlCol="0" anchor="ctr"/>
          <a:lstStyle/>
          <a:p>
            <a:pPr indent="0" marL="0">
              <a:buNone/>
            </a:pPr>
            <a:r>
              <a:rPr lang="en-US" sz="3000" b="1" dirty="0">
                <a:solidFill>
                  <a:srgbClr val="1F3A5F"/>
                </a:solidFill>
                <a:latin typeface="Cambria" pitchFamily="34" charset="0"/>
                <a:ea typeface="Cambria" pitchFamily="34" charset="-122"/>
                <a:cs typeface="Cambria" pitchFamily="34" charset="-120"/>
              </a:rPr>
              <a:t>Reconnaître un graphique trompeur dans le code</a:t>
            </a:r>
            <a:endParaRPr lang="en-US" sz="3000" dirty="0"/>
          </a:p>
        </p:txBody>
      </p:sp>
      <p:sp>
        <p:nvSpPr>
          <p:cNvPr id="6" name="Shape 4"/>
          <p:cNvSpPr/>
          <p:nvPr/>
        </p:nvSpPr>
        <p:spPr>
          <a:xfrm>
            <a:off x="548640" y="1417320"/>
            <a:ext cx="11094415" cy="922020"/>
          </a:xfrm>
          <a:prstGeom prst="rect">
            <a:avLst/>
          </a:prstGeom>
          <a:solidFill>
            <a:srgbClr val="F3F4F6"/>
          </a:solidFill>
          <a:ln/>
        </p:spPr>
      </p:sp>
      <p:sp>
        <p:nvSpPr>
          <p:cNvPr id="7" name="Text 5"/>
          <p:cNvSpPr txBox="1"/>
          <p:nvPr/>
        </p:nvSpPr>
        <p:spPr>
          <a:xfrm>
            <a:off x="731520" y="1563624"/>
            <a:ext cx="10728655" cy="629412"/>
          </a:xfrm>
          <a:prstGeom prst="rect">
            <a:avLst/>
          </a:prstGeom>
          <a:noFill/>
          <a:ln/>
        </p:spPr>
        <p:txBody>
          <a:bodyPr wrap="square" lIns="0" tIns="0" rIns="0" bIns="0" rtlCol="0" anchor="t"/>
          <a:lstStyle/>
          <a:p>
            <a:pPr indent="0" marL="0">
              <a:lnSpc>
                <a:spcPct val="100000"/>
              </a:lnSpc>
              <a:buNone/>
            </a:pPr>
            <a:r>
              <a:rPr lang="en-US" sz="1400" dirty="0">
                <a:solidFill>
                  <a:srgbClr val="1F2933"/>
                </a:solidFill>
                <a:latin typeface="Courier New" pitchFamily="34" charset="0"/>
                <a:ea typeface="Courier New" pitchFamily="34" charset="-122"/>
                <a:cs typeface="Courier New" pitchFamily="34" charset="-120"/>
              </a:rPr>
              <a:t>ax.set_ylim(150, 235)                           # sur des barres : axe tronqué</a:t>
            </a:r>
            <a:endParaRPr lang="en-US" sz="1400" dirty="0"/>
          </a:p>
          <a:p>
            <a:pPr indent="0" marL="0">
              <a:lnSpc>
                <a:spcPct val="100000"/>
              </a:lnSpc>
              <a:buNone/>
            </a:pPr>
            <a:r>
              <a:rPr lang="en-US" sz="1400" dirty="0">
                <a:solidFill>
                  <a:srgbClr val="1F2933"/>
                </a:solidFill>
                <a:latin typeface="Courier New" pitchFamily="34" charset="0"/>
                <a:ea typeface="Courier New" pitchFamily="34" charset="-122"/>
                <a:cs typeface="Courier New" pitchFamily="34" charset="-120"/>
              </a:rPr>
              <a:t>ax2 = ax.twinx()                                # un second axe vertical, qui partage l'axe x</a:t>
            </a:r>
            <a:endParaRPr lang="en-US" sz="1400" dirty="0"/>
          </a:p>
          <a:p>
            <a:pPr indent="0" marL="0">
              <a:lnSpc>
                <a:spcPct val="100000"/>
              </a:lnSpc>
              <a:buNone/>
            </a:pPr>
            <a:r>
              <a:rPr lang="en-US" sz="1400" dirty="0">
                <a:solidFill>
                  <a:srgbClr val="1F2933"/>
                </a:solidFill>
                <a:latin typeface="Courier New" pitchFamily="34" charset="0"/>
                <a:ea typeface="Courier New" pitchFamily="34" charset="-122"/>
                <a:cs typeface="Courier New" pitchFamily="34" charset="-120"/>
              </a:rPr>
              <a:t>ax.pie(valeurs, labels=noms, autopct="%.0f%%")  # camembert, avec le pourcentage de chaque part</a:t>
            </a:r>
            <a:endParaRPr lang="en-US" sz="1400" dirty="0"/>
          </a:p>
        </p:txBody>
      </p:sp>
      <p:sp>
        <p:nvSpPr>
          <p:cNvPr id="8" name="Text 6"/>
          <p:cNvSpPr txBox="1"/>
          <p:nvPr/>
        </p:nvSpPr>
        <p:spPr>
          <a:xfrm>
            <a:off x="548640" y="2659380"/>
            <a:ext cx="11094415" cy="411480"/>
          </a:xfrm>
          <a:prstGeom prst="rect">
            <a:avLst/>
          </a:prstGeom>
          <a:noFill/>
          <a:ln/>
        </p:spPr>
        <p:txBody>
          <a:bodyPr wrap="square" lIns="0" tIns="0" rIns="0" bIns="0" rtlCol="0" anchor="t"/>
          <a:lstStyle/>
          <a:p>
            <a:pPr indent="0" marL="0">
              <a:buNone/>
            </a:pPr>
            <a:r>
              <a:rPr lang="en-US" sz="1800" dirty="0">
                <a:solidFill>
                  <a:srgbClr val="1F3A5F"/>
                </a:solidFill>
                <a:latin typeface="Courier New" pitchFamily="34" charset="0"/>
                <a:ea typeface="Courier New" pitchFamily="34" charset="-122"/>
                <a:cs typeface="Courier New" pitchFamily="34" charset="-120"/>
              </a:rPr>
              <a:t>twinx</a:t>
            </a:r>
            <a:pPr indent="0" marL="0">
              <a:buNone/>
            </a:pPr>
            <a:r>
              <a:rPr lang="en-US" sz="1800" dirty="0">
                <a:solidFill>
                  <a:srgbClr val="6B7280"/>
                </a:solidFill>
                <a:latin typeface="Calibri" pitchFamily="34" charset="0"/>
                <a:ea typeface="Calibri" pitchFamily="34" charset="-122"/>
                <a:cs typeface="Calibri" pitchFamily="34" charset="-120"/>
              </a:rPr>
              <a:t> crée un deuxième </a:t>
            </a:r>
            <a:pPr indent="0" marL="0">
              <a:buNone/>
            </a:pPr>
            <a:r>
              <a:rPr lang="en-US" sz="1800" dirty="0">
                <a:solidFill>
                  <a:srgbClr val="1F3A5F"/>
                </a:solidFill>
                <a:latin typeface="Courier New" pitchFamily="34" charset="0"/>
                <a:ea typeface="Courier New" pitchFamily="34" charset="-122"/>
                <a:cs typeface="Courier New" pitchFamily="34" charset="-120"/>
              </a:rPr>
              <a:t>Axes</a:t>
            </a:r>
            <a:pPr indent="0" marL="0">
              <a:buNone/>
            </a:pPr>
            <a:r>
              <a:rPr lang="en-US" sz="1800" dirty="0">
                <a:solidFill>
                  <a:srgbClr val="6B7280"/>
                </a:solidFill>
                <a:latin typeface="Calibri" pitchFamily="34" charset="0"/>
                <a:ea typeface="Calibri" pitchFamily="34" charset="-122"/>
                <a:cs typeface="Calibri" pitchFamily="34" charset="-120"/>
              </a:rPr>
              <a:t> superposé au premier, avec sa propre échelle verticale.</a:t>
            </a:r>
            <a:endParaRPr lang="en-US" sz="1800" dirty="0"/>
          </a:p>
        </p:txBody>
      </p:sp>
      <p:graphicFrame>
        <p:nvGraphicFramePr>
          <p:cNvPr id="46" name="Table 0"/>
          <p:cNvGraphicFramePr>
            <a:graphicFrameLocks noGrp="1"/>
          </p:cNvGraphicFramePr>
          <p:nvPr>
            <p:extLst>
              <p:ext uri="{D42A27DB-BD31-4B8C-83A1-F6EECF244321}">
                <p14:modId xmlns:p14="http://schemas.microsoft.com/office/powerpoint/2010/main" val="1579011935"/>
              </p:ext>
            </p:extLst>
          </p:nvPr>
        </p:nvGraphicFramePr>
        <p:xfrm>
          <a:off x="548640" y="3390900"/>
          <a:ext cx="11094415" cy="914400"/>
        </p:xfrm>
        <a:graphic>
          <a:graphicData uri="http://schemas.openxmlformats.org/drawingml/2006/table">
            <a:tbl>
              <a:tblPr/>
              <a:tblGrid>
                <a:gridCol w="4437766"/>
                <a:gridCol w="6656649"/>
              </a:tblGrid>
              <a:tr h="365379">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Plutôt que</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1F3A5F"/>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On trace</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1F3A5F"/>
                    </a:solidFill>
                  </a:tcPr>
                </a:tc>
              </a:tr>
              <a:tr h="584454">
                <a:tc>
                  <a:txBody>
                    <a:bodyPr/>
                    <a:lstStyle/>
                    <a:p>
                      <a:pPr indent="0" marL="0">
                        <a:buNone/>
                      </a:pPr>
                      <a:r>
                        <a:rPr lang="en-US" sz="1500" dirty="0">
                          <a:solidFill>
                            <a:srgbClr val="1F2933"/>
                          </a:solidFill>
                          <a:latin typeface="Calibri" pitchFamily="34" charset="0"/>
                          <a:ea typeface="Calibri" pitchFamily="34" charset="-122"/>
                          <a:cs typeface="Calibri" pitchFamily="34" charset="-120"/>
                        </a:rPr>
                        <a:t>deux axes verticaux avec </a:t>
                      </a:r>
                      <a:pPr indent="0" marL="0">
                        <a:buNone/>
                      </a:pPr>
                      <a:r>
                        <a:rPr lang="en-US" sz="1500" dirty="0">
                          <a:solidFill>
                            <a:srgbClr val="1F3A5F"/>
                          </a:solidFill>
                          <a:latin typeface="Courier New" pitchFamily="34" charset="0"/>
                          <a:ea typeface="Courier New" pitchFamily="34" charset="-122"/>
                          <a:cs typeface="Courier New" pitchFamily="34" charset="-120"/>
                        </a:rPr>
                        <a:t>twinx</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500" dirty="0">
                          <a:solidFill>
                            <a:srgbClr val="1F2933"/>
                          </a:solidFill>
                          <a:latin typeface="Calibri" pitchFamily="34" charset="0"/>
                          <a:ea typeface="Calibri" pitchFamily="34" charset="-122"/>
                          <a:cs typeface="Calibri" pitchFamily="34" charset="-120"/>
                        </a:rPr>
                        <a:t>deux graphiques l'un au-dessus de l'autre, alignés sur le même axe horizontal : </a:t>
                      </a:r>
                      <a:pPr indent="0" marL="0">
                        <a:buNone/>
                      </a:pPr>
                      <a:r>
                        <a:rPr lang="en-US" sz="1500" dirty="0">
                          <a:solidFill>
                            <a:srgbClr val="1F3A5F"/>
                          </a:solidFill>
                          <a:latin typeface="Courier New" pitchFamily="34" charset="0"/>
                          <a:ea typeface="Courier New" pitchFamily="34" charset="-122"/>
                          <a:cs typeface="Courier New" pitchFamily="34" charset="-120"/>
                        </a:rPr>
                        <a:t>plt.subplots(2, 1, sharex=True)</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r>
              <a:tr h="584454">
                <a:tc>
                  <a:txBody>
                    <a:bodyPr/>
                    <a:lstStyle/>
                    <a:p>
                      <a:pPr indent="0" marL="0">
                        <a:buNone/>
                      </a:pPr>
                      <a:r>
                        <a:rPr lang="en-US" sz="1500" dirty="0">
                          <a:solidFill>
                            <a:srgbClr val="1F2933"/>
                          </a:solidFill>
                          <a:latin typeface="Calibri" pitchFamily="34" charset="0"/>
                          <a:ea typeface="Calibri" pitchFamily="34" charset="-122"/>
                          <a:cs typeface="Calibri" pitchFamily="34" charset="-120"/>
                        </a:rPr>
                        <a:t>un camembert à nombreuses parts</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7F9FB"/>
                    </a:solidFill>
                  </a:tcPr>
                </a:tc>
                <a:tc>
                  <a:txBody>
                    <a:bodyPr/>
                    <a:lstStyle/>
                    <a:p>
                      <a:pPr indent="0" marL="0">
                        <a:buNone/>
                      </a:pPr>
                      <a:r>
                        <a:rPr lang="en-US" sz="1500" dirty="0">
                          <a:solidFill>
                            <a:srgbClr val="1F2933"/>
                          </a:solidFill>
                          <a:latin typeface="Calibri" pitchFamily="34" charset="0"/>
                          <a:ea typeface="Calibri" pitchFamily="34" charset="-122"/>
                          <a:cs typeface="Calibri" pitchFamily="34" charset="-120"/>
                        </a:rPr>
                        <a:t>des barres horizontales triées, avec la part de chacune écrite par </a:t>
                      </a:r>
                      <a:pPr indent="0" marL="0">
                        <a:buNone/>
                      </a:pPr>
                      <a:r>
                        <a:rPr lang="en-US" sz="1500" dirty="0">
                          <a:solidFill>
                            <a:srgbClr val="1F3A5F"/>
                          </a:solidFill>
                          <a:latin typeface="Courier New" pitchFamily="34" charset="0"/>
                          <a:ea typeface="Courier New" pitchFamily="34" charset="-122"/>
                          <a:cs typeface="Courier New" pitchFamily="34" charset="-120"/>
                        </a:rPr>
                        <a:t>bar_label</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7F9FB"/>
                    </a:solidFill>
                  </a:tcPr>
                </a:tc>
              </a:tr>
              <a:tr h="365379">
                <a:tc>
                  <a:txBody>
                    <a:bodyPr/>
                    <a:lstStyle/>
                    <a:p>
                      <a:pPr indent="0" marL="0">
                        <a:buNone/>
                      </a:pPr>
                      <a:r>
                        <a:rPr lang="en-US" sz="1500" dirty="0">
                          <a:solidFill>
                            <a:srgbClr val="1F2933"/>
                          </a:solidFill>
                          <a:latin typeface="Calibri" pitchFamily="34" charset="0"/>
                          <a:ea typeface="Calibri" pitchFamily="34" charset="-122"/>
                          <a:cs typeface="Calibri" pitchFamily="34" charset="-120"/>
                        </a:rPr>
                        <a:t>un axe tronqué sur des barres</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500" dirty="0">
                          <a:solidFill>
                            <a:srgbClr val="1F2933"/>
                          </a:solidFill>
                          <a:latin typeface="Calibri" pitchFamily="34" charset="0"/>
                          <a:ea typeface="Calibri" pitchFamily="34" charset="-122"/>
                          <a:cs typeface="Calibri" pitchFamily="34" charset="-120"/>
                        </a:rPr>
                        <a:t>un axe qui part de zéro : </a:t>
                      </a:r>
                      <a:pPr indent="0" marL="0">
                        <a:buNone/>
                      </a:pPr>
                      <a:r>
                        <a:rPr lang="en-US" sz="1500" dirty="0">
                          <a:solidFill>
                            <a:srgbClr val="1F3A5F"/>
                          </a:solidFill>
                          <a:latin typeface="Courier New" pitchFamily="34" charset="0"/>
                          <a:ea typeface="Courier New" pitchFamily="34" charset="-122"/>
                          <a:cs typeface="Courier New" pitchFamily="34" charset="-120"/>
                        </a:rPr>
                        <a:t>ax.set_ylim(0, ...)</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r>
            </a:tbl>
          </a:graphicData>
        </a:graphic>
      </p:graphicFrame>
      <p:sp>
        <p:nvSpPr>
          <p:cNvPr id="10" name="Text 7"/>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Analyse de données avec Python   |   Jour 2, après-midi</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b="0"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66928"/>
            <a:ext cx="475488" cy="475488"/>
          </a:xfrm>
          <a:prstGeom prst="ellipse">
            <a:avLst/>
          </a:prstGeom>
          <a:solidFill>
            <a:srgbClr val="2F7D62"/>
          </a:solidFill>
          <a:ln/>
        </p:spPr>
      </p:sp>
      <p:sp>
        <p:nvSpPr>
          <p:cNvPr id="3" name="Text 1"/>
          <p:cNvSpPr txBox="1"/>
          <p:nvPr/>
        </p:nvSpPr>
        <p:spPr>
          <a:xfrm>
            <a:off x="548640" y="566928"/>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5</a:t>
            </a:r>
            <a:endParaRPr lang="en-US" sz="1600" dirty="0"/>
          </a:p>
        </p:txBody>
      </p:sp>
      <p:sp>
        <p:nvSpPr>
          <p:cNvPr id="4" name="Text 2"/>
          <p:cNvSpPr txBox="1"/>
          <p:nvPr/>
        </p:nvSpPr>
        <p:spPr>
          <a:xfrm>
            <a:off x="1280160" y="164592"/>
            <a:ext cx="10362895" cy="274320"/>
          </a:xfrm>
          <a:prstGeom prst="rect">
            <a:avLst/>
          </a:prstGeom>
          <a:noFill/>
          <a:ln/>
        </p:spPr>
        <p:txBody>
          <a:bodyPr wrap="square" lIns="0" tIns="0" rIns="0" bIns="0" rtlCol="0" anchor="ctr"/>
          <a:lstStyle/>
          <a:p>
            <a:pPr indent="0" marL="0">
              <a:buNone/>
            </a:pPr>
            <a:r>
              <a:rPr lang="en-US" sz="1200" b="1" spc="200" kern="0" dirty="0">
                <a:solidFill>
                  <a:srgbClr val="2F7D62"/>
                </a:solidFill>
                <a:latin typeface="Calibri" pitchFamily="34" charset="0"/>
                <a:ea typeface="Calibri" pitchFamily="34" charset="-122"/>
                <a:cs typeface="Calibri" pitchFamily="34" charset="-120"/>
              </a:rPr>
              <a:t>BONNES PRATIQUES DE DATAVIZ</a:t>
            </a:r>
            <a:endParaRPr lang="en-US" sz="1200" dirty="0"/>
          </a:p>
        </p:txBody>
      </p:sp>
      <p:sp>
        <p:nvSpPr>
          <p:cNvPr id="5" name="Text 3"/>
          <p:cNvSpPr txBox="1"/>
          <p:nvPr/>
        </p:nvSpPr>
        <p:spPr>
          <a:xfrm>
            <a:off x="1280160" y="457200"/>
            <a:ext cx="10362895" cy="694944"/>
          </a:xfrm>
          <a:prstGeom prst="rect">
            <a:avLst/>
          </a:prstGeom>
          <a:noFill/>
          <a:ln/>
        </p:spPr>
        <p:txBody>
          <a:bodyPr wrap="square" lIns="0" tIns="0" rIns="0" bIns="0" rtlCol="0" anchor="ctr"/>
          <a:lstStyle/>
          <a:p>
            <a:pPr indent="0" marL="0">
              <a:buNone/>
            </a:pPr>
            <a:r>
              <a:rPr lang="en-US" sz="3000" b="1" dirty="0">
                <a:solidFill>
                  <a:srgbClr val="1F3A5F"/>
                </a:solidFill>
                <a:latin typeface="Cambria" pitchFamily="34" charset="0"/>
                <a:ea typeface="Cambria" pitchFamily="34" charset="-122"/>
                <a:cs typeface="Cambria" pitchFamily="34" charset="-120"/>
              </a:rPr>
              <a:t>Penser aux daltoniens</a:t>
            </a:r>
            <a:endParaRPr lang="en-US" sz="3000" dirty="0"/>
          </a:p>
        </p:txBody>
      </p:sp>
      <p:sp>
        <p:nvSpPr>
          <p:cNvPr id="6" name="Shape 4"/>
          <p:cNvSpPr/>
          <p:nvPr/>
        </p:nvSpPr>
        <p:spPr>
          <a:xfrm>
            <a:off x="548640" y="1417320"/>
            <a:ext cx="3868078" cy="1600200"/>
          </a:xfrm>
          <a:prstGeom prst="roundRect">
            <a:avLst>
              <a:gd name="adj" fmla="val 4571"/>
            </a:avLst>
          </a:prstGeom>
          <a:solidFill>
            <a:srgbClr val="EEF3F7"/>
          </a:solidFill>
          <a:ln/>
        </p:spPr>
      </p:sp>
      <p:sp>
        <p:nvSpPr>
          <p:cNvPr id="7" name="Text 5"/>
          <p:cNvSpPr txBox="1"/>
          <p:nvPr/>
        </p:nvSpPr>
        <p:spPr>
          <a:xfrm>
            <a:off x="777240" y="1600200"/>
            <a:ext cx="3410878" cy="777240"/>
          </a:xfrm>
          <a:prstGeom prst="rect">
            <a:avLst/>
          </a:prstGeom>
          <a:noFill/>
          <a:ln/>
        </p:spPr>
        <p:txBody>
          <a:bodyPr wrap="square" lIns="0" tIns="0" rIns="0" bIns="0" rtlCol="0" anchor="ctr"/>
          <a:lstStyle/>
          <a:p>
            <a:pPr indent="0" marL="0">
              <a:buNone/>
            </a:pPr>
            <a:r>
              <a:rPr lang="en-US" sz="4000" b="1" dirty="0">
                <a:solidFill>
                  <a:srgbClr val="2F7D62"/>
                </a:solidFill>
                <a:latin typeface="Cambria" pitchFamily="34" charset="0"/>
                <a:ea typeface="Cambria" pitchFamily="34" charset="-122"/>
                <a:cs typeface="Cambria" pitchFamily="34" charset="-120"/>
              </a:rPr>
              <a:t>8 %</a:t>
            </a:r>
            <a:endParaRPr lang="en-US" sz="4000" dirty="0"/>
          </a:p>
        </p:txBody>
      </p:sp>
      <p:sp>
        <p:nvSpPr>
          <p:cNvPr id="8" name="Text 6"/>
          <p:cNvSpPr txBox="1"/>
          <p:nvPr/>
        </p:nvSpPr>
        <p:spPr>
          <a:xfrm>
            <a:off x="777240" y="2423160"/>
            <a:ext cx="3410878" cy="457200"/>
          </a:xfrm>
          <a:prstGeom prst="rect">
            <a:avLst/>
          </a:prstGeom>
          <a:noFill/>
          <a:ln/>
        </p:spPr>
        <p:txBody>
          <a:bodyPr wrap="square" lIns="0" tIns="0" rIns="0" bIns="0" rtlCol="0" anchor="t"/>
          <a:lstStyle/>
          <a:p>
            <a:pPr indent="0" marL="0">
              <a:buNone/>
            </a:pPr>
            <a:r>
              <a:rPr lang="en-US" sz="1500" dirty="0">
                <a:solidFill>
                  <a:srgbClr val="6B7280"/>
                </a:solidFill>
                <a:latin typeface="Calibri" pitchFamily="34" charset="0"/>
                <a:ea typeface="Calibri" pitchFamily="34" charset="-122"/>
                <a:cs typeface="Calibri" pitchFamily="34" charset="-120"/>
              </a:rPr>
              <a:t>des hommes ont une forme de daltonisme</a:t>
            </a:r>
            <a:endParaRPr lang="en-US" sz="1500" dirty="0"/>
          </a:p>
        </p:txBody>
      </p:sp>
      <p:sp>
        <p:nvSpPr>
          <p:cNvPr id="9" name="Text 7"/>
          <p:cNvSpPr txBox="1"/>
          <p:nvPr/>
        </p:nvSpPr>
        <p:spPr>
          <a:xfrm>
            <a:off x="4873918" y="1417320"/>
            <a:ext cx="6769137" cy="2682240"/>
          </a:xfrm>
          <a:prstGeom prst="rect">
            <a:avLst/>
          </a:prstGeom>
          <a:noFill/>
          <a:ln/>
        </p:spPr>
        <p:txBody>
          <a:bodyPr wrap="square" lIns="0" tIns="0" rIns="0" bIns="0" rtlCol="0" anchor="t"/>
          <a:lstStyle/>
          <a:p>
            <a:pPr marL="254000" indent="-254000">
              <a:spcAft>
                <a:spcPts val="800"/>
              </a:spcAft>
              <a:buSzPct val="100000"/>
              <a:buChar char="•"/>
            </a:pPr>
            <a:r>
              <a:rPr lang="en-US" sz="1700" dirty="0">
                <a:solidFill>
                  <a:srgbClr val="1F2933"/>
                </a:solidFill>
                <a:latin typeface="Calibri" pitchFamily="34" charset="0"/>
                <a:ea typeface="Calibri" pitchFamily="34" charset="-122"/>
                <a:cs typeface="Calibri" pitchFamily="34" charset="-120"/>
              </a:rPr>
              <a:t>Le plus souvent : confusion entre le </a:t>
            </a:r>
            <a:pPr indent="0" marL="0">
              <a:buNone/>
            </a:pPr>
            <a:r>
              <a:rPr lang="en-US" sz="1700" b="1" dirty="0">
                <a:solidFill>
                  <a:srgbClr val="1F2933"/>
                </a:solidFill>
                <a:latin typeface="Calibri" pitchFamily="34" charset="0"/>
                <a:ea typeface="Calibri" pitchFamily="34" charset="-122"/>
                <a:cs typeface="Calibri" pitchFamily="34" charset="-120"/>
              </a:rPr>
              <a:t>rouge</a:t>
            </a:r>
            <a:pPr indent="0" marL="0">
              <a:buNone/>
            </a:pPr>
            <a:r>
              <a:rPr lang="en-US" sz="1700" dirty="0">
                <a:solidFill>
                  <a:srgbClr val="1F2933"/>
                </a:solidFill>
                <a:latin typeface="Calibri" pitchFamily="34" charset="0"/>
                <a:ea typeface="Calibri" pitchFamily="34" charset="-122"/>
                <a:cs typeface="Calibri" pitchFamily="34" charset="-120"/>
              </a:rPr>
              <a:t> et le </a:t>
            </a:r>
            <a:pPr indent="0" marL="0">
              <a:buNone/>
            </a:pPr>
            <a:r>
              <a:rPr lang="en-US" sz="1700" b="1" dirty="0">
                <a:solidFill>
                  <a:srgbClr val="1F2933"/>
                </a:solidFill>
                <a:latin typeface="Calibri" pitchFamily="34" charset="0"/>
                <a:ea typeface="Calibri" pitchFamily="34" charset="-122"/>
                <a:cs typeface="Calibri" pitchFamily="34" charset="-120"/>
              </a:rPr>
              <a:t>vert</a:t>
            </a:r>
            <a:endParaRPr lang="en-US" sz="1700" dirty="0"/>
          </a:p>
          <a:p>
            <a:pPr marL="254000" indent="-254000">
              <a:spcAft>
                <a:spcPts val="800"/>
              </a:spcAft>
              <a:buSzPct val="100000"/>
              <a:buChar char="•"/>
            </a:pPr>
            <a:r>
              <a:rPr lang="en-US" sz="1700" dirty="0">
                <a:solidFill>
                  <a:srgbClr val="1F2933"/>
                </a:solidFill>
                <a:latin typeface="Calibri" pitchFamily="34" charset="0"/>
                <a:ea typeface="Calibri" pitchFamily="34" charset="-122"/>
                <a:cs typeface="Calibri" pitchFamily="34" charset="-120"/>
              </a:rPr>
              <a:t>Éviter de les opposer, par exemple pour « sous » et « au-dessus de l'objectif », et la palette </a:t>
            </a:r>
            <a:pPr indent="0" marL="0">
              <a:buNone/>
            </a:pPr>
            <a:r>
              <a:rPr lang="en-US" sz="1700" dirty="0">
                <a:solidFill>
                  <a:srgbClr val="1F3A5F"/>
                </a:solidFill>
                <a:latin typeface="Courier New" pitchFamily="34" charset="0"/>
                <a:ea typeface="Courier New" pitchFamily="34" charset="-122"/>
                <a:cs typeface="Courier New" pitchFamily="34" charset="-120"/>
              </a:rPr>
              <a:t>"RdYlGn"</a:t>
            </a:r>
            <a:pPr indent="0" marL="0">
              <a:buNone/>
            </a:pPr>
            <a:r>
              <a:rPr lang="en-US" sz="1700" dirty="0">
                <a:solidFill>
                  <a:srgbClr val="1F2933"/>
                </a:solidFill>
                <a:latin typeface="Calibri" pitchFamily="34" charset="0"/>
                <a:ea typeface="Calibri" pitchFamily="34" charset="-122"/>
                <a:cs typeface="Calibri" pitchFamily="34" charset="-120"/>
              </a:rPr>
              <a:t> (rouge, jaune, vert)</a:t>
            </a:r>
            <a:endParaRPr lang="en-US" sz="1700" dirty="0"/>
          </a:p>
          <a:p>
            <a:pPr marL="254000" indent="-254000">
              <a:spcAft>
                <a:spcPts val="800"/>
              </a:spcAft>
              <a:buSzPct val="100000"/>
              <a:buChar char="•"/>
            </a:pPr>
            <a:r>
              <a:rPr lang="en-US" sz="1700" dirty="0">
                <a:solidFill>
                  <a:srgbClr val="1F2933"/>
                </a:solidFill>
                <a:latin typeface="Calibri" pitchFamily="34" charset="0"/>
                <a:ea typeface="Calibri" pitchFamily="34" charset="-122"/>
                <a:cs typeface="Calibri" pitchFamily="34" charset="-120"/>
              </a:rPr>
              <a:t>Palettes sûres :</a:t>
            </a:r>
            <a:endParaRPr lang="en-US" sz="1700" dirty="0"/>
          </a:p>
          <a:p>
            <a:pPr lvl="1" marL="457200" indent="-228600">
              <a:spcAft>
                <a:spcPts val="800"/>
              </a:spcAft>
              <a:buSzPct val="100000"/>
              <a:buChar char="•"/>
            </a:pPr>
            <a:r>
              <a:rPr lang="en-US" sz="1500" dirty="0">
                <a:solidFill>
                  <a:srgbClr val="1F3A5F"/>
                </a:solidFill>
                <a:latin typeface="Courier New" pitchFamily="34" charset="0"/>
                <a:ea typeface="Courier New" pitchFamily="34" charset="-122"/>
                <a:cs typeface="Courier New" pitchFamily="34" charset="-120"/>
              </a:rPr>
              <a:t>"RdBu"</a:t>
            </a:r>
            <a:pPr indent="0" marL="0">
              <a:buNone/>
            </a:pPr>
            <a:r>
              <a:rPr lang="en-US" sz="1500" dirty="0">
                <a:solidFill>
                  <a:srgbClr val="6B7280"/>
                </a:solidFill>
                <a:latin typeface="Calibri" pitchFamily="34" charset="0"/>
                <a:ea typeface="Calibri" pitchFamily="34" charset="-122"/>
                <a:cs typeface="Calibri" pitchFamily="34" charset="-120"/>
              </a:rPr>
              <a:t> pour une échelle autour d'une valeur centrale</a:t>
            </a:r>
            <a:endParaRPr lang="en-US" sz="1700" dirty="0"/>
          </a:p>
          <a:p>
            <a:pPr lvl="1" marL="457200" indent="-228600">
              <a:spcAft>
                <a:spcPts val="800"/>
              </a:spcAft>
              <a:buSzPct val="100000"/>
              <a:buChar char="•"/>
            </a:pPr>
            <a:r>
              <a:rPr lang="en-US" sz="1500" dirty="0">
                <a:solidFill>
                  <a:srgbClr val="1F3A5F"/>
                </a:solidFill>
                <a:latin typeface="Courier New" pitchFamily="34" charset="0"/>
                <a:ea typeface="Courier New" pitchFamily="34" charset="-122"/>
                <a:cs typeface="Courier New" pitchFamily="34" charset="-120"/>
              </a:rPr>
              <a:t>"viridis"</a:t>
            </a:r>
            <a:pPr indent="0" marL="0">
              <a:buNone/>
            </a:pPr>
            <a:r>
              <a:rPr lang="en-US" sz="1500" dirty="0">
                <a:solidFill>
                  <a:srgbClr val="6B7280"/>
                </a:solidFill>
                <a:latin typeface="Calibri" pitchFamily="34" charset="0"/>
                <a:ea typeface="Calibri" pitchFamily="34" charset="-122"/>
                <a:cs typeface="Calibri" pitchFamily="34" charset="-120"/>
              </a:rPr>
              <a:t>, </a:t>
            </a:r>
            <a:pPr indent="0" marL="0">
              <a:buNone/>
            </a:pPr>
            <a:r>
              <a:rPr lang="en-US" sz="1500" dirty="0">
                <a:solidFill>
                  <a:srgbClr val="1F3A5F"/>
                </a:solidFill>
                <a:latin typeface="Courier New" pitchFamily="34" charset="0"/>
                <a:ea typeface="Courier New" pitchFamily="34" charset="-122"/>
                <a:cs typeface="Courier New" pitchFamily="34" charset="-120"/>
              </a:rPr>
              <a:t>"cividis"</a:t>
            </a:r>
            <a:pPr indent="0" marL="0">
              <a:buNone/>
            </a:pPr>
            <a:r>
              <a:rPr lang="en-US" sz="1500" dirty="0">
                <a:solidFill>
                  <a:srgbClr val="6B7280"/>
                </a:solidFill>
                <a:latin typeface="Calibri" pitchFamily="34" charset="0"/>
                <a:ea typeface="Calibri" pitchFamily="34" charset="-122"/>
                <a:cs typeface="Calibri" pitchFamily="34" charset="-120"/>
              </a:rPr>
              <a:t> pour une échelle continue</a:t>
            </a:r>
            <a:endParaRPr lang="en-US" sz="1700" dirty="0"/>
          </a:p>
          <a:p>
            <a:pPr lvl="1" marL="457200" indent="-228600">
              <a:spcAft>
                <a:spcPts val="800"/>
              </a:spcAft>
              <a:buSzPct val="100000"/>
              <a:buChar char="•"/>
            </a:pPr>
            <a:r>
              <a:rPr lang="en-US" sz="1500" dirty="0">
                <a:solidFill>
                  <a:srgbClr val="1F3A5F"/>
                </a:solidFill>
                <a:latin typeface="Courier New" pitchFamily="34" charset="0"/>
                <a:ea typeface="Courier New" pitchFamily="34" charset="-122"/>
                <a:cs typeface="Courier New" pitchFamily="34" charset="-120"/>
              </a:rPr>
              <a:t>"colorblind"</a:t>
            </a:r>
            <a:pPr indent="0" marL="0">
              <a:buNone/>
            </a:pPr>
            <a:r>
              <a:rPr lang="en-US" sz="1500" dirty="0">
                <a:solidFill>
                  <a:srgbClr val="6B7280"/>
                </a:solidFill>
                <a:latin typeface="Calibri" pitchFamily="34" charset="0"/>
                <a:ea typeface="Calibri" pitchFamily="34" charset="-122"/>
                <a:cs typeface="Calibri" pitchFamily="34" charset="-120"/>
              </a:rPr>
              <a:t> dans seaborn pour des catégories</a:t>
            </a:r>
            <a:endParaRPr lang="en-US" sz="1700" dirty="0"/>
          </a:p>
        </p:txBody>
      </p:sp>
      <p:sp>
        <p:nvSpPr>
          <p:cNvPr id="10" name="Shape 8"/>
          <p:cNvSpPr/>
          <p:nvPr/>
        </p:nvSpPr>
        <p:spPr>
          <a:xfrm>
            <a:off x="4873918" y="4419600"/>
            <a:ext cx="6769137" cy="517398"/>
          </a:xfrm>
          <a:prstGeom prst="rect">
            <a:avLst/>
          </a:prstGeom>
          <a:solidFill>
            <a:srgbClr val="F3F4F6"/>
          </a:solidFill>
          <a:ln/>
        </p:spPr>
      </p:sp>
      <p:sp>
        <p:nvSpPr>
          <p:cNvPr id="11" name="Text 9"/>
          <p:cNvSpPr txBox="1"/>
          <p:nvPr/>
        </p:nvSpPr>
        <p:spPr>
          <a:xfrm>
            <a:off x="5056798" y="4565904"/>
            <a:ext cx="6403377" cy="224790"/>
          </a:xfrm>
          <a:prstGeom prst="rect">
            <a:avLst/>
          </a:prstGeom>
          <a:noFill/>
          <a:ln/>
        </p:spPr>
        <p:txBody>
          <a:bodyPr wrap="square" lIns="0" tIns="0" rIns="0" bIns="0" rtlCol="0" anchor="t"/>
          <a:lstStyle/>
          <a:p>
            <a:pPr indent="0" marL="0">
              <a:lnSpc>
                <a:spcPct val="100000"/>
              </a:lnSpc>
              <a:buNone/>
            </a:pPr>
            <a:r>
              <a:rPr lang="en-US" sz="1500" dirty="0">
                <a:solidFill>
                  <a:srgbClr val="1F2933"/>
                </a:solidFill>
                <a:latin typeface="Courier New" pitchFamily="34" charset="0"/>
                <a:ea typeface="Courier New" pitchFamily="34" charset="-122"/>
                <a:cs typeface="Courier New" pitchFamily="34" charset="-120"/>
              </a:rPr>
              <a:t>sns.set_theme(palette="colorblind")</a:t>
            </a:r>
            <a:endParaRPr lang="en-US" sz="1500" dirty="0"/>
          </a:p>
        </p:txBody>
      </p:sp>
      <p:sp>
        <p:nvSpPr>
          <p:cNvPr id="12" name="Text 10"/>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Analyse de données avec Python   |   Jour 2, après-midi</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b="0"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66928"/>
            <a:ext cx="475488" cy="475488"/>
          </a:xfrm>
          <a:prstGeom prst="ellipse">
            <a:avLst/>
          </a:prstGeom>
          <a:solidFill>
            <a:srgbClr val="2F7D62"/>
          </a:solidFill>
          <a:ln/>
        </p:spPr>
      </p:sp>
      <p:sp>
        <p:nvSpPr>
          <p:cNvPr id="3" name="Text 1"/>
          <p:cNvSpPr txBox="1"/>
          <p:nvPr/>
        </p:nvSpPr>
        <p:spPr>
          <a:xfrm>
            <a:off x="548640" y="566928"/>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5</a:t>
            </a:r>
            <a:endParaRPr lang="en-US" sz="1600" dirty="0"/>
          </a:p>
        </p:txBody>
      </p:sp>
      <p:sp>
        <p:nvSpPr>
          <p:cNvPr id="4" name="Text 2"/>
          <p:cNvSpPr txBox="1"/>
          <p:nvPr/>
        </p:nvSpPr>
        <p:spPr>
          <a:xfrm>
            <a:off x="1280160" y="164592"/>
            <a:ext cx="10362895" cy="274320"/>
          </a:xfrm>
          <a:prstGeom prst="rect">
            <a:avLst/>
          </a:prstGeom>
          <a:noFill/>
          <a:ln/>
        </p:spPr>
        <p:txBody>
          <a:bodyPr wrap="square" lIns="0" tIns="0" rIns="0" bIns="0" rtlCol="0" anchor="ctr"/>
          <a:lstStyle/>
          <a:p>
            <a:pPr indent="0" marL="0">
              <a:buNone/>
            </a:pPr>
            <a:r>
              <a:rPr lang="en-US" sz="1200" b="1" spc="200" kern="0" dirty="0">
                <a:solidFill>
                  <a:srgbClr val="2F7D62"/>
                </a:solidFill>
                <a:latin typeface="Calibri" pitchFamily="34" charset="0"/>
                <a:ea typeface="Calibri" pitchFamily="34" charset="-122"/>
                <a:cs typeface="Calibri" pitchFamily="34" charset="-120"/>
              </a:rPr>
              <a:t>BONNES PRATIQUES DE DATAVIZ</a:t>
            </a:r>
            <a:endParaRPr lang="en-US" sz="1200" dirty="0"/>
          </a:p>
        </p:txBody>
      </p:sp>
      <p:sp>
        <p:nvSpPr>
          <p:cNvPr id="5" name="Text 3"/>
          <p:cNvSpPr txBox="1"/>
          <p:nvPr/>
        </p:nvSpPr>
        <p:spPr>
          <a:xfrm>
            <a:off x="1280160" y="457200"/>
            <a:ext cx="10362895" cy="694944"/>
          </a:xfrm>
          <a:prstGeom prst="rect">
            <a:avLst/>
          </a:prstGeom>
          <a:noFill/>
          <a:ln/>
        </p:spPr>
        <p:txBody>
          <a:bodyPr wrap="square" lIns="0" tIns="0" rIns="0" bIns="0" rtlCol="0" anchor="ctr"/>
          <a:lstStyle/>
          <a:p>
            <a:pPr indent="0" marL="0">
              <a:buNone/>
            </a:pPr>
            <a:r>
              <a:rPr lang="en-US" sz="3000" b="1" dirty="0">
                <a:solidFill>
                  <a:srgbClr val="1F3A5F"/>
                </a:solidFill>
                <a:latin typeface="Cambria" pitchFamily="34" charset="0"/>
                <a:ea typeface="Cambria" pitchFamily="34" charset="-122"/>
                <a:cs typeface="Cambria" pitchFamily="34" charset="-120"/>
              </a:rPr>
              <a:t>Pratique : TP4, partie 4</a:t>
            </a:r>
            <a:endParaRPr lang="en-US" sz="3000" dirty="0"/>
          </a:p>
        </p:txBody>
      </p:sp>
      <p:sp>
        <p:nvSpPr>
          <p:cNvPr id="6" name="Text 4"/>
          <p:cNvSpPr txBox="1"/>
          <p:nvPr/>
        </p:nvSpPr>
        <p:spPr>
          <a:xfrm>
            <a:off x="548640" y="1417320"/>
            <a:ext cx="11094415" cy="411480"/>
          </a:xfrm>
          <a:prstGeom prst="rect">
            <a:avLst/>
          </a:prstGeom>
          <a:noFill/>
          <a:ln/>
        </p:spPr>
        <p:txBody>
          <a:bodyPr wrap="square" lIns="0" tIns="0" rIns="0" bIns="0" rtlCol="0" anchor="t"/>
          <a:lstStyle/>
          <a:p>
            <a:pPr indent="0" marL="0">
              <a:buNone/>
            </a:pPr>
            <a:r>
              <a:rPr lang="en-US" sz="1800" dirty="0">
                <a:solidFill>
                  <a:srgbClr val="6B7280"/>
                </a:solidFill>
                <a:latin typeface="Calibri" pitchFamily="34" charset="0"/>
                <a:ea typeface="Calibri" pitchFamily="34" charset="-122"/>
                <a:cs typeface="Calibri" pitchFamily="34" charset="-120"/>
              </a:rPr>
              <a:t>Pour chaque graphique : l'exécuter tel quel, expliquer son défaut, puis le corriger</a:t>
            </a:r>
            <a:endParaRPr lang="en-US" sz="1800" dirty="0"/>
          </a:p>
        </p:txBody>
      </p:sp>
      <p:graphicFrame>
        <p:nvGraphicFramePr>
          <p:cNvPr id="48" name="Table 0"/>
          <p:cNvGraphicFramePr>
            <a:graphicFrameLocks noGrp="1"/>
          </p:cNvGraphicFramePr>
          <p:nvPr>
            <p:extLst>
              <p:ext uri="{D42A27DB-BD31-4B8C-83A1-F6EECF244321}">
                <p14:modId xmlns:p14="http://schemas.microsoft.com/office/powerpoint/2010/main" val="1579011935"/>
              </p:ext>
            </p:extLst>
          </p:nvPr>
        </p:nvGraphicFramePr>
        <p:xfrm>
          <a:off x="548640" y="2011680"/>
          <a:ext cx="11094415" cy="914400"/>
        </p:xfrm>
        <a:graphic>
          <a:graphicData uri="http://schemas.openxmlformats.org/drawingml/2006/table">
            <a:tbl>
              <a:tblPr/>
              <a:tblGrid>
                <a:gridCol w="1305225"/>
                <a:gridCol w="4350751"/>
                <a:gridCol w="5438439"/>
              </a:tblGrid>
              <a:tr h="365379">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Question</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1F3A5F"/>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Le défaut</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1F3A5F"/>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La correction attendue</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1F3A5F"/>
                    </a:solidFill>
                  </a:tcPr>
                </a:tc>
              </a:tr>
              <a:tr h="584454">
                <a:tc>
                  <a:txBody>
                    <a:bodyPr/>
                    <a:lstStyle/>
                    <a:p>
                      <a:pPr indent="0" marL="0">
                        <a:buNone/>
                      </a:pPr>
                      <a:r>
                        <a:rPr lang="en-US" sz="1500" dirty="0">
                          <a:solidFill>
                            <a:srgbClr val="1F2933"/>
                          </a:solidFill>
                          <a:latin typeface="Calibri" pitchFamily="34" charset="0"/>
                          <a:ea typeface="Calibri" pitchFamily="34" charset="-122"/>
                          <a:cs typeface="Calibri" pitchFamily="34" charset="-120"/>
                        </a:rPr>
                        <a:t>4.1</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500" dirty="0">
                          <a:solidFill>
                            <a:srgbClr val="1F2933"/>
                          </a:solidFill>
                          <a:latin typeface="Calibri" pitchFamily="34" charset="0"/>
                          <a:ea typeface="Calibri" pitchFamily="34" charset="-122"/>
                          <a:cs typeface="Calibri" pitchFamily="34" charset="-120"/>
                        </a:rPr>
                        <a:t>le panier moyen par région, sur un axe tronqué</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500" dirty="0">
                          <a:solidFill>
                            <a:srgbClr val="1F2933"/>
                          </a:solidFill>
                          <a:latin typeface="Calibri" pitchFamily="34" charset="0"/>
                          <a:ea typeface="Calibri" pitchFamily="34" charset="-122"/>
                          <a:cs typeface="Calibri" pitchFamily="34" charset="-120"/>
                        </a:rPr>
                        <a:t>un axe qui part de zéro</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r>
              <a:tr h="365379">
                <a:tc>
                  <a:txBody>
                    <a:bodyPr/>
                    <a:lstStyle/>
                    <a:p>
                      <a:pPr indent="0" marL="0">
                        <a:buNone/>
                      </a:pPr>
                      <a:r>
                        <a:rPr lang="en-US" sz="1500" dirty="0">
                          <a:solidFill>
                            <a:srgbClr val="1F2933"/>
                          </a:solidFill>
                          <a:latin typeface="Calibri" pitchFamily="34" charset="0"/>
                          <a:ea typeface="Calibri" pitchFamily="34" charset="-122"/>
                          <a:cs typeface="Calibri" pitchFamily="34" charset="-120"/>
                        </a:rPr>
                        <a:t>4.2</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7F9FB"/>
                    </a:solidFill>
                  </a:tcPr>
                </a:tc>
                <a:tc>
                  <a:txBody>
                    <a:bodyPr/>
                    <a:lstStyle/>
                    <a:p>
                      <a:pPr indent="0" marL="0">
                        <a:buNone/>
                      </a:pPr>
                      <a:r>
                        <a:rPr lang="en-US" sz="1500" dirty="0">
                          <a:solidFill>
                            <a:srgbClr val="1F2933"/>
                          </a:solidFill>
                          <a:latin typeface="Calibri" pitchFamily="34" charset="0"/>
                          <a:ea typeface="Calibri" pitchFamily="34" charset="-122"/>
                          <a:cs typeface="Calibri" pitchFamily="34" charset="-120"/>
                        </a:rPr>
                        <a:t>les produits dans l'ordre alphabétique</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7F9FB"/>
                    </a:solidFill>
                  </a:tcPr>
                </a:tc>
                <a:tc>
                  <a:txBody>
                    <a:bodyPr/>
                    <a:lstStyle/>
                    <a:p>
                      <a:pPr indent="0" marL="0">
                        <a:buNone/>
                      </a:pPr>
                      <a:r>
                        <a:rPr lang="en-US" sz="1500" dirty="0">
                          <a:solidFill>
                            <a:srgbClr val="1F2933"/>
                          </a:solidFill>
                          <a:latin typeface="Calibri" pitchFamily="34" charset="0"/>
                          <a:ea typeface="Calibri" pitchFamily="34" charset="-122"/>
                          <a:cs typeface="Calibri" pitchFamily="34" charset="-120"/>
                        </a:rPr>
                        <a:t>des barres triées, le plus commandé en haut</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7F9FB"/>
                    </a:solidFill>
                  </a:tcPr>
                </a:tc>
              </a:tr>
              <a:tr h="584454">
                <a:tc>
                  <a:txBody>
                    <a:bodyPr/>
                    <a:lstStyle/>
                    <a:p>
                      <a:pPr indent="0" marL="0">
                        <a:buNone/>
                      </a:pPr>
                      <a:r>
                        <a:rPr lang="en-US" sz="1500" dirty="0">
                          <a:solidFill>
                            <a:srgbClr val="1F2933"/>
                          </a:solidFill>
                          <a:latin typeface="Calibri" pitchFamily="34" charset="0"/>
                          <a:ea typeface="Calibri" pitchFamily="34" charset="-122"/>
                          <a:cs typeface="Calibri" pitchFamily="34" charset="-120"/>
                        </a:rPr>
                        <a:t>4.3</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500" dirty="0">
                          <a:solidFill>
                            <a:srgbClr val="1F2933"/>
                          </a:solidFill>
                          <a:latin typeface="Calibri" pitchFamily="34" charset="0"/>
                          <a:ea typeface="Calibri" pitchFamily="34" charset="-122"/>
                          <a:cs typeface="Calibri" pitchFamily="34" charset="-120"/>
                        </a:rPr>
                        <a:t>une couleur par catégorie et une légende qui répète l'axe</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500" dirty="0">
                          <a:solidFill>
                            <a:srgbClr val="1F2933"/>
                          </a:solidFill>
                          <a:latin typeface="Calibri" pitchFamily="34" charset="0"/>
                          <a:ea typeface="Calibri" pitchFamily="34" charset="-122"/>
                          <a:cs typeface="Calibri" pitchFamily="34" charset="-120"/>
                        </a:rPr>
                        <a:t>une couleur pour la plus forte, du gris, pas de légende</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r>
              <a:tr h="365379">
                <a:tc>
                  <a:txBody>
                    <a:bodyPr/>
                    <a:lstStyle/>
                    <a:p>
                      <a:pPr indent="0" marL="0">
                        <a:buNone/>
                      </a:pPr>
                      <a:r>
                        <a:rPr lang="en-US" sz="1500" dirty="0">
                          <a:solidFill>
                            <a:srgbClr val="1F2933"/>
                          </a:solidFill>
                          <a:latin typeface="Calibri" pitchFamily="34" charset="0"/>
                          <a:ea typeface="Calibri" pitchFamily="34" charset="-122"/>
                          <a:cs typeface="Calibri" pitchFamily="34" charset="-120"/>
                        </a:rPr>
                        <a:t>4.4</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7F9FB"/>
                    </a:solidFill>
                  </a:tcPr>
                </a:tc>
                <a:tc>
                  <a:txBody>
                    <a:bodyPr/>
                    <a:lstStyle/>
                    <a:p>
                      <a:pPr indent="0" marL="0">
                        <a:buNone/>
                      </a:pPr>
                      <a:r>
                        <a:rPr lang="en-US" sz="1500" dirty="0">
                          <a:solidFill>
                            <a:srgbClr val="1F2933"/>
                          </a:solidFill>
                          <a:latin typeface="Calibri" pitchFamily="34" charset="0"/>
                          <a:ea typeface="Calibri" pitchFamily="34" charset="-122"/>
                          <a:cs typeface="Calibri" pitchFamily="34" charset="-120"/>
                        </a:rPr>
                        <a:t>deux régions sur des échelles différentes</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7F9FB"/>
                    </a:solidFill>
                  </a:tcPr>
                </a:tc>
                <a:tc>
                  <a:txBody>
                    <a:bodyPr/>
                    <a:lstStyle/>
                    <a:p>
                      <a:pPr indent="0" marL="0">
                        <a:buNone/>
                      </a:pPr>
                      <a:r>
                        <a:rPr lang="en-US" sz="1500" dirty="0">
                          <a:solidFill>
                            <a:srgbClr val="1F3A5F"/>
                          </a:solidFill>
                          <a:latin typeface="Courier New" pitchFamily="34" charset="0"/>
                          <a:ea typeface="Courier New" pitchFamily="34" charset="-122"/>
                          <a:cs typeface="Courier New" pitchFamily="34" charset="-120"/>
                        </a:rPr>
                        <a:t>sharey=True</a:t>
                      </a:r>
                      <a:pPr indent="0" marL="0">
                        <a:buNone/>
                      </a:pPr>
                      <a:r>
                        <a:rPr lang="en-US" sz="1500" dirty="0">
                          <a:solidFill>
                            <a:srgbClr val="1F2933"/>
                          </a:solidFill>
                          <a:latin typeface="Calibri" pitchFamily="34" charset="0"/>
                          <a:ea typeface="Calibri" pitchFamily="34" charset="-122"/>
                          <a:cs typeface="Calibri" pitchFamily="34" charset="-120"/>
                        </a:rPr>
                        <a:t>, une échelle qui part de zéro</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7F9FB"/>
                    </a:solidFill>
                  </a:tcPr>
                </a:tc>
              </a:tr>
              <a:tr h="584454">
                <a:tc>
                  <a:txBody>
                    <a:bodyPr/>
                    <a:lstStyle/>
                    <a:p>
                      <a:pPr indent="0" marL="0">
                        <a:buNone/>
                      </a:pPr>
                      <a:r>
                        <a:rPr lang="en-US" sz="1500" dirty="0">
                          <a:solidFill>
                            <a:srgbClr val="1F2933"/>
                          </a:solidFill>
                          <a:latin typeface="Calibri" pitchFamily="34" charset="0"/>
                          <a:ea typeface="Calibri" pitchFamily="34" charset="-122"/>
                          <a:cs typeface="Calibri" pitchFamily="34" charset="-120"/>
                        </a:rPr>
                        <a:t>4.5</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500" dirty="0">
                          <a:solidFill>
                            <a:srgbClr val="1F2933"/>
                          </a:solidFill>
                          <a:latin typeface="Calibri" pitchFamily="34" charset="0"/>
                          <a:ea typeface="Calibri" pitchFamily="34" charset="-122"/>
                          <a:cs typeface="Calibri" pitchFamily="34" charset="-120"/>
                        </a:rPr>
                        <a:t>un camembert à 17 parts</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500" dirty="0">
                          <a:solidFill>
                            <a:srgbClr val="1F2933"/>
                          </a:solidFill>
                          <a:latin typeface="Calibri" pitchFamily="34" charset="0"/>
                          <a:ea typeface="Calibri" pitchFamily="34" charset="-122"/>
                          <a:cs typeface="Calibri" pitchFamily="34" charset="-120"/>
                        </a:rPr>
                        <a:t>des barres triées et la part de chacune avec </a:t>
                      </a:r>
                      <a:pPr indent="0" marL="0">
                        <a:buNone/>
                      </a:pPr>
                      <a:r>
                        <a:rPr lang="en-US" sz="1500" dirty="0">
                          <a:solidFill>
                            <a:srgbClr val="1F3A5F"/>
                          </a:solidFill>
                          <a:latin typeface="Courier New" pitchFamily="34" charset="0"/>
                          <a:ea typeface="Courier New" pitchFamily="34" charset="-122"/>
                          <a:cs typeface="Courier New" pitchFamily="34" charset="-120"/>
                        </a:rPr>
                        <a:t>bar_label</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r>
              <a:tr h="584454">
                <a:tc>
                  <a:txBody>
                    <a:bodyPr/>
                    <a:lstStyle/>
                    <a:p>
                      <a:pPr indent="0" marL="0">
                        <a:buNone/>
                      </a:pPr>
                      <a:r>
                        <a:rPr lang="en-US" sz="1500" dirty="0">
                          <a:solidFill>
                            <a:srgbClr val="1F2933"/>
                          </a:solidFill>
                          <a:latin typeface="Calibri" pitchFamily="34" charset="0"/>
                          <a:ea typeface="Calibri" pitchFamily="34" charset="-122"/>
                          <a:cs typeface="Calibri" pitchFamily="34" charset="-120"/>
                        </a:rPr>
                        <a:t>4.6, 4.7</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7F9FB"/>
                    </a:solidFill>
                  </a:tcPr>
                </a:tc>
                <a:tc>
                  <a:txBody>
                    <a:bodyPr/>
                    <a:lstStyle/>
                    <a:p>
                      <a:pPr indent="0" marL="0">
                        <a:buNone/>
                      </a:pPr>
                      <a:r>
                        <a:rPr lang="en-US" sz="1500" dirty="0">
                          <a:solidFill>
                            <a:srgbClr val="1F2933"/>
                          </a:solidFill>
                          <a:latin typeface="Calibri" pitchFamily="34" charset="0"/>
                          <a:ea typeface="Calibri" pitchFamily="34" charset="-122"/>
                          <a:cs typeface="Calibri" pitchFamily="34" charset="-120"/>
                        </a:rPr>
                        <a:t>facultatives : deux axes avec </a:t>
                      </a:r>
                      <a:pPr indent="0" marL="0">
                        <a:buNone/>
                      </a:pPr>
                      <a:r>
                        <a:rPr lang="en-US" sz="1500" dirty="0">
                          <a:solidFill>
                            <a:srgbClr val="1F3A5F"/>
                          </a:solidFill>
                          <a:latin typeface="Courier New" pitchFamily="34" charset="0"/>
                          <a:ea typeface="Courier New" pitchFamily="34" charset="-122"/>
                          <a:cs typeface="Courier New" pitchFamily="34" charset="-120"/>
                        </a:rPr>
                        <a:t>twinx</a:t>
                      </a:r>
                      <a:pPr indent="0" marL="0">
                        <a:buNone/>
                      </a:pPr>
                      <a:r>
                        <a:rPr lang="en-US" sz="1500" dirty="0">
                          <a:solidFill>
                            <a:srgbClr val="1F2933"/>
                          </a:solidFill>
                          <a:latin typeface="Calibri" pitchFamily="34" charset="0"/>
                          <a:ea typeface="Calibri" pitchFamily="34" charset="-122"/>
                          <a:cs typeface="Calibri" pitchFamily="34" charset="-120"/>
                        </a:rPr>
                        <a:t>, la palette </a:t>
                      </a:r>
                      <a:pPr indent="0" marL="0">
                        <a:buNone/>
                      </a:pPr>
                      <a:r>
                        <a:rPr lang="en-US" sz="1500" dirty="0">
                          <a:solidFill>
                            <a:srgbClr val="1F3A5F"/>
                          </a:solidFill>
                          <a:latin typeface="Courier New" pitchFamily="34" charset="0"/>
                          <a:ea typeface="Courier New" pitchFamily="34" charset="-122"/>
                          <a:cs typeface="Courier New" pitchFamily="34" charset="-120"/>
                        </a:rPr>
                        <a:t>"RdYlGn"</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7F9FB"/>
                    </a:solidFill>
                  </a:tcPr>
                </a:tc>
                <a:tc>
                  <a:txBody>
                    <a:bodyPr/>
                    <a:lstStyle/>
                    <a:p>
                      <a:pPr indent="0" marL="0">
                        <a:buNone/>
                      </a:pPr>
                      <a:r>
                        <a:rPr lang="en-US" sz="1500" dirty="0">
                          <a:solidFill>
                            <a:srgbClr val="1F3A5F"/>
                          </a:solidFill>
                          <a:latin typeface="Courier New" pitchFamily="34" charset="0"/>
                          <a:ea typeface="Courier New" pitchFamily="34" charset="-122"/>
                          <a:cs typeface="Courier New" pitchFamily="34" charset="-120"/>
                        </a:rPr>
                        <a:t>plt.subplots(2, 1, sharex=True)</a:t>
                      </a:r>
                      <a:pPr indent="0" marL="0">
                        <a:buNone/>
                      </a:pPr>
                      <a:r>
                        <a:rPr lang="en-US" sz="1500" dirty="0">
                          <a:solidFill>
                            <a:srgbClr val="1F2933"/>
                          </a:solidFill>
                          <a:latin typeface="Calibri" pitchFamily="34" charset="0"/>
                          <a:ea typeface="Calibri" pitchFamily="34" charset="-122"/>
                          <a:cs typeface="Calibri" pitchFamily="34" charset="-120"/>
                        </a:rPr>
                        <a:t>, la palette </a:t>
                      </a:r>
                      <a:pPr indent="0" marL="0">
                        <a:buNone/>
                      </a:pPr>
                      <a:r>
                        <a:rPr lang="en-US" sz="1500" dirty="0">
                          <a:solidFill>
                            <a:srgbClr val="1F3A5F"/>
                          </a:solidFill>
                          <a:latin typeface="Courier New" pitchFamily="34" charset="0"/>
                          <a:ea typeface="Courier New" pitchFamily="34" charset="-122"/>
                          <a:cs typeface="Courier New" pitchFamily="34" charset="-120"/>
                        </a:rPr>
                        <a:t>"RdBu"</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7F9FB"/>
                    </a:solidFill>
                  </a:tcPr>
                </a:tc>
              </a:tr>
            </a:tbl>
          </a:graphicData>
        </a:graphic>
      </p:graphicFrame>
      <p:sp>
        <p:nvSpPr>
          <p:cNvPr id="8" name="Text 5"/>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Analyse de données avec Python   |   Jour 2, après-midi</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b="0"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1F3A5F"/>
        </a:solidFill>
      </p:bgPr>
    </p:bg>
    <p:spTree>
      <p:nvGrpSpPr>
        <p:cNvPr id="1" name=""/>
        <p:cNvGrpSpPr/>
        <p:nvPr/>
      </p:nvGrpSpPr>
      <p:grpSpPr>
        <a:xfrm>
          <a:off x="0" y="0"/>
          <a:ext cx="0" cy="0"/>
          <a:chOff x="0" y="0"/>
          <a:chExt cx="0" cy="0"/>
        </a:xfrm>
      </p:grpSpPr>
      <p:sp>
        <p:nvSpPr>
          <p:cNvPr id="2" name="Text 0"/>
          <p:cNvSpPr txBox="1"/>
          <p:nvPr/>
        </p:nvSpPr>
        <p:spPr>
          <a:xfrm>
            <a:off x="731520" y="1737360"/>
            <a:ext cx="2743200" cy="1188720"/>
          </a:xfrm>
          <a:prstGeom prst="rect">
            <a:avLst/>
          </a:prstGeom>
          <a:noFill/>
          <a:ln/>
        </p:spPr>
        <p:txBody>
          <a:bodyPr wrap="square" lIns="0" tIns="0" rIns="0" bIns="0" rtlCol="0" anchor="ctr"/>
          <a:lstStyle/>
          <a:p>
            <a:pPr indent="0" marL="0">
              <a:buNone/>
            </a:pPr>
            <a:r>
              <a:rPr lang="en-US" sz="8000" b="1" dirty="0">
                <a:solidFill>
                  <a:srgbClr val="8FD1B5"/>
                </a:solidFill>
                <a:latin typeface="Cambria" pitchFamily="34" charset="0"/>
                <a:ea typeface="Cambria" pitchFamily="34" charset="-122"/>
                <a:cs typeface="Cambria" pitchFamily="34" charset="-120"/>
              </a:rPr>
              <a:t>06</a:t>
            </a:r>
            <a:endParaRPr lang="en-US" sz="8000" dirty="0"/>
          </a:p>
        </p:txBody>
      </p:sp>
      <p:sp>
        <p:nvSpPr>
          <p:cNvPr id="3" name="Text 1"/>
          <p:cNvSpPr txBox="1"/>
          <p:nvPr/>
        </p:nvSpPr>
        <p:spPr>
          <a:xfrm>
            <a:off x="731520" y="3017520"/>
            <a:ext cx="10515600" cy="822960"/>
          </a:xfrm>
          <a:prstGeom prst="rect">
            <a:avLst/>
          </a:prstGeom>
          <a:noFill/>
          <a:ln/>
        </p:spPr>
        <p:txBody>
          <a:bodyPr wrap="square" lIns="0" tIns="0" rIns="0" bIns="0" rtlCol="0" anchor="t"/>
          <a:lstStyle/>
          <a:p>
            <a:pPr indent="0" marL="0">
              <a:buNone/>
            </a:pPr>
            <a:r>
              <a:rPr lang="en-US" sz="4000" b="1" dirty="0">
                <a:solidFill>
                  <a:srgbClr val="FFFFFF"/>
                </a:solidFill>
                <a:latin typeface="Cambria" pitchFamily="34" charset="0"/>
                <a:ea typeface="Cambria" pitchFamily="34" charset="-122"/>
                <a:cs typeface="Cambria" pitchFamily="34" charset="-120"/>
              </a:rPr>
              <a:t>Construire un tableau de bord</a:t>
            </a:r>
            <a:endParaRPr lang="en-US" sz="4000" dirty="0"/>
          </a:p>
        </p:txBody>
      </p:sp>
      <p:sp>
        <p:nvSpPr>
          <p:cNvPr id="4" name="Text 2"/>
          <p:cNvSpPr txBox="1"/>
          <p:nvPr/>
        </p:nvSpPr>
        <p:spPr>
          <a:xfrm>
            <a:off x="731520" y="3977640"/>
            <a:ext cx="10515600" cy="548640"/>
          </a:xfrm>
          <a:prstGeom prst="rect">
            <a:avLst/>
          </a:prstGeom>
          <a:noFill/>
          <a:ln/>
        </p:spPr>
        <p:txBody>
          <a:bodyPr wrap="square" lIns="0" tIns="0" rIns="0" bIns="0" rtlCol="0" anchor="t"/>
          <a:lstStyle/>
          <a:p>
            <a:pPr indent="0" marL="0">
              <a:buNone/>
            </a:pPr>
            <a:r>
              <a:rPr lang="en-US" sz="2000" dirty="0">
                <a:solidFill>
                  <a:srgbClr val="C9D6E3"/>
                </a:solidFill>
                <a:latin typeface="Calibri" pitchFamily="34" charset="0"/>
                <a:ea typeface="Calibri" pitchFamily="34" charset="-122"/>
                <a:cs typeface="Calibri" pitchFamily="34" charset="-120"/>
              </a:rPr>
              <a:t>Question, graphique, message   |   Ordre   |   Cohérence   |   Vérification</a:t>
            </a:r>
            <a:endParaRPr lang="en-US" sz="20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66928"/>
            <a:ext cx="475488" cy="475488"/>
          </a:xfrm>
          <a:prstGeom prst="ellipse">
            <a:avLst/>
          </a:prstGeom>
          <a:solidFill>
            <a:srgbClr val="2F7D62"/>
          </a:solidFill>
          <a:ln/>
        </p:spPr>
      </p:sp>
      <p:sp>
        <p:nvSpPr>
          <p:cNvPr id="3" name="Text 1"/>
          <p:cNvSpPr txBox="1"/>
          <p:nvPr/>
        </p:nvSpPr>
        <p:spPr>
          <a:xfrm>
            <a:off x="548640" y="566928"/>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6</a:t>
            </a:r>
            <a:endParaRPr lang="en-US" sz="1600" dirty="0"/>
          </a:p>
        </p:txBody>
      </p:sp>
      <p:sp>
        <p:nvSpPr>
          <p:cNvPr id="4" name="Text 2"/>
          <p:cNvSpPr txBox="1"/>
          <p:nvPr/>
        </p:nvSpPr>
        <p:spPr>
          <a:xfrm>
            <a:off x="1280160" y="164592"/>
            <a:ext cx="10362895" cy="274320"/>
          </a:xfrm>
          <a:prstGeom prst="rect">
            <a:avLst/>
          </a:prstGeom>
          <a:noFill/>
          <a:ln/>
        </p:spPr>
        <p:txBody>
          <a:bodyPr wrap="square" lIns="0" tIns="0" rIns="0" bIns="0" rtlCol="0" anchor="ctr"/>
          <a:lstStyle/>
          <a:p>
            <a:pPr indent="0" marL="0">
              <a:buNone/>
            </a:pPr>
            <a:r>
              <a:rPr lang="en-US" sz="1200" b="1" spc="200" kern="0" dirty="0">
                <a:solidFill>
                  <a:srgbClr val="2F7D62"/>
                </a:solidFill>
                <a:latin typeface="Calibri" pitchFamily="34" charset="0"/>
                <a:ea typeface="Calibri" pitchFamily="34" charset="-122"/>
                <a:cs typeface="Calibri" pitchFamily="34" charset="-120"/>
              </a:rPr>
              <a:t>CONSTRUIRE UN TABLEAU DE BORD</a:t>
            </a:r>
            <a:endParaRPr lang="en-US" sz="1200" dirty="0"/>
          </a:p>
        </p:txBody>
      </p:sp>
      <p:sp>
        <p:nvSpPr>
          <p:cNvPr id="5" name="Text 3"/>
          <p:cNvSpPr txBox="1"/>
          <p:nvPr/>
        </p:nvSpPr>
        <p:spPr>
          <a:xfrm>
            <a:off x="1280160" y="457200"/>
            <a:ext cx="10362895" cy="694944"/>
          </a:xfrm>
          <a:prstGeom prst="rect">
            <a:avLst/>
          </a:prstGeom>
          <a:noFill/>
          <a:ln/>
        </p:spPr>
        <p:txBody>
          <a:bodyPr wrap="square" lIns="0" tIns="0" rIns="0" bIns="0" rtlCol="0" anchor="ctr"/>
          <a:lstStyle/>
          <a:p>
            <a:pPr indent="0" marL="0">
              <a:buNone/>
            </a:pPr>
            <a:r>
              <a:rPr lang="en-US" sz="3000" b="1" dirty="0">
                <a:solidFill>
                  <a:srgbClr val="1F3A5F"/>
                </a:solidFill>
                <a:latin typeface="Cambria" pitchFamily="34" charset="0"/>
                <a:ea typeface="Cambria" pitchFamily="34" charset="-122"/>
                <a:cs typeface="Cambria" pitchFamily="34" charset="-120"/>
              </a:rPr>
              <a:t>Une question, un graphique, un message</a:t>
            </a:r>
            <a:endParaRPr lang="en-US" sz="3000" dirty="0"/>
          </a:p>
        </p:txBody>
      </p:sp>
      <p:sp>
        <p:nvSpPr>
          <p:cNvPr id="6" name="Text 4"/>
          <p:cNvSpPr txBox="1"/>
          <p:nvPr/>
        </p:nvSpPr>
        <p:spPr>
          <a:xfrm>
            <a:off x="548640" y="1417320"/>
            <a:ext cx="11094415" cy="411480"/>
          </a:xfrm>
          <a:prstGeom prst="rect">
            <a:avLst/>
          </a:prstGeom>
          <a:noFill/>
          <a:ln/>
        </p:spPr>
        <p:txBody>
          <a:bodyPr wrap="square" lIns="0" tIns="0" rIns="0" bIns="0" rtlCol="0" anchor="t"/>
          <a:lstStyle/>
          <a:p>
            <a:pPr indent="0" marL="0">
              <a:buNone/>
            </a:pPr>
            <a:r>
              <a:rPr lang="en-US" sz="1800" dirty="0">
                <a:solidFill>
                  <a:srgbClr val="6B7280"/>
                </a:solidFill>
                <a:latin typeface="Calibri" pitchFamily="34" charset="0"/>
                <a:ea typeface="Calibri" pitchFamily="34" charset="-122"/>
                <a:cs typeface="Calibri" pitchFamily="34" charset="-120"/>
              </a:rPr>
              <a:t>Un tableau de bord répond, en quelques images, aux questions de la personne qui le lit.</a:t>
            </a:r>
            <a:endParaRPr lang="en-US" sz="1800" dirty="0"/>
          </a:p>
        </p:txBody>
      </p:sp>
      <p:sp>
        <p:nvSpPr>
          <p:cNvPr id="7" name="Shape 5"/>
          <p:cNvSpPr/>
          <p:nvPr/>
        </p:nvSpPr>
        <p:spPr>
          <a:xfrm>
            <a:off x="548640" y="2011680"/>
            <a:ext cx="3515258" cy="2103120"/>
          </a:xfrm>
          <a:prstGeom prst="roundRect">
            <a:avLst>
              <a:gd name="adj" fmla="val 3478"/>
            </a:avLst>
          </a:prstGeom>
          <a:solidFill>
            <a:srgbClr val="EEF3F7"/>
          </a:solidFill>
          <a:ln/>
        </p:spPr>
      </p:sp>
      <p:sp>
        <p:nvSpPr>
          <p:cNvPr id="8" name="Shape 6"/>
          <p:cNvSpPr/>
          <p:nvPr/>
        </p:nvSpPr>
        <p:spPr>
          <a:xfrm>
            <a:off x="777240" y="2286000"/>
            <a:ext cx="402336" cy="402336"/>
          </a:xfrm>
          <a:prstGeom prst="ellipse">
            <a:avLst/>
          </a:prstGeom>
          <a:solidFill>
            <a:srgbClr val="2F7D62"/>
          </a:solidFill>
          <a:ln/>
        </p:spPr>
      </p:sp>
      <p:sp>
        <p:nvSpPr>
          <p:cNvPr id="9" name="Text 7"/>
          <p:cNvSpPr txBox="1"/>
          <p:nvPr/>
        </p:nvSpPr>
        <p:spPr>
          <a:xfrm>
            <a:off x="777240" y="2286000"/>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0" name="Text 8"/>
          <p:cNvSpPr txBox="1"/>
          <p:nvPr/>
        </p:nvSpPr>
        <p:spPr>
          <a:xfrm>
            <a:off x="777240" y="2834640"/>
            <a:ext cx="3058058" cy="274320"/>
          </a:xfrm>
          <a:prstGeom prst="rect">
            <a:avLst/>
          </a:prstGeom>
          <a:noFill/>
          <a:ln/>
        </p:spPr>
        <p:txBody>
          <a:bodyPr wrap="square" lIns="0" tIns="0" rIns="0" bIns="0" rtlCol="0" anchor="t"/>
          <a:lstStyle/>
          <a:p>
            <a:pPr indent="0" marL="0">
              <a:buNone/>
            </a:pPr>
            <a:r>
              <a:rPr lang="en-US" sz="1800" b="1" dirty="0">
                <a:solidFill>
                  <a:srgbClr val="1F3A5F"/>
                </a:solidFill>
                <a:latin typeface="Calibri" pitchFamily="34" charset="0"/>
                <a:ea typeface="Calibri" pitchFamily="34" charset="-122"/>
                <a:cs typeface="Calibri" pitchFamily="34" charset="-120"/>
              </a:rPr>
              <a:t>La question</a:t>
            </a:r>
            <a:endParaRPr lang="en-US" sz="1800" dirty="0"/>
          </a:p>
        </p:txBody>
      </p:sp>
      <p:sp>
        <p:nvSpPr>
          <p:cNvPr id="11" name="Text 9"/>
          <p:cNvSpPr txBox="1"/>
          <p:nvPr/>
        </p:nvSpPr>
        <p:spPr>
          <a:xfrm>
            <a:off x="777240" y="3200400"/>
            <a:ext cx="3058058" cy="731520"/>
          </a:xfrm>
          <a:prstGeom prst="rect">
            <a:avLst/>
          </a:prstGeom>
          <a:noFill/>
          <a:ln/>
        </p:spPr>
        <p:txBody>
          <a:bodyPr wrap="square" lIns="0" tIns="0" rIns="0" bIns="0" rtlCol="0" anchor="t"/>
          <a:lstStyle/>
          <a:p>
            <a:pPr indent="0" marL="0">
              <a:buNone/>
            </a:pPr>
            <a:r>
              <a:rPr lang="en-US" sz="1500" dirty="0">
                <a:solidFill>
                  <a:srgbClr val="1F2933"/>
                </a:solidFill>
                <a:latin typeface="Calibri" pitchFamily="34" charset="0"/>
                <a:ea typeface="Calibri" pitchFamily="34" charset="-122"/>
                <a:cs typeface="Calibri" pitchFamily="34" charset="-120"/>
              </a:rPr>
              <a:t>Celle du lecteur : « les régions atteignent-elles leurs objectifs ? »</a:t>
            </a:r>
            <a:endParaRPr lang="en-US" sz="1500" dirty="0"/>
          </a:p>
        </p:txBody>
      </p:sp>
      <p:sp>
        <p:nvSpPr>
          <p:cNvPr id="12" name="Shape 10"/>
          <p:cNvSpPr/>
          <p:nvPr/>
        </p:nvSpPr>
        <p:spPr>
          <a:xfrm>
            <a:off x="4338218" y="2011680"/>
            <a:ext cx="3515258" cy="2103120"/>
          </a:xfrm>
          <a:prstGeom prst="roundRect">
            <a:avLst>
              <a:gd name="adj" fmla="val 3478"/>
            </a:avLst>
          </a:prstGeom>
          <a:solidFill>
            <a:srgbClr val="EEF3F7"/>
          </a:solidFill>
          <a:ln/>
        </p:spPr>
      </p:sp>
      <p:sp>
        <p:nvSpPr>
          <p:cNvPr id="13" name="Shape 11"/>
          <p:cNvSpPr/>
          <p:nvPr/>
        </p:nvSpPr>
        <p:spPr>
          <a:xfrm>
            <a:off x="4566818" y="2286000"/>
            <a:ext cx="402336" cy="402336"/>
          </a:xfrm>
          <a:prstGeom prst="ellipse">
            <a:avLst/>
          </a:prstGeom>
          <a:solidFill>
            <a:srgbClr val="2F7D62"/>
          </a:solidFill>
          <a:ln/>
        </p:spPr>
      </p:sp>
      <p:sp>
        <p:nvSpPr>
          <p:cNvPr id="14" name="Text 12"/>
          <p:cNvSpPr txBox="1"/>
          <p:nvPr/>
        </p:nvSpPr>
        <p:spPr>
          <a:xfrm>
            <a:off x="4566818" y="2286000"/>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5" name="Text 13"/>
          <p:cNvSpPr txBox="1"/>
          <p:nvPr/>
        </p:nvSpPr>
        <p:spPr>
          <a:xfrm>
            <a:off x="4566818" y="2834640"/>
            <a:ext cx="3058058" cy="274320"/>
          </a:xfrm>
          <a:prstGeom prst="rect">
            <a:avLst/>
          </a:prstGeom>
          <a:noFill/>
          <a:ln/>
        </p:spPr>
        <p:txBody>
          <a:bodyPr wrap="square" lIns="0" tIns="0" rIns="0" bIns="0" rtlCol="0" anchor="t"/>
          <a:lstStyle/>
          <a:p>
            <a:pPr indent="0" marL="0">
              <a:buNone/>
            </a:pPr>
            <a:r>
              <a:rPr lang="en-US" sz="1800" b="1" dirty="0">
                <a:solidFill>
                  <a:srgbClr val="1F3A5F"/>
                </a:solidFill>
                <a:latin typeface="Calibri" pitchFamily="34" charset="0"/>
                <a:ea typeface="Calibri" pitchFamily="34" charset="-122"/>
                <a:cs typeface="Calibri" pitchFamily="34" charset="-120"/>
              </a:rPr>
              <a:t>Le graphique</a:t>
            </a:r>
            <a:endParaRPr lang="en-US" sz="1800" dirty="0"/>
          </a:p>
        </p:txBody>
      </p:sp>
      <p:sp>
        <p:nvSpPr>
          <p:cNvPr id="16" name="Text 14"/>
          <p:cNvSpPr txBox="1"/>
          <p:nvPr/>
        </p:nvSpPr>
        <p:spPr>
          <a:xfrm>
            <a:off x="4566818" y="3200400"/>
            <a:ext cx="3058058" cy="731520"/>
          </a:xfrm>
          <a:prstGeom prst="rect">
            <a:avLst/>
          </a:prstGeom>
          <a:noFill/>
          <a:ln/>
        </p:spPr>
        <p:txBody>
          <a:bodyPr wrap="square" lIns="0" tIns="0" rIns="0" bIns="0" rtlCol="0" anchor="t"/>
          <a:lstStyle/>
          <a:p>
            <a:pPr indent="0" marL="0">
              <a:buNone/>
            </a:pPr>
            <a:r>
              <a:rPr lang="en-US" sz="1500" dirty="0">
                <a:solidFill>
                  <a:srgbClr val="1F2933"/>
                </a:solidFill>
                <a:latin typeface="Calibri" pitchFamily="34" charset="0"/>
                <a:ea typeface="Calibri" pitchFamily="34" charset="-122"/>
                <a:cs typeface="Calibri" pitchFamily="34" charset="-120"/>
              </a:rPr>
              <a:t>Son titre énonce la réponse.</a:t>
            </a:r>
            <a:endParaRPr lang="en-US" sz="1500" dirty="0"/>
          </a:p>
        </p:txBody>
      </p:sp>
      <p:sp>
        <p:nvSpPr>
          <p:cNvPr id="17" name="Shape 15"/>
          <p:cNvSpPr/>
          <p:nvPr/>
        </p:nvSpPr>
        <p:spPr>
          <a:xfrm>
            <a:off x="8127797" y="2011680"/>
            <a:ext cx="3515258" cy="2103120"/>
          </a:xfrm>
          <a:prstGeom prst="roundRect">
            <a:avLst>
              <a:gd name="adj" fmla="val 3478"/>
            </a:avLst>
          </a:prstGeom>
          <a:solidFill>
            <a:srgbClr val="EEF3F7"/>
          </a:solidFill>
          <a:ln/>
        </p:spPr>
      </p:sp>
      <p:sp>
        <p:nvSpPr>
          <p:cNvPr id="18" name="Shape 16"/>
          <p:cNvSpPr/>
          <p:nvPr/>
        </p:nvSpPr>
        <p:spPr>
          <a:xfrm>
            <a:off x="8356397" y="2286000"/>
            <a:ext cx="402336" cy="402336"/>
          </a:xfrm>
          <a:prstGeom prst="ellipse">
            <a:avLst/>
          </a:prstGeom>
          <a:solidFill>
            <a:srgbClr val="2F7D62"/>
          </a:solidFill>
          <a:ln/>
        </p:spPr>
      </p:sp>
      <p:sp>
        <p:nvSpPr>
          <p:cNvPr id="19" name="Text 17"/>
          <p:cNvSpPr txBox="1"/>
          <p:nvPr/>
        </p:nvSpPr>
        <p:spPr>
          <a:xfrm>
            <a:off x="8356397" y="2286000"/>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20" name="Text 18"/>
          <p:cNvSpPr txBox="1"/>
          <p:nvPr/>
        </p:nvSpPr>
        <p:spPr>
          <a:xfrm>
            <a:off x="8356397" y="2834640"/>
            <a:ext cx="3058058" cy="274320"/>
          </a:xfrm>
          <a:prstGeom prst="rect">
            <a:avLst/>
          </a:prstGeom>
          <a:noFill/>
          <a:ln/>
        </p:spPr>
        <p:txBody>
          <a:bodyPr wrap="square" lIns="0" tIns="0" rIns="0" bIns="0" rtlCol="0" anchor="t"/>
          <a:lstStyle/>
          <a:p>
            <a:pPr indent="0" marL="0">
              <a:buNone/>
            </a:pPr>
            <a:r>
              <a:rPr lang="en-US" sz="1800" b="1" dirty="0">
                <a:solidFill>
                  <a:srgbClr val="1F3A5F"/>
                </a:solidFill>
                <a:latin typeface="Calibri" pitchFamily="34" charset="0"/>
                <a:ea typeface="Calibri" pitchFamily="34" charset="-122"/>
                <a:cs typeface="Calibri" pitchFamily="34" charset="-120"/>
              </a:rPr>
              <a:t>Ce qu'on retient</a:t>
            </a:r>
            <a:endParaRPr lang="en-US" sz="1800" dirty="0"/>
          </a:p>
        </p:txBody>
      </p:sp>
      <p:sp>
        <p:nvSpPr>
          <p:cNvPr id="21" name="Text 19"/>
          <p:cNvSpPr txBox="1"/>
          <p:nvPr/>
        </p:nvSpPr>
        <p:spPr>
          <a:xfrm>
            <a:off x="8356397" y="3200400"/>
            <a:ext cx="3058058" cy="731520"/>
          </a:xfrm>
          <a:prstGeom prst="rect">
            <a:avLst/>
          </a:prstGeom>
          <a:noFill/>
          <a:ln/>
        </p:spPr>
        <p:txBody>
          <a:bodyPr wrap="square" lIns="0" tIns="0" rIns="0" bIns="0" rtlCol="0" anchor="t"/>
          <a:lstStyle/>
          <a:p>
            <a:pPr indent="0" marL="0">
              <a:buNone/>
            </a:pPr>
            <a:r>
              <a:rPr lang="en-US" sz="1500" dirty="0">
                <a:solidFill>
                  <a:srgbClr val="1F2933"/>
                </a:solidFill>
                <a:latin typeface="Calibri" pitchFamily="34" charset="0"/>
                <a:ea typeface="Calibri" pitchFamily="34" charset="-122"/>
                <a:cs typeface="Calibri" pitchFamily="34" charset="-120"/>
              </a:rPr>
              <a:t>Une ou deux phrases, avec les chiffres clés.</a:t>
            </a:r>
            <a:endParaRPr lang="en-US" sz="1500" dirty="0"/>
          </a:p>
        </p:txBody>
      </p:sp>
      <p:sp>
        <p:nvSpPr>
          <p:cNvPr id="22" name="Shape 20"/>
          <p:cNvSpPr/>
          <p:nvPr/>
        </p:nvSpPr>
        <p:spPr>
          <a:xfrm>
            <a:off x="548640" y="4434840"/>
            <a:ext cx="11094415" cy="883920"/>
          </a:xfrm>
          <a:prstGeom prst="roundRect">
            <a:avLst>
              <a:gd name="adj" fmla="val 6207"/>
            </a:avLst>
          </a:prstGeom>
          <a:solidFill>
            <a:srgbClr val="E8F3EE"/>
          </a:solidFill>
          <a:ln/>
        </p:spPr>
      </p:sp>
      <p:sp>
        <p:nvSpPr>
          <p:cNvPr id="23" name="Text 21"/>
          <p:cNvSpPr txBox="1"/>
          <p:nvPr/>
        </p:nvSpPr>
        <p:spPr>
          <a:xfrm>
            <a:off x="822960" y="4434840"/>
            <a:ext cx="10545775" cy="883920"/>
          </a:xfrm>
          <a:prstGeom prst="rect">
            <a:avLst/>
          </a:prstGeom>
          <a:noFill/>
          <a:ln/>
        </p:spPr>
        <p:txBody>
          <a:bodyPr wrap="square" lIns="0" tIns="0" rIns="0" bIns="0" rtlCol="0" anchor="ctr"/>
          <a:lstStyle/>
          <a:p>
            <a:pPr indent="0" marL="0">
              <a:buNone/>
            </a:pPr>
            <a:r>
              <a:rPr lang="en-US" sz="1700" dirty="0">
                <a:solidFill>
                  <a:srgbClr val="1F3A5F"/>
                </a:solidFill>
                <a:latin typeface="Calibri" pitchFamily="34" charset="0"/>
                <a:ea typeface="Calibri" pitchFamily="34" charset="-122"/>
                <a:cs typeface="Calibri" pitchFamily="34" charset="-120"/>
              </a:rPr>
              <a:t>Si on ne sait pas écrire la troisième partie, le graphique n'a pas sa place dans le tableau de bord.</a:t>
            </a:r>
            <a:endParaRPr lang="en-US" sz="1700" dirty="0"/>
          </a:p>
        </p:txBody>
      </p:sp>
      <p:sp>
        <p:nvSpPr>
          <p:cNvPr id="24" name="Text 22"/>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Analyse de données avec Python   |   Jour 2, après-midi</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b="0"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66928"/>
            <a:ext cx="475488" cy="475488"/>
          </a:xfrm>
          <a:prstGeom prst="ellipse">
            <a:avLst/>
          </a:prstGeom>
          <a:solidFill>
            <a:srgbClr val="2F7D62"/>
          </a:solidFill>
          <a:ln/>
        </p:spPr>
      </p:sp>
      <p:sp>
        <p:nvSpPr>
          <p:cNvPr id="3" name="Text 1"/>
          <p:cNvSpPr txBox="1"/>
          <p:nvPr/>
        </p:nvSpPr>
        <p:spPr>
          <a:xfrm>
            <a:off x="548640" y="566928"/>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6</a:t>
            </a:r>
            <a:endParaRPr lang="en-US" sz="1600" dirty="0"/>
          </a:p>
        </p:txBody>
      </p:sp>
      <p:sp>
        <p:nvSpPr>
          <p:cNvPr id="4" name="Text 2"/>
          <p:cNvSpPr txBox="1"/>
          <p:nvPr/>
        </p:nvSpPr>
        <p:spPr>
          <a:xfrm>
            <a:off x="1280160" y="164592"/>
            <a:ext cx="10362895" cy="274320"/>
          </a:xfrm>
          <a:prstGeom prst="rect">
            <a:avLst/>
          </a:prstGeom>
          <a:noFill/>
          <a:ln/>
        </p:spPr>
        <p:txBody>
          <a:bodyPr wrap="square" lIns="0" tIns="0" rIns="0" bIns="0" rtlCol="0" anchor="ctr"/>
          <a:lstStyle/>
          <a:p>
            <a:pPr indent="0" marL="0">
              <a:buNone/>
            </a:pPr>
            <a:r>
              <a:rPr lang="en-US" sz="1200" b="1" spc="200" kern="0" dirty="0">
                <a:solidFill>
                  <a:srgbClr val="2F7D62"/>
                </a:solidFill>
                <a:latin typeface="Calibri" pitchFamily="34" charset="0"/>
                <a:ea typeface="Calibri" pitchFamily="34" charset="-122"/>
                <a:cs typeface="Calibri" pitchFamily="34" charset="-120"/>
              </a:rPr>
              <a:t>CONSTRUIRE UN TABLEAU DE BORD</a:t>
            </a:r>
            <a:endParaRPr lang="en-US" sz="1200" dirty="0"/>
          </a:p>
        </p:txBody>
      </p:sp>
      <p:sp>
        <p:nvSpPr>
          <p:cNvPr id="5" name="Text 3"/>
          <p:cNvSpPr txBox="1"/>
          <p:nvPr/>
        </p:nvSpPr>
        <p:spPr>
          <a:xfrm>
            <a:off x="1280160" y="457200"/>
            <a:ext cx="10362895" cy="694944"/>
          </a:xfrm>
          <a:prstGeom prst="rect">
            <a:avLst/>
          </a:prstGeom>
          <a:noFill/>
          <a:ln/>
        </p:spPr>
        <p:txBody>
          <a:bodyPr wrap="square" lIns="0" tIns="0" rIns="0" bIns="0" rtlCol="0" anchor="ctr"/>
          <a:lstStyle/>
          <a:p>
            <a:pPr indent="0" marL="0">
              <a:buNone/>
            </a:pPr>
            <a:r>
              <a:rPr lang="en-US" sz="3000" b="1" dirty="0">
                <a:solidFill>
                  <a:srgbClr val="1F3A5F"/>
                </a:solidFill>
                <a:latin typeface="Cambria" pitchFamily="34" charset="0"/>
                <a:ea typeface="Cambria" pitchFamily="34" charset="-122"/>
                <a:cs typeface="Cambria" pitchFamily="34" charset="-120"/>
              </a:rPr>
              <a:t>Ordonner les graphiques et rester cohérent</a:t>
            </a:r>
            <a:endParaRPr lang="en-US" sz="3000" dirty="0"/>
          </a:p>
        </p:txBody>
      </p:sp>
      <p:sp>
        <p:nvSpPr>
          <p:cNvPr id="6" name="Text 4"/>
          <p:cNvSpPr txBox="1"/>
          <p:nvPr/>
        </p:nvSpPr>
        <p:spPr>
          <a:xfrm>
            <a:off x="548640" y="1417320"/>
            <a:ext cx="11094415" cy="365760"/>
          </a:xfrm>
          <a:prstGeom prst="rect">
            <a:avLst/>
          </a:prstGeom>
          <a:noFill/>
          <a:ln/>
        </p:spPr>
        <p:txBody>
          <a:bodyPr wrap="square" lIns="0" tIns="0" rIns="0" bIns="0" rtlCol="0" anchor="t"/>
          <a:lstStyle/>
          <a:p>
            <a:pPr indent="0" marL="0">
              <a:buNone/>
            </a:pPr>
            <a:r>
              <a:rPr lang="en-US" sz="1700" b="1" dirty="0">
                <a:solidFill>
                  <a:srgbClr val="1F3A5F"/>
                </a:solidFill>
                <a:latin typeface="Calibri" pitchFamily="34" charset="0"/>
                <a:ea typeface="Calibri" pitchFamily="34" charset="-122"/>
                <a:cs typeface="Calibri" pitchFamily="34" charset="-120"/>
              </a:rPr>
              <a:t>Du général au détail</a:t>
            </a:r>
            <a:endParaRPr lang="en-US" sz="1700" dirty="0"/>
          </a:p>
        </p:txBody>
      </p:sp>
      <p:sp>
        <p:nvSpPr>
          <p:cNvPr id="7" name="Shape 5"/>
          <p:cNvSpPr/>
          <p:nvPr/>
        </p:nvSpPr>
        <p:spPr>
          <a:xfrm>
            <a:off x="1935442" y="2468880"/>
            <a:ext cx="8320811" cy="0"/>
          </a:xfrm>
          <a:prstGeom prst="line">
            <a:avLst/>
          </a:prstGeom>
          <a:noFill/>
          <a:ln w="25400">
            <a:solidFill>
              <a:srgbClr val="D5DCE3"/>
            </a:solidFill>
            <a:prstDash val="solid"/>
          </a:ln>
        </p:spPr>
      </p:sp>
      <p:sp>
        <p:nvSpPr>
          <p:cNvPr id="8" name="Shape 6"/>
          <p:cNvSpPr/>
          <p:nvPr/>
        </p:nvSpPr>
        <p:spPr>
          <a:xfrm>
            <a:off x="1706842" y="2240280"/>
            <a:ext cx="457200" cy="457200"/>
          </a:xfrm>
          <a:prstGeom prst="ellipse">
            <a:avLst/>
          </a:prstGeom>
          <a:solidFill>
            <a:srgbClr val="2F7D62"/>
          </a:solidFill>
          <a:ln/>
        </p:spPr>
      </p:sp>
      <p:sp>
        <p:nvSpPr>
          <p:cNvPr id="9" name="Text 7"/>
          <p:cNvSpPr txBox="1"/>
          <p:nvPr/>
        </p:nvSpPr>
        <p:spPr>
          <a:xfrm>
            <a:off x="1706842" y="224028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0" name="Text 8"/>
          <p:cNvSpPr txBox="1"/>
          <p:nvPr/>
        </p:nvSpPr>
        <p:spPr>
          <a:xfrm>
            <a:off x="594360" y="2834640"/>
            <a:ext cx="2682164" cy="502920"/>
          </a:xfrm>
          <a:prstGeom prst="rect">
            <a:avLst/>
          </a:prstGeom>
          <a:noFill/>
          <a:ln/>
        </p:spPr>
        <p:txBody>
          <a:bodyPr wrap="square" lIns="0" tIns="0" rIns="0" bIns="0" rtlCol="0" anchor="t"/>
          <a:lstStyle/>
          <a:p>
            <a:pPr algn="ctr" indent="0" marL="0">
              <a:buNone/>
            </a:pPr>
            <a:r>
              <a:rPr lang="en-US" sz="1500" b="1" dirty="0">
                <a:solidFill>
                  <a:srgbClr val="1F3A5F"/>
                </a:solidFill>
                <a:latin typeface="Calibri" pitchFamily="34" charset="0"/>
                <a:ea typeface="Calibri" pitchFamily="34" charset="-122"/>
                <a:cs typeface="Calibri" pitchFamily="34" charset="-120"/>
              </a:rPr>
              <a:t>Évolution</a:t>
            </a:r>
            <a:endParaRPr lang="en-US" sz="1500" dirty="0"/>
          </a:p>
        </p:txBody>
      </p:sp>
      <p:sp>
        <p:nvSpPr>
          <p:cNvPr id="11" name="Text 9"/>
          <p:cNvSpPr txBox="1"/>
          <p:nvPr/>
        </p:nvSpPr>
        <p:spPr>
          <a:xfrm>
            <a:off x="594360" y="3337560"/>
            <a:ext cx="2682164" cy="685800"/>
          </a:xfrm>
          <a:prstGeom prst="rect">
            <a:avLst/>
          </a:prstGeom>
          <a:noFill/>
          <a:ln/>
        </p:spPr>
        <p:txBody>
          <a:bodyPr wrap="square" lIns="0" tIns="0" rIns="0" bIns="0" rtlCol="0" anchor="t"/>
          <a:lstStyle/>
          <a:p>
            <a:pPr algn="ctr" indent="0" marL="0">
              <a:buNone/>
            </a:pPr>
            <a:r>
              <a:rPr lang="en-US" sz="1300" dirty="0">
                <a:solidFill>
                  <a:srgbClr val="6B7280"/>
                </a:solidFill>
                <a:latin typeface="Calibri" pitchFamily="34" charset="0"/>
                <a:ea typeface="Calibri" pitchFamily="34" charset="-122"/>
                <a:cs typeface="Calibri" pitchFamily="34" charset="-120"/>
              </a:rPr>
              <a:t>l'activité globale</a:t>
            </a:r>
            <a:endParaRPr lang="en-US" sz="1300" dirty="0"/>
          </a:p>
        </p:txBody>
      </p:sp>
      <p:sp>
        <p:nvSpPr>
          <p:cNvPr id="12" name="Shape 10"/>
          <p:cNvSpPr/>
          <p:nvPr/>
        </p:nvSpPr>
        <p:spPr>
          <a:xfrm>
            <a:off x="4480446" y="2240280"/>
            <a:ext cx="457200" cy="457200"/>
          </a:xfrm>
          <a:prstGeom prst="ellipse">
            <a:avLst/>
          </a:prstGeom>
          <a:solidFill>
            <a:srgbClr val="2F7D62"/>
          </a:solidFill>
          <a:ln/>
        </p:spPr>
      </p:sp>
      <p:sp>
        <p:nvSpPr>
          <p:cNvPr id="13" name="Text 11"/>
          <p:cNvSpPr txBox="1"/>
          <p:nvPr/>
        </p:nvSpPr>
        <p:spPr>
          <a:xfrm>
            <a:off x="4480446" y="224028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4" name="Text 12"/>
          <p:cNvSpPr txBox="1"/>
          <p:nvPr/>
        </p:nvSpPr>
        <p:spPr>
          <a:xfrm>
            <a:off x="3367964" y="2834640"/>
            <a:ext cx="2682164" cy="502920"/>
          </a:xfrm>
          <a:prstGeom prst="rect">
            <a:avLst/>
          </a:prstGeom>
          <a:noFill/>
          <a:ln/>
        </p:spPr>
        <p:txBody>
          <a:bodyPr wrap="square" lIns="0" tIns="0" rIns="0" bIns="0" rtlCol="0" anchor="t"/>
          <a:lstStyle/>
          <a:p>
            <a:pPr algn="ctr" indent="0" marL="0">
              <a:buNone/>
            </a:pPr>
            <a:r>
              <a:rPr lang="en-US" sz="1500" b="1" dirty="0">
                <a:solidFill>
                  <a:srgbClr val="1F3A5F"/>
                </a:solidFill>
                <a:latin typeface="Calibri" pitchFamily="34" charset="0"/>
                <a:ea typeface="Calibri" pitchFamily="34" charset="-122"/>
                <a:cs typeface="Calibri" pitchFamily="34" charset="-120"/>
              </a:rPr>
              <a:t>Répartition</a:t>
            </a:r>
            <a:endParaRPr lang="en-US" sz="1500" dirty="0"/>
          </a:p>
        </p:txBody>
      </p:sp>
      <p:sp>
        <p:nvSpPr>
          <p:cNvPr id="15" name="Text 13"/>
          <p:cNvSpPr txBox="1"/>
          <p:nvPr/>
        </p:nvSpPr>
        <p:spPr>
          <a:xfrm>
            <a:off x="3367964" y="3337560"/>
            <a:ext cx="2682164" cy="685800"/>
          </a:xfrm>
          <a:prstGeom prst="rect">
            <a:avLst/>
          </a:prstGeom>
          <a:noFill/>
          <a:ln/>
        </p:spPr>
        <p:txBody>
          <a:bodyPr wrap="square" lIns="0" tIns="0" rIns="0" bIns="0" rtlCol="0" anchor="t"/>
          <a:lstStyle/>
          <a:p>
            <a:pPr algn="ctr" indent="0" marL="0">
              <a:buNone/>
            </a:pPr>
            <a:r>
              <a:rPr lang="en-US" sz="1300" dirty="0">
                <a:solidFill>
                  <a:srgbClr val="6B7280"/>
                </a:solidFill>
                <a:latin typeface="Calibri" pitchFamily="34" charset="0"/>
                <a:ea typeface="Calibri" pitchFamily="34" charset="-122"/>
                <a:cs typeface="Calibri" pitchFamily="34" charset="-120"/>
              </a:rPr>
              <a:t>par région, par catégorie</a:t>
            </a:r>
            <a:endParaRPr lang="en-US" sz="1300" dirty="0"/>
          </a:p>
        </p:txBody>
      </p:sp>
      <p:sp>
        <p:nvSpPr>
          <p:cNvPr id="16" name="Shape 14"/>
          <p:cNvSpPr/>
          <p:nvPr/>
        </p:nvSpPr>
        <p:spPr>
          <a:xfrm>
            <a:off x="7254050" y="2240280"/>
            <a:ext cx="457200" cy="457200"/>
          </a:xfrm>
          <a:prstGeom prst="ellipse">
            <a:avLst/>
          </a:prstGeom>
          <a:solidFill>
            <a:srgbClr val="2F7D62"/>
          </a:solidFill>
          <a:ln/>
        </p:spPr>
      </p:sp>
      <p:sp>
        <p:nvSpPr>
          <p:cNvPr id="17" name="Text 15"/>
          <p:cNvSpPr txBox="1"/>
          <p:nvPr/>
        </p:nvSpPr>
        <p:spPr>
          <a:xfrm>
            <a:off x="7254050" y="224028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8" name="Text 16"/>
          <p:cNvSpPr txBox="1"/>
          <p:nvPr/>
        </p:nvSpPr>
        <p:spPr>
          <a:xfrm>
            <a:off x="6141568" y="2834640"/>
            <a:ext cx="2682164" cy="502920"/>
          </a:xfrm>
          <a:prstGeom prst="rect">
            <a:avLst/>
          </a:prstGeom>
          <a:noFill/>
          <a:ln/>
        </p:spPr>
        <p:txBody>
          <a:bodyPr wrap="square" lIns="0" tIns="0" rIns="0" bIns="0" rtlCol="0" anchor="t"/>
          <a:lstStyle/>
          <a:p>
            <a:pPr algn="ctr" indent="0" marL="0">
              <a:buNone/>
            </a:pPr>
            <a:r>
              <a:rPr lang="en-US" sz="1500" b="1" dirty="0">
                <a:solidFill>
                  <a:srgbClr val="1F3A5F"/>
                </a:solidFill>
                <a:latin typeface="Calibri" pitchFamily="34" charset="0"/>
                <a:ea typeface="Calibri" pitchFamily="34" charset="-122"/>
                <a:cs typeface="Calibri" pitchFamily="34" charset="-120"/>
              </a:rPr>
              <a:t>Objectifs</a:t>
            </a:r>
            <a:endParaRPr lang="en-US" sz="1500" dirty="0"/>
          </a:p>
        </p:txBody>
      </p:sp>
      <p:sp>
        <p:nvSpPr>
          <p:cNvPr id="19" name="Text 17"/>
          <p:cNvSpPr txBox="1"/>
          <p:nvPr/>
        </p:nvSpPr>
        <p:spPr>
          <a:xfrm>
            <a:off x="6141568" y="3337560"/>
            <a:ext cx="2682164" cy="685800"/>
          </a:xfrm>
          <a:prstGeom prst="rect">
            <a:avLst/>
          </a:prstGeom>
          <a:noFill/>
          <a:ln/>
        </p:spPr>
        <p:txBody>
          <a:bodyPr wrap="square" lIns="0" tIns="0" rIns="0" bIns="0" rtlCol="0" anchor="t"/>
          <a:lstStyle/>
          <a:p>
            <a:pPr algn="ctr" indent="0" marL="0">
              <a:buNone/>
            </a:pPr>
            <a:r>
              <a:rPr lang="en-US" sz="1300" dirty="0">
                <a:solidFill>
                  <a:srgbClr val="6B7280"/>
                </a:solidFill>
                <a:latin typeface="Calibri" pitchFamily="34" charset="0"/>
                <a:ea typeface="Calibri" pitchFamily="34" charset="-122"/>
                <a:cs typeface="Calibri" pitchFamily="34" charset="-120"/>
              </a:rPr>
              <a:t>leur suivi</a:t>
            </a:r>
            <a:endParaRPr lang="en-US" sz="1300" dirty="0"/>
          </a:p>
        </p:txBody>
      </p:sp>
      <p:sp>
        <p:nvSpPr>
          <p:cNvPr id="20" name="Shape 18"/>
          <p:cNvSpPr/>
          <p:nvPr/>
        </p:nvSpPr>
        <p:spPr>
          <a:xfrm>
            <a:off x="10027653" y="2240280"/>
            <a:ext cx="457200" cy="457200"/>
          </a:xfrm>
          <a:prstGeom prst="ellipse">
            <a:avLst/>
          </a:prstGeom>
          <a:solidFill>
            <a:srgbClr val="2F7D62"/>
          </a:solidFill>
          <a:ln/>
        </p:spPr>
      </p:sp>
      <p:sp>
        <p:nvSpPr>
          <p:cNvPr id="21" name="Text 19"/>
          <p:cNvSpPr txBox="1"/>
          <p:nvPr/>
        </p:nvSpPr>
        <p:spPr>
          <a:xfrm>
            <a:off x="10027653" y="224028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2" name="Text 20"/>
          <p:cNvSpPr txBox="1"/>
          <p:nvPr/>
        </p:nvSpPr>
        <p:spPr>
          <a:xfrm>
            <a:off x="8915171" y="2834640"/>
            <a:ext cx="2682164" cy="502920"/>
          </a:xfrm>
          <a:prstGeom prst="rect">
            <a:avLst/>
          </a:prstGeom>
          <a:noFill/>
          <a:ln/>
        </p:spPr>
        <p:txBody>
          <a:bodyPr wrap="square" lIns="0" tIns="0" rIns="0" bIns="0" rtlCol="0" anchor="t"/>
          <a:lstStyle/>
          <a:p>
            <a:pPr algn="ctr" indent="0" marL="0">
              <a:buNone/>
            </a:pPr>
            <a:r>
              <a:rPr lang="en-US" sz="1500" b="1" dirty="0">
                <a:solidFill>
                  <a:srgbClr val="1F3A5F"/>
                </a:solidFill>
                <a:latin typeface="Calibri" pitchFamily="34" charset="0"/>
                <a:ea typeface="Calibri" pitchFamily="34" charset="-122"/>
                <a:cs typeface="Calibri" pitchFamily="34" charset="-120"/>
              </a:rPr>
              <a:t>Détail</a:t>
            </a:r>
            <a:endParaRPr lang="en-US" sz="1500" dirty="0"/>
          </a:p>
        </p:txBody>
      </p:sp>
      <p:sp>
        <p:nvSpPr>
          <p:cNvPr id="23" name="Text 21"/>
          <p:cNvSpPr txBox="1"/>
          <p:nvPr/>
        </p:nvSpPr>
        <p:spPr>
          <a:xfrm>
            <a:off x="8915171" y="3337560"/>
            <a:ext cx="2682164" cy="685800"/>
          </a:xfrm>
          <a:prstGeom prst="rect">
            <a:avLst/>
          </a:prstGeom>
          <a:noFill/>
          <a:ln/>
        </p:spPr>
        <p:txBody>
          <a:bodyPr wrap="square" lIns="0" tIns="0" rIns="0" bIns="0" rtlCol="0" anchor="t"/>
          <a:lstStyle/>
          <a:p>
            <a:pPr algn="ctr" indent="0" marL="0">
              <a:buNone/>
            </a:pPr>
            <a:r>
              <a:rPr lang="en-US" sz="1300" dirty="0">
                <a:solidFill>
                  <a:srgbClr val="6B7280"/>
                </a:solidFill>
                <a:latin typeface="Calibri" pitchFamily="34" charset="0"/>
                <a:ea typeface="Calibri" pitchFamily="34" charset="-122"/>
                <a:cs typeface="Calibri" pitchFamily="34" charset="-120"/>
              </a:rPr>
              <a:t>exploré par le lecteur dans un graphique interactif</a:t>
            </a:r>
            <a:endParaRPr lang="en-US" sz="1300" dirty="0"/>
          </a:p>
        </p:txBody>
      </p:sp>
      <p:sp>
        <p:nvSpPr>
          <p:cNvPr id="24" name="Text 22"/>
          <p:cNvSpPr txBox="1"/>
          <p:nvPr/>
        </p:nvSpPr>
        <p:spPr>
          <a:xfrm>
            <a:off x="548640" y="4069080"/>
            <a:ext cx="11094415" cy="365760"/>
          </a:xfrm>
          <a:prstGeom prst="rect">
            <a:avLst/>
          </a:prstGeom>
          <a:noFill/>
          <a:ln/>
        </p:spPr>
        <p:txBody>
          <a:bodyPr wrap="square" lIns="0" tIns="0" rIns="0" bIns="0" rtlCol="0" anchor="t"/>
          <a:lstStyle/>
          <a:p>
            <a:pPr indent="0" marL="0">
              <a:buNone/>
            </a:pPr>
            <a:r>
              <a:rPr lang="en-US" sz="1700" b="1" dirty="0">
                <a:solidFill>
                  <a:srgbClr val="1F3A5F"/>
                </a:solidFill>
                <a:latin typeface="Calibri" pitchFamily="34" charset="0"/>
                <a:ea typeface="Calibri" pitchFamily="34" charset="-122"/>
                <a:cs typeface="Calibri" pitchFamily="34" charset="-120"/>
              </a:rPr>
              <a:t>Rester cohérent</a:t>
            </a:r>
            <a:endParaRPr lang="en-US" sz="1700" dirty="0"/>
          </a:p>
        </p:txBody>
      </p:sp>
      <p:sp>
        <p:nvSpPr>
          <p:cNvPr id="25" name="Text 23"/>
          <p:cNvSpPr txBox="1"/>
          <p:nvPr/>
        </p:nvSpPr>
        <p:spPr>
          <a:xfrm>
            <a:off x="548640" y="4480560"/>
            <a:ext cx="11094415" cy="1691640"/>
          </a:xfrm>
          <a:prstGeom prst="rect">
            <a:avLst/>
          </a:prstGeom>
          <a:noFill/>
          <a:ln/>
        </p:spPr>
        <p:txBody>
          <a:bodyPr wrap="square" lIns="0" tIns="0" rIns="0" bIns="0" rtlCol="0" anchor="t"/>
          <a:lstStyle/>
          <a:p>
            <a:pPr marL="254000" indent="-254000">
              <a:spcAft>
                <a:spcPts val="800"/>
              </a:spcAft>
              <a:buSzPct val="100000"/>
              <a:buChar char="•"/>
            </a:pPr>
            <a:r>
              <a:rPr lang="en-US" sz="1700" dirty="0">
                <a:solidFill>
                  <a:srgbClr val="1F2933"/>
                </a:solidFill>
                <a:latin typeface="Calibri" pitchFamily="34" charset="0"/>
                <a:ea typeface="Calibri" pitchFamily="34" charset="-122"/>
                <a:cs typeface="Calibri" pitchFamily="34" charset="-120"/>
              </a:rPr>
              <a:t>Une même chose garde la même couleur : l'Île-de-France en vert dans un graphique ne passe pas en orange dans le suivant</a:t>
            </a:r>
            <a:endParaRPr lang="en-US" sz="1700" dirty="0"/>
          </a:p>
          <a:p>
            <a:pPr marL="254000" indent="-254000">
              <a:spcAft>
                <a:spcPts val="800"/>
              </a:spcAft>
              <a:buSzPct val="100000"/>
              <a:buChar char="•"/>
            </a:pPr>
            <a:r>
              <a:rPr lang="en-US" sz="1700" dirty="0">
                <a:solidFill>
                  <a:srgbClr val="1F2933"/>
                </a:solidFill>
                <a:latin typeface="Calibri" pitchFamily="34" charset="0"/>
                <a:ea typeface="Calibri" pitchFamily="34" charset="-122"/>
                <a:cs typeface="Calibri" pitchFamily="34" charset="-120"/>
              </a:rPr>
              <a:t>Les mêmes unités et les mêmes formats partout : des k€ sur les montants, des pourcentages sans décimale</a:t>
            </a:r>
            <a:endParaRPr lang="en-US" sz="1700" dirty="0"/>
          </a:p>
          <a:p>
            <a:pPr marL="254000" indent="-254000">
              <a:spcAft>
                <a:spcPts val="800"/>
              </a:spcAft>
              <a:buSzPct val="100000"/>
              <a:buChar char="•"/>
            </a:pPr>
            <a:r>
              <a:rPr lang="en-US" sz="1700" dirty="0">
                <a:solidFill>
                  <a:srgbClr val="1F2933"/>
                </a:solidFill>
                <a:latin typeface="Calibri" pitchFamily="34" charset="0"/>
                <a:ea typeface="Calibri" pitchFamily="34" charset="-122"/>
                <a:cs typeface="Calibri" pitchFamily="34" charset="-120"/>
              </a:rPr>
              <a:t>Des échelles partagées dès que des graphiques se comparent</a:t>
            </a:r>
            <a:endParaRPr lang="en-US" sz="1700" dirty="0"/>
          </a:p>
        </p:txBody>
      </p:sp>
      <p:sp>
        <p:nvSpPr>
          <p:cNvPr id="26" name="Text 24"/>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Analyse de données avec Python   |   Jour 2, après-midi</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b="0"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66928"/>
            <a:ext cx="475488" cy="475488"/>
          </a:xfrm>
          <a:prstGeom prst="ellipse">
            <a:avLst/>
          </a:prstGeom>
          <a:solidFill>
            <a:srgbClr val="2F7D62"/>
          </a:solidFill>
          <a:ln/>
        </p:spPr>
      </p:sp>
      <p:sp>
        <p:nvSpPr>
          <p:cNvPr id="3" name="Text 1"/>
          <p:cNvSpPr txBox="1"/>
          <p:nvPr/>
        </p:nvSpPr>
        <p:spPr>
          <a:xfrm>
            <a:off x="548640" y="566928"/>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6</a:t>
            </a:r>
            <a:endParaRPr lang="en-US" sz="1600" dirty="0"/>
          </a:p>
        </p:txBody>
      </p:sp>
      <p:sp>
        <p:nvSpPr>
          <p:cNvPr id="4" name="Text 2"/>
          <p:cNvSpPr txBox="1"/>
          <p:nvPr/>
        </p:nvSpPr>
        <p:spPr>
          <a:xfrm>
            <a:off x="1280160" y="164592"/>
            <a:ext cx="10362895" cy="274320"/>
          </a:xfrm>
          <a:prstGeom prst="rect">
            <a:avLst/>
          </a:prstGeom>
          <a:noFill/>
          <a:ln/>
        </p:spPr>
        <p:txBody>
          <a:bodyPr wrap="square" lIns="0" tIns="0" rIns="0" bIns="0" rtlCol="0" anchor="ctr"/>
          <a:lstStyle/>
          <a:p>
            <a:pPr indent="0" marL="0">
              <a:buNone/>
            </a:pPr>
            <a:r>
              <a:rPr lang="en-US" sz="1200" b="1" spc="200" kern="0" dirty="0">
                <a:solidFill>
                  <a:srgbClr val="2F7D62"/>
                </a:solidFill>
                <a:latin typeface="Calibri" pitchFamily="34" charset="0"/>
                <a:ea typeface="Calibri" pitchFamily="34" charset="-122"/>
                <a:cs typeface="Calibri" pitchFamily="34" charset="-120"/>
              </a:rPr>
              <a:t>CONSTRUIRE UN TABLEAU DE BORD</a:t>
            </a:r>
            <a:endParaRPr lang="en-US" sz="1200" dirty="0"/>
          </a:p>
        </p:txBody>
      </p:sp>
      <p:sp>
        <p:nvSpPr>
          <p:cNvPr id="5" name="Text 3"/>
          <p:cNvSpPr txBox="1"/>
          <p:nvPr/>
        </p:nvSpPr>
        <p:spPr>
          <a:xfrm>
            <a:off x="1280160" y="457200"/>
            <a:ext cx="10362895" cy="694944"/>
          </a:xfrm>
          <a:prstGeom prst="rect">
            <a:avLst/>
          </a:prstGeom>
          <a:noFill/>
          <a:ln/>
        </p:spPr>
        <p:txBody>
          <a:bodyPr wrap="square" lIns="0" tIns="0" rIns="0" bIns="0" rtlCol="0" anchor="ctr"/>
          <a:lstStyle/>
          <a:p>
            <a:pPr indent="0" marL="0">
              <a:buNone/>
            </a:pPr>
            <a:r>
              <a:rPr lang="en-US" sz="3000" b="1" dirty="0">
                <a:solidFill>
                  <a:srgbClr val="1F3A5F"/>
                </a:solidFill>
                <a:latin typeface="Cambria" pitchFamily="34" charset="0"/>
                <a:ea typeface="Cambria" pitchFamily="34" charset="-122"/>
                <a:cs typeface="Cambria" pitchFamily="34" charset="-120"/>
              </a:rPr>
              <a:t>La liste de vérification</a:t>
            </a:r>
            <a:endParaRPr lang="en-US" sz="3000" dirty="0"/>
          </a:p>
        </p:txBody>
      </p:sp>
      <p:sp>
        <p:nvSpPr>
          <p:cNvPr id="6" name="Text 4"/>
          <p:cNvSpPr txBox="1"/>
          <p:nvPr/>
        </p:nvSpPr>
        <p:spPr>
          <a:xfrm>
            <a:off x="548640" y="1417320"/>
            <a:ext cx="11094415" cy="411480"/>
          </a:xfrm>
          <a:prstGeom prst="rect">
            <a:avLst/>
          </a:prstGeom>
          <a:noFill/>
          <a:ln/>
        </p:spPr>
        <p:txBody>
          <a:bodyPr wrap="square" lIns="0" tIns="0" rIns="0" bIns="0" rtlCol="0" anchor="t"/>
          <a:lstStyle/>
          <a:p>
            <a:pPr indent="0" marL="0">
              <a:buNone/>
            </a:pPr>
            <a:r>
              <a:rPr lang="en-US" sz="1800" dirty="0">
                <a:solidFill>
                  <a:srgbClr val="6B7280"/>
                </a:solidFill>
                <a:latin typeface="Calibri" pitchFamily="34" charset="0"/>
                <a:ea typeface="Calibri" pitchFamily="34" charset="-122"/>
                <a:cs typeface="Calibri" pitchFamily="34" charset="-120"/>
              </a:rPr>
              <a:t>Avant de livrer, on relit chaque graphique avec cette liste :</a:t>
            </a:r>
            <a:endParaRPr lang="en-US" sz="1800" dirty="0"/>
          </a:p>
        </p:txBody>
      </p:sp>
      <p:sp>
        <p:nvSpPr>
          <p:cNvPr id="7" name="Text 5"/>
          <p:cNvSpPr txBox="1"/>
          <p:nvPr/>
        </p:nvSpPr>
        <p:spPr>
          <a:xfrm>
            <a:off x="548640" y="2011680"/>
            <a:ext cx="11094415" cy="2529840"/>
          </a:xfrm>
          <a:prstGeom prst="rect">
            <a:avLst/>
          </a:prstGeom>
          <a:noFill/>
          <a:ln/>
        </p:spPr>
        <p:txBody>
          <a:bodyPr wrap="square" lIns="0" tIns="0" rIns="0" bIns="0" rtlCol="0" anchor="t"/>
          <a:lstStyle/>
          <a:p>
            <a:pPr marL="254000" indent="-254000">
              <a:spcAft>
                <a:spcPts val="800"/>
              </a:spcAft>
              <a:buSzPct val="100000"/>
              <a:buChar char="•"/>
            </a:pPr>
            <a:r>
              <a:rPr lang="en-US" sz="2000" dirty="0">
                <a:solidFill>
                  <a:srgbClr val="1F2933"/>
                </a:solidFill>
                <a:latin typeface="Calibri" pitchFamily="34" charset="0"/>
                <a:ea typeface="Calibri" pitchFamily="34" charset="-122"/>
                <a:cs typeface="Calibri" pitchFamily="34" charset="-120"/>
              </a:rPr>
              <a:t>le type de graphique correspond à la question posée</a:t>
            </a:r>
            <a:endParaRPr lang="en-US" sz="2000" dirty="0"/>
          </a:p>
          <a:p>
            <a:pPr marL="254000" indent="-254000">
              <a:spcAft>
                <a:spcPts val="800"/>
              </a:spcAft>
              <a:buSzPct val="100000"/>
              <a:buChar char="•"/>
            </a:pPr>
            <a:r>
              <a:rPr lang="en-US" sz="2000" dirty="0">
                <a:solidFill>
                  <a:srgbClr val="1F2933"/>
                </a:solidFill>
                <a:latin typeface="Calibri" pitchFamily="34" charset="0"/>
                <a:ea typeface="Calibri" pitchFamily="34" charset="-122"/>
                <a:cs typeface="Calibri" pitchFamily="34" charset="-120"/>
              </a:rPr>
              <a:t>le titre énonce le message</a:t>
            </a:r>
            <a:endParaRPr lang="en-US" sz="2000" dirty="0"/>
          </a:p>
          <a:p>
            <a:pPr marL="254000" indent="-254000">
              <a:spcAft>
                <a:spcPts val="800"/>
              </a:spcAft>
              <a:buSzPct val="100000"/>
              <a:buChar char="•"/>
            </a:pPr>
            <a:r>
              <a:rPr lang="en-US" sz="2000" dirty="0">
                <a:solidFill>
                  <a:srgbClr val="1F2933"/>
                </a:solidFill>
                <a:latin typeface="Calibri" pitchFamily="34" charset="0"/>
                <a:ea typeface="Calibri" pitchFamily="34" charset="-122"/>
                <a:cs typeface="Calibri" pitchFamily="34" charset="-120"/>
              </a:rPr>
              <a:t>les axes sont nommés, avec leur unité, et les nombres sont lisibles</a:t>
            </a:r>
            <a:endParaRPr lang="en-US" sz="2000" dirty="0"/>
          </a:p>
          <a:p>
            <a:pPr marL="254000" indent="-254000">
              <a:spcAft>
                <a:spcPts val="800"/>
              </a:spcAft>
              <a:buSzPct val="100000"/>
              <a:buChar char="•"/>
            </a:pPr>
            <a:r>
              <a:rPr lang="en-US" sz="2000" dirty="0">
                <a:solidFill>
                  <a:srgbClr val="1F2933"/>
                </a:solidFill>
                <a:latin typeface="Calibri" pitchFamily="34" charset="0"/>
                <a:ea typeface="Calibri" pitchFamily="34" charset="-122"/>
                <a:cs typeface="Calibri" pitchFamily="34" charset="-120"/>
              </a:rPr>
              <a:t>les barres sont triées et partent de zéro</a:t>
            </a:r>
            <a:endParaRPr lang="en-US" sz="2000" dirty="0"/>
          </a:p>
          <a:p>
            <a:pPr marL="254000" indent="-254000">
              <a:spcAft>
                <a:spcPts val="800"/>
              </a:spcAft>
              <a:buSzPct val="100000"/>
              <a:buChar char="•"/>
            </a:pPr>
            <a:r>
              <a:rPr lang="en-US" sz="2000" dirty="0">
                <a:solidFill>
                  <a:srgbClr val="1F2933"/>
                </a:solidFill>
                <a:latin typeface="Calibri" pitchFamily="34" charset="0"/>
                <a:ea typeface="Calibri" pitchFamily="34" charset="-122"/>
                <a:cs typeface="Calibri" pitchFamily="34" charset="-120"/>
              </a:rPr>
              <a:t>la couleur sert à mettre en évidence, pas à décorer</a:t>
            </a:r>
            <a:endParaRPr lang="en-US" sz="2000" dirty="0"/>
          </a:p>
          <a:p>
            <a:pPr marL="254000" indent="-254000">
              <a:spcAft>
                <a:spcPts val="800"/>
              </a:spcAft>
              <a:buSzPct val="100000"/>
              <a:buChar char="•"/>
            </a:pPr>
            <a:r>
              <a:rPr lang="en-US" sz="2000" dirty="0">
                <a:solidFill>
                  <a:srgbClr val="1F2933"/>
                </a:solidFill>
                <a:latin typeface="Calibri" pitchFamily="34" charset="0"/>
                <a:ea typeface="Calibri" pitchFamily="34" charset="-122"/>
                <a:cs typeface="Calibri" pitchFamily="34" charset="-120"/>
              </a:rPr>
              <a:t>la palette est lisible par les daltoniens</a:t>
            </a:r>
            <a:endParaRPr lang="en-US" sz="2000" dirty="0"/>
          </a:p>
        </p:txBody>
      </p:sp>
      <p:sp>
        <p:nvSpPr>
          <p:cNvPr id="8" name="Shape 6"/>
          <p:cNvSpPr/>
          <p:nvPr/>
        </p:nvSpPr>
        <p:spPr>
          <a:xfrm>
            <a:off x="548640" y="4861560"/>
            <a:ext cx="11094415" cy="624840"/>
          </a:xfrm>
          <a:prstGeom prst="roundRect">
            <a:avLst>
              <a:gd name="adj" fmla="val 8780"/>
            </a:avLst>
          </a:prstGeom>
          <a:solidFill>
            <a:srgbClr val="E8F3EE"/>
          </a:solidFill>
          <a:ln/>
        </p:spPr>
      </p:sp>
      <p:sp>
        <p:nvSpPr>
          <p:cNvPr id="9" name="Text 7"/>
          <p:cNvSpPr txBox="1"/>
          <p:nvPr/>
        </p:nvSpPr>
        <p:spPr>
          <a:xfrm>
            <a:off x="822960" y="4861560"/>
            <a:ext cx="10545775" cy="624840"/>
          </a:xfrm>
          <a:prstGeom prst="rect">
            <a:avLst/>
          </a:prstGeom>
          <a:noFill/>
          <a:ln/>
        </p:spPr>
        <p:txBody>
          <a:bodyPr wrap="square" lIns="0" tIns="0" rIns="0" bIns="0" rtlCol="0" anchor="ctr"/>
          <a:lstStyle/>
          <a:p>
            <a:pPr indent="0" marL="0">
              <a:buNone/>
            </a:pPr>
            <a:r>
              <a:rPr lang="en-US" sz="1700" dirty="0">
                <a:solidFill>
                  <a:srgbClr val="1F3A5F"/>
                </a:solidFill>
                <a:latin typeface="Calibri" pitchFamily="34" charset="0"/>
                <a:ea typeface="Calibri" pitchFamily="34" charset="-122"/>
                <a:cs typeface="Calibri" pitchFamily="34" charset="-120"/>
              </a:rPr>
              <a:t>La même liste figure en tête de la partie 5 du notebook.</a:t>
            </a:r>
            <a:endParaRPr lang="en-US" sz="1700" dirty="0"/>
          </a:p>
        </p:txBody>
      </p:sp>
      <p:sp>
        <p:nvSpPr>
          <p:cNvPr id="10" name="Text 8"/>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Analyse de données avec Python   |   Jour 2, après-midi</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b="0"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66928"/>
            <a:ext cx="475488" cy="475488"/>
          </a:xfrm>
          <a:prstGeom prst="ellipse">
            <a:avLst/>
          </a:prstGeom>
          <a:solidFill>
            <a:srgbClr val="2F7D62"/>
          </a:solidFill>
          <a:ln/>
        </p:spPr>
      </p:sp>
      <p:sp>
        <p:nvSpPr>
          <p:cNvPr id="3" name="Text 1"/>
          <p:cNvSpPr txBox="1"/>
          <p:nvPr/>
        </p:nvSpPr>
        <p:spPr>
          <a:xfrm>
            <a:off x="548640" y="566928"/>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6</a:t>
            </a:r>
            <a:endParaRPr lang="en-US" sz="1600" dirty="0"/>
          </a:p>
        </p:txBody>
      </p:sp>
      <p:sp>
        <p:nvSpPr>
          <p:cNvPr id="4" name="Text 2"/>
          <p:cNvSpPr txBox="1"/>
          <p:nvPr/>
        </p:nvSpPr>
        <p:spPr>
          <a:xfrm>
            <a:off x="1280160" y="164592"/>
            <a:ext cx="10362895" cy="274320"/>
          </a:xfrm>
          <a:prstGeom prst="rect">
            <a:avLst/>
          </a:prstGeom>
          <a:noFill/>
          <a:ln/>
        </p:spPr>
        <p:txBody>
          <a:bodyPr wrap="square" lIns="0" tIns="0" rIns="0" bIns="0" rtlCol="0" anchor="ctr"/>
          <a:lstStyle/>
          <a:p>
            <a:pPr indent="0" marL="0">
              <a:buNone/>
            </a:pPr>
            <a:r>
              <a:rPr lang="en-US" sz="1200" b="1" spc="200" kern="0" dirty="0">
                <a:solidFill>
                  <a:srgbClr val="2F7D62"/>
                </a:solidFill>
                <a:latin typeface="Calibri" pitchFamily="34" charset="0"/>
                <a:ea typeface="Calibri" pitchFamily="34" charset="-122"/>
                <a:cs typeface="Calibri" pitchFamily="34" charset="-120"/>
              </a:rPr>
              <a:t>CONSTRUIRE UN TABLEAU DE BORD</a:t>
            </a:r>
            <a:endParaRPr lang="en-US" sz="1200" dirty="0"/>
          </a:p>
        </p:txBody>
      </p:sp>
      <p:sp>
        <p:nvSpPr>
          <p:cNvPr id="5" name="Text 3"/>
          <p:cNvSpPr txBox="1"/>
          <p:nvPr/>
        </p:nvSpPr>
        <p:spPr>
          <a:xfrm>
            <a:off x="1280160" y="457200"/>
            <a:ext cx="10362895" cy="694944"/>
          </a:xfrm>
          <a:prstGeom prst="rect">
            <a:avLst/>
          </a:prstGeom>
          <a:noFill/>
          <a:ln/>
        </p:spPr>
        <p:txBody>
          <a:bodyPr wrap="square" lIns="0" tIns="0" rIns="0" bIns="0" rtlCol="0" anchor="ctr"/>
          <a:lstStyle/>
          <a:p>
            <a:pPr indent="0" marL="0">
              <a:buNone/>
            </a:pPr>
            <a:r>
              <a:rPr lang="en-US" sz="3000" b="1" dirty="0">
                <a:solidFill>
                  <a:srgbClr val="1F3A5F"/>
                </a:solidFill>
                <a:latin typeface="Cambria" pitchFamily="34" charset="0"/>
                <a:ea typeface="Cambria" pitchFamily="34" charset="-122"/>
                <a:cs typeface="Cambria" pitchFamily="34" charset="-120"/>
              </a:rPr>
              <a:t>Pratique : TP4, partie 5</a:t>
            </a:r>
            <a:endParaRPr lang="en-US" sz="3000" dirty="0"/>
          </a:p>
        </p:txBody>
      </p:sp>
      <p:sp>
        <p:nvSpPr>
          <p:cNvPr id="6" name="Text 4"/>
          <p:cNvSpPr txBox="1"/>
          <p:nvPr/>
        </p:nvSpPr>
        <p:spPr>
          <a:xfrm>
            <a:off x="548640" y="1417320"/>
            <a:ext cx="11094415" cy="411480"/>
          </a:xfrm>
          <a:prstGeom prst="rect">
            <a:avLst/>
          </a:prstGeom>
          <a:noFill/>
          <a:ln/>
        </p:spPr>
        <p:txBody>
          <a:bodyPr wrap="square" lIns="0" tIns="0" rIns="0" bIns="0" rtlCol="0" anchor="t"/>
          <a:lstStyle/>
          <a:p>
            <a:pPr indent="0" marL="0">
              <a:buNone/>
            </a:pPr>
            <a:r>
              <a:rPr lang="en-US" sz="1800" dirty="0">
                <a:solidFill>
                  <a:srgbClr val="6B7280"/>
                </a:solidFill>
                <a:latin typeface="Calibri" pitchFamily="34" charset="0"/>
                <a:ea typeface="Calibri" pitchFamily="34" charset="-122"/>
                <a:cs typeface="Calibri" pitchFamily="34" charset="-120"/>
              </a:rPr>
              <a:t>4 à 5 graphiques qui racontent l'activité de janvier à septembre 2025 à la direction</a:t>
            </a:r>
            <a:endParaRPr lang="en-US" sz="1800" dirty="0"/>
          </a:p>
        </p:txBody>
      </p:sp>
      <p:graphicFrame>
        <p:nvGraphicFramePr>
          <p:cNvPr id="53" name="Table 0"/>
          <p:cNvGraphicFramePr>
            <a:graphicFrameLocks noGrp="1"/>
          </p:cNvGraphicFramePr>
          <p:nvPr>
            <p:extLst>
              <p:ext uri="{D42A27DB-BD31-4B8C-83A1-F6EECF244321}">
                <p14:modId xmlns:p14="http://schemas.microsoft.com/office/powerpoint/2010/main" val="1579011935"/>
              </p:ext>
            </p:extLst>
          </p:nvPr>
        </p:nvGraphicFramePr>
        <p:xfrm>
          <a:off x="548640" y="2011680"/>
          <a:ext cx="11094415" cy="914400"/>
        </p:xfrm>
        <a:graphic>
          <a:graphicData uri="http://schemas.openxmlformats.org/drawingml/2006/table">
            <a:tbl>
              <a:tblPr/>
              <a:tblGrid>
                <a:gridCol w="2098943"/>
                <a:gridCol w="8995472"/>
              </a:tblGrid>
              <a:tr h="365379">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Graphique</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1F3A5F"/>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La question de la direction</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1F3A5F"/>
                    </a:solidFill>
                  </a:tcPr>
                </a:tc>
              </a:tr>
              <a:tr h="365379">
                <a:tc>
                  <a:txBody>
                    <a:bodyPr/>
                    <a:lstStyle/>
                    <a:p>
                      <a:pPr indent="0" marL="0">
                        <a:buNone/>
                      </a:pPr>
                      <a:r>
                        <a:rPr lang="en-US" sz="1500" dirty="0">
                          <a:solidFill>
                            <a:srgbClr val="1F2933"/>
                          </a:solidFill>
                          <a:latin typeface="Calibri" pitchFamily="34" charset="0"/>
                          <a:ea typeface="Calibri" pitchFamily="34" charset="-122"/>
                          <a:cs typeface="Calibri" pitchFamily="34" charset="-120"/>
                        </a:rPr>
                        <a:t>1</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500" dirty="0">
                          <a:solidFill>
                            <a:srgbClr val="1F2933"/>
                          </a:solidFill>
                          <a:latin typeface="Calibri" pitchFamily="34" charset="0"/>
                          <a:ea typeface="Calibri" pitchFamily="34" charset="-122"/>
                          <a:cs typeface="Calibri" pitchFamily="34" charset="-120"/>
                        </a:rPr>
                        <a:t>Comment le chiffre d'affaires a-t-il évolué depuis janvier ?</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r>
              <a:tr h="365379">
                <a:tc>
                  <a:txBody>
                    <a:bodyPr/>
                    <a:lstStyle/>
                    <a:p>
                      <a:pPr indent="0" marL="0">
                        <a:buNone/>
                      </a:pPr>
                      <a:r>
                        <a:rPr lang="en-US" sz="1500" dirty="0">
                          <a:solidFill>
                            <a:srgbClr val="1F2933"/>
                          </a:solidFill>
                          <a:latin typeface="Calibri" pitchFamily="34" charset="0"/>
                          <a:ea typeface="Calibri" pitchFamily="34" charset="-122"/>
                          <a:cs typeface="Calibri" pitchFamily="34" charset="-120"/>
                        </a:rPr>
                        <a:t>2</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7F9FB"/>
                    </a:solidFill>
                  </a:tcPr>
                </a:tc>
                <a:tc>
                  <a:txBody>
                    <a:bodyPr/>
                    <a:lstStyle/>
                    <a:p>
                      <a:pPr indent="0" marL="0">
                        <a:buNone/>
                      </a:pPr>
                      <a:r>
                        <a:rPr lang="en-US" sz="1500" dirty="0">
                          <a:solidFill>
                            <a:srgbClr val="1F2933"/>
                          </a:solidFill>
                          <a:latin typeface="Calibri" pitchFamily="34" charset="0"/>
                          <a:ea typeface="Calibri" pitchFamily="34" charset="-122"/>
                          <a:cs typeface="Calibri" pitchFamily="34" charset="-120"/>
                        </a:rPr>
                        <a:t>Quelles régions portent l'activité ?</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7F9FB"/>
                    </a:solidFill>
                  </a:tcPr>
                </a:tc>
              </a:tr>
              <a:tr h="365379">
                <a:tc>
                  <a:txBody>
                    <a:bodyPr/>
                    <a:lstStyle/>
                    <a:p>
                      <a:pPr indent="0" marL="0">
                        <a:buNone/>
                      </a:pPr>
                      <a:r>
                        <a:rPr lang="en-US" sz="1500" dirty="0">
                          <a:solidFill>
                            <a:srgbClr val="1F2933"/>
                          </a:solidFill>
                          <a:latin typeface="Calibri" pitchFamily="34" charset="0"/>
                          <a:ea typeface="Calibri" pitchFamily="34" charset="-122"/>
                          <a:cs typeface="Calibri" pitchFamily="34" charset="-120"/>
                        </a:rPr>
                        <a:t>3</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500" dirty="0">
                          <a:solidFill>
                            <a:srgbClr val="1F2933"/>
                          </a:solidFill>
                          <a:latin typeface="Calibri" pitchFamily="34" charset="0"/>
                          <a:ea typeface="Calibri" pitchFamily="34" charset="-122"/>
                          <a:cs typeface="Calibri" pitchFamily="34" charset="-120"/>
                        </a:rPr>
                        <a:t>Les régions atteignent-elles leurs objectifs ?</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r>
              <a:tr h="584454">
                <a:tc>
                  <a:txBody>
                    <a:bodyPr/>
                    <a:lstStyle/>
                    <a:p>
                      <a:pPr indent="0" marL="0">
                        <a:buNone/>
                      </a:pPr>
                      <a:r>
                        <a:rPr lang="en-US" sz="1500" dirty="0">
                          <a:solidFill>
                            <a:srgbClr val="1F2933"/>
                          </a:solidFill>
                          <a:latin typeface="Calibri" pitchFamily="34" charset="0"/>
                          <a:ea typeface="Calibri" pitchFamily="34" charset="-122"/>
                          <a:cs typeface="Calibri" pitchFamily="34" charset="-120"/>
                        </a:rPr>
                        <a:t>4</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7F9FB"/>
                    </a:solidFill>
                  </a:tcPr>
                </a:tc>
                <a:tc>
                  <a:txBody>
                    <a:bodyPr/>
                    <a:lstStyle/>
                    <a:p>
                      <a:pPr indent="0" marL="0">
                        <a:buNone/>
                      </a:pPr>
                      <a:r>
                        <a:rPr lang="en-US" sz="1500" dirty="0">
                          <a:solidFill>
                            <a:srgbClr val="1F2933"/>
                          </a:solidFill>
                          <a:latin typeface="Calibri" pitchFamily="34" charset="0"/>
                          <a:ea typeface="Calibri" pitchFamily="34" charset="-122"/>
                          <a:cs typeface="Calibri" pitchFamily="34" charset="-120"/>
                        </a:rPr>
                        <a:t>Comment chaque région a-t-elle évolué mois après mois ? Le graphique interactif principal, exporté en </a:t>
                      </a:r>
                      <a:pPr indent="0" marL="0">
                        <a:buNone/>
                      </a:pPr>
                      <a:r>
                        <a:rPr lang="en-US" sz="1500" dirty="0">
                          <a:solidFill>
                            <a:srgbClr val="1F3A5F"/>
                          </a:solidFill>
                          <a:latin typeface="Courier New" pitchFamily="34" charset="0"/>
                          <a:ea typeface="Courier New" pitchFamily="34" charset="-122"/>
                          <a:cs typeface="Courier New" pitchFamily="34" charset="-120"/>
                        </a:rPr>
                        <a:t>ca_mensuel_regions.html</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7F9FB"/>
                    </a:solidFill>
                  </a:tcPr>
                </a:tc>
              </a:tr>
              <a:tr h="365379">
                <a:tc>
                  <a:txBody>
                    <a:bodyPr/>
                    <a:lstStyle/>
                    <a:p>
                      <a:pPr indent="0" marL="0">
                        <a:buNone/>
                      </a:pPr>
                      <a:r>
                        <a:rPr lang="en-US" sz="1500" dirty="0">
                          <a:solidFill>
                            <a:srgbClr val="1F2933"/>
                          </a:solidFill>
                          <a:latin typeface="Calibri" pitchFamily="34" charset="0"/>
                          <a:ea typeface="Calibri" pitchFamily="34" charset="-122"/>
                          <a:cs typeface="Calibri" pitchFamily="34" charset="-120"/>
                        </a:rPr>
                        <a:t>5, facultatif</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500" dirty="0">
                          <a:solidFill>
                            <a:srgbClr val="1F2933"/>
                          </a:solidFill>
                          <a:latin typeface="Calibri" pitchFamily="34" charset="0"/>
                          <a:ea typeface="Calibri" pitchFamily="34" charset="-122"/>
                          <a:cs typeface="Calibri" pitchFamily="34" charset="-120"/>
                        </a:rPr>
                        <a:t>Au choix, par exemple : quelles catégories font le chiffre d'affaires ?</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r>
            </a:tbl>
          </a:graphicData>
        </a:graphic>
      </p:graphicFrame>
      <p:sp>
        <p:nvSpPr>
          <p:cNvPr id="8" name="Shape 5"/>
          <p:cNvSpPr/>
          <p:nvPr/>
        </p:nvSpPr>
        <p:spPr>
          <a:xfrm>
            <a:off x="548640" y="4743069"/>
            <a:ext cx="11094415" cy="883920"/>
          </a:xfrm>
          <a:prstGeom prst="roundRect">
            <a:avLst>
              <a:gd name="adj" fmla="val 6207"/>
            </a:avLst>
          </a:prstGeom>
          <a:solidFill>
            <a:srgbClr val="E8F3EE"/>
          </a:solidFill>
          <a:ln/>
        </p:spPr>
      </p:sp>
      <p:sp>
        <p:nvSpPr>
          <p:cNvPr id="9" name="Text 6"/>
          <p:cNvSpPr txBox="1"/>
          <p:nvPr/>
        </p:nvSpPr>
        <p:spPr>
          <a:xfrm>
            <a:off x="822960" y="4743069"/>
            <a:ext cx="10545775" cy="883920"/>
          </a:xfrm>
          <a:prstGeom prst="rect">
            <a:avLst/>
          </a:prstGeom>
          <a:noFill/>
          <a:ln/>
        </p:spPr>
        <p:txBody>
          <a:bodyPr wrap="square" lIns="0" tIns="0" rIns="0" bIns="0" rtlCol="0" anchor="ctr"/>
          <a:lstStyle/>
          <a:p>
            <a:pPr indent="0" marL="0">
              <a:buNone/>
            </a:pPr>
            <a:r>
              <a:rPr lang="en-US" sz="1700" dirty="0">
                <a:solidFill>
                  <a:srgbClr val="1F3A5F"/>
                </a:solidFill>
                <a:latin typeface="Calibri" pitchFamily="34" charset="0"/>
                <a:ea typeface="Calibri" pitchFamily="34" charset="-122"/>
                <a:cs typeface="Calibri" pitchFamily="34" charset="-120"/>
              </a:rPr>
              <a:t>Pour chaque graphique : la question, le graphique, ce qu'on retient. Puis la liste de vérification.</a:t>
            </a:r>
            <a:endParaRPr lang="en-US" sz="1700" dirty="0"/>
          </a:p>
        </p:txBody>
      </p:sp>
      <p:sp>
        <p:nvSpPr>
          <p:cNvPr id="10" name="Text 7"/>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Analyse de données avec Python   |   Jour 2, après-midi</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b="0"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57200"/>
            <a:ext cx="11094415" cy="694944"/>
          </a:xfrm>
          <a:prstGeom prst="rect">
            <a:avLst/>
          </a:prstGeom>
          <a:noFill/>
          <a:ln/>
        </p:spPr>
        <p:txBody>
          <a:bodyPr wrap="square" lIns="0" tIns="0" rIns="0" bIns="0" rtlCol="0" anchor="ctr"/>
          <a:lstStyle/>
          <a:p>
            <a:pPr indent="0" marL="0">
              <a:buNone/>
            </a:pPr>
            <a:r>
              <a:rPr lang="en-US" sz="3000" b="1" dirty="0">
                <a:solidFill>
                  <a:srgbClr val="1F3A5F"/>
                </a:solidFill>
                <a:latin typeface="Cambria" pitchFamily="34" charset="0"/>
                <a:ea typeface="Cambria" pitchFamily="34" charset="-122"/>
                <a:cs typeface="Cambria" pitchFamily="34" charset="-120"/>
              </a:rPr>
              <a:t>TP4 : tableau de bord d'indicateurs</a:t>
            </a:r>
            <a:endParaRPr lang="en-US" sz="3000" dirty="0"/>
          </a:p>
        </p:txBody>
      </p:sp>
      <p:sp>
        <p:nvSpPr>
          <p:cNvPr id="3" name="Text 1"/>
          <p:cNvSpPr txBox="1"/>
          <p:nvPr/>
        </p:nvSpPr>
        <p:spPr>
          <a:xfrm>
            <a:off x="548640" y="1417320"/>
            <a:ext cx="11094415" cy="411480"/>
          </a:xfrm>
          <a:prstGeom prst="rect">
            <a:avLst/>
          </a:prstGeom>
          <a:noFill/>
          <a:ln/>
        </p:spPr>
        <p:txBody>
          <a:bodyPr wrap="square" lIns="0" tIns="0" rIns="0" bIns="0" rtlCol="0" anchor="t"/>
          <a:lstStyle/>
          <a:p>
            <a:pPr indent="0" marL="0">
              <a:buNone/>
            </a:pPr>
            <a:r>
              <a:rPr lang="en-US" sz="1800" dirty="0">
                <a:solidFill>
                  <a:srgbClr val="6B7280"/>
                </a:solidFill>
                <a:latin typeface="Calibri" pitchFamily="34" charset="0"/>
                <a:ea typeface="Calibri" pitchFamily="34" charset="-122"/>
                <a:cs typeface="Calibri" pitchFamily="34" charset="-120"/>
              </a:rPr>
              <a:t>Dans exercices/tp04-tableau-de-bord/tp04.ipynb, parties 0 à 5, au fil de l'après-midi</a:t>
            </a:r>
            <a:endParaRPr lang="en-US" sz="1800" dirty="0"/>
          </a:p>
        </p:txBody>
      </p:sp>
      <p:sp>
        <p:nvSpPr>
          <p:cNvPr id="4" name="Shape 2"/>
          <p:cNvSpPr/>
          <p:nvPr/>
        </p:nvSpPr>
        <p:spPr>
          <a:xfrm>
            <a:off x="548640" y="2011680"/>
            <a:ext cx="3515258" cy="2331720"/>
          </a:xfrm>
          <a:prstGeom prst="roundRect">
            <a:avLst>
              <a:gd name="adj" fmla="val 3137"/>
            </a:avLst>
          </a:prstGeom>
          <a:solidFill>
            <a:srgbClr val="EEF3F7"/>
          </a:solidFill>
          <a:ln/>
        </p:spPr>
      </p:sp>
      <p:sp>
        <p:nvSpPr>
          <p:cNvPr id="5" name="Shape 3"/>
          <p:cNvSpPr/>
          <p:nvPr/>
        </p:nvSpPr>
        <p:spPr>
          <a:xfrm>
            <a:off x="777240" y="2286000"/>
            <a:ext cx="402336" cy="402336"/>
          </a:xfrm>
          <a:prstGeom prst="ellipse">
            <a:avLst/>
          </a:prstGeom>
          <a:solidFill>
            <a:srgbClr val="2F7D62"/>
          </a:solidFill>
          <a:ln/>
        </p:spPr>
      </p:sp>
      <p:sp>
        <p:nvSpPr>
          <p:cNvPr id="6" name="Text 4"/>
          <p:cNvSpPr txBox="1"/>
          <p:nvPr/>
        </p:nvSpPr>
        <p:spPr>
          <a:xfrm>
            <a:off x="777240" y="2286000"/>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7" name="Text 5"/>
          <p:cNvSpPr txBox="1"/>
          <p:nvPr/>
        </p:nvSpPr>
        <p:spPr>
          <a:xfrm>
            <a:off x="777240" y="2834640"/>
            <a:ext cx="3058058" cy="274320"/>
          </a:xfrm>
          <a:prstGeom prst="rect">
            <a:avLst/>
          </a:prstGeom>
          <a:noFill/>
          <a:ln/>
        </p:spPr>
        <p:txBody>
          <a:bodyPr wrap="square" lIns="0" tIns="0" rIns="0" bIns="0" rtlCol="0" anchor="t"/>
          <a:lstStyle/>
          <a:p>
            <a:pPr indent="0" marL="0">
              <a:buNone/>
            </a:pPr>
            <a:r>
              <a:rPr lang="en-US" sz="1800" b="1" dirty="0">
                <a:solidFill>
                  <a:srgbClr val="1F3A5F"/>
                </a:solidFill>
                <a:latin typeface="Calibri" pitchFamily="34" charset="0"/>
                <a:ea typeface="Calibri" pitchFamily="34" charset="-122"/>
                <a:cs typeface="Calibri" pitchFamily="34" charset="-120"/>
              </a:rPr>
              <a:t>S'exercer</a:t>
            </a:r>
            <a:endParaRPr lang="en-US" sz="1800" dirty="0"/>
          </a:p>
        </p:txBody>
      </p:sp>
      <p:sp>
        <p:nvSpPr>
          <p:cNvPr id="8" name="Text 6"/>
          <p:cNvSpPr txBox="1"/>
          <p:nvPr/>
        </p:nvSpPr>
        <p:spPr>
          <a:xfrm>
            <a:off x="777240" y="3200400"/>
            <a:ext cx="3058058" cy="960120"/>
          </a:xfrm>
          <a:prstGeom prst="rect">
            <a:avLst/>
          </a:prstGeom>
          <a:noFill/>
          <a:ln/>
        </p:spPr>
        <p:txBody>
          <a:bodyPr wrap="square" lIns="0" tIns="0" rIns="0" bIns="0" rtlCol="0" anchor="t"/>
          <a:lstStyle/>
          <a:p>
            <a:pPr indent="0" marL="0">
              <a:buNone/>
            </a:pPr>
            <a:r>
              <a:rPr lang="en-US" sz="1500" dirty="0">
                <a:solidFill>
                  <a:srgbClr val="1F2933"/>
                </a:solidFill>
                <a:latin typeface="Calibri" pitchFamily="34" charset="0"/>
                <a:ea typeface="Calibri" pitchFamily="34" charset="-122"/>
                <a:cs typeface="Calibri" pitchFamily="34" charset="-120"/>
              </a:rPr>
              <a:t>Parties 0 à 4 : des graphiques guidés avec matplotlib, seaborn et plotly, puis des graphiques trompeurs à corriger.</a:t>
            </a:r>
            <a:endParaRPr lang="en-US" sz="1500" dirty="0"/>
          </a:p>
        </p:txBody>
      </p:sp>
      <p:sp>
        <p:nvSpPr>
          <p:cNvPr id="9" name="Shape 7"/>
          <p:cNvSpPr/>
          <p:nvPr/>
        </p:nvSpPr>
        <p:spPr>
          <a:xfrm>
            <a:off x="4338218" y="2011680"/>
            <a:ext cx="3515258" cy="2331720"/>
          </a:xfrm>
          <a:prstGeom prst="roundRect">
            <a:avLst>
              <a:gd name="adj" fmla="val 3137"/>
            </a:avLst>
          </a:prstGeom>
          <a:solidFill>
            <a:srgbClr val="EEF3F7"/>
          </a:solidFill>
          <a:ln/>
        </p:spPr>
      </p:sp>
      <p:sp>
        <p:nvSpPr>
          <p:cNvPr id="10" name="Shape 8"/>
          <p:cNvSpPr/>
          <p:nvPr/>
        </p:nvSpPr>
        <p:spPr>
          <a:xfrm>
            <a:off x="4566818" y="2286000"/>
            <a:ext cx="402336" cy="402336"/>
          </a:xfrm>
          <a:prstGeom prst="ellipse">
            <a:avLst/>
          </a:prstGeom>
          <a:solidFill>
            <a:srgbClr val="2F7D62"/>
          </a:solidFill>
          <a:ln/>
        </p:spPr>
      </p:sp>
      <p:sp>
        <p:nvSpPr>
          <p:cNvPr id="11" name="Text 9"/>
          <p:cNvSpPr txBox="1"/>
          <p:nvPr/>
        </p:nvSpPr>
        <p:spPr>
          <a:xfrm>
            <a:off x="4566818" y="2286000"/>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2" name="Text 10"/>
          <p:cNvSpPr txBox="1"/>
          <p:nvPr/>
        </p:nvSpPr>
        <p:spPr>
          <a:xfrm>
            <a:off x="4566818" y="2834640"/>
            <a:ext cx="3058058" cy="274320"/>
          </a:xfrm>
          <a:prstGeom prst="rect">
            <a:avLst/>
          </a:prstGeom>
          <a:noFill/>
          <a:ln/>
        </p:spPr>
        <p:txBody>
          <a:bodyPr wrap="square" lIns="0" tIns="0" rIns="0" bIns="0" rtlCol="0" anchor="t"/>
          <a:lstStyle/>
          <a:p>
            <a:pPr indent="0" marL="0">
              <a:buNone/>
            </a:pPr>
            <a:r>
              <a:rPr lang="en-US" sz="1800" b="1" dirty="0">
                <a:solidFill>
                  <a:srgbClr val="1F3A5F"/>
                </a:solidFill>
                <a:latin typeface="Calibri" pitchFamily="34" charset="0"/>
                <a:ea typeface="Calibri" pitchFamily="34" charset="-122"/>
                <a:cs typeface="Calibri" pitchFamily="34" charset="-120"/>
              </a:rPr>
              <a:t>Composer</a:t>
            </a:r>
            <a:endParaRPr lang="en-US" sz="1800" dirty="0"/>
          </a:p>
        </p:txBody>
      </p:sp>
      <p:sp>
        <p:nvSpPr>
          <p:cNvPr id="13" name="Text 11"/>
          <p:cNvSpPr txBox="1"/>
          <p:nvPr/>
        </p:nvSpPr>
        <p:spPr>
          <a:xfrm>
            <a:off x="4566818" y="3200400"/>
            <a:ext cx="3058058" cy="960120"/>
          </a:xfrm>
          <a:prstGeom prst="rect">
            <a:avLst/>
          </a:prstGeom>
          <a:noFill/>
          <a:ln/>
        </p:spPr>
        <p:txBody>
          <a:bodyPr wrap="square" lIns="0" tIns="0" rIns="0" bIns="0" rtlCol="0" anchor="t"/>
          <a:lstStyle/>
          <a:p>
            <a:pPr indent="0" marL="0">
              <a:buNone/>
            </a:pPr>
            <a:r>
              <a:rPr lang="en-US" sz="1500" dirty="0">
                <a:solidFill>
                  <a:srgbClr val="1F2933"/>
                </a:solidFill>
                <a:latin typeface="Calibri" pitchFamily="34" charset="0"/>
                <a:ea typeface="Calibri" pitchFamily="34" charset="-122"/>
                <a:cs typeface="Calibri" pitchFamily="34" charset="-120"/>
              </a:rPr>
              <a:t>Partie 5 : 4 à 5 graphiques commentés, dont au moins un avec seaborn et un interactif avec plotly.</a:t>
            </a:r>
            <a:endParaRPr lang="en-US" sz="1500" dirty="0"/>
          </a:p>
        </p:txBody>
      </p:sp>
      <p:sp>
        <p:nvSpPr>
          <p:cNvPr id="14" name="Shape 12"/>
          <p:cNvSpPr/>
          <p:nvPr/>
        </p:nvSpPr>
        <p:spPr>
          <a:xfrm>
            <a:off x="8127797" y="2011680"/>
            <a:ext cx="3515258" cy="2331720"/>
          </a:xfrm>
          <a:prstGeom prst="roundRect">
            <a:avLst>
              <a:gd name="adj" fmla="val 3137"/>
            </a:avLst>
          </a:prstGeom>
          <a:solidFill>
            <a:srgbClr val="EEF3F7"/>
          </a:solidFill>
          <a:ln/>
        </p:spPr>
      </p:sp>
      <p:sp>
        <p:nvSpPr>
          <p:cNvPr id="15" name="Shape 13"/>
          <p:cNvSpPr/>
          <p:nvPr/>
        </p:nvSpPr>
        <p:spPr>
          <a:xfrm>
            <a:off x="8356397" y="2286000"/>
            <a:ext cx="402336" cy="402336"/>
          </a:xfrm>
          <a:prstGeom prst="ellipse">
            <a:avLst/>
          </a:prstGeom>
          <a:solidFill>
            <a:srgbClr val="2F7D62"/>
          </a:solidFill>
          <a:ln/>
        </p:spPr>
      </p:sp>
      <p:sp>
        <p:nvSpPr>
          <p:cNvPr id="16" name="Text 14"/>
          <p:cNvSpPr txBox="1"/>
          <p:nvPr/>
        </p:nvSpPr>
        <p:spPr>
          <a:xfrm>
            <a:off x="8356397" y="2286000"/>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7" name="Text 15"/>
          <p:cNvSpPr txBox="1"/>
          <p:nvPr/>
        </p:nvSpPr>
        <p:spPr>
          <a:xfrm>
            <a:off x="8356397" y="2834640"/>
            <a:ext cx="3058058" cy="274320"/>
          </a:xfrm>
          <a:prstGeom prst="rect">
            <a:avLst/>
          </a:prstGeom>
          <a:noFill/>
          <a:ln/>
        </p:spPr>
        <p:txBody>
          <a:bodyPr wrap="square" lIns="0" tIns="0" rIns="0" bIns="0" rtlCol="0" anchor="t"/>
          <a:lstStyle/>
          <a:p>
            <a:pPr indent="0" marL="0">
              <a:buNone/>
            </a:pPr>
            <a:r>
              <a:rPr lang="en-US" sz="1800" b="1" dirty="0">
                <a:solidFill>
                  <a:srgbClr val="1F3A5F"/>
                </a:solidFill>
                <a:latin typeface="Calibri" pitchFamily="34" charset="0"/>
                <a:ea typeface="Calibri" pitchFamily="34" charset="-122"/>
                <a:cs typeface="Calibri" pitchFamily="34" charset="-120"/>
              </a:rPr>
              <a:t>Livrer</a:t>
            </a:r>
            <a:endParaRPr lang="en-US" sz="1800" dirty="0"/>
          </a:p>
        </p:txBody>
      </p:sp>
      <p:sp>
        <p:nvSpPr>
          <p:cNvPr id="18" name="Text 16"/>
          <p:cNvSpPr txBox="1"/>
          <p:nvPr/>
        </p:nvSpPr>
        <p:spPr>
          <a:xfrm>
            <a:off x="8356397" y="3200400"/>
            <a:ext cx="3058058" cy="960120"/>
          </a:xfrm>
          <a:prstGeom prst="rect">
            <a:avLst/>
          </a:prstGeom>
          <a:noFill/>
          <a:ln/>
        </p:spPr>
        <p:txBody>
          <a:bodyPr wrap="square" lIns="0" tIns="0" rIns="0" bIns="0" rtlCol="0" anchor="t"/>
          <a:lstStyle/>
          <a:p>
            <a:pPr indent="0" marL="0">
              <a:buNone/>
            </a:pPr>
            <a:r>
              <a:rPr lang="en-US" sz="1500" dirty="0">
                <a:solidFill>
                  <a:srgbClr val="1F2933"/>
                </a:solidFill>
                <a:latin typeface="Calibri" pitchFamily="34" charset="0"/>
                <a:ea typeface="Calibri" pitchFamily="34" charset="-122"/>
                <a:cs typeface="Calibri" pitchFamily="34" charset="-120"/>
              </a:rPr>
              <a:t>Le notebook de restitution, l'export HTML du graphique interactif principal et la figure </a:t>
            </a:r>
            <a:pPr indent="0" marL="0">
              <a:buNone/>
            </a:pPr>
            <a:r>
              <a:rPr lang="en-US" sz="1500" dirty="0">
                <a:solidFill>
                  <a:srgbClr val="1F3A5F"/>
                </a:solidFill>
                <a:latin typeface="Courier New" pitchFamily="34" charset="0"/>
                <a:ea typeface="Courier New" pitchFamily="34" charset="-122"/>
                <a:cs typeface="Courier New" pitchFamily="34" charset="-120"/>
              </a:rPr>
              <a:t>activite_mensuelle.png</a:t>
            </a:r>
            <a:pPr indent="0" marL="0">
              <a:buNone/>
            </a:pPr>
            <a:r>
              <a:rPr lang="en-US" sz="1500" dirty="0">
                <a:solidFill>
                  <a:srgbClr val="1F2933"/>
                </a:solidFill>
                <a:latin typeface="Calibri" pitchFamily="34" charset="0"/>
                <a:ea typeface="Calibri" pitchFamily="34" charset="-122"/>
                <a:cs typeface="Calibri" pitchFamily="34" charset="-120"/>
              </a:rPr>
              <a:t>.</a:t>
            </a:r>
            <a:endParaRPr lang="en-US" sz="1500" dirty="0"/>
          </a:p>
        </p:txBody>
      </p:sp>
      <p:sp>
        <p:nvSpPr>
          <p:cNvPr id="19" name="Shape 17"/>
          <p:cNvSpPr/>
          <p:nvPr/>
        </p:nvSpPr>
        <p:spPr>
          <a:xfrm>
            <a:off x="548640" y="4663440"/>
            <a:ext cx="11094415" cy="883920"/>
          </a:xfrm>
          <a:prstGeom prst="roundRect">
            <a:avLst>
              <a:gd name="adj" fmla="val 6207"/>
            </a:avLst>
          </a:prstGeom>
          <a:solidFill>
            <a:srgbClr val="E8F3EE"/>
          </a:solidFill>
          <a:ln/>
        </p:spPr>
      </p:sp>
      <p:sp>
        <p:nvSpPr>
          <p:cNvPr id="20" name="Text 18"/>
          <p:cNvSpPr txBox="1"/>
          <p:nvPr/>
        </p:nvSpPr>
        <p:spPr>
          <a:xfrm>
            <a:off x="822960" y="4663440"/>
            <a:ext cx="10545775" cy="883920"/>
          </a:xfrm>
          <a:prstGeom prst="rect">
            <a:avLst/>
          </a:prstGeom>
          <a:noFill/>
          <a:ln/>
        </p:spPr>
        <p:txBody>
          <a:bodyPr wrap="square" lIns="0" tIns="0" rIns="0" bIns="0" rtlCol="0" anchor="ctr"/>
          <a:lstStyle/>
          <a:p>
            <a:pPr indent="0" marL="0">
              <a:buNone/>
            </a:pPr>
            <a:r>
              <a:rPr lang="en-US" sz="1700" dirty="0">
                <a:solidFill>
                  <a:srgbClr val="1F3A5F"/>
                </a:solidFill>
                <a:latin typeface="Calibri" pitchFamily="34" charset="0"/>
                <a:ea typeface="Calibri" pitchFamily="34" charset="-122"/>
                <a:cs typeface="Calibri" pitchFamily="34" charset="-120"/>
              </a:rPr>
              <a:t>Pour chaque graphique, un </a:t>
            </a:r>
            <a:pPr indent="0" marL="0">
              <a:buNone/>
            </a:pPr>
            <a:r>
              <a:rPr lang="en-US" sz="1700" b="1" dirty="0">
                <a:solidFill>
                  <a:srgbClr val="1F3A5F"/>
                </a:solidFill>
                <a:latin typeface="Calibri" pitchFamily="34" charset="0"/>
                <a:ea typeface="Calibri" pitchFamily="34" charset="-122"/>
                <a:cs typeface="Calibri" pitchFamily="34" charset="-120"/>
              </a:rPr>
              <a:t>résultat attendu</a:t>
            </a:r>
            <a:pPr indent="0" marL="0">
              <a:buNone/>
            </a:pPr>
            <a:r>
              <a:rPr lang="en-US" sz="1700" dirty="0">
                <a:solidFill>
                  <a:srgbClr val="1F3A5F"/>
                </a:solidFill>
                <a:latin typeface="Calibri" pitchFamily="34" charset="0"/>
                <a:ea typeface="Calibri" pitchFamily="34" charset="-122"/>
                <a:cs typeface="Calibri" pitchFamily="34" charset="-120"/>
              </a:rPr>
              <a:t> à reproduire ; des cellules de </a:t>
            </a:r>
            <a:pPr indent="0" marL="0">
              <a:buNone/>
            </a:pPr>
            <a:r>
              <a:rPr lang="en-US" sz="1700" b="1" dirty="0">
                <a:solidFill>
                  <a:srgbClr val="1F3A5F"/>
                </a:solidFill>
                <a:latin typeface="Calibri" pitchFamily="34" charset="0"/>
                <a:ea typeface="Calibri" pitchFamily="34" charset="-122"/>
                <a:cs typeface="Calibri" pitchFamily="34" charset="-120"/>
              </a:rPr>
              <a:t>vérification</a:t>
            </a:r>
            <a:pPr indent="0" marL="0">
              <a:buNone/>
            </a:pPr>
            <a:r>
              <a:rPr lang="en-US" sz="1700" dirty="0">
                <a:solidFill>
                  <a:srgbClr val="1F3A5F"/>
                </a:solidFill>
                <a:latin typeface="Calibri" pitchFamily="34" charset="0"/>
                <a:ea typeface="Calibri" pitchFamily="34" charset="-122"/>
                <a:cs typeface="Calibri" pitchFamily="34" charset="-120"/>
              </a:rPr>
              <a:t> contrôlent les réponses avec </a:t>
            </a:r>
            <a:pPr indent="0" marL="0">
              <a:buNone/>
            </a:pPr>
            <a:r>
              <a:rPr lang="en-US" sz="1700" dirty="0">
                <a:solidFill>
                  <a:srgbClr val="2F7D62"/>
                </a:solidFill>
                <a:latin typeface="Courier New" pitchFamily="34" charset="0"/>
                <a:ea typeface="Courier New" pitchFamily="34" charset="-122"/>
                <a:cs typeface="Courier New" pitchFamily="34" charset="-120"/>
              </a:rPr>
              <a:t>assert</a:t>
            </a:r>
            <a:pPr indent="0" marL="0">
              <a:buNone/>
            </a:pPr>
            <a:r>
              <a:rPr lang="en-US" sz="1700" dirty="0">
                <a:solidFill>
                  <a:srgbClr val="1F3A5F"/>
                </a:solidFill>
                <a:latin typeface="Calibri" pitchFamily="34" charset="0"/>
                <a:ea typeface="Calibri" pitchFamily="34" charset="-122"/>
                <a:cs typeface="Calibri" pitchFamily="34" charset="-120"/>
              </a:rPr>
              <a:t>. Les questions </a:t>
            </a:r>
            <a:pPr indent="0" marL="0">
              <a:buNone/>
            </a:pPr>
            <a:r>
              <a:rPr lang="en-US" sz="1700" b="1" dirty="0">
                <a:solidFill>
                  <a:srgbClr val="1F3A5F"/>
                </a:solidFill>
                <a:latin typeface="Calibri" pitchFamily="34" charset="0"/>
                <a:ea typeface="Calibri" pitchFamily="34" charset="-122"/>
                <a:cs typeface="Calibri" pitchFamily="34" charset="-120"/>
              </a:rPr>
              <a:t>Pour aller plus loin</a:t>
            </a:r>
            <a:pPr indent="0" marL="0">
              <a:buNone/>
            </a:pPr>
            <a:r>
              <a:rPr lang="en-US" sz="1700" dirty="0">
                <a:solidFill>
                  <a:srgbClr val="1F3A5F"/>
                </a:solidFill>
                <a:latin typeface="Calibri" pitchFamily="34" charset="0"/>
                <a:ea typeface="Calibri" pitchFamily="34" charset="-122"/>
                <a:cs typeface="Calibri" pitchFamily="34" charset="-120"/>
              </a:rPr>
              <a:t> sont facultatives.</a:t>
            </a:r>
            <a:endParaRPr lang="en-US" sz="1700" dirty="0"/>
          </a:p>
        </p:txBody>
      </p:sp>
      <p:sp>
        <p:nvSpPr>
          <p:cNvPr id="21" name="Text 19"/>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Analyse de données avec Python   |   Jour 2, après-midi</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b="0"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1F3A5F"/>
        </a:solidFill>
      </p:bgPr>
    </p:bg>
    <p:spTree>
      <p:nvGrpSpPr>
        <p:cNvPr id="1" name=""/>
        <p:cNvGrpSpPr/>
        <p:nvPr/>
      </p:nvGrpSpPr>
      <p:grpSpPr>
        <a:xfrm>
          <a:off x="0" y="0"/>
          <a:ext cx="0" cy="0"/>
          <a:chOff x="0" y="0"/>
          <a:chExt cx="0" cy="0"/>
        </a:xfrm>
      </p:grpSpPr>
      <p:sp>
        <p:nvSpPr>
          <p:cNvPr id="2" name="Text 0"/>
          <p:cNvSpPr txBox="1"/>
          <p:nvPr/>
        </p:nvSpPr>
        <p:spPr>
          <a:xfrm>
            <a:off x="548640" y="457200"/>
            <a:ext cx="11094415" cy="73152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À retenir</a:t>
            </a:r>
            <a:endParaRPr lang="en-US" sz="3400" dirty="0"/>
          </a:p>
        </p:txBody>
      </p:sp>
      <p:sp>
        <p:nvSpPr>
          <p:cNvPr id="3" name="Text 1"/>
          <p:cNvSpPr txBox="1"/>
          <p:nvPr/>
        </p:nvSpPr>
        <p:spPr>
          <a:xfrm>
            <a:off x="548640" y="1417320"/>
            <a:ext cx="5272888" cy="4328160"/>
          </a:xfrm>
          <a:prstGeom prst="rect">
            <a:avLst/>
          </a:prstGeom>
          <a:noFill/>
          <a:ln/>
        </p:spPr>
        <p:txBody>
          <a:bodyPr wrap="square" lIns="0" tIns="0" rIns="0" bIns="0" rtlCol="0" anchor="t"/>
          <a:lstStyle/>
          <a:p>
            <a:pPr marL="254000" indent="-254000">
              <a:spcAft>
                <a:spcPts val="1200"/>
              </a:spcAft>
              <a:buSzPct val="100000"/>
              <a:buChar char="•"/>
            </a:pPr>
            <a:r>
              <a:rPr lang="en-US" sz="1600" dirty="0">
                <a:solidFill>
                  <a:srgbClr val="FFFFFF"/>
                </a:solidFill>
                <a:latin typeface="Calibri" pitchFamily="34" charset="0"/>
                <a:ea typeface="Calibri" pitchFamily="34" charset="-122"/>
                <a:cs typeface="Calibri" pitchFamily="34" charset="-120"/>
              </a:rPr>
              <a:t>Une </a:t>
            </a:r>
            <a:pPr indent="0" marL="0">
              <a:buNone/>
            </a:pPr>
            <a:r>
              <a:rPr lang="en-US" sz="1600" dirty="0">
                <a:solidFill>
                  <a:srgbClr val="8FD1B5"/>
                </a:solidFill>
                <a:latin typeface="Courier New" pitchFamily="34" charset="0"/>
                <a:ea typeface="Courier New" pitchFamily="34" charset="-122"/>
                <a:cs typeface="Courier New" pitchFamily="34" charset="-120"/>
              </a:rPr>
              <a:t>Figure</a:t>
            </a:r>
            <a:pPr indent="0" marL="0">
              <a:buNone/>
            </a:pPr>
            <a:r>
              <a:rPr lang="en-US" sz="1600" dirty="0">
                <a:solidFill>
                  <a:srgbClr val="FFFFFF"/>
                </a:solidFill>
                <a:latin typeface="Calibri" pitchFamily="34" charset="0"/>
                <a:ea typeface="Calibri" pitchFamily="34" charset="-122"/>
                <a:cs typeface="Calibri" pitchFamily="34" charset="-120"/>
              </a:rPr>
              <a:t>, un ou plusieurs </a:t>
            </a:r>
            <a:pPr indent="0" marL="0">
              <a:buNone/>
            </a:pPr>
            <a:r>
              <a:rPr lang="en-US" sz="1600" dirty="0">
                <a:solidFill>
                  <a:srgbClr val="8FD1B5"/>
                </a:solidFill>
                <a:latin typeface="Courier New" pitchFamily="34" charset="0"/>
                <a:ea typeface="Courier New" pitchFamily="34" charset="-122"/>
                <a:cs typeface="Courier New" pitchFamily="34" charset="-120"/>
              </a:rPr>
              <a:t>Axes</a:t>
            </a:r>
            <a:pPr indent="0" marL="0">
              <a:buNone/>
            </a:pPr>
            <a:r>
              <a:rPr lang="en-US" sz="1600" dirty="0">
                <a:solidFill>
                  <a:srgbClr val="FFFFFF"/>
                </a:solidFill>
                <a:latin typeface="Calibri" pitchFamily="34" charset="0"/>
                <a:ea typeface="Calibri" pitchFamily="34" charset="-122"/>
                <a:cs typeface="Calibri" pitchFamily="34" charset="-120"/>
              </a:rPr>
              <a:t> : </a:t>
            </a:r>
            <a:pPr indent="0" marL="0">
              <a:buNone/>
            </a:pPr>
            <a:r>
              <a:rPr lang="en-US" sz="1600" dirty="0">
                <a:solidFill>
                  <a:srgbClr val="8FD1B5"/>
                </a:solidFill>
                <a:latin typeface="Courier New" pitchFamily="34" charset="0"/>
                <a:ea typeface="Courier New" pitchFamily="34" charset="-122"/>
                <a:cs typeface="Courier New" pitchFamily="34" charset="-120"/>
              </a:rPr>
              <a:t>fig, ax = plt.subplots()</a:t>
            </a:r>
            <a:endParaRPr lang="en-US" sz="1600" dirty="0"/>
          </a:p>
          <a:p>
            <a:pPr marL="254000" indent="-254000">
              <a:spcAft>
                <a:spcPts val="1200"/>
              </a:spcAft>
              <a:buSzPct val="100000"/>
              <a:buChar char="•"/>
            </a:pPr>
            <a:r>
              <a:rPr lang="en-US" sz="1600" dirty="0">
                <a:solidFill>
                  <a:srgbClr val="FFFFFF"/>
                </a:solidFill>
                <a:latin typeface="Calibri" pitchFamily="34" charset="0"/>
                <a:ea typeface="Calibri" pitchFamily="34" charset="-122"/>
                <a:cs typeface="Calibri" pitchFamily="34" charset="-120"/>
              </a:rPr>
              <a:t>Titre, axes nommés avec unité, nombres lisibles avec </a:t>
            </a:r>
            <a:pPr indent="0" marL="0">
              <a:buNone/>
            </a:pPr>
            <a:r>
              <a:rPr lang="en-US" sz="1600" dirty="0">
                <a:solidFill>
                  <a:srgbClr val="8FD1B5"/>
                </a:solidFill>
                <a:latin typeface="Courier New" pitchFamily="34" charset="0"/>
                <a:ea typeface="Courier New" pitchFamily="34" charset="-122"/>
                <a:cs typeface="Courier New" pitchFamily="34" charset="-120"/>
              </a:rPr>
              <a:t>FuncFormatter</a:t>
            </a:r>
            <a:endParaRPr lang="en-US" sz="1600" dirty="0"/>
          </a:p>
          <a:p>
            <a:pPr marL="254000" indent="-254000">
              <a:spcAft>
                <a:spcPts val="1200"/>
              </a:spcAft>
              <a:buSzPct val="100000"/>
              <a:buChar char="•"/>
            </a:pPr>
            <a:r>
              <a:rPr lang="en-US" sz="1600" dirty="0">
                <a:solidFill>
                  <a:srgbClr val="8FD1B5"/>
                </a:solidFill>
                <a:latin typeface="Courier New" pitchFamily="34" charset="0"/>
                <a:ea typeface="Courier New" pitchFamily="34" charset="-122"/>
                <a:cs typeface="Courier New" pitchFamily="34" charset="-120"/>
              </a:rPr>
              <a:t>axhline</a:t>
            </a:r>
            <a:pPr indent="0" marL="0">
              <a:buNone/>
            </a:pPr>
            <a:r>
              <a:rPr lang="en-US" sz="1600" dirty="0">
                <a:solidFill>
                  <a:srgbClr val="FFFFFF"/>
                </a:solidFill>
                <a:latin typeface="Calibri" pitchFamily="34" charset="0"/>
                <a:ea typeface="Calibri" pitchFamily="34" charset="-122"/>
                <a:cs typeface="Calibri" pitchFamily="34" charset="-120"/>
              </a:rPr>
              <a:t>, </a:t>
            </a:r>
            <a:pPr indent="0" marL="0">
              <a:buNone/>
            </a:pPr>
            <a:r>
              <a:rPr lang="en-US" sz="1600" dirty="0">
                <a:solidFill>
                  <a:srgbClr val="8FD1B5"/>
                </a:solidFill>
                <a:latin typeface="Courier New" pitchFamily="34" charset="0"/>
                <a:ea typeface="Courier New" pitchFamily="34" charset="-122"/>
                <a:cs typeface="Courier New" pitchFamily="34" charset="-120"/>
              </a:rPr>
              <a:t>axvline</a:t>
            </a:r>
            <a:pPr indent="0" marL="0">
              <a:buNone/>
            </a:pPr>
            <a:r>
              <a:rPr lang="en-US" sz="1600" dirty="0">
                <a:solidFill>
                  <a:srgbClr val="FFFFFF"/>
                </a:solidFill>
                <a:latin typeface="Calibri" pitchFamily="34" charset="0"/>
                <a:ea typeface="Calibri" pitchFamily="34" charset="-122"/>
                <a:cs typeface="Calibri" pitchFamily="34" charset="-120"/>
              </a:rPr>
              <a:t> pour un repère, </a:t>
            </a:r>
            <a:pPr indent="0" marL="0">
              <a:buNone/>
            </a:pPr>
            <a:r>
              <a:rPr lang="en-US" sz="1600" dirty="0">
                <a:solidFill>
                  <a:srgbClr val="8FD1B5"/>
                </a:solidFill>
                <a:latin typeface="Courier New" pitchFamily="34" charset="0"/>
                <a:ea typeface="Courier New" pitchFamily="34" charset="-122"/>
                <a:cs typeface="Courier New" pitchFamily="34" charset="-120"/>
              </a:rPr>
              <a:t>bar_label</a:t>
            </a:r>
            <a:pPr indent="0" marL="0">
              <a:buNone/>
            </a:pPr>
            <a:r>
              <a:rPr lang="en-US" sz="1600" dirty="0">
                <a:solidFill>
                  <a:srgbClr val="FFFFFF"/>
                </a:solidFill>
                <a:latin typeface="Calibri" pitchFamily="34" charset="0"/>
                <a:ea typeface="Calibri" pitchFamily="34" charset="-122"/>
                <a:cs typeface="Calibri" pitchFamily="34" charset="-120"/>
              </a:rPr>
              <a:t>, </a:t>
            </a:r>
            <a:pPr indent="0" marL="0">
              <a:buNone/>
            </a:pPr>
            <a:r>
              <a:rPr lang="en-US" sz="1600" dirty="0">
                <a:solidFill>
                  <a:srgbClr val="8FD1B5"/>
                </a:solidFill>
                <a:latin typeface="Courier New" pitchFamily="34" charset="0"/>
                <a:ea typeface="Courier New" pitchFamily="34" charset="-122"/>
                <a:cs typeface="Courier New" pitchFamily="34" charset="-120"/>
              </a:rPr>
              <a:t>annotate</a:t>
            </a:r>
            <a:endParaRPr lang="en-US" sz="1600" dirty="0"/>
          </a:p>
          <a:p>
            <a:pPr marL="254000" indent="-254000">
              <a:spcAft>
                <a:spcPts val="1200"/>
              </a:spcAft>
              <a:buSzPct val="100000"/>
              <a:buChar char="•"/>
            </a:pPr>
            <a:r>
              <a:rPr lang="en-US" sz="1600" dirty="0">
                <a:solidFill>
                  <a:srgbClr val="8FD1B5"/>
                </a:solidFill>
                <a:latin typeface="Courier New" pitchFamily="34" charset="0"/>
                <a:ea typeface="Courier New" pitchFamily="34" charset="-122"/>
                <a:cs typeface="Courier New" pitchFamily="34" charset="-120"/>
              </a:rPr>
              <a:t>plt.subplots(2, 2, sharey=True)</a:t>
            </a:r>
            <a:pPr indent="0" marL="0">
              <a:buNone/>
            </a:pPr>
            <a:r>
              <a:rPr lang="en-US" sz="1600" dirty="0">
                <a:solidFill>
                  <a:srgbClr val="FFFFFF"/>
                </a:solidFill>
                <a:latin typeface="Calibri" pitchFamily="34" charset="0"/>
                <a:ea typeface="Calibri" pitchFamily="34" charset="-122"/>
                <a:cs typeface="Calibri" pitchFamily="34" charset="-120"/>
              </a:rPr>
              <a:t>, </a:t>
            </a:r>
            <a:pPr indent="0" marL="0">
              <a:buNone/>
            </a:pPr>
            <a:r>
              <a:rPr lang="en-US" sz="1600" dirty="0">
                <a:solidFill>
                  <a:srgbClr val="8FD1B5"/>
                </a:solidFill>
                <a:latin typeface="Courier New" pitchFamily="34" charset="0"/>
                <a:ea typeface="Courier New" pitchFamily="34" charset="-122"/>
                <a:cs typeface="Courier New" pitchFamily="34" charset="-120"/>
              </a:rPr>
              <a:t>axes.flat</a:t>
            </a:r>
            <a:pPr indent="0" marL="0">
              <a:buNone/>
            </a:pPr>
            <a:r>
              <a:rPr lang="en-US" sz="1600" dirty="0">
                <a:solidFill>
                  <a:srgbClr val="FFFFFF"/>
                </a:solidFill>
                <a:latin typeface="Calibri" pitchFamily="34" charset="0"/>
                <a:ea typeface="Calibri" pitchFamily="34" charset="-122"/>
                <a:cs typeface="Calibri" pitchFamily="34" charset="-120"/>
              </a:rPr>
              <a:t>, </a:t>
            </a:r>
            <a:pPr indent="0" marL="0">
              <a:buNone/>
            </a:pPr>
            <a:r>
              <a:rPr lang="en-US" sz="1600" dirty="0">
                <a:solidFill>
                  <a:srgbClr val="8FD1B5"/>
                </a:solidFill>
                <a:latin typeface="Courier New" pitchFamily="34" charset="0"/>
                <a:ea typeface="Courier New" pitchFamily="34" charset="-122"/>
                <a:cs typeface="Courier New" pitchFamily="34" charset="-120"/>
              </a:rPr>
              <a:t>tight_layout</a:t>
            </a:r>
            <a:endParaRPr lang="en-US" sz="1600" dirty="0"/>
          </a:p>
          <a:p>
            <a:pPr marL="254000" indent="-254000">
              <a:spcAft>
                <a:spcPts val="1200"/>
              </a:spcAft>
              <a:buSzPct val="100000"/>
              <a:buChar char="•"/>
            </a:pPr>
            <a:r>
              <a:rPr lang="en-US" sz="1600" dirty="0">
                <a:solidFill>
                  <a:srgbClr val="FFFFFF"/>
                </a:solidFill>
                <a:latin typeface="Calibri" pitchFamily="34" charset="0"/>
                <a:ea typeface="Calibri" pitchFamily="34" charset="-122"/>
                <a:cs typeface="Calibri" pitchFamily="34" charset="-120"/>
              </a:rPr>
              <a:t>Un graphique s'inspecte : </a:t>
            </a:r>
            <a:pPr indent="0" marL="0">
              <a:buNone/>
            </a:pPr>
            <a:r>
              <a:rPr lang="en-US" sz="1600" dirty="0">
                <a:solidFill>
                  <a:srgbClr val="8FD1B5"/>
                </a:solidFill>
                <a:latin typeface="Courier New" pitchFamily="34" charset="0"/>
                <a:ea typeface="Courier New" pitchFamily="34" charset="-122"/>
                <a:cs typeface="Courier New" pitchFamily="34" charset="-120"/>
              </a:rPr>
              <a:t>get_title</a:t>
            </a:r>
            <a:pPr indent="0" marL="0">
              <a:buNone/>
            </a:pPr>
            <a:r>
              <a:rPr lang="en-US" sz="1600" dirty="0">
                <a:solidFill>
                  <a:srgbClr val="FFFFFF"/>
                </a:solidFill>
                <a:latin typeface="Calibri" pitchFamily="34" charset="0"/>
                <a:ea typeface="Calibri" pitchFamily="34" charset="-122"/>
                <a:cs typeface="Calibri" pitchFamily="34" charset="-120"/>
              </a:rPr>
              <a:t>, </a:t>
            </a:r>
            <a:pPr indent="0" marL="0">
              <a:buNone/>
            </a:pPr>
            <a:r>
              <a:rPr lang="en-US" sz="1600" dirty="0">
                <a:solidFill>
                  <a:srgbClr val="8FD1B5"/>
                </a:solidFill>
                <a:latin typeface="Courier New" pitchFamily="34" charset="0"/>
                <a:ea typeface="Courier New" pitchFamily="34" charset="-122"/>
                <a:cs typeface="Courier New" pitchFamily="34" charset="-120"/>
              </a:rPr>
              <a:t>get_ylim</a:t>
            </a:r>
            <a:pPr indent="0" marL="0">
              <a:buNone/>
            </a:pPr>
            <a:r>
              <a:rPr lang="en-US" sz="1600" dirty="0">
                <a:solidFill>
                  <a:srgbClr val="FFFFFF"/>
                </a:solidFill>
                <a:latin typeface="Calibri" pitchFamily="34" charset="0"/>
                <a:ea typeface="Calibri" pitchFamily="34" charset="-122"/>
                <a:cs typeface="Calibri" pitchFamily="34" charset="-120"/>
              </a:rPr>
              <a:t>, </a:t>
            </a:r>
            <a:pPr indent="0" marL="0">
              <a:buNone/>
            </a:pPr>
            <a:r>
              <a:rPr lang="en-US" sz="1600" dirty="0">
                <a:solidFill>
                  <a:srgbClr val="8FD1B5"/>
                </a:solidFill>
                <a:latin typeface="Courier New" pitchFamily="34" charset="0"/>
                <a:ea typeface="Courier New" pitchFamily="34" charset="-122"/>
                <a:cs typeface="Courier New" pitchFamily="34" charset="-120"/>
              </a:rPr>
              <a:t>patches</a:t>
            </a:r>
            <a:pPr indent="0" marL="0">
              <a:buNone/>
            </a:pPr>
            <a:r>
              <a:rPr lang="en-US" sz="1600" dirty="0">
                <a:solidFill>
                  <a:srgbClr val="FFFFFF"/>
                </a:solidFill>
                <a:latin typeface="Calibri" pitchFamily="34" charset="0"/>
                <a:ea typeface="Calibri" pitchFamily="34" charset="-122"/>
                <a:cs typeface="Calibri" pitchFamily="34" charset="-120"/>
              </a:rPr>
              <a:t>, </a:t>
            </a:r>
            <a:pPr indent="0" marL="0">
              <a:buNone/>
            </a:pPr>
            <a:r>
              <a:rPr lang="en-US" sz="1600" dirty="0">
                <a:solidFill>
                  <a:srgbClr val="8FD1B5"/>
                </a:solidFill>
                <a:latin typeface="Courier New" pitchFamily="34" charset="0"/>
                <a:ea typeface="Courier New" pitchFamily="34" charset="-122"/>
                <a:cs typeface="Courier New" pitchFamily="34" charset="-120"/>
              </a:rPr>
              <a:t>lines</a:t>
            </a:r>
            <a:endParaRPr lang="en-US" sz="1600" dirty="0"/>
          </a:p>
          <a:p>
            <a:pPr marL="254000" indent="-254000">
              <a:spcAft>
                <a:spcPts val="1200"/>
              </a:spcAft>
              <a:buSzPct val="100000"/>
              <a:buChar char="•"/>
            </a:pPr>
            <a:r>
              <a:rPr lang="en-US" sz="1600" dirty="0">
                <a:solidFill>
                  <a:srgbClr val="FFFFFF"/>
                </a:solidFill>
                <a:latin typeface="Calibri" pitchFamily="34" charset="0"/>
                <a:ea typeface="Calibri" pitchFamily="34" charset="-122"/>
                <a:cs typeface="Calibri" pitchFamily="34" charset="-120"/>
              </a:rPr>
              <a:t>seaborn : </a:t>
            </a:r>
            <a:pPr indent="0" marL="0">
              <a:buNone/>
            </a:pPr>
            <a:r>
              <a:rPr lang="en-US" sz="1600" dirty="0">
                <a:solidFill>
                  <a:srgbClr val="8FD1B5"/>
                </a:solidFill>
                <a:latin typeface="Courier New" pitchFamily="34" charset="0"/>
                <a:ea typeface="Courier New" pitchFamily="34" charset="-122"/>
                <a:cs typeface="Courier New" pitchFamily="34" charset="-120"/>
              </a:rPr>
              <a:t>data</a:t>
            </a:r>
            <a:pPr indent="0" marL="0">
              <a:buNone/>
            </a:pPr>
            <a:r>
              <a:rPr lang="en-US" sz="1600" dirty="0">
                <a:solidFill>
                  <a:srgbClr val="FFFFFF"/>
                </a:solidFill>
                <a:latin typeface="Calibri" pitchFamily="34" charset="0"/>
                <a:ea typeface="Calibri" pitchFamily="34" charset="-122"/>
                <a:cs typeface="Calibri" pitchFamily="34" charset="-120"/>
              </a:rPr>
              <a:t>, </a:t>
            </a:r>
            <a:pPr indent="0" marL="0">
              <a:buNone/>
            </a:pPr>
            <a:r>
              <a:rPr lang="en-US" sz="1600" dirty="0">
                <a:solidFill>
                  <a:srgbClr val="8FD1B5"/>
                </a:solidFill>
                <a:latin typeface="Courier New" pitchFamily="34" charset="0"/>
                <a:ea typeface="Courier New" pitchFamily="34" charset="-122"/>
                <a:cs typeface="Courier New" pitchFamily="34" charset="-120"/>
              </a:rPr>
              <a:t>x</a:t>
            </a:r>
            <a:pPr indent="0" marL="0">
              <a:buNone/>
            </a:pPr>
            <a:r>
              <a:rPr lang="en-US" sz="1600" dirty="0">
                <a:solidFill>
                  <a:srgbClr val="FFFFFF"/>
                </a:solidFill>
                <a:latin typeface="Calibri" pitchFamily="34" charset="0"/>
                <a:ea typeface="Calibri" pitchFamily="34" charset="-122"/>
                <a:cs typeface="Calibri" pitchFamily="34" charset="-120"/>
              </a:rPr>
              <a:t>, </a:t>
            </a:r>
            <a:pPr indent="0" marL="0">
              <a:buNone/>
            </a:pPr>
            <a:r>
              <a:rPr lang="en-US" sz="1600" dirty="0">
                <a:solidFill>
                  <a:srgbClr val="8FD1B5"/>
                </a:solidFill>
                <a:latin typeface="Courier New" pitchFamily="34" charset="0"/>
                <a:ea typeface="Courier New" pitchFamily="34" charset="-122"/>
                <a:cs typeface="Courier New" pitchFamily="34" charset="-120"/>
              </a:rPr>
              <a:t>y</a:t>
            </a:r>
            <a:pPr indent="0" marL="0">
              <a:buNone/>
            </a:pPr>
            <a:r>
              <a:rPr lang="en-US" sz="1600" dirty="0">
                <a:solidFill>
                  <a:srgbClr val="FFFFFF"/>
                </a:solidFill>
                <a:latin typeface="Calibri" pitchFamily="34" charset="0"/>
                <a:ea typeface="Calibri" pitchFamily="34" charset="-122"/>
                <a:cs typeface="Calibri" pitchFamily="34" charset="-120"/>
              </a:rPr>
              <a:t>, </a:t>
            </a:r>
            <a:pPr indent="0" marL="0">
              <a:buNone/>
            </a:pPr>
            <a:r>
              <a:rPr lang="en-US" sz="1600" dirty="0">
                <a:solidFill>
                  <a:srgbClr val="8FD1B5"/>
                </a:solidFill>
                <a:latin typeface="Courier New" pitchFamily="34" charset="0"/>
                <a:ea typeface="Courier New" pitchFamily="34" charset="-122"/>
                <a:cs typeface="Courier New" pitchFamily="34" charset="-120"/>
              </a:rPr>
              <a:t>hue</a:t>
            </a:r>
            <a:pPr indent="0" marL="0">
              <a:buNone/>
            </a:pPr>
            <a:r>
              <a:rPr lang="en-US" sz="1600" dirty="0">
                <a:solidFill>
                  <a:srgbClr val="FFFFFF"/>
                </a:solidFill>
                <a:latin typeface="Calibri" pitchFamily="34" charset="0"/>
                <a:ea typeface="Calibri" pitchFamily="34" charset="-122"/>
                <a:cs typeface="Calibri" pitchFamily="34" charset="-120"/>
              </a:rPr>
              <a:t>, et toujours </a:t>
            </a:r>
            <a:pPr indent="0" marL="0">
              <a:buNone/>
            </a:pPr>
            <a:r>
              <a:rPr lang="en-US" sz="1600" dirty="0">
                <a:solidFill>
                  <a:srgbClr val="8FD1B5"/>
                </a:solidFill>
                <a:latin typeface="Courier New" pitchFamily="34" charset="0"/>
                <a:ea typeface="Courier New" pitchFamily="34" charset="-122"/>
                <a:cs typeface="Courier New" pitchFamily="34" charset="-120"/>
              </a:rPr>
              <a:t>ax=ax</a:t>
            </a:r>
            <a:endParaRPr lang="en-US" sz="1600" dirty="0"/>
          </a:p>
          <a:p>
            <a:pPr marL="254000" indent="-254000">
              <a:spcAft>
                <a:spcPts val="1200"/>
              </a:spcAft>
              <a:buSzPct val="100000"/>
              <a:buChar char="•"/>
            </a:pPr>
            <a:r>
              <a:rPr lang="en-US" sz="1600" dirty="0">
                <a:solidFill>
                  <a:srgbClr val="8FD1B5"/>
                </a:solidFill>
                <a:latin typeface="Courier New" pitchFamily="34" charset="0"/>
                <a:ea typeface="Courier New" pitchFamily="34" charset="-122"/>
                <a:cs typeface="Courier New" pitchFamily="34" charset="-120"/>
              </a:rPr>
              <a:t>order</a:t>
            </a:r>
            <a:pPr indent="0" marL="0">
              <a:buNone/>
            </a:pPr>
            <a:r>
              <a:rPr lang="en-US" sz="1600" dirty="0">
                <a:solidFill>
                  <a:srgbClr val="FFFFFF"/>
                </a:solidFill>
                <a:latin typeface="Calibri" pitchFamily="34" charset="0"/>
                <a:ea typeface="Calibri" pitchFamily="34" charset="-122"/>
                <a:cs typeface="Calibri" pitchFamily="34" charset="-120"/>
              </a:rPr>
              <a:t> pour trier ; </a:t>
            </a:r>
            <a:pPr indent="0" marL="0">
              <a:buNone/>
            </a:pPr>
            <a:r>
              <a:rPr lang="en-US" sz="1600" dirty="0">
                <a:solidFill>
                  <a:srgbClr val="8FD1B5"/>
                </a:solidFill>
                <a:latin typeface="Courier New" pitchFamily="34" charset="0"/>
                <a:ea typeface="Courier New" pitchFamily="34" charset="-122"/>
                <a:cs typeface="Courier New" pitchFamily="34" charset="-120"/>
              </a:rPr>
              <a:t>barplot</a:t>
            </a:r>
            <a:pPr indent="0" marL="0">
              <a:buNone/>
            </a:pPr>
            <a:r>
              <a:rPr lang="en-US" sz="1600" dirty="0">
                <a:solidFill>
                  <a:srgbClr val="FFFFFF"/>
                </a:solidFill>
                <a:latin typeface="Calibri" pitchFamily="34" charset="0"/>
                <a:ea typeface="Calibri" pitchFamily="34" charset="-122"/>
                <a:cs typeface="Calibri" pitchFamily="34" charset="-120"/>
              </a:rPr>
              <a:t> affiche une moyenne par défaut</a:t>
            </a:r>
            <a:endParaRPr lang="en-US" sz="1600" dirty="0"/>
          </a:p>
        </p:txBody>
      </p:sp>
      <p:sp>
        <p:nvSpPr>
          <p:cNvPr id="4" name="Text 2"/>
          <p:cNvSpPr txBox="1"/>
          <p:nvPr/>
        </p:nvSpPr>
        <p:spPr>
          <a:xfrm>
            <a:off x="6370168" y="1417320"/>
            <a:ext cx="5272888" cy="4084320"/>
          </a:xfrm>
          <a:prstGeom prst="rect">
            <a:avLst/>
          </a:prstGeom>
          <a:noFill/>
          <a:ln/>
        </p:spPr>
        <p:txBody>
          <a:bodyPr wrap="square" lIns="0" tIns="0" rIns="0" bIns="0" rtlCol="0" anchor="t"/>
          <a:lstStyle/>
          <a:p>
            <a:pPr marL="254000" indent="-254000">
              <a:spcAft>
                <a:spcPts val="1200"/>
              </a:spcAft>
              <a:buSzPct val="100000"/>
              <a:buChar char="•"/>
            </a:pPr>
            <a:r>
              <a:rPr lang="en-US" sz="1600" dirty="0">
                <a:solidFill>
                  <a:srgbClr val="8FD1B5"/>
                </a:solidFill>
                <a:latin typeface="Courier New" pitchFamily="34" charset="0"/>
                <a:ea typeface="Courier New" pitchFamily="34" charset="-122"/>
                <a:cs typeface="Courier New" pitchFamily="34" charset="-120"/>
              </a:rPr>
              <a:t>heatmap</a:t>
            </a:r>
            <a:pPr indent="0" marL="0">
              <a:buNone/>
            </a:pPr>
            <a:r>
              <a:rPr lang="en-US" sz="1600" dirty="0">
                <a:solidFill>
                  <a:srgbClr val="FFFFFF"/>
                </a:solidFill>
                <a:latin typeface="Calibri" pitchFamily="34" charset="0"/>
                <a:ea typeface="Calibri" pitchFamily="34" charset="-122"/>
                <a:cs typeface="Calibri" pitchFamily="34" charset="-120"/>
              </a:rPr>
              <a:t> sur un </a:t>
            </a:r>
            <a:pPr indent="0" marL="0">
              <a:buNone/>
            </a:pPr>
            <a:r>
              <a:rPr lang="en-US" sz="1600" dirty="0">
                <a:solidFill>
                  <a:srgbClr val="8FD1B5"/>
                </a:solidFill>
                <a:latin typeface="Courier New" pitchFamily="34" charset="0"/>
                <a:ea typeface="Courier New" pitchFamily="34" charset="-122"/>
                <a:cs typeface="Courier New" pitchFamily="34" charset="-120"/>
              </a:rPr>
              <a:t>pivot_table</a:t>
            </a:r>
            <a:pPr indent="0" marL="0">
              <a:buNone/>
            </a:pPr>
            <a:r>
              <a:rPr lang="en-US" sz="1600" dirty="0">
                <a:solidFill>
                  <a:srgbClr val="FFFFFF"/>
                </a:solidFill>
                <a:latin typeface="Calibri" pitchFamily="34" charset="0"/>
                <a:ea typeface="Calibri" pitchFamily="34" charset="-122"/>
                <a:cs typeface="Calibri" pitchFamily="34" charset="-120"/>
              </a:rPr>
              <a:t> ou une matrice de corrélation</a:t>
            </a:r>
            <a:endParaRPr lang="en-US" sz="1600" dirty="0"/>
          </a:p>
          <a:p>
            <a:pPr marL="254000" indent="-254000">
              <a:spcAft>
                <a:spcPts val="1200"/>
              </a:spcAft>
              <a:buSzPct val="100000"/>
              <a:buChar char="•"/>
            </a:pPr>
            <a:r>
              <a:rPr lang="en-US" sz="1600" dirty="0">
                <a:solidFill>
                  <a:srgbClr val="8FD1B5"/>
                </a:solidFill>
                <a:latin typeface="Courier New" pitchFamily="34" charset="0"/>
                <a:ea typeface="Courier New" pitchFamily="34" charset="-122"/>
                <a:cs typeface="Courier New" pitchFamily="34" charset="-120"/>
              </a:rPr>
              <a:t>relplot</a:t>
            </a:r>
            <a:pPr indent="0" marL="0">
              <a:buNone/>
            </a:pPr>
            <a:r>
              <a:rPr lang="en-US" sz="1600" dirty="0">
                <a:solidFill>
                  <a:srgbClr val="FFFFFF"/>
                </a:solidFill>
                <a:latin typeface="Calibri" pitchFamily="34" charset="0"/>
                <a:ea typeface="Calibri" pitchFamily="34" charset="-122"/>
                <a:cs typeface="Calibri" pitchFamily="34" charset="-120"/>
              </a:rPr>
              <a:t> et </a:t>
            </a:r>
            <a:pPr indent="0" marL="0">
              <a:buNone/>
            </a:pPr>
            <a:r>
              <a:rPr lang="en-US" sz="1600" dirty="0">
                <a:solidFill>
                  <a:srgbClr val="8FD1B5"/>
                </a:solidFill>
                <a:latin typeface="Courier New" pitchFamily="34" charset="0"/>
                <a:ea typeface="Courier New" pitchFamily="34" charset="-122"/>
                <a:cs typeface="Courier New" pitchFamily="34" charset="-120"/>
              </a:rPr>
              <a:t>col</a:t>
            </a:r>
            <a:pPr indent="0" marL="0">
              <a:buNone/>
            </a:pPr>
            <a:r>
              <a:rPr lang="en-US" sz="1600" dirty="0">
                <a:solidFill>
                  <a:srgbClr val="FFFFFF"/>
                </a:solidFill>
                <a:latin typeface="Calibri" pitchFamily="34" charset="0"/>
                <a:ea typeface="Calibri" pitchFamily="34" charset="-122"/>
                <a:cs typeface="Calibri" pitchFamily="34" charset="-120"/>
              </a:rPr>
              <a:t> : des petits multiples</a:t>
            </a:r>
            <a:endParaRPr lang="en-US" sz="1600" dirty="0"/>
          </a:p>
          <a:p>
            <a:pPr marL="254000" indent="-254000">
              <a:spcAft>
                <a:spcPts val="1200"/>
              </a:spcAft>
              <a:buSzPct val="100000"/>
              <a:buChar char="•"/>
            </a:pPr>
            <a:r>
              <a:rPr lang="en-US" sz="1600" dirty="0">
                <a:solidFill>
                  <a:srgbClr val="FFFFFF"/>
                </a:solidFill>
                <a:latin typeface="Calibri" pitchFamily="34" charset="0"/>
                <a:ea typeface="Calibri" pitchFamily="34" charset="-122"/>
                <a:cs typeface="Calibri" pitchFamily="34" charset="-120"/>
              </a:rPr>
              <a:t>plotly : </a:t>
            </a:r>
            <a:pPr indent="0" marL="0">
              <a:buNone/>
            </a:pPr>
            <a:r>
              <a:rPr lang="en-US" sz="1600" dirty="0">
                <a:solidFill>
                  <a:srgbClr val="8FD1B5"/>
                </a:solidFill>
                <a:latin typeface="Courier New" pitchFamily="34" charset="0"/>
                <a:ea typeface="Courier New" pitchFamily="34" charset="-122"/>
                <a:cs typeface="Courier New" pitchFamily="34" charset="-120"/>
              </a:rPr>
              <a:t>hover_data</a:t>
            </a:r>
            <a:pPr indent="0" marL="0">
              <a:buNone/>
            </a:pPr>
            <a:r>
              <a:rPr lang="en-US" sz="1600" dirty="0">
                <a:solidFill>
                  <a:srgbClr val="FFFFFF"/>
                </a:solidFill>
                <a:latin typeface="Calibri" pitchFamily="34" charset="0"/>
                <a:ea typeface="Calibri" pitchFamily="34" charset="-122"/>
                <a:cs typeface="Calibri" pitchFamily="34" charset="-120"/>
              </a:rPr>
              <a:t>, </a:t>
            </a:r>
            <a:pPr indent="0" marL="0">
              <a:buNone/>
            </a:pPr>
            <a:r>
              <a:rPr lang="en-US" sz="1600" dirty="0">
                <a:solidFill>
                  <a:srgbClr val="8FD1B5"/>
                </a:solidFill>
                <a:latin typeface="Courier New" pitchFamily="34" charset="0"/>
                <a:ea typeface="Courier New" pitchFamily="34" charset="-122"/>
                <a:cs typeface="Courier New" pitchFamily="34" charset="-120"/>
              </a:rPr>
              <a:t>labels</a:t>
            </a:r>
            <a:pPr indent="0" marL="0">
              <a:buNone/>
            </a:pPr>
            <a:r>
              <a:rPr lang="en-US" sz="1600" dirty="0">
                <a:solidFill>
                  <a:srgbClr val="FFFFFF"/>
                </a:solidFill>
                <a:latin typeface="Calibri" pitchFamily="34" charset="0"/>
                <a:ea typeface="Calibri" pitchFamily="34" charset="-122"/>
                <a:cs typeface="Calibri" pitchFamily="34" charset="-120"/>
              </a:rPr>
              <a:t>, </a:t>
            </a:r>
            <a:pPr indent="0" marL="0">
              <a:buNone/>
            </a:pPr>
            <a:r>
              <a:rPr lang="en-US" sz="1600" dirty="0">
                <a:solidFill>
                  <a:srgbClr val="8FD1B5"/>
                </a:solidFill>
                <a:latin typeface="Courier New" pitchFamily="34" charset="0"/>
                <a:ea typeface="Courier New" pitchFamily="34" charset="-122"/>
                <a:cs typeface="Courier New" pitchFamily="34" charset="-120"/>
              </a:rPr>
              <a:t>size</a:t>
            </a:r>
            <a:pPr indent="0" marL="0">
              <a:buNone/>
            </a:pPr>
            <a:r>
              <a:rPr lang="en-US" sz="1600" dirty="0">
                <a:solidFill>
                  <a:srgbClr val="FFFFFF"/>
                </a:solidFill>
                <a:latin typeface="Calibri" pitchFamily="34" charset="0"/>
                <a:ea typeface="Calibri" pitchFamily="34" charset="-122"/>
                <a:cs typeface="Calibri" pitchFamily="34" charset="-120"/>
              </a:rPr>
              <a:t>, </a:t>
            </a:r>
            <a:pPr indent="0" marL="0">
              <a:buNone/>
            </a:pPr>
            <a:r>
              <a:rPr lang="en-US" sz="1600" dirty="0">
                <a:solidFill>
                  <a:srgbClr val="8FD1B5"/>
                </a:solidFill>
                <a:latin typeface="Courier New" pitchFamily="34" charset="0"/>
                <a:ea typeface="Courier New" pitchFamily="34" charset="-122"/>
                <a:cs typeface="Courier New" pitchFamily="34" charset="-120"/>
              </a:rPr>
              <a:t>write_html</a:t>
            </a:r>
            <a:endParaRPr lang="en-US" sz="1600" dirty="0"/>
          </a:p>
          <a:p>
            <a:pPr marL="254000" indent="-254000">
              <a:spcAft>
                <a:spcPts val="1200"/>
              </a:spcAft>
              <a:buSzPct val="100000"/>
              <a:buChar char="•"/>
            </a:pPr>
            <a:r>
              <a:rPr lang="en-US" sz="1600" dirty="0">
                <a:solidFill>
                  <a:srgbClr val="FFFFFF"/>
                </a:solidFill>
                <a:latin typeface="Calibri" pitchFamily="34" charset="0"/>
                <a:ea typeface="Calibri" pitchFamily="34" charset="-122"/>
                <a:cs typeface="Calibri" pitchFamily="34" charset="-120"/>
              </a:rPr>
              <a:t>Partir de la question, un titre qui énonce le message</a:t>
            </a:r>
            <a:endParaRPr lang="en-US" sz="1600" dirty="0"/>
          </a:p>
          <a:p>
            <a:pPr marL="254000" indent="-254000">
              <a:spcAft>
                <a:spcPts val="1200"/>
              </a:spcAft>
              <a:buSzPct val="100000"/>
              <a:buChar char="•"/>
            </a:pPr>
            <a:r>
              <a:rPr lang="en-US" sz="1600" dirty="0">
                <a:solidFill>
                  <a:srgbClr val="FFFFFF"/>
                </a:solidFill>
                <a:latin typeface="Calibri" pitchFamily="34" charset="0"/>
                <a:ea typeface="Calibri" pitchFamily="34" charset="-122"/>
                <a:cs typeface="Calibri" pitchFamily="34" charset="-120"/>
              </a:rPr>
              <a:t>Une couleur pour le message, des barres triées qui partent de zéro, des échelles partagées</a:t>
            </a:r>
            <a:endParaRPr lang="en-US" sz="1600" dirty="0"/>
          </a:p>
          <a:p>
            <a:pPr marL="254000" indent="-254000">
              <a:spcAft>
                <a:spcPts val="1200"/>
              </a:spcAft>
              <a:buSzPct val="100000"/>
              <a:buChar char="•"/>
            </a:pPr>
            <a:r>
              <a:rPr lang="en-US" sz="1600" dirty="0">
                <a:solidFill>
                  <a:srgbClr val="FFFFFF"/>
                </a:solidFill>
                <a:latin typeface="Calibri" pitchFamily="34" charset="0"/>
                <a:ea typeface="Calibri" pitchFamily="34" charset="-122"/>
                <a:cs typeface="Calibri" pitchFamily="34" charset="-120"/>
              </a:rPr>
              <a:t>Ni double axe, ni camembert à nombreuses parts, ni rouge contre vert</a:t>
            </a:r>
            <a:endParaRPr lang="en-US" sz="1600" dirty="0"/>
          </a:p>
          <a:p>
            <a:pPr marL="254000" indent="-254000">
              <a:spcAft>
                <a:spcPts val="1200"/>
              </a:spcAft>
              <a:buSzPct val="100000"/>
              <a:buChar char="•"/>
            </a:pPr>
            <a:r>
              <a:rPr lang="en-US" sz="1600" dirty="0">
                <a:solidFill>
                  <a:srgbClr val="FFFFFF"/>
                </a:solidFill>
                <a:latin typeface="Calibri" pitchFamily="34" charset="0"/>
                <a:ea typeface="Calibri" pitchFamily="34" charset="-122"/>
                <a:cs typeface="Calibri" pitchFamily="34" charset="-120"/>
              </a:rPr>
              <a:t>Un tableau de bord : une question, un graphique, un message, du général au détail</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54</Slides>
  <Notes>54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54</vt:i4>
      </vt:variant>
    </vt:vector>
  </HeadingPairs>
  <TitlesOfParts>
    <vt:vector size="5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Analyse de données avec Python, jour 2 après-midi</dc:title>
  <dc:subject>PptxGenJS Presentation</dc:subject>
  <dc:creator/>
  <cp:lastModifiedBy/>
  <cp:revision>1</cp:revision>
  <dcterms:created xsi:type="dcterms:W3CDTF">2026-10-20T20:55:28Z</dcterms:created>
  <dcterms:modified xsi:type="dcterms:W3CDTF">2026-10-20T20:55:28Z</dcterms:modified>
</cp:coreProperties>
</file>