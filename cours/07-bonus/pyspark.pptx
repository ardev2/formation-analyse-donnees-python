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d'une heure : environ 15 minutes de cours, puis 40 minutes de TP. L'objectif n'est pas de devenir autonome sur Spark, mais de savoir le lire, de reconnaître ce qui change par rapport à pandas, et de savoir quand il se justifie.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tout de suite la conclusion du TP : sur nos 2 182 lignes, pandas sera beaucoup plus rapide. On utilise un petit jeu de données pour apprendre la syntaxe, pas pour mesurer la puissance de Spark.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est né en 2009 à Berkeley, pour remplacer Hadoop MapReduce. On le retrouve dans les plateformes de données : Databricks, AWS EMR, Google Dataproc, Microsoft Fabric. Conséquence pratique de la machine Java : il faut Java 17 ou plus sur le poste, c'est la partie 0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local, pilote et exécuteurs sont sur la même machine : c'est ce qu'on fait au TP. Sur un cluster, seule la ligne master change. Le résultat d'un calcul revient au pilote seulement quand on le demande.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Grosse différence avec pandas, où chaque ligne s'exécute aussitôt. Conséquence : une erreur dans un filtre peut n'apparaître qu'au show() suivant. Et chaque action relance le calcul depuis le début, sauf si on appelle cache(). C'est la question 1.3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inferSchema, toutes les colonnes d'un CSV sont lues comme du texte. Avec Parquet, les types sont stockés dans le fichier. Le pattern est pratique, mais attention : Spark lit les colonnes par position, en prenant l'en-tête du premier fichier ; si un fichier a ses colonnes dans un autre ordre, il faut lire chaque fichier séparément ou fournir un schéma.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module functions, importé sous le nom F, contient toutes les fonctions de colonnes : F.month, F.year, F.upper, F.when, F.round... On enchaîne les opérations entre parenthèses, comme les chaînages pandas vus au jour 2. Questions 2.1 et 2.2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logique est identique, seuls les noms changent : groupBy au lieu de groupby, alias pour nommer, join au lieu de merge. Sur un cluster, groupBy et join sont les opérations coûteuses : elles obligent à échanger des données entre machines (le shuffle). Questions 3.1 et 3.2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Beaucoup d'équipes data écrivent leurs traitements Spark en SQL. Question 4.1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schéma classique : Spark fait le gros du travail sur des milliards de lignes, puis toPandas() sur quelques centaines de lignes agrégées, et on retrouve matplotlib, seaborn ou plotly. Questions 5.1 et 5.3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TP (question 5.2), le même agrégat prend moins d'une milliseconde avec pandas et plusieurs dizaines avec Spark. Ce n'est pas un défaut : Spark est conçu pour des volumes où pandas ne démarre même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choisir Spark par principe : un cluster coûte cher et complique tout. En revanche, si l'entreprise a déjà une plateforme Spark, c'est souvent là que se trouvent les données, et savoir lire du PySpark devient utile.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40 minutes. Prévoir 5 minutes pour la partie 0 : si Java manque, sudo apt install openjdk-17-jre-headless. Réponses : 1.3, 153 commandes de plus de 500 euros, filter ne calcule rien tant qu'on n'appelle pas une action ; 3.2, aucune région n'atteint son objectif en août ; 5.2, pandas est beaucoup plus rapide sur 2 182 lignes, Spark prend l'avantage quand les données dépassent la mémoire d'une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aller plus loin : la documentation officielle propose une page « pandas API on Spark » (pyspark.pandas), qui reprend la syntaxe pandas au-dessus de Spark.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9144000" cy="365760"/>
          </a:xfrm>
          <a:prstGeom prst="rect">
            <a:avLst/>
          </a:prstGeom>
          <a:noFill/>
          <a:ln/>
        </p:spPr>
        <p:txBody>
          <a:bodyPr wrap="square" lIns="0" tIns="0" rIns="0" bIns="0" rtlCol="0" anchor="ctr"/>
          <a:lstStyle/>
          <a:p>
            <a:pPr indent="0" marL="0">
              <a:buNone/>
            </a:pPr>
            <a:r>
              <a:rPr lang="en-US" sz="1400" b="1" spc="400" kern="0" dirty="0">
                <a:solidFill>
                  <a:srgbClr val="8FD1B5"/>
                </a:solidFill>
                <a:latin typeface="Calibri" pitchFamily="34" charset="0"/>
                <a:ea typeface="Calibri" pitchFamily="34" charset="-122"/>
                <a:cs typeface="Calibri" pitchFamily="34" charset="-120"/>
              </a:rPr>
              <a:t>MODULE BONUS</a:t>
            </a:r>
            <a:endParaRPr lang="en-US" sz="1400" dirty="0"/>
          </a:p>
        </p:txBody>
      </p:sp>
      <p:sp>
        <p:nvSpPr>
          <p:cNvPr id="3" name="Text 1"/>
          <p:cNvSpPr txBox="1"/>
          <p:nvPr/>
        </p:nvSpPr>
        <p:spPr>
          <a:xfrm>
            <a:off x="731520" y="2148840"/>
            <a:ext cx="10515600" cy="10972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PySpark</a:t>
            </a:r>
            <a:endParaRPr lang="en-US" sz="4600" dirty="0"/>
          </a:p>
        </p:txBody>
      </p:sp>
      <p:sp>
        <p:nvSpPr>
          <p:cNvPr id="4" name="Text 2"/>
          <p:cNvSpPr txBox="1"/>
          <p:nvPr/>
        </p:nvSpPr>
        <p:spPr>
          <a:xfrm>
            <a:off x="731520" y="3337560"/>
            <a:ext cx="10058400" cy="914400"/>
          </a:xfrm>
          <a:prstGeom prst="rect">
            <a:avLst/>
          </a:prstGeom>
          <a:noFill/>
          <a:ln/>
        </p:spPr>
        <p:txBody>
          <a:bodyPr wrap="square" lIns="0" tIns="0" rIns="0" bIns="0" rtlCol="0" anchor="t"/>
          <a:lstStyle/>
          <a:p>
            <a:pPr indent="0" marL="0">
              <a:buNone/>
            </a:pPr>
            <a:r>
              <a:rPr lang="en-US" sz="2200" dirty="0">
                <a:solidFill>
                  <a:srgbClr val="C9D6E3"/>
                </a:solidFill>
                <a:latin typeface="Calibri" pitchFamily="34" charset="0"/>
                <a:ea typeface="Calibri" pitchFamily="34" charset="-122"/>
                <a:cs typeface="Calibri" pitchFamily="34" charset="-120"/>
              </a:rPr>
              <a:t>Le même travail qu'avec pandas, à l'échelle d'un cluster</a:t>
            </a:r>
            <a:endParaRPr lang="en-US" sz="2200" dirty="0"/>
          </a:p>
        </p:txBody>
      </p:sp>
      <p:sp>
        <p:nvSpPr>
          <p:cNvPr id="5" name="Text 3"/>
          <p:cNvSpPr txBox="1"/>
          <p:nvPr/>
        </p:nvSpPr>
        <p:spPr>
          <a:xfrm>
            <a:off x="731520" y="5669280"/>
            <a:ext cx="10058400" cy="365760"/>
          </a:xfrm>
          <a:prstGeom prst="rect">
            <a:avLst/>
          </a:prstGeom>
          <a:noFill/>
          <a:ln/>
        </p:spPr>
        <p:txBody>
          <a:bodyPr wrap="square" lIns="0" tIns="0" rIns="0" bIns="0" rtlCol="0" anchor="ctr"/>
          <a:lstStyle/>
          <a:p>
            <a:pPr indent="0" marL="0">
              <a:buNone/>
            </a:pPr>
            <a:r>
              <a:rPr lang="en-US" sz="1400" dirty="0">
                <a:solidFill>
                  <a:srgbClr val="C9D6E3"/>
                </a:solidFill>
                <a:latin typeface="Calibri" pitchFamily="34" charset="0"/>
                <a:ea typeface="Calibri" pitchFamily="34" charset="-122"/>
                <a:cs typeface="Calibri" pitchFamily="34" charset="-120"/>
              </a:rPr>
              <a:t>Un cours court, puis le TP bonus C : exercices/tpbonus-c-pyspark/tpbonus_c.ipynb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déroulé</a:t>
            </a:r>
            <a:endParaRPr lang="en-US" sz="3000" dirty="0"/>
          </a:p>
        </p:txBody>
      </p:sp>
      <p:sp>
        <p:nvSpPr>
          <p:cNvPr id="3" name="Shape 1"/>
          <p:cNvSpPr/>
          <p:nvPr/>
        </p:nvSpPr>
        <p:spPr>
          <a:xfrm>
            <a:off x="1473175" y="2057400"/>
            <a:ext cx="9245346" cy="0"/>
          </a:xfrm>
          <a:prstGeom prst="line">
            <a:avLst/>
          </a:prstGeom>
          <a:noFill/>
          <a:ln w="25400">
            <a:solidFill>
              <a:srgbClr val="D5DCE3"/>
            </a:solidFill>
            <a:prstDash val="solid"/>
          </a:ln>
        </p:spPr>
      </p:sp>
      <p:sp>
        <p:nvSpPr>
          <p:cNvPr id="4" name="Shape 2"/>
          <p:cNvSpPr/>
          <p:nvPr/>
        </p:nvSpPr>
        <p:spPr>
          <a:xfrm>
            <a:off x="1244575" y="1828800"/>
            <a:ext cx="457200" cy="457200"/>
          </a:xfrm>
          <a:prstGeom prst="ellipse">
            <a:avLst/>
          </a:prstGeom>
          <a:solidFill>
            <a:srgbClr val="2F7D62"/>
          </a:solidFill>
          <a:ln/>
        </p:spPr>
      </p:sp>
      <p:sp>
        <p:nvSpPr>
          <p:cNvPr id="5" name="Text 3"/>
          <p:cNvSpPr txBox="1"/>
          <p:nvPr/>
        </p:nvSpPr>
        <p:spPr>
          <a:xfrm>
            <a:off x="1244575"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2423160"/>
            <a:ext cx="1757629"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Pourquoi Spark</a:t>
            </a:r>
            <a:endParaRPr lang="en-US" sz="1500" dirty="0"/>
          </a:p>
        </p:txBody>
      </p:sp>
      <p:sp>
        <p:nvSpPr>
          <p:cNvPr id="7" name="Text 5"/>
          <p:cNvSpPr txBox="1"/>
          <p:nvPr/>
        </p:nvSpPr>
        <p:spPr>
          <a:xfrm>
            <a:off x="594360" y="2926080"/>
            <a:ext cx="1757629"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quand pandas ne suffit plus</a:t>
            </a:r>
            <a:endParaRPr lang="en-US" sz="1300" dirty="0"/>
          </a:p>
        </p:txBody>
      </p:sp>
      <p:sp>
        <p:nvSpPr>
          <p:cNvPr id="8" name="Shape 6"/>
          <p:cNvSpPr/>
          <p:nvPr/>
        </p:nvSpPr>
        <p:spPr>
          <a:xfrm>
            <a:off x="3093644" y="1828800"/>
            <a:ext cx="457200" cy="457200"/>
          </a:xfrm>
          <a:prstGeom prst="ellipse">
            <a:avLst/>
          </a:prstGeom>
          <a:solidFill>
            <a:srgbClr val="2F7D62"/>
          </a:solidFill>
          <a:ln/>
        </p:spPr>
      </p:sp>
      <p:sp>
        <p:nvSpPr>
          <p:cNvPr id="9" name="Text 7"/>
          <p:cNvSpPr txBox="1"/>
          <p:nvPr/>
        </p:nvSpPr>
        <p:spPr>
          <a:xfrm>
            <a:off x="3093644"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2443429" y="2423160"/>
            <a:ext cx="1757629"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Le modèle</a:t>
            </a:r>
            <a:endParaRPr lang="en-US" sz="1500" dirty="0"/>
          </a:p>
        </p:txBody>
      </p:sp>
      <p:sp>
        <p:nvSpPr>
          <p:cNvPr id="11" name="Text 9"/>
          <p:cNvSpPr txBox="1"/>
          <p:nvPr/>
        </p:nvSpPr>
        <p:spPr>
          <a:xfrm>
            <a:off x="2443429" y="2926080"/>
            <a:ext cx="1757629"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cluster, partitions, paresse</a:t>
            </a:r>
            <a:endParaRPr lang="en-US" sz="1300" dirty="0"/>
          </a:p>
        </p:txBody>
      </p:sp>
      <p:sp>
        <p:nvSpPr>
          <p:cNvPr id="12" name="Shape 10"/>
          <p:cNvSpPr/>
          <p:nvPr/>
        </p:nvSpPr>
        <p:spPr>
          <a:xfrm>
            <a:off x="4942713" y="1828800"/>
            <a:ext cx="457200" cy="457200"/>
          </a:xfrm>
          <a:prstGeom prst="ellipse">
            <a:avLst/>
          </a:prstGeom>
          <a:solidFill>
            <a:srgbClr val="2F7D62"/>
          </a:solidFill>
          <a:ln/>
        </p:spPr>
      </p:sp>
      <p:sp>
        <p:nvSpPr>
          <p:cNvPr id="13" name="Text 11"/>
          <p:cNvSpPr txBox="1"/>
          <p:nvPr/>
        </p:nvSpPr>
        <p:spPr>
          <a:xfrm>
            <a:off x="4942713"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4292498" y="2423160"/>
            <a:ext cx="1757629"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pandas et PySpark</a:t>
            </a:r>
            <a:endParaRPr lang="en-US" sz="1500" dirty="0"/>
          </a:p>
        </p:txBody>
      </p:sp>
      <p:sp>
        <p:nvSpPr>
          <p:cNvPr id="15" name="Text 13"/>
          <p:cNvSpPr txBox="1"/>
          <p:nvPr/>
        </p:nvSpPr>
        <p:spPr>
          <a:xfrm>
            <a:off x="4292498" y="2926080"/>
            <a:ext cx="1757629"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les mêmes opérations, côte à côte</a:t>
            </a:r>
            <a:endParaRPr lang="en-US" sz="1300" dirty="0"/>
          </a:p>
        </p:txBody>
      </p:sp>
      <p:sp>
        <p:nvSpPr>
          <p:cNvPr id="16" name="Shape 14"/>
          <p:cNvSpPr/>
          <p:nvPr/>
        </p:nvSpPr>
        <p:spPr>
          <a:xfrm>
            <a:off x="6791782" y="1828800"/>
            <a:ext cx="457200" cy="457200"/>
          </a:xfrm>
          <a:prstGeom prst="ellipse">
            <a:avLst/>
          </a:prstGeom>
          <a:solidFill>
            <a:srgbClr val="2F7D62"/>
          </a:solidFill>
          <a:ln/>
        </p:spPr>
      </p:sp>
      <p:sp>
        <p:nvSpPr>
          <p:cNvPr id="17" name="Text 15"/>
          <p:cNvSpPr txBox="1"/>
          <p:nvPr/>
        </p:nvSpPr>
        <p:spPr>
          <a:xfrm>
            <a:off x="6791782"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6141568" y="2423160"/>
            <a:ext cx="1757629"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SQL</a:t>
            </a:r>
            <a:endParaRPr lang="en-US" sz="1500" dirty="0"/>
          </a:p>
        </p:txBody>
      </p:sp>
      <p:sp>
        <p:nvSpPr>
          <p:cNvPr id="19" name="Text 17"/>
          <p:cNvSpPr txBox="1"/>
          <p:nvPr/>
        </p:nvSpPr>
        <p:spPr>
          <a:xfrm>
            <a:off x="6141568" y="2926080"/>
            <a:ext cx="1757629"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la même requête, autrement</a:t>
            </a:r>
            <a:endParaRPr lang="en-US" sz="1300" dirty="0"/>
          </a:p>
        </p:txBody>
      </p:sp>
      <p:sp>
        <p:nvSpPr>
          <p:cNvPr id="20" name="Shape 18"/>
          <p:cNvSpPr/>
          <p:nvPr/>
        </p:nvSpPr>
        <p:spPr>
          <a:xfrm>
            <a:off x="8640851" y="1828800"/>
            <a:ext cx="457200" cy="457200"/>
          </a:xfrm>
          <a:prstGeom prst="ellipse">
            <a:avLst/>
          </a:prstGeom>
          <a:solidFill>
            <a:srgbClr val="2F7D62"/>
          </a:solidFill>
          <a:ln/>
        </p:spPr>
      </p:sp>
      <p:sp>
        <p:nvSpPr>
          <p:cNvPr id="21" name="Text 19"/>
          <p:cNvSpPr txBox="1"/>
          <p:nvPr/>
        </p:nvSpPr>
        <p:spPr>
          <a:xfrm>
            <a:off x="8640851"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7990637" y="2423160"/>
            <a:ext cx="1757629"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Bien choisir</a:t>
            </a:r>
            <a:endParaRPr lang="en-US" sz="1500" dirty="0"/>
          </a:p>
        </p:txBody>
      </p:sp>
      <p:sp>
        <p:nvSpPr>
          <p:cNvPr id="23" name="Text 21"/>
          <p:cNvSpPr txBox="1"/>
          <p:nvPr/>
        </p:nvSpPr>
        <p:spPr>
          <a:xfrm>
            <a:off x="7990637" y="2926080"/>
            <a:ext cx="1757629"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pandas, Polars, DuckDB ou Spark</a:t>
            </a:r>
            <a:endParaRPr lang="en-US" sz="1300" dirty="0"/>
          </a:p>
        </p:txBody>
      </p:sp>
      <p:sp>
        <p:nvSpPr>
          <p:cNvPr id="24" name="Shape 22"/>
          <p:cNvSpPr/>
          <p:nvPr/>
        </p:nvSpPr>
        <p:spPr>
          <a:xfrm>
            <a:off x="10489921" y="1828800"/>
            <a:ext cx="457200" cy="457200"/>
          </a:xfrm>
          <a:prstGeom prst="ellipse">
            <a:avLst/>
          </a:prstGeom>
          <a:solidFill>
            <a:srgbClr val="2F7D62"/>
          </a:solidFill>
          <a:ln/>
        </p:spPr>
      </p:sp>
      <p:sp>
        <p:nvSpPr>
          <p:cNvPr id="25" name="Text 23"/>
          <p:cNvSpPr txBox="1"/>
          <p:nvPr/>
        </p:nvSpPr>
        <p:spPr>
          <a:xfrm>
            <a:off x="10489921"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9839706" y="2423160"/>
            <a:ext cx="1757629"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TP bonus C</a:t>
            </a:r>
            <a:endParaRPr lang="en-US" sz="1500" dirty="0"/>
          </a:p>
        </p:txBody>
      </p:sp>
      <p:sp>
        <p:nvSpPr>
          <p:cNvPr id="27" name="Text 25"/>
          <p:cNvSpPr txBox="1"/>
          <p:nvPr/>
        </p:nvSpPr>
        <p:spPr>
          <a:xfrm>
            <a:off x="9839706" y="2926080"/>
            <a:ext cx="1757629"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parties 1 à 5</a:t>
            </a:r>
            <a:endParaRPr lang="en-US" sz="1300" dirty="0"/>
          </a:p>
        </p:txBody>
      </p:sp>
      <p:sp>
        <p:nvSpPr>
          <p:cNvPr id="28" name="Shape 26"/>
          <p:cNvSpPr/>
          <p:nvPr/>
        </p:nvSpPr>
        <p:spPr>
          <a:xfrm>
            <a:off x="548640" y="3657600"/>
            <a:ext cx="11094415" cy="624840"/>
          </a:xfrm>
          <a:prstGeom prst="roundRect">
            <a:avLst>
              <a:gd name="adj" fmla="val 8780"/>
            </a:avLst>
          </a:prstGeom>
          <a:solidFill>
            <a:srgbClr val="E8F3EE"/>
          </a:solidFill>
          <a:ln/>
        </p:spPr>
      </p:sp>
      <p:sp>
        <p:nvSpPr>
          <p:cNvPr id="29" name="Text 27"/>
          <p:cNvSpPr txBox="1"/>
          <p:nvPr/>
        </p:nvSpPr>
        <p:spPr>
          <a:xfrm>
            <a:off x="822960" y="365760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Objectif : lire et écrire un traitement PySpark simple, et savoir quand il vaut la peine.</a:t>
            </a:r>
            <a:endParaRPr lang="en-US" sz="1700" dirty="0"/>
          </a:p>
        </p:txBody>
      </p:sp>
      <p:sp>
        <p:nvSpPr>
          <p:cNvPr id="30" name="Text 2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Bonus PySpark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Pourquoi Spark</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Les limites d'une machine   |   Le modèle de Spark   |   L'évaluation paresseuse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POURQUOI SPARK</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Quand les données ne tiennent plus sur une machine</a:t>
            </a:r>
            <a:endParaRPr lang="en-US" sz="3000" dirty="0"/>
          </a:p>
        </p:txBody>
      </p:sp>
      <p:sp>
        <p:nvSpPr>
          <p:cNvPr id="6" name="Text 4"/>
          <p:cNvSpPr txBox="1"/>
          <p:nvPr/>
        </p:nvSpPr>
        <p:spPr>
          <a:xfrm>
            <a:off x="548640" y="1417320"/>
            <a:ext cx="5318608" cy="282956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pandas charge </a:t>
            </a:r>
            <a:pPr indent="0" marL="0">
              <a:buNone/>
            </a:pPr>
            <a:r>
              <a:rPr lang="en-US" sz="1700" b="1" dirty="0">
                <a:solidFill>
                  <a:srgbClr val="1F2933"/>
                </a:solidFill>
                <a:latin typeface="Calibri" pitchFamily="34" charset="0"/>
                <a:ea typeface="Calibri" pitchFamily="34" charset="-122"/>
                <a:cs typeface="Calibri" pitchFamily="34" charset="-120"/>
              </a:rPr>
              <a:t>toute la table en mémoire</a:t>
            </a:r>
            <a:pPr indent="0" marL="0">
              <a:buNone/>
            </a:pPr>
            <a:r>
              <a:rPr lang="en-US" sz="1700" dirty="0">
                <a:solidFill>
                  <a:srgbClr val="1F2933"/>
                </a:solidFill>
                <a:latin typeface="Calibri" pitchFamily="34" charset="0"/>
                <a:ea typeface="Calibri" pitchFamily="34" charset="-122"/>
                <a:cs typeface="Calibri" pitchFamily="34" charset="-120"/>
              </a:rPr>
              <a:t>, sur une seule machine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Au-delà de la mémoire disponible : le calcul échoue ou la machine sature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Spark découpe les données en </a:t>
            </a:r>
            <a:pPr indent="0" marL="0">
              <a:buNone/>
            </a:pPr>
            <a:r>
              <a:rPr lang="en-US" sz="1700" b="1" dirty="0">
                <a:solidFill>
                  <a:srgbClr val="1F2933"/>
                </a:solidFill>
                <a:latin typeface="Calibri" pitchFamily="34" charset="0"/>
                <a:ea typeface="Calibri" pitchFamily="34" charset="-122"/>
                <a:cs typeface="Calibri" pitchFamily="34" charset="-120"/>
              </a:rPr>
              <a:t>partitions</a:t>
            </a:r>
            <a:pPr indent="0" marL="0">
              <a:buNone/>
            </a:pPr>
            <a:r>
              <a:rPr lang="en-US" sz="1700" dirty="0">
                <a:solidFill>
                  <a:srgbClr val="1F2933"/>
                </a:solidFill>
                <a:latin typeface="Calibri" pitchFamily="34" charset="0"/>
                <a:ea typeface="Calibri" pitchFamily="34" charset="-122"/>
                <a:cs typeface="Calibri" pitchFamily="34" charset="-120"/>
              </a:rPr>
              <a:t> et les traite </a:t>
            </a:r>
            <a:pPr indent="0" marL="0">
              <a:buNone/>
            </a:pPr>
            <a:r>
              <a:rPr lang="en-US" sz="1700" b="1" dirty="0">
                <a:solidFill>
                  <a:srgbClr val="1F2933"/>
                </a:solidFill>
                <a:latin typeface="Calibri" pitchFamily="34" charset="0"/>
                <a:ea typeface="Calibri" pitchFamily="34" charset="-122"/>
                <a:cs typeface="Calibri" pitchFamily="34" charset="-120"/>
              </a:rPr>
              <a:t>en parallèle</a:t>
            </a:r>
            <a:pPr indent="0" marL="0">
              <a:buNone/>
            </a:pPr>
            <a:r>
              <a:rPr lang="en-US" sz="1700" dirty="0">
                <a:solidFill>
                  <a:srgbClr val="1F2933"/>
                </a:solidFill>
                <a:latin typeface="Calibri" pitchFamily="34" charset="0"/>
                <a:ea typeface="Calibri" pitchFamily="34" charset="-122"/>
                <a:cs typeface="Calibri" pitchFamily="34" charset="-120"/>
              </a:rPr>
              <a:t>, sur plusieurs cœurs ou plusieurs machines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Le même code tourne sur un portable (</a:t>
            </a:r>
            <a:pPr indent="0" marL="0">
              <a:buNone/>
            </a:pPr>
            <a:r>
              <a:rPr lang="en-US" sz="1700" dirty="0">
                <a:solidFill>
                  <a:srgbClr val="1F3A5F"/>
                </a:solidFill>
                <a:latin typeface="Courier New" pitchFamily="34" charset="0"/>
                <a:ea typeface="Courier New" pitchFamily="34" charset="-122"/>
                <a:cs typeface="Courier New" pitchFamily="34" charset="-120"/>
              </a:rPr>
              <a:t>local[*]</a:t>
            </a:r>
            <a:pPr indent="0" marL="0">
              <a:buNone/>
            </a:pPr>
            <a:r>
              <a:rPr lang="en-US" sz="1700" dirty="0">
                <a:solidFill>
                  <a:srgbClr val="1F2933"/>
                </a:solidFill>
                <a:latin typeface="Calibri" pitchFamily="34" charset="0"/>
                <a:ea typeface="Calibri" pitchFamily="34" charset="-122"/>
                <a:cs typeface="Calibri" pitchFamily="34" charset="-120"/>
              </a:rPr>
              <a:t>) ou sur un cluster de centaines de machines</a:t>
            </a:r>
            <a:endParaRPr lang="en-US" sz="1700" dirty="0"/>
          </a:p>
        </p:txBody>
      </p:sp>
      <p:sp>
        <p:nvSpPr>
          <p:cNvPr id="7" name="Shape 5"/>
          <p:cNvSpPr/>
          <p:nvPr/>
        </p:nvSpPr>
        <p:spPr>
          <a:xfrm>
            <a:off x="6324448" y="1417320"/>
            <a:ext cx="2522144" cy="2270760"/>
          </a:xfrm>
          <a:prstGeom prst="roundRect">
            <a:avLst>
              <a:gd name="adj" fmla="val 3221"/>
            </a:avLst>
          </a:prstGeom>
          <a:solidFill>
            <a:srgbClr val="EEF3F7"/>
          </a:solidFill>
          <a:ln/>
        </p:spPr>
      </p:sp>
      <p:sp>
        <p:nvSpPr>
          <p:cNvPr id="8" name="Shape 6"/>
          <p:cNvSpPr/>
          <p:nvPr/>
        </p:nvSpPr>
        <p:spPr>
          <a:xfrm>
            <a:off x="6553048" y="1691640"/>
            <a:ext cx="402336" cy="402336"/>
          </a:xfrm>
          <a:prstGeom prst="ellipse">
            <a:avLst/>
          </a:prstGeom>
          <a:solidFill>
            <a:srgbClr val="2F7D62"/>
          </a:solidFill>
          <a:ln/>
        </p:spPr>
      </p:sp>
      <p:sp>
        <p:nvSpPr>
          <p:cNvPr id="9" name="Text 7"/>
          <p:cNvSpPr txBox="1"/>
          <p:nvPr/>
        </p:nvSpPr>
        <p:spPr>
          <a:xfrm>
            <a:off x="655304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a:t>
            </a:r>
            <a:endParaRPr lang="en-US" sz="1500" dirty="0"/>
          </a:p>
        </p:txBody>
      </p:sp>
      <p:sp>
        <p:nvSpPr>
          <p:cNvPr id="10" name="Text 8"/>
          <p:cNvSpPr txBox="1"/>
          <p:nvPr/>
        </p:nvSpPr>
        <p:spPr>
          <a:xfrm>
            <a:off x="6553048" y="2240280"/>
            <a:ext cx="2064944"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Spark</a:t>
            </a:r>
            <a:endParaRPr lang="en-US" sz="1800" dirty="0"/>
          </a:p>
        </p:txBody>
      </p:sp>
      <p:sp>
        <p:nvSpPr>
          <p:cNvPr id="11" name="Text 9"/>
          <p:cNvSpPr txBox="1"/>
          <p:nvPr/>
        </p:nvSpPr>
        <p:spPr>
          <a:xfrm>
            <a:off x="6553048" y="2606040"/>
            <a:ext cx="2064944" cy="8991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Le moteur de calcul distribué, écrit en Scala, qui tourne dans une machine virtuelle Java.</a:t>
            </a:r>
            <a:endParaRPr lang="en-US" sz="1400" dirty="0"/>
          </a:p>
        </p:txBody>
      </p:sp>
      <p:sp>
        <p:nvSpPr>
          <p:cNvPr id="12" name="Shape 10"/>
          <p:cNvSpPr/>
          <p:nvPr/>
        </p:nvSpPr>
        <p:spPr>
          <a:xfrm>
            <a:off x="9120911" y="1417320"/>
            <a:ext cx="2522144" cy="2270760"/>
          </a:xfrm>
          <a:prstGeom prst="roundRect">
            <a:avLst>
              <a:gd name="adj" fmla="val 3221"/>
            </a:avLst>
          </a:prstGeom>
          <a:solidFill>
            <a:srgbClr val="EEF3F7"/>
          </a:solidFill>
          <a:ln/>
        </p:spPr>
      </p:sp>
      <p:sp>
        <p:nvSpPr>
          <p:cNvPr id="13" name="Shape 11"/>
          <p:cNvSpPr/>
          <p:nvPr/>
        </p:nvSpPr>
        <p:spPr>
          <a:xfrm>
            <a:off x="9349511" y="1691640"/>
            <a:ext cx="402336" cy="402336"/>
          </a:xfrm>
          <a:prstGeom prst="ellipse">
            <a:avLst/>
          </a:prstGeom>
          <a:solidFill>
            <a:srgbClr val="2F7D62"/>
          </a:solidFill>
          <a:ln/>
        </p:spPr>
      </p:sp>
      <p:sp>
        <p:nvSpPr>
          <p:cNvPr id="14" name="Text 12"/>
          <p:cNvSpPr txBox="1"/>
          <p:nvPr/>
        </p:nvSpPr>
        <p:spPr>
          <a:xfrm>
            <a:off x="9349511"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t>
            </a:r>
            <a:endParaRPr lang="en-US" sz="1500" dirty="0"/>
          </a:p>
        </p:txBody>
      </p:sp>
      <p:sp>
        <p:nvSpPr>
          <p:cNvPr id="15" name="Text 13"/>
          <p:cNvSpPr txBox="1"/>
          <p:nvPr/>
        </p:nvSpPr>
        <p:spPr>
          <a:xfrm>
            <a:off x="9349511" y="2240280"/>
            <a:ext cx="2064944"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PySpark</a:t>
            </a:r>
            <a:endParaRPr lang="en-US" sz="1800" dirty="0"/>
          </a:p>
        </p:txBody>
      </p:sp>
      <p:sp>
        <p:nvSpPr>
          <p:cNvPr id="16" name="Text 14"/>
          <p:cNvSpPr txBox="1"/>
          <p:nvPr/>
        </p:nvSpPr>
        <p:spPr>
          <a:xfrm>
            <a:off x="9349511" y="2606040"/>
            <a:ext cx="2064944" cy="8991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L'interface Python de Spark : on écrit du Python, Spark exécute le calcul.</a:t>
            </a:r>
            <a:endParaRPr lang="en-US" sz="1400" dirty="0"/>
          </a:p>
        </p:txBody>
      </p:sp>
      <p:sp>
        <p:nvSpPr>
          <p:cNvPr id="17" name="Text 1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Bonus PySpark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POURQUOI SPARK</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modèle : un pilote, des exécuteurs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802117" cy="914400"/>
        </p:xfrm>
        <a:graphic>
          <a:graphicData uri="http://schemas.openxmlformats.org/drawingml/2006/table">
            <a:tbl>
              <a:tblPr/>
              <a:tblGrid>
                <a:gridCol w="1631846"/>
                <a:gridCol w="4170272"/>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Élément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Rôle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84454">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SparkSession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 point d'entrée, créé une fois au début : </a:t>
                      </a:r>
                      <a:pPr indent="0" marL="0">
                        <a:buNone/>
                      </a:pPr>
                      <a:r>
                        <a:rPr lang="en-US" sz="1500" dirty="0">
                          <a:solidFill>
                            <a:srgbClr val="1F3A5F"/>
                          </a:solidFill>
                          <a:latin typeface="Courier New" pitchFamily="34" charset="0"/>
                          <a:ea typeface="Courier New" pitchFamily="34" charset="-122"/>
                          <a:cs typeface="Courier New" pitchFamily="34" charset="-120"/>
                        </a:rPr>
                        <a:t>spark</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Pilote (driver)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 programme Python : il planifie le calcul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84454">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Exécuteurs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les processus qui calculent, chacun sur ses partitions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Partition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morceau de la table, traité indépendamment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Text 4"/>
          <p:cNvSpPr txBox="1"/>
          <p:nvPr/>
        </p:nvSpPr>
        <p:spPr>
          <a:xfrm>
            <a:off x="6807957" y="1417320"/>
            <a:ext cx="483509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Démarrer une session locale</a:t>
            </a:r>
            <a:endParaRPr lang="en-US" sz="1200" dirty="0"/>
          </a:p>
        </p:txBody>
      </p:sp>
      <p:sp>
        <p:nvSpPr>
          <p:cNvPr id="8" name="Shape 5"/>
          <p:cNvSpPr/>
          <p:nvPr/>
        </p:nvSpPr>
        <p:spPr>
          <a:xfrm>
            <a:off x="6807957" y="1709928"/>
            <a:ext cx="4835098" cy="1551432"/>
          </a:xfrm>
          <a:prstGeom prst="rect">
            <a:avLst/>
          </a:prstGeom>
          <a:solidFill>
            <a:srgbClr val="F3F4F6"/>
          </a:solidFill>
          <a:ln/>
        </p:spPr>
      </p:sp>
      <p:sp>
        <p:nvSpPr>
          <p:cNvPr id="9" name="Text 6"/>
          <p:cNvSpPr txBox="1"/>
          <p:nvPr/>
        </p:nvSpPr>
        <p:spPr>
          <a:xfrm>
            <a:off x="6990837" y="1856232"/>
            <a:ext cx="4469338" cy="125882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from pyspark.sql import SparkSession</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from pyspark.sql import functions as F</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spark = (SparkSession.builder</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.master("local[*]")</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.getOrCreate())</a:t>
            </a:r>
            <a:endParaRPr lang="en-US" sz="1400" dirty="0"/>
          </a:p>
        </p:txBody>
      </p:sp>
      <p:sp>
        <p:nvSpPr>
          <p:cNvPr id="10" name="Text 7"/>
          <p:cNvSpPr txBox="1"/>
          <p:nvPr/>
        </p:nvSpPr>
        <p:spPr>
          <a:xfrm>
            <a:off x="6807957" y="3581400"/>
            <a:ext cx="4835098" cy="5943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local[*]</a:t>
            </a:r>
            <a:pPr indent="0" marL="0">
              <a:buNone/>
            </a:pPr>
            <a:r>
              <a:rPr lang="en-US" sz="1500" dirty="0">
                <a:solidFill>
                  <a:srgbClr val="6B7280"/>
                </a:solidFill>
                <a:latin typeface="Calibri" pitchFamily="34" charset="0"/>
                <a:ea typeface="Calibri" pitchFamily="34" charset="-122"/>
                <a:cs typeface="Calibri" pitchFamily="34" charset="-120"/>
              </a:rPr>
              <a:t> : tout tourne sur ta machine, avec un exécuteur par cœur.</a:t>
            </a:r>
            <a:endParaRPr lang="en-US" sz="1500" dirty="0"/>
          </a:p>
        </p:txBody>
      </p:sp>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Bonus PySpark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POURQUOI SPARK</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Transformations et actions</a:t>
            </a:r>
            <a:endParaRPr lang="en-US" sz="3000" dirty="0"/>
          </a:p>
        </p:txBody>
      </p:sp>
      <p:sp>
        <p:nvSpPr>
          <p:cNvPr id="6" name="Text 4"/>
          <p:cNvSpPr txBox="1"/>
          <p:nvPr/>
        </p:nvSpPr>
        <p:spPr>
          <a:xfrm>
            <a:off x="548640"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Transformations : instantanées, rien n'est calculé</a:t>
            </a:r>
            <a:endParaRPr lang="en-US" sz="1200" dirty="0"/>
          </a:p>
        </p:txBody>
      </p:sp>
      <p:sp>
        <p:nvSpPr>
          <p:cNvPr id="7" name="Shape 5"/>
          <p:cNvSpPr/>
          <p:nvPr/>
        </p:nvSpPr>
        <p:spPr>
          <a:xfrm>
            <a:off x="548640" y="1709928"/>
            <a:ext cx="5318608" cy="922020"/>
          </a:xfrm>
          <a:prstGeom prst="rect">
            <a:avLst/>
          </a:prstGeom>
          <a:solidFill>
            <a:srgbClr val="F3F4F6"/>
          </a:solidFill>
          <a:ln/>
        </p:spPr>
      </p:sp>
      <p:sp>
        <p:nvSpPr>
          <p:cNvPr id="8" name="Text 6"/>
          <p:cNvSpPr txBox="1"/>
          <p:nvPr/>
        </p:nvSpPr>
        <p:spPr>
          <a:xfrm>
            <a:off x="731520" y="1856232"/>
            <a:ext cx="4952848" cy="629412"/>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grosses = (ventes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.filter(F.col("montant") &gt; 500)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.select("region", "montant"))</a:t>
            </a:r>
            <a:endParaRPr lang="en-US" sz="1400" dirty="0"/>
          </a:p>
        </p:txBody>
      </p:sp>
      <p:sp>
        <p:nvSpPr>
          <p:cNvPr id="9" name="Text 7"/>
          <p:cNvSpPr txBox="1"/>
          <p:nvPr/>
        </p:nvSpPr>
        <p:spPr>
          <a:xfrm>
            <a:off x="548640" y="2951988"/>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Action : Spark optimise puis calcule</a:t>
            </a:r>
            <a:endParaRPr lang="en-US" sz="1200" dirty="0"/>
          </a:p>
        </p:txBody>
      </p:sp>
      <p:sp>
        <p:nvSpPr>
          <p:cNvPr id="10" name="Shape 8"/>
          <p:cNvSpPr/>
          <p:nvPr/>
        </p:nvSpPr>
        <p:spPr>
          <a:xfrm>
            <a:off x="548640" y="3244596"/>
            <a:ext cx="5318608" cy="502412"/>
          </a:xfrm>
          <a:prstGeom prst="rect">
            <a:avLst/>
          </a:prstGeom>
          <a:solidFill>
            <a:srgbClr val="F3F4F6"/>
          </a:solidFill>
          <a:ln/>
        </p:spPr>
      </p:sp>
      <p:sp>
        <p:nvSpPr>
          <p:cNvPr id="11" name="Text 9"/>
          <p:cNvSpPr txBox="1"/>
          <p:nvPr/>
        </p:nvSpPr>
        <p:spPr>
          <a:xfrm>
            <a:off x="731520" y="3390900"/>
            <a:ext cx="4952848" cy="20980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grosses.count()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324448" y="1417320"/>
          <a:ext cx="5318608" cy="914400"/>
        </p:xfrm>
        <a:graphic>
          <a:graphicData uri="http://schemas.openxmlformats.org/drawingml/2006/table">
            <a:tbl>
              <a:tblPr/>
              <a:tblGrid>
                <a:gridCol w="2659304"/>
                <a:gridCol w="2659304"/>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Transformations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select</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filter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show</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count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withColumn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collect</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first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groupBy().agg()</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toPandas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join</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orderBy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write...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13" name="Shape 10"/>
          <p:cNvSpPr/>
          <p:nvPr/>
        </p:nvSpPr>
        <p:spPr>
          <a:xfrm>
            <a:off x="6324448" y="3564255"/>
            <a:ext cx="5318608" cy="822960"/>
          </a:xfrm>
          <a:prstGeom prst="roundRect">
            <a:avLst>
              <a:gd name="adj" fmla="val 6667"/>
            </a:avLst>
          </a:prstGeom>
          <a:solidFill>
            <a:srgbClr val="E8F3EE"/>
          </a:solidFill>
          <a:ln/>
        </p:spPr>
      </p:sp>
      <p:sp>
        <p:nvSpPr>
          <p:cNvPr id="14" name="Text 11"/>
          <p:cNvSpPr txBox="1"/>
          <p:nvPr/>
        </p:nvSpPr>
        <p:spPr>
          <a:xfrm>
            <a:off x="6598768" y="3564255"/>
            <a:ext cx="4769968" cy="822960"/>
          </a:xfrm>
          <a:prstGeom prst="rect">
            <a:avLst/>
          </a:prstGeom>
          <a:noFill/>
          <a:ln/>
        </p:spPr>
        <p:txBody>
          <a:bodyPr wrap="square" lIns="0" tIns="0" rIns="0" bIns="0" rtlCol="0" anchor="ctr"/>
          <a:lstStyle/>
          <a:p>
            <a:pPr indent="0" marL="0">
              <a:buNone/>
            </a:pPr>
            <a:r>
              <a:rPr lang="en-US" sz="1500" dirty="0">
                <a:solidFill>
                  <a:srgbClr val="1F3A5F"/>
                </a:solidFill>
                <a:latin typeface="Calibri" pitchFamily="34" charset="0"/>
                <a:ea typeface="Calibri" pitchFamily="34" charset="-122"/>
                <a:cs typeface="Calibri" pitchFamily="34" charset="-120"/>
              </a:rPr>
              <a:t>Spark est </a:t>
            </a:r>
            <a:pPr indent="0" marL="0">
              <a:buNone/>
            </a:pPr>
            <a:r>
              <a:rPr lang="en-US" sz="1500" b="1" dirty="0">
                <a:solidFill>
                  <a:srgbClr val="1F3A5F"/>
                </a:solidFill>
                <a:latin typeface="Calibri" pitchFamily="34" charset="0"/>
                <a:ea typeface="Calibri" pitchFamily="34" charset="-122"/>
                <a:cs typeface="Calibri" pitchFamily="34" charset="-120"/>
              </a:rPr>
              <a:t>paresseux</a:t>
            </a:r>
            <a:pPr indent="0" marL="0">
              <a:buNone/>
            </a:pPr>
            <a:r>
              <a:rPr lang="en-US" sz="1500" dirty="0">
                <a:solidFill>
                  <a:srgbClr val="1F3A5F"/>
                </a:solidFill>
                <a:latin typeface="Calibri" pitchFamily="34" charset="0"/>
                <a:ea typeface="Calibri" pitchFamily="34" charset="-122"/>
                <a:cs typeface="Calibri" pitchFamily="34" charset="-120"/>
              </a:rPr>
              <a:t> : il attend une action pour connaître toute la chaîne, l'optimiser et la lancer.</a:t>
            </a:r>
            <a:endParaRPr lang="en-US" sz="1500" dirty="0"/>
          </a:p>
        </p:txBody>
      </p:sp>
      <p:sp>
        <p:nvSpPr>
          <p:cNvPr id="15"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Bonus PySpark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pandas et PySpark côte à côte</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Lire, explorer   |   Transformer   |   Agréger, joindre   |   SQL</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PANDAS ET PYSPARK CÔTE À CÔTE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Lire et explorer</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957838"/>
                <a:gridCol w="4350751"/>
                <a:gridCol w="4785826"/>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pandas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PySpark</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Lire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pd.read_parquet(chemin)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spark.read.parquet(chemin)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Lire un CSV</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pd.read_csv(chemin)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spark.read.csv(chemin, header=True, inferSchema=True)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Aperçu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df.head()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df.show(5)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Types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df.dtypes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df.printSchema()</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Nombre de lignes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len(df)</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df.count()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Colonnes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df[["a", "b"]]</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df.select("a", "b")</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Text 4"/>
          <p:cNvSpPr txBox="1"/>
          <p:nvPr/>
        </p:nvSpPr>
        <p:spPr>
          <a:xfrm>
            <a:off x="548640" y="4514088"/>
            <a:ext cx="11094415" cy="3657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spark.read.csv</a:t>
            </a:r>
            <a:pPr indent="0" marL="0">
              <a:buNone/>
            </a:pPr>
            <a:r>
              <a:rPr lang="en-US" sz="1500" dirty="0">
                <a:solidFill>
                  <a:srgbClr val="6B7280"/>
                </a:solidFill>
                <a:latin typeface="Calibri" pitchFamily="34" charset="0"/>
                <a:ea typeface="Calibri" pitchFamily="34" charset="-122"/>
                <a:cs typeface="Calibri" pitchFamily="34" charset="-120"/>
              </a:rPr>
              <a:t> accepte un dossier ou un pattern (</a:t>
            </a:r>
            <a:pPr indent="0" marL="0">
              <a:buNone/>
            </a:pPr>
            <a:r>
              <a:rPr lang="en-US" sz="1500" dirty="0">
                <a:solidFill>
                  <a:srgbClr val="1F3A5F"/>
                </a:solidFill>
                <a:latin typeface="Courier New" pitchFamily="34" charset="0"/>
                <a:ea typeface="Courier New" pitchFamily="34" charset="-122"/>
                <a:cs typeface="Courier New" pitchFamily="34" charset="-120"/>
              </a:rPr>
              <a:t>ventes/*.csv</a:t>
            </a:r>
            <a:pPr indent="0" marL="0">
              <a:buNone/>
            </a:pPr>
            <a:r>
              <a:rPr lang="en-US" sz="1500" dirty="0">
                <a:solidFill>
                  <a:srgbClr val="6B7280"/>
                </a:solidFill>
                <a:latin typeface="Calibri" pitchFamily="34" charset="0"/>
                <a:ea typeface="Calibri" pitchFamily="34" charset="-122"/>
                <a:cs typeface="Calibri" pitchFamily="34" charset="-120"/>
              </a:rPr>
              <a:t>) : plus besoin de boucle et de </a:t>
            </a:r>
            <a:pPr indent="0" marL="0">
              <a:buNone/>
            </a:pPr>
            <a:r>
              <a:rPr lang="en-US" sz="1500" dirty="0">
                <a:solidFill>
                  <a:srgbClr val="1F3A5F"/>
                </a:solidFill>
                <a:latin typeface="Courier New" pitchFamily="34" charset="0"/>
                <a:ea typeface="Courier New" pitchFamily="34" charset="-122"/>
                <a:cs typeface="Courier New" pitchFamily="34" charset="-120"/>
              </a:rPr>
              <a:t>concat</a:t>
            </a:r>
            <a:pPr indent="0" marL="0">
              <a:buNone/>
            </a:pPr>
            <a:r>
              <a:rPr lang="en-US" sz="1500" dirty="0">
                <a:solidFill>
                  <a:srgbClr val="6B7280"/>
                </a:solidFill>
                <a:latin typeface="Calibri" pitchFamily="34" charset="0"/>
                <a:ea typeface="Calibri" pitchFamily="34" charset="-122"/>
                <a:cs typeface="Calibri" pitchFamily="34" charset="-120"/>
              </a:rPr>
              <a:t>.</a:t>
            </a:r>
            <a:endParaRPr lang="en-US" sz="1500" dirty="0"/>
          </a:p>
        </p:txBody>
      </p:sp>
      <p:sp>
        <p:nvSpPr>
          <p:cNvPr id="8"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Bonus PySpark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PANDAS ET PYSPARK CÔTE À CÔTE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Transformer : les colonnes passent par F</a:t>
            </a:r>
            <a:endParaRPr lang="en-US" sz="3000" dirty="0"/>
          </a:p>
        </p:txBody>
      </p:sp>
      <p:sp>
        <p:nvSpPr>
          <p:cNvPr id="6" name="Text 4"/>
          <p:cNvSpPr txBox="1"/>
          <p:nvPr/>
        </p:nvSpPr>
        <p:spPr>
          <a:xfrm>
            <a:off x="548640"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pandas</a:t>
            </a:r>
            <a:endParaRPr lang="en-US" sz="1200" dirty="0"/>
          </a:p>
        </p:txBody>
      </p:sp>
      <p:sp>
        <p:nvSpPr>
          <p:cNvPr id="7" name="Shape 5"/>
          <p:cNvSpPr/>
          <p:nvPr/>
        </p:nvSpPr>
        <p:spPr>
          <a:xfrm>
            <a:off x="548640" y="1709928"/>
            <a:ext cx="5318608" cy="1971040"/>
          </a:xfrm>
          <a:prstGeom prst="rect">
            <a:avLst/>
          </a:prstGeom>
          <a:solidFill>
            <a:srgbClr val="F3F4F6"/>
          </a:solidFill>
          <a:ln/>
        </p:spPr>
      </p:sp>
      <p:sp>
        <p:nvSpPr>
          <p:cNvPr id="8" name="Text 6"/>
          <p:cNvSpPr txBox="1"/>
          <p:nvPr/>
        </p:nvSpPr>
        <p:spPr>
          <a:xfrm>
            <a:off x="731520" y="1856232"/>
            <a:ext cx="4952848" cy="1678432"/>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df["mois"] = df["date"].dt.month</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df["ttc"] = (df["montant"] * 1.2).round(2)</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df[(df["region"] == "Bretagne")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&amp; df["client_fidele"]]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df.sort_values("montant",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ascending=False)</a:t>
            </a:r>
            <a:endParaRPr lang="en-US" sz="1400" dirty="0"/>
          </a:p>
        </p:txBody>
      </p:sp>
      <p:sp>
        <p:nvSpPr>
          <p:cNvPr id="9" name="Text 7"/>
          <p:cNvSpPr txBox="1"/>
          <p:nvPr/>
        </p:nvSpPr>
        <p:spPr>
          <a:xfrm>
            <a:off x="6324448"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PySpark</a:t>
            </a:r>
            <a:endParaRPr lang="en-US" sz="1200" dirty="0"/>
          </a:p>
        </p:txBody>
      </p:sp>
      <p:sp>
        <p:nvSpPr>
          <p:cNvPr id="10" name="Shape 8"/>
          <p:cNvSpPr/>
          <p:nvPr/>
        </p:nvSpPr>
        <p:spPr>
          <a:xfrm>
            <a:off x="6324448" y="1709928"/>
            <a:ext cx="5318608" cy="2180844"/>
          </a:xfrm>
          <a:prstGeom prst="rect">
            <a:avLst/>
          </a:prstGeom>
          <a:solidFill>
            <a:srgbClr val="F3F4F6"/>
          </a:solidFill>
          <a:ln/>
        </p:spPr>
      </p:sp>
      <p:sp>
        <p:nvSpPr>
          <p:cNvPr id="11" name="Text 9"/>
          <p:cNvSpPr txBox="1"/>
          <p:nvPr/>
        </p:nvSpPr>
        <p:spPr>
          <a:xfrm>
            <a:off x="6507328" y="1856232"/>
            <a:ext cx="4952848" cy="1888236"/>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 = (df</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.withColumn("mois", F.month("date"))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.withColumn("ttc",</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F.round(F.col("montant") * 1.2, 2)))</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df.filter((F.col("region") == "Bretagne")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&amp; F.col("client_fidele"))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df.orderBy(F.desc("montant"))</a:t>
            </a:r>
            <a:endParaRPr lang="en-US" sz="1400" dirty="0"/>
          </a:p>
        </p:txBody>
      </p:sp>
      <p:sp>
        <p:nvSpPr>
          <p:cNvPr id="12" name="Shape 10"/>
          <p:cNvSpPr/>
          <p:nvPr/>
        </p:nvSpPr>
        <p:spPr>
          <a:xfrm>
            <a:off x="548640" y="4210812"/>
            <a:ext cx="11094415" cy="883920"/>
          </a:xfrm>
          <a:prstGeom prst="roundRect">
            <a:avLst>
              <a:gd name="adj" fmla="val 6207"/>
            </a:avLst>
          </a:prstGeom>
          <a:solidFill>
            <a:srgbClr val="E8F3EE"/>
          </a:solidFill>
          <a:ln/>
        </p:spPr>
      </p:sp>
      <p:sp>
        <p:nvSpPr>
          <p:cNvPr id="13" name="Text 11"/>
          <p:cNvSpPr txBox="1"/>
          <p:nvPr/>
        </p:nvSpPr>
        <p:spPr>
          <a:xfrm>
            <a:off x="822960" y="4210812"/>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Un DataFrame Spark ne se modifie jamais : chaque opération en renvoie un nouveau, qu'on range dans une variable.</a:t>
            </a:r>
            <a:endParaRPr lang="en-US" sz="1700" dirty="0"/>
          </a:p>
        </p:txBody>
      </p:sp>
      <p:sp>
        <p:nvSpPr>
          <p:cNvPr id="14"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Bonus PySpark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PANDAS ET PYSPARK CÔTE À CÔTE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Agréger et joindre</a:t>
            </a:r>
            <a:endParaRPr lang="en-US" sz="3000" dirty="0"/>
          </a:p>
        </p:txBody>
      </p:sp>
      <p:sp>
        <p:nvSpPr>
          <p:cNvPr id="6" name="Text 4"/>
          <p:cNvSpPr txBox="1"/>
          <p:nvPr/>
        </p:nvSpPr>
        <p:spPr>
          <a:xfrm>
            <a:off x="548640"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pandas</a:t>
            </a:r>
            <a:endParaRPr lang="en-US" sz="1200" dirty="0"/>
          </a:p>
        </p:txBody>
      </p:sp>
      <p:sp>
        <p:nvSpPr>
          <p:cNvPr id="7" name="Shape 5"/>
          <p:cNvSpPr/>
          <p:nvPr/>
        </p:nvSpPr>
        <p:spPr>
          <a:xfrm>
            <a:off x="548640" y="1709928"/>
            <a:ext cx="5318608" cy="1551432"/>
          </a:xfrm>
          <a:prstGeom prst="rect">
            <a:avLst/>
          </a:prstGeom>
          <a:solidFill>
            <a:srgbClr val="F3F4F6"/>
          </a:solidFill>
          <a:ln/>
        </p:spPr>
      </p:sp>
      <p:sp>
        <p:nvSpPr>
          <p:cNvPr id="8" name="Text 6"/>
          <p:cNvSpPr txBox="1"/>
          <p:nvPr/>
        </p:nvSpPr>
        <p:spPr>
          <a:xfrm>
            <a:off x="731520" y="1856232"/>
            <a:ext cx="4952848" cy="125882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(df.groupby("region")</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.agg(ca=("montant", "sum"),</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nb=("montant", "count"))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.sort_values("ca", ascending=False))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df.merge(regions, on="code_region")</a:t>
            </a:r>
            <a:endParaRPr lang="en-US" sz="1400" dirty="0"/>
          </a:p>
        </p:txBody>
      </p:sp>
      <p:sp>
        <p:nvSpPr>
          <p:cNvPr id="9" name="Text 7"/>
          <p:cNvSpPr txBox="1"/>
          <p:nvPr/>
        </p:nvSpPr>
        <p:spPr>
          <a:xfrm>
            <a:off x="6324448"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PySpark</a:t>
            </a:r>
            <a:endParaRPr lang="en-US" sz="1200" dirty="0"/>
          </a:p>
        </p:txBody>
      </p:sp>
      <p:sp>
        <p:nvSpPr>
          <p:cNvPr id="10" name="Shape 8"/>
          <p:cNvSpPr/>
          <p:nvPr/>
        </p:nvSpPr>
        <p:spPr>
          <a:xfrm>
            <a:off x="6324448" y="1709928"/>
            <a:ext cx="5318608" cy="1551432"/>
          </a:xfrm>
          <a:prstGeom prst="rect">
            <a:avLst/>
          </a:prstGeom>
          <a:solidFill>
            <a:srgbClr val="F3F4F6"/>
          </a:solidFill>
          <a:ln/>
        </p:spPr>
      </p:sp>
      <p:sp>
        <p:nvSpPr>
          <p:cNvPr id="11" name="Text 9"/>
          <p:cNvSpPr txBox="1"/>
          <p:nvPr/>
        </p:nvSpPr>
        <p:spPr>
          <a:xfrm>
            <a:off x="6507328" y="1856232"/>
            <a:ext cx="4952848" cy="125882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(df.groupBy("region")</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.agg(F.sum("montant").alias("ca"),</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F.count("*").alias("nb"))</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.orderBy(F.desc("ca")))</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df.join(regions, on="code_region")</a:t>
            </a:r>
            <a:endParaRPr lang="en-US" sz="1400" dirty="0"/>
          </a:p>
        </p:txBody>
      </p:sp>
      <p:sp>
        <p:nvSpPr>
          <p:cNvPr id="12" name="Text 10"/>
          <p:cNvSpPr txBox="1"/>
          <p:nvPr/>
        </p:nvSpPr>
        <p:spPr>
          <a:xfrm>
            <a:off x="548640" y="3581400"/>
            <a:ext cx="11094415" cy="3657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Autres agrégats : </a:t>
            </a:r>
            <a:pPr indent="0" marL="0">
              <a:buNone/>
            </a:pPr>
            <a:r>
              <a:rPr lang="en-US" sz="1500" dirty="0">
                <a:solidFill>
                  <a:srgbClr val="1F3A5F"/>
                </a:solidFill>
                <a:latin typeface="Courier New" pitchFamily="34" charset="0"/>
                <a:ea typeface="Courier New" pitchFamily="34" charset="-122"/>
                <a:cs typeface="Courier New" pitchFamily="34" charset="-120"/>
              </a:rPr>
              <a:t>F.avg</a:t>
            </a:r>
            <a:pPr indent="0" marL="0">
              <a:buNone/>
            </a:pPr>
            <a:r>
              <a:rPr lang="en-US" sz="1500" dirty="0">
                <a:solidFill>
                  <a:srgbClr val="6B7280"/>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F.min</a:t>
            </a:r>
            <a:pPr indent="0" marL="0">
              <a:buNone/>
            </a:pPr>
            <a:r>
              <a:rPr lang="en-US" sz="1500" dirty="0">
                <a:solidFill>
                  <a:srgbClr val="6B7280"/>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F.max</a:t>
            </a:r>
            <a:pPr indent="0" marL="0">
              <a:buNone/>
            </a:pPr>
            <a:r>
              <a:rPr lang="en-US" sz="1500" dirty="0">
                <a:solidFill>
                  <a:srgbClr val="6B7280"/>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F.countDistinct</a:t>
            </a:r>
            <a:pPr indent="0" marL="0">
              <a:buNone/>
            </a:pPr>
            <a:r>
              <a:rPr lang="en-US" sz="1500" dirty="0">
                <a:solidFill>
                  <a:srgbClr val="6B7280"/>
                </a:solidFill>
                <a:latin typeface="Calibri" pitchFamily="34" charset="0"/>
                <a:ea typeface="Calibri" pitchFamily="34" charset="-122"/>
                <a:cs typeface="Calibri" pitchFamily="34" charset="-120"/>
              </a:rPr>
              <a:t>. Jointure externe : </a:t>
            </a:r>
            <a:pPr indent="0" marL="0">
              <a:buNone/>
            </a:pPr>
            <a:r>
              <a:rPr lang="en-US" sz="1500" dirty="0">
                <a:solidFill>
                  <a:srgbClr val="1F3A5F"/>
                </a:solidFill>
                <a:latin typeface="Courier New" pitchFamily="34" charset="0"/>
                <a:ea typeface="Courier New" pitchFamily="34" charset="-122"/>
                <a:cs typeface="Courier New" pitchFamily="34" charset="-120"/>
              </a:rPr>
              <a:t>how="left"</a:t>
            </a:r>
            <a:pPr indent="0" marL="0">
              <a:buNone/>
            </a:pPr>
            <a:r>
              <a:rPr lang="en-US" sz="1500" dirty="0">
                <a:solidFill>
                  <a:srgbClr val="6B7280"/>
                </a:solidFill>
                <a:latin typeface="Calibri" pitchFamily="34" charset="0"/>
                <a:ea typeface="Calibri" pitchFamily="34" charset="-122"/>
                <a:cs typeface="Calibri" pitchFamily="34" charset="-120"/>
              </a:rPr>
              <a:t>, comme avec </a:t>
            </a:r>
            <a:pPr indent="0" marL="0">
              <a:buNone/>
            </a:pPr>
            <a:r>
              <a:rPr lang="en-US" sz="1500" dirty="0">
                <a:solidFill>
                  <a:srgbClr val="1F3A5F"/>
                </a:solidFill>
                <a:latin typeface="Courier New" pitchFamily="34" charset="0"/>
                <a:ea typeface="Courier New" pitchFamily="34" charset="-122"/>
                <a:cs typeface="Courier New" pitchFamily="34" charset="-120"/>
              </a:rPr>
              <a:t>merge</a:t>
            </a:r>
            <a:pPr indent="0" marL="0">
              <a:buNone/>
            </a:pPr>
            <a:r>
              <a:rPr lang="en-US" sz="1500" dirty="0">
                <a:solidFill>
                  <a:srgbClr val="6B7280"/>
                </a:solidFill>
                <a:latin typeface="Calibri" pitchFamily="34" charset="0"/>
                <a:ea typeface="Calibri" pitchFamily="34" charset="-122"/>
                <a:cs typeface="Calibri" pitchFamily="34" charset="-120"/>
              </a:rPr>
              <a:t>.</a:t>
            </a:r>
            <a:endParaRPr lang="en-US" sz="15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Bonus PySpark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PANDAS ET PYSPARK CÔTE À CÔTE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Ou directement en SQL</a:t>
            </a:r>
            <a:endParaRPr lang="en-US" sz="3000" dirty="0"/>
          </a:p>
        </p:txBody>
      </p:sp>
      <p:sp>
        <p:nvSpPr>
          <p:cNvPr id="6" name="Shape 4"/>
          <p:cNvSpPr/>
          <p:nvPr/>
        </p:nvSpPr>
        <p:spPr>
          <a:xfrm>
            <a:off x="548640" y="1417320"/>
            <a:ext cx="5802117" cy="2390648"/>
          </a:xfrm>
          <a:prstGeom prst="rect">
            <a:avLst/>
          </a:prstGeom>
          <a:solidFill>
            <a:srgbClr val="F3F4F6"/>
          </a:solidFill>
          <a:ln/>
        </p:spPr>
      </p:sp>
      <p:sp>
        <p:nvSpPr>
          <p:cNvPr id="7" name="Text 5"/>
          <p:cNvSpPr txBox="1"/>
          <p:nvPr/>
        </p:nvSpPr>
        <p:spPr>
          <a:xfrm>
            <a:off x="731520" y="1563624"/>
            <a:ext cx="5436357" cy="2098040"/>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df.createOrReplaceTempView("ventes")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ca_categorie = spark.sql("""</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SELECT categorie,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ROUND(SUM(montant), 2) AS ca</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FROM ventes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GROUP BY categorie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ORDER BY ca DESC</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ca_categorie.show()</a:t>
            </a:r>
            <a:endParaRPr lang="en-US" sz="1400" dirty="0"/>
          </a:p>
        </p:txBody>
      </p:sp>
      <p:sp>
        <p:nvSpPr>
          <p:cNvPr id="8" name="Shape 6"/>
          <p:cNvSpPr/>
          <p:nvPr/>
        </p:nvSpPr>
        <p:spPr>
          <a:xfrm>
            <a:off x="6807957" y="1417320"/>
            <a:ext cx="4835098" cy="822960"/>
          </a:xfrm>
          <a:prstGeom prst="roundRect">
            <a:avLst>
              <a:gd name="adj" fmla="val 6667"/>
            </a:avLst>
          </a:prstGeom>
          <a:solidFill>
            <a:srgbClr val="E8F3EE"/>
          </a:solidFill>
          <a:ln/>
        </p:spPr>
      </p:sp>
      <p:sp>
        <p:nvSpPr>
          <p:cNvPr id="9" name="Text 7"/>
          <p:cNvSpPr txBox="1"/>
          <p:nvPr/>
        </p:nvSpPr>
        <p:spPr>
          <a:xfrm>
            <a:off x="7082277" y="1417320"/>
            <a:ext cx="4286458" cy="822960"/>
          </a:xfrm>
          <a:prstGeom prst="rect">
            <a:avLst/>
          </a:prstGeom>
          <a:noFill/>
          <a:ln/>
        </p:spPr>
        <p:txBody>
          <a:bodyPr wrap="square" lIns="0" tIns="0" rIns="0" bIns="0" rtlCol="0" anchor="ctr"/>
          <a:lstStyle/>
          <a:p>
            <a:pPr indent="0" marL="0">
              <a:buNone/>
            </a:pPr>
            <a:r>
              <a:rPr lang="en-US" sz="1500" dirty="0">
                <a:solidFill>
                  <a:srgbClr val="2F7D62"/>
                </a:solidFill>
                <a:latin typeface="Courier New" pitchFamily="34" charset="0"/>
                <a:ea typeface="Courier New" pitchFamily="34" charset="-122"/>
                <a:cs typeface="Courier New" pitchFamily="34" charset="-120"/>
              </a:rPr>
              <a:t>spark.sql</a:t>
            </a:r>
            <a:pPr indent="0" marL="0">
              <a:buNone/>
            </a:pPr>
            <a:r>
              <a:rPr lang="en-US" sz="1500" dirty="0">
                <a:solidFill>
                  <a:srgbClr val="1F3A5F"/>
                </a:solidFill>
                <a:latin typeface="Calibri" pitchFamily="34" charset="0"/>
                <a:ea typeface="Calibri" pitchFamily="34" charset="-122"/>
                <a:cs typeface="Calibri" pitchFamily="34" charset="-120"/>
              </a:rPr>
              <a:t> renvoie un DataFrame : on peut mélanger SQL et méthodes dans le même traitement.</a:t>
            </a:r>
            <a:endParaRPr lang="en-US" sz="1500" dirty="0"/>
          </a:p>
        </p:txBody>
      </p:sp>
      <p:sp>
        <p:nvSpPr>
          <p:cNvPr id="10" name="Text 8"/>
          <p:cNvSpPr txBox="1"/>
          <p:nvPr/>
        </p:nvSpPr>
        <p:spPr>
          <a:xfrm>
            <a:off x="6807957" y="2560320"/>
            <a:ext cx="4835098" cy="8229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Les deux écritures donnent le même plan d'exécution, donc les mêmes performances. On choisit la plus lisible pour l'équipe.</a:t>
            </a:r>
            <a:endParaRPr lang="en-US" sz="15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Bonus PySpark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PANDAS ET PYSPARK CÔTE À CÔTE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Revenir à pandas, écrire un résultat</a:t>
            </a:r>
            <a:endParaRPr lang="en-US" sz="3000" dirty="0"/>
          </a:p>
        </p:txBody>
      </p:sp>
      <p:sp>
        <p:nvSpPr>
          <p:cNvPr id="6" name="Text 4"/>
          <p:cNvSpPr txBox="1"/>
          <p:nvPr/>
        </p:nvSpPr>
        <p:spPr>
          <a:xfrm>
            <a:off x="548640"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Vers pandas, pour un graphique</a:t>
            </a:r>
            <a:endParaRPr lang="en-US" sz="1200" dirty="0"/>
          </a:p>
        </p:txBody>
      </p:sp>
      <p:sp>
        <p:nvSpPr>
          <p:cNvPr id="7" name="Shape 5"/>
          <p:cNvSpPr/>
          <p:nvPr/>
        </p:nvSpPr>
        <p:spPr>
          <a:xfrm>
            <a:off x="548640" y="1709928"/>
            <a:ext cx="5318608" cy="502412"/>
          </a:xfrm>
          <a:prstGeom prst="rect">
            <a:avLst/>
          </a:prstGeom>
          <a:solidFill>
            <a:srgbClr val="F3F4F6"/>
          </a:solidFill>
          <a:ln/>
        </p:spPr>
      </p:sp>
      <p:sp>
        <p:nvSpPr>
          <p:cNvPr id="8" name="Text 6"/>
          <p:cNvSpPr txBox="1"/>
          <p:nvPr/>
        </p:nvSpPr>
        <p:spPr>
          <a:xfrm>
            <a:off x="731520" y="1856232"/>
            <a:ext cx="4952848" cy="20980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ca_region_pd = ca_region.toPandas()</a:t>
            </a:r>
            <a:endParaRPr lang="en-US" sz="1400" dirty="0"/>
          </a:p>
        </p:txBody>
      </p:sp>
      <p:sp>
        <p:nvSpPr>
          <p:cNvPr id="9" name="Shape 7"/>
          <p:cNvSpPr/>
          <p:nvPr/>
        </p:nvSpPr>
        <p:spPr>
          <a:xfrm>
            <a:off x="548640" y="2532380"/>
            <a:ext cx="5318608" cy="822960"/>
          </a:xfrm>
          <a:prstGeom prst="roundRect">
            <a:avLst>
              <a:gd name="adj" fmla="val 6667"/>
            </a:avLst>
          </a:prstGeom>
          <a:solidFill>
            <a:srgbClr val="E8F3EE"/>
          </a:solidFill>
          <a:ln/>
        </p:spPr>
      </p:sp>
      <p:sp>
        <p:nvSpPr>
          <p:cNvPr id="10" name="Text 8"/>
          <p:cNvSpPr txBox="1"/>
          <p:nvPr/>
        </p:nvSpPr>
        <p:spPr>
          <a:xfrm>
            <a:off x="822960" y="2532380"/>
            <a:ext cx="4769968" cy="822960"/>
          </a:xfrm>
          <a:prstGeom prst="rect">
            <a:avLst/>
          </a:prstGeom>
          <a:noFill/>
          <a:ln/>
        </p:spPr>
        <p:txBody>
          <a:bodyPr wrap="square" lIns="0" tIns="0" rIns="0" bIns="0" rtlCol="0" anchor="ctr"/>
          <a:lstStyle/>
          <a:p>
            <a:pPr indent="0" marL="0">
              <a:buNone/>
            </a:pPr>
            <a:r>
              <a:rPr lang="en-US" sz="1500" dirty="0">
                <a:solidFill>
                  <a:srgbClr val="2F7D62"/>
                </a:solidFill>
                <a:latin typeface="Courier New" pitchFamily="34" charset="0"/>
                <a:ea typeface="Courier New" pitchFamily="34" charset="-122"/>
                <a:cs typeface="Courier New" pitchFamily="34" charset="-120"/>
              </a:rPr>
              <a:t>toPandas()</a:t>
            </a:r>
            <a:pPr indent="0" marL="0">
              <a:buNone/>
            </a:pPr>
            <a:r>
              <a:rPr lang="en-US" sz="1500" dirty="0">
                <a:solidFill>
                  <a:srgbClr val="1F3A5F"/>
                </a:solidFill>
                <a:latin typeface="Calibri" pitchFamily="34" charset="0"/>
                <a:ea typeface="Calibri" pitchFamily="34" charset="-122"/>
                <a:cs typeface="Calibri" pitchFamily="34" charset="-120"/>
              </a:rPr>
              <a:t> rapatrie tout en mémoire sur le pilote : seulement sur un résultat </a:t>
            </a:r>
            <a:pPr indent="0" marL="0">
              <a:buNone/>
            </a:pPr>
            <a:r>
              <a:rPr lang="en-US" sz="1500" b="1" dirty="0">
                <a:solidFill>
                  <a:srgbClr val="1F3A5F"/>
                </a:solidFill>
                <a:latin typeface="Calibri" pitchFamily="34" charset="0"/>
                <a:ea typeface="Calibri" pitchFamily="34" charset="-122"/>
                <a:cs typeface="Calibri" pitchFamily="34" charset="-120"/>
              </a:rPr>
              <a:t>agrégé</a:t>
            </a:r>
            <a:pPr indent="0" marL="0">
              <a:buNone/>
            </a:pPr>
            <a:r>
              <a:rPr lang="en-US" sz="1500" dirty="0">
                <a:solidFill>
                  <a:srgbClr val="1F3A5F"/>
                </a:solidFill>
                <a:latin typeface="Calibri" pitchFamily="34" charset="0"/>
                <a:ea typeface="Calibri" pitchFamily="34" charset="-122"/>
                <a:cs typeface="Calibri" pitchFamily="34" charset="-120"/>
              </a:rPr>
              <a:t>, donc petit.</a:t>
            </a:r>
            <a:endParaRPr lang="en-US" sz="1500" dirty="0"/>
          </a:p>
        </p:txBody>
      </p:sp>
      <p:sp>
        <p:nvSpPr>
          <p:cNvPr id="11" name="Text 9"/>
          <p:cNvSpPr txBox="1"/>
          <p:nvPr/>
        </p:nvSpPr>
        <p:spPr>
          <a:xfrm>
            <a:off x="6324448"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Écrire en Parquet, partitionné</a:t>
            </a:r>
            <a:endParaRPr lang="en-US" sz="1200" dirty="0"/>
          </a:p>
        </p:txBody>
      </p:sp>
      <p:sp>
        <p:nvSpPr>
          <p:cNvPr id="12" name="Shape 10"/>
          <p:cNvSpPr/>
          <p:nvPr/>
        </p:nvSpPr>
        <p:spPr>
          <a:xfrm>
            <a:off x="6324448" y="1709928"/>
            <a:ext cx="5318608" cy="922020"/>
          </a:xfrm>
          <a:prstGeom prst="rect">
            <a:avLst/>
          </a:prstGeom>
          <a:solidFill>
            <a:srgbClr val="F3F4F6"/>
          </a:solidFill>
          <a:ln/>
        </p:spPr>
      </p:sp>
      <p:sp>
        <p:nvSpPr>
          <p:cNvPr id="13" name="Text 11"/>
          <p:cNvSpPr txBox="1"/>
          <p:nvPr/>
        </p:nvSpPr>
        <p:spPr>
          <a:xfrm>
            <a:off x="6507328" y="1856232"/>
            <a:ext cx="4952848" cy="629412"/>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(df.write.mode("overwrite")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.partitionBy("mois")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.parquet("sortie/ventes"))</a:t>
            </a:r>
            <a:endParaRPr lang="en-US" sz="1400" dirty="0"/>
          </a:p>
        </p:txBody>
      </p:sp>
      <p:sp>
        <p:nvSpPr>
          <p:cNvPr id="14" name="Text 12"/>
          <p:cNvSpPr txBox="1"/>
          <p:nvPr/>
        </p:nvSpPr>
        <p:spPr>
          <a:xfrm>
            <a:off x="6324448" y="2951988"/>
            <a:ext cx="5318608" cy="8229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Spark écrit un </a:t>
            </a:r>
            <a:pPr indent="0" marL="0">
              <a:buNone/>
            </a:pPr>
            <a:r>
              <a:rPr lang="en-US" sz="1500" b="1" dirty="0">
                <a:solidFill>
                  <a:srgbClr val="6B7280"/>
                </a:solidFill>
                <a:latin typeface="Calibri" pitchFamily="34" charset="0"/>
                <a:ea typeface="Calibri" pitchFamily="34" charset="-122"/>
                <a:cs typeface="Calibri" pitchFamily="34" charset="-120"/>
              </a:rPr>
              <a:t>dossier</a:t>
            </a:r>
            <a:pPr indent="0" marL="0">
              <a:buNone/>
            </a:pPr>
            <a:r>
              <a:rPr lang="en-US" sz="1500" dirty="0">
                <a:solidFill>
                  <a:srgbClr val="6B7280"/>
                </a:solidFill>
                <a:latin typeface="Calibri" pitchFamily="34" charset="0"/>
                <a:ea typeface="Calibri" pitchFamily="34" charset="-122"/>
                <a:cs typeface="Calibri" pitchFamily="34" charset="-120"/>
              </a:rPr>
              <a:t> : un sous-dossier </a:t>
            </a:r>
            <a:pPr indent="0" marL="0">
              <a:buNone/>
            </a:pPr>
            <a:r>
              <a:rPr lang="en-US" sz="1500" dirty="0">
                <a:solidFill>
                  <a:srgbClr val="1F3A5F"/>
                </a:solidFill>
                <a:latin typeface="Courier New" pitchFamily="34" charset="0"/>
                <a:ea typeface="Courier New" pitchFamily="34" charset="-122"/>
                <a:cs typeface="Courier New" pitchFamily="34" charset="-120"/>
              </a:rPr>
              <a:t>mois=1</a:t>
            </a:r>
            <a:pPr indent="0" marL="0">
              <a:buNone/>
            </a:pPr>
            <a:r>
              <a:rPr lang="en-US" sz="1500" dirty="0">
                <a:solidFill>
                  <a:srgbClr val="6B7280"/>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mois=2</a:t>
            </a:r>
            <a:pPr indent="0" marL="0">
              <a:buNone/>
            </a:pPr>
            <a:r>
              <a:rPr lang="en-US" sz="1500" dirty="0">
                <a:solidFill>
                  <a:srgbClr val="6B7280"/>
                </a:solidFill>
                <a:latin typeface="Calibri" pitchFamily="34" charset="0"/>
                <a:ea typeface="Calibri" pitchFamily="34" charset="-122"/>
                <a:cs typeface="Calibri" pitchFamily="34" charset="-120"/>
              </a:rPr>
              <a:t>... Une lecture filtrée sur un mois n'ouvre que le sien.</a:t>
            </a:r>
            <a:endParaRPr lang="en-US" sz="1500" dirty="0"/>
          </a:p>
        </p:txBody>
      </p:sp>
      <p:sp>
        <p:nvSpPr>
          <p:cNvPr id="15" name="Text 1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Bonus PySpark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03</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Bien choisir</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Le comparatif   |   Quel outil pour quel volume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BIEN CHOISIR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pandas ou PySpark ?</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957838"/>
                <a:gridCol w="4568289"/>
                <a:gridCol w="4568289"/>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pandas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PySpark</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84454">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Volume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ce qui tient en mémoire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sans limite pratique, réparti sur un cluster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Exécution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immédiate, ligne par ligne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paresseuse, optimisée, parallèle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Démarrage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instantané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quelques secondes (machine Java)</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Petites données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très rapide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lent : le coût d'organisation domine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Installation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pip install pandas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pip install pyspark</a:t>
                      </a:r>
                      <a:pPr indent="0" marL="0">
                        <a:buNone/>
                      </a:pPr>
                      <a:r>
                        <a:rPr lang="en-US" sz="1500" dirty="0">
                          <a:solidFill>
                            <a:srgbClr val="1F2933"/>
                          </a:solidFill>
                          <a:latin typeface="Calibri" pitchFamily="34" charset="0"/>
                          <a:ea typeface="Calibri" pitchFamily="34" charset="-122"/>
                          <a:cs typeface="Calibri" pitchFamily="34" charset="-120"/>
                        </a:rPr>
                        <a:t> et Java 17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Écosystème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graphiques, notebooks, scikit-learn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plateformes de données, SQL, MLlib</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Text 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Bonus PySpark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BIEN CHOISIR</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Quel outil pour quel volume</a:t>
            </a:r>
            <a:endParaRPr lang="en-US" sz="3000" dirty="0"/>
          </a:p>
        </p:txBody>
      </p:sp>
      <p:sp>
        <p:nvSpPr>
          <p:cNvPr id="6" name="Shape 4"/>
          <p:cNvSpPr/>
          <p:nvPr/>
        </p:nvSpPr>
        <p:spPr>
          <a:xfrm>
            <a:off x="548640" y="1417320"/>
            <a:ext cx="3515258" cy="2377440"/>
          </a:xfrm>
          <a:prstGeom prst="roundRect">
            <a:avLst>
              <a:gd name="adj" fmla="val 3077"/>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240280"/>
            <a:ext cx="3058058" cy="54864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Jusqu'à quelques millions de lignes</a:t>
            </a:r>
            <a:endParaRPr lang="en-US" sz="1800" dirty="0"/>
          </a:p>
        </p:txBody>
      </p:sp>
      <p:sp>
        <p:nvSpPr>
          <p:cNvPr id="10" name="Text 8"/>
          <p:cNvSpPr txBox="1"/>
          <p:nvPr/>
        </p:nvSpPr>
        <p:spPr>
          <a:xfrm>
            <a:off x="777240" y="2880360"/>
            <a:ext cx="305805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pandas : le plus simple, le plus documenté, ce qu'on a fait pendant trois jours.</a:t>
            </a:r>
            <a:endParaRPr lang="en-US" sz="1500" dirty="0"/>
          </a:p>
        </p:txBody>
      </p:sp>
      <p:sp>
        <p:nvSpPr>
          <p:cNvPr id="11" name="Shape 9"/>
          <p:cNvSpPr/>
          <p:nvPr/>
        </p:nvSpPr>
        <p:spPr>
          <a:xfrm>
            <a:off x="4338218" y="1417320"/>
            <a:ext cx="3515258" cy="2377440"/>
          </a:xfrm>
          <a:prstGeom prst="roundRect">
            <a:avLst>
              <a:gd name="adj" fmla="val 3077"/>
            </a:avLst>
          </a:prstGeom>
          <a:solidFill>
            <a:srgbClr val="EEF3F7"/>
          </a:solidFill>
          <a:ln/>
        </p:spPr>
      </p:sp>
      <p:sp>
        <p:nvSpPr>
          <p:cNvPr id="12" name="Shape 10"/>
          <p:cNvSpPr/>
          <p:nvPr/>
        </p:nvSpPr>
        <p:spPr>
          <a:xfrm>
            <a:off x="4566818" y="1691640"/>
            <a:ext cx="402336" cy="402336"/>
          </a:xfrm>
          <a:prstGeom prst="ellipse">
            <a:avLst/>
          </a:prstGeom>
          <a:solidFill>
            <a:srgbClr val="2F7D62"/>
          </a:solidFill>
          <a:ln/>
        </p:spPr>
      </p:sp>
      <p:sp>
        <p:nvSpPr>
          <p:cNvPr id="13" name="Text 11"/>
          <p:cNvSpPr txBox="1"/>
          <p:nvPr/>
        </p:nvSpPr>
        <p:spPr>
          <a:xfrm>
            <a:off x="456681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240280"/>
            <a:ext cx="3058058" cy="54864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Des dizaines de gigaoctets, une machine</a:t>
            </a:r>
            <a:endParaRPr lang="en-US" sz="1800" dirty="0"/>
          </a:p>
        </p:txBody>
      </p:sp>
      <p:sp>
        <p:nvSpPr>
          <p:cNvPr id="15" name="Text 13"/>
          <p:cNvSpPr txBox="1"/>
          <p:nvPr/>
        </p:nvSpPr>
        <p:spPr>
          <a:xfrm>
            <a:off x="4566818" y="2880360"/>
            <a:ext cx="305805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Polars ou DuckDB : rapides, sans infrastructure, voir le module bonus.</a:t>
            </a:r>
            <a:endParaRPr lang="en-US" sz="1500" dirty="0"/>
          </a:p>
        </p:txBody>
      </p:sp>
      <p:sp>
        <p:nvSpPr>
          <p:cNvPr id="16" name="Shape 14"/>
          <p:cNvSpPr/>
          <p:nvPr/>
        </p:nvSpPr>
        <p:spPr>
          <a:xfrm>
            <a:off x="8127797" y="1417320"/>
            <a:ext cx="3515258" cy="2377440"/>
          </a:xfrm>
          <a:prstGeom prst="roundRect">
            <a:avLst>
              <a:gd name="adj" fmla="val 3077"/>
            </a:avLst>
          </a:prstGeom>
          <a:solidFill>
            <a:srgbClr val="EEF3F7"/>
          </a:solidFill>
          <a:ln/>
        </p:spPr>
      </p:sp>
      <p:sp>
        <p:nvSpPr>
          <p:cNvPr id="17" name="Shape 15"/>
          <p:cNvSpPr/>
          <p:nvPr/>
        </p:nvSpPr>
        <p:spPr>
          <a:xfrm>
            <a:off x="8356397" y="1691640"/>
            <a:ext cx="402336" cy="402336"/>
          </a:xfrm>
          <a:prstGeom prst="ellipse">
            <a:avLst/>
          </a:prstGeom>
          <a:solidFill>
            <a:srgbClr val="2F7D62"/>
          </a:solidFill>
          <a:ln/>
        </p:spPr>
      </p:sp>
      <p:sp>
        <p:nvSpPr>
          <p:cNvPr id="18" name="Text 16"/>
          <p:cNvSpPr txBox="1"/>
          <p:nvPr/>
        </p:nvSpPr>
        <p:spPr>
          <a:xfrm>
            <a:off x="835639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240280"/>
            <a:ext cx="3058058" cy="54864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Au-delà, ou une plateforme existante</a:t>
            </a:r>
            <a:endParaRPr lang="en-US" sz="1800" dirty="0"/>
          </a:p>
        </p:txBody>
      </p:sp>
      <p:sp>
        <p:nvSpPr>
          <p:cNvPr id="20" name="Text 18"/>
          <p:cNvSpPr txBox="1"/>
          <p:nvPr/>
        </p:nvSpPr>
        <p:spPr>
          <a:xfrm>
            <a:off x="8356397" y="2880360"/>
            <a:ext cx="305805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Spark : quand les données sont déjà sur un cluster ou dans Databricks.</a:t>
            </a:r>
            <a:endParaRPr lang="en-US" sz="1500" dirty="0"/>
          </a:p>
        </p:txBody>
      </p:sp>
      <p:sp>
        <p:nvSpPr>
          <p:cNvPr id="21" name="Shape 19"/>
          <p:cNvSpPr/>
          <p:nvPr/>
        </p:nvSpPr>
        <p:spPr>
          <a:xfrm>
            <a:off x="548640" y="4114800"/>
            <a:ext cx="11094415" cy="624840"/>
          </a:xfrm>
          <a:prstGeom prst="roundRect">
            <a:avLst>
              <a:gd name="adj" fmla="val 8780"/>
            </a:avLst>
          </a:prstGeom>
          <a:solidFill>
            <a:srgbClr val="E8F3EE"/>
          </a:solidFill>
          <a:ln/>
        </p:spPr>
      </p:sp>
      <p:sp>
        <p:nvSpPr>
          <p:cNvPr id="22" name="Text 20"/>
          <p:cNvSpPr txBox="1"/>
          <p:nvPr/>
        </p:nvSpPr>
        <p:spPr>
          <a:xfrm>
            <a:off x="822960" y="411480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La syntaxe PySpark ressemble à Polars et au SQL : apprendre l'une aide à lire les autres.</a:t>
            </a:r>
            <a:endParaRPr lang="en-US" sz="1700" dirty="0"/>
          </a:p>
        </p:txBody>
      </p:sp>
      <p:sp>
        <p:nvSpPr>
          <p:cNvPr id="23" name="Text 2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Bonus PySpark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 bonus C</a:t>
            </a:r>
            <a:endParaRPr lang="en-US" sz="3000" dirty="0"/>
          </a:p>
        </p:txBody>
      </p:sp>
      <p:sp>
        <p:nvSpPr>
          <p:cNvPr id="3" name="Text 1"/>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Dans exercices/tpbonus-c-pyspark/tpbonus_c.ipynb</a:t>
            </a:r>
            <a:endParaRPr lang="en-US" sz="1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1688281"/>
                <a:gridCol w="1929464"/>
                <a:gridCol w="7476671"/>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Partie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À faire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vérifier Java, installer PySpark, démarrer la session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1.1 à 1.3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lire le Parquet, explorer, observer la paresse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2.1, 2.2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ajouter des colonnes, filtrer, trier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3.1, 3.2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agréger par région, joindre les objectifs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4.1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la même agrégation en SQL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5.1 à 5.3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revenir à pandas, comparer les temps, écrire en Parquet (facultative)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5" name="Shape 2"/>
          <p:cNvSpPr/>
          <p:nvPr/>
        </p:nvSpPr>
        <p:spPr>
          <a:xfrm>
            <a:off x="548640" y="4787138"/>
            <a:ext cx="11094415" cy="883920"/>
          </a:xfrm>
          <a:prstGeom prst="roundRect">
            <a:avLst>
              <a:gd name="adj" fmla="val 6207"/>
            </a:avLst>
          </a:prstGeom>
          <a:solidFill>
            <a:srgbClr val="E8F3EE"/>
          </a:solidFill>
          <a:ln/>
        </p:spPr>
      </p:sp>
      <p:sp>
        <p:nvSpPr>
          <p:cNvPr id="6" name="Text 3"/>
          <p:cNvSpPr txBox="1"/>
          <p:nvPr/>
        </p:nvSpPr>
        <p:spPr>
          <a:xfrm>
            <a:off x="822960" y="4787138"/>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Chaque question rappelle l'écriture pandas ; les cellules </a:t>
            </a:r>
            <a:pPr indent="0" marL="0">
              <a:buNone/>
            </a:pPr>
            <a:r>
              <a:rPr lang="en-US" sz="1700" dirty="0">
                <a:solidFill>
                  <a:srgbClr val="2F7D62"/>
                </a:solidFill>
                <a:latin typeface="Courier New" pitchFamily="34" charset="0"/>
                <a:ea typeface="Courier New" pitchFamily="34" charset="-122"/>
                <a:cs typeface="Courier New" pitchFamily="34" charset="-120"/>
              </a:rPr>
              <a:t># Vérification</a:t>
            </a:r>
            <a:pPr indent="0" marL="0">
              <a:buNone/>
            </a:pPr>
            <a:r>
              <a:rPr lang="en-US" sz="1700" dirty="0">
                <a:solidFill>
                  <a:srgbClr val="1F3A5F"/>
                </a:solidFill>
                <a:latin typeface="Calibri" pitchFamily="34" charset="0"/>
                <a:ea typeface="Calibri" pitchFamily="34" charset="-122"/>
                <a:cs typeface="Calibri" pitchFamily="34" charset="-120"/>
              </a:rPr>
              <a:t> comparent ton résultat à pandas et affichent </a:t>
            </a:r>
            <a:pPr indent="0" marL="0">
              <a:buNone/>
            </a:pPr>
            <a:r>
              <a:rPr lang="en-US" sz="1700" dirty="0">
                <a:solidFill>
                  <a:srgbClr val="2F7D62"/>
                </a:solidFill>
                <a:latin typeface="Courier New" pitchFamily="34" charset="0"/>
                <a:ea typeface="Courier New" pitchFamily="34" charset="-122"/>
                <a:cs typeface="Courier New" pitchFamily="34" charset="-120"/>
              </a:rPr>
              <a:t>OK</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7" name="Text 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Bonus PySpark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À retenir</a:t>
            </a:r>
            <a:endParaRPr lang="en-US" sz="3400" dirty="0"/>
          </a:p>
        </p:txBody>
      </p:sp>
      <p:sp>
        <p:nvSpPr>
          <p:cNvPr id="3" name="Text 1"/>
          <p:cNvSpPr txBox="1"/>
          <p:nvPr/>
        </p:nvSpPr>
        <p:spPr>
          <a:xfrm>
            <a:off x="548640" y="1417320"/>
            <a:ext cx="5272888" cy="3032760"/>
          </a:xfrm>
          <a:prstGeom prst="rect">
            <a:avLst/>
          </a:prstGeom>
          <a:noFill/>
          <a:ln/>
        </p:spPr>
        <p:txBody>
          <a:bodyPr wrap="square" lIns="0" tIns="0" rIns="0" bIns="0" rtlCol="0" anchor="t"/>
          <a:lstStyle/>
          <a:p>
            <a:pPr marL="254000" indent="-254000">
              <a:spcAft>
                <a:spcPts val="1200"/>
              </a:spcAft>
              <a:buSzPct val="100000"/>
              <a:buChar char="•"/>
            </a:pPr>
            <a:r>
              <a:rPr lang="en-US" sz="1700" dirty="0">
                <a:solidFill>
                  <a:srgbClr val="8FD1B5"/>
                </a:solidFill>
                <a:latin typeface="Courier New" pitchFamily="34" charset="0"/>
                <a:ea typeface="Courier New" pitchFamily="34" charset="-122"/>
                <a:cs typeface="Courier New" pitchFamily="34" charset="-120"/>
              </a:rPr>
              <a:t>spark = SparkSession.builder.getOrCreate()</a:t>
            </a:r>
            <a:pPr indent="0" marL="0">
              <a:buNone/>
            </a:pPr>
            <a:r>
              <a:rPr lang="en-US" sz="1700" dirty="0">
                <a:solidFill>
                  <a:srgbClr val="FFFFFF"/>
                </a:solidFill>
                <a:latin typeface="Calibri" pitchFamily="34" charset="0"/>
                <a:ea typeface="Calibri" pitchFamily="34" charset="-122"/>
                <a:cs typeface="Calibri" pitchFamily="34" charset="-120"/>
              </a:rPr>
              <a:t>, puis </a:t>
            </a:r>
            <a:pPr indent="0" marL="0">
              <a:buNone/>
            </a:pPr>
            <a:r>
              <a:rPr lang="en-US" sz="1700" dirty="0">
                <a:solidFill>
                  <a:srgbClr val="8FD1B5"/>
                </a:solidFill>
                <a:latin typeface="Courier New" pitchFamily="34" charset="0"/>
                <a:ea typeface="Courier New" pitchFamily="34" charset="-122"/>
                <a:cs typeface="Courier New" pitchFamily="34" charset="-120"/>
              </a:rPr>
              <a:t>spark.read.parquet</a:t>
            </a:r>
            <a:endParaRPr lang="en-US" sz="1700" dirty="0"/>
          </a:p>
          <a:p>
            <a:pPr marL="254000" indent="-2540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Transformations paresseuses (</a:t>
            </a:r>
            <a:pPr indent="0" marL="0">
              <a:buNone/>
            </a:pPr>
            <a:r>
              <a:rPr lang="en-US" sz="1700" dirty="0">
                <a:solidFill>
                  <a:srgbClr val="8FD1B5"/>
                </a:solidFill>
                <a:latin typeface="Courier New" pitchFamily="34" charset="0"/>
                <a:ea typeface="Courier New" pitchFamily="34" charset="-122"/>
                <a:cs typeface="Courier New" pitchFamily="34" charset="-120"/>
              </a:rPr>
              <a:t>select</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filter</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withColumn</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groupBy</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join</a:t>
            </a:r>
            <a:pPr indent="0" marL="0">
              <a:buNone/>
            </a:pPr>
            <a:r>
              <a:rPr lang="en-US" sz="1700" dirty="0">
                <a:solidFill>
                  <a:srgbClr val="FFFFFF"/>
                </a:solidFill>
                <a:latin typeface="Calibri" pitchFamily="34" charset="0"/>
                <a:ea typeface="Calibri" pitchFamily="34" charset="-122"/>
                <a:cs typeface="Calibri" pitchFamily="34" charset="-120"/>
              </a:rPr>
              <a:t>), actions qui calculent (</a:t>
            </a:r>
            <a:pPr indent="0" marL="0">
              <a:buNone/>
            </a:pPr>
            <a:r>
              <a:rPr lang="en-US" sz="1700" dirty="0">
                <a:solidFill>
                  <a:srgbClr val="8FD1B5"/>
                </a:solidFill>
                <a:latin typeface="Courier New" pitchFamily="34" charset="0"/>
                <a:ea typeface="Courier New" pitchFamily="34" charset="-122"/>
                <a:cs typeface="Courier New" pitchFamily="34" charset="-120"/>
              </a:rPr>
              <a:t>show</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count</a:t>
            </a:r>
            <a:pPr indent="0" marL="0">
              <a:buNone/>
            </a:pPr>
            <a:r>
              <a:rPr lang="en-US" sz="1700" dirty="0">
                <a:solidFill>
                  <a:srgbClr val="FFFFFF"/>
                </a:solidFill>
                <a:latin typeface="Calibri" pitchFamily="34" charset="0"/>
                <a:ea typeface="Calibri" pitchFamily="34" charset="-122"/>
                <a:cs typeface="Calibri" pitchFamily="34" charset="-120"/>
              </a:rPr>
              <a:t>, </a:t>
            </a:r>
            <a:pPr indent="0" marL="0">
              <a:buNone/>
            </a:pPr>
            <a:r>
              <a:rPr lang="en-US" sz="1700" dirty="0">
                <a:solidFill>
                  <a:srgbClr val="8FD1B5"/>
                </a:solidFill>
                <a:latin typeface="Courier New" pitchFamily="34" charset="0"/>
                <a:ea typeface="Courier New" pitchFamily="34" charset="-122"/>
                <a:cs typeface="Courier New" pitchFamily="34" charset="-120"/>
              </a:rPr>
              <a:t>toPandas</a:t>
            </a:r>
            <a:pPr indent="0" marL="0">
              <a:buNone/>
            </a:pPr>
            <a:r>
              <a:rPr lang="en-US" sz="1700" dirty="0">
                <a:solidFill>
                  <a:srgbClr val="FFFFFF"/>
                </a:solidFill>
                <a:latin typeface="Calibri" pitchFamily="34" charset="0"/>
                <a:ea typeface="Calibri" pitchFamily="34" charset="-122"/>
                <a:cs typeface="Calibri" pitchFamily="34" charset="-120"/>
              </a:rPr>
              <a:t>)</a:t>
            </a:r>
            <a:endParaRPr lang="en-US" sz="1700" dirty="0"/>
          </a:p>
          <a:p>
            <a:pPr marL="254000" indent="-2540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Les colonnes passent par </a:t>
            </a:r>
            <a:pPr indent="0" marL="0">
              <a:buNone/>
            </a:pPr>
            <a:r>
              <a:rPr lang="en-US" sz="1700" dirty="0">
                <a:solidFill>
                  <a:srgbClr val="8FD1B5"/>
                </a:solidFill>
                <a:latin typeface="Courier New" pitchFamily="34" charset="0"/>
                <a:ea typeface="Courier New" pitchFamily="34" charset="-122"/>
                <a:cs typeface="Courier New" pitchFamily="34" charset="-120"/>
              </a:rPr>
              <a:t>F.col</a:t>
            </a:r>
            <a:pPr indent="0" marL="0">
              <a:buNone/>
            </a:pPr>
            <a:r>
              <a:rPr lang="en-US" sz="1700" dirty="0">
                <a:solidFill>
                  <a:srgbClr val="FFFFFF"/>
                </a:solidFill>
                <a:latin typeface="Calibri" pitchFamily="34" charset="0"/>
                <a:ea typeface="Calibri" pitchFamily="34" charset="-122"/>
                <a:cs typeface="Calibri" pitchFamily="34" charset="-120"/>
              </a:rPr>
              <a:t>, les fonctions par </a:t>
            </a:r>
            <a:pPr indent="0" marL="0">
              <a:buNone/>
            </a:pPr>
            <a:r>
              <a:rPr lang="en-US" sz="1700" dirty="0">
                <a:solidFill>
                  <a:srgbClr val="8FD1B5"/>
                </a:solidFill>
                <a:latin typeface="Courier New" pitchFamily="34" charset="0"/>
                <a:ea typeface="Courier New" pitchFamily="34" charset="-122"/>
                <a:cs typeface="Courier New" pitchFamily="34" charset="-120"/>
              </a:rPr>
              <a:t>F</a:t>
            </a:r>
            <a:endParaRPr lang="en-US" sz="1700" dirty="0"/>
          </a:p>
          <a:p>
            <a:pPr marL="254000" indent="-254000">
              <a:spcAft>
                <a:spcPts val="1200"/>
              </a:spcAft>
              <a:buSzPct val="100000"/>
              <a:buChar char="•"/>
            </a:pPr>
            <a:r>
              <a:rPr lang="en-US" sz="1700" dirty="0">
                <a:solidFill>
                  <a:srgbClr val="8FD1B5"/>
                </a:solidFill>
                <a:latin typeface="Courier New" pitchFamily="34" charset="0"/>
                <a:ea typeface="Courier New" pitchFamily="34" charset="-122"/>
                <a:cs typeface="Courier New" pitchFamily="34" charset="-120"/>
              </a:rPr>
              <a:t>spark.sql</a:t>
            </a:r>
            <a:pPr indent="0" marL="0">
              <a:buNone/>
            </a:pPr>
            <a:r>
              <a:rPr lang="en-US" sz="1700" dirty="0">
                <a:solidFill>
                  <a:srgbClr val="FFFFFF"/>
                </a:solidFill>
                <a:latin typeface="Calibri" pitchFamily="34" charset="0"/>
                <a:ea typeface="Calibri" pitchFamily="34" charset="-122"/>
                <a:cs typeface="Calibri" pitchFamily="34" charset="-120"/>
              </a:rPr>
              <a:t> sur une vue : même résultat, mêmes performances</a:t>
            </a:r>
            <a:endParaRPr lang="en-US" sz="1700" dirty="0"/>
          </a:p>
        </p:txBody>
      </p:sp>
      <p:sp>
        <p:nvSpPr>
          <p:cNvPr id="4" name="Text 2"/>
          <p:cNvSpPr txBox="1"/>
          <p:nvPr/>
        </p:nvSpPr>
        <p:spPr>
          <a:xfrm>
            <a:off x="6370168" y="1417320"/>
            <a:ext cx="5272888" cy="1844040"/>
          </a:xfrm>
          <a:prstGeom prst="rect">
            <a:avLst/>
          </a:prstGeom>
          <a:noFill/>
          <a:ln/>
        </p:spPr>
        <p:txBody>
          <a:bodyPr wrap="square" lIns="0" tIns="0" rIns="0" bIns="0" rtlCol="0" anchor="t"/>
          <a:lstStyle/>
          <a:p>
            <a:pPr marL="254000" indent="-2540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Un DataFrame Spark ne se modifie jamais : on réaffecte</a:t>
            </a:r>
            <a:endParaRPr lang="en-US" sz="1700" dirty="0"/>
          </a:p>
          <a:p>
            <a:pPr marL="254000" indent="-254000">
              <a:spcAft>
                <a:spcPts val="1200"/>
              </a:spcAft>
              <a:buSzPct val="100000"/>
              <a:buChar char="•"/>
            </a:pPr>
            <a:r>
              <a:rPr lang="en-US" sz="1700" dirty="0">
                <a:solidFill>
                  <a:srgbClr val="8FD1B5"/>
                </a:solidFill>
                <a:latin typeface="Courier New" pitchFamily="34" charset="0"/>
                <a:ea typeface="Courier New" pitchFamily="34" charset="-122"/>
                <a:cs typeface="Courier New" pitchFamily="34" charset="-120"/>
              </a:rPr>
              <a:t>toPandas()</a:t>
            </a:r>
            <a:pPr indent="0" marL="0">
              <a:buNone/>
            </a:pPr>
            <a:r>
              <a:rPr lang="en-US" sz="1700" dirty="0">
                <a:solidFill>
                  <a:srgbClr val="FFFFFF"/>
                </a:solidFill>
                <a:latin typeface="Calibri" pitchFamily="34" charset="0"/>
                <a:ea typeface="Calibri" pitchFamily="34" charset="-122"/>
                <a:cs typeface="Calibri" pitchFamily="34" charset="-120"/>
              </a:rPr>
              <a:t> seulement sur un résultat agrégé</a:t>
            </a:r>
            <a:endParaRPr lang="en-US" sz="1700" dirty="0"/>
          </a:p>
          <a:p>
            <a:pPr marL="254000" indent="-2540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Spark pour les volumes qui dépassent une machine ; sinon pandas, Polars ou DuckDB</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de données avec Python, PySpark (bonus)</dc:title>
  <dc:subject>PptxGenJS Presentation</dc:subject>
  <dc:creator/>
  <cp:lastModifiedBy/>
  <cp:revision>1</cp:revision>
  <dcterms:created xsi:type="dcterms:W3CDTF">2026-10-22T20:57:41Z</dcterms:created>
  <dcterms:modified xsi:type="dcterms:W3CDTF">2026-10-22T20:57:41Z</dcterms:modified>
</cp:coreProperties>
</file>